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6" r:id="rId36"/>
    <p:sldId id="257" r:id="rId3"/>
    <p:sldId id="258" r:id="rId4"/>
    <p:sldId id="287" r:id="rId38"/>
    <p:sldId id="310" r:id="rId60"/>
    <p:sldId id="259" r:id="rId5"/>
    <p:sldId id="289" r:id="rId39"/>
    <p:sldId id="260" r:id="rId6"/>
    <p:sldId id="261" r:id="rId7"/>
    <p:sldId id="295" r:id="rId45"/>
    <p:sldId id="262" r:id="rId8"/>
    <p:sldId id="263" r:id="rId9"/>
    <p:sldId id="296" r:id="rId46"/>
    <p:sldId id="311" r:id="rId61"/>
    <p:sldId id="264" r:id="rId10"/>
    <p:sldId id="265" r:id="rId11"/>
    <p:sldId id="266" r:id="rId12"/>
    <p:sldId id="312" r:id="rId62"/>
    <p:sldId id="297" r:id="rId47"/>
    <p:sldId id="298" r:id="rId48"/>
    <p:sldId id="267" r:id="rId13"/>
    <p:sldId id="268" r:id="rId14"/>
    <p:sldId id="269" r:id="rId15"/>
    <p:sldId id="313" r:id="rId63"/>
    <p:sldId id="299" r:id="rId49"/>
    <p:sldId id="290" r:id="rId40"/>
    <p:sldId id="270" r:id="rId16"/>
    <p:sldId id="271" r:id="rId17"/>
    <p:sldId id="272" r:id="rId18"/>
    <p:sldId id="300" r:id="rId50"/>
    <p:sldId id="273" r:id="rId19"/>
    <p:sldId id="274" r:id="rId20"/>
    <p:sldId id="291" r:id="rId41"/>
    <p:sldId id="275" r:id="rId21"/>
    <p:sldId id="292" r:id="rId42"/>
    <p:sldId id="293" r:id="rId43"/>
    <p:sldId id="301" r:id="rId51"/>
    <p:sldId id="276" r:id="rId22"/>
    <p:sldId id="277" r:id="rId23"/>
    <p:sldId id="302" r:id="rId52"/>
    <p:sldId id="278" r:id="rId24"/>
    <p:sldId id="279" r:id="rId25"/>
    <p:sldId id="303" r:id="rId53"/>
    <p:sldId id="304" r:id="rId54"/>
    <p:sldId id="280" r:id="rId26"/>
    <p:sldId id="281" r:id="rId27"/>
    <p:sldId id="305" r:id="rId55"/>
    <p:sldId id="306" r:id="rId56"/>
    <p:sldId id="294" r:id="rId44"/>
    <p:sldId id="307" r:id="rId57"/>
    <p:sldId id="282" r:id="rId28"/>
    <p:sldId id="308" r:id="rId58"/>
    <p:sldId id="284" r:id="rId30"/>
    <p:sldId id="309" r:id="rId59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30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Diagram: Right Triangle — the two shorter sides are legs a and b; the side opposite the right angle (longest side) is hypotenuse c. Mark the right angle with a small square at the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100" Type="http://schemas.openxmlformats.org/officeDocument/2006/relationships/image" Target="../media/intersecting_lines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100" Type="http://schemas.openxmlformats.org/officeDocument/2006/relationships/image" Target="../media/parallel_transversal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diagram_parallel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protractor.png"/><Relationship Id="rId101" Type="http://schemas.openxmlformats.org/officeDocument/2006/relationships/image" Target="../media/diagram_protractor.png"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101" Type="http://schemas.openxmlformats.org/officeDocument/2006/relationships/image" Target="../media/compound_wall.png"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iagram_bermuda.png"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101" Type="http://schemas.openxmlformats.org/officeDocument/2006/relationships/image" Target="../media/pythag_proof.png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101" Type="http://schemas.openxmlformats.org/officeDocument/2006/relationships/image" Target="../media/nautical_globe.png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Shape 1"/>
          <p:cNvSpPr/>
          <p:nvPr/>
        </p:nvSpPr>
        <p:spPr>
          <a:xfrm rot="900000">
            <a:off x="6858000" y="457200"/>
            <a:ext cx="2286000" cy="2286000"/>
          </a:xfrm>
          <a:prstGeom prst="rect">
            <a:avLst/>
          </a:prstGeom>
          <a:solidFill>
            <a:srgbClr val="0D4F4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800000">
            <a:off x="7315200" y="2286000"/>
            <a:ext cx="1645920" cy="1645920"/>
          </a:xfrm>
          <a:prstGeom prst="rect">
            <a:avLst/>
          </a:prstGeom>
          <a:solidFill>
            <a:srgbClr val="1A7A7A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132320" y="3200400"/>
            <a:ext cx="1097280" cy="1097280"/>
          </a:xfrm>
          <a:prstGeom prst="ellipse">
            <a:avLst/>
          </a:prstGeom>
          <a:solidFill>
            <a:srgbClr val="4ECDC4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Geometry: Angles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Polygons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731520" y="3566160"/>
            <a:ext cx="22860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Properties, Measurements, and Formulas for Lines, Angles, and Surfaces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University  |  Spring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4F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Foundations: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Points, Lines &amp; Angles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</p:sp>
      <p:sp>
        <p:nvSpPr>
          <p:cNvPr id="6" name="PreviewNote"/>
          <p:cNvSpPr/>
          <p:nvPr/>
        </p:nvSpPr>
        <p:spPr>
          <a:xfrm>
            <a:off x="731520" y="396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4C5A0"/>
                </a:solidFill>
                <a:latin typeface="Calibri" pitchFamily="34" charset="0"/>
              </a:rPr>
              <a:t>Every geometric shape begins with points, lines, and angles — the atomic building blocks of all geometry.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Undefined Terms in Geometry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1097280"/>
          </a:xfrm>
          <a:prstGeom prst="rect">
            <a:avLst/>
          </a:prstGeom>
          <a:solidFill>
            <a:srgbClr val="E8E4DD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54864" cy="109728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09728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Euclid attempted to define all geometric terms, but some definitions create challenges. We accept that point, line, and plane are undefined terms — we understand them intuitively.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42316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1440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in space with no dimension — no length, width, or height.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42316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0" y="242316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path extending infinitely in both directions. Has length but no width.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242316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242316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0" y="3154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0" y="35204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surface that extends infinitely in all directions. Has length and width but no depth.</a:t>
            </a:r>
            <a:endParaRPr lang="en-US" sz="1200" dirty="0"/>
          </a:p>
        </p:txBody>
      </p:sp>
      <p:sp>
        <p:nvSpPr>
          <p:cNvPr id="50" name="WhyBG"/>
          <p:cNvSpPr/>
          <p:nvPr/>
        </p:nvSpPr>
        <p:spPr>
          <a:xfrm>
            <a:off x="457200" y="4680000"/>
            <a:ext cx="8229600" cy="43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</p:sp>
      <p:sp>
        <p:nvSpPr>
          <p:cNvPr id="51" name="WhyText"/>
          <p:cNvSpPr/>
          <p:nvPr/>
        </p:nvSpPr>
        <p:spPr>
          <a:xfrm>
            <a:off x="600000" y="4720000"/>
            <a:ext cx="7980000" cy="36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 xml:space="preserve">Why “undefined”?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Every definition requires prior terms. Point, line, and plane are the starting primitives — we build all of geometry on top of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Rays &amp; 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84048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54864" cy="1188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half-line — starts at a point (endpoint) and extends infinitely in one direction.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97280"/>
            <a:ext cx="384048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97280"/>
            <a:ext cx="54864" cy="118872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120640" y="1508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rays sharing a common endpoint (vertex). The measure is the rotation from one ray to the other.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56032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560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complete rotation = 360°      |      Measured in degrees or radians      |      Protractor: tool for measuring angles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474720"/>
            <a:ext cx="7680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0584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 of an Angle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93192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Initial Side (R₁): </a:t>
            </a:r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ray of the angle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Terminal Side (R₂): </a:t>
            </a:r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 ray after rotation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Vertex: </a:t>
            </a:r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endpoint where both rays meet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54864" cy="100584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Angle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90°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51560"/>
            <a:ext cx="54864" cy="1005840"/>
          </a:xfrm>
          <a:prstGeom prst="rect">
            <a:avLst/>
          </a:prstGeom>
          <a:solidFill>
            <a:srgbClr val="0D4F4F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Straight Angle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749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180°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286000"/>
            <a:ext cx="54864" cy="1005840"/>
          </a:xfrm>
          <a:prstGeom prst="rect">
            <a:avLst/>
          </a:prstGeom>
          <a:solidFill>
            <a:srgbClr val="2AA5A5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Acute Angle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2743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0° and 90°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846320" y="2286000"/>
            <a:ext cx="37490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2286000"/>
            <a:ext cx="54864" cy="10058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Obtuse Angle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74920" y="2743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90° and 180°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31520" y="3566160"/>
            <a:ext cx="3749040" cy="11887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Supplementary Angles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whose measures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to 180°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566160"/>
            <a:ext cx="3749040" cy="11887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/>
          <p:nvPr/>
        </p:nvSpPr>
        <p:spPr>
          <a:xfrm>
            <a:off x="507492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Complementary Angles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7492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whose measures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to 90°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Adjacent &amp; Vertical 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74904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Adjacent Angles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58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that share a common vertex and a common side, but do not overlap.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560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∠AOB and ∠BOC are adjacent angles — they share vertex O and ray OB.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374904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097280"/>
            <a:ext cx="374904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 Angles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206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angles formed by intersecting lines that are on opposite sides of the intersection.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2560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angles are always equal in measure (congruent).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931920"/>
            <a:ext cx="7680960" cy="822960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3931920"/>
            <a:ext cx="54864" cy="82296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9776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Key Insight: </a:t>
            </a:r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lines intersect, they form two pairs of vertical angles. Each pair consists of congruent angles, and any two adjacent angles are supplementary (sum to 180°).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Lines &amp; Transversals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transversal crosses parallel lines, special angle relationships form: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246888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54480"/>
            <a:ext cx="246888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Corresponding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position at each intersection.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∠1 = ∠5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291840"/>
            <a:ext cx="914400" cy="32004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0" y="1554480"/>
            <a:ext cx="246888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0" y="1554480"/>
            <a:ext cx="2468880" cy="54864"/>
          </a:xfrm>
          <a:prstGeom prst="rect">
            <a:avLst/>
          </a:prstGeom>
          <a:solidFill>
            <a:srgbClr val="0D4F4F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1691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Interior Angles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2331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sides, between the lines.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∠3 = ∠6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3291840"/>
            <a:ext cx="914400" cy="320040"/>
          </a:xfrm>
          <a:prstGeom prst="rect">
            <a:avLst/>
          </a:prstGeom>
          <a:solidFill>
            <a:srgbClr val="0D4F4F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554480"/>
            <a:ext cx="246888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554480"/>
            <a:ext cx="246888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6916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Alternate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Exterior Angles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2331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sides, outside the lines.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∠1 = ∠8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3291840"/>
            <a:ext cx="914400" cy="3200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31520" y="4297680"/>
            <a:ext cx="7680960" cy="5943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29768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labeled 1–8 at two intersections:  t is the transversal,  l ∥ m are the parallel lines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Corresponding Segments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transversals cross a pair of parallel lines, the segments between those parallel lines are called corresponding segments.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7680960" cy="11887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20240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 l₁ ∥ l₂ ∥ l₃ , then segments a, b are corresponding and c, d are corresponding.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3774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/ b  =  c / d        and equivalently        a / c  =  b / d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3291840"/>
            <a:ext cx="76809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3291840"/>
            <a:ext cx="54864" cy="14630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383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37490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the vertical lines are parallel, use proportions to find unknown distances.  Worked Example: if a = 6, b = 9, c = 8, find d.  Step 1 — Set up: a/b = c/d  →  6/9 = 8/d.  Step 2 — Cross-multiply: 6d = 9 × 8 = 72.  Step 3 — Solve: d = 12.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Parallel Lines &amp; Angles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1188720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005840"/>
            <a:ext cx="54864" cy="118872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3716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l and m are parallel, and t is a transversal.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∠2 = 2x + 19° and ∠7 = 3x + 2°, find the measure of ∠1.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468880"/>
            <a:ext cx="768096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Strategy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2971800"/>
            <a:ext cx="7132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Step 1: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relationship — ∠2 and ∠7 are alternate exterior angles (equal).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Step 2: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them equal:  2x + 19 = 3x + 2  →  x = 17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Step 3: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∠2 = 2(17) + 19 = 53°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Step 4: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∠1 and ∠2 are supplementary → ∠1 = 180° − 53° = 127°</a:t>
            </a:r>
            <a:endParaRPr lang="en-US" sz="1300" dirty="0"/>
          </a:p>
        </p:txBody>
      </p:sp>
      <p:pic>
        <p:nvPicPr>
          <p:cNvPr id="50" name="Diagram Image"/>
          <p:cNvPicPr>
            <a:picLocks noChangeAspect="1"/>
          </p:cNvPicPr>
          <p:nvPr/>
        </p:nvPicPr>
        <p:blipFill>
          <a:blip xmlns:r="http://schemas.openxmlformats.org/officeDocument/2006/relationships" r:embed="rId3"/>
          <a:stretch>
            <a:fillRect/>
          </a:stretch>
        </p:blipFill>
        <p:spPr>
          <a:xfrm>
            <a:off x="2800000" y="2560320"/>
            <a:ext cx="350000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Shape 1"/>
          <p:cNvSpPr/>
          <p:nvPr/>
        </p:nvSpPr>
        <p:spPr>
          <a:xfrm rot="2700000">
            <a:off x="6400800" y="914400"/>
            <a:ext cx="1828800" cy="1828800"/>
          </a:xfrm>
          <a:prstGeom prst="rect">
            <a:avLst/>
          </a:prstGeom>
          <a:solidFill>
            <a:srgbClr val="1A7A7A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7132320" y="2560320"/>
            <a:ext cx="1371600" cy="1371600"/>
          </a:xfrm>
          <a:prstGeom prst="rect">
            <a:avLst/>
          </a:prstGeom>
          <a:solidFill>
            <a:srgbClr val="0D4F4F">
              <a:alpha val="5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Polygons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Quadrilaterals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</p:sp>
      <p:sp>
        <p:nvSpPr>
          <p:cNvPr id="8" name="PreviewNote"/>
          <p:cNvSpPr/>
          <p:nvPr/>
        </p:nvSpPr>
        <p:spPr>
          <a:xfrm>
            <a:off x="731520" y="396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4C5A0"/>
                </a:solidFill>
                <a:latin typeface="Calibri" pitchFamily="34" charset="0"/>
              </a:rPr>
              <a:t>Polygons &amp; quadrilaterals build on angle relationships from Section 1 — now we measure enclosed area and classify shapes.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polygon is a closed region of a plane bounded by three or more straight line segments. Sides must be non-collinear and non-self-intersecting (no crossings). Formulas below apply to convex polygons.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45920"/>
            <a:ext cx="150876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sides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14884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148840" y="1645920"/>
            <a:ext cx="1508760" cy="54864"/>
          </a:xfrm>
          <a:prstGeom prst="rect">
            <a:avLst/>
          </a:prstGeom>
          <a:solidFill>
            <a:srgbClr val="0D4F4F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Quadrilateral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4028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sides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84048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0" y="1645920"/>
            <a:ext cx="1508760" cy="54864"/>
          </a:xfrm>
          <a:prstGeom prst="rect">
            <a:avLst/>
          </a:prstGeom>
          <a:solidFill>
            <a:srgbClr val="2AA5A5"/>
          </a:solidFill>
          <a:ln/>
        </p:spPr>
      </p:sp>
      <p:sp>
        <p:nvSpPr>
          <p:cNvPr id="15" name="Text 13"/>
          <p:cNvSpPr/>
          <p:nvPr/>
        </p:nvSpPr>
        <p:spPr>
          <a:xfrm>
            <a:off x="393192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Pentagon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sides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53212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532120" y="1645920"/>
            <a:ext cx="150876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9" name="Text 17"/>
          <p:cNvSpPr/>
          <p:nvPr/>
        </p:nvSpPr>
        <p:spPr>
          <a:xfrm>
            <a:off x="562356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Hexagon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2356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sides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223760" y="1645920"/>
            <a:ext cx="15087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23760" y="1645920"/>
            <a:ext cx="1508760" cy="54864"/>
          </a:xfrm>
          <a:prstGeom prst="rect">
            <a:avLst/>
          </a:prstGeom>
          <a:solidFill>
            <a:srgbClr val="B8922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0" y="17830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Heptagon &amp; beyond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0" y="2194560"/>
            <a:ext cx="1325880" cy="5029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9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sides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Quadrilaterals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54864" cy="64008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097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Trapezoid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83280" y="1097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two parallel sides (called bases)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1828800"/>
            <a:ext cx="54864" cy="640080"/>
          </a:xfrm>
          <a:prstGeom prst="rect">
            <a:avLst/>
          </a:prstGeom>
          <a:solidFill>
            <a:srgbClr val="0D4F4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Parallelogram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832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pairs of opposite sides are parallel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60604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606040"/>
            <a:ext cx="54864" cy="640080"/>
          </a:xfrm>
          <a:prstGeom prst="rect">
            <a:avLst/>
          </a:prstGeom>
          <a:solidFill>
            <a:srgbClr val="2AA5A5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Rhombus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328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 with four equal sides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38328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383280"/>
            <a:ext cx="54864" cy="64008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Rectangle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383280" y="34290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 with a right angle (all 90°)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160520"/>
            <a:ext cx="54864" cy="640080"/>
          </a:xfrm>
          <a:prstGeom prst="rect">
            <a:avLst/>
          </a:prstGeom>
          <a:solidFill>
            <a:srgbClr val="B8922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206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Square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383280" y="4206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 with four equal sides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5720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diagonal of a polygon is a line segment joining any two nonadjacent vertices.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of Quadrilaterals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234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Square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6002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s²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6012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side length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097280"/>
            <a:ext cx="3749040" cy="54864"/>
          </a:xfrm>
          <a:prstGeom prst="rect">
            <a:avLst/>
          </a:prstGeom>
          <a:solidFill>
            <a:srgbClr val="0D4F4F"/>
          </a:solidFill>
          <a:ln/>
        </p:spPr>
      </p:sp>
      <p:sp>
        <p:nvSpPr>
          <p:cNvPr id="11" name="Text 9"/>
          <p:cNvSpPr/>
          <p:nvPr/>
        </p:nvSpPr>
        <p:spPr>
          <a:xfrm>
            <a:off x="5074920" y="1234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Rectangle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74920" y="16002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l × w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07492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length, w = width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9260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926080"/>
            <a:ext cx="3749040" cy="54864"/>
          </a:xfrm>
          <a:prstGeom prst="rect">
            <a:avLst/>
          </a:prstGeom>
          <a:solidFill>
            <a:srgbClr val="2AA5A5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Parallelogram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b × 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60120" y="3977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base, h = height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2926080"/>
            <a:ext cx="37490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2926080"/>
            <a:ext cx="374904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1" name="Text 19"/>
          <p:cNvSpPr/>
          <p:nvPr/>
        </p:nvSpPr>
        <p:spPr>
          <a:xfrm>
            <a:off x="507492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Trapezoid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074920" y="3977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b₁, b₂ = bases, h = height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5720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is given in square units (ft², m², mi², cm², in²)     |     Rhombus: A = d₁ × d₂ / 2  (d₁, d₂ = diagonals)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 Area of Quadrilaterals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54864" cy="18288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9.2 cm, h = 6.1 cm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b × h = 9.2 × 6.1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56.12 cm²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051560"/>
            <a:ext cx="54864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Trapezoid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 = 3.6 ft, b₂ = 5.5 ft, h = 2.9 ft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 = ½(3.6 + 5.5)(2.9)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13.195 ft²</a:t>
            </a:r>
            <a:endParaRPr lang="en-US" sz="2000" dirty="0"/>
          </a:p>
        </p:txBody>
      </p:sp>
      <p:sp>
        <p:nvSpPr>
          <p:cNvPr id="150" name="UnitsReminder"/>
          <p:cNvSpPr/>
          <p:nvPr/>
        </p:nvSpPr>
        <p:spPr>
          <a:xfrm>
            <a:off x="457200" y="3050000"/>
            <a:ext cx="7680960" cy="55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</p:sp>
      <p:sp>
        <p:nvSpPr>
          <p:cNvPr id="151" name="UnitsReminderText"/>
          <p:cNvSpPr/>
          <p:nvPr/>
        </p:nvSpPr>
        <p:spPr>
          <a:xfrm>
            <a:off x="600000" y="3080000"/>
            <a:ext cx="7400000" cy="48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 xml:space="preserve">Always label units: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area is always in square units (cm², ft², m²). Forgetting units costs points on the quiz.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4F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polygon — every other polygon can be divided into triangles.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Triangles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54864" cy="164592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Scalene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1600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two sides are equal in length.
No tick marks on sides.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51560"/>
            <a:ext cx="54864" cy="1645920"/>
          </a:xfrm>
          <a:prstGeom prst="rect">
            <a:avLst/>
          </a:prstGeom>
          <a:solidFill>
            <a:srgbClr val="0D4F4F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Isosceles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074920" y="16002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are equal in length.
Shown with single tick marks on equal sides.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926080"/>
            <a:ext cx="54864" cy="1645920"/>
          </a:xfrm>
          <a:prstGeom prst="rect">
            <a:avLst/>
          </a:prstGeom>
          <a:solidFill>
            <a:srgbClr val="2AA5A5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063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Equilateral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3474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sides are equal.
Shown with double tick marks. All angles = 60°.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2926080"/>
            <a:ext cx="37490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2926080"/>
            <a:ext cx="54864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3063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74920" y="3474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one right angle (90°). The side opposite the right angle is the hypotenuse; the other sides are legs.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 Properties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2103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43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 of Interior Angles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600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∠A + ∠B + ∠C = 180°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interior angles of any triangle always sum to exactly 180 degrees.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5156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20640" y="1691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a + b + 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120640" y="2286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distance around the triangle — sum of all three side lengths.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429000"/>
            <a:ext cx="7680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429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of a Triangle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8862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 × b × h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114800" y="3657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triangle is exactly half of a parallelogram with the same base and height. The height (h) is the perpendicular distance from the base to the opposite vertex.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Heron's Formula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when the height isn’t known — it only requires the three side lengths. When you know all three side lengths but not the height, use Heron’s Formula to find the area.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1645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7373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(a + b + c) / 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 = semi-perimeter = half the perimeter)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5146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√[ s(s − a)(s − b)(s − c) ]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31520" y="3566160"/>
            <a:ext cx="7680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3566160"/>
            <a:ext cx="54864" cy="128016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393192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with sides a = 4.5 mi, b = 5.6 mi, c = 8.2 mi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206240"/>
            <a:ext cx="713232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(4.5 + 5.6 + 8.2) / 2 = 18.3 / 2 = 9.15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s − a = 9.15 − 4.5 = 4.65,  s − b = 9.15 − 5.6 = 3.55,  s − c = 9.15 − 8.2 = 0.95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A = √[ 9.15 × 4.65 × 3.55 × 0.95 ] = √143.99 ≈ 11.87 mi²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Equilateral Triangle Formula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4114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54864" cy="292608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143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Deriving the Formula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50876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equilateral triangle with side s: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1.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two right triangles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2.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of each = s/2, hypotenuse = 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3.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Height: h² + (s/2)² = s²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h² = s² − s²/4 = 3s²/4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h = (s√3)/2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4.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 × s × (s√3)/2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120640" y="1051560"/>
            <a:ext cx="3474720" cy="18288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539496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94960" y="1600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(s²√3) / 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394960" y="2194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Height: h = (s√3) / 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3108960"/>
            <a:ext cx="34747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120640" y="3108960"/>
            <a:ext cx="54864" cy="86868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2"/>
          <p:cNvSpPr/>
          <p:nvPr/>
        </p:nvSpPr>
        <p:spPr>
          <a:xfrm>
            <a:off x="5349240" y="3154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 = 4.4 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49240" y="3429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(4.4²√3)/4 ≈ 8.39 in²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Pythagorean Theorem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a² + b² = c²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71600" y="1920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right triangle: the square of the hypotenuse equals the sum of the squares of the two legs.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88920"/>
            <a:ext cx="37490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788920"/>
            <a:ext cx="54864" cy="109728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8803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 = hypotenuse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(longest side, opposite the right angle)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a, b = legs </a:t>
            </a:r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two shorter sides)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2788920"/>
            <a:ext cx="37490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2788920"/>
            <a:ext cx="54864" cy="109728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Right Angles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3154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a² + b² = c²  →  right angle (opposite 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a² + b² &gt; c²  →  angle opposite c is acute (triangle is acute)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a² + b² &lt; c²  →  angle opposite c is obtuse (triangle is obtuse)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160520"/>
            <a:ext cx="7680960" cy="731520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4160520"/>
            <a:ext cx="54864" cy="73152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2062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Example: </a:t>
            </a:r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is 13 × 10 in with diagonal 16.75 in. Is it square?  13² + 10² = 269, but 16.75² = 280.5625. Since 269 &lt; 280.56, the angles are obtuse — not right angles.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Polygons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329184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</p:sp>
      <p:sp>
        <p:nvSpPr>
          <p:cNvPr id="6" name="PreviewNote"/>
          <p:cNvSpPr/>
          <p:nvPr/>
        </p:nvSpPr>
        <p:spPr>
          <a:xfrm>
            <a:off x="731520" y="396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4C5A0"/>
                </a:solidFill>
                <a:latin typeface="Calibri" pitchFamily="34" charset="0"/>
              </a:rPr>
              <a:t>Similarity extends triangle properties to proportional reasoning — two shapes with equal angles have predictable side length ratios.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Triangles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polygons are similar if they have the same shape (but not necessarily the same size).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374904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08760"/>
            <a:ext cx="54864" cy="128016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874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Corresponding angles are equal in measure.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∠A = ∠D,  ∠B = ∠E,  ∠C = ∠F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46320" y="1508760"/>
            <a:ext cx="374904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508760"/>
            <a:ext cx="54864" cy="128016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20640" y="1874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Corresponding sides are proportional.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AB/DE = BC/EF = AC/DF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0175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write  △ABC ~ △DEF  to denote similarity.   Only 2 pairs of equal angles are needed to prove similarity.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886200"/>
            <a:ext cx="76809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886200"/>
            <a:ext cx="54864" cy="10058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931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Tip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7132320" cy="8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△MNP ~ △QRS, use corresponding angles to find missing angles (they sum to 180°), and set up proportions like MN/QR = NP/RS = MP/QS to find missing sides.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Similar Triangles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1188720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005840"/>
            <a:ext cx="54864" cy="118872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05156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Given:  △MNP ~ △QRS,  ∠P = 41°,  ∠R = 85°,  MN = 35,  QR = 20,  RS = 24,  MP = 56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Find: ∠N, ∠M, NP, QS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423160"/>
            <a:ext cx="54864" cy="237744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7889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∠N corresponds to ∠R = 85°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∠N = 85°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∠M + ∠N + ∠P = 180°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∠M + 85° + 41° = 180°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∠M = 54°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24231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2423160"/>
            <a:ext cx="54864" cy="2377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2"/>
          <p:cNvSpPr/>
          <p:nvPr/>
        </p:nvSpPr>
        <p:spPr>
          <a:xfrm>
            <a:off x="512064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78892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MN/QR = 35/20 = 7/4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NP/RS = 7/4  →  NP/24 = 7/4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 = 42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MP/QS = 7/4  →  56/QS = 7/4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 = 32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Applications: Similar Triangles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374904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Shadow 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600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 ft man stands 10 ft from a flagpole. His 8 ft shadow ends at the same point as the flagpole's shadow.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6/h = 8/18  →  h = 13.5 ft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606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(Total shadow = 8 + 10 = 18 ft)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3749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051560"/>
            <a:ext cx="374904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River Width Problem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0640" y="1600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∥ DE. AB = 50 ft, AD = 180 ft, BC = 60 ft. Find DE (river width).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AB/AD = BC/DE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50/180 = 60/DE → DE = 216 ft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7680960" cy="640080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947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Strategy: </a:t>
            </a:r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two similar triangles → match corresponding sides → set up the proportion → cross-multiply and solve.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Degrees, Minutes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Seconds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18288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</p:sp>
      <p:sp>
        <p:nvSpPr>
          <p:cNvPr id="6" name="PreviewNote"/>
          <p:cNvSpPr/>
          <p:nvPr/>
        </p:nvSpPr>
        <p:spPr>
          <a:xfrm>
            <a:off x="731520" y="3200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4C5A0"/>
                </a:solidFill>
                <a:latin typeface="Calibri" pitchFamily="34" charset="0"/>
              </a:rPr>
              <a:t>Navigation, surveying, and GPS express angles in degrees-minutes-seconds — here we connect that real-world notation to our angle work.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Degrees, Minutes &amp; Seconds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9144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1° = 60 minutes (60′)          1′ = 60 seconds (60″)          1° = 3600″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6634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in navigation, surveying, and GPS use degrees-minutes-seconds (DMS) — here’s how to convert. Used in navigation, latitude/longitude, and aviation approach plates.</a:t>
            </a:r>
            <a:endParaRPr lang="en-US" sz="1200" dirty="0"/>
          </a:p>
        </p:txBody>
      </p:sp>
      <p:sp>
        <p:nvSpPr>
          <p:cNvPr id="80" name="NotationBG"/>
          <p:cNvSpPr/>
          <p:nvPr/>
        </p:nvSpPr>
        <p:spPr>
          <a:xfrm>
            <a:off x="457200" y="2194560"/>
            <a:ext cx="384048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81" name="NotationBar"/>
          <p:cNvSpPr/>
          <p:nvPr/>
        </p:nvSpPr>
        <p:spPr>
          <a:xfrm>
            <a:off x="457200" y="2194560"/>
            <a:ext cx="54864" cy="219456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82" name="NotationText"/>
          <p:cNvSpPr/>
          <p:nvPr/>
        </p:nvSpPr>
        <p:spPr>
          <a:xfrm>
            <a:off x="600000" y="2240000"/>
            <a:ext cx="3600000" cy="21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/>
              </a:rPr>
              <a:t>Reading DMS Notation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/>
              </a:rPr>
              <a:t>45° 30′ 15″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45 = degrees (whole number)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30′ = 30 minutes = 30/60 of a degree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15″ = 15 seconds = 15/3600 of a degree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/>
              </a:rPr>
              <a:t>= 45.504167° in decimal form</a:t>
            </a:r>
          </a:p>
        </p:txBody>
      </p:sp>
      <p:sp>
        <p:nvSpPr>
          <p:cNvPr id="83" name="ContextBG"/>
          <p:cNvSpPr/>
          <p:nvPr/>
        </p:nvSpPr>
        <p:spPr>
          <a:xfrm>
            <a:off x="4480320" y="2194560"/>
            <a:ext cx="420696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84" name="ContextBar"/>
          <p:cNvSpPr/>
          <p:nvPr/>
        </p:nvSpPr>
        <p:spPr>
          <a:xfrm>
            <a:off x="4480320" y="2194560"/>
            <a:ext cx="54864" cy="219456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5" name="ContextText"/>
          <p:cNvSpPr/>
          <p:nvPr/>
        </p:nvSpPr>
        <p:spPr>
          <a:xfrm>
            <a:off x="4623456" y="2240000"/>
            <a:ext cx="3960000" cy="21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/>
              </a:rPr>
              <a:t>Where DMS Is Used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Navigation &amp; maps (latitude/longitude)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Astronomy (star positions)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Aviation approach plates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• Surveying &amp; GPS coordinates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/>
              </a:rPr>
              <a:t>Conversions are on the next two slides.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 Preparation: Key Skills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4754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060704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60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02412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 Triangles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520440" y="102412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missing angles and sides using proportions (△MNP ~ △QRS)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572768"/>
            <a:ext cx="7680960" cy="475488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1627632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159105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Lines &amp; Angles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1591056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corresponding, alternate interior, and alternate exterior angles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139696"/>
            <a:ext cx="7680960" cy="4754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2194560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15798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Triangle Areas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2157984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= ½bh, equilateral formula, and Heron's formula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2706624"/>
            <a:ext cx="7680960" cy="475488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" y="2761488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761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72491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Compound Shapes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2724912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complex shapes into parallelograms and rectangles, sum the areas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273552"/>
            <a:ext cx="7680960" cy="4754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3328416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29184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 Angle Sums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20440" y="3291840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Interior: (n−2)×180°, Exterior: always 360°, Regular: (n−2)×180°/n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3840480"/>
            <a:ext cx="7680960" cy="475488"/>
          </a:xfrm>
          <a:prstGeom prst="rect">
            <a:avLst/>
          </a:prstGeom>
          <a:solidFill>
            <a:srgbClr val="F0F5F5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" y="3895344"/>
            <a:ext cx="365760" cy="365760"/>
          </a:xfrm>
          <a:prstGeom prst="ellipse">
            <a:avLst/>
          </a:prstGeom>
          <a:solidFill>
            <a:srgbClr val="1A7A7A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3895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17320" y="385876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Trapezoid Area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520440" y="385876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 — identify bases, height, and any diagonal measurements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Show all work for full credit!  Label your units.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3" name="Shape 1"/>
          <p:cNvSpPr/>
          <p:nvPr/>
        </p:nvSpPr>
        <p:spPr>
          <a:xfrm rot="900000">
            <a:off x="6858000" y="457200"/>
            <a:ext cx="2286000" cy="2286000"/>
          </a:xfrm>
          <a:prstGeom prst="rect">
            <a:avLst/>
          </a:prstGeom>
          <a:solidFill>
            <a:srgbClr val="0D4F4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800000">
            <a:off x="7315200" y="2286000"/>
            <a:ext cx="1645920" cy="1645920"/>
          </a:xfrm>
          <a:prstGeom prst="rect">
            <a:avLst/>
          </a:prstGeom>
          <a:solidFill>
            <a:srgbClr val="1A7A7A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132320" y="3200400"/>
            <a:ext cx="1097280" cy="1097280"/>
          </a:xfrm>
          <a:prstGeom prst="ellipse">
            <a:avLst/>
          </a:prstGeom>
          <a:solidFill>
            <a:srgbClr val="4ECDC4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130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&amp; Review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31520" y="3566160"/>
            <a:ext cx="2286000" cy="0"/>
          </a:xfrm>
          <a:prstGeom prst="line">
            <a:avLst/>
          </a:prstGeom>
          <a:noFill/>
          <a:ln w="38100">
            <a:solidFill>
              <a:srgbClr val="D4A8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8404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Worksheet: Covers Sections 1–5 (parallel lines, polygon area, triangles, similar figures, DMS). Due: Next class meeting. Quiz format: 12 problems, no calculator on DMS conversions, calculator permitted for area and similar triangle problems. Show all work for full credit.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5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Liberty University  |  Geometry: Angles &amp; Polygons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arning Goals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</a:rPr>
              <a:t>Learning Goals</a:t>
            </a:r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4A5C"/>
                </a:solidFill>
                <a:latin typeface="Calibri" pitchFamily="34" charset="0"/>
              </a:rPr>
              <a:t>By the end of this lesson, you will be able to:</a:t>
            </a:r>
          </a:p>
        </p:txBody>
      </p:sp>
      <p:sp>
        <p:nvSpPr>
          <p:cNvPr id="5" name="CardLeft"/>
          <p:cNvSpPr/>
          <p:nvPr/>
        </p:nvSpPr>
        <p:spPr>
          <a:xfrm>
            <a:off x="731520" y="1188720"/>
            <a:ext cx="384048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AccentLeft"/>
          <p:cNvSpPr/>
          <p:nvPr/>
        </p:nvSpPr>
        <p:spPr>
          <a:xfrm>
            <a:off x="731520" y="1188720"/>
            <a:ext cx="384048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7" name="TextLeft"/>
          <p:cNvSpPr/>
          <p:nvPr/>
        </p:nvSpPr>
        <p:spPr>
          <a:xfrm>
            <a:off x="914400" y="1280160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1.  Classify and measure angles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Identify acute, obtuse, right, and straight angles; find complements and supplements.</a:t>
            </a:r>
          </a:p>
          <a:p>
            <a:pPr indent="0" marL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2.  Apply parallel line theorems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Use corresponding, alternate interior, and alternate exterior angle relationships to solve for unknowns.</a:t>
            </a:r>
          </a:p>
          <a:p>
            <a:pPr indent="0" marL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3.  Calculate polygon angle sums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Apply interior and exterior angle formulas for convex polygons with n sides.</a:t>
            </a:r>
          </a:p>
        </p:txBody>
      </p:sp>
      <p:sp>
        <p:nvSpPr>
          <p:cNvPr id="8" name="CardRight"/>
          <p:cNvSpPr/>
          <p:nvPr/>
        </p:nvSpPr>
        <p:spPr>
          <a:xfrm>
            <a:off x="4754040" y="1188720"/>
            <a:ext cx="3840480" cy="356616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AccentRight"/>
          <p:cNvSpPr/>
          <p:nvPr/>
        </p:nvSpPr>
        <p:spPr>
          <a:xfrm>
            <a:off x="4754040" y="1188720"/>
            <a:ext cx="384048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0" name="TextRight"/>
          <p:cNvSpPr/>
          <p:nvPr/>
        </p:nvSpPr>
        <p:spPr>
          <a:xfrm>
            <a:off x="4936920" y="1280160"/>
            <a:ext cx="3474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4.  Compute areas of polygons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Find areas of quadrilaterals and triangles using standard formulas including Heron’s Formula.</a:t>
            </a:r>
          </a:p>
          <a:p>
            <a:pPr indent="0" marL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5.  Solve similar triangle problems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Use proportional reasoning to find unknown sides and angles in similar polygons; apply to real-world contexts.</a:t>
            </a:r>
          </a:p>
          <a:p>
            <a:pPr indent="0" marL="0">
              <a:spcBef>
                <a:spcPts val="1200"/>
              </a:spcBef>
              <a:buNone/>
            </a:pPr>
            <a:r>
              <a:rPr lang="en-US" sz="1300" b="1" dirty="0">
                <a:solidFill>
                  <a:srgbClr val="1A7A7A"/>
                </a:solidFill>
                <a:latin typeface="Georgia" pitchFamily="34" charset="0"/>
              </a:rPr>
              <a:t>6.  Convert between degree formats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Convert angles between decimal degrees and degrees-minutes-seconds (DMS) notation used in navigation.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otation Conventions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Geometric Notation Conventions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54864" cy="128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  AB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5087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path extending in both directions, no endpoints. Notation: AB with arrows above both ends (AB⇔) or line through AB.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10515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51560"/>
            <a:ext cx="54864" cy="1280000"/>
          </a:xfrm>
          <a:prstGeom prst="rect">
            <a:avLst/>
          </a:prstGeom>
          <a:solidFill>
            <a:srgbClr val="0D4F4F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  AB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74920" y="15087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D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endpoint A, passes through B, extends forever. Notation: AB with a right-pointing arrow above (AB→). Endpoint listed first.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5601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560160"/>
            <a:ext cx="54864" cy="1280000"/>
          </a:xfrm>
          <a:prstGeom prst="rect">
            <a:avLst/>
          </a:prstGeom>
          <a:solidFill>
            <a:srgbClr val="2AA5A5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6516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Segment  AB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30173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A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finite path connecting two endpoints A and B. Notation: AB with a bar above (AB̅). Has a definite, measurable length.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2560160"/>
            <a:ext cx="3749040" cy="1280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2560160"/>
            <a:ext cx="54864" cy="128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265160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Angle  ∠ABC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74920" y="301736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rays meeting at a vertex. Notation: ∠ABC where B is the vertex. Can abbreviate as ∠B if unambiguous. Measured in degrees.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asuring Angles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</a:rPr>
              <a:t>Measuring Angles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</p:sp>
      <p:pic>
        <p:nvPicPr>
          <p:cNvPr id="5" name="Diagram Image"/>
          <p:cNvPicPr>
            <a:picLocks noChangeAspect="1"/>
          </p:cNvPicPr>
          <p:nvPr/>
        </p:nvPicPr>
        <p:blipFill>
          <a:blip xmlns:r="http://schemas.openxmlformats.org/officeDocument/2006/relationships" r:embed="rId101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8" name="Text 6"/>
          <p:cNvSpPr/>
          <p:nvPr/>
        </p:nvSpPr>
        <p:spPr>
          <a:xfrm>
            <a:off x="5030640" y="1200000"/>
            <a:ext cx="3200400" cy="33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Georgia" pitchFamily="34" charset="0"/>
              </a:rPr>
              <a:t>Tools &amp; Units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 xml:space="preserve">Angles can be measured in </a:t>
            </a:r>
            <a:r>
              <a:rPr lang="en-US" sz="1400" b="1" dirty="0">
                <a:solidFill>
                  <a:srgbClr val="3D4A5C"/>
                </a:solidFill>
                <a:latin typeface="Calibri" pitchFamily="34" charset="0"/>
              </a:rPr>
              <a:t>degrees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 xml:space="preserve"> or </a:t>
            </a:r>
            <a:r>
              <a:rPr lang="en-US" sz="1400" b="1" dirty="0">
                <a:solidFill>
                  <a:srgbClr val="3D4A5C"/>
                </a:solidFill>
                <a:latin typeface="Calibri" pitchFamily="34" charset="0"/>
              </a:rPr>
              <a:t>radians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 pitchFamily="34" charset="0"/>
              </a:rPr>
              <a:t>Protractor</a:t>
            </a:r>
          </a:p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A protractor is an instrument used to measure angles (almost always in degree measure).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 pitchFamily="34" charset="0"/>
              </a:rPr>
              <a:t>Key Benchmarks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Full rotation = 360°  |  Straight angle = 180°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Right angle = 90°  |  In radians: 360° = 2π rad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ication Area Compound Shapes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Application: Area of Compound Shapes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</p:sp>
      <p:pic>
        <p:nvPicPr>
          <p:cNvPr id="200" name="Diagram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5030640" y="1200000"/>
            <a:ext cx="3200400" cy="17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Georgia" pitchFamily="34" charset="0"/>
              </a:rPr>
              <a:t>Problem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wall of a living room with a vaulted ceiling has 4 windows as shown.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If a quart of paint covers 80 ft², how much paint is required to paint these walls?</a:t>
            </a:r>
          </a:p>
        </p:txBody>
      </p:sp>
      <p:sp>
        <p:nvSpPr>
          <p:cNvPr id="60" name="SolutionBG"/>
          <p:cNvSpPr/>
          <p:nvPr/>
        </p:nvSpPr>
        <p:spPr>
          <a:xfrm>
            <a:off x="3017520" y="3000000"/>
            <a:ext cx="4663440" cy="156000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10000"/>
              </a:srgbClr>
            </a:outerShdw>
          </a:effectLst>
        </p:spPr>
      </p:sp>
      <p:sp>
        <p:nvSpPr>
          <p:cNvPr id="61" name="SolutionAccent"/>
          <p:cNvSpPr/>
          <p:nvPr/>
        </p:nvSpPr>
        <p:spPr>
          <a:xfrm>
            <a:off x="3017520" y="3000000"/>
            <a:ext cx="54864" cy="156000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62" name="SolutionText"/>
          <p:cNvSpPr/>
          <p:nvPr/>
        </p:nvSpPr>
        <p:spPr>
          <a:xfrm>
            <a:off x="3160000" y="3050000"/>
            <a:ext cx="4400000" cy="146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/>
              </a:rPr>
              <a:t>Solution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/>
              </a:rPr>
              <a:t>Step 1: Wall = rectangle + triangle on top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/>
              </a:rPr>
              <a:t>Step 2: Find each area, then subtract 4 windows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B0BEC5"/>
                </a:solidFill>
                <a:latin typeface="Calibri"/>
              </a:rPr>
              <a:t>Step 3: Net wall area ÷ 80 ft² per quart = quarts needed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200" i="1" dirty="0">
                <a:solidFill>
                  <a:srgbClr val="5C6B7A"/>
                </a:solidFill>
                <a:latin typeface="Calibri"/>
              </a:rPr>
              <a:t>See diagram for exact dimensions → answer varies by wall size.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ication Bermuda Triangle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Application: The Bermuda Triangle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</p:sp>
      <p:pic>
        <p:nvPicPr>
          <p:cNvPr id="5" name="Diagram Image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8" name="Text 6"/>
          <p:cNvSpPr/>
          <p:nvPr/>
        </p:nvSpPr>
        <p:spPr>
          <a:xfrm>
            <a:off x="5030640" y="1200000"/>
            <a:ext cx="3200400" cy="33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7A7A"/>
                </a:solidFill>
                <a:latin typeface="Georgia" pitchFamily="34" charset="0"/>
              </a:rPr>
              <a:t>Problem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Bermuda Triangle is sometimes defined as an equilateral triangle 1600 km on a side, with vertices in Bermuda, Puerto Rico, and the Florida coast.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Assuming it is flat, what is its approximate area?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</a:rPr>
              <a:t>Solution: 1,108,512.5 km²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200" b="1" dirty="0">
                <a:solidFill>
                  <a:srgbClr val="1A7A7A"/>
                </a:solidFill>
                <a:latin typeface="Calibri" pitchFamily="34" charset="0"/>
              </a:rPr>
              <a:t>Method: A = (s²√3) / 4, with s = 1600 km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</a:rPr>
              <a:t>= (2,560,000 × 1.732) / 4 = 4,434,050 / 4 ≈ 1,108,512.5 km²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ythagorean Theorem Geometric Proof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Pythagorean Theorem: A Geometric Proof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56616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</p:sp>
      <p:pic>
        <p:nvPicPr>
          <p:cNvPr id="200" name="Diagram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831520" y="1151560"/>
            <a:ext cx="3549040" cy="336616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8" name="Text 6"/>
          <p:cNvSpPr/>
          <p:nvPr/>
        </p:nvSpPr>
        <p:spPr>
          <a:xfrm>
            <a:off x="5030640" y="1200000"/>
            <a:ext cx="3200400" cy="33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7A7A"/>
                </a:solidFill>
                <a:latin typeface="Georgia" pitchFamily="34" charset="0"/>
              </a:rPr>
              <a:t>Proof by Area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Large square = 4 triangles + inner square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c² = 4(½ab) + (b − a)²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</a:rPr>
              <a:t>c² = 2ab + b² − 2ab + a²</a:t>
            </a:r>
          </a:p>
          <a:p>
            <a:pPr indent="0" marL="0">
              <a:buNone/>
            </a:pPr>
            <a:r>
              <a:rPr lang="en-US" sz="1900" b="1" dirty="0">
                <a:solidFill>
                  <a:srgbClr val="D4A843"/>
                </a:solidFill>
                <a:latin typeface="Calibri" pitchFamily="34" charset="0"/>
              </a:rPr>
              <a:t>c² = a² + b² ✓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Scarecrows Theorem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</a:rPr>
              <a:t>The Scarecrow’s “Theorem”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6" name="Text 4"/>
          <p:cNvSpPr/>
          <p:nvPr/>
        </p:nvSpPr>
        <p:spPr>
          <a:xfrm>
            <a:off x="1000000" y="1200000"/>
            <a:ext cx="7200000" cy="26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Georgia" pitchFamily="34" charset="0"/>
              </a:rPr>
              <a:t>From The Wizard of Oz (1939)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 xml:space="preserve">The correct theorem (a² + b² = c²) is </a:t>
            </a:r>
            <a:r>
              <a:rPr lang="en-US" sz="1400" b="1" dirty="0">
                <a:solidFill>
                  <a:srgbClr val="3D4A5C"/>
                </a:solidFill>
                <a:latin typeface="Calibri" pitchFamily="34" charset="0"/>
              </a:rPr>
              <a:t>NOT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 xml:space="preserve"> the Scarecrow’s “theorem” from </a:t>
            </a:r>
            <a:r>
              <a:rPr lang="en-US" sz="1400" i="1" dirty="0">
                <a:solidFill>
                  <a:srgbClr val="3D4A5C"/>
                </a:solidFill>
                <a:latin typeface="Calibri" pitchFamily="34" charset="0"/>
              </a:rPr>
              <a:t>The Wizard of Oz</a:t>
            </a: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 xml:space="preserve"> — he said: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400" i="1" dirty="0">
                <a:solidFill>
                  <a:srgbClr val="1A7A7A"/>
                </a:solidFill>
                <a:latin typeface="Georgia" pitchFamily="34" charset="0"/>
              </a:rPr>
              <a:t>“The sum of the square roots of any two sides of an Isosceles triangle is equal to the square root of the remaining side.”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500" b="1" dirty="0">
                <a:solidFill>
                  <a:srgbClr val="1A7A7A"/>
                </a:solidFill>
                <a:latin typeface="Calibri" pitchFamily="34" charset="0"/>
              </a:rPr>
              <a:t>Counterexample:</a:t>
            </a:r>
          </a:p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>If sides are 3, 3, and 1:  √3 + √3 = √1 ?</a:t>
            </a:r>
          </a:p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</a:rPr>
              <a:t xml:space="preserve">1.732... + 1.732... = 1 ???  </a:t>
            </a:r>
            <a:r>
              <a:rPr lang="en-US" sz="1400" b="1" dirty="0">
                <a:solidFill>
                  <a:srgbClr val="B85042"/>
                </a:solidFill>
                <a:latin typeface="Calibri" pitchFamily="34" charset="0"/>
              </a:rPr>
              <a:t>What??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i="1" dirty="0">
                <a:solidFill>
                  <a:srgbClr val="3D4A5C"/>
                </a:solidFill>
                <a:latin typeface="Calibri" pitchFamily="34" charset="0"/>
              </a:rPr>
              <a:t>He got his diploma anyway — but his geometry was wrong.</a:t>
            </a:r>
          </a:p>
        </p:txBody>
      </p:sp>
      <p:sp>
        <p:nvSpPr>
          <p:cNvPr id="220" name="CalloutBG"/>
          <p:cNvSpPr/>
          <p:nvPr/>
        </p:nvSpPr>
        <p:spPr>
          <a:xfrm>
            <a:off x="457200" y="3931560"/>
            <a:ext cx="8229600" cy="1161940"/>
          </a:xfrm>
          <a:prstGeom prst="rect">
            <a:avLst/>
          </a:prstGeom>
          <a:solidFill>
            <a:srgbClr val="FFF8E6"/>
          </a:solidFill>
          <a:ln>
            <a:solidFill>
              <a:srgbClr val="E0DDD8"/>
            </a:solidFill>
          </a:ln>
        </p:spPr>
      </p:sp>
      <p:sp>
        <p:nvSpPr>
          <p:cNvPr id="221" name="CalloutAccent"/>
          <p:cNvSpPr/>
          <p:nvPr/>
        </p:nvSpPr>
        <p:spPr>
          <a:xfrm>
            <a:off x="457200" y="3931560"/>
            <a:ext cx="54864" cy="11619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22" name="CalloutText"/>
          <p:cNvSpPr/>
          <p:nvPr/>
        </p:nvSpPr>
        <p:spPr>
          <a:xfrm>
            <a:off x="600000" y="3991560"/>
            <a:ext cx="7980000" cy="10619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B8922F"/>
                </a:solidFill>
                <a:latin typeface="Calibri"/>
              </a:rPr>
              <a:t>Quiz Connection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The Pythagorean Theorem states a² + b² = c² for ANY right triangle — not just isosceles.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On the quiz: identify the hypotenuse first (opposite the right angle), then apply a² + b² = c² correctly.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ngles in Navigation Nautical Mile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Georgia" pitchFamily="34" charset="0"/>
              </a:rPr>
              <a:t>Angles in Navigation: The Nautical Mile</a:t>
            </a:r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3900000"/>
          </a:xfrm>
          <a:prstGeom prst="rect">
            <a:avLst/>
          </a:prstGeom>
          <a:solidFill>
            <a:srgbClr val="E8F4F4"/>
          </a:solidFill>
          <a:ln>
            <a:solidFill>
              <a:srgbClr val="1A7A7A"/>
            </a:solidFill>
          </a:ln>
        </p:spPr>
      </p:sp>
      <p:pic>
        <p:nvPicPr>
          <p:cNvPr id="200" name="Diagram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831520" y="1151560"/>
            <a:ext cx="3549040" cy="3700000"/>
          </a:xfrm>
          <a:prstGeom prst="rect">
            <a:avLst/>
          </a:prstGeom>
        </p:spPr>
      </p:pic>
      <p:sp>
        <p:nvSpPr>
          <p:cNvPr id="6" name="Shape 4"/>
          <p:cNvSpPr/>
          <p:nvPr/>
        </p:nvSpPr>
        <p:spPr>
          <a:xfrm>
            <a:off x="4846320" y="1051560"/>
            <a:ext cx="3565560" cy="39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051560"/>
            <a:ext cx="54864" cy="390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8" name="Text 6"/>
          <p:cNvSpPr/>
          <p:nvPr/>
        </p:nvSpPr>
        <p:spPr>
          <a:xfrm>
            <a:off x="5030640" y="1200000"/>
            <a:ext cx="3200400" cy="38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7A7A"/>
                </a:solidFill>
                <a:latin typeface="Georgia" pitchFamily="34" charset="0"/>
              </a:rPr>
              <a:t>Definition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 xml:space="preserve">Historically, one </a:t>
            </a: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nautical mile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 xml:space="preserve"> was defined as the distance of </a:t>
            </a:r>
            <a:r>
              <a:rPr lang="en-US" sz="1300" b="1" dirty="0">
                <a:solidFill>
                  <a:srgbClr val="3D4A5C"/>
                </a:solidFill>
                <a:latin typeface="Calibri" pitchFamily="34" charset="0"/>
              </a:rPr>
              <a:t>one minute of latitude</a:t>
            </a: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 xml:space="preserve"> (at sea level).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</a:rPr>
              <a:t>1′ = 60″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If 1′ = 1852 m, then: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</a:rPr>
              <a:t>1″ = 1852 / 60 ≈ 31 m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</a:rPr>
              <a:t>Today's official definition (since 1929):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1 nautical mile = 1852 m (exactly)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1A7A7A"/>
                </a:solidFill>
                <a:latin typeface="Calibri" pitchFamily="34" charset="0"/>
              </a:rPr>
              <a:t>Practical example: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 ship traveling 10 nautical miles covers 10 × 1852 = 18,520 m ≈ 18.5 km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ngleRelationshipMap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itleBox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Angle Relationship Map</a:t>
            </a:r>
          </a:p>
        </p:txBody>
      </p:sp>
      <p:sp>
        <p:nvSpPr>
          <p:cNvPr id="290" name="HeaderBG"/>
          <p:cNvSpPr/>
          <p:nvPr/>
        </p:nvSpPr>
        <p:spPr>
          <a:xfrm>
            <a:off x="457200" y="950000"/>
            <a:ext cx="8229600" cy="130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1" name="HeaderName"/>
          <p:cNvSpPr/>
          <p:nvPr/>
        </p:nvSpPr>
        <p:spPr>
          <a:xfrm>
            <a:off x="548640" y="955000"/>
            <a:ext cx="2000000" cy="1150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RELATIONSHIP</a:t>
            </a:r>
          </a:p>
        </p:txBody>
      </p:sp>
      <p:sp>
        <p:nvSpPr>
          <p:cNvPr id="292" name="HeaderDefn"/>
          <p:cNvSpPr/>
          <p:nvPr/>
        </p:nvSpPr>
        <p:spPr>
          <a:xfrm>
            <a:off x="2700000" y="955000"/>
            <a:ext cx="5900000" cy="1150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DEFINITION &amp; KEY PROPERTY</a:t>
            </a:r>
          </a:p>
        </p:txBody>
      </p:sp>
      <p:sp>
        <p:nvSpPr>
          <p:cNvPr id="300" name="RowBG0"/>
          <p:cNvSpPr/>
          <p:nvPr/>
        </p:nvSpPr>
        <p:spPr>
          <a:xfrm>
            <a:off x="457200" y="1100000"/>
            <a:ext cx="8229600" cy="540000"/>
          </a:xfrm>
          <a:prstGeom prst="rect">
            <a:avLst/>
          </a:prstGeom>
          <a:solidFill>
            <a:srgbClr val="FFFFFF"/>
          </a:solidFill>
          <a:ln>
            <a:solidFill>
              <a:srgbClr val="DDD9D3"/>
            </a:solidFill>
            <a:prstDash val="solid"/>
          </a:ln>
        </p:spPr>
      </p:sp>
      <p:sp>
        <p:nvSpPr>
          <p:cNvPr id="301" name="RowAccent0"/>
          <p:cNvSpPr/>
          <p:nvPr/>
        </p:nvSpPr>
        <p:spPr>
          <a:xfrm>
            <a:off x="457200" y="1100000"/>
            <a:ext cx="36576" cy="54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02" name="RowName0"/>
          <p:cNvSpPr/>
          <p:nvPr/>
        </p:nvSpPr>
        <p:spPr>
          <a:xfrm>
            <a:off x="548640" y="116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Vertical</a:t>
            </a:r>
          </a:p>
        </p:txBody>
      </p:sp>
      <p:sp>
        <p:nvSpPr>
          <p:cNvPr id="303" name="Divider0"/>
          <p:cNvSpPr/>
          <p:nvPr/>
        </p:nvSpPr>
        <p:spPr>
          <a:xfrm>
            <a:off x="2640000" y="114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</p:sp>
      <p:sp>
        <p:nvSpPr>
          <p:cNvPr id="304" name="RowDefn0"/>
          <p:cNvSpPr/>
          <p:nvPr/>
        </p:nvSpPr>
        <p:spPr>
          <a:xfrm>
            <a:off x="2700000" y="116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Formed by intersecting lines; opposite each other; always congruent.</a:t>
            </a:r>
          </a:p>
        </p:txBody>
      </p:sp>
      <p:sp>
        <p:nvSpPr>
          <p:cNvPr id="305" name="RowBG1"/>
          <p:cNvSpPr/>
          <p:nvPr/>
        </p:nvSpPr>
        <p:spPr>
          <a:xfrm>
            <a:off x="457200" y="1660000"/>
            <a:ext cx="8229600" cy="540000"/>
          </a:xfrm>
          <a:prstGeom prst="rect">
            <a:avLst/>
          </a:prstGeom>
          <a:solidFill>
            <a:srgbClr val="F4F1EC"/>
          </a:solidFill>
          <a:ln>
            <a:solidFill>
              <a:srgbClr val="DDD9D3"/>
            </a:solidFill>
            <a:prstDash val="solid"/>
          </a:ln>
        </p:spPr>
      </p:sp>
      <p:sp>
        <p:nvSpPr>
          <p:cNvPr id="306" name="RowAccent1"/>
          <p:cNvSpPr/>
          <p:nvPr/>
        </p:nvSpPr>
        <p:spPr>
          <a:xfrm>
            <a:off x="457200" y="1660000"/>
            <a:ext cx="36576" cy="54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07" name="RowName1"/>
          <p:cNvSpPr/>
          <p:nvPr/>
        </p:nvSpPr>
        <p:spPr>
          <a:xfrm>
            <a:off x="548640" y="172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Adjacent</a:t>
            </a:r>
          </a:p>
        </p:txBody>
      </p:sp>
      <p:sp>
        <p:nvSpPr>
          <p:cNvPr id="308" name="Divider1"/>
          <p:cNvSpPr/>
          <p:nvPr/>
        </p:nvSpPr>
        <p:spPr>
          <a:xfrm>
            <a:off x="2640000" y="170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</p:sp>
      <p:sp>
        <p:nvSpPr>
          <p:cNvPr id="309" name="RowDefn1"/>
          <p:cNvSpPr/>
          <p:nvPr/>
        </p:nvSpPr>
        <p:spPr>
          <a:xfrm>
            <a:off x="2700000" y="172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Share a vertex and a side; do not overlap; may or may not be supplementary.</a:t>
            </a:r>
          </a:p>
        </p:txBody>
      </p:sp>
      <p:sp>
        <p:nvSpPr>
          <p:cNvPr id="310" name="RowBG2"/>
          <p:cNvSpPr/>
          <p:nvPr/>
        </p:nvSpPr>
        <p:spPr>
          <a:xfrm>
            <a:off x="457200" y="2220000"/>
            <a:ext cx="8229600" cy="540000"/>
          </a:xfrm>
          <a:prstGeom prst="rect">
            <a:avLst/>
          </a:prstGeom>
          <a:solidFill>
            <a:srgbClr val="FFFFFF"/>
          </a:solidFill>
          <a:ln>
            <a:solidFill>
              <a:srgbClr val="DDD9D3"/>
            </a:solidFill>
            <a:prstDash val="solid"/>
          </a:ln>
        </p:spPr>
      </p:sp>
      <p:sp>
        <p:nvSpPr>
          <p:cNvPr id="311" name="RowAccent2"/>
          <p:cNvSpPr/>
          <p:nvPr/>
        </p:nvSpPr>
        <p:spPr>
          <a:xfrm>
            <a:off x="457200" y="2220000"/>
            <a:ext cx="36576" cy="54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12" name="RowName2"/>
          <p:cNvSpPr/>
          <p:nvPr/>
        </p:nvSpPr>
        <p:spPr>
          <a:xfrm>
            <a:off x="548640" y="228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Linear Pair</a:t>
            </a:r>
          </a:p>
        </p:txBody>
      </p:sp>
      <p:sp>
        <p:nvSpPr>
          <p:cNvPr id="313" name="Divider2"/>
          <p:cNvSpPr/>
          <p:nvPr/>
        </p:nvSpPr>
        <p:spPr>
          <a:xfrm>
            <a:off x="2640000" y="226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</p:sp>
      <p:sp>
        <p:nvSpPr>
          <p:cNvPr id="314" name="RowDefn2"/>
          <p:cNvSpPr/>
          <p:nvPr/>
        </p:nvSpPr>
        <p:spPr>
          <a:xfrm>
            <a:off x="2700000" y="228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Adjacent + supplementary; sum = 180°; on a straight line.</a:t>
            </a:r>
          </a:p>
        </p:txBody>
      </p:sp>
      <p:sp>
        <p:nvSpPr>
          <p:cNvPr id="315" name="RowBG3"/>
          <p:cNvSpPr/>
          <p:nvPr/>
        </p:nvSpPr>
        <p:spPr>
          <a:xfrm>
            <a:off x="457200" y="2780000"/>
            <a:ext cx="8229600" cy="540000"/>
          </a:xfrm>
          <a:prstGeom prst="rect">
            <a:avLst/>
          </a:prstGeom>
          <a:solidFill>
            <a:srgbClr val="F4F1EC"/>
          </a:solidFill>
          <a:ln>
            <a:solidFill>
              <a:srgbClr val="DDD9D3"/>
            </a:solidFill>
            <a:prstDash val="solid"/>
          </a:ln>
        </p:spPr>
      </p:sp>
      <p:sp>
        <p:nvSpPr>
          <p:cNvPr id="316" name="RowAccent3"/>
          <p:cNvSpPr/>
          <p:nvPr/>
        </p:nvSpPr>
        <p:spPr>
          <a:xfrm>
            <a:off x="457200" y="2780000"/>
            <a:ext cx="36576" cy="54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17" name="RowName3"/>
          <p:cNvSpPr/>
          <p:nvPr/>
        </p:nvSpPr>
        <p:spPr>
          <a:xfrm>
            <a:off x="548640" y="284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Complementary</a:t>
            </a:r>
          </a:p>
        </p:txBody>
      </p:sp>
      <p:sp>
        <p:nvSpPr>
          <p:cNvPr id="318" name="Divider3"/>
          <p:cNvSpPr/>
          <p:nvPr/>
        </p:nvSpPr>
        <p:spPr>
          <a:xfrm>
            <a:off x="2640000" y="282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</p:sp>
      <p:sp>
        <p:nvSpPr>
          <p:cNvPr id="319" name="RowDefn3"/>
          <p:cNvSpPr/>
          <p:nvPr/>
        </p:nvSpPr>
        <p:spPr>
          <a:xfrm>
            <a:off x="2700000" y="284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Any two angles whose measures sum to 90°.</a:t>
            </a:r>
          </a:p>
        </p:txBody>
      </p:sp>
      <p:sp>
        <p:nvSpPr>
          <p:cNvPr id="320" name="RowBG4"/>
          <p:cNvSpPr/>
          <p:nvPr/>
        </p:nvSpPr>
        <p:spPr>
          <a:xfrm>
            <a:off x="457200" y="3340000"/>
            <a:ext cx="8229600" cy="540000"/>
          </a:xfrm>
          <a:prstGeom prst="rect">
            <a:avLst/>
          </a:prstGeom>
          <a:solidFill>
            <a:srgbClr val="FFFFFF"/>
          </a:solidFill>
          <a:ln>
            <a:solidFill>
              <a:srgbClr val="DDD9D3"/>
            </a:solidFill>
            <a:prstDash val="solid"/>
          </a:ln>
        </p:spPr>
      </p:sp>
      <p:sp>
        <p:nvSpPr>
          <p:cNvPr id="321" name="RowAccent4"/>
          <p:cNvSpPr/>
          <p:nvPr/>
        </p:nvSpPr>
        <p:spPr>
          <a:xfrm>
            <a:off x="457200" y="3340000"/>
            <a:ext cx="36576" cy="54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22" name="RowName4"/>
          <p:cNvSpPr/>
          <p:nvPr/>
        </p:nvSpPr>
        <p:spPr>
          <a:xfrm>
            <a:off x="548640" y="3400000"/>
            <a:ext cx="20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/>
              </a:rPr>
              <a:t>Supplementary</a:t>
            </a:r>
          </a:p>
        </p:txBody>
      </p:sp>
      <p:sp>
        <p:nvSpPr>
          <p:cNvPr id="323" name="Divider4"/>
          <p:cNvSpPr/>
          <p:nvPr/>
        </p:nvSpPr>
        <p:spPr>
          <a:xfrm>
            <a:off x="2640000" y="3380000"/>
            <a:ext cx="18288" cy="480000"/>
          </a:xfrm>
          <a:prstGeom prst="rect">
            <a:avLst/>
          </a:prstGeom>
          <a:solidFill>
            <a:srgbClr val="DDD9D3"/>
          </a:solidFill>
          <a:ln/>
        </p:spPr>
      </p:sp>
      <p:sp>
        <p:nvSpPr>
          <p:cNvPr id="324" name="RowDefn4"/>
          <p:cNvSpPr/>
          <p:nvPr/>
        </p:nvSpPr>
        <p:spPr>
          <a:xfrm>
            <a:off x="2700000" y="3400000"/>
            <a:ext cx="5900000" cy="46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Any two angles whose measures sum to 180°.</a:t>
            </a:r>
          </a:p>
        </p:txBody>
      </p:sp>
      <p:sp>
        <p:nvSpPr>
          <p:cNvPr id="395" name="KeyPrincipleBG"/>
          <p:cNvSpPr/>
          <p:nvPr/>
        </p:nvSpPr>
        <p:spPr>
          <a:xfrm>
            <a:off x="457200" y="3940000"/>
            <a:ext cx="8229600" cy="34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</p:sp>
      <p:sp>
        <p:nvSpPr>
          <p:cNvPr id="396" name="KeyPrincipleText"/>
          <p:cNvSpPr/>
          <p:nvPr/>
        </p:nvSpPr>
        <p:spPr>
          <a:xfrm>
            <a:off x="600000" y="3980000"/>
            <a:ext cx="8000000" cy="2600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 xml:space="preserve">Key principle: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Vertical angles are always congruent. All other relationships depend on position.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lvingAngleEquations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Solving Angle Equations: Method</a:t>
            </a:r>
          </a:p>
        </p:txBody>
      </p:sp>
      <p:sp>
        <p:nvSpPr>
          <p:cNvPr id="10" name="MethodBG"/>
          <p:cNvSpPr/>
          <p:nvPr/>
        </p:nvSpPr>
        <p:spPr>
          <a:xfrm>
            <a:off x="457200" y="1051560"/>
            <a:ext cx="768096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11" name="MethodAccent"/>
          <p:cNvSpPr/>
          <p:nvPr/>
        </p:nvSpPr>
        <p:spPr>
          <a:xfrm>
            <a:off x="457200" y="1051560"/>
            <a:ext cx="54864" cy="384048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2" name="MethodText"/>
          <p:cNvSpPr/>
          <p:nvPr/>
        </p:nvSpPr>
        <p:spPr>
          <a:xfrm>
            <a:off x="600000" y="1100000"/>
            <a:ext cx="7200000" cy="37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/>
              </a:rPr>
              <a:t>Method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1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 xml:space="preserve"> — Identify the relationship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Are the angles equal, supplementary (180°), or related by position?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2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 xml:space="preserve"> — Write the equation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Corr./alt.int./alt.ext. → set equal. Co-interior → sum to 180°.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3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 xml:space="preserve"> — Solve for x, then find the angle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Isolate the variable, then substitute back to get the degree measure.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Step 4</a:t>
            </a:r>
            <a:r>
              <a:rPr lang="en-US" sz="1400" dirty="0">
                <a:solidFill>
                  <a:srgbClr val="3D4A5C"/>
                </a:solidFill>
                <a:latin typeface="Calibri"/>
              </a:rPr>
              <a:t xml:space="preserve"> — Check with supplementary if needed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Adjacent angles on a straight line sum to 180°. Use this to find the supplementary angle if asked.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200" i="1" dirty="0">
                <a:solidFill>
                  <a:srgbClr val="4ECDC4"/>
                </a:solidFill>
                <a:latin typeface="Calibri"/>
              </a:rPr>
              <a:t>Works for any angle pair from parallel lines: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Corresponding, alt. int., alt. ext. → equal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/>
              </a:rPr>
              <a:t>Co-interior → supplementary (180°)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/>
              </a:rPr>
              <a:t>Quick Reference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Corr./Alt.int./Alt.ext. → set equal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Co-interior → sum to 180°, then solve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teriorAngleSumFormula">
    <p:bg>
      <p:bgPr>
        <a:solidFill>
          <a:srgbClr val="FAFAF8"/>
        </a:solidFill>
      </p:bgPr>
    </p:bg>
    <p:spTree>
      <p:nvGrpSpPr>
        <p:cNvPr id="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8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Interior Angle Sum Formula</a:t>
            </a:r>
          </a:p>
        </p:txBody>
      </p:sp>
      <p:sp>
        <p:nvSpPr>
          <p:cNvPr id="8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8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9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Derivation via Triangulation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Any polygon can be divided into triangles by drawing diagonals from one vertex.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 polygon with n sides produces (n − 2) triangles.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Each triangle has an angle sum of 180°.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Sum of Interior Angles = (n − 2) × 180°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Examples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Triangle (n=3): (3−2) × 180° = 180°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Quadrilateral (n=4): (4−2) × 180° = 360°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Pentagon (n=5): (5−2) × 180° = 540°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Hexagon (n=6): (6−2) × 180° = 720°</a:t>
            </a:r>
          </a:p>
        </p:txBody>
      </p:sp>
      <p:sp>
        <p:nvSpPr>
          <p:cNvPr id="200" name="Summary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15000"/>
              </a:srgbClr>
            </a:outerShdw>
          </a:effectLst>
        </p:spPr>
      </p:sp>
      <p:sp>
        <p:nvSpPr>
          <p:cNvPr id="201" name="Summary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02" name="SummaryText"/>
          <p:cNvSpPr/>
          <p:nvPr/>
        </p:nvSpPr>
        <p:spPr>
          <a:xfrm>
            <a:off x="880000" y="3970000"/>
            <a:ext cx="7400000" cy="106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/>
              </a:rPr>
              <a:t>Quick Reference — Interior Angle Sums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Triangle (n=3): 180°  |  Quadrilateral (n=4): 360°  |  Pentagon (n=5): 540°  |  Hexagon (n=6): 720°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Heptagon: 900°  |  Octagon: 1080°  |  Nonagon: 1260°  |  Decagon: 1440°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Formula:  (n − 2) × 180°   where n = number of sides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teriorAngleSum">
    <p:bg>
      <p:bgPr>
        <a:solidFill>
          <a:srgbClr val="FAFAF8"/>
        </a:solidFill>
      </p:bgPr>
    </p:bg>
    <p:spTree>
      <p:nvGrpSpPr>
        <p:cNvPr id="1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0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Exterior Angle Sum</a:t>
            </a:r>
          </a:p>
        </p:txBody>
      </p:sp>
      <p:sp>
        <p:nvSpPr>
          <p:cNvPr id="10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10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Key Fact: Sum of Exterior Angles = 360° (always, for any convex polygon)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One exterior angle at each vertex. The sum is always 360°, regardless of the number of sides.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Regular Polygon Interior Angle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Each interior angle of a regular n-gon = (n − 2) × 180° / n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Each exterior angle of a regular n-gon = 360° / n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Examples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Regular hexagon (n=6): interior = 120°, exterior = 60°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Regular octagon (n=8): interior = 135°, exterior = 45°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Interior + exterior angle at any vertex = 180° (linear pair)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</p:txBody>
      </p:sp>
      <p:sp>
        <p:nvSpPr>
          <p:cNvPr id="200" name="Summary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15000"/>
              </a:srgbClr>
            </a:outerShdw>
          </a:effectLst>
        </p:spPr>
      </p:sp>
      <p:sp>
        <p:nvSpPr>
          <p:cNvPr id="201" name="Summary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202" name="SummaryText"/>
          <p:cNvSpPr/>
          <p:nvPr/>
        </p:nvSpPr>
        <p:spPr>
          <a:xfrm>
            <a:off x="880000" y="3970000"/>
            <a:ext cx="7400000" cy="106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/>
              </a:rPr>
              <a:t>Regular Polygon Quick Reference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Pentagon (5):  interior = 108°, exterior = 72°  |  Hexagon (6):  interior = 120°, exterior = 60°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Octagon (8):  interior = 135°, exterior = 45°  |  Decagon (10):  interior = 144°, exterior = 36°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Note:  interior + exterior = 180°  (always, at every vertex — linear pair)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oundShapesStrategy">
    <p:bg>
      <p:bgPr>
        <a:solidFill>
          <a:srgbClr val="FAFAF8"/>
        </a:solidFill>
      </p:bgPr>
    </p:bg>
    <p:spTree>
      <p:nvGrpSpPr>
        <p:cNvPr id="1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2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Compound Shapes Strategy</a:t>
            </a:r>
          </a:p>
        </p:txBody>
      </p:sp>
      <p:sp>
        <p:nvSpPr>
          <p:cNvPr id="12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12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3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 for Any Compound Shape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Partition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Identify simple shapes within the compound figure (rectangles, triangles, trapezoids).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Label all dimensions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Ensure all necessary measurements are identified for each part.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Compute individual areas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Apply the correct formula to each piece separately.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4 — Add or subtract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Add areas of parts (or subtract holes/cutouts).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5 — State units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Always express area in square units (cm², ft², m², etc.).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riangleAreaDecisionGuide">
    <p:bg>
      <p:bgPr>
        <a:solidFill>
          <a:srgbClr val="FAFAF8"/>
        </a:solidFill>
      </p:bgPr>
    </p:bg>
    <p:spTree>
      <p:nvGrpSpPr>
        <p:cNvPr id="1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4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Triangle Area: Decision Guide</a:t>
            </a:r>
          </a:p>
        </p:txBody>
      </p:sp>
      <p:sp>
        <p:nvSpPr>
          <p:cNvPr id="14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14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5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Which Formula to Use?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 = ½bh — Use when base and height are known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Height must be perpendicular to the base. Works for all triangle types.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 = (s²√3)/4 — Use for equilateral triangles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All three sides equal (s). Derived from the 30-60-90 split.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Heron's Formula — Use when only all three sides are known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 = √[s(s−a)(s−b)(s−c)]  where s = (a+b+c)/2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No height needed — powerful when height is unknown.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Decision rule: Know height? → ½bh. All equal? → equilateral. Only sides? → Heron's.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</p:txBody>
      </p:sp>
      <p:sp>
        <p:nvSpPr>
          <p:cNvPr id="200" name="SecondCard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201" name="SecondCard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02" name="SecondCardText"/>
          <p:cNvSpPr/>
          <p:nvPr/>
        </p:nvSpPr>
        <p:spPr>
          <a:xfrm>
            <a:off x="880000" y="3970000"/>
            <a:ext cx="7400000" cy="139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Decision Rule Summary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Know height? → Use ½bh   |   All sides equal? → Use equilateral formula   |   Only sides? → Use Heron's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Heron's is the most versatile — it works for any triangle when all three side lengths are known.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rrorAnalysisTriangles">
    <p:bg>
      <p:bgPr>
        <a:solidFill>
          <a:srgbClr val="FAFAF8"/>
        </a:solidFill>
      </p:bgPr>
    </p:bg>
    <p:spTree>
      <p:nvGrpSpPr>
        <p:cNvPr id="1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6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Error Analysis: Triangle Area</a:t>
            </a:r>
          </a:p>
        </p:txBody>
      </p:sp>
      <p:sp>
        <p:nvSpPr>
          <p:cNvPr id="16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16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7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Common Mistakes to Avoid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1 — Using the slanted side as height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height must be perpendicular to the base. A slanted leg is NOT the height unless the triangle is right-angled.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2 — Forgetting to square the units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Area is always in square units. 12 cm × 8 cm = 96 cm², not 96 cm.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3 — Misidentifying the hypotenuse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The hypotenuse is always opposite the right angle — the longest side.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4 — Applying Heron's with the wrong 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 is the semi-perimeter: s = (a+b+c)/2, not a+b+c.</a:t>
            </a:r>
          </a:p>
        </p:txBody>
      </p:sp>
      <p:sp>
        <p:nvSpPr>
          <p:cNvPr id="220" name="CalloutBG"/>
          <p:cNvSpPr/>
          <p:nvPr/>
        </p:nvSpPr>
        <p:spPr>
          <a:xfrm>
            <a:off x="457200" y="4697720"/>
            <a:ext cx="8229600" cy="395780"/>
          </a:xfrm>
          <a:prstGeom prst="rect">
            <a:avLst/>
          </a:prstGeom>
          <a:solidFill>
            <a:srgbClr val="1B2A4A"/>
          </a:solidFill>
          <a:ln>
            <a:solidFill>
              <a:srgbClr val="E0DDD8"/>
            </a:solidFill>
          </a:ln>
        </p:spPr>
      </p:sp>
      <p:sp>
        <p:nvSpPr>
          <p:cNvPr id="221" name="CalloutAccent"/>
          <p:cNvSpPr/>
          <p:nvPr/>
        </p:nvSpPr>
        <p:spPr>
          <a:xfrm>
            <a:off x="457200" y="4697720"/>
            <a:ext cx="54864" cy="395780"/>
          </a:xfrm>
          <a:prstGeom prst="rect">
            <a:avLst/>
          </a:prstGeom>
          <a:solidFill>
            <a:srgbClr val="4ECDC4"/>
          </a:solidFill>
          <a:ln/>
        </p:spPr>
      </p:sp>
      <p:sp>
        <p:nvSpPr>
          <p:cNvPr id="222" name="CalloutText"/>
          <p:cNvSpPr/>
          <p:nvPr/>
        </p:nvSpPr>
        <p:spPr>
          <a:xfrm>
            <a:off x="600000" y="4757720"/>
            <a:ext cx="7980000" cy="2957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4ECDC4"/>
                </a:solidFill>
                <a:latin typeface="Calibri"/>
              </a:rPr>
              <a:t>Corrected Example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Triangle with base 8 cm, slant side 10 cm, height 6 cm.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/>
              </a:rPr>
              <a:t>WRONG: A = ½ × 8 × 10 = 40 cm²   (used slant side, not height)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RIGHT:  A = ½ × 8 × 6 = 24 cm²   (used perpendicular height)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milarityStrategy">
    <p:bg>
      <p:bgPr>
        <a:solidFill>
          <a:srgbClr val="FAFAF8"/>
        </a:solidFill>
      </p:bgPr>
    </p:bg>
    <p:spTree>
      <p:nvGrpSpPr>
        <p:cNvPr id="1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8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Similarity: Strategy</a:t>
            </a:r>
          </a:p>
        </p:txBody>
      </p:sp>
      <p:sp>
        <p:nvSpPr>
          <p:cNvPr id="18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18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9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 for Solving Similarity Problems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Match corresponding angles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Confirm AA (Angle-Angle) similarity. Order of vertices in the statement matters.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Determine the scale factor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Scale factor = (side of one figure) / (corresponding side of other figure).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Set up the proportion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a/b = c/d  — corresponding sides in the same ratio.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4 — Solve for the unknown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Cross-multiply and simplify.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5 — Interpret: label with units, verify the ratio holds.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</p:txBody>
      </p:sp>
      <p:sp>
        <p:nvSpPr>
          <p:cNvPr id="200" name="SecondCard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201" name="SecondCard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202" name="SecondCardText"/>
          <p:cNvSpPr/>
          <p:nvPr/>
        </p:nvSpPr>
        <p:spPr>
          <a:xfrm>
            <a:off x="880000" y="3970000"/>
            <a:ext cx="7400000" cy="139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Key Reminders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Common shortcut: If two angles are known equal, the third must be equal too (angle sum = 180°).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Scale factor &gt; 1: figure is enlarging.   Scale factor &lt; 1: figure is shrinking.   Always state which direction.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milarityApplicationEx2">
    <p:bg>
      <p:bgPr>
        <a:solidFill>
          <a:srgbClr val="FAFAF8"/>
        </a:solidFill>
      </p:bgPr>
    </p:bg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20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Application: Parallel Segments</a:t>
            </a:r>
          </a:p>
        </p:txBody>
      </p:sp>
      <p:sp>
        <p:nvSpPr>
          <p:cNvPr id="20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20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1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Problem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Two parallel lines are cut by two transversals. Segments AB = 9, BC = 6, and DE = 12. Find EF.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Solution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Parallel lines cut transversals proportionally: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AB / BC = DE / EF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9 / 6 = 12 / EF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EF = (12 × 6) / 9 = 72 / 9 = 8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Answer: EF = 8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Strategy: Parallel lines always divide transversals in the same ratio. Identify corresponding segments before setting up the proportion.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milarityErrorAnalysis">
    <p:bg>
      <p:bgPr>
        <a:solidFill>
          <a:srgbClr val="FAFAF8"/>
        </a:solidFill>
      </p:bgPr>
    </p:bg>
    <p:spTree>
      <p:nvGrpSpPr>
        <p:cNvPr id="2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22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Error Analysis: Similarity</a:t>
            </a:r>
          </a:p>
        </p:txBody>
      </p:sp>
      <p:sp>
        <p:nvSpPr>
          <p:cNvPr id="22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22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3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Common Mistakes in Similarity Problems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1 — Wrong order in similarity statement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△ABC ~ △DEF means A↔D, B↔E, C↔F. Swapping letters changes which sides correspond.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2 — Inverting the ratio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If AB/DE = BC/EF, do NOT flip one side: AB/DE ≠ EF/BC.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3 — Mixing sides from different triangles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Always keep numerators from one figure and denominators from the other.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Mistake 4 — Confusing the scale factor direction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Larger → smaller: scale factor &lt; 1. Smaller → larger: scale factor &gt; 1.</a:t>
            </a:r>
          </a:p>
        </p:txBody>
      </p:sp>
      <p:sp>
        <p:nvSpPr>
          <p:cNvPr id="200" name="SecondCardBG"/>
          <p:cNvSpPr/>
          <p:nvPr/>
        </p:nvSpPr>
        <p:spPr>
          <a:xfrm>
            <a:off x="731520" y="3920000"/>
            <a:ext cx="7680960" cy="114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201" name="SecondCardAccent"/>
          <p:cNvSpPr/>
          <p:nvPr/>
        </p:nvSpPr>
        <p:spPr>
          <a:xfrm>
            <a:off x="731520" y="3920000"/>
            <a:ext cx="54864" cy="150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02" name="SecondCardText"/>
          <p:cNvSpPr/>
          <p:nvPr/>
        </p:nvSpPr>
        <p:spPr>
          <a:xfrm>
            <a:off x="880000" y="3970000"/>
            <a:ext cx="7400000" cy="139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Self-Check Strategy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Quick check: Write out the similarity statement first, then list corresponding pairs before setting up any ratio.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/>
              </a:rPr>
              <a:t>If your answer gives a scale factor &lt; 0 or makes sides negative, you have a ratio error — flip and retry.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malToDMS">
    <p:bg>
      <p:bgPr>
        <a:solidFill>
          <a:srgbClr val="FAFAF8"/>
        </a:solidFill>
      </p:bgPr>
    </p:bg>
    <p:spTree>
      <p:nvGrpSpPr>
        <p:cNvPr id="2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24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Decimal Degrees → DMS</a:t>
            </a:r>
          </a:p>
        </p:txBody>
      </p:sp>
      <p:sp>
        <p:nvSpPr>
          <p:cNvPr id="248" name="CardBG"/>
          <p:cNvSpPr/>
          <p:nvPr/>
        </p:nvSpPr>
        <p:spPr>
          <a:xfrm>
            <a:off x="731520" y="1051560"/>
            <a:ext cx="7680960" cy="28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249" name="AccentBar"/>
          <p:cNvSpPr/>
          <p:nvPr/>
        </p:nvSpPr>
        <p:spPr>
          <a:xfrm>
            <a:off x="731520" y="1051560"/>
            <a:ext cx="54864" cy="280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250" name="BodyText"/>
          <p:cNvSpPr/>
          <p:nvPr/>
        </p:nvSpPr>
        <p:spPr>
          <a:xfrm>
            <a:off x="1000000" y="1130000"/>
            <a:ext cx="7200000" cy="26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Procedure: Decimal → DMS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The whole number part is the degrees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Multiply the decimal remainder by 60 → minutes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Multiply that decimal remainder by 60 → seconds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Worked Example: Convert 135.721°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Degrees: 135°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Minutes: 0.721 × 60 = 43.26  →  43′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Seconds: 0.26 × 60 = 15.6  →  15.6″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Answer: 135° 43′ 15.6″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MSToDecimal">
    <p:bg>
      <p:bgPr>
        <a:solidFill>
          <a:srgbClr val="FAFAF8"/>
        </a:solidFill>
      </p:bgPr>
    </p:bg>
    <p:spTree>
      <p:nvGrpSpPr>
        <p:cNvPr id="2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26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DMS → Decimal Degrees</a:t>
            </a:r>
          </a:p>
        </p:txBody>
      </p:sp>
      <p:sp>
        <p:nvSpPr>
          <p:cNvPr id="268" name="CardBG"/>
          <p:cNvSpPr/>
          <p:nvPr/>
        </p:nvSpPr>
        <p:spPr>
          <a:xfrm>
            <a:off x="731520" y="1051560"/>
            <a:ext cx="768096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269" name="AccentBar"/>
          <p:cNvSpPr/>
          <p:nvPr/>
        </p:nvSpPr>
        <p:spPr>
          <a:xfrm>
            <a:off x="731520" y="1051560"/>
            <a:ext cx="54864" cy="356616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270" name="BodyText"/>
          <p:cNvSpPr/>
          <p:nvPr/>
        </p:nvSpPr>
        <p:spPr>
          <a:xfrm>
            <a:off x="1000000" y="1130000"/>
            <a:ext cx="7200000" cy="340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Procedure: DMS → Decimal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1 — Convert minutes: divide by 60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2 — Convert seconds: divide by 3600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Step 3 — Add all three parts together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Worked Example: Convert 120° 48′ 50″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Degrees: 120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Minutes: 48 / 60 = 0.8°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Seconds: 50 / 3600 ≈ 0.01389°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Total: 120 + 0.8 + 0.01389 ≈ 120.814°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Answer: ≈ 120.814°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</p:txBody>
      </p:sp>
      <p:sp>
        <p:nvSpPr>
          <p:cNvPr id="50" name="MistakeBG"/>
          <p:cNvSpPr/>
          <p:nvPr/>
        </p:nvSpPr>
        <p:spPr>
          <a:xfrm>
            <a:off x="457200" y="4690000"/>
            <a:ext cx="8229600" cy="410000"/>
          </a:xfrm>
          <a:prstGeom prst="rect">
            <a:avLst/>
          </a:prstGeom>
          <a:solidFill>
            <a:srgbClr val="FFF0F0"/>
          </a:solidFill>
          <a:ln>
            <a:solidFill>
              <a:srgbClr val="C0392B"/>
            </a:solidFill>
          </a:ln>
        </p:spPr>
      </p:sp>
      <p:sp>
        <p:nvSpPr>
          <p:cNvPr id="51" name="MistakeText"/>
          <p:cNvSpPr/>
          <p:nvPr/>
        </p:nvSpPr>
        <p:spPr>
          <a:xfrm>
            <a:off x="600000" y="4710000"/>
            <a:ext cx="7980000" cy="37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/>
              </a:rPr>
              <a:t xml:space="preserve">Common mistake: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forgetting to add all three parts. The answer is 120 + 0.8 + 0.01389, not just 120.01389 or 0.81389.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reGeometricCompetencies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Core Geometric Competencies</a:t>
            </a:r>
          </a:p>
        </p:txBody>
      </p:sp>
      <p:sp>
        <p:nvSpPr>
          <p:cNvPr id="4" name="Subhead"/>
          <p:cNvSpPr/>
          <p:nvPr/>
        </p:nvSpPr>
        <p:spPr>
          <a:xfrm>
            <a:off x="457200" y="96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/>
              </a:rPr>
              <a:t>By the end of this unit, you should be able to do all of the following:</a:t>
            </a:r>
          </a:p>
        </p:txBody>
      </p:sp>
      <p:sp>
        <p:nvSpPr>
          <p:cNvPr id="10" name="CompBG0"/>
          <p:cNvSpPr/>
          <p:nvPr/>
        </p:nvSpPr>
        <p:spPr>
          <a:xfrm>
            <a:off x="457200" y="1360000"/>
            <a:ext cx="4114080" cy="16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11" name="CompTop0"/>
          <p:cNvSpPr/>
          <p:nvPr/>
        </p:nvSpPr>
        <p:spPr>
          <a:xfrm>
            <a:off x="457200" y="1360000"/>
            <a:ext cx="4114080" cy="8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12" name="CompText0"/>
          <p:cNvSpPr/>
          <p:nvPr/>
        </p:nvSpPr>
        <p:spPr>
          <a:xfrm>
            <a:off x="517200" y="1460000"/>
            <a:ext cx="3994080" cy="14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Angle Reasoning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Classify angles (acute, right, obtuse, straight). Apply vertical, supplementary, and parallel line relationships. Write and solve angle equations.</a:t>
            </a:r>
          </a:p>
        </p:txBody>
      </p:sp>
      <p:sp>
        <p:nvSpPr>
          <p:cNvPr id="14" name="CompBG1"/>
          <p:cNvSpPr/>
          <p:nvPr/>
        </p:nvSpPr>
        <p:spPr>
          <a:xfrm>
            <a:off x="4687920" y="1360000"/>
            <a:ext cx="3999360" cy="16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15" name="CompTop1"/>
          <p:cNvSpPr/>
          <p:nvPr/>
        </p:nvSpPr>
        <p:spPr>
          <a:xfrm>
            <a:off x="4687920" y="1360000"/>
            <a:ext cx="3999360" cy="8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6" name="CompText1"/>
          <p:cNvSpPr/>
          <p:nvPr/>
        </p:nvSpPr>
        <p:spPr>
          <a:xfrm>
            <a:off x="4747920" y="1460000"/>
            <a:ext cx="3879360" cy="14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Polygon Angle Sums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Derive and apply (n−2)×180° for interior sums. Use 360° for exterior sums. Find individual angles in regular polygons.</a:t>
            </a:r>
          </a:p>
        </p:txBody>
      </p:sp>
      <p:sp>
        <p:nvSpPr>
          <p:cNvPr id="18" name="CompBG2"/>
          <p:cNvSpPr/>
          <p:nvPr/>
        </p:nvSpPr>
        <p:spPr>
          <a:xfrm>
            <a:off x="457200" y="3100000"/>
            <a:ext cx="2560000" cy="22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19" name="CompTop2"/>
          <p:cNvSpPr/>
          <p:nvPr/>
        </p:nvSpPr>
        <p:spPr>
          <a:xfrm>
            <a:off x="457200" y="3100000"/>
            <a:ext cx="2560000" cy="8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20" name="CompText2"/>
          <p:cNvSpPr/>
          <p:nvPr/>
        </p:nvSpPr>
        <p:spPr>
          <a:xfrm>
            <a:off x="517200" y="3200000"/>
            <a:ext cx="2440000" cy="20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Area Computation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Apply formulas for squares, rectangles, parallelograms, trapezoids, and rhombuses. Partition compound shapes. Choose the correct triangle formula (½bh, equilateral, Heron’s).</a:t>
            </a:r>
          </a:p>
        </p:txBody>
      </p:sp>
      <p:sp>
        <p:nvSpPr>
          <p:cNvPr id="22" name="CompBG3"/>
          <p:cNvSpPr/>
          <p:nvPr/>
        </p:nvSpPr>
        <p:spPr>
          <a:xfrm>
            <a:off x="3177200" y="3100000"/>
            <a:ext cx="2560000" cy="22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23" name="CompTop3"/>
          <p:cNvSpPr/>
          <p:nvPr/>
        </p:nvSpPr>
        <p:spPr>
          <a:xfrm>
            <a:off x="3177200" y="3100000"/>
            <a:ext cx="2560000" cy="8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4" name="CompText3"/>
          <p:cNvSpPr/>
          <p:nvPr/>
        </p:nvSpPr>
        <p:spPr>
          <a:xfrm>
            <a:off x="3237200" y="3200000"/>
            <a:ext cx="2440000" cy="20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/>
              </a:rPr>
              <a:t>Similarity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Identify similar polygons using AA. Write correct similarity statements. Determine scale factors and set up proportions to find missing sides.</a:t>
            </a:r>
          </a:p>
        </p:txBody>
      </p:sp>
      <p:sp>
        <p:nvSpPr>
          <p:cNvPr id="26" name="CompBG4"/>
          <p:cNvSpPr/>
          <p:nvPr/>
        </p:nvSpPr>
        <p:spPr>
          <a:xfrm>
            <a:off x="5897200" y="3100000"/>
            <a:ext cx="2800000" cy="2200000"/>
          </a:xfrm>
          <a:prstGeom prst="rect">
            <a:avLst/>
          </a:prstGeom>
          <a:solidFill>
            <a:srgbClr val="FFFFFF"/>
          </a:solidFill>
          <a:ln>
            <a:solidFill>
              <a:srgbClr val="E0DDD8"/>
            </a:solidFill>
          </a:ln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27" name="CompTop4"/>
          <p:cNvSpPr/>
          <p:nvPr/>
        </p:nvSpPr>
        <p:spPr>
          <a:xfrm>
            <a:off x="5897200" y="3100000"/>
            <a:ext cx="2800000" cy="8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28" name="CompText4"/>
          <p:cNvSpPr/>
          <p:nvPr/>
        </p:nvSpPr>
        <p:spPr>
          <a:xfrm>
            <a:off x="5957200" y="3200000"/>
            <a:ext cx="2680000" cy="205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7A7A"/>
                </a:solidFill>
                <a:latin typeface="Calibri"/>
              </a:rPr>
              <a:t>DMS Conversion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/>
              </a:rPr>
              <a:t>Convert decimal degrees to DMS (multiply remainders by 60 twice). Convert DMS to decimal (divide by 60 and 3600, then add). Understand the nautical mile connection.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acticeChecklist">
    <p:bg>
      <p:bgPr>
        <a:solidFill>
          <a:srgbClr val="FAFAF8"/>
        </a:solidFill>
      </p:bgPr>
    </p:bg>
    <p:spTree>
      <p:nvGrpSpPr>
        <p:cNvPr id="3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0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Practice Checklist</a:t>
            </a:r>
          </a:p>
        </p:txBody>
      </p:sp>
      <p:sp>
        <p:nvSpPr>
          <p:cNvPr id="308" name="CardBG"/>
          <p:cNvSpPr/>
          <p:nvPr/>
        </p:nvSpPr>
        <p:spPr>
          <a:xfrm>
            <a:off x="731520" y="1051560"/>
            <a:ext cx="7680960" cy="406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309" name="AccentBar"/>
          <p:cNvSpPr/>
          <p:nvPr/>
        </p:nvSpPr>
        <p:spPr>
          <a:xfrm>
            <a:off x="731520" y="1051560"/>
            <a:ext cx="54864" cy="4060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10" name="BodyText"/>
          <p:cNvSpPr/>
          <p:nvPr/>
        </p:nvSpPr>
        <p:spPr>
          <a:xfrm>
            <a:off x="1000000" y="1130000"/>
            <a:ext cx="7200000" cy="38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Before the assessment, make sure you can: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Angle relationships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Identify all parallel line angle pairs by name and state their relationship (equal or supplementary).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Polygon angle sums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Find interior and exterior angle sums for any polygon, and solve for missing angles.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Area computation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Partition compound shapes, apply correct formulas, give answers in square units.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Similarity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Write correct similarity statements, calculate scale factors, set up and solve proportions.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DMS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Convert decimal degrees ↔ DMS accurately. Understand the nautical mile connection.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lectionAndQuestions">
    <p:bg>
      <p:bgPr>
        <a:solidFill>
          <a:srgbClr val="FAFAF8"/>
        </a:solidFill>
      </p:bgPr>
    </p:bg>
    <p:spTree>
      <p:nvGrpSpPr>
        <p:cNvPr id="3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27" name="TitleBox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</a:rPr>
              <a:t>Reflection &amp; Questions</a:t>
            </a:r>
          </a:p>
        </p:txBody>
      </p:sp>
      <p:sp>
        <p:nvSpPr>
          <p:cNvPr id="328" name="CardBG"/>
          <p:cNvSpPr/>
          <p:nvPr/>
        </p:nvSpPr>
        <p:spPr>
          <a:xfrm>
            <a:off x="731520" y="1051560"/>
            <a:ext cx="7680960" cy="406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rotWithShape="0">
              <a:srgbClr val="000000">
                <a:alpha val="10000"/>
              </a:srgbClr>
            </a:outerShdw>
          </a:effectLst>
        </p:spPr>
      </p:sp>
      <p:sp>
        <p:nvSpPr>
          <p:cNvPr id="329" name="AccentBar"/>
          <p:cNvSpPr/>
          <p:nvPr/>
        </p:nvSpPr>
        <p:spPr>
          <a:xfrm>
            <a:off x="731520" y="1051560"/>
            <a:ext cx="54864" cy="40600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30" name="BodyText"/>
          <p:cNvSpPr/>
          <p:nvPr/>
        </p:nvSpPr>
        <p:spPr>
          <a:xfrm>
            <a:off x="1000000" y="1130000"/>
            <a:ext cx="7200000" cy="38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Three Prompts for Reflection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Prompt 1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Which formulas require geometric justification rather than just memorization? What is the underlying reasoning?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Prompt 2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Where does proportional reasoning appear most often in this unit? Give two specific examples.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1A7A7A"/>
                </a:solidFill>
                <a:latin typeface="Calibri" pitchFamily="34" charset="0"/>
              </a:rPr>
              <a:t>Prompt 3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</a:rPr>
              <a:t>Which concept required the most careful diagram reading to avoid errors?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</a:rPr>
              <a:t>Questions? Bring them to the next class or office hours.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otation Conventions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Congruence &amp; Similarity</a:t>
            </a:r>
            <a:endParaRPr lang="en-US" sz="3200" dirty="0"/>
          </a:p>
        </p:txBody>
      </p:sp>
      <p:sp>
        <p:nvSpPr>
          <p:cNvPr id="20" name="Shape 18"/>
          <p:cNvSpPr/>
          <p:nvPr/>
        </p:nvSpPr>
        <p:spPr>
          <a:xfrm>
            <a:off x="731520" y="1200000"/>
            <a:ext cx="3749040" cy="1350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123144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Congruence  ≅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160000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notation consistently throughout the course.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and size. △ABC ≅ △DEF means identical in shape and size.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46320" y="1200000"/>
            <a:ext cx="3749040" cy="1350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/>
          <p:nvPr/>
        </p:nvSpPr>
        <p:spPr>
          <a:xfrm>
            <a:off x="5074920" y="1231440"/>
            <a:ext cx="329184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Similarity  ~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74920" y="1600000"/>
            <a:ext cx="3291840" cy="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proportional sizes. △ABC ~ △DEF: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corresponding sides proportional. Order of letters in similarity statement matters!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olvingAngleEquations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itle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/>
              </a:rPr>
              <a:t>Worked Example: Angle Equations</a:t>
            </a:r>
          </a:p>
        </p:txBody>
      </p:sp>
      <p:sp>
        <p:nvSpPr>
          <p:cNvPr id="20" name="ExBG"/>
          <p:cNvSpPr/>
          <p:nvPr/>
        </p:nvSpPr>
        <p:spPr>
          <a:xfrm>
            <a:off x="731520" y="1051560"/>
            <a:ext cx="7680960" cy="3840480"/>
          </a:xfrm>
          <a:prstGeom prst="rect">
            <a:avLst/>
          </a:prstGeom>
          <a:solidFill>
            <a:srgbClr val="1B2A4A"/>
          </a:solidFill>
          <a:ln/>
          <a:effectLst>
            <a:outerShdw blurRad="38100" dist="19050" dir="5400000" rotWithShape="0">
              <a:srgbClr val="000000">
                <a:alpha val="8000"/>
              </a:srgbClr>
            </a:outerShdw>
          </a:effectLst>
        </p:spPr>
      </p:sp>
      <p:sp>
        <p:nvSpPr>
          <p:cNvPr id="22" name="ExText"/>
          <p:cNvSpPr/>
          <p:nvPr/>
        </p:nvSpPr>
        <p:spPr>
          <a:xfrm>
            <a:off x="900000" y="1100000"/>
            <a:ext cx="7400000" cy="375000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/>
              </a:rPr>
              <a:t>Worked Example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Given: l ∥ m, cut by transversal t.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B0BEC5"/>
                </a:solidFill>
                <a:latin typeface="Calibri"/>
              </a:rPr>
              <a:t>∠2 = (3x + 10)°, ∠6 = (5x − 20)°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1: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 ∠2 and ∠6 are corresponding → equal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2: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 3x + 10 = 5x − 20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>Step 3: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 30 = 2x → x = 15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Georgia"/>
              </a:rPr>
              <a:t>∠2 = 3(15) + 10 = 55°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 xml:space="preserve"> 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4ECDC4"/>
                </a:solidFill>
                <a:latin typeface="Calibri"/>
              </a:rPr>
              <a:t xml:space="preserve">Step 4: </a:t>
            </a:r>
            <a:r>
              <a:rPr lang="en-US" sz="1300" dirty="0">
                <a:solidFill>
                  <a:srgbClr val="B0BEC5"/>
                </a:solidFill>
                <a:latin typeface="Calibri"/>
              </a:rPr>
              <a:t>Supplementary → ∠1 = 180° − 55° = 125°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Polygon Angle Formulas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00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formulas apply to convex polygons with n sides.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1500000"/>
            <a:ext cx="7680960" cy="3000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900000" y="1550000"/>
            <a:ext cx="73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Interior &amp; Exterior Angles of Polygons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00000" y="2200000"/>
            <a:ext cx="7300000" cy="21000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Interior Angles = (n − 2) × 180°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E8E4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n = number of sides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Exterior Angles = 360°  (always, for any convex polygon)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Interior Angle of a Regular Polygon = (n − 2) × 180° / n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Example: Multi-Step Trapezoid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54864" cy="1828800"/>
          </a:xfrm>
          <a:prstGeom prst="rect">
            <a:avLst/>
          </a:prstGeom>
          <a:solidFill>
            <a:srgbClr val="1A7A7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Find the Height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b₁ = 3.8, b₂ = 9.2, slant = 6.3 cm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9.2 − 3.8 = 5.4; h² + 5.4² = 6.3²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√10.53 ≈ 3.2 cm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051560"/>
            <a:ext cx="54864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Compute the Area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½(b₁ + b₂)h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½(3.8 + 9.2)(3.2) = ½(13.0)(3.2)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≈ 21.1 cm²</a:t>
            </a:r>
            <a:endParaRPr lang="en-US" sz="2000" dirty="0"/>
          </a:p>
        </p:txBody>
      </p:sp>
      <p:sp>
        <p:nvSpPr>
          <p:cNvPr id="150" name="UnitsReminder"/>
          <p:cNvSpPr/>
          <p:nvPr/>
        </p:nvSpPr>
        <p:spPr>
          <a:xfrm>
            <a:off x="457200" y="3050000"/>
            <a:ext cx="7680960" cy="550000"/>
          </a:xfrm>
          <a:prstGeom prst="rect">
            <a:avLst/>
          </a:prstGeom>
          <a:solidFill>
            <a:srgbClr val="FFF8E6"/>
          </a:solidFill>
          <a:ln>
            <a:solidFill>
              <a:srgbClr val="D4A843"/>
            </a:solidFill>
          </a:ln>
        </p:spPr>
      </p:sp>
      <p:sp>
        <p:nvSpPr>
          <p:cNvPr id="151" name="UnitsReminderText"/>
          <p:cNvSpPr/>
          <p:nvPr/>
        </p:nvSpPr>
        <p:spPr>
          <a:xfrm>
            <a:off x="600000" y="3080000"/>
            <a:ext cx="7400000" cy="4800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B8922F"/>
                </a:solidFill>
                <a:latin typeface="Calibri"/>
              </a:rPr>
              <a:t xml:space="preserve">Key strategy: </a:t>
            </a:r>
            <a:r>
              <a:rPr lang="en-US" sz="1300" dirty="0">
                <a:solidFill>
                  <a:srgbClr val="3D4A5C"/>
                </a:solidFill>
                <a:latin typeface="Calibri"/>
              </a:rPr>
              <a:t>when the height is not given, look for a right triangle hidden in the trapezoid. Use the Pythagorean theorem to find h first, then apply A = ½(b₁ + b₂)h.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 130 - Geometry: Angles and Polygons</dc:title>
  <dc:subject>PptxGenJS Presentation</dc:subject>
  <dc:creator>Liberty University - Math 130</dc:creator>
  <cp:lastModifiedBy>Liberty University - Math 130</cp:lastModifiedBy>
  <cp:revision>1</cp:revision>
  <dcterms:created xsi:type="dcterms:W3CDTF">2026-02-27T13:52:38Z</dcterms:created>
  <dcterms:modified xsi:type="dcterms:W3CDTF">2026-02-27T13:52:38Z</dcterms:modified>
</cp:coreProperties>
</file>