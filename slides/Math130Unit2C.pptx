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314" r:id="rId3"/>
    <p:sldId id="286" r:id="rId4"/>
    <p:sldId id="257" r:id="rId5"/>
    <p:sldId id="258" r:id="rId6"/>
    <p:sldId id="287" r:id="rId7"/>
    <p:sldId id="310" r:id="rId8"/>
    <p:sldId id="259" r:id="rId9"/>
    <p:sldId id="289" r:id="rId10"/>
    <p:sldId id="260" r:id="rId11"/>
    <p:sldId id="261" r:id="rId12"/>
    <p:sldId id="295" r:id="rId13"/>
    <p:sldId id="262" r:id="rId14"/>
    <p:sldId id="263" r:id="rId15"/>
    <p:sldId id="296" r:id="rId16"/>
    <p:sldId id="311" r:id="rId17"/>
    <p:sldId id="264" r:id="rId18"/>
    <p:sldId id="315" r:id="rId19"/>
    <p:sldId id="265" r:id="rId20"/>
    <p:sldId id="266" r:id="rId21"/>
    <p:sldId id="312" r:id="rId22"/>
    <p:sldId id="297" r:id="rId23"/>
    <p:sldId id="298" r:id="rId24"/>
    <p:sldId id="267" r:id="rId25"/>
    <p:sldId id="268" r:id="rId26"/>
    <p:sldId id="269" r:id="rId27"/>
    <p:sldId id="313" r:id="rId28"/>
    <p:sldId id="299" r:id="rId29"/>
    <p:sldId id="290" r:id="rId30"/>
    <p:sldId id="270" r:id="rId31"/>
    <p:sldId id="271" r:id="rId32"/>
    <p:sldId id="272" r:id="rId33"/>
    <p:sldId id="300" r:id="rId34"/>
    <p:sldId id="273" r:id="rId35"/>
    <p:sldId id="274" r:id="rId36"/>
    <p:sldId id="291" r:id="rId37"/>
    <p:sldId id="275" r:id="rId38"/>
    <p:sldId id="292" r:id="rId39"/>
    <p:sldId id="293" r:id="rId40"/>
    <p:sldId id="301" r:id="rId41"/>
    <p:sldId id="276" r:id="rId42"/>
    <p:sldId id="277" r:id="rId43"/>
    <p:sldId id="302" r:id="rId44"/>
    <p:sldId id="278" r:id="rId45"/>
    <p:sldId id="279" r:id="rId46"/>
    <p:sldId id="303" r:id="rId47"/>
    <p:sldId id="304" r:id="rId48"/>
    <p:sldId id="280" r:id="rId49"/>
    <p:sldId id="281" r:id="rId50"/>
    <p:sldId id="305" r:id="rId51"/>
    <p:sldId id="306" r:id="rId52"/>
    <p:sldId id="294" r:id="rId53"/>
    <p:sldId id="307" r:id="rId54"/>
    <p:sldId id="282" r:id="rId55"/>
    <p:sldId id="308" r:id="rId56"/>
    <p:sldId id="284" r:id="rId57"/>
    <p:sldId id="309" r:id="rId5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B815FC-C6D2-48B4-BE3B-C772A4756563}" v="5" dt="2026-03-02T20:39:32.2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lk, Andrew Harrison (General Math and Science)" userId="d2898ccd-3028-4ee4-8f2f-5598df4c43dc" providerId="ADAL" clId="{D0EF2AF6-1D9C-4815-94DD-A346A16C3C87}"/>
    <pc:docChg chg="custSel addSld modSld">
      <pc:chgData name="Volk, Andrew Harrison (General Math and Science)" userId="d2898ccd-3028-4ee4-8f2f-5598df4c43dc" providerId="ADAL" clId="{D0EF2AF6-1D9C-4815-94DD-A346A16C3C87}" dt="2026-03-02T20:39:32.286" v="33" actId="931"/>
      <pc:docMkLst>
        <pc:docMk/>
      </pc:docMkLst>
      <pc:sldChg chg="modSp mod">
        <pc:chgData name="Volk, Andrew Harrison (General Math and Science)" userId="d2898ccd-3028-4ee4-8f2f-5598df4c43dc" providerId="ADAL" clId="{D0EF2AF6-1D9C-4815-94DD-A346A16C3C87}" dt="2026-03-02T18:49:27.214" v="2" actId="27636"/>
        <pc:sldMkLst>
          <pc:docMk/>
          <pc:sldMk cId="0" sldId="258"/>
        </pc:sldMkLst>
        <pc:spChg chg="mod">
          <ac:chgData name="Volk, Andrew Harrison (General Math and Science)" userId="d2898ccd-3028-4ee4-8f2f-5598df4c43dc" providerId="ADAL" clId="{D0EF2AF6-1D9C-4815-94DD-A346A16C3C87}" dt="2026-03-02T18:49:27.214" v="2" actId="27636"/>
          <ac:spMkLst>
            <pc:docMk/>
            <pc:sldMk cId="0" sldId="258"/>
            <ac:spMk id="51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9:10:02.431" v="27" actId="1076"/>
        <pc:sldMkLst>
          <pc:docMk/>
          <pc:sldMk cId="0" sldId="264"/>
        </pc:sldMkLst>
        <pc:spChg chg="mod">
          <ac:chgData name="Volk, Andrew Harrison (General Math and Science)" userId="d2898ccd-3028-4ee4-8f2f-5598df4c43dc" providerId="ADAL" clId="{D0EF2AF6-1D9C-4815-94DD-A346A16C3C87}" dt="2026-03-02T19:00:30.609" v="26" actId="14100"/>
          <ac:spMkLst>
            <pc:docMk/>
            <pc:sldMk cId="0" sldId="264"/>
            <ac:spMk id="4" creationId="{00000000-0000-0000-0000-000000000000}"/>
          </ac:spMkLst>
        </pc:spChg>
        <pc:picChg chg="mod">
          <ac:chgData name="Volk, Andrew Harrison (General Math and Science)" userId="d2898ccd-3028-4ee4-8f2f-5598df4c43dc" providerId="ADAL" clId="{D0EF2AF6-1D9C-4815-94DD-A346A16C3C87}" dt="2026-03-02T19:10:02.431" v="27" actId="1076"/>
          <ac:picMkLst>
            <pc:docMk/>
            <pc:sldMk cId="0" sldId="264"/>
            <ac:picMk id="50" creationId="{00000000-0000-0000-0000-000000000000}"/>
          </ac:picMkLst>
        </pc:picChg>
      </pc:sldChg>
      <pc:sldChg chg="modSp mod">
        <pc:chgData name="Volk, Andrew Harrison (General Math and Science)" userId="d2898ccd-3028-4ee4-8f2f-5598df4c43dc" providerId="ADAL" clId="{D0EF2AF6-1D9C-4815-94DD-A346A16C3C87}" dt="2026-03-02T18:49:27.214" v="3" actId="27636"/>
        <pc:sldMkLst>
          <pc:docMk/>
          <pc:sldMk cId="0" sldId="287"/>
        </pc:sldMkLst>
        <pc:spChg chg="mod">
          <ac:chgData name="Volk, Andrew Harrison (General Math and Science)" userId="d2898ccd-3028-4ee4-8f2f-5598df4c43dc" providerId="ADAL" clId="{D0EF2AF6-1D9C-4815-94DD-A346A16C3C87}" dt="2026-03-02T18:49:27.214" v="3" actId="27636"/>
          <ac:spMkLst>
            <pc:docMk/>
            <pc:sldMk cId="0" sldId="287"/>
            <ac:spMk id="3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2" actId="27636"/>
        <pc:sldMkLst>
          <pc:docMk/>
          <pc:sldMk cId="0" sldId="290"/>
        </pc:sldMkLst>
        <pc:spChg chg="mod">
          <ac:chgData name="Volk, Andrew Harrison (General Math and Science)" userId="d2898ccd-3028-4ee4-8f2f-5598df4c43dc" providerId="ADAL" clId="{D0EF2AF6-1D9C-4815-94DD-A346A16C3C87}" dt="2026-03-02T18:49:27.261" v="12" actId="27636"/>
          <ac:spMkLst>
            <pc:docMk/>
            <pc:sldMk cId="0" sldId="290"/>
            <ac:spMk id="6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30" v="6" actId="27636"/>
        <pc:sldMkLst>
          <pc:docMk/>
          <pc:sldMk cId="0" sldId="296"/>
        </pc:sldMkLst>
        <pc:spChg chg="mod">
          <ac:chgData name="Volk, Andrew Harrison (General Math and Science)" userId="d2898ccd-3028-4ee4-8f2f-5598df4c43dc" providerId="ADAL" clId="{D0EF2AF6-1D9C-4815-94DD-A346A16C3C87}" dt="2026-03-02T18:49:27.230" v="6" actId="27636"/>
          <ac:spMkLst>
            <pc:docMk/>
            <pc:sldMk cId="0" sldId="296"/>
            <ac:spMk id="1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46" v="8" actId="27636"/>
        <pc:sldMkLst>
          <pc:docMk/>
          <pc:sldMk cId="0" sldId="297"/>
        </pc:sldMkLst>
        <pc:spChg chg="mod">
          <ac:chgData name="Volk, Andrew Harrison (General Math and Science)" userId="d2898ccd-3028-4ee4-8f2f-5598df4c43dc" providerId="ADAL" clId="{D0EF2AF6-1D9C-4815-94DD-A346A16C3C87}" dt="2026-03-02T18:49:27.246" v="7" actId="27636"/>
          <ac:spMkLst>
            <pc:docMk/>
            <pc:sldMk cId="0" sldId="297"/>
            <ac:spMk id="9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46" v="8" actId="27636"/>
          <ac:spMkLst>
            <pc:docMk/>
            <pc:sldMk cId="0" sldId="297"/>
            <ac:spMk id="20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0" actId="27636"/>
        <pc:sldMkLst>
          <pc:docMk/>
          <pc:sldMk cId="0" sldId="298"/>
        </pc:sldMkLst>
        <pc:spChg chg="mod">
          <ac:chgData name="Volk, Andrew Harrison (General Math and Science)" userId="d2898ccd-3028-4ee4-8f2f-5598df4c43dc" providerId="ADAL" clId="{D0EF2AF6-1D9C-4815-94DD-A346A16C3C87}" dt="2026-03-02T18:49:27.246" v="9" actId="27636"/>
          <ac:spMkLst>
            <pc:docMk/>
            <pc:sldMk cId="0" sldId="298"/>
            <ac:spMk id="11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61" v="10" actId="27636"/>
          <ac:spMkLst>
            <pc:docMk/>
            <pc:sldMk cId="0" sldId="298"/>
            <ac:spMk id="20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1" actId="27636"/>
        <pc:sldMkLst>
          <pc:docMk/>
          <pc:sldMk cId="0" sldId="299"/>
        </pc:sldMkLst>
        <pc:spChg chg="mod">
          <ac:chgData name="Volk, Andrew Harrison (General Math and Science)" userId="d2898ccd-3028-4ee4-8f2f-5598df4c43dc" providerId="ADAL" clId="{D0EF2AF6-1D9C-4815-94DD-A346A16C3C87}" dt="2026-03-02T18:49:27.261" v="11" actId="27636"/>
          <ac:spMkLst>
            <pc:docMk/>
            <pc:sldMk cId="0" sldId="299"/>
            <ac:spMk id="13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3" actId="27636"/>
        <pc:sldMkLst>
          <pc:docMk/>
          <pc:sldMk cId="0" sldId="300"/>
        </pc:sldMkLst>
        <pc:spChg chg="mod">
          <ac:chgData name="Volk, Andrew Harrison (General Math and Science)" userId="d2898ccd-3028-4ee4-8f2f-5598df4c43dc" providerId="ADAL" clId="{D0EF2AF6-1D9C-4815-94DD-A346A16C3C87}" dt="2026-03-02T18:49:27.261" v="13" actId="27636"/>
          <ac:spMkLst>
            <pc:docMk/>
            <pc:sldMk cId="0" sldId="300"/>
            <ac:spMk id="15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77" v="14" actId="27636"/>
        <pc:sldMkLst>
          <pc:docMk/>
          <pc:sldMk cId="0" sldId="301"/>
        </pc:sldMkLst>
        <pc:spChg chg="mod">
          <ac:chgData name="Volk, Andrew Harrison (General Math and Science)" userId="d2898ccd-3028-4ee4-8f2f-5598df4c43dc" providerId="ADAL" clId="{D0EF2AF6-1D9C-4815-94DD-A346A16C3C87}" dt="2026-03-02T18:49:27.277" v="14" actId="27636"/>
          <ac:spMkLst>
            <pc:docMk/>
            <pc:sldMk cId="0" sldId="301"/>
            <ac:spMk id="22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93" v="15" actId="27636"/>
        <pc:sldMkLst>
          <pc:docMk/>
          <pc:sldMk cId="0" sldId="302"/>
        </pc:sldMkLst>
        <pc:spChg chg="mod">
          <ac:chgData name="Volk, Andrew Harrison (General Math and Science)" userId="d2898ccd-3028-4ee4-8f2f-5598df4c43dc" providerId="ADAL" clId="{D0EF2AF6-1D9C-4815-94DD-A346A16C3C87}" dt="2026-03-02T18:49:27.293" v="15" actId="27636"/>
          <ac:spMkLst>
            <pc:docMk/>
            <pc:sldMk cId="0" sldId="302"/>
            <ac:spMk id="19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93" v="16" actId="27636"/>
        <pc:sldMkLst>
          <pc:docMk/>
          <pc:sldMk cId="0" sldId="304"/>
        </pc:sldMkLst>
        <pc:spChg chg="mod">
          <ac:chgData name="Volk, Andrew Harrison (General Math and Science)" userId="d2898ccd-3028-4ee4-8f2f-5598df4c43dc" providerId="ADAL" clId="{D0EF2AF6-1D9C-4815-94DD-A346A16C3C87}" dt="2026-03-02T18:49:27.293" v="16" actId="27636"/>
          <ac:spMkLst>
            <pc:docMk/>
            <pc:sldMk cId="0" sldId="304"/>
            <ac:spMk id="23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309" v="17" actId="27636"/>
        <pc:sldMkLst>
          <pc:docMk/>
          <pc:sldMk cId="0" sldId="305"/>
        </pc:sldMkLst>
        <pc:spChg chg="mod">
          <ac:chgData name="Volk, Andrew Harrison (General Math and Science)" userId="d2898ccd-3028-4ee4-8f2f-5598df4c43dc" providerId="ADAL" clId="{D0EF2AF6-1D9C-4815-94DD-A346A16C3C87}" dt="2026-03-02T18:49:27.309" v="17" actId="27636"/>
          <ac:spMkLst>
            <pc:docMk/>
            <pc:sldMk cId="0" sldId="305"/>
            <ac:spMk id="25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309" v="19" actId="27636"/>
        <pc:sldMkLst>
          <pc:docMk/>
          <pc:sldMk cId="0" sldId="306"/>
        </pc:sldMkLst>
        <pc:spChg chg="mod">
          <ac:chgData name="Volk, Andrew Harrison (General Math and Science)" userId="d2898ccd-3028-4ee4-8f2f-5598df4c43dc" providerId="ADAL" clId="{D0EF2AF6-1D9C-4815-94DD-A346A16C3C87}" dt="2026-03-02T18:49:27.309" v="18" actId="27636"/>
          <ac:spMkLst>
            <pc:docMk/>
            <pc:sldMk cId="0" sldId="306"/>
            <ac:spMk id="51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309" v="19" actId="27636"/>
          <ac:spMkLst>
            <pc:docMk/>
            <pc:sldMk cId="0" sldId="306"/>
            <ac:spMk id="27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14" v="5" actId="27636"/>
        <pc:sldMkLst>
          <pc:docMk/>
          <pc:sldMk cId="0" sldId="310"/>
        </pc:sldMkLst>
        <pc:spChg chg="mod">
          <ac:chgData name="Volk, Andrew Harrison (General Math and Science)" userId="d2898ccd-3028-4ee4-8f2f-5598df4c43dc" providerId="ADAL" clId="{D0EF2AF6-1D9C-4815-94DD-A346A16C3C87}" dt="2026-03-02T18:49:27.214" v="5" actId="27636"/>
          <ac:spMkLst>
            <pc:docMk/>
            <pc:sldMk cId="0" sldId="310"/>
            <ac:spMk id="3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14" v="4" actId="27636"/>
          <ac:spMkLst>
            <pc:docMk/>
            <pc:sldMk cId="0" sldId="310"/>
            <ac:spMk id="22" creationId="{00000000-0000-0000-0000-000000000000}"/>
          </ac:spMkLst>
        </pc:spChg>
      </pc:sldChg>
      <pc:sldChg chg="addSp modSp new modAnim">
        <pc:chgData name="Volk, Andrew Harrison (General Math and Science)" userId="d2898ccd-3028-4ee4-8f2f-5598df4c43dc" providerId="ADAL" clId="{D0EF2AF6-1D9C-4815-94DD-A346A16C3C87}" dt="2026-03-02T18:50:20.730" v="20"/>
        <pc:sldMkLst>
          <pc:docMk/>
          <pc:sldMk cId="830974312" sldId="314"/>
        </pc:sldMkLst>
        <pc:picChg chg="add mod">
          <ac:chgData name="Volk, Andrew Harrison (General Math and Science)" userId="d2898ccd-3028-4ee4-8f2f-5598df4c43dc" providerId="ADAL" clId="{D0EF2AF6-1D9C-4815-94DD-A346A16C3C87}" dt="2026-03-02T18:49:27.150" v="1" actId="931"/>
          <ac:picMkLst>
            <pc:docMk/>
            <pc:sldMk cId="830974312" sldId="314"/>
            <ac:picMk id="3" creationId="{57AFCFB2-EFF7-CA9B-479D-27DCC55530F0}"/>
          </ac:picMkLst>
        </pc:picChg>
      </pc:sldChg>
      <pc:sldChg chg="addSp delSp modSp new mod delAnim modAnim">
        <pc:chgData name="Volk, Andrew Harrison (General Math and Science)" userId="d2898ccd-3028-4ee4-8f2f-5598df4c43dc" providerId="ADAL" clId="{D0EF2AF6-1D9C-4815-94DD-A346A16C3C87}" dt="2026-03-02T20:39:32.286" v="33" actId="931"/>
        <pc:sldMkLst>
          <pc:docMk/>
          <pc:sldMk cId="2947970795" sldId="315"/>
        </pc:sldMkLst>
        <pc:picChg chg="add del mod">
          <ac:chgData name="Volk, Andrew Harrison (General Math and Science)" userId="d2898ccd-3028-4ee4-8f2f-5598df4c43dc" providerId="ADAL" clId="{D0EF2AF6-1D9C-4815-94DD-A346A16C3C87}" dt="2026-03-02T20:17:09.196" v="30" actId="478"/>
          <ac:picMkLst>
            <pc:docMk/>
            <pc:sldMk cId="2947970795" sldId="315"/>
            <ac:picMk id="3" creationId="{B2B8C0AD-82E8-2553-1F98-64ED76210ACB}"/>
          </ac:picMkLst>
        </pc:picChg>
        <pc:picChg chg="add del mod">
          <ac:chgData name="Volk, Andrew Harrison (General Math and Science)" userId="d2898ccd-3028-4ee4-8f2f-5598df4c43dc" providerId="ADAL" clId="{D0EF2AF6-1D9C-4815-94DD-A346A16C3C87}" dt="2026-03-02T20:39:22.325" v="32" actId="478"/>
          <ac:picMkLst>
            <pc:docMk/>
            <pc:sldMk cId="2947970795" sldId="315"/>
            <ac:picMk id="5" creationId="{4744F851-E075-D516-166B-0CCE14ECE01E}"/>
          </ac:picMkLst>
        </pc:picChg>
        <pc:picChg chg="add mod">
          <ac:chgData name="Volk, Andrew Harrison (General Math and Science)" userId="d2898ccd-3028-4ee4-8f2f-5598df4c43dc" providerId="ADAL" clId="{D0EF2AF6-1D9C-4815-94DD-A346A16C3C87}" dt="2026-03-02T20:39:32.286" v="33" actId="931"/>
          <ac:picMkLst>
            <pc:docMk/>
            <pc:sldMk cId="2947970795" sldId="315"/>
            <ac:picMk id="7" creationId="{62CA558A-D7F3-4A97-002A-EDA3BCFB386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079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Diagram: Right Triangle — the two shorter sides are legs a and b; the side opposite the right angle (longest side) is hypotenuse c. Mark the right angle with a small square at the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Geometry: Angles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Polygons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Properties, Measurements, and Formulas for Lines, Angles, and Surfaces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Spring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 2">
            <a:hlinkClick r:id="" action="ppaction://media"/>
            <a:extLst>
              <a:ext uri="{FF2B5EF4-FFF2-40B4-BE49-F238E27FC236}">
                <a16:creationId xmlns:a16="http://schemas.microsoft.com/office/drawing/2014/main" id="{57AFCFB2-EFF7-CA9B-479D-27DCC55530F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97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arning Goal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Learning Goals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By the end of this lesson, you will be able to:</a:t>
            </a:r>
          </a:p>
        </p:txBody>
      </p:sp>
      <p:sp>
        <p:nvSpPr>
          <p:cNvPr id="5" name="CardLeft"/>
          <p:cNvSpPr/>
          <p:nvPr/>
        </p:nvSpPr>
        <p:spPr>
          <a:xfrm>
            <a:off x="73152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AccentLeft"/>
          <p:cNvSpPr/>
          <p:nvPr/>
        </p:nvSpPr>
        <p:spPr>
          <a:xfrm>
            <a:off x="73152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Left"/>
          <p:cNvSpPr/>
          <p:nvPr/>
        </p:nvSpPr>
        <p:spPr>
          <a:xfrm>
            <a:off x="91440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1.  Classify and measure 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Identify acute, obtuse, right, and straight angles; find complements and supplements.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2.  Apply parallel line theorems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corresponding, alternate interior, and alternate exterior angle relationships to solve for unknowns.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3.  Calculate 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Apply interior and exterior angle formulas for convex polygons with n sides.</a:t>
            </a:r>
          </a:p>
        </p:txBody>
      </p:sp>
      <p:sp>
        <p:nvSpPr>
          <p:cNvPr id="8" name="CardRight"/>
          <p:cNvSpPr/>
          <p:nvPr/>
        </p:nvSpPr>
        <p:spPr>
          <a:xfrm>
            <a:off x="475404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ccentRight"/>
          <p:cNvSpPr/>
          <p:nvPr/>
        </p:nvSpPr>
        <p:spPr>
          <a:xfrm>
            <a:off x="475404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Right"/>
          <p:cNvSpPr/>
          <p:nvPr/>
        </p:nvSpPr>
        <p:spPr>
          <a:xfrm>
            <a:off x="493692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4.  Compute areas of polygons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Find areas of quadrilaterals and triangles using standard formulas including Heron’s Formula.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5.  Solve similar triangle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proportional reasoning to find unknown sides and angles in similar polygons; apply to real-world contexts.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6.  Convert between degree formats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Convert angles between decimal degrees and degrees-minutes-seconds (DMS) notation used in navigation.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4F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Foundations: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Points, Lines &amp; Angles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Every geometric shape begins with points, lines, and angles — the atomic building blocks of all geometry.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Undefined Terms in Geometry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solidFill>
            <a:srgbClr val="E8E4DD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 attempted to define all geometric terms, but some definitions create challenges. We accept that point, line, and plane are undefined terms — we understand them intuitively.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with no dimension — no length, width, or height.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747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747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infinitely in both directions. Has length but no width.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79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 that extends infinitely in all directions. Has length and width but no depth.</a:t>
            </a:r>
            <a:endParaRPr lang="en-US" sz="1200" dirty="0"/>
          </a:p>
        </p:txBody>
      </p:sp>
      <p:sp>
        <p:nvSpPr>
          <p:cNvPr id="50" name="WhyBG"/>
          <p:cNvSpPr/>
          <p:nvPr/>
        </p:nvSpPr>
        <p:spPr>
          <a:xfrm>
            <a:off x="457200" y="4680000"/>
            <a:ext cx="8229600" cy="43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WhyText"/>
          <p:cNvSpPr/>
          <p:nvPr/>
        </p:nvSpPr>
        <p:spPr>
          <a:xfrm>
            <a:off x="600000" y="4720000"/>
            <a:ext cx="7980000" cy="36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Why “undefined”?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Every definition requires prior terms. Point, line, and plane are the starting primitives — we build all of geometry on top of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Geometric Notation Conventions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2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 AB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 both directions, no endpoints. Notation: AB with arrows above both ends (AB⇔) or line through AB.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28000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  AB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endpoint A, passes through B, extends forever. Notation: AB with a right-pointing arrow above (AB→). Endpoint listed first.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560160"/>
            <a:ext cx="54864" cy="128000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  AB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finite path connecting two endpoints A and B. Notation: AB with a bar above (AB̅). Has a definite, measurable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560160"/>
            <a:ext cx="54864" cy="12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  ∠ABC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meeting at a vertex. Notation: ∠ABC where B is the vertex. Can abbreviate as ∠B if unambiguous. Measured in degrees.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&amp; Similarity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7315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 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notation consistently throughout the course.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and size. △ABC ≅ △DEF means identical in shape and size.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Similarity  ~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proportional sizes. △ABC ~ △DEF: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proportional. Order of letters in similarity statement matters!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Rays &amp;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54864" cy="11887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half-line — starts at a point (endpoint) and extends infinitely in one direction.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sharing a common endpoint (vertex). The measure is the rotation from one ray to the other.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 rotation = 360°      |      Measured in degrees or radians      |      Protractor: tool for measuring angles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 of an Angle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9319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Side (R₁):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ray of the angle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Side (R₂):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ray after rotation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endpoint where both rays meet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asuring Angl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Measuring Angles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5" name="Diagram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Georgia" pitchFamily="34" charset="0"/>
              </a:rPr>
              <a:t>Tools &amp;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Angles can be measured in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degrees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or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radians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Protractor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A protractor is an instrument used to measure angles (almost always in degree measure).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Key Benchmarks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Full rotation = 360°  |  Straight angle = 180°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Right angle = 90°  |  In radians: 360° = 2π rad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0058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Angle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90°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00584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Straight Angle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180°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54864" cy="100584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0° and 90°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8463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2860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90° and 180°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Supplementary Angles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180°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 Angles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749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90°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&amp; Vertical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Angles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that share a common vertex and a common side, but do not overlap.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∠AOB and ∠BOC are adjacent angles — they share vertex O and ray OB.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 Angles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20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formed by intersecting lines that are on opposite sides of the intersection.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angles are always equal in measure (congruent).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54864" cy="8229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9776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intersect, they form two pairs of vertical angles. Each pair consists of congruent angles, and any two adjacent angles are supplementary (sum to 180°).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RelationshipMap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Box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Angle Relationship Map</a:t>
            </a:r>
          </a:p>
        </p:txBody>
      </p:sp>
      <p:sp>
        <p:nvSpPr>
          <p:cNvPr id="290" name="HeaderBG"/>
          <p:cNvSpPr/>
          <p:nvPr/>
        </p:nvSpPr>
        <p:spPr>
          <a:xfrm>
            <a:off x="457200" y="950000"/>
            <a:ext cx="8229600" cy="13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1" name="HeaderName"/>
          <p:cNvSpPr/>
          <p:nvPr/>
        </p:nvSpPr>
        <p:spPr>
          <a:xfrm>
            <a:off x="548640" y="955000"/>
            <a:ext cx="20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RELATIONSHIP</a:t>
            </a:r>
          </a:p>
        </p:txBody>
      </p:sp>
      <p:sp>
        <p:nvSpPr>
          <p:cNvPr id="292" name="HeaderDefn"/>
          <p:cNvSpPr/>
          <p:nvPr/>
        </p:nvSpPr>
        <p:spPr>
          <a:xfrm>
            <a:off x="2700000" y="955000"/>
            <a:ext cx="59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DEFINITION &amp; KEY PROPERTY</a:t>
            </a:r>
          </a:p>
        </p:txBody>
      </p:sp>
      <p:sp>
        <p:nvSpPr>
          <p:cNvPr id="300" name="RowBG0"/>
          <p:cNvSpPr/>
          <p:nvPr/>
        </p:nvSpPr>
        <p:spPr>
          <a:xfrm>
            <a:off x="457200" y="110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RowAccent0"/>
          <p:cNvSpPr/>
          <p:nvPr/>
        </p:nvSpPr>
        <p:spPr>
          <a:xfrm>
            <a:off x="457200" y="110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2" name="RowName0"/>
          <p:cNvSpPr/>
          <p:nvPr/>
        </p:nvSpPr>
        <p:spPr>
          <a:xfrm>
            <a:off x="548640" y="116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Vertical</a:t>
            </a:r>
          </a:p>
        </p:txBody>
      </p:sp>
      <p:sp>
        <p:nvSpPr>
          <p:cNvPr id="303" name="Divider0"/>
          <p:cNvSpPr/>
          <p:nvPr/>
        </p:nvSpPr>
        <p:spPr>
          <a:xfrm>
            <a:off x="2640000" y="114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4" name="RowDefn0"/>
          <p:cNvSpPr/>
          <p:nvPr/>
        </p:nvSpPr>
        <p:spPr>
          <a:xfrm>
            <a:off x="2700000" y="116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Formed by intersecting lines; opposite each other; always congruent.</a:t>
            </a:r>
          </a:p>
        </p:txBody>
      </p:sp>
      <p:sp>
        <p:nvSpPr>
          <p:cNvPr id="305" name="RowBG1"/>
          <p:cNvSpPr/>
          <p:nvPr/>
        </p:nvSpPr>
        <p:spPr>
          <a:xfrm>
            <a:off x="457200" y="166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RowAccent1"/>
          <p:cNvSpPr/>
          <p:nvPr/>
        </p:nvSpPr>
        <p:spPr>
          <a:xfrm>
            <a:off x="457200" y="166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RowName1"/>
          <p:cNvSpPr/>
          <p:nvPr/>
        </p:nvSpPr>
        <p:spPr>
          <a:xfrm>
            <a:off x="548640" y="172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Adjacent</a:t>
            </a:r>
          </a:p>
        </p:txBody>
      </p:sp>
      <p:sp>
        <p:nvSpPr>
          <p:cNvPr id="308" name="Divider1"/>
          <p:cNvSpPr/>
          <p:nvPr/>
        </p:nvSpPr>
        <p:spPr>
          <a:xfrm>
            <a:off x="2640000" y="170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9" name="RowDefn1"/>
          <p:cNvSpPr/>
          <p:nvPr/>
        </p:nvSpPr>
        <p:spPr>
          <a:xfrm>
            <a:off x="2700000" y="172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Share a vertex and a side; do not overlap; may or may not be supplementary.</a:t>
            </a:r>
          </a:p>
        </p:txBody>
      </p:sp>
      <p:sp>
        <p:nvSpPr>
          <p:cNvPr id="310" name="RowBG2"/>
          <p:cNvSpPr/>
          <p:nvPr/>
        </p:nvSpPr>
        <p:spPr>
          <a:xfrm>
            <a:off x="457200" y="222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RowAccent2"/>
          <p:cNvSpPr/>
          <p:nvPr/>
        </p:nvSpPr>
        <p:spPr>
          <a:xfrm>
            <a:off x="457200" y="222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2" name="RowName2"/>
          <p:cNvSpPr/>
          <p:nvPr/>
        </p:nvSpPr>
        <p:spPr>
          <a:xfrm>
            <a:off x="548640" y="228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Linear Pair</a:t>
            </a:r>
          </a:p>
        </p:txBody>
      </p:sp>
      <p:sp>
        <p:nvSpPr>
          <p:cNvPr id="313" name="Divider2"/>
          <p:cNvSpPr/>
          <p:nvPr/>
        </p:nvSpPr>
        <p:spPr>
          <a:xfrm>
            <a:off x="2640000" y="226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4" name="RowDefn2"/>
          <p:cNvSpPr/>
          <p:nvPr/>
        </p:nvSpPr>
        <p:spPr>
          <a:xfrm>
            <a:off x="2700000" y="228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Adjacent + supplementary; sum = 180°; on a straight line.</a:t>
            </a:r>
          </a:p>
        </p:txBody>
      </p:sp>
      <p:sp>
        <p:nvSpPr>
          <p:cNvPr id="315" name="RowBG3"/>
          <p:cNvSpPr/>
          <p:nvPr/>
        </p:nvSpPr>
        <p:spPr>
          <a:xfrm>
            <a:off x="457200" y="278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RowAccent3"/>
          <p:cNvSpPr/>
          <p:nvPr/>
        </p:nvSpPr>
        <p:spPr>
          <a:xfrm>
            <a:off x="457200" y="278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7" name="RowName3"/>
          <p:cNvSpPr/>
          <p:nvPr/>
        </p:nvSpPr>
        <p:spPr>
          <a:xfrm>
            <a:off x="548640" y="284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Complementary</a:t>
            </a:r>
          </a:p>
        </p:txBody>
      </p:sp>
      <p:sp>
        <p:nvSpPr>
          <p:cNvPr id="318" name="Divider3"/>
          <p:cNvSpPr/>
          <p:nvPr/>
        </p:nvSpPr>
        <p:spPr>
          <a:xfrm>
            <a:off x="2640000" y="282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RowDefn3"/>
          <p:cNvSpPr/>
          <p:nvPr/>
        </p:nvSpPr>
        <p:spPr>
          <a:xfrm>
            <a:off x="2700000" y="284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90°.</a:t>
            </a:r>
          </a:p>
        </p:txBody>
      </p:sp>
      <p:sp>
        <p:nvSpPr>
          <p:cNvPr id="320" name="RowBG4"/>
          <p:cNvSpPr/>
          <p:nvPr/>
        </p:nvSpPr>
        <p:spPr>
          <a:xfrm>
            <a:off x="457200" y="334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RowAccent4"/>
          <p:cNvSpPr/>
          <p:nvPr/>
        </p:nvSpPr>
        <p:spPr>
          <a:xfrm>
            <a:off x="457200" y="334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2" name="RowName4"/>
          <p:cNvSpPr/>
          <p:nvPr/>
        </p:nvSpPr>
        <p:spPr>
          <a:xfrm>
            <a:off x="548640" y="340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Supplementary</a:t>
            </a:r>
          </a:p>
        </p:txBody>
      </p:sp>
      <p:sp>
        <p:nvSpPr>
          <p:cNvPr id="323" name="Divider4"/>
          <p:cNvSpPr/>
          <p:nvPr/>
        </p:nvSpPr>
        <p:spPr>
          <a:xfrm>
            <a:off x="2640000" y="338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4" name="RowDefn4"/>
          <p:cNvSpPr/>
          <p:nvPr/>
        </p:nvSpPr>
        <p:spPr>
          <a:xfrm>
            <a:off x="2700000" y="340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180°.</a:t>
            </a:r>
          </a:p>
        </p:txBody>
      </p:sp>
      <p:sp>
        <p:nvSpPr>
          <p:cNvPr id="395" name="KeyPrincipleBG"/>
          <p:cNvSpPr/>
          <p:nvPr/>
        </p:nvSpPr>
        <p:spPr>
          <a:xfrm>
            <a:off x="457200" y="3940000"/>
            <a:ext cx="8229600" cy="34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6" name="KeyPrincipleText"/>
          <p:cNvSpPr/>
          <p:nvPr/>
        </p:nvSpPr>
        <p:spPr>
          <a:xfrm>
            <a:off x="600000" y="3980000"/>
            <a:ext cx="8000000" cy="260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Key principle: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Vertical angles are always congruent. All other relationships depend on position.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Transversals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transversal crosses parallel lines, special angle relationships form: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position at each intersection.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74720" y="1554480"/>
            <a:ext cx="246888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Angles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between the lines.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∠3 = ∠6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246888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Exterior Angles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outside the lines.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labeled 1–8 at two intersections:  t is the transversal,  l ∥ m are the parallel lines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 Segments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transversals cross a pair of parallel lines, the segments between those parallel lines are called corresponding segments.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768096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 l₁ ∥ l₂ ∥ l₃ , then segments a, b are corresponding and c, d are corresponding.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 b  =  c / d        and equivalently        a / c  =  b / 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291840"/>
            <a:ext cx="76809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54864" cy="14630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37490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the vertical lines are parallel, use proportions to find unknown distances.  Worked Example: if a = 6, b = 9, c = 8, find d.  Step 1 — Set up: a/b = c/d  →  6/9 = 8/d.  Step 2 — Cross-multiply: 6d = 9 × 8 = 72.  Step 3 — Solve: d = 12.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Solving Angle Equations: Method</a:t>
            </a:r>
          </a:p>
        </p:txBody>
      </p:sp>
      <p:sp>
        <p:nvSpPr>
          <p:cNvPr id="10" name="MethodBG"/>
          <p:cNvSpPr/>
          <p:nvPr/>
        </p:nvSpPr>
        <p:spPr>
          <a:xfrm>
            <a:off x="457200" y="1051560"/>
            <a:ext cx="76809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MethodAccent"/>
          <p:cNvSpPr/>
          <p:nvPr/>
        </p:nvSpPr>
        <p:spPr>
          <a:xfrm>
            <a:off x="457200" y="1051560"/>
            <a:ext cx="54864" cy="38404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MethodText"/>
          <p:cNvSpPr/>
          <p:nvPr/>
        </p:nvSpPr>
        <p:spPr>
          <a:xfrm>
            <a:off x="600000" y="1100000"/>
            <a:ext cx="72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Method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1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Identify the relationship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Are the angles equal, supplementary (180°), or related by position?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2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Write the equation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Corr./alt.int./alt.ext. → set equal. Co-interior → sum to 180°.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3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Solve for x, then find the angle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Isolate the variable, then substitute back to get the degree measure.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4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Check with supplementary if needed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Adjacent angles on a straight line sum to 180°. Use this to find the supplementary angle if asked.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4ECDC4"/>
                </a:solidFill>
                <a:latin typeface="Calibri"/>
              </a:rPr>
              <a:t>Works for any angle pair from parallel lines: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Corresponding, alt. int., alt. ext. → equal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Co-interior → supplementary (180°)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Quick Reference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Corr./Alt.int./Alt.ext. → set equal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Co-interior → sum to 180°, then solve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Worked Example: Angle Equations</a:t>
            </a:r>
          </a:p>
        </p:txBody>
      </p:sp>
      <p:sp>
        <p:nvSpPr>
          <p:cNvPr id="20" name="ExBG"/>
          <p:cNvSpPr/>
          <p:nvPr/>
        </p:nvSpPr>
        <p:spPr>
          <a:xfrm>
            <a:off x="731520" y="1051560"/>
            <a:ext cx="7680960" cy="384048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ExText"/>
          <p:cNvSpPr/>
          <p:nvPr/>
        </p:nvSpPr>
        <p:spPr>
          <a:xfrm>
            <a:off x="900000" y="1100000"/>
            <a:ext cx="74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/>
              </a:rPr>
              <a:t>Worked Example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Given: l ∥ m, cut by transversal t.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∠2 = (3x + 10)°, ∠6 = (5x − 20)°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1: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∠2 and ∠6 are corresponding → equal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2: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3x + 10 = 5x − 20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3: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30 = 2x → x = 15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Georgia"/>
              </a:rPr>
              <a:t>∠2 = 3(15) + 10 = 55°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4: </a:t>
            </a:r>
            <a:r>
              <a:rPr lang="en-US" sz="1300" dirty="0">
                <a:solidFill>
                  <a:srgbClr val="B0BEC5"/>
                </a:solidFill>
                <a:latin typeface="Calibri"/>
              </a:rPr>
              <a:t>Supplementary → ∠1 = 180° − 55° = 125°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Parallel Lines &amp; 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453690" cy="11887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l and m are parallel, and t is a transversal.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∠2 = 2x + 19° and ∠7 = 3x + 2°, find the measure of ∠1.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7680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Strategy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97180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relationship — ∠2 and ∠7 are alternate exterior angles (equal).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them equal:  2x + 19 = 3x + 2  →  x = 17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∠2 = 2(17) + 19 = 53°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and ∠2 are supplementary → ∠1 = 180° − 53° = 127°</a:t>
            </a:r>
            <a:endParaRPr lang="en-US" sz="1300" dirty="0"/>
          </a:p>
        </p:txBody>
      </p:sp>
      <p:pic>
        <p:nvPicPr>
          <p:cNvPr id="50" name="Diagram 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000" y="982980"/>
            <a:ext cx="35000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Video 6">
            <a:hlinkClick r:id="" action="ppaction://media"/>
            <a:extLst>
              <a:ext uri="{FF2B5EF4-FFF2-40B4-BE49-F238E27FC236}">
                <a16:creationId xmlns:a16="http://schemas.microsoft.com/office/drawing/2014/main" id="{62CA558A-D7F3-4A97-002A-EDA3BCFB38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97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2700000">
            <a:off x="6400800" y="914400"/>
            <a:ext cx="1828800" cy="1828800"/>
          </a:xfrm>
          <a:prstGeom prst="rect">
            <a:avLst/>
          </a:prstGeom>
          <a:solidFill>
            <a:srgbClr val="1A7A7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200000">
            <a:off x="7132320" y="2560320"/>
            <a:ext cx="1371600" cy="1371600"/>
          </a:xfrm>
          <a:prstGeom prst="rect">
            <a:avLst/>
          </a:prstGeom>
          <a:solidFill>
            <a:srgbClr val="0D4F4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 &amp;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Polygons &amp; quadrilaterals build on angle relationships from Section 1 — now we measure enclosed area and classify shapes.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polygon is a closed region of a plane bounded by three or more straight line segments. Sides must be non-collinear and non-self-intersecting (no crossings). Formulas below apply to convex polygons.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50876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sides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4884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48840" y="1645920"/>
            <a:ext cx="150876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4028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40480" y="1645920"/>
            <a:ext cx="1508760" cy="54864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93192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Pentagon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sides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3212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532120" y="1645920"/>
            <a:ext cx="150876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2356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Hexagon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sides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223760" y="1645920"/>
            <a:ext cx="1508760" cy="54864"/>
          </a:xfrm>
          <a:prstGeom prst="rect">
            <a:avLst/>
          </a:prstGeom>
          <a:solidFill>
            <a:srgbClr val="B8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Heptagon &amp; beyond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sides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Formulas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00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formulas apply to convex polygons with n sides.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1500000"/>
            <a:ext cx="7680960" cy="30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0000" y="1550000"/>
            <a:ext cx="73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&amp; Exterior Angles of Polygons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0000" y="2200000"/>
            <a:ext cx="7300000" cy="2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Interior Angles = (n − 2) × 180°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 = number of sides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Exterior Angles = 360°  (always, for any convex polygon)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Interior Angle of a Regular Polygon = (n − 2) × 180° / 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iorAngleSumFormula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Interior Angle Sum Formula</a:t>
            </a:r>
          </a:p>
        </p:txBody>
      </p:sp>
      <p:sp>
        <p:nvSpPr>
          <p:cNvPr id="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Derivation via Triangulation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Any polygon can be divided into triangles by drawing diagonals from one vertex.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polygon with n sides produces (n − 2) triangles.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triangle has an angle sum of 180°.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Sum of Interior Angles = (n − 2) × 180°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Triangle (n=3): (3−2) × 180° = 180°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Quadrilateral (n=4): (4−2) × 180° = 360°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Pentagon (n=5): (5−2) × 180° = 540°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Hexagon (n=6): (6−2) × 180° = 720°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Quick Reference — Interior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Triangle (n=3): 180°  |  Quadrilateral (n=4): 360°  |  Pentagon (n=5): 540°  |  Hexagon (n=6): 720°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Heptagon: 900°  |  Octagon: 1080°  |  Nonagon: 1260°  |  Decagon: 1440°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Formula:  (n − 2) × 180°   where n = number of sides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teriorAngleSum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Exterior Angle Sum</a:t>
            </a:r>
          </a:p>
        </p:txBody>
      </p:sp>
      <p:sp>
        <p:nvSpPr>
          <p:cNvPr id="10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Key Fact: Sum of Exterior Angles = 360° (always, for any convex polygon)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One exterior angle at each vertex. The sum is always 360°, regardless of the number of sides.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Regular Polygon Interior Angle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interior angle of a regular n-gon = (n − 2) × 180° / n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exterior angle of a regular n-gon = 360° / n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hexagon (n=6): interior = 120°, exterior = 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octagon (n=8): interior = 135°, exterior = 45°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Interior + exterior angle at any vertex = 180° (linear pair)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Regular Polygon Quick Reference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Pentagon (5):  interior = 108°, exterior = 72°  |  Hexagon (6):  interior = 120°, exterior = 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Octagon (8):  interior = 135°, exterior = 45°  |  Decagon (10):  interior = 144°, exterior = 36°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Note:  interior + exterior = 180°  (always, at every vertex — linear pair)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6400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83280" y="1097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two parallel sides (called bases)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4864" cy="64008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pairs of opposite sides are parallel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606040"/>
            <a:ext cx="54864" cy="64008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Rhombus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four equal sides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38328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3280" y="3429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a right angle (all 90°)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4160520"/>
            <a:ext cx="54864" cy="640080"/>
          </a:xfrm>
          <a:prstGeom prst="rect">
            <a:avLst/>
          </a:prstGeom>
          <a:solidFill>
            <a:srgbClr val="B8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05840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with four equal sides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diagonal of a polygon is a line segment joining any two nonadjacent vertices.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s²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side length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l × 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749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length, w = width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926080"/>
            <a:ext cx="3749040" cy="54864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601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base, h = height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b₁, b₂ = bases, h = height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given in square units (ft², m², mi², cm², in²)     |     Rhombus: A = d₁ × d₂ / 2  (d₁, d₂ = diagonals)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Area of Quadrilaterals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9.2 cm, h = 6.1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 = 9.2 × 6.1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56.12 cm²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3.6 ft, b₂ = 5.5 ft, h = 2.9 ft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= ½(3.6 + 5.5)(2.9)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13.195 ft²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Always label units: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area is always in square units (cm², ft², m²). Forgetting units costs points on the quiz.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Multi-Step Trapezoid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Height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3.8, b₂ = 9.2, slant = 6.3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9.2 − 3.8 = 5.4; h² + 5.4² = 6.3²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√10.53 ≈ 3.2 cm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Compute the Area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½(3.8 + 9.2)(3.2) = ½(13.0)(3.2)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21.1 cm²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Key strategy: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when the height is not given, look for a right triangle hidden in the trapezoid. Use the Pythagorean theorem to find h first, then apply A = ½(b₁ + b₂)h.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oundShapesStrategy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Compound Shapes Strategy</a:t>
            </a:r>
          </a:p>
        </p:txBody>
      </p:sp>
      <p:sp>
        <p:nvSpPr>
          <p:cNvPr id="12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Any Compound Shape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Partition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simple shapes within the compound figure (rectangles, triangles, trapezoids).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Label all dimensions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Ensure all necessary measurements are identified for each part.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Compute individual areas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Apply the correct formula to each piece separately.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Add or subtract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Add areas of parts (or subtract holes/cutouts).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State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express area in square units (cm², ft², m², etc.).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Area Compound Shap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Area of Compound Shapes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1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wall of a living room with a vaulted ceiling has 4 windows as shown.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If a quart of paint covers 80 ft², how much paint is required to paint these walls?</a:t>
            </a:r>
          </a:p>
        </p:txBody>
      </p:sp>
      <p:sp>
        <p:nvSpPr>
          <p:cNvPr id="60" name="SolutionBG"/>
          <p:cNvSpPr/>
          <p:nvPr/>
        </p:nvSpPr>
        <p:spPr>
          <a:xfrm>
            <a:off x="3017520" y="3000000"/>
            <a:ext cx="4663440" cy="156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olutionAccent"/>
          <p:cNvSpPr/>
          <p:nvPr/>
        </p:nvSpPr>
        <p:spPr>
          <a:xfrm>
            <a:off x="3017520" y="3000000"/>
            <a:ext cx="54864" cy="1560000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olutionText"/>
          <p:cNvSpPr/>
          <p:nvPr/>
        </p:nvSpPr>
        <p:spPr>
          <a:xfrm>
            <a:off x="3160000" y="3050000"/>
            <a:ext cx="4400000" cy="14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Solution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1: Wall = rectangle + triangle on top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2: Find each area, then subtract 4 windows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3: Net wall area ÷ 80 ft² per quart = quarts needed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See diagram for exact dimensions → answer varies by wall size.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F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polygon — every other polygon can be divided into triangles.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Triangles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6459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Scalene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sides are equal in length.
No tick marks on sides.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64592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Isosceles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749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are equal in length.
Shown with single tick marks on equal sides.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54864" cy="164592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sides are equal.
Shown with double tick marks. All angles = 60°.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926080"/>
            <a:ext cx="54864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749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one right angle (90°). The side opposite the right angle is the hypotenuse; the other sides are legs.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Properties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103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 of Interior Angles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600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 + ∠B + ∠C = 180°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interior angles of any triangle always sum to exactly 180 degrees.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0" y="1691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a + b + 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2064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triangle — sum of all three side lengths.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429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a Triangle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b × 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114800" y="3657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triangle is exactly half of a parallelogram with the same base and height. The height (h) is the perpendicular distance from the base to the opposite vertex.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iangleAreaDecisionGuid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Triangle Area: Decision Guide</a:t>
            </a:r>
          </a:p>
        </p:txBody>
      </p:sp>
      <p:sp>
        <p:nvSpPr>
          <p:cNvPr id="1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Which Formula to Use?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½bh — Use when base and height are 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Height must be perpendicular to the base. Works for all triangle types.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(s²√3)/4 — Use for equilateral triangles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All three sides equal (s). Derived from the 30-60-90 split.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Heron's Formula — Use when only all three sides are 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= √[s(s−a)(s−b)(s−c)]  where s = (a+b+c)/2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No height needed — powerful when height is unknown.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Decision rule: Know height? → ½bh. All equal? → equilateral. Only sides? → Heron's.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Decision Rule Summary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Know height? → Use ½bh   |   All sides equal? → Use equilateral formula   |   Only sides? → Use Heron's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Heron's is the most versatile — it works for any triangle when all three side lengths are known.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Heron's Formula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when the height isn’t known — it only requires the three side lengths. When you know all three side lengths but not the height, use Heron’s Formula to find the area.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16459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(a + b + c) / 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 = semi-perimeter = half the perimeter)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√[ s(s − a)(s − b)(s − c) ]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3566160"/>
            <a:ext cx="7680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with sides a = 4.5 mi, b = 5.6 mi, c = 8.2 mi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713232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(4.5 + 5.6 + 8.2) / 2 = 18.3 / 2 = 9.15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s − a = 9.15 − 4.5 = 4.65,  s − b = 9.15 − 5.6 = 3.55,  s − c = 9.15 − 8.2 = 0.95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A = √[ 9.15 × 4.65 × 3.55 × 0.95 ] = √143.99 ≈ 11.87 mi²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 Triangle Formula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41148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29260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Deriving the Formula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equilateral triangle with side s: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two right triangles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of each = s/2, hypotenuse = 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h² + (s/2)² = s²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h² = s² − s²/4 = 3s²/4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 = (s√3)/2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s × (s√3)/2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1051560"/>
            <a:ext cx="3474720" cy="18288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949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9496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(s²√3) / 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39496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 = (s√3) / 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108960"/>
            <a:ext cx="34747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120640" y="3108960"/>
            <a:ext cx="54864" cy="8686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4924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 = 4.4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(4.4²√3)/4 ≈ 8.39 in²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Bermuda Triangl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The Bermuda Triangle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5" name="Diagram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Bermuda Triangle is sometimes defined as an equilateral triangle 1600 km on a side, with vertices in Bermuda, Puerto Rico, and the Florida coast.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Assuming it is flat, what is its approximate area?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</a:rPr>
              <a:t>Solution: 1,108,512.5 km²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</a:rPr>
              <a:t>Method: A = (s²√3) / 4, with s = 1600 km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= (2,560,000 × 1.732) / 4 = 4,434,050 / 4 ≈ 1,108,512.5 km²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Pythagorean Theorem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463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a² + b² = c²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right triangle: the square of the hypotenuse equals the sum of the squares of the two legs.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hypotenuse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(longest side, opposite the right angle)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= legs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two shorter sides)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2788920"/>
            <a:ext cx="54864" cy="10972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Right Angles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= c²  →  right angle (opposite c)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&gt; c²  →  angle opposite c is acute (triangle is acute)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&lt; c²  →  angle opposite c is obtuse (triangle is obtuse)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54864" cy="7315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42062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13 × 10 in with diagonal 16.75 in. Is it square?  13² + 10² = 269, but 16.75² = 280.5625. Since 269 &lt; 280.56, the angles are obtuse — not right angles.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ythagorean Theorem Geometric Proof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Pythagorean Theorem: A Geometric Proof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Proof by Area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 square = 4 triangles + inner square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c² = 4(½ab) + (b − a)²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</a:rPr>
              <a:t>c² = 2ab + b² − 2ab + a²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D4A843"/>
                </a:solidFill>
                <a:latin typeface="Calibri" pitchFamily="34" charset="0"/>
              </a:rPr>
              <a:t>c² = a² + b² 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Scarecrows Theorem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The Scarecrow’s “Theorem”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0000" y="1200000"/>
            <a:ext cx="7200000" cy="2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From The Wizard of Oz (1939)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The correct theorem (a² + b² = c²) is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NOT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the Scarecrow’s “theorem” from </a:t>
            </a: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The Wizard of Oz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— he said: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1A7A7A"/>
                </a:solidFill>
                <a:latin typeface="Georgia" pitchFamily="34" charset="0"/>
              </a:rPr>
              <a:t>“The sum of the square roots of any two sides of an Isosceles triangle is equal to the square root of the remaining side.”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Calibri" pitchFamily="34" charset="0"/>
              </a:rPr>
              <a:t>Counterexample: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If sides are 3, 3, and 1:  √3 + √3 = √1 ?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1.732... + 1.732... = 1 ???  </a:t>
            </a:r>
            <a:r>
              <a:rPr lang="en-US" sz="1400" b="1" dirty="0">
                <a:solidFill>
                  <a:srgbClr val="B85042"/>
                </a:solidFill>
                <a:latin typeface="Calibri" pitchFamily="34" charset="0"/>
              </a:rPr>
              <a:t>What??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3D4A5C"/>
                </a:solidFill>
                <a:latin typeface="Calibri" pitchFamily="34" charset="0"/>
              </a:rPr>
              <a:t>He got his diploma anyway — but his geometry was wrong.</a:t>
            </a:r>
          </a:p>
        </p:txBody>
      </p:sp>
      <p:sp>
        <p:nvSpPr>
          <p:cNvPr id="220" name="CalloutBG"/>
          <p:cNvSpPr/>
          <p:nvPr/>
        </p:nvSpPr>
        <p:spPr>
          <a:xfrm>
            <a:off x="457200" y="3931560"/>
            <a:ext cx="8229600" cy="1161940"/>
          </a:xfrm>
          <a:prstGeom prst="rect">
            <a:avLst/>
          </a:prstGeom>
          <a:solidFill>
            <a:srgbClr val="FFF8E6"/>
          </a:solidFill>
          <a:ln>
            <a:solidFill>
              <a:srgbClr val="E0DD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CalloutAccent"/>
          <p:cNvSpPr/>
          <p:nvPr/>
        </p:nvSpPr>
        <p:spPr>
          <a:xfrm>
            <a:off x="457200" y="3931560"/>
            <a:ext cx="54864" cy="11619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2" name="CalloutText"/>
          <p:cNvSpPr/>
          <p:nvPr/>
        </p:nvSpPr>
        <p:spPr>
          <a:xfrm>
            <a:off x="600000" y="3991560"/>
            <a:ext cx="7980000" cy="10619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B8922F"/>
                </a:solidFill>
                <a:latin typeface="Calibri"/>
              </a:rPr>
              <a:t>Quiz Connection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The Pythagorean Theorem states a² + b² = c² for ANY right triangle — not just isosceles.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On the quiz: identify the hypotenuse first (opposite the right angle), then apply a² + b² = c² correctly.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rrorAnalysisTriangl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Triangle Area</a:t>
            </a:r>
          </a:p>
        </p:txBody>
      </p:sp>
      <p:sp>
        <p:nvSpPr>
          <p:cNvPr id="1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to Avoid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Using the slanted side as height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height must be perpendicular to the base. A slanted leg is NOT the height unless the triangle is right-angled.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Forgetting to square the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Area is always in square units. 12 cm × 8 cm = 96 cm², not 96 cm.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Misidentifying the hypotenuse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hypotenuse is always opposite the right angle — the longest side.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Applying Heron's with the wrong 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 is the semi-perimeter: s = (a+b+c)/2, not a+b+c.</a:t>
            </a:r>
          </a:p>
        </p:txBody>
      </p:sp>
      <p:sp>
        <p:nvSpPr>
          <p:cNvPr id="220" name="CalloutBG"/>
          <p:cNvSpPr/>
          <p:nvPr/>
        </p:nvSpPr>
        <p:spPr>
          <a:xfrm>
            <a:off x="457200" y="4697720"/>
            <a:ext cx="8229600" cy="395780"/>
          </a:xfrm>
          <a:prstGeom prst="rect">
            <a:avLst/>
          </a:prstGeom>
          <a:solidFill>
            <a:srgbClr val="1B2A4A"/>
          </a:solidFill>
          <a:ln>
            <a:solidFill>
              <a:srgbClr val="E0DD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CalloutAccent"/>
          <p:cNvSpPr/>
          <p:nvPr/>
        </p:nvSpPr>
        <p:spPr>
          <a:xfrm>
            <a:off x="457200" y="4697720"/>
            <a:ext cx="54864" cy="395780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2" name="CalloutText"/>
          <p:cNvSpPr/>
          <p:nvPr/>
        </p:nvSpPr>
        <p:spPr>
          <a:xfrm>
            <a:off x="600000" y="4757720"/>
            <a:ext cx="7980000" cy="2957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Corrected Example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Triangle with base 8 cm, slant side 10 cm, height 6 cm.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WRONG: A = ½ × 8 × 10 = 40 cm²   (used slant side, not height)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RIGHT:  A = ½ × 8 × 6 = 24 cm²   (used perpendicular height)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Polygons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Similarity extends triangle properties to proportional reasoning — two shapes with equal angles have predictable side length ratios.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polygons are similar if they have the same shape (but not necessarily the same size).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" cy="1280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angles are equal in measure.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 = ∠D,  ∠B = ∠E,  ∠C = ∠F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5087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are proportional.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AB/DE = BC/EF = AC/DF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 △ABC ~ △DEF  to denote similarity.   Only 2 pairs of equal angles are needed to prove similarity.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7680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8862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3931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Tip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7132320" cy="8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△MNP ~ △QRS, use corresponding angles to find missing angles (they sum to 180°), and set up proportions like MN/QR = NP/RS = MP/QS to find missing sides.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Strategy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Similarity: Strategy</a:t>
            </a:r>
          </a:p>
        </p:txBody>
      </p:sp>
      <p:sp>
        <p:nvSpPr>
          <p:cNvPr id="1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Solving Similarity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Match corresponding 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Confirm AA (Angle-Angle) similarity. Order of vertices in the statement matters.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Determine the scale factor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Scale factor = (side of one figure) / (corresponding side of other figure).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Set up the proportion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a/b = c/d  — corresponding sides in the same ratio.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Solve for the unknown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Cross-multiply and simplify.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Interpret: label with units, verify the ratio holds.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Key Reminders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Common shortcut: If two angles are known equal, the third must be equal too (angle sum = 180°).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Scale factor &gt; 1: figure is enlarging.   Scale factor &lt; 1: figure is shrinking.   Always state which direction.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11887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△MNP ~ △QRS,  ∠P = 41°,  ∠R = 85°,  MN = 35,  QR = 20,  RS = 24,  MP = 56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∠N, ∠M, NP, QS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54864" cy="23774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corresponds to ∠R = 85°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= 85°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∠N + ∠P = 180°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+ 85° + 41° = 180°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= 54°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2423160"/>
            <a:ext cx="54864" cy="23774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MN/QR = 35/20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NP/RS = 7/4  →  NP/24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= 42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MP/QS = 7/4  →  56/QS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 = 32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Shadow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 ft man stands 10 ft from a flagpole. His 8 ft shadow ends at the same point as the flagpole's shadow.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6/h = 8/18  →  h = 13.5 ft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606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shadow = 8 + 10 = 18 ft)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River Width Problem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∥ DE. AB = 50 ft, AD = 180 ft, BC = 60 ft. Find DE (river width).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AB/AD = BC/DE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50/180 = 60/DE → DE = 216 ft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37947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two similar triangles → match corresponding sides → set up the proportion → cross-multiply and solve.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ApplicationEx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Application: Parallel Segments</a:t>
            </a:r>
          </a:p>
        </p:txBody>
      </p:sp>
      <p:sp>
        <p:nvSpPr>
          <p:cNvPr id="20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Two parallel lines are cut by two transversals. Segments AB = 9, BC = 6, and DE = 12. Find EF.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Solution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Parallel lines cut transversals proportionally: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AB / BC = DE / EF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9 / 6 = 12 / EF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EF = (12 × 6) / 9 = 72 / 9 = 8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EF = 8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Strategy: Parallel lines always divide transversals in the same ratio. Identify corresponding segments before setting up the proportion.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ErrorAnalysi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Similarity</a:t>
            </a:r>
          </a:p>
        </p:txBody>
      </p:sp>
      <p:sp>
        <p:nvSpPr>
          <p:cNvPr id="22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in Similarity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Wrong order in similarity statement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△ABC ~ △DEF means A↔D, B↔E, C↔F. Swapping letters changes which sides correspond.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Inverting the ratio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AB/DE = BC/EF, do NOT flip one side: AB/DE ≠ EF/BC.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Mixing sides from different triangles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keep numerators from one figure and denominators from the other.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Confusing the scale factor direction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Larger → smaller: scale factor &lt; 1. Smaller → larger: scale factor &gt; 1.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Self-Check Strategy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Quick check: Write out the similarity statement first, then list corresponding pairs before setting up any ratio.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If your answer gives a scale factor &lt; 0 or makes sides negative, you have a ratio error — flip and retry.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Seconds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20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4C5A0"/>
                </a:solidFill>
                <a:latin typeface="Calibri" pitchFamily="34" charset="0"/>
              </a:rPr>
              <a:t>Navigation, surveying, and GPS express angles in degrees-minutes-seconds — here we connect that real-world notation to our angle work.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 &amp; Seconds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 = 60 minutes (60′)          1′ = 60 seconds (60″)          1° = 3600″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663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in navigation, surveying, and GPS use degrees-minutes-seconds (DMS) — here’s how to convert. Used in navigation, latitude/longitude, and aviation approach plates.</a:t>
            </a:r>
            <a:endParaRPr lang="en-US" sz="1200" dirty="0"/>
          </a:p>
        </p:txBody>
      </p:sp>
      <p:sp>
        <p:nvSpPr>
          <p:cNvPr id="80" name="NotationBG"/>
          <p:cNvSpPr/>
          <p:nvPr/>
        </p:nvSpPr>
        <p:spPr>
          <a:xfrm>
            <a:off x="457200" y="2194560"/>
            <a:ext cx="38404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NotationBar"/>
          <p:cNvSpPr/>
          <p:nvPr/>
        </p:nvSpPr>
        <p:spPr>
          <a:xfrm>
            <a:off x="457200" y="2194560"/>
            <a:ext cx="54864" cy="21945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NotationText"/>
          <p:cNvSpPr/>
          <p:nvPr/>
        </p:nvSpPr>
        <p:spPr>
          <a:xfrm>
            <a:off x="600000" y="2240000"/>
            <a:ext cx="360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Reading DMS Notation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/>
              </a:rPr>
              <a:t>45° 30′ 15″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45 = degrees (whole number)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30′ = 30 minutes = 30/60 of a degree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15″ = 15 seconds = 15/3600 of a degree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= 45.504167° in decimal form</a:t>
            </a:r>
          </a:p>
        </p:txBody>
      </p:sp>
      <p:sp>
        <p:nvSpPr>
          <p:cNvPr id="83" name="ContextBG"/>
          <p:cNvSpPr/>
          <p:nvPr/>
        </p:nvSpPr>
        <p:spPr>
          <a:xfrm>
            <a:off x="4480320" y="2194560"/>
            <a:ext cx="42069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ContextBar"/>
          <p:cNvSpPr/>
          <p:nvPr/>
        </p:nvSpPr>
        <p:spPr>
          <a:xfrm>
            <a:off x="4480320" y="2194560"/>
            <a:ext cx="54864" cy="21945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ContextText"/>
          <p:cNvSpPr/>
          <p:nvPr/>
        </p:nvSpPr>
        <p:spPr>
          <a:xfrm>
            <a:off x="4623456" y="2240000"/>
            <a:ext cx="396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/>
              </a:rPr>
              <a:t>Where DMS Is Used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Navigation &amp; maps (latitude/longitude)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Astronomy (star positions)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Aviation approach plates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Surveying &amp; GPS coordinates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/>
              </a:rPr>
              <a:t>Conversions are on the next two slides.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malToDM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Decimal Degrees → DMS</a:t>
            </a:r>
          </a:p>
        </p:txBody>
      </p:sp>
      <p:sp>
        <p:nvSpPr>
          <p:cNvPr id="2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Decimal → DMS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The whole number part is the degrees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Multiply the decimal remainder by 60 → minutes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Multiply that decimal remainder by 60 → seconds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135.721°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135°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0.721 × 60 = 43.26  →  43′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0.26 × 60 = 15.6  →  15.6″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135° 43′ 15.6″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MSToDecimal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DMS → Decimal Degrees</a:t>
            </a:r>
          </a:p>
        </p:txBody>
      </p:sp>
      <p:sp>
        <p:nvSpPr>
          <p:cNvPr id="2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DMS → Decimal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Convert minutes: divide by 60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Convert seconds: divide by 3600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Add all three parts together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120° 48′ 50″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120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48 / 60 = 0.8°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50 / 3600 ≈ 0.01389°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Total: 120 + 0.8 + 0.01389 ≈ 120.814°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≈ 120.814°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50" name="MistakeBG"/>
          <p:cNvSpPr/>
          <p:nvPr/>
        </p:nvSpPr>
        <p:spPr>
          <a:xfrm>
            <a:off x="457200" y="4690000"/>
            <a:ext cx="8229600" cy="410000"/>
          </a:xfrm>
          <a:prstGeom prst="rect">
            <a:avLst/>
          </a:prstGeom>
          <a:solidFill>
            <a:srgbClr val="FFF0F0"/>
          </a:solidFill>
          <a:ln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MistakeText"/>
          <p:cNvSpPr/>
          <p:nvPr/>
        </p:nvSpPr>
        <p:spPr>
          <a:xfrm>
            <a:off x="600000" y="4710000"/>
            <a:ext cx="7980000" cy="37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/>
              </a:rPr>
              <a:t>Common mistake: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forgetting to add all three parts. The answer is 120 + 0.8 + 0.01389, not just 120.01389 or 0.81389.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s in Navigation Nautical Mil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Angles in Navigation: The Nautical Mile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90000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70000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9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9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8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Definition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Historically, one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nautical mile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 was defined as the distance of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one minute of latitude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 (at sea level).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1′ = 60″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1′ = 1852 m, then: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</a:rPr>
              <a:t>1″ = 1852 / 60 ≈ 31 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Today's official definition (since 1929):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1 nautical mile = 1852 m (exactly)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Practical example: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ship traveling 10 nautical miles covers 10 × 1852 = 18,520 m ≈ 18.5 km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reGeometricCompetenci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Core Geometric Competencies</a:t>
            </a:r>
          </a:p>
        </p:txBody>
      </p:sp>
      <p:sp>
        <p:nvSpPr>
          <p:cNvPr id="4" name="Subhead"/>
          <p:cNvSpPr/>
          <p:nvPr/>
        </p:nvSpPr>
        <p:spPr>
          <a:xfrm>
            <a:off x="457200" y="96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A"/>
                </a:solidFill>
                <a:latin typeface="Calibri"/>
              </a:rPr>
              <a:t>By the end of this unit, you should be able to do all of the following:</a:t>
            </a:r>
          </a:p>
        </p:txBody>
      </p:sp>
      <p:sp>
        <p:nvSpPr>
          <p:cNvPr id="10" name="CompBG0"/>
          <p:cNvSpPr/>
          <p:nvPr/>
        </p:nvSpPr>
        <p:spPr>
          <a:xfrm>
            <a:off x="457200" y="1360000"/>
            <a:ext cx="411408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CompTop0"/>
          <p:cNvSpPr/>
          <p:nvPr/>
        </p:nvSpPr>
        <p:spPr>
          <a:xfrm>
            <a:off x="457200" y="1360000"/>
            <a:ext cx="411408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CompText0"/>
          <p:cNvSpPr/>
          <p:nvPr/>
        </p:nvSpPr>
        <p:spPr>
          <a:xfrm>
            <a:off x="517200" y="1460000"/>
            <a:ext cx="399408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Angle Reasoning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Classify angles (acute, right, obtuse, straight). Apply vertical, supplementary, and parallel line relationships. Write and solve angle equations.</a:t>
            </a:r>
          </a:p>
        </p:txBody>
      </p:sp>
      <p:sp>
        <p:nvSpPr>
          <p:cNvPr id="14" name="CompBG1"/>
          <p:cNvSpPr/>
          <p:nvPr/>
        </p:nvSpPr>
        <p:spPr>
          <a:xfrm>
            <a:off x="4687920" y="1360000"/>
            <a:ext cx="399936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CompTop1"/>
          <p:cNvSpPr/>
          <p:nvPr/>
        </p:nvSpPr>
        <p:spPr>
          <a:xfrm>
            <a:off x="4687920" y="1360000"/>
            <a:ext cx="3999360" cy="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CompText1"/>
          <p:cNvSpPr/>
          <p:nvPr/>
        </p:nvSpPr>
        <p:spPr>
          <a:xfrm>
            <a:off x="4747920" y="1460000"/>
            <a:ext cx="387936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Derive and apply (n−2)×180° for interior sums. Use 360° for exterior sums. Find individual angles in regular polygons.</a:t>
            </a:r>
          </a:p>
        </p:txBody>
      </p:sp>
      <p:sp>
        <p:nvSpPr>
          <p:cNvPr id="18" name="CompBG2"/>
          <p:cNvSpPr/>
          <p:nvPr/>
        </p:nvSpPr>
        <p:spPr>
          <a:xfrm>
            <a:off x="45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CompTop2"/>
          <p:cNvSpPr/>
          <p:nvPr/>
        </p:nvSpPr>
        <p:spPr>
          <a:xfrm>
            <a:off x="457200" y="3100000"/>
            <a:ext cx="256000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CompText2"/>
          <p:cNvSpPr/>
          <p:nvPr/>
        </p:nvSpPr>
        <p:spPr>
          <a:xfrm>
            <a:off x="51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Area Computation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Apply formulas for squares, rectangles, parallelograms, trapezoids, and rhombuses. Partition compound shapes. Choose the correct triangle formula (½bh, equilateral, Heron’s).</a:t>
            </a:r>
          </a:p>
        </p:txBody>
      </p:sp>
      <p:sp>
        <p:nvSpPr>
          <p:cNvPr id="22" name="CompBG3"/>
          <p:cNvSpPr/>
          <p:nvPr/>
        </p:nvSpPr>
        <p:spPr>
          <a:xfrm>
            <a:off x="317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CompTop3"/>
          <p:cNvSpPr/>
          <p:nvPr/>
        </p:nvSpPr>
        <p:spPr>
          <a:xfrm>
            <a:off x="3177200" y="3100000"/>
            <a:ext cx="2560000" cy="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CompText3"/>
          <p:cNvSpPr/>
          <p:nvPr/>
        </p:nvSpPr>
        <p:spPr>
          <a:xfrm>
            <a:off x="323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Similarity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Identify similar polygons using AA. Write correct similarity statements. Determine scale factors and set up proportions to find missing sides.</a:t>
            </a:r>
          </a:p>
        </p:txBody>
      </p:sp>
      <p:sp>
        <p:nvSpPr>
          <p:cNvPr id="26" name="CompBG4"/>
          <p:cNvSpPr/>
          <p:nvPr/>
        </p:nvSpPr>
        <p:spPr>
          <a:xfrm>
            <a:off x="5897200" y="3100000"/>
            <a:ext cx="280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CompTop4"/>
          <p:cNvSpPr/>
          <p:nvPr/>
        </p:nvSpPr>
        <p:spPr>
          <a:xfrm>
            <a:off x="5897200" y="3100000"/>
            <a:ext cx="280000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CompText4"/>
          <p:cNvSpPr/>
          <p:nvPr/>
        </p:nvSpPr>
        <p:spPr>
          <a:xfrm>
            <a:off x="5957200" y="3200000"/>
            <a:ext cx="268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DMS Conversion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Convert decimal degrees to DMS (multiply remainders by 60 twice). Convert DMS to decimal (divide by 60 and 3600, then add). Understand the nautical mile connection.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Preparation: Key Skills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06070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60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02412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20440" y="102412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missing angles and sides using proportions (△MNP ~ △QRS)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1627632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159105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Angles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591056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corresponding, alternate interior, and alternate exterior angles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139696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2194560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1579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Areas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157984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= ½bh, equilateral formula, and Heron's formula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706624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4400" y="2761488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72491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Shapes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2724912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complex shapes into parallelograms and rectangles, sum the areas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273552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4400" y="3328416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29184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Sums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20440" y="32918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Interior: (n−2)×180°, Exterior: always 360°, Regular: (n−2)×180°/n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840480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4400" y="389534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1440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17320" y="38587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 Area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20440" y="385876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— identify bases, height, and any diagonal measurements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Show all work for full credit!  Label your units.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acticeChecklist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Practice Checklist</a:t>
            </a:r>
          </a:p>
        </p:txBody>
      </p:sp>
      <p:sp>
        <p:nvSpPr>
          <p:cNvPr id="30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Before the assessment, make sure you can: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Angle relationships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all parallel line angle pairs by name and state their relationship (equal or supplementary).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Find interior and exterior angle sums for any polygon, and solve for missing angles.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Area computation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Partition compound shapes, apply correct formulas, give answers in square units.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Similarity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Write correct similarity statements, calculate scale factors, set up and solve proportions.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Convert decimal degrees ↔ DMS accurately. Understand the nautical mile connection.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&amp; Review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Worksheet: Covers Sections 1–5 (parallel lines, polygon area, triangles, similar figures, DMS). Due: Next class meeting. Quiz format: 12 problems, no calculator on DMS conversions, calculator permitted for area and similar triangle problems. Show all work for full credit.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Geometry: Angles &amp; Polygons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lectionAndQues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Reflection &amp; Questions</a:t>
            </a:r>
          </a:p>
        </p:txBody>
      </p:sp>
      <p:sp>
        <p:nvSpPr>
          <p:cNvPr id="32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Three Prompts for Reflection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1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formulas require geometric justification rather than just memorization? What is the underlying reasoning?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2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Where does proportional reasoning appear most often in this unit? Give two specific examples.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3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concept required the most careful diagram reading to avoid errors?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Questions? Bring them to the next class or office hours.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5768</Words>
  <Application>Microsoft Office PowerPoint</Application>
  <PresentationFormat>On-screen Show (16:9)</PresentationFormat>
  <Paragraphs>722</Paragraphs>
  <Slides>57</Slides>
  <Notes>28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130 - Geometry: Angles and Polygons</dc:title>
  <dc:subject>PptxGenJS Presentation</dc:subject>
  <dc:creator>Liberty University - Math 130</dc:creator>
  <cp:lastModifiedBy>Volk, Andrew Harrison (General Math and Science)</cp:lastModifiedBy>
  <cp:revision>1</cp:revision>
  <dcterms:created xsi:type="dcterms:W3CDTF">2026-02-27T13:52:38Z</dcterms:created>
  <dcterms:modified xsi:type="dcterms:W3CDTF">2026-03-02T20:39:40Z</dcterms:modified>
</cp:coreProperties>
</file>