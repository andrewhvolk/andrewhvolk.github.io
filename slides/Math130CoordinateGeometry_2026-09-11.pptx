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61a7baed694cbd" /><Relationship Type="http://schemas.openxmlformats.org/officeDocument/2006/relationships/extended-properties" Target="/docProps/app.xml" Id="R135209972e234ccd" /><Relationship Type="http://schemas.openxmlformats.org/officeDocument/2006/relationships/officeDocument" Target="/ppt/presentation.xml" Id="R9664d2e7641247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6627297c6046f3"/>
  </p:sldMasterIdLst>
  <p:notesMasterIdLst>
    <p:notesMasterId xmlns:r="http://schemas.openxmlformats.org/officeDocument/2006/relationships" r:id="Rfd29091d37e84e73"/>
  </p:notesMasterIdLst>
  <p:sldIdLst>
    <p:sldId xmlns:r="http://schemas.openxmlformats.org/officeDocument/2006/relationships" id="256" r:id="R64ec8cf65dd2455a"/>
    <p:sldId xmlns:r="http://schemas.openxmlformats.org/officeDocument/2006/relationships" id="257" r:id="R72bb5e25c80c4fc4"/>
    <p:sldId xmlns:r="http://schemas.openxmlformats.org/officeDocument/2006/relationships" id="258" r:id="Rbae1c972388d4e90"/>
    <p:sldId xmlns:r="http://schemas.openxmlformats.org/officeDocument/2006/relationships" id="259" r:id="Rc9201e740dfd49c7"/>
    <p:sldId xmlns:r="http://schemas.openxmlformats.org/officeDocument/2006/relationships" id="260" r:id="Re6b581b383c2400a"/>
    <p:sldId xmlns:r="http://schemas.openxmlformats.org/officeDocument/2006/relationships" id="261" r:id="R6df071bdfe704bab"/>
    <p:sldId xmlns:r="http://schemas.openxmlformats.org/officeDocument/2006/relationships" id="262" r:id="Ra0ca0f5cd91b4adc"/>
    <p:sldId xmlns:r="http://schemas.openxmlformats.org/officeDocument/2006/relationships" id="263" r:id="R3d9150c9d88b4d89"/>
    <p:sldId xmlns:r="http://schemas.openxmlformats.org/officeDocument/2006/relationships" id="264" r:id="Rbde1abc60c9f46cf"/>
    <p:sldId xmlns:r="http://schemas.openxmlformats.org/officeDocument/2006/relationships" id="265" r:id="R7dc0c07af63f49d5"/>
    <p:sldId xmlns:r="http://schemas.openxmlformats.org/officeDocument/2006/relationships" id="266" r:id="Re0f09cc8075a4786"/>
    <p:sldId xmlns:r="http://schemas.openxmlformats.org/officeDocument/2006/relationships" id="267" r:id="R88d7ec22bb994922"/>
    <p:sldId xmlns:r="http://schemas.openxmlformats.org/officeDocument/2006/relationships" id="268" r:id="R19722a09e296471f"/>
    <p:sldId xmlns:r="http://schemas.openxmlformats.org/officeDocument/2006/relationships" id="269" r:id="Rb7a5a5862ca2478d"/>
    <p:sldId xmlns:r="http://schemas.openxmlformats.org/officeDocument/2006/relationships" id="270" r:id="Ra41034953c12441c"/>
    <p:sldId xmlns:r="http://schemas.openxmlformats.org/officeDocument/2006/relationships" id="271" r:id="Rb907c866543d4d02"/>
    <p:sldId xmlns:r="http://schemas.openxmlformats.org/officeDocument/2006/relationships" id="272" r:id="R49c0ce52a42548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c8b90df29f4ae0" /><Relationship Type="http://schemas.openxmlformats.org/officeDocument/2006/relationships/slideMaster" Target="/ppt/slideMasters/slideMaster1.xml" Id="R0a6627297c6046f3" /><Relationship Type="http://schemas.openxmlformats.org/officeDocument/2006/relationships/notesMaster" Target="/ppt/notesMasters/notesMaster1.xml" Id="Rfd29091d37e84e73" /><Relationship Type="http://schemas.openxmlformats.org/officeDocument/2006/relationships/presProps" Target="/ppt/presProps.xml" Id="R6547249198a54d8e" /><Relationship Type="http://schemas.openxmlformats.org/officeDocument/2006/relationships/tableStyles" Target="/ppt/tableStyles.xml" Id="R6e5cef611aec43f8" /><Relationship Type="http://schemas.openxmlformats.org/officeDocument/2006/relationships/slide" Target="/ppt/slides/slide1.xml" Id="R64ec8cf65dd2455a" /><Relationship Type="http://schemas.openxmlformats.org/officeDocument/2006/relationships/slide" Target="/ppt/slides/slide2.xml" Id="R72bb5e25c80c4fc4" /><Relationship Type="http://schemas.openxmlformats.org/officeDocument/2006/relationships/slide" Target="/ppt/slides/slide3.xml" Id="Rbae1c972388d4e90" /><Relationship Type="http://schemas.openxmlformats.org/officeDocument/2006/relationships/slide" Target="/ppt/slides/slide4.xml" Id="Rc9201e740dfd49c7" /><Relationship Type="http://schemas.openxmlformats.org/officeDocument/2006/relationships/slide" Target="/ppt/slides/slide5.xml" Id="Re6b581b383c2400a" /><Relationship Type="http://schemas.openxmlformats.org/officeDocument/2006/relationships/slide" Target="/ppt/slides/slide6.xml" Id="R6df071bdfe704bab" /><Relationship Type="http://schemas.openxmlformats.org/officeDocument/2006/relationships/slide" Target="/ppt/slides/slide7.xml" Id="Ra0ca0f5cd91b4adc" /><Relationship Type="http://schemas.openxmlformats.org/officeDocument/2006/relationships/slide" Target="/ppt/slides/slide8.xml" Id="R3d9150c9d88b4d89" /><Relationship Type="http://schemas.openxmlformats.org/officeDocument/2006/relationships/slide" Target="/ppt/slides/slide9.xml" Id="Rbde1abc60c9f46cf" /><Relationship Type="http://schemas.openxmlformats.org/officeDocument/2006/relationships/slide" Target="/ppt/slides/slide10.xml" Id="R7dc0c07af63f49d5" /><Relationship Type="http://schemas.openxmlformats.org/officeDocument/2006/relationships/slide" Target="/ppt/slides/slide11.xml" Id="Re0f09cc8075a4786" /><Relationship Type="http://schemas.openxmlformats.org/officeDocument/2006/relationships/slide" Target="/ppt/slides/slide12.xml" Id="R88d7ec22bb994922" /><Relationship Type="http://schemas.openxmlformats.org/officeDocument/2006/relationships/slide" Target="/ppt/slides/slide13.xml" Id="R19722a09e296471f" /><Relationship Type="http://schemas.openxmlformats.org/officeDocument/2006/relationships/slide" Target="/ppt/slides/slide14.xml" Id="Rb7a5a5862ca2478d" /><Relationship Type="http://schemas.openxmlformats.org/officeDocument/2006/relationships/slide" Target="/ppt/slides/slide15.xml" Id="Ra41034953c12441c" /><Relationship Type="http://schemas.openxmlformats.org/officeDocument/2006/relationships/slide" Target="/ppt/slides/slide16.xml" Id="Rb907c866543d4d02" /><Relationship Type="http://schemas.openxmlformats.org/officeDocument/2006/relationships/slide" Target="/ppt/slides/slide17.xml" Id="R49c0ce52a42548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955805e32648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3693ea6d78454a" /><Relationship Type="http://schemas.openxmlformats.org/officeDocument/2006/relationships/notesMaster" Target="/ppt/notesMasters/notesMaster1.xml" Id="R96d1f3b7ad4b4c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604a22588d4f4b" /><Relationship Type="http://schemas.openxmlformats.org/officeDocument/2006/relationships/notesMaster" Target="/ppt/notesMasters/notesMaster1.xml" Id="R0be5c94e42634b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dd3aefd78145f0" /><Relationship Type="http://schemas.openxmlformats.org/officeDocument/2006/relationships/notesMaster" Target="/ppt/notesMasters/notesMaster1.xml" Id="R74e7bb464d494e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1b9db880a44854" /><Relationship Type="http://schemas.openxmlformats.org/officeDocument/2006/relationships/notesMaster" Target="/ppt/notesMasters/notesMaster1.xml" Id="R521e07b77eb74d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8a5653add6404e" /><Relationship Type="http://schemas.openxmlformats.org/officeDocument/2006/relationships/notesMaster" Target="/ppt/notesMasters/notesMaster1.xml" Id="R92c66049b47341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c2031a6888442e" /><Relationship Type="http://schemas.openxmlformats.org/officeDocument/2006/relationships/notesMaster" Target="/ppt/notesMasters/notesMaster1.xml" Id="R0ce3d252ab4e4c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4088a35d134d3a" /><Relationship Type="http://schemas.openxmlformats.org/officeDocument/2006/relationships/notesMaster" Target="/ppt/notesMasters/notesMaster1.xml" Id="R75aa3c34822b48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ed8ea7371e4715" /><Relationship Type="http://schemas.openxmlformats.org/officeDocument/2006/relationships/notesMaster" Target="/ppt/notesMasters/notesMaster1.xml" Id="R7b387206255643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e2ec83ff974bab" /><Relationship Type="http://schemas.openxmlformats.org/officeDocument/2006/relationships/notesMaster" Target="/ppt/notesMasters/notesMaster1.xml" Id="R6dbf77e1a5d348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70ce17f8334b81" /><Relationship Type="http://schemas.openxmlformats.org/officeDocument/2006/relationships/notesMaster" Target="/ppt/notesMasters/notesMaster1.xml" Id="R0a4c31dc8cdd42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fdd7af66b54065" /><Relationship Type="http://schemas.openxmlformats.org/officeDocument/2006/relationships/notesMaster" Target="/ppt/notesMasters/notesMaster1.xml" Id="Rcd27d477a62c44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755f7eb16f4af9" /><Relationship Type="http://schemas.openxmlformats.org/officeDocument/2006/relationships/notesMaster" Target="/ppt/notesMasters/notesMaster1.xml" Id="R6d5e61cc22fc47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f1129fb0f14e1d" /><Relationship Type="http://schemas.openxmlformats.org/officeDocument/2006/relationships/notesMaster" Target="/ppt/notesMasters/notesMaster1.xml" Id="R094b0d1dfbfe47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10868f2cb244e8" /><Relationship Type="http://schemas.openxmlformats.org/officeDocument/2006/relationships/notesMaster" Target="/ppt/notesMasters/notesMaster1.xml" Id="R5e9da445e01c48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fa6ba91e3149b2" /><Relationship Type="http://schemas.openxmlformats.org/officeDocument/2006/relationships/notesMaster" Target="/ppt/notesMasters/notesMaster1.xml" Id="Rbb859a6643344e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8d198759574a60" /><Relationship Type="http://schemas.openxmlformats.org/officeDocument/2006/relationships/notesMaster" Target="/ppt/notesMasters/notesMaster1.xml" Id="R60033d2e142a41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6d01f199b046c4" /><Relationship Type="http://schemas.openxmlformats.org/officeDocument/2006/relationships/notesMaster" Target="/ppt/notesMasters/notesMaster1.xml" Id="R34d9c8f471814a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3:15–3:16. Open with today’s focus. This class contains new instruction and practice for the current ALEKS module. It does not repeat Quiz 2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3:16–3:17. Preview the timing. Protect the practice blocks and the final three-minute exit ticket.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3:17–3:18. The chart uses aggregate class readiness from itemsReport (2).xlsx, generated September 9, 2026. Ready-to-learn shares: exact distance 85%, decimal distance 73%, midpoint 66%, advanced intercepts 56%, and circle identification 49%. Current-module average progress is 36.2%. Do not identify individual students.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3:18–3:22. Give four minutes of individual work. Use the responses to decide how much time to spend on signs and substitution.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3:22–3:23. Check quickly. Reinforce coordinate signs and the meaning of a solution to a two-variable equation.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3:23–3:26. Build the horizontal and vertical changes from the diagram. Ask why switching endpoint order in only one difference causes trouble.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3:26–3:30. Connect the distance formula to the right triangle on the previous slide. Read the midpoint formula as two coordinate averages.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3:30–3:35. Work the exact distance first, simplify the radical, then round to the nearest tenth. Ask students to explain why (1, 3) lies between the endpoint coordinates.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3:35–3:39. Give four minutes. Prompt with the coordinate changes if students stall. Require the exact form before the decimal.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3:39–3:41. Compare each line. Address sign errors before moving to slope.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3:41–3:45. Reuse Δx = 6 and Δy = 4. Emphasize that slope is a signed ratio, while distance uses squares and cannot be negative.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3:45–3:48. Contrast zero in the numerator with zero in the denominator. Connect each special case to its equation 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3:48–3:52. Model the three-step process: slope, point-slope form, then slope-intercept form. Substitute both endpoints as a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3:52–3:56. Give four minutes. Require a slope calculation and one point-slope line before simplifying.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3:56–3:58. Check the slope sign first, then the equation and intercepts. Ask students to substitute one endpoint and one intercept.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3:58–4:02. Model the first circle. Poll the quick check: center (4, −1), radius 3. Keep this as a preview so students can enter the ALEKS circle work with a usable pattern.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4:02–4:05. Collect the exit response or check it at the door. Midpoint = (−1, 2). Slope = (−2 − 6)/(2 − (−4)) = −8/6 = −4/3. Remind students to complete Sections 2.1, 2.2, and 2.4 before Quiz 3 and to use Canvas for the exact deadline.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fae07d3d043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67ecc2b0b54b86" /><Relationship Type="http://schemas.openxmlformats.org/officeDocument/2006/relationships/slideLayout" Target="/ppt/slideLayouts/slideLayout1.xml" Id="R54d43731459f40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d43731459f40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2cfe6b0dc47f1" /><Relationship Type="http://schemas.openxmlformats.org/officeDocument/2006/relationships/notesSlide" Target="/ppt/notesSlides/notesSlide1.xml" Id="Rbe1f8b3e8d1247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5f13d182e46ed" /><Relationship Type="http://schemas.openxmlformats.org/officeDocument/2006/relationships/notesSlide" Target="/ppt/notesSlides/notesSlide2.xml" Id="Rd81a2f8f815b40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fd89adb5a4528" /><Relationship Type="http://schemas.openxmlformats.org/officeDocument/2006/relationships/chart" Target="/ppt/slides/charts/chart1.xml" Id="R1a40523ee0d64f42" /><Relationship Type="http://schemas.openxmlformats.org/officeDocument/2006/relationships/notesSlide" Target="/ppt/notesSlides/notesSlide3.xml" Id="Rc45cdf44a9114a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d11a7bd194a89" /><Relationship Type="http://schemas.openxmlformats.org/officeDocument/2006/relationships/notesSlide" Target="/ppt/notesSlides/notesSlide4.xml" Id="R86e68e7caf5f48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2e333e0a4487e" /><Relationship Type="http://schemas.openxmlformats.org/officeDocument/2006/relationships/notesSlide" Target="/ppt/notesSlides/notesSlide5.xml" Id="Rb70b0977839d46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d2da9a94c42a1" /><Relationship Type="http://schemas.openxmlformats.org/officeDocument/2006/relationships/notesSlide" Target="/ppt/notesSlides/notesSlide6.xml" Id="R713549e597bf41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a72f9de294d25" /><Relationship Type="http://schemas.openxmlformats.org/officeDocument/2006/relationships/notesSlide" Target="/ppt/notesSlides/notesSlide7.xml" Id="R94f6ef1faff24b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71604eb1f4782" /><Relationship Type="http://schemas.openxmlformats.org/officeDocument/2006/relationships/notesSlide" Target="/ppt/notesSlides/notesSlide8.xml" Id="Rf503245b8abb44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5ba21a64942cb" /><Relationship Type="http://schemas.openxmlformats.org/officeDocument/2006/relationships/notesSlide" Target="/ppt/notesSlides/notesSlide9.xml" Id="R88191d95d6d04c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76435f4294bd3" /><Relationship Type="http://schemas.openxmlformats.org/officeDocument/2006/relationships/notesSlide" Target="/ppt/notesSlides/notesSlide10.xml" Id="R07821f7099d84b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9ad8d01d44cfb" /><Relationship Type="http://schemas.openxmlformats.org/officeDocument/2006/relationships/notesSlide" Target="/ppt/notesSlides/notesSlide11.xml" Id="Rd119b36f6e4e44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4db53330e4850" /><Relationship Type="http://schemas.openxmlformats.org/officeDocument/2006/relationships/notesSlide" Target="/ppt/notesSlides/notesSlide12.xml" Id="Rebd81dc87e3642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faf86d59a41e4" /><Relationship Type="http://schemas.openxmlformats.org/officeDocument/2006/relationships/notesSlide" Target="/ppt/notesSlides/notesSlide13.xml" Id="R2545d007179548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df62e2eec4a8b" /><Relationship Type="http://schemas.openxmlformats.org/officeDocument/2006/relationships/notesSlide" Target="/ppt/notesSlides/notesSlide14.xml" Id="R2c6e9a4f76384c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70052164c4794" /><Relationship Type="http://schemas.openxmlformats.org/officeDocument/2006/relationships/notesSlide" Target="/ppt/notesSlides/notesSlide15.xml" Id="R8af7f1f3930743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2f888d5934b73" /><Relationship Type="http://schemas.openxmlformats.org/officeDocument/2006/relationships/notesSlide" Target="/ppt/notesSlides/notesSlide16.xml" Id="Rb5f3c8e4a20b45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ae385fd924f00" /><Relationship Type="http://schemas.openxmlformats.org/officeDocument/2006/relationships/notesSlide" Target="/ppt/notesSlides/notesSlide17.xml" Id="R487629a2a4c64c9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Ready to learn</c:v>
          </c:tx>
          <c:spPr>
            <a:solidFill xmlns:a="http://schemas.openxmlformats.org/drawingml/2006/main">
              <a:srgbClr val="1777B4"/>
            </a:solidFill>
          </c:spPr>
          <c:cat>
            <c:strRef>
              <c:f>'Chart Data'!$A$2:$A$6</c:f>
              <c:strCache>
                <c:ptCount val="5"/>
                <c:pt idx="0">
                  <c:v>Exact distance</c:v>
                </c:pt>
                <c:pt idx="1">
                  <c:v>Decimal distance</c:v>
                </c:pt>
                <c:pt idx="2">
                  <c:v>Midpoint</c:v>
                </c:pt>
                <c:pt idx="3">
                  <c:v>Advanced intercepts</c:v>
                </c:pt>
                <c:pt idx="4">
                  <c:v>Circle center and radius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85</c:v>
                </c:pt>
                <c:pt idx="1">
                  <c:v>73</c:v>
                </c:pt>
                <c:pt idx="2">
                  <c:v>66</c:v>
                </c:pt>
                <c:pt idx="3">
                  <c:v>56</c:v>
                </c:pt>
                <c:pt idx="4">
                  <c:v>49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93B5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E03BC-4B60-4740-B753-A6A90024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8B1C4-9496-4F7C-988C-2A9FEEAD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MATH 130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DB132-B456-413A-90E8-E57A4F79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Coordinate geometry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00D1A-B9F9-4A49-807A-63CED38F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6E4EC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6E4EC"/>
                </a:solidFill>
                <a:latin typeface="Arial"/>
                <a:ea typeface="Arial"/>
                <a:cs typeface="Arial"/>
              </a:rPr>
              <a:t>Distance, midpoint, slope, lines, and circles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818FD-3D18-423F-A1DB-1A11FD5F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666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9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1B768-1BBE-4E0A-BC14-F171EA64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Friday, September 11, 2026</a:t>
            </a:r>
          </a:p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3:15–4:05 PM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D8DE1-0506-48EB-844E-764B2F06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668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2.1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CEC59-879F-47E6-824E-8D378BE9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33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2.2   2.4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38BA9-7468-4495-8742-20E0B127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90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6E4E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6E4EC"/>
                </a:solidFill>
                <a:latin typeface="Arial"/>
                <a:ea typeface="Arial"/>
                <a:cs typeface="Arial"/>
              </a:rPr>
              <a:t>CURRENT ALEKS MODULE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FB231-E6B3-463B-AD51-E445D63A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Complete the current module before Quiz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E130B-8C6C-4C4C-8BD7-5B5043DC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FC2CF"/>
                </a:solidFill>
                <a:latin typeface="Arial"/>
                <a:ea typeface="Arial"/>
                <a:cs typeface="Arial"/>
              </a:rPr>
              <a:t>1  slide</a:t>
            </a:r>
          </a:p>
        </p:txBody>
      </p:sp>
    </p:spTree>
    <p:extLst>
      <p:ext uri="{BB962C8B-B14F-4D97-AF65-F5344CB8AC3E}">
        <p14:creationId xmlns:p14="http://schemas.microsoft.com/office/powerpoint/2010/main" val="2056511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B63528-F52E-450F-8BFD-9BBC71DE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770C3-D90D-49C2-840C-7AFA978B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Friday’s 50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4D9F4-1B54-48BA-A774-00D32A40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A full class for Sections 2.1, 2.2, and 2.4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580B0-1996-4839-B4F5-3E5CC67E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4BE3D-541F-44D4-AAFF-47E0616D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B2B06-D63D-44CE-803F-92FB5D14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DD433-3C61-4FEF-8EDC-17D93F82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2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927DA-F723-4772-8180-653CC23C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838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1164E-D35E-458C-B9A8-911C0C3F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5265E-E2B7-4A09-A6AB-AC917907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3:15–3:18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49825-767E-4CDE-9179-1FD3FC03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Launch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7E0BD-4C6C-4F8A-AB7D-AEB884B2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47850"/>
            <a:ext cx="123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C003A-8BCF-406D-B4F5-74594C87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431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886AE-66B6-4B73-8808-74A861BB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669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3:18–3:23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3BC7E-FF1F-4AB7-95A0-D609E402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C5BC2-4EC9-430E-A7B7-EC745594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3943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AE541-9099-404B-A7E0-05215B97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4310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18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201B6-AB89-4879-BAF1-085D22EA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3:23–3:41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55F70-8E62-452B-9C1B-E07DB420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81300"/>
            <a:ext cx="4057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Distance + midpoint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FE11F-37BC-4D0C-AD7F-B6C66040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6613E-F115-4EE4-BA3B-A021AF60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363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47D08-4CA1-4BC7-A53F-DAFD2016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3:41–3:58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CCBFDA-A9CE-4E1B-B81E-49A12BC9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Slope + lines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03764-4BC8-47E0-82FF-83006AA3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847850"/>
            <a:ext cx="838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D5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C70BD-9C94-4242-A1F6-8AAEC44C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431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2B87F9-FE4E-4CCB-AF36-6767C223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2669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3:58–4:02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A5430-6E52-4179-9EEC-41494270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8130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Circles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29BDDE-B470-4B7D-989F-5C6590A5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01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F1799C-3FD4-40E5-833B-C700E3F8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3 minutes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757F3C-C9AC-4305-BDAE-3A2F7256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719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Exit ticket and ALEKS plan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53AA63-2D71-4816-BF30-89A641FD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4:02–4:05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797CE0-CB70-43B2-AF46-CB018455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86300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Every practice problem includes a check before the next topic.</a:t>
            </a:r>
          </a:p>
        </p:txBody>
      </p:sp>
    </p:spTree>
    <p:extLst>
      <p:ext uri="{BB962C8B-B14F-4D97-AF65-F5344CB8AC3E}">
        <p14:creationId xmlns:p14="http://schemas.microsoft.com/office/powerpoint/2010/main" val="382088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6ECF8-2707-473B-B7D1-FD7C3AA2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2E169-2BCC-4041-ABDA-C6328C4F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Current module priorities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2F0DB-A984-4D5C-9323-19F2AF9A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Ready to learn in the September 9 ALEKS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41E49-812E-4B9A-A615-0F84E5D5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66403-5366-4285-8ABF-A311D9BE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7F2EB-575E-46C4-9A12-90059817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64714-BF53-4498-9801-E795786D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3  slide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6953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40523ee0d64f4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24B6A-BE86-41C0-B1EF-2BBFAD16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57350"/>
            <a:ext cx="3505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5B898-C7C8-4B7D-B9D5-6AC741F7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90700"/>
            <a:ext cx="2895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36%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A58A1-4CBA-4ECB-A04A-FE9D633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current-module progress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92BC2-C5D9-443D-B17C-FC19E949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3505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FB3AA-6816-462C-B26B-C22A6087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Friday sequence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E1065-B9A1-438F-B76E-8F78526A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76700"/>
            <a:ext cx="2933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Coordinate changes</a:t>
            </a:r>
          </a:p>
          <a:p xmlns:a="http://schemas.openxmlformats.org/drawingml/2006/main">
            <a:pPr algn="l">
              <a:defRPr sz="150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Distance and midpoint</a:t>
            </a:r>
          </a:p>
          <a:p xmlns:a="http://schemas.openxmlformats.org/drawingml/2006/main">
            <a:pPr algn="l">
              <a:defRPr sz="150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Slope and line equations</a:t>
            </a:r>
          </a:p>
          <a:p xmlns:a="http://schemas.openxmlformats.org/drawingml/2006/main">
            <a:pPr algn="l">
              <a:defRPr sz="150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Circle form</a:t>
            </a:r>
          </a:p>
        </p:txBody>
      </p:sp>
    </p:spTree>
    <p:extLst>
      <p:ext uri="{BB962C8B-B14F-4D97-AF65-F5344CB8AC3E}">
        <p14:creationId xmlns:p14="http://schemas.microsoft.com/office/powerpoint/2010/main" val="1938402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609AA-7BA7-46D7-B350-3BC98E6D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89189-64A6-4776-AA29-6A7AB107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Entrance retrieval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795D2-BF64-4214-80BF-86B9F72C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Work without notes for 4 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9DB54-6132-4BD6-BE32-587398B7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94469-D708-45DF-BBCC-805397DE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D9936-56CE-4313-A231-52556AE2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D6D40-723D-4924-8158-684B0CEA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4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8F562-E36F-4600-AB0C-10EFE8BC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0D35A-4F5D-43C7-A8CE-4FD3B53C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905BD-FDB8-426C-9EE9-D05E6E80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335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Name the quadrant containing the point (−4, 3).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47BC1-47AE-4320-B877-3D12C2CE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E5DEE-7D0D-4B5C-865B-B43D36D2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45534-9E5D-41A1-8549-374EBBE3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907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From A(−2, 1) to B(4, 5), find Δx and Δy.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5D002-F049-4A06-8FE1-7D583A10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00928-F2E6-45AE-9C03-77849437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2C7F0-7EEB-4BB4-991C-4F26C0AB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480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Does (4, 5) satisfy y = 2x − 3? Show the substitution.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7C83D-CBA2-4958-9726-84B4264B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047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60511-846E-4201-9809-E3D58CFE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94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Keep the coordinate order consistent: x first, y second.</a:t>
            </a:r>
          </a:p>
        </p:txBody>
      </p:sp>
    </p:spTree>
    <p:extLst>
      <p:ext uri="{BB962C8B-B14F-4D97-AF65-F5344CB8AC3E}">
        <p14:creationId xmlns:p14="http://schemas.microsoft.com/office/powerpoint/2010/main" val="742166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F15A7-2C0F-4755-8742-3C1E0334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4C906-763C-477E-8CE8-08CD83C2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Entrance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D0166-2CC4-400D-8D3A-DF5445EE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Explain the reason for each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347A0-2208-45C8-9EF5-1C6BDAC5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5246E-2CB3-4D73-9912-EC727AF3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E5FF9-4A12-40A4-B7D2-73F49FF8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9CDFA-74C0-4367-A2AE-2C72F4B5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5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A6D0E-D692-4645-9EFA-548B2E28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99F7E-30BF-4AD0-A1EB-C0710008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D9973-2B47-46CD-BD6E-D1702FC5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335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Quadrant II because x is negative and y is positive.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E2ED9-3082-4F05-A5DA-A01E6D7D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99669-842F-44AF-A094-93DC443E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090B3-2CE2-435D-BBC6-17EC0829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907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Δx = 4 − (−2) = 6 and Δy = 5 − 1 = 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3053C-BE8B-449D-A954-125D6F5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3AAE1-28BA-4E6E-95BC-F18CDF8C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3F3F0-F140-4E48-BC63-60AF4D10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480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Yes. Substitution gives 5 = 2(4) − 3 = 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56C57-47B6-4CDC-9C21-B795EC43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047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5384D-15F7-4DE0-9E41-88B6FB78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94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The same Δx and Δy will produce distance and slope.</a:t>
            </a:r>
          </a:p>
        </p:txBody>
      </p:sp>
    </p:spTree>
    <p:extLst>
      <p:ext uri="{BB962C8B-B14F-4D97-AF65-F5344CB8AC3E}">
        <p14:creationId xmlns:p14="http://schemas.microsoft.com/office/powerpoint/2010/main" val="1480963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5659DE-3AB1-4BC9-963C-0F51DDC1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100EA-C1C9-44CF-8E8A-0C2DB61B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Coordinate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45926-7BFE-44E0-8415-80BF43E5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A(−2, 1) and B(4, 5)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A9654-9B77-4BB0-A27B-53E5D1E3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29CD1-DCB0-41F9-BD14-53E31689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711DC-8E49-48D3-BF78-4232FE40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69B46-DA6A-417A-84F7-C18A9529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6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361B9-FA0D-4483-B96A-BDA64C6D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1E2D5-3073-417F-BDD9-0DB17049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55F54-A968-4355-8CD4-69E61A6E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AB75E-C409-4C75-8B86-186F03B6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24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EC08E-8AD4-4D76-A315-70169B4F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524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8D393-AA1A-436E-A0E0-03C8420B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24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1906A-15CA-49CC-B01F-7B580D5B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24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5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5674B-4950-4404-8377-D9CB5D13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524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4537B-950B-48B4-A512-C84A1310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8EB54-C6DF-4CF5-8985-61E60DAD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24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BE2D3-44BB-448C-A4B9-1C64AE32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24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33C46-3E96-4A95-8CC9-A337AF6C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24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A379EC-C527-4CEC-B543-88291B0C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FED2E-207F-48E0-BA5E-F92C689B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4406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5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89D39-A3FB-470A-AA7D-90A86FC5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0063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3F659-5823-4604-AF9D-CD69653A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5719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6F77F-9A47-425C-A634-22EAB3D6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5B9053-EC44-49E5-8DC2-0FC062ED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7031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B8FA20-65EB-454D-927E-03B2DF66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2688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18F07A-ACA2-4973-AE93-CE1BC2FB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8344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FB2040-4E1A-4648-9431-7B842F35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3B0422-54A9-4632-A700-019AB8FA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12506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-4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670282-C13F-4AD1-BE0C-D45FBB98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12506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-3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9572D6-E058-4148-A3F1-8686CB0B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12506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3485B7-7741-4588-B8EF-BF4AE293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812506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0DE90C-CD75-45C0-9175-409032B6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812506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0675C2-978D-40A2-A3D7-4793B423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812506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C6D6EB-1A34-4503-A6DE-7145491D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12506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3B1D33-D925-4EB8-B2E4-103DEA24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812506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153D78-D95F-47B9-BAE2-4DFB59E5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05288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51E3C0-B52A-4A4B-A2E9-2ACB4F2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40944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EF5E44-7854-4FC9-BE7A-22C01958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76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073246-F2C0-4D1E-BEBC-13E58C36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12256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E5314C-8EDF-43DC-8336-D335DA83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7913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9A03F1-B0F0-4DA4-A685-04C7FF65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83569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3A9200-CCD9-4CEA-9B4A-D43FCC05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192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69E1DA-EBD0-4614-848D-55E2030A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07706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758A78-1D41-4BF9-B9E9-2919F7EF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485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A5E47F-C6F5-4E5D-9D39-4002AC4D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281488"/>
            <a:ext cx="3086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8EA34F-F51D-43F3-B614-438285BD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52688"/>
            <a:ext cx="571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5E2709-4CF4-4C7C-8401-857044C3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2433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D50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30F04C-9806-4937-AEF0-28231B47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3860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D5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7962D1-5C72-4911-ACCF-4EF49E94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86263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5D50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E45D50"/>
                </a:solidFill>
                <a:latin typeface="Cambria Math"/>
                <a:ea typeface="Cambria Math"/>
                <a:cs typeface="Cambria Math"/>
              </a:rPr>
              <a:t>A(−2, 1)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0DA50A-0C66-4B16-B067-EB110685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09788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45D50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E45D50"/>
                </a:solidFill>
                <a:latin typeface="Cambria Math"/>
                <a:ea typeface="Cambria Math"/>
                <a:cs typeface="Cambria Math"/>
              </a:rPr>
              <a:t>B(4, 5)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99531D-8E61-49FA-9004-44027908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6213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77B4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777B4"/>
                </a:solidFill>
                <a:latin typeface="Cambria Math"/>
                <a:ea typeface="Cambria Math"/>
                <a:cs typeface="Cambria Math"/>
              </a:rPr>
              <a:t>Δx = 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1A58FD-6FAF-4DCD-BD8C-63C4CE01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670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8A6B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68A6B"/>
                </a:solidFill>
                <a:latin typeface="Cambria Math"/>
                <a:ea typeface="Cambria Math"/>
                <a:cs typeface="Cambria Math"/>
              </a:rPr>
              <a:t>Δy = 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1156F3-7810-4F35-9EC8-716AC872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Horizontal change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933F26-5869-4DCF-9E5D-534661B0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Δx = x₂ − x₁ = 4 − (−2) = 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774175-33B1-45C9-B431-E3ECB43D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Vertical change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8253ED-EC5B-47E9-BE34-2E3B189A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Δy = y₂ − y₁ = 5 − 1 = 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8E9C9C-CFB5-4DA5-A26C-9B499E3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5048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AE7FE7-B34F-4FB5-9658-BDB1B7DB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14850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Keep the endpoint order the same in both differences.</a:t>
            </a:r>
          </a:p>
        </p:txBody>
      </p:sp>
    </p:spTree>
    <p:extLst>
      <p:ext uri="{BB962C8B-B14F-4D97-AF65-F5344CB8AC3E}">
        <p14:creationId xmlns:p14="http://schemas.microsoft.com/office/powerpoint/2010/main" val="9588397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257D3-909E-4CDA-93ED-CCBAE478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7608B-6CE5-4CAA-AB45-2D02DB8D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Distance and midpoint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F53CC-63C4-4708-9265-705F385D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Both formulas begin with the same two endpoints.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80962-539E-40CC-A8C3-0B00F277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29772-840C-4BFB-859A-493D2CC0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F7EEE-7861-4739-9B41-4F99824A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489DC-ABBE-4EBD-AAA3-A9BE1503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7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84FC2-A7AC-46DA-BF01-FB9C36B2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52578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BF694-0CE9-46FD-99C6-A86918BB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DISTANCE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89AC1-AA8C-433C-94A1-02A043A0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d = √((x₂ − x₁)² + (y₂ − y₁)²)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A1A82-D470-4052-B737-2860B68F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4648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Square the coordinate changes, add, then take the square root.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94CE0-FDC5-42FC-8155-F4AB77F7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62100"/>
            <a:ext cx="52578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1D8F1-7268-48D0-A624-2031F7D3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52600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MIDPOINT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97D71-9CF0-418D-A490-AAABA289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(½(x₁ + x₂), ½(y₁ + y₂))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6D425-642D-41C5-B511-8D3D7B6A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4648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Average the x-coordinates and y-coordinates separately.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8B38B-8166-4BB3-BAE5-623179FD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95773-ABBB-4BC0-904E-0AD20AC8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Distance measures length. Midpoint locates the halfway point.</a:t>
            </a:r>
          </a:p>
        </p:txBody>
      </p:sp>
    </p:spTree>
    <p:extLst>
      <p:ext uri="{BB962C8B-B14F-4D97-AF65-F5344CB8AC3E}">
        <p14:creationId xmlns:p14="http://schemas.microsoft.com/office/powerpoint/2010/main" val="864329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569370-5778-4C17-8012-DA787CBC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CCCF3-8D79-4712-A1B8-C5083AA5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331F1-9A78-4C77-8414-C12DBF99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A(−2, 1) and B(4, 5)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1D9C1-7C5D-4CA6-8043-F87A19A3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F6F07-C926-433E-817F-CDCDCAA0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0EE87-573C-446E-9741-566FFE17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7E12B-CB38-4005-9172-C616970E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8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F6E78-EB10-4520-9215-B12E6D84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881BA-E7C1-4EBF-9573-735353F0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1040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Δx = 6       Δy =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129F4-B786-4774-BDD5-A86B77F5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2578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80EBA-6E07-4B35-B5CB-98A88916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Distance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3B838-751E-44AF-A9E4-BD0992C2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47244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d = √(6² + 4²)</a:t>
            </a:r>
          </a:p>
          <a:p xmlns:a="http://schemas.openxmlformats.org/drawingml/2006/main">
            <a:pPr algn="ctr">
              <a:def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d = √52 = 2√13</a:t>
            </a:r>
          </a:p>
          <a:p xmlns:a="http://schemas.openxmlformats.org/drawingml/2006/main">
            <a:pPr algn="ctr">
              <a:def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d ≈ 7.2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2A572-DE67-4E09-AF20-F8983ADE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52578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4A0AE-D6AD-4932-95D1-F130F93E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Midpoint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50A80-62E1-4225-9FD7-4AD42F58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67050"/>
            <a:ext cx="47244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(½(−2 + 4), ½(1 + 5))</a:t>
            </a:r>
          </a:p>
          <a:p xmlns:a="http://schemas.openxmlformats.org/drawingml/2006/main">
            <a:pPr algn="ctr">
              <a:def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(½ · 2, ½ · 6)</a:t>
            </a:r>
          </a:p>
          <a:p xmlns:a="http://schemas.openxmlformats.org/drawingml/2006/main">
            <a:pPr algn="ctr">
              <a:def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(1, 3)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24268-0B7D-49F9-82E7-F2088B03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E45D5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E45D50"/>
                </a:solidFill>
                <a:latin typeface="Arial"/>
                <a:ea typeface="Arial"/>
                <a:cs typeface="Arial"/>
              </a:rPr>
              <a:t>Keep the exact radical unless the prompt requests a decimal.</a:t>
            </a:r>
          </a:p>
        </p:txBody>
      </p:sp>
    </p:spTree>
    <p:extLst>
      <p:ext uri="{BB962C8B-B14F-4D97-AF65-F5344CB8AC3E}">
        <p14:creationId xmlns:p14="http://schemas.microsoft.com/office/powerpoint/2010/main" val="860678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6DA5B-467E-4B8A-A37C-89B0F51C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58853-347E-40DA-8A29-1FDCD739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Distance and midpoint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4E11B-1259-487C-B6A0-D79F1D3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Work independently for 4 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5328A-F949-4627-BCAF-8C2C7E2D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BA63F-F1FA-439F-869B-645E4CC1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6E7DC-BCCC-4551-9799-DF507ACD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E1A52-A96A-405A-B50D-14285E86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9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BF463-F1D7-40E0-9D98-4D484B3D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0553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A819B-D682-4DC1-8E07-FFED873F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005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C(−3, −2) and D(5, 4)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29B18-698E-4C4F-80E1-58168AD9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BAB8C-C5A5-4743-8474-3BF3A2D3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12A40-470E-40FD-AFE6-317A033F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241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Find Δx and Δy.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43B58-4EEB-4BB6-8412-0C5BCDA2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4544A-11BE-495B-98E1-76FE553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31531-FC2D-4C67-BAB1-745E3B34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Find the exact distance and its decimal value.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21806-928A-4B83-BED8-4F660BD6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20851-F3AE-4D10-B30F-6FF57B88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7B3DF-DB49-4490-9E5D-4F8AE1A7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957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Find the midpoint.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CF35B-91C2-4F83-A77D-A3CDA61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055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Reasonableness check: the distance is positive and the midpoint lies between the endpoints.</a:t>
            </a:r>
          </a:p>
        </p:txBody>
      </p:sp>
    </p:spTree>
    <p:extLst>
      <p:ext uri="{BB962C8B-B14F-4D97-AF65-F5344CB8AC3E}">
        <p14:creationId xmlns:p14="http://schemas.microsoft.com/office/powerpoint/2010/main" val="15290746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3959D-E737-4356-8C7B-8906F85D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49165-2408-4430-84CE-DD78841E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Practice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27759-7246-4731-96AE-2F4A55B6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C(−3, −2) and D(5, 4)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3E146-63A6-4B3A-902D-D2D9FD81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DA323-4557-4DF4-ADE0-40632848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6AABF-9782-4CA2-8F91-ED99571F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8ECAB-7107-493E-A87F-D8478E8E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10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55817-00EF-436A-BF41-424DAEC9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10629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75CA0-DC1E-4B08-B772-A9A38641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43050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Δx = 8       Δy = 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312C0-C867-4DDD-BA36-8AC3591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9911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68EDD-7F55-4BFC-B2CA-487F4323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Distance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84830-22DE-47E7-B204-142F2288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4457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d = √(8² + 6²)</a:t>
            </a:r>
          </a:p>
          <a:p xmlns:a="http://schemas.openxmlformats.org/drawingml/2006/main">
            <a:pPr algn="ctr">
              <a:defRPr sz="21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= √100 = 10</a:t>
            </a:r>
          </a:p>
          <a:p xmlns:a="http://schemas.openxmlformats.org/drawingml/2006/main">
            <a:pPr algn="ctr">
              <a:defRPr sz="21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Decimal value: 10.0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3456B-9DAF-40BC-9EA2-1785F772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49911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4CE9B-289A-4020-BFBD-0078D152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098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Midpoint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0D6C6-A254-4D22-8F52-375F10FF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86100"/>
            <a:ext cx="4457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(½(−3 + 5), ½(−2 + 4))</a:t>
            </a:r>
          </a:p>
          <a:p xmlns:a="http://schemas.openxmlformats.org/drawingml/2006/main">
            <a:pPr algn="ctr">
              <a:def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= (½ · 2, ½ · 2)</a:t>
            </a:r>
          </a:p>
          <a:p xmlns:a="http://schemas.openxmlformats.org/drawingml/2006/main">
            <a:pPr algn="ctr">
              <a:def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= (1, 1)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2D912-7A6E-4F24-9529-A53FD38C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Both answers satisfy the reasonableness checks.</a:t>
            </a:r>
          </a:p>
        </p:txBody>
      </p:sp>
    </p:spTree>
    <p:extLst>
      <p:ext uri="{BB962C8B-B14F-4D97-AF65-F5344CB8AC3E}">
        <p14:creationId xmlns:p14="http://schemas.microsoft.com/office/powerpoint/2010/main" val="862128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85D58-A84C-4C84-A44B-5C14B8B9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B0FE3-A901-49F5-8A0C-FC4EDCC4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Slope from two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E9B98-3E7C-47B5-AF14-D1332E3E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A(−2, 1) and B(4, 5)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9EE00-1357-4EC0-B90F-5CB6A8FA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1EF3E-FFE1-4A17-BA58-A3FB733D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62A22-AC94-40E3-98F8-6DE7F870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5BA64-995C-4295-B998-F035F440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11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4CD92-D157-4C59-8E03-1B464E02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B5A8D-74E8-4ADC-A962-7A388799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1040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7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Δy / Δx = (y₂ − y₁) / (x₂ − x₁)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829E7-057F-4BF3-B166-A07F0F4C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E45D5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45D50"/>
                </a:solidFill>
                <a:latin typeface="Arial"/>
                <a:ea typeface="Arial"/>
                <a:cs typeface="Arial"/>
              </a:rPr>
              <a:t>Use the same endpoint order in the numerator and denominator.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4C464-D716-42F3-84F7-9B268B91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76650"/>
            <a:ext cx="8001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19908-5D07-4587-88E2-01992A4B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7467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(5 − 1) / (4 − (−2))</a:t>
            </a:r>
          </a:p>
          <a:p xmlns:a="http://schemas.openxmlformats.org/drawingml/2006/main">
            <a:pPr algn="ctr">
              <a:defRPr sz="25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4 / 6 = 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EB8DC-58C8-4645-839E-667DE66E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Positive slope means the line rises from left to right.</a:t>
            </a:r>
          </a:p>
        </p:txBody>
      </p:sp>
    </p:spTree>
    <p:extLst>
      <p:ext uri="{BB962C8B-B14F-4D97-AF65-F5344CB8AC3E}">
        <p14:creationId xmlns:p14="http://schemas.microsoft.com/office/powerpoint/2010/main" val="20445520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769EE-D446-471A-AFDF-9A740E6C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15665-8531-4331-BF56-2B387854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Horizontal and vertical 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BED04-DB68-4D38-BBD1-889A04CA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The denominator determines whether the slope exists.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46733-DD41-4D46-BADC-14AF36D6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55BC8-58EB-4571-8B3D-661C2825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18901-B454-4795-BFA4-D4515007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7FF58-A075-414D-962C-481F27E3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12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45068-1FB9-45B9-98C3-37A7AD28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5257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BC52E-0C62-428B-85C7-3A54BBDC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Horizontal 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45F65-FB37-4628-80EF-6549F68D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P(−3, 2), Q(5, 2)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74157-7F8B-45DD-A12C-93485C95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4686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Δy = 0</a:t>
            </a:r>
          </a:p>
          <a:p xmlns:a="http://schemas.openxmlformats.org/drawingml/2006/main">
            <a:pPr algn="ctr">
              <a:defRPr sz="21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0 / 8 =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3A87C-8962-44B9-80C7-0719A2AF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77B4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 i="0">
                <a:solidFill>
                  <a:srgbClr val="1777B4"/>
                </a:solidFill>
                <a:latin typeface="Cambria Math"/>
                <a:ea typeface="Cambria Math"/>
                <a:cs typeface="Cambria Math"/>
              </a:rPr>
              <a:t>Equation form: y =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E8855-106E-4618-9A90-DBF1A290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5257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7D5BC-E98D-451D-B252-829D5E44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45D5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45D50"/>
                </a:solidFill>
                <a:latin typeface="Arial"/>
                <a:ea typeface="Arial"/>
                <a:cs typeface="Arial"/>
              </a:rPr>
              <a:t>Vertical 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4B915-F752-4F1F-878E-EB47A7BA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R(4, −2), S(4, 6)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C0F00-F3CF-462E-A7B5-3450888E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686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Δx = 0</a:t>
            </a:r>
          </a:p>
          <a:p xmlns:a="http://schemas.openxmlformats.org/drawingml/2006/main">
            <a:pPr algn="ctr">
              <a:def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8 / 0 is undefined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799EA-5EEB-4DEA-9B1B-62BB77D7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4335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E45D50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 i="0">
                <a:solidFill>
                  <a:srgbClr val="E45D50"/>
                </a:solidFill>
                <a:latin typeface="Cambria Math"/>
                <a:ea typeface="Cambria Math"/>
                <a:cs typeface="Cambria Math"/>
              </a:rPr>
              <a:t>Equation form: x =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E4182-9127-4411-B0BE-9F1B32E2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8A4A6-8948-48B1-B272-5FB49D79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040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A zero numerator gives slope 0. A zero denominator gives undefined slope.</a:t>
            </a:r>
          </a:p>
        </p:txBody>
      </p:sp>
    </p:spTree>
    <p:extLst>
      <p:ext uri="{BB962C8B-B14F-4D97-AF65-F5344CB8AC3E}">
        <p14:creationId xmlns:p14="http://schemas.microsoft.com/office/powerpoint/2010/main" val="9966380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E3174-BEA9-4B01-88A1-625AC24D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01D2D-0DD0-44BE-BE52-E0BA4A31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Equation through two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850CB-7088-4348-8166-869CCA3F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P(−1, 2) and Q(3, 10)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FB08B-6D37-4FDE-9755-7CDDFA51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2D6C1-FF11-42EB-9BDF-A4E97B86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B2298-03FD-48B8-9DB8-6D1BA61A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6FC02-3A98-4344-81F5-6BBA7B59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13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8E7F7-A9C3-4D9D-A74B-425EC348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0BCE3-1FCB-480E-821B-7C06D95E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80055-8928-487D-A835-27526090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382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Slope: m = (10 − 2) / (3 − (−1)) = 8 / 4 =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4A4C7-45C7-4B17-BBAF-321B5C4F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57881-2AB7-4BAA-BD46-83EB6A9D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D5A83-D0B5-43F7-B023-777F4259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764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Point-slope form: y − 2 = 2(x + 1)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BB67E-A078-4333-98E5-ABA6AB4B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E62F4-4A75-4D70-9E75-305D46C2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9B498-60A2-4432-BEED-0EE544F9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146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Slope-intercept form: y = 2x + 4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15FCF-C4F4-4D60-AA5A-80E1F7CB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1047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AD485-BD58-40E8-87DC-63A97DF1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Check both points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A66E4-8893-4963-B02C-13E4EE42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815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2 = 2(−1) + 4       10 = 2(3) + 4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FA2CD-3973-40CF-9FE1-33C4F2CD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994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Each endpoint must satisfy the final equation.</a:t>
            </a:r>
          </a:p>
        </p:txBody>
      </p:sp>
    </p:spTree>
    <p:extLst>
      <p:ext uri="{BB962C8B-B14F-4D97-AF65-F5344CB8AC3E}">
        <p14:creationId xmlns:p14="http://schemas.microsoft.com/office/powerpoint/2010/main" val="3736974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6F74D-DABB-4209-A08C-AEC584BA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4B0A3-2C34-44CF-AF64-B87AAFCA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Line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F0057-2E88-4ED4-A120-7AE27240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Work for 4 minutes. Use R(−2, 5) and S(4, −1).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57D35-BE25-47CE-9BD4-B1C85FD1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A38C8-F23F-4105-BB48-414A85FB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EBB21-70C8-4C16-A1F6-B08800BC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6D105-81D1-435B-99D4-8E86676A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14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46470-C405-4A6C-8EAC-A60F4C67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D13EC-7B58-4E31-AF9C-7AC29181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BC5D9-8041-4DFA-BEFD-22544FB7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525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Find the slope.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37CB3-7EE5-4167-A58E-3010B594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449EC-B5ED-4573-A41E-8D753384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B5291-A2BF-4308-91B9-D96AA5D4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907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Write the equation in slope-intercept form.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52517-E11C-4C25-B22D-1198F32E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2ECC7-4BCF-4905-8323-CEE1EA49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E579ED-73BF-4775-92DE-1AFE747D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289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Find the x-intercept and y-intercept.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DF97E-B9DC-4DF1-A743-B6D899BB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47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9099D-356C-47CF-9FB0-D3859B5C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Intercept method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CBB47-44AB-440E-A296-923AA064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14850"/>
            <a:ext cx="7867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Set y = 0 for the x-intercept. Set x = 0 for the y-intercept.</a:t>
            </a:r>
          </a:p>
        </p:txBody>
      </p:sp>
    </p:spTree>
    <p:extLst>
      <p:ext uri="{BB962C8B-B14F-4D97-AF65-F5344CB8AC3E}">
        <p14:creationId xmlns:p14="http://schemas.microsoft.com/office/powerpoint/2010/main" val="2985649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3E271-4EEA-4008-87DC-EF5A7783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986BF-DFB8-47F3-8999-46442F47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Line practice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67048-53F9-445D-9E15-9B3DC166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R(−2, 5) and S(4, −1)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5A129-5BE7-4547-866E-BD63002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EA7E4-F791-4968-8215-FE5E8169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C2CF3-9E10-4DBA-A48E-8EEEA3B0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B9CF6-2667-44C4-B781-F41F456A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15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10368-407B-488B-AA4D-B650F64E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744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9CAB4-2C6A-4F30-90A3-4DA6FF27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(−1 − 5) / (4 − (−2)) = −6 / 6 = −1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DF77E-E20E-4016-9274-2F8CDAAB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4CA93-38D0-4ED6-95F9-13357D7E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Equation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0FFBE-484E-4E0B-9B20-E496E31B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514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y − 5 = −1(x + 2)</a:t>
            </a:r>
          </a:p>
          <a:p xmlns:a="http://schemas.openxmlformats.org/drawingml/2006/main">
            <a:pPr algn="ctr">
              <a:defRPr sz="23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y = −x + 3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EA408-4B36-45F2-8D80-A6C9CF7D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4A502-C1F7-439E-940D-B830006B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Intercepts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D8506-15E3-49D9-88E8-FA78566E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850"/>
            <a:ext cx="4514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x-intercept: (3, 0)</a:t>
            </a:r>
          </a:p>
          <a:p xmlns:a="http://schemas.openxmlformats.org/drawingml/2006/main">
            <a:pPr algn="ctr">
              <a:defRPr sz="21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y-intercept: (0, 3)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A748E-E7EC-41A5-9B7D-FF3DAEF1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Check: both intercepts satisfy y = −x + 3.</a:t>
            </a:r>
          </a:p>
        </p:txBody>
      </p:sp>
    </p:spTree>
    <p:extLst>
      <p:ext uri="{BB962C8B-B14F-4D97-AF65-F5344CB8AC3E}">
        <p14:creationId xmlns:p14="http://schemas.microsoft.com/office/powerpoint/2010/main" val="19399106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A3561-BAEA-4CE9-A409-9F9D7782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D5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2ECE8-1737-4D5F-9AD6-4988A9A3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Circle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C549B-134B-48C0-829D-34A6E1A2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Identify center and radius from standard form.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EEAC7-42AF-402E-9C54-131CA06F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E45D5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45D50"/>
                </a:solidFill>
                <a:latin typeface="Arial"/>
                <a:ea typeface="Arial"/>
                <a:cs typeface="Arial"/>
              </a:rPr>
              <a:t>PREVIEW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ACCA0-17CC-414F-AF2F-D4DE432E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177B7-793E-454D-AFCA-DCDE8EFE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2E7E9-9DE0-4E91-BABC-37BCC353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16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E3135-7B55-4A75-8D59-1A6329C9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B3E37-506C-4A21-A4C8-97D194CA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1036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(x − h)² + (y − k)² = r²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221DD-C6BF-421C-AB9D-A01035D2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257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379F1-F0E0-4320-A8A9-10399B7E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45D5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45D5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907CE-4C8D-4773-A125-2F178746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(x + 3)² + (y − 2)² = 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CE56A-17D0-4388-A4C8-A8227383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4724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E45D50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 i="0">
                <a:solidFill>
                  <a:srgbClr val="E45D50"/>
                </a:solidFill>
                <a:latin typeface="Cambria Math"/>
                <a:ea typeface="Cambria Math"/>
                <a:cs typeface="Cambria Math"/>
              </a:rPr>
              <a:t>Center: (−3, 2)</a:t>
            </a:r>
          </a:p>
          <a:p xmlns:a="http://schemas.openxmlformats.org/drawingml/2006/main">
            <a:pPr algn="ctr">
              <a:defRPr sz="1875" b="1" i="0">
                <a:solidFill>
                  <a:srgbClr val="E45D50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 i="0">
                <a:solidFill>
                  <a:srgbClr val="E45D50"/>
                </a:solidFill>
                <a:latin typeface="Cambria Math"/>
                <a:ea typeface="Cambria Math"/>
                <a:cs typeface="Cambria Math"/>
              </a:rPr>
              <a:t>Radius: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82306-26D4-4F8A-97D7-CAC6EE5E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5257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462F6-D3F5-49C1-A112-F63DBDF4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43200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QUICK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69683-C098-4A48-9392-6B90B76B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(x − 4)² + (y + 1)² = 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AFC25-CC5B-4F47-BEA1-554A3ED7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4724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Center: ________</a:t>
            </a:r>
          </a:p>
          <a:p xmlns:a="http://schemas.openxmlformats.org/drawingml/2006/main">
            <a:pPr algn="ctr">
              <a:defRPr sz="18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Radius: 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335B8-9FB0-4084-9E39-D19746C6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45D5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45D50"/>
                </a:solidFill>
                <a:latin typeface="Arial"/>
                <a:ea typeface="Arial"/>
                <a:cs typeface="Arial"/>
              </a:rPr>
              <a:t>Read the center using opposite signs inside the parentheses. Radius is the positive square root of r².</a:t>
            </a:r>
          </a:p>
        </p:txBody>
      </p:sp>
    </p:spTree>
    <p:extLst>
      <p:ext uri="{BB962C8B-B14F-4D97-AF65-F5344CB8AC3E}">
        <p14:creationId xmlns:p14="http://schemas.microsoft.com/office/powerpoint/2010/main" val="8755179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72FF8-4779-4928-9D3F-5052E19B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EA193-952C-4F7D-A473-4080AA5E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Exit ticket and ALEKS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C7C2B-D54C-413B-B67B-B6300427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Complete the response before leaving.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860DE-135A-40E9-97E7-E8BD790C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9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42338-90EA-42FD-BCBE-BDCB0EAF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F5DD1-977C-481F-AB59-903A906B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EE0A4-DCEE-4889-9AAF-B640E509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17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F97E6-348B-4F52-9CAC-3B7D4DD2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DBB78-C12A-4213-B6A1-ED130D63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F80F0-95B3-488D-8B10-364A59DE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For T(−4, 6) and U(2, −2), find the midpoint and slope.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1A29A-6DCC-4DAE-B6F5-424398E1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49D6B-51F1-461C-8962-A5D79C22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47FE3-F527-49F2-B606-E72FE88D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146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Continue Sections 2.1, 2.2, and 2.4 in ALEKS.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2DCBC-9BD2-43CA-97C0-9BC96DBC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488DE-693A-4894-8172-2FC77CDE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D1416-A90D-44CF-8670-1DB0EF75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95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Finish distance and midpoint before moving to circle equations.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712B7-12B4-46D8-8BDF-F70B43EA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7401B-18D2-4A17-B910-EEED72AD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D7A60-1479-464F-AB1B-ED8689DA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Check Canvas for the exact Quiz 3 deadline.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A786B-8731-49E3-9D6A-CBDD6286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47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11D9D-F829-463F-AEE2-11640FAF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Exit key for discussion: midpoint (−1, 2), slope −4/3</a:t>
            </a:r>
          </a:p>
        </p:txBody>
      </p:sp>
    </p:spTree>
    <p:extLst>
      <p:ext uri="{BB962C8B-B14F-4D97-AF65-F5344CB8AC3E}">
        <p14:creationId xmlns:p14="http://schemas.microsoft.com/office/powerpoint/2010/main" val="1427675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2026-09-09T19:56:38.2900000Z</dcterms:created>
  <dcterms:modified xsi:type="dcterms:W3CDTF">2026-09-09T19:56:38.2900000Z</dcterms:modified>
</coreProperties>
</file>