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3c9216446264e2e" /><Relationship Type="http://schemas.openxmlformats.org/officeDocument/2006/relationships/extended-properties" Target="/docProps/app.xml" Id="R2524fbbede5c43ed" /><Relationship Type="http://schemas.openxmlformats.org/officeDocument/2006/relationships/officeDocument" Target="/ppt/presentation.xml" Id="R8cc08150b00b4964" /></Relationships>
</file>

<file path=ppt/presentation.xml><?xml version="1.0" encoding="utf-8"?>
<p:presentation xmlns:p="http://schemas.openxmlformats.org/presentationml/2006/main">
  <p:sldMasterIdLst>
    <p:sldMasterId xmlns:r="http://schemas.openxmlformats.org/officeDocument/2006/relationships" id="2147483648" r:id="Rf4604190b02e4904"/>
  </p:sldMasterIdLst>
  <p:notesMasterIdLst>
    <p:notesMasterId xmlns:r="http://schemas.openxmlformats.org/officeDocument/2006/relationships" r:id="R89ffaf50f5fa46ee"/>
  </p:notesMasterIdLst>
  <p:sldIdLst>
    <p:sldId xmlns:r="http://schemas.openxmlformats.org/officeDocument/2006/relationships" id="256" r:id="Rdd797ad9dc3a444f"/>
    <p:sldId xmlns:r="http://schemas.openxmlformats.org/officeDocument/2006/relationships" id="257" r:id="R726795e409934142"/>
    <p:sldId xmlns:r="http://schemas.openxmlformats.org/officeDocument/2006/relationships" id="258" r:id="Rc929941d884f4c7a"/>
    <p:sldId xmlns:r="http://schemas.openxmlformats.org/officeDocument/2006/relationships" id="259" r:id="Rcf5dd25b413c4173"/>
    <p:sldId xmlns:r="http://schemas.openxmlformats.org/officeDocument/2006/relationships" id="260" r:id="Rf1a511e045524d3b"/>
    <p:sldId xmlns:r="http://schemas.openxmlformats.org/officeDocument/2006/relationships" id="261" r:id="Ra99bbcb761ec4a00"/>
    <p:sldId xmlns:r="http://schemas.openxmlformats.org/officeDocument/2006/relationships" id="262" r:id="Rfd8baf7680214ffd"/>
    <p:sldId xmlns:r="http://schemas.openxmlformats.org/officeDocument/2006/relationships" id="263" r:id="Re84618bfbe374c90"/>
    <p:sldId xmlns:r="http://schemas.openxmlformats.org/officeDocument/2006/relationships" id="264" r:id="R625696f9040f4838"/>
    <p:sldId xmlns:r="http://schemas.openxmlformats.org/officeDocument/2006/relationships" id="265" r:id="R6ce2f8b7133c4c21"/>
    <p:sldId xmlns:r="http://schemas.openxmlformats.org/officeDocument/2006/relationships" id="266" r:id="R9c046934dbd2456e"/>
    <p:sldId xmlns:r="http://schemas.openxmlformats.org/officeDocument/2006/relationships" id="267" r:id="R5e389b3f738e41e2"/>
    <p:sldId xmlns:r="http://schemas.openxmlformats.org/officeDocument/2006/relationships" id="268" r:id="R13d4671f2bfe4b67"/>
    <p:sldId xmlns:r="http://schemas.openxmlformats.org/officeDocument/2006/relationships" id="269" r:id="Rb23be26478174e6e"/>
    <p:sldId xmlns:r="http://schemas.openxmlformats.org/officeDocument/2006/relationships" id="270" r:id="R4e5572ad8c1b441e"/>
    <p:sldId xmlns:r="http://schemas.openxmlformats.org/officeDocument/2006/relationships" id="271" r:id="R3142ed9c5b1241bf"/>
    <p:sldId xmlns:r="http://schemas.openxmlformats.org/officeDocument/2006/relationships" id="272" r:id="R16d935fd8ed84ab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1caaa6b48a1402b" /><Relationship Type="http://schemas.openxmlformats.org/officeDocument/2006/relationships/slideMaster" Target="/ppt/slideMasters/slideMaster1.xml" Id="Rf4604190b02e4904" /><Relationship Type="http://schemas.openxmlformats.org/officeDocument/2006/relationships/notesMaster" Target="/ppt/notesMasters/notesMaster1.xml" Id="R89ffaf50f5fa46ee" /><Relationship Type="http://schemas.openxmlformats.org/officeDocument/2006/relationships/presProps" Target="/ppt/presProps.xml" Id="Ra35c5c9f61204f9c" /><Relationship Type="http://schemas.openxmlformats.org/officeDocument/2006/relationships/tableStyles" Target="/ppt/tableStyles.xml" Id="R897b6ca530564388" /><Relationship Type="http://schemas.openxmlformats.org/officeDocument/2006/relationships/slide" Target="/ppt/slides/slide1.xml" Id="Rdd797ad9dc3a444f" /><Relationship Type="http://schemas.openxmlformats.org/officeDocument/2006/relationships/slide" Target="/ppt/slides/slide2.xml" Id="R726795e409934142" /><Relationship Type="http://schemas.openxmlformats.org/officeDocument/2006/relationships/slide" Target="/ppt/slides/slide3.xml" Id="Rc929941d884f4c7a" /><Relationship Type="http://schemas.openxmlformats.org/officeDocument/2006/relationships/slide" Target="/ppt/slides/slide4.xml" Id="Rcf5dd25b413c4173" /><Relationship Type="http://schemas.openxmlformats.org/officeDocument/2006/relationships/slide" Target="/ppt/slides/slide5.xml" Id="Rf1a511e045524d3b" /><Relationship Type="http://schemas.openxmlformats.org/officeDocument/2006/relationships/slide" Target="/ppt/slides/slide6.xml" Id="Ra99bbcb761ec4a00" /><Relationship Type="http://schemas.openxmlformats.org/officeDocument/2006/relationships/slide" Target="/ppt/slides/slide7.xml" Id="Rfd8baf7680214ffd" /><Relationship Type="http://schemas.openxmlformats.org/officeDocument/2006/relationships/slide" Target="/ppt/slides/slide8.xml" Id="Re84618bfbe374c90" /><Relationship Type="http://schemas.openxmlformats.org/officeDocument/2006/relationships/slide" Target="/ppt/slides/slide9.xml" Id="R625696f9040f4838" /><Relationship Type="http://schemas.openxmlformats.org/officeDocument/2006/relationships/slide" Target="/ppt/slides/slide10.xml" Id="R6ce2f8b7133c4c21" /><Relationship Type="http://schemas.openxmlformats.org/officeDocument/2006/relationships/slide" Target="/ppt/slides/slide11.xml" Id="R9c046934dbd2456e" /><Relationship Type="http://schemas.openxmlformats.org/officeDocument/2006/relationships/slide" Target="/ppt/slides/slide12.xml" Id="R5e389b3f738e41e2" /><Relationship Type="http://schemas.openxmlformats.org/officeDocument/2006/relationships/slide" Target="/ppt/slides/slide13.xml" Id="R13d4671f2bfe4b67" /><Relationship Type="http://schemas.openxmlformats.org/officeDocument/2006/relationships/slide" Target="/ppt/slides/slide14.xml" Id="Rb23be26478174e6e" /><Relationship Type="http://schemas.openxmlformats.org/officeDocument/2006/relationships/slide" Target="/ppt/slides/slide15.xml" Id="R4e5572ad8c1b441e" /><Relationship Type="http://schemas.openxmlformats.org/officeDocument/2006/relationships/slide" Target="/ppt/slides/slide16.xml" Id="R3142ed9c5b1241bf" /><Relationship Type="http://schemas.openxmlformats.org/officeDocument/2006/relationships/slide" Target="/ppt/slides/slide17.xml" Id="R16d935fd8ed84ab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2e5607c68fe46a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c5a35ed33d7418f" /><Relationship Type="http://schemas.openxmlformats.org/officeDocument/2006/relationships/notesMaster" Target="/ppt/notesMasters/notesMaster1.xml" Id="R56205ea8dee149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e759795a8fdc4a8b" /><Relationship Type="http://schemas.openxmlformats.org/officeDocument/2006/relationships/notesMaster" Target="/ppt/notesMasters/notesMaster1.xml" Id="Re6efbee4b73c49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64ea4c24450d4aff" /><Relationship Type="http://schemas.openxmlformats.org/officeDocument/2006/relationships/notesMaster" Target="/ppt/notesMasters/notesMaster1.xml" Id="R3941c5dd9f0d44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b250154dd6465d" /><Relationship Type="http://schemas.openxmlformats.org/officeDocument/2006/relationships/notesMaster" Target="/ppt/notesMasters/notesMaster1.xml" Id="R270a4c1d45d846bb"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92acbb22df4e76" /><Relationship Type="http://schemas.openxmlformats.org/officeDocument/2006/relationships/notesMaster" Target="/ppt/notesMasters/notesMaster1.xml" Id="R795ffe950b364f12" /></Relationships>
</file>

<file path=ppt/notesSlides/_rels/notesSlide6.xml.rels>&#65279;<?xml version="1.0" encoding="utf-8"?><Relationships xmlns="http://schemas.openxmlformats.org/package/2006/relationships"><Relationship Type="http://schemas.openxmlformats.org/officeDocument/2006/relationships/slide" Target="/ppt/slides/slide6.xml" Id="R52f0ba14958c4d55" /><Relationship Type="http://schemas.openxmlformats.org/officeDocument/2006/relationships/notesMaster" Target="/ppt/notesMasters/notesMaster1.xml" Id="Ra59546892a374cf6" /></Relationships>
</file>

<file path=ppt/notesSlides/_rels/notesSlide7.xml.rels>&#65279;<?xml version="1.0" encoding="utf-8"?><Relationships xmlns="http://schemas.openxmlformats.org/package/2006/relationships"><Relationship Type="http://schemas.openxmlformats.org/officeDocument/2006/relationships/slide" Target="/ppt/slides/slide7.xml" Id="Rd1d5f58c7e1441fe" /><Relationship Type="http://schemas.openxmlformats.org/officeDocument/2006/relationships/notesMaster" Target="/ppt/notesMasters/notesMaster1.xml" Id="R801e3745579446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7b601ff435244ef3" /><Relationship Type="http://schemas.openxmlformats.org/officeDocument/2006/relationships/notesMaster" Target="/ppt/notesMasters/notesMaster1.xml" Id="Rc2c58c54dfe244f2" /></Relationships>
</file>

<file path=ppt/notesSlides/_rels/notesSlide9.xml.rels>&#65279;<?xml version="1.0" encoding="utf-8"?><Relationships xmlns="http://schemas.openxmlformats.org/package/2006/relationships"><Relationship Type="http://schemas.openxmlformats.org/officeDocument/2006/relationships/slide" Target="/ppt/slides/slide9.xml" Id="R9cd85715bf32463d" /><Relationship Type="http://schemas.openxmlformats.org/officeDocument/2006/relationships/notesMaster" Target="/ppt/notesMasters/notesMaster1.xml" Id="R14c8e21fb026478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770627db16a4459" /><Relationship Type="http://schemas.openxmlformats.org/officeDocument/2006/relationships/notesMaster" Target="/ppt/notesMasters/notesMaster1.xml" Id="R673db4d65d9a4d8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4efee43479f48dc" /><Relationship Type="http://schemas.openxmlformats.org/officeDocument/2006/relationships/notesMaster" Target="/ppt/notesMasters/notesMaster1.xml" Id="Rd96c266e3d85497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19869b28ad41c8" /><Relationship Type="http://schemas.openxmlformats.org/officeDocument/2006/relationships/notesMaster" Target="/ppt/notesMasters/notesMaster1.xml" Id="R4b975cf1cd24462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f6a8e40ec8d4d90" /><Relationship Type="http://schemas.openxmlformats.org/officeDocument/2006/relationships/notesMaster" Target="/ppt/notesMasters/notesMaster1.xml" Id="Rf76a49a4b0f94e0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49a10e3d70b43eb" /><Relationship Type="http://schemas.openxmlformats.org/officeDocument/2006/relationships/notesMaster" Target="/ppt/notesMasters/notesMaster1.xml" Id="R21d5ec1b504147c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4aa02aebfe14a08" /><Relationship Type="http://schemas.openxmlformats.org/officeDocument/2006/relationships/notesMaster" Target="/ppt/notesMasters/notesMaster1.xml" Id="R6d15bd7971ce451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e55b4784b9e4d5e" /><Relationship Type="http://schemas.openxmlformats.org/officeDocument/2006/relationships/notesMaster" Target="/ppt/notesMasters/notesMaster1.xml" Id="R9b2b1f2add02467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64fe721ad3646c0" /><Relationship Type="http://schemas.openxmlformats.org/officeDocument/2006/relationships/notesMaster" Target="/ppt/notesMasters/notesMaster1.xml" Id="Rffda2e6fe8ca46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3:15–3:16. Open with today’s focus. This class contains new instruction and practice for the current ALEKS module. It does not repeat Quiz 2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3:16–3:17. Preview the timing. The first three minutes introduce the updated MATH 130 course site and the Unit 1C route. Protect the practice blocks and the final three minutes for the exit ticket and next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3:17–3:18. Open andrewhvolk.github.io/courses/math130.html. The updated dashboard puts Unit 1C first. Point out Plan, Learn, Practice, and Progress. Students should complete ALEKS Sections 2.1, 2.2, and 2.4 through Canvas, then use the Unit 1C practice and checkpoint before Quiz 3 on Tuesday, September 16. The chart still reflects the September 9 ALEKS report. Canvas remains the master source for dates and coverage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3:18–3:22. Give four minutes of individual work. Use the responses to decide how much time to spend on signs and substitution.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3:22–3:23. Check quickly. Reinforce coordinate signs and the meaning of a solution to a two-variable equation.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3:23–3:26. Build the horizontal and vertical changes from the diagram. Ask why switching endpoint order in only one difference causes trouble.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3:26–3:30. Connect the distance formula to the right triangle on the previous slide. Read the midpoint formula as two coordinate averages.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3:30–3:35. Work the exact distance first, simplify the radical, then round to the nearest tenth. Ask students to explain why (1, 3) lies between the endpoint coordinates.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3:35–3:39. Give four minutes. Prompt with the coordinate changes if students stall. Require the exact form before the decimal.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3:39–3:41. Compare each line. Address sign errors before moving to slope.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3:41–3:45. Reuse Δx = 6 and Δy = 4. Emphasize that slope is a signed ratio, while distance uses squares and cannot be negative.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3:45–3:48. Contrast zero in the numerator with zero in the denominator. Connect each special case to its equation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3:48–3:52. Model the three-step process: slope, point-slope form, then slope-intercept form. Substitute both endpoints as a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3:52–3:56. Give four minutes. Require a slope calculation and one point-slope line before simplifying.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3:56–3:58. Check the slope sign first, then the equation and intercepts. Ask students to substitute one endpoint and one intercept.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3:58–4:02. Model the first circle. Poll the quick check: center (4, −1), radius 3. Keep this as a preview so students can enter the ALEKS circle work with a usable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4:02–4:05. Collect the exit response or check it at the door. Midpoint = (−1, 2), slope = −4/3. Then return students to the MATH 130 dashboard: continue Unit 1C, finish ALEKS Sections 2.1, 2.2, and 2.4, and use the Unit 1C practice and checkpoint before Quiz 3. Canvas remains the master source for the deadline.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a8bf6976c494e0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417eb99366544cc" /><Relationship Type="http://schemas.openxmlformats.org/officeDocument/2006/relationships/slideLayout" Target="/ppt/slideLayouts/slideLayout1.xml" Id="R348ce9d10b94410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8ce9d10b94410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9c9692f4934092" /><Relationship Type="http://schemas.openxmlformats.org/officeDocument/2006/relationships/notesSlide" Target="/ppt/notesSlides/notesSlide1.xml" Id="R6468f676755b4ee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2f3eac44c884c28" /><Relationship Type="http://schemas.openxmlformats.org/officeDocument/2006/relationships/notesSlide" Target="/ppt/notesSlides/notesSlide2.xml" Id="R1ffa9e75542744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d402184ecbd415a" /><Relationship Type="http://schemas.openxmlformats.org/officeDocument/2006/relationships/chart" Target="/ppt/slides/charts/chart1.xml" Id="Rb8e405e4d852400f" /><Relationship Type="http://schemas.openxmlformats.org/officeDocument/2006/relationships/notesSlide" Target="/ppt/notesSlides/notesSlide3.xml" Id="R6379ac733144446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1ce08a1cb7048f2" /><Relationship Type="http://schemas.openxmlformats.org/officeDocument/2006/relationships/notesSlide" Target="/ppt/notesSlides/notesSlide4.xml" Id="Rd20132b859374db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d393e25467c457c" /><Relationship Type="http://schemas.openxmlformats.org/officeDocument/2006/relationships/notesSlide" Target="/ppt/notesSlides/notesSlide5.xml" Id="R3797e9f0a6694c7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4f199a7c820483a" /><Relationship Type="http://schemas.openxmlformats.org/officeDocument/2006/relationships/notesSlide" Target="/ppt/notesSlides/notesSlide6.xml" Id="Rf3888dffafce461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4666869aebb4c59" /><Relationship Type="http://schemas.openxmlformats.org/officeDocument/2006/relationships/notesSlide" Target="/ppt/notesSlides/notesSlide7.xml" Id="R0263bcc17cf04b6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f44be31e6884535" /><Relationship Type="http://schemas.openxmlformats.org/officeDocument/2006/relationships/notesSlide" Target="/ppt/notesSlides/notesSlide8.xml" Id="Rbed5a8288eae42e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f0179b5f6744885" /><Relationship Type="http://schemas.openxmlformats.org/officeDocument/2006/relationships/notesSlide" Target="/ppt/notesSlides/notesSlide9.xml" Id="Ra67a42f858664c2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ed3245e21c74371" /><Relationship Type="http://schemas.openxmlformats.org/officeDocument/2006/relationships/notesSlide" Target="/ppt/notesSlides/notesSlide10.xml" Id="R01228d5538b745d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d5e6621092d4c23" /><Relationship Type="http://schemas.openxmlformats.org/officeDocument/2006/relationships/notesSlide" Target="/ppt/notesSlides/notesSlide11.xml" Id="R00725e2f22764b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18d4cf685b54dd4" /><Relationship Type="http://schemas.openxmlformats.org/officeDocument/2006/relationships/notesSlide" Target="/ppt/notesSlides/notesSlide12.xml" Id="Ra244ceac56d3486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b7712fcb8fa4fdc" /><Relationship Type="http://schemas.openxmlformats.org/officeDocument/2006/relationships/notesSlide" Target="/ppt/notesSlides/notesSlide13.xml" Id="R635bbb8978694d7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58fa291adcc452f" /><Relationship Type="http://schemas.openxmlformats.org/officeDocument/2006/relationships/notesSlide" Target="/ppt/notesSlides/notesSlide14.xml" Id="R3902d41759a640d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3bae8ac332e494b" /><Relationship Type="http://schemas.openxmlformats.org/officeDocument/2006/relationships/notesSlide" Target="/ppt/notesSlides/notesSlide15.xml" Id="R5a487732d4a4406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cf84e7d62dd4ab5" /><Relationship Type="http://schemas.openxmlformats.org/officeDocument/2006/relationships/notesSlide" Target="/ppt/notesSlides/notesSlide16.xml" Id="R6d4fe39f0b194cd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1bec79204f54f0a" /><Relationship Type="http://schemas.openxmlformats.org/officeDocument/2006/relationships/notesSlide" Target="/ppt/notesSlides/notesSlide17.xml" Id="R89e512daf17141e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Ready to learn</c:v>
          </c:tx>
          <c:spPr>
            <a:solidFill xmlns:a="http://schemas.openxmlformats.org/drawingml/2006/main">
              <a:srgbClr val="1777B4"/>
            </a:solidFill>
          </c:spPr>
          <c:cat>
            <c:strRef>
              <c:f>'Chart Data'!$A$2:$A$6</c:f>
              <c:strCache>
                <c:ptCount val="5"/>
                <c:pt idx="0">
                  <c:v>Exact distance</c:v>
                </c:pt>
                <c:pt idx="1">
                  <c:v>Decimal distance</c:v>
                </c:pt>
                <c:pt idx="2">
                  <c:v>Midpoint</c:v>
                </c:pt>
                <c:pt idx="3">
                  <c:v>Advanced intercepts</c:v>
                </c:pt>
                <c:pt idx="4">
                  <c:v>Circle center and radius</c:v>
                </c:pt>
              </c:strCache>
            </c:strRef>
          </c:cat>
          <c:val>
            <c:numRef>
              <c:f>'Chart Data'!$B$2:$B$6</c:f>
              <c:numCache>
                <c:formatCode>General</c:formatCode>
                <c:ptCount val="5"/>
                <c:pt idx="0">
                  <c:v>85</c:v>
                </c:pt>
                <c:pt idx="1">
                  <c:v>73</c:v>
                </c:pt>
                <c:pt idx="2">
                  <c:v>66</c:v>
                </c:pt>
                <c:pt idx="3">
                  <c:v>56</c:v>
                </c:pt>
                <c:pt idx="4">
                  <c:v>49</c:v>
                </c:pt>
              </c:numCache>
            </c:numRef>
          </c:val>
        </c:ser>
        <c:dLbls>
          <c:txPr>
            <a:bodyPr xmlns:a="http://schemas.openxmlformats.org/drawingml/2006/main" anchorCtr="1"/>
            <a:lstStyle xmlns:a="http://schemas.openxmlformats.org/drawingml/2006/main"/>
            <a:p xmlns:a="http://schemas.openxmlformats.org/drawingml/2006/main">
              <a:pPr>
                <a:defRPr sz="975" b="1">
                  <a:solidFill>
                    <a:srgbClr val="193B55"/>
                  </a:solidFill>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666666"/>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F4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B5E03BC-4B60-4740-B753-A6A9002445D2}"/>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168A6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F8B1C4-9496-4F7C-988C-2A9FEEAD3B57}"/>
              </a:ext>
            </a:extLst>
          </p:cNvPr>
          <p:cNvSpPr>
            <a:spLocks xmlns:a="http://schemas.openxmlformats.org/drawingml/2006/main" noGrp="1"/>
          </p:cNvSpPr>
          <p:nvPr/>
        </p:nvSpPr>
        <p:spPr>
          <a:xfrm xmlns:a="http://schemas.openxmlformats.org/drawingml/2006/main">
            <a:off x="666750" y="514350"/>
            <a:ext cx="228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050" b="1" i="0">
                <a:solidFill>
                  <a:srgbClr val="168A6B"/>
                </a:solidFill>
                <a:latin typeface="Arial"/>
                <a:ea typeface="Arial"/>
                <a:cs typeface="Arial"/>
              </a:defRPr>
            </a:pPr>
            <a:r>
              <a:rPr sz="1050" b="1" i="0">
                <a:solidFill>
                  <a:srgbClr val="168A6B"/>
                </a:solidFill>
                <a:latin typeface="Arial"/>
                <a:ea typeface="Arial"/>
                <a:cs typeface="Arial"/>
              </a:rPr>
              <a:t>MATH 130</a:t>
            </a:r>
          </a:p>
        </p:txBody>
      </p:sp>
      <p:sp>
        <p:nvSpPr>
          <p:cNvPr id="3" name="">
            <a:extLst xmlns:a="http://schemas.openxmlformats.org/drawingml/2006/main">
              <a:ext uri="{FF2B5EF4-FFF2-40B4-BE49-F238E27FC236}">
                <a16:creationId xmlns:a16="http://schemas.microsoft.com/office/drawing/2014/main" id="{58DDB132-B456-413A-90E8-E57A4F79A203}"/>
              </a:ext>
            </a:extLst>
          </p:cNvPr>
          <p:cNvSpPr>
            <a:spLocks xmlns:a="http://schemas.openxmlformats.org/drawingml/2006/main" noGrp="1"/>
          </p:cNvSpPr>
          <p:nvPr/>
        </p:nvSpPr>
        <p:spPr>
          <a:xfrm xmlns:a="http://schemas.openxmlformats.org/drawingml/2006/main">
            <a:off x="666750" y="1352550"/>
            <a:ext cx="8572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3600" b="1" i="0">
                <a:solidFill>
                  <a:srgbClr val="FFFFFF"/>
                </a:solidFill>
                <a:latin typeface="Arial"/>
                <a:ea typeface="Arial"/>
                <a:cs typeface="Arial"/>
              </a:defRPr>
            </a:pPr>
            <a:r>
              <a:rPr sz="3600" b="1" i="0">
                <a:solidFill>
                  <a:srgbClr val="FFFFFF"/>
                </a:solidFill>
                <a:latin typeface="Arial"/>
                <a:ea typeface="Arial"/>
                <a:cs typeface="Arial"/>
              </a:rPr>
              <a:t>Coordinate geometry</a:t>
            </a:r>
          </a:p>
        </p:txBody>
      </p:sp>
      <p:sp>
        <p:nvSpPr>
          <p:cNvPr id="4" name="">
            <a:extLst xmlns:a="http://schemas.openxmlformats.org/drawingml/2006/main">
              <a:ext uri="{FF2B5EF4-FFF2-40B4-BE49-F238E27FC236}">
                <a16:creationId xmlns:a16="http://schemas.microsoft.com/office/drawing/2014/main" id="{5F000D1A-B9F9-4A49-807A-63CED38FEBFF}"/>
              </a:ext>
            </a:extLst>
          </p:cNvPr>
          <p:cNvSpPr>
            <a:spLocks xmlns:a="http://schemas.openxmlformats.org/drawingml/2006/main" noGrp="1"/>
          </p:cNvSpPr>
          <p:nvPr/>
        </p:nvSpPr>
        <p:spPr>
          <a:xfrm xmlns:a="http://schemas.openxmlformats.org/drawingml/2006/main">
            <a:off x="666750" y="207645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800" b="0" i="0">
                <a:solidFill>
                  <a:srgbClr val="D6E4EC"/>
                </a:solidFill>
                <a:latin typeface="Arial"/>
                <a:ea typeface="Arial"/>
                <a:cs typeface="Arial"/>
              </a:defRPr>
            </a:pPr>
            <a:r>
              <a:rPr sz="1800" b="0" i="0">
                <a:solidFill>
                  <a:srgbClr val="D6E4EC"/>
                </a:solidFill>
                <a:latin typeface="Arial"/>
                <a:ea typeface="Arial"/>
                <a:cs typeface="Arial"/>
              </a:rPr>
              <a:t>Distance, midpoint, slope, lines, and circles</a:t>
            </a:r>
          </a:p>
        </p:txBody>
      </p:sp>
      <p:sp>
        <p:nvSpPr>
          <p:cNvPr id="5" name="">
            <a:extLst xmlns:a="http://schemas.openxmlformats.org/drawingml/2006/main">
              <a:ext uri="{FF2B5EF4-FFF2-40B4-BE49-F238E27FC236}">
                <a16:creationId xmlns:a16="http://schemas.microsoft.com/office/drawing/2014/main" id="{B88818FD-3D18-423F-A1DB-1A11FD5F3923}"/>
              </a:ext>
            </a:extLst>
          </p:cNvPr>
          <p:cNvSpPr>
            <a:spLocks xmlns:a="http://schemas.openxmlformats.org/drawingml/2006/main" noGrp="1"/>
          </p:cNvSpPr>
          <p:nvPr/>
        </p:nvSpPr>
        <p:spPr>
          <a:xfrm xmlns:a="http://schemas.openxmlformats.org/drawingml/2006/main">
            <a:off x="666750" y="2952750"/>
            <a:ext cx="6667500" cy="19050"/>
          </a:xfrm>
          <a:prstGeom xmlns:a="http://schemas.openxmlformats.org/drawingml/2006/main" prst="rect">
            <a:avLst/>
          </a:prstGeom>
          <a:solidFill xmlns:a="http://schemas.openxmlformats.org/drawingml/2006/main">
            <a:srgbClr val="2D5978"/>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781B768-1BBE-4E0A-BC14-F171EA6494BC}"/>
              </a:ext>
            </a:extLst>
          </p:cNvPr>
          <p:cNvSpPr>
            <a:spLocks xmlns:a="http://schemas.openxmlformats.org/drawingml/2006/main" noGrp="1"/>
          </p:cNvSpPr>
          <p:nvPr/>
        </p:nvSpPr>
        <p:spPr>
          <a:xfrm xmlns:a="http://schemas.openxmlformats.org/drawingml/2006/main">
            <a:off x="666750" y="331470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650" b="1" i="0">
                <a:solidFill>
                  <a:srgbClr val="FFFFFF"/>
                </a:solidFill>
                <a:latin typeface="Arial"/>
                <a:ea typeface="Arial"/>
                <a:cs typeface="Arial"/>
              </a:defRPr>
            </a:pPr>
            <a:r>
              <a:rPr sz="1650" b="1" i="0">
                <a:solidFill>
                  <a:srgbClr val="FFFFFF"/>
                </a:solidFill>
                <a:latin typeface="Arial"/>
                <a:ea typeface="Arial"/>
                <a:cs typeface="Arial"/>
              </a:rPr>
              <a:t>Friday, September 11, 2026</a:t>
            </a:r>
          </a:p>
          <a:p xmlns:a="http://schemas.openxmlformats.org/drawingml/2006/main">
            <a:pPr algn="l">
              <a:buNone/>
              <a:defRPr sz="1650" b="1" i="0">
                <a:solidFill>
                  <a:srgbClr val="FFFFFF"/>
                </a:solidFill>
                <a:latin typeface="Arial"/>
                <a:ea typeface="Arial"/>
                <a:cs typeface="Arial"/>
              </a:defRPr>
            </a:pPr>
            <a:r>
              <a:rPr sz="1650" b="1" i="0">
                <a:solidFill>
                  <a:srgbClr val="FFFFFF"/>
                </a:solidFill>
                <a:latin typeface="Arial"/>
                <a:ea typeface="Arial"/>
                <a:cs typeface="Arial"/>
              </a:rPr>
              <a:t>3:15–4:05 PM</a:t>
            </a:r>
          </a:p>
        </p:txBody>
      </p:sp>
      <p:sp>
        <p:nvSpPr>
          <p:cNvPr id="7" name="">
            <a:extLst xmlns:a="http://schemas.openxmlformats.org/drawingml/2006/main">
              <a:ext uri="{FF2B5EF4-FFF2-40B4-BE49-F238E27FC236}">
                <a16:creationId xmlns:a16="http://schemas.microsoft.com/office/drawing/2014/main" id="{5EED8DE1-0506-48EB-844E-764B2F06D75A}"/>
              </a:ext>
            </a:extLst>
          </p:cNvPr>
          <p:cNvSpPr>
            <a:spLocks xmlns:a="http://schemas.openxmlformats.org/drawingml/2006/main" noGrp="1"/>
          </p:cNvSpPr>
          <p:nvPr/>
        </p:nvSpPr>
        <p:spPr>
          <a:xfrm xmlns:a="http://schemas.openxmlformats.org/drawingml/2006/main">
            <a:off x="9525000" y="1466850"/>
            <a:ext cx="1524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4500" b="1" i="0">
                <a:solidFill>
                  <a:srgbClr val="168A6B"/>
                </a:solidFill>
                <a:latin typeface="Arial"/>
                <a:ea typeface="Arial"/>
                <a:cs typeface="Arial"/>
              </a:defRPr>
            </a:pPr>
            <a:r>
              <a:rPr sz="4500" b="1" i="0">
                <a:solidFill>
                  <a:srgbClr val="168A6B"/>
                </a:solidFill>
                <a:latin typeface="Arial"/>
                <a:ea typeface="Arial"/>
                <a:cs typeface="Arial"/>
              </a:rPr>
              <a:t>2.1</a:t>
            </a:r>
          </a:p>
        </p:txBody>
      </p:sp>
      <p:sp>
        <p:nvSpPr>
          <p:cNvPr id="8" name="">
            <a:extLst xmlns:a="http://schemas.openxmlformats.org/drawingml/2006/main">
              <a:ext uri="{FF2B5EF4-FFF2-40B4-BE49-F238E27FC236}">
                <a16:creationId xmlns:a16="http://schemas.microsoft.com/office/drawing/2014/main" id="{9F1CEC59-879F-47E6-824E-8D378BE9E4A6}"/>
              </a:ext>
            </a:extLst>
          </p:cNvPr>
          <p:cNvSpPr>
            <a:spLocks xmlns:a="http://schemas.openxmlformats.org/drawingml/2006/main" noGrp="1"/>
          </p:cNvSpPr>
          <p:nvPr/>
        </p:nvSpPr>
        <p:spPr>
          <a:xfrm xmlns:a="http://schemas.openxmlformats.org/drawingml/2006/main">
            <a:off x="9429750" y="2133600"/>
            <a:ext cx="1714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800" b="1" i="0">
                <a:solidFill>
                  <a:srgbClr val="F4B52A"/>
                </a:solidFill>
                <a:latin typeface="Arial"/>
                <a:ea typeface="Arial"/>
                <a:cs typeface="Arial"/>
              </a:defRPr>
            </a:pPr>
            <a:r>
              <a:rPr sz="1800" b="1" i="0">
                <a:solidFill>
                  <a:srgbClr val="F4B52A"/>
                </a:solidFill>
                <a:latin typeface="Arial"/>
                <a:ea typeface="Arial"/>
                <a:cs typeface="Arial"/>
              </a:rPr>
              <a:t>2.2   2.4</a:t>
            </a:r>
          </a:p>
        </p:txBody>
      </p:sp>
      <p:sp>
        <p:nvSpPr>
          <p:cNvPr id="9" name="">
            <a:extLst xmlns:a="http://schemas.openxmlformats.org/drawingml/2006/main">
              <a:ext uri="{FF2B5EF4-FFF2-40B4-BE49-F238E27FC236}">
                <a16:creationId xmlns:a16="http://schemas.microsoft.com/office/drawing/2014/main" id="{33C38BA9-7468-4495-8742-20E0B1274E31}"/>
              </a:ext>
            </a:extLst>
          </p:cNvPr>
          <p:cNvSpPr>
            <a:spLocks xmlns:a="http://schemas.openxmlformats.org/drawingml/2006/main" noGrp="1"/>
          </p:cNvSpPr>
          <p:nvPr/>
        </p:nvSpPr>
        <p:spPr>
          <a:xfrm xmlns:a="http://schemas.openxmlformats.org/drawingml/2006/main">
            <a:off x="9239250" y="25908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75" b="1" i="0">
                <a:solidFill>
                  <a:srgbClr val="D6E4EC"/>
                </a:solidFill>
                <a:latin typeface="Arial"/>
                <a:ea typeface="Arial"/>
                <a:cs typeface="Arial"/>
              </a:defRPr>
            </a:pPr>
            <a:r>
              <a:rPr sz="975" b="1" i="0">
                <a:solidFill>
                  <a:srgbClr val="D6E4EC"/>
                </a:solidFill>
                <a:latin typeface="Arial"/>
                <a:ea typeface="Arial"/>
                <a:cs typeface="Arial"/>
              </a:rPr>
              <a:t>CURRENT ALEKS MODULE</a:t>
            </a:r>
          </a:p>
        </p:txBody>
      </p:sp>
      <p:sp>
        <p:nvSpPr>
          <p:cNvPr id="10" name="">
            <a:extLst xmlns:a="http://schemas.openxmlformats.org/drawingml/2006/main">
              <a:ext uri="{FF2B5EF4-FFF2-40B4-BE49-F238E27FC236}">
                <a16:creationId xmlns:a16="http://schemas.microsoft.com/office/drawing/2014/main" id="{B44FB231-E6B3-463B-AD51-E445D63A75BC}"/>
              </a:ext>
            </a:extLst>
          </p:cNvPr>
          <p:cNvSpPr>
            <a:spLocks xmlns:a="http://schemas.openxmlformats.org/drawingml/2006/main" noGrp="1"/>
          </p:cNvSpPr>
          <p:nvPr/>
        </p:nvSpPr>
        <p:spPr>
          <a:xfrm xmlns:a="http://schemas.openxmlformats.org/drawingml/2006/main">
            <a:off x="666750" y="5676900"/>
            <a:ext cx="619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275" b="1" i="0">
                <a:solidFill>
                  <a:srgbClr val="F4B52A"/>
                </a:solidFill>
                <a:latin typeface="Arial"/>
                <a:ea typeface="Arial"/>
                <a:cs typeface="Arial"/>
              </a:defRPr>
            </a:pPr>
            <a:r>
              <a:rPr sz="1275" b="1" i="0">
                <a:solidFill>
                  <a:srgbClr val="F4B52A"/>
                </a:solidFill>
                <a:latin typeface="Arial"/>
                <a:ea typeface="Arial"/>
                <a:cs typeface="Arial"/>
              </a:rPr>
              <a:t>Course site: Unit 1C lesson, practice, checkpoint</a:t>
            </a:r>
          </a:p>
        </p:txBody>
      </p:sp>
      <p:sp>
        <p:nvSpPr>
          <p:cNvPr id="11" name="">
            <a:extLst xmlns:a="http://schemas.openxmlformats.org/drawingml/2006/main">
              <a:ext uri="{FF2B5EF4-FFF2-40B4-BE49-F238E27FC236}">
                <a16:creationId xmlns:a16="http://schemas.microsoft.com/office/drawing/2014/main" id="{249E130B-8C6C-4C4C-8BD7-5B5043DCB45D}"/>
              </a:ext>
            </a:extLst>
          </p:cNvPr>
          <p:cNvSpPr>
            <a:spLocks xmlns:a="http://schemas.openxmlformats.org/drawingml/2006/main" noGrp="1"/>
          </p:cNvSpPr>
          <p:nvPr/>
        </p:nvSpPr>
        <p:spPr>
          <a:xfrm xmlns:a="http://schemas.openxmlformats.org/drawingml/2006/main">
            <a:off x="10477500" y="6400800"/>
            <a:ext cx="1143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AFC2CF"/>
                </a:solidFill>
                <a:latin typeface="Arial"/>
                <a:ea typeface="Arial"/>
                <a:cs typeface="Arial"/>
              </a:defRPr>
            </a:pPr>
            <a:r>
              <a:rPr sz="675" b="0" i="0">
                <a:solidFill>
                  <a:srgbClr val="AFC2CF"/>
                </a:solidFill>
                <a:latin typeface="Arial"/>
                <a:ea typeface="Arial"/>
                <a:cs typeface="Arial"/>
              </a:rPr>
              <a:t>1  slide</a:t>
            </a:r>
          </a:p>
        </p:txBody>
      </p:sp>
    </p:spTree>
    <p:extLst>
      <p:ext uri="{BB962C8B-B14F-4D97-AF65-F5344CB8AC3E}">
        <p14:creationId xmlns:p14="http://schemas.microsoft.com/office/powerpoint/2010/main" val="205651108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DB63528-F52E-450F-8BFD-9BBC71DE1F33}"/>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A770C3-D90D-49C2-840C-7AFA978B5955}"/>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Friday’s 50 minutes</a:t>
            </a:r>
          </a:p>
        </p:txBody>
      </p:sp>
      <p:sp>
        <p:nvSpPr>
          <p:cNvPr id="3" name="">
            <a:extLst xmlns:a="http://schemas.openxmlformats.org/drawingml/2006/main">
              <a:ext uri="{FF2B5EF4-FFF2-40B4-BE49-F238E27FC236}">
                <a16:creationId xmlns:a16="http://schemas.microsoft.com/office/drawing/2014/main" id="{5384D9F4-1B54-48BA-A774-00D32A401831}"/>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Course website, then Sections 2.1, 2.2, and 2.4</a:t>
            </a:r>
          </a:p>
        </p:txBody>
      </p:sp>
      <p:sp>
        <p:nvSpPr>
          <p:cNvPr id="4" name="">
            <a:extLst xmlns:a="http://schemas.openxmlformats.org/drawingml/2006/main">
              <a:ext uri="{FF2B5EF4-FFF2-40B4-BE49-F238E27FC236}">
                <a16:creationId xmlns:a16="http://schemas.microsoft.com/office/drawing/2014/main" id="{B93580B0-1996-4839-B4F5-3E5CC67E98A2}"/>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1777B4"/>
                </a:solidFill>
                <a:latin typeface="Arial"/>
                <a:ea typeface="Arial"/>
                <a:cs typeface="Arial"/>
              </a:defRPr>
            </a:pPr>
            <a:r>
              <a:rPr sz="900" b="1" i="0">
                <a:solidFill>
                  <a:srgbClr val="1777B4"/>
                </a:solidFill>
                <a:latin typeface="Arial"/>
                <a:ea typeface="Arial"/>
                <a:cs typeface="Arial"/>
              </a:rPr>
              <a:t>PLAN</a:t>
            </a:r>
          </a:p>
        </p:txBody>
      </p:sp>
      <p:sp>
        <p:nvSpPr>
          <p:cNvPr id="5" name="">
            <a:extLst xmlns:a="http://schemas.openxmlformats.org/drawingml/2006/main">
              <a:ext uri="{FF2B5EF4-FFF2-40B4-BE49-F238E27FC236}">
                <a16:creationId xmlns:a16="http://schemas.microsoft.com/office/drawing/2014/main" id="{C8E4BE3D-541F-44D4-AAFF-47E0616DCC9B}"/>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6AB2B06-D63D-44CE-803F-92FB5D14F313}"/>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CC1DD433-3C61-4FEF-8EDC-17D93F826094}"/>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2  slide</a:t>
            </a:r>
          </a:p>
        </p:txBody>
      </p:sp>
      <p:sp>
        <p:nvSpPr>
          <p:cNvPr id="8" name="">
            <a:extLst xmlns:a="http://schemas.openxmlformats.org/drawingml/2006/main">
              <a:ext uri="{FF2B5EF4-FFF2-40B4-BE49-F238E27FC236}">
                <a16:creationId xmlns:a16="http://schemas.microsoft.com/office/drawing/2014/main" id="{31E927DA-F723-4772-8180-653CC23CC904}"/>
              </a:ext>
            </a:extLst>
          </p:cNvPr>
          <p:cNvSpPr>
            <a:spLocks xmlns:a="http://schemas.openxmlformats.org/drawingml/2006/main" noGrp="1"/>
          </p:cNvSpPr>
          <p:nvPr/>
        </p:nvSpPr>
        <p:spPr>
          <a:xfrm xmlns:a="http://schemas.openxmlformats.org/drawingml/2006/main">
            <a:off x="666750" y="1847850"/>
            <a:ext cx="838200" cy="7810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1F1164E-D35E-458C-B9A8-911C0C3F6741}"/>
              </a:ext>
            </a:extLst>
          </p:cNvPr>
          <p:cNvSpPr>
            <a:spLocks xmlns:a="http://schemas.openxmlformats.org/drawingml/2006/main" noGrp="1"/>
          </p:cNvSpPr>
          <p:nvPr/>
        </p:nvSpPr>
        <p:spPr>
          <a:xfrm xmlns:a="http://schemas.openxmlformats.org/drawingml/2006/main">
            <a:off x="704850" y="1943100"/>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050" b="1" i="0">
                <a:solidFill>
                  <a:srgbClr val="FFFFFF"/>
                </a:solidFill>
                <a:latin typeface="Arial"/>
                <a:ea typeface="Arial"/>
                <a:cs typeface="Arial"/>
              </a:defRPr>
            </a:pPr>
            <a:r>
              <a:rPr sz="1050" b="1" i="0">
                <a:solidFill>
                  <a:srgbClr val="FFFFFF"/>
                </a:solidFill>
                <a:latin typeface="Arial"/>
                <a:ea typeface="Arial"/>
                <a:cs typeface="Arial"/>
              </a:rPr>
              <a:t>3 min</a:t>
            </a:r>
          </a:p>
        </p:txBody>
      </p:sp>
      <p:sp>
        <p:nvSpPr>
          <p:cNvPr id="10" name="">
            <a:extLst xmlns:a="http://schemas.openxmlformats.org/drawingml/2006/main">
              <a:ext uri="{FF2B5EF4-FFF2-40B4-BE49-F238E27FC236}">
                <a16:creationId xmlns:a16="http://schemas.microsoft.com/office/drawing/2014/main" id="{39B5265E-E2B7-4A09-A6AB-AC917907BD6A}"/>
              </a:ext>
            </a:extLst>
          </p:cNvPr>
          <p:cNvSpPr>
            <a:spLocks xmlns:a="http://schemas.openxmlformats.org/drawingml/2006/main" noGrp="1"/>
          </p:cNvSpPr>
          <p:nvPr/>
        </p:nvSpPr>
        <p:spPr>
          <a:xfrm xmlns:a="http://schemas.openxmlformats.org/drawingml/2006/main">
            <a:off x="685800" y="2266950"/>
            <a:ext cx="800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675" b="0" i="0">
                <a:solidFill>
                  <a:srgbClr val="FFFFFF"/>
                </a:solidFill>
                <a:latin typeface="Arial"/>
                <a:ea typeface="Arial"/>
                <a:cs typeface="Arial"/>
              </a:defRPr>
            </a:pPr>
            <a:r>
              <a:rPr sz="675" b="0" i="0">
                <a:solidFill>
                  <a:srgbClr val="FFFFFF"/>
                </a:solidFill>
                <a:latin typeface="Arial"/>
                <a:ea typeface="Arial"/>
                <a:cs typeface="Arial"/>
              </a:rPr>
              <a:t>3:15–3:18</a:t>
            </a:r>
          </a:p>
        </p:txBody>
      </p:sp>
      <p:sp>
        <p:nvSpPr>
          <p:cNvPr id="11" name="">
            <a:extLst xmlns:a="http://schemas.openxmlformats.org/drawingml/2006/main">
              <a:ext uri="{FF2B5EF4-FFF2-40B4-BE49-F238E27FC236}">
                <a16:creationId xmlns:a16="http://schemas.microsoft.com/office/drawing/2014/main" id="{7CF49825-767E-4CDE-9179-1FD3FC03AE21}"/>
              </a:ext>
            </a:extLst>
          </p:cNvPr>
          <p:cNvSpPr>
            <a:spLocks xmlns:a="http://schemas.openxmlformats.org/drawingml/2006/main" noGrp="1"/>
          </p:cNvSpPr>
          <p:nvPr/>
        </p:nvSpPr>
        <p:spPr>
          <a:xfrm xmlns:a="http://schemas.openxmlformats.org/drawingml/2006/main">
            <a:off x="609600" y="2781300"/>
            <a:ext cx="95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ctr">
              <a:buNone/>
              <a:defRPr sz="1050" b="1" i="0">
                <a:solidFill>
                  <a:srgbClr val="193B55"/>
                </a:solidFill>
                <a:latin typeface="Arial"/>
                <a:ea typeface="Arial"/>
                <a:cs typeface="Arial"/>
              </a:defRPr>
            </a:pPr>
            <a:r>
              <a:rPr sz="1050" b="1" i="0">
                <a:solidFill>
                  <a:srgbClr val="193B55"/>
                </a:solidFill>
                <a:latin typeface="Arial"/>
                <a:ea typeface="Arial"/>
                <a:cs typeface="Arial"/>
              </a:rPr>
              <a:t>Course site</a:t>
            </a:r>
          </a:p>
        </p:txBody>
      </p:sp>
      <p:sp>
        <p:nvSpPr>
          <p:cNvPr id="12" name="">
            <a:extLst xmlns:a="http://schemas.openxmlformats.org/drawingml/2006/main">
              <a:ext uri="{FF2B5EF4-FFF2-40B4-BE49-F238E27FC236}">
                <a16:creationId xmlns:a16="http://schemas.microsoft.com/office/drawing/2014/main" id="{CA47E0BD-4C6C-4F8A-AB7D-AEB884B2EB9C}"/>
              </a:ext>
            </a:extLst>
          </p:cNvPr>
          <p:cNvSpPr>
            <a:spLocks xmlns:a="http://schemas.openxmlformats.org/drawingml/2006/main" noGrp="1"/>
          </p:cNvSpPr>
          <p:nvPr/>
        </p:nvSpPr>
        <p:spPr>
          <a:xfrm xmlns:a="http://schemas.openxmlformats.org/drawingml/2006/main">
            <a:off x="1562100" y="1847850"/>
            <a:ext cx="1238250" cy="781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B4C003A-8BCF-406D-B4F5-74594C876C00}"/>
              </a:ext>
            </a:extLst>
          </p:cNvPr>
          <p:cNvSpPr>
            <a:spLocks xmlns:a="http://schemas.openxmlformats.org/drawingml/2006/main" noGrp="1"/>
          </p:cNvSpPr>
          <p:nvPr/>
        </p:nvSpPr>
        <p:spPr>
          <a:xfrm xmlns:a="http://schemas.openxmlformats.org/drawingml/2006/main">
            <a:off x="1600200" y="1943100"/>
            <a:ext cx="1162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5 min</a:t>
            </a:r>
          </a:p>
        </p:txBody>
      </p:sp>
      <p:sp>
        <p:nvSpPr>
          <p:cNvPr id="14" name="">
            <a:extLst xmlns:a="http://schemas.openxmlformats.org/drawingml/2006/main">
              <a:ext uri="{FF2B5EF4-FFF2-40B4-BE49-F238E27FC236}">
                <a16:creationId xmlns:a16="http://schemas.microsoft.com/office/drawing/2014/main" id="{7B6886AE-66B6-4B73-8808-74A861BBF1A5}"/>
              </a:ext>
            </a:extLst>
          </p:cNvPr>
          <p:cNvSpPr>
            <a:spLocks xmlns:a="http://schemas.openxmlformats.org/drawingml/2006/main" noGrp="1"/>
          </p:cNvSpPr>
          <p:nvPr/>
        </p:nvSpPr>
        <p:spPr>
          <a:xfrm xmlns:a="http://schemas.openxmlformats.org/drawingml/2006/main">
            <a:off x="1581150" y="2266950"/>
            <a:ext cx="12001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75" b="0" i="0">
                <a:solidFill>
                  <a:srgbClr val="FFFFFF"/>
                </a:solidFill>
                <a:latin typeface="Arial"/>
                <a:ea typeface="Arial"/>
                <a:cs typeface="Arial"/>
              </a:defRPr>
            </a:pPr>
            <a:r>
              <a:rPr sz="975" b="0" i="0">
                <a:solidFill>
                  <a:srgbClr val="FFFFFF"/>
                </a:solidFill>
                <a:latin typeface="Arial"/>
                <a:ea typeface="Arial"/>
                <a:cs typeface="Arial"/>
              </a:rPr>
              <a:t>3:18–3:23</a:t>
            </a:r>
          </a:p>
        </p:txBody>
      </p:sp>
      <p:sp>
        <p:nvSpPr>
          <p:cNvPr id="15" name="">
            <a:extLst xmlns:a="http://schemas.openxmlformats.org/drawingml/2006/main">
              <a:ext uri="{FF2B5EF4-FFF2-40B4-BE49-F238E27FC236}">
                <a16:creationId xmlns:a16="http://schemas.microsoft.com/office/drawing/2014/main" id="{3183BC7E-FF1F-4AB7-95A0-D609E402946A}"/>
              </a:ext>
            </a:extLst>
          </p:cNvPr>
          <p:cNvSpPr>
            <a:spLocks xmlns:a="http://schemas.openxmlformats.org/drawingml/2006/main" noGrp="1"/>
          </p:cNvSpPr>
          <p:nvPr/>
        </p:nvSpPr>
        <p:spPr>
          <a:xfrm xmlns:a="http://schemas.openxmlformats.org/drawingml/2006/main">
            <a:off x="1504950" y="2781300"/>
            <a:ext cx="135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ctr">
              <a:buNone/>
              <a:defRPr sz="1425" b="1" i="0">
                <a:solidFill>
                  <a:srgbClr val="193B55"/>
                </a:solidFill>
                <a:latin typeface="Arial"/>
                <a:ea typeface="Arial"/>
                <a:cs typeface="Arial"/>
              </a:defRPr>
            </a:pPr>
            <a:r>
              <a:rPr sz="1425" b="1" i="0">
                <a:solidFill>
                  <a:srgbClr val="193B55"/>
                </a:solidFill>
                <a:latin typeface="Arial"/>
                <a:ea typeface="Arial"/>
                <a:cs typeface="Arial"/>
              </a:rPr>
              <a:t>Retrieval</a:t>
            </a:r>
          </a:p>
        </p:txBody>
      </p:sp>
      <p:sp>
        <p:nvSpPr>
          <p:cNvPr id="16" name="">
            <a:extLst xmlns:a="http://schemas.openxmlformats.org/drawingml/2006/main">
              <a:ext uri="{FF2B5EF4-FFF2-40B4-BE49-F238E27FC236}">
                <a16:creationId xmlns:a16="http://schemas.microsoft.com/office/drawing/2014/main" id="{227C5BC2-4EC9-430E-A7B7-EC74559480B3}"/>
              </a:ext>
            </a:extLst>
          </p:cNvPr>
          <p:cNvSpPr>
            <a:spLocks xmlns:a="http://schemas.openxmlformats.org/drawingml/2006/main" noGrp="1"/>
          </p:cNvSpPr>
          <p:nvPr/>
        </p:nvSpPr>
        <p:spPr>
          <a:xfrm xmlns:a="http://schemas.openxmlformats.org/drawingml/2006/main">
            <a:off x="2857500" y="1847850"/>
            <a:ext cx="3943350" cy="781050"/>
          </a:xfrm>
          <a:prstGeom xmlns:a="http://schemas.openxmlformats.org/drawingml/2006/main" prst="rect">
            <a:avLst/>
          </a:prstGeom>
          <a:solidFill xmlns:a="http://schemas.openxmlformats.org/drawingml/2006/main">
            <a:srgbClr val="168A6B"/>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67AE541-9099-404B-A7E0-05215B97DEAF}"/>
              </a:ext>
            </a:extLst>
          </p:cNvPr>
          <p:cNvSpPr>
            <a:spLocks xmlns:a="http://schemas.openxmlformats.org/drawingml/2006/main" noGrp="1"/>
          </p:cNvSpPr>
          <p:nvPr/>
        </p:nvSpPr>
        <p:spPr>
          <a:xfrm xmlns:a="http://schemas.openxmlformats.org/drawingml/2006/main">
            <a:off x="2895600" y="1943100"/>
            <a:ext cx="3867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18 min</a:t>
            </a:r>
          </a:p>
        </p:txBody>
      </p:sp>
      <p:sp>
        <p:nvSpPr>
          <p:cNvPr id="18" name="">
            <a:extLst xmlns:a="http://schemas.openxmlformats.org/drawingml/2006/main">
              <a:ext uri="{FF2B5EF4-FFF2-40B4-BE49-F238E27FC236}">
                <a16:creationId xmlns:a16="http://schemas.microsoft.com/office/drawing/2014/main" id="{57F201B6-AB89-4879-BAF1-085D22EADB13}"/>
              </a:ext>
            </a:extLst>
          </p:cNvPr>
          <p:cNvSpPr>
            <a:spLocks xmlns:a="http://schemas.openxmlformats.org/drawingml/2006/main" noGrp="1"/>
          </p:cNvSpPr>
          <p:nvPr/>
        </p:nvSpPr>
        <p:spPr>
          <a:xfrm xmlns:a="http://schemas.openxmlformats.org/drawingml/2006/main">
            <a:off x="2876550" y="2266950"/>
            <a:ext cx="3905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75" b="0" i="0">
                <a:solidFill>
                  <a:srgbClr val="FFFFFF"/>
                </a:solidFill>
                <a:latin typeface="Arial"/>
                <a:ea typeface="Arial"/>
                <a:cs typeface="Arial"/>
              </a:defRPr>
            </a:pPr>
            <a:r>
              <a:rPr sz="975" b="0" i="0">
                <a:solidFill>
                  <a:srgbClr val="FFFFFF"/>
                </a:solidFill>
                <a:latin typeface="Arial"/>
                <a:ea typeface="Arial"/>
                <a:cs typeface="Arial"/>
              </a:rPr>
              <a:t>3:23–3:41</a:t>
            </a:r>
          </a:p>
        </p:txBody>
      </p:sp>
      <p:sp>
        <p:nvSpPr>
          <p:cNvPr id="19" name="">
            <a:extLst xmlns:a="http://schemas.openxmlformats.org/drawingml/2006/main">
              <a:ext uri="{FF2B5EF4-FFF2-40B4-BE49-F238E27FC236}">
                <a16:creationId xmlns:a16="http://schemas.microsoft.com/office/drawing/2014/main" id="{4EB55F70-8E62-452B-9C1B-E07DB420EBD5}"/>
              </a:ext>
            </a:extLst>
          </p:cNvPr>
          <p:cNvSpPr>
            <a:spLocks xmlns:a="http://schemas.openxmlformats.org/drawingml/2006/main" noGrp="1"/>
          </p:cNvSpPr>
          <p:nvPr/>
        </p:nvSpPr>
        <p:spPr>
          <a:xfrm xmlns:a="http://schemas.openxmlformats.org/drawingml/2006/main">
            <a:off x="2800350" y="2781300"/>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ctr">
              <a:buNone/>
              <a:defRPr sz="1425" b="1" i="0">
                <a:solidFill>
                  <a:srgbClr val="193B55"/>
                </a:solidFill>
                <a:latin typeface="Arial"/>
                <a:ea typeface="Arial"/>
                <a:cs typeface="Arial"/>
              </a:defRPr>
            </a:pPr>
            <a:r>
              <a:rPr sz="1425" b="1" i="0">
                <a:solidFill>
                  <a:srgbClr val="193B55"/>
                </a:solidFill>
                <a:latin typeface="Arial"/>
                <a:ea typeface="Arial"/>
                <a:cs typeface="Arial"/>
              </a:rPr>
              <a:t>Distance + midpoint</a:t>
            </a:r>
          </a:p>
        </p:txBody>
      </p:sp>
      <p:sp>
        <p:nvSpPr>
          <p:cNvPr id="20" name="">
            <a:extLst xmlns:a="http://schemas.openxmlformats.org/drawingml/2006/main">
              <a:ext uri="{FF2B5EF4-FFF2-40B4-BE49-F238E27FC236}">
                <a16:creationId xmlns:a16="http://schemas.microsoft.com/office/drawing/2014/main" id="{100FE11F-37BC-4D0C-AD7F-B6C6604084F2}"/>
              </a:ext>
            </a:extLst>
          </p:cNvPr>
          <p:cNvSpPr>
            <a:spLocks xmlns:a="http://schemas.openxmlformats.org/drawingml/2006/main" noGrp="1"/>
          </p:cNvSpPr>
          <p:nvPr/>
        </p:nvSpPr>
        <p:spPr>
          <a:xfrm xmlns:a="http://schemas.openxmlformats.org/drawingml/2006/main">
            <a:off x="6858000" y="1847850"/>
            <a:ext cx="3714750" cy="7810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7C6613E-F115-4EE4-BA3B-A021AF60BEC4}"/>
              </a:ext>
            </a:extLst>
          </p:cNvPr>
          <p:cNvSpPr>
            <a:spLocks xmlns:a="http://schemas.openxmlformats.org/drawingml/2006/main" noGrp="1"/>
          </p:cNvSpPr>
          <p:nvPr/>
        </p:nvSpPr>
        <p:spPr>
          <a:xfrm xmlns:a="http://schemas.openxmlformats.org/drawingml/2006/main">
            <a:off x="6896100" y="1943100"/>
            <a:ext cx="3638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17 min</a:t>
            </a:r>
          </a:p>
        </p:txBody>
      </p:sp>
      <p:sp>
        <p:nvSpPr>
          <p:cNvPr id="22" name="">
            <a:extLst xmlns:a="http://schemas.openxmlformats.org/drawingml/2006/main">
              <a:ext uri="{FF2B5EF4-FFF2-40B4-BE49-F238E27FC236}">
                <a16:creationId xmlns:a16="http://schemas.microsoft.com/office/drawing/2014/main" id="{B0E47D08-4CA1-4BC7-A53F-DAFD20167D78}"/>
              </a:ext>
            </a:extLst>
          </p:cNvPr>
          <p:cNvSpPr>
            <a:spLocks xmlns:a="http://schemas.openxmlformats.org/drawingml/2006/main" noGrp="1"/>
          </p:cNvSpPr>
          <p:nvPr/>
        </p:nvSpPr>
        <p:spPr>
          <a:xfrm xmlns:a="http://schemas.openxmlformats.org/drawingml/2006/main">
            <a:off x="6877050" y="2266950"/>
            <a:ext cx="3676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75" b="0" i="0">
                <a:solidFill>
                  <a:srgbClr val="FFFFFF"/>
                </a:solidFill>
                <a:latin typeface="Arial"/>
                <a:ea typeface="Arial"/>
                <a:cs typeface="Arial"/>
              </a:defRPr>
            </a:pPr>
            <a:r>
              <a:rPr sz="975" b="0" i="0">
                <a:solidFill>
                  <a:srgbClr val="FFFFFF"/>
                </a:solidFill>
                <a:latin typeface="Arial"/>
                <a:ea typeface="Arial"/>
                <a:cs typeface="Arial"/>
              </a:rPr>
              <a:t>3:41–3:58</a:t>
            </a:r>
          </a:p>
        </p:txBody>
      </p:sp>
      <p:sp>
        <p:nvSpPr>
          <p:cNvPr id="23" name="">
            <a:extLst xmlns:a="http://schemas.openxmlformats.org/drawingml/2006/main">
              <a:ext uri="{FF2B5EF4-FFF2-40B4-BE49-F238E27FC236}">
                <a16:creationId xmlns:a16="http://schemas.microsoft.com/office/drawing/2014/main" id="{4DCCBFDA-A9CE-4E1B-B81E-49A12BC910EE}"/>
              </a:ext>
            </a:extLst>
          </p:cNvPr>
          <p:cNvSpPr>
            <a:spLocks xmlns:a="http://schemas.openxmlformats.org/drawingml/2006/main" noGrp="1"/>
          </p:cNvSpPr>
          <p:nvPr/>
        </p:nvSpPr>
        <p:spPr>
          <a:xfrm xmlns:a="http://schemas.openxmlformats.org/drawingml/2006/main">
            <a:off x="6800850" y="2781300"/>
            <a:ext cx="38290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ctr">
              <a:buNone/>
              <a:defRPr sz="1425" b="1" i="0">
                <a:solidFill>
                  <a:srgbClr val="193B55"/>
                </a:solidFill>
                <a:latin typeface="Arial"/>
                <a:ea typeface="Arial"/>
                <a:cs typeface="Arial"/>
              </a:defRPr>
            </a:pPr>
            <a:r>
              <a:rPr sz="1425" b="1" i="0">
                <a:solidFill>
                  <a:srgbClr val="193B55"/>
                </a:solidFill>
                <a:latin typeface="Arial"/>
                <a:ea typeface="Arial"/>
                <a:cs typeface="Arial"/>
              </a:rPr>
              <a:t>Slope + lines</a:t>
            </a:r>
          </a:p>
        </p:txBody>
      </p:sp>
      <p:sp>
        <p:nvSpPr>
          <p:cNvPr id="24" name="">
            <a:extLst xmlns:a="http://schemas.openxmlformats.org/drawingml/2006/main">
              <a:ext uri="{FF2B5EF4-FFF2-40B4-BE49-F238E27FC236}">
                <a16:creationId xmlns:a16="http://schemas.microsoft.com/office/drawing/2014/main" id="{E6D03764-4BC8-47E0-82FF-83006AA37219}"/>
              </a:ext>
            </a:extLst>
          </p:cNvPr>
          <p:cNvSpPr>
            <a:spLocks xmlns:a="http://schemas.openxmlformats.org/drawingml/2006/main" noGrp="1"/>
          </p:cNvSpPr>
          <p:nvPr/>
        </p:nvSpPr>
        <p:spPr>
          <a:xfrm xmlns:a="http://schemas.openxmlformats.org/drawingml/2006/main">
            <a:off x="10629900" y="1847850"/>
            <a:ext cx="838200" cy="781050"/>
          </a:xfrm>
          <a:prstGeom xmlns:a="http://schemas.openxmlformats.org/drawingml/2006/main" prst="rect">
            <a:avLst/>
          </a:prstGeom>
          <a:solidFill xmlns:a="http://schemas.openxmlformats.org/drawingml/2006/main">
            <a:srgbClr val="E45D50"/>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93EC70BD-9C94-4242-A1F6-8AAEC44CC61A}"/>
              </a:ext>
            </a:extLst>
          </p:cNvPr>
          <p:cNvSpPr>
            <a:spLocks xmlns:a="http://schemas.openxmlformats.org/drawingml/2006/main" noGrp="1"/>
          </p:cNvSpPr>
          <p:nvPr/>
        </p:nvSpPr>
        <p:spPr>
          <a:xfrm xmlns:a="http://schemas.openxmlformats.org/drawingml/2006/main">
            <a:off x="10668000" y="1943100"/>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050" b="1" i="0">
                <a:solidFill>
                  <a:srgbClr val="FFFFFF"/>
                </a:solidFill>
                <a:latin typeface="Arial"/>
                <a:ea typeface="Arial"/>
                <a:cs typeface="Arial"/>
              </a:defRPr>
            </a:pPr>
            <a:r>
              <a:rPr sz="1050" b="1" i="0">
                <a:solidFill>
                  <a:srgbClr val="FFFFFF"/>
                </a:solidFill>
                <a:latin typeface="Arial"/>
                <a:ea typeface="Arial"/>
                <a:cs typeface="Arial"/>
              </a:rPr>
              <a:t>4 min</a:t>
            </a:r>
          </a:p>
        </p:txBody>
      </p:sp>
      <p:sp>
        <p:nvSpPr>
          <p:cNvPr id="26" name="">
            <a:extLst xmlns:a="http://schemas.openxmlformats.org/drawingml/2006/main">
              <a:ext uri="{FF2B5EF4-FFF2-40B4-BE49-F238E27FC236}">
                <a16:creationId xmlns:a16="http://schemas.microsoft.com/office/drawing/2014/main" id="{DE2B87F9-FE4E-4CCB-AF36-6767C223AE2F}"/>
              </a:ext>
            </a:extLst>
          </p:cNvPr>
          <p:cNvSpPr>
            <a:spLocks xmlns:a="http://schemas.openxmlformats.org/drawingml/2006/main" noGrp="1"/>
          </p:cNvSpPr>
          <p:nvPr/>
        </p:nvSpPr>
        <p:spPr>
          <a:xfrm xmlns:a="http://schemas.openxmlformats.org/drawingml/2006/main">
            <a:off x="10648950" y="2266950"/>
            <a:ext cx="800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675" b="0" i="0">
                <a:solidFill>
                  <a:srgbClr val="FFFFFF"/>
                </a:solidFill>
                <a:latin typeface="Arial"/>
                <a:ea typeface="Arial"/>
                <a:cs typeface="Arial"/>
              </a:defRPr>
            </a:pPr>
            <a:r>
              <a:rPr sz="675" b="0" i="0">
                <a:solidFill>
                  <a:srgbClr val="FFFFFF"/>
                </a:solidFill>
                <a:latin typeface="Arial"/>
                <a:ea typeface="Arial"/>
                <a:cs typeface="Arial"/>
              </a:rPr>
              <a:t>3:58–4:02</a:t>
            </a:r>
          </a:p>
        </p:txBody>
      </p:sp>
      <p:sp>
        <p:nvSpPr>
          <p:cNvPr id="27" name="">
            <a:extLst xmlns:a="http://schemas.openxmlformats.org/drawingml/2006/main">
              <a:ext uri="{FF2B5EF4-FFF2-40B4-BE49-F238E27FC236}">
                <a16:creationId xmlns:a16="http://schemas.microsoft.com/office/drawing/2014/main" id="{ED2A5430-6E52-4179-9EEC-41494270664B}"/>
              </a:ext>
            </a:extLst>
          </p:cNvPr>
          <p:cNvSpPr>
            <a:spLocks xmlns:a="http://schemas.openxmlformats.org/drawingml/2006/main" noGrp="1"/>
          </p:cNvSpPr>
          <p:nvPr/>
        </p:nvSpPr>
        <p:spPr>
          <a:xfrm xmlns:a="http://schemas.openxmlformats.org/drawingml/2006/main">
            <a:off x="10572750" y="2781300"/>
            <a:ext cx="95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ctr">
              <a:buNone/>
              <a:defRPr sz="1050" b="1" i="0">
                <a:solidFill>
                  <a:srgbClr val="193B55"/>
                </a:solidFill>
                <a:latin typeface="Arial"/>
                <a:ea typeface="Arial"/>
                <a:cs typeface="Arial"/>
              </a:defRPr>
            </a:pPr>
            <a:r>
              <a:rPr sz="1050" b="1" i="0">
                <a:solidFill>
                  <a:srgbClr val="193B55"/>
                </a:solidFill>
                <a:latin typeface="Arial"/>
                <a:ea typeface="Arial"/>
                <a:cs typeface="Arial"/>
              </a:rPr>
              <a:t>Circles</a:t>
            </a:r>
          </a:p>
        </p:txBody>
      </p:sp>
      <p:sp>
        <p:nvSpPr>
          <p:cNvPr id="28" name="">
            <a:extLst xmlns:a="http://schemas.openxmlformats.org/drawingml/2006/main">
              <a:ext uri="{FF2B5EF4-FFF2-40B4-BE49-F238E27FC236}">
                <a16:creationId xmlns:a16="http://schemas.microsoft.com/office/drawing/2014/main" id="{AB29BDDE-B470-4B7D-989F-5C6590A562A6}"/>
              </a:ext>
            </a:extLst>
          </p:cNvPr>
          <p:cNvSpPr>
            <a:spLocks xmlns:a="http://schemas.openxmlformats.org/drawingml/2006/main" noGrp="1"/>
          </p:cNvSpPr>
          <p:nvPr/>
        </p:nvSpPr>
        <p:spPr>
          <a:xfrm xmlns:a="http://schemas.openxmlformats.org/drawingml/2006/main">
            <a:off x="666750" y="4000500"/>
            <a:ext cx="10801350" cy="1162050"/>
          </a:xfrm>
          <a:prstGeom xmlns:a="http://schemas.openxmlformats.org/drawingml/2006/main" prst="rect">
            <a:avLst/>
          </a:prstGeom>
          <a:solidFill xmlns:a="http://schemas.openxmlformats.org/drawingml/2006/main">
            <a:srgbClr val="F3F6F8"/>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FF1799C-3FD4-40E5-833B-C700E3F8A46C}"/>
              </a:ext>
            </a:extLst>
          </p:cNvPr>
          <p:cNvSpPr>
            <a:spLocks xmlns:a="http://schemas.openxmlformats.org/drawingml/2006/main" noGrp="1"/>
          </p:cNvSpPr>
          <p:nvPr/>
        </p:nvSpPr>
        <p:spPr>
          <a:xfrm xmlns:a="http://schemas.openxmlformats.org/drawingml/2006/main">
            <a:off x="952500" y="4171950"/>
            <a:ext cx="1714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550" b="1" i="0">
                <a:solidFill>
                  <a:srgbClr val="F4B52A"/>
                </a:solidFill>
                <a:latin typeface="Arial"/>
                <a:ea typeface="Arial"/>
                <a:cs typeface="Arial"/>
              </a:defRPr>
            </a:pPr>
            <a:r>
              <a:rPr sz="2550" b="1" i="0">
                <a:solidFill>
                  <a:srgbClr val="F4B52A"/>
                </a:solidFill>
                <a:latin typeface="Arial"/>
                <a:ea typeface="Arial"/>
                <a:cs typeface="Arial"/>
              </a:rPr>
              <a:t>3 minutes</a:t>
            </a:r>
          </a:p>
        </p:txBody>
      </p:sp>
      <p:sp>
        <p:nvSpPr>
          <p:cNvPr id="30" name="">
            <a:extLst xmlns:a="http://schemas.openxmlformats.org/drawingml/2006/main">
              <a:ext uri="{FF2B5EF4-FFF2-40B4-BE49-F238E27FC236}">
                <a16:creationId xmlns:a16="http://schemas.microsoft.com/office/drawing/2014/main" id="{75757F3C-C9AC-4305-BDAE-3A2F7256CDBD}"/>
              </a:ext>
            </a:extLst>
          </p:cNvPr>
          <p:cNvSpPr>
            <a:spLocks xmlns:a="http://schemas.openxmlformats.org/drawingml/2006/main" noGrp="1"/>
          </p:cNvSpPr>
          <p:nvPr/>
        </p:nvSpPr>
        <p:spPr>
          <a:xfrm xmlns:a="http://schemas.openxmlformats.org/drawingml/2006/main">
            <a:off x="2933700" y="4171950"/>
            <a:ext cx="790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175" b="1" i="0">
                <a:solidFill>
                  <a:srgbClr val="193B55"/>
                </a:solidFill>
                <a:latin typeface="Arial"/>
                <a:ea typeface="Arial"/>
                <a:cs typeface="Arial"/>
              </a:defRPr>
            </a:pPr>
            <a:r>
              <a:rPr sz="2175" b="1" i="0">
                <a:solidFill>
                  <a:srgbClr val="193B55"/>
                </a:solidFill>
                <a:latin typeface="Arial"/>
                <a:ea typeface="Arial"/>
                <a:cs typeface="Arial"/>
              </a:rPr>
              <a:t>Exit ticket and ALEKS plan</a:t>
            </a:r>
          </a:p>
        </p:txBody>
      </p:sp>
      <p:sp>
        <p:nvSpPr>
          <p:cNvPr id="31" name="">
            <a:extLst xmlns:a="http://schemas.openxmlformats.org/drawingml/2006/main">
              <a:ext uri="{FF2B5EF4-FFF2-40B4-BE49-F238E27FC236}">
                <a16:creationId xmlns:a16="http://schemas.microsoft.com/office/drawing/2014/main" id="{9253AA63-2D71-4816-BF30-89A641FD4BF9}"/>
              </a:ext>
            </a:extLst>
          </p:cNvPr>
          <p:cNvSpPr>
            <a:spLocks xmlns:a="http://schemas.openxmlformats.org/drawingml/2006/main" noGrp="1"/>
          </p:cNvSpPr>
          <p:nvPr/>
        </p:nvSpPr>
        <p:spPr>
          <a:xfrm xmlns:a="http://schemas.openxmlformats.org/drawingml/2006/main">
            <a:off x="952500" y="4686300"/>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200" b="0" i="0">
                <a:solidFill>
                  <a:srgbClr val="60798D"/>
                </a:solidFill>
                <a:latin typeface="Arial"/>
                <a:ea typeface="Arial"/>
                <a:cs typeface="Arial"/>
              </a:defRPr>
            </a:pPr>
            <a:r>
              <a:rPr sz="1200" b="0" i="0">
                <a:solidFill>
                  <a:srgbClr val="60798D"/>
                </a:solidFill>
                <a:latin typeface="Arial"/>
                <a:ea typeface="Arial"/>
                <a:cs typeface="Arial"/>
              </a:rPr>
              <a:t>4:02–4:05</a:t>
            </a:r>
          </a:p>
        </p:txBody>
      </p:sp>
      <p:sp>
        <p:nvSpPr>
          <p:cNvPr id="32" name="">
            <a:extLst xmlns:a="http://schemas.openxmlformats.org/drawingml/2006/main">
              <a:ext uri="{FF2B5EF4-FFF2-40B4-BE49-F238E27FC236}">
                <a16:creationId xmlns:a16="http://schemas.microsoft.com/office/drawing/2014/main" id="{97797CE0-CB70-43B2-AF46-CB018455010A}"/>
              </a:ext>
            </a:extLst>
          </p:cNvPr>
          <p:cNvSpPr>
            <a:spLocks xmlns:a="http://schemas.openxmlformats.org/drawingml/2006/main" noGrp="1"/>
          </p:cNvSpPr>
          <p:nvPr/>
        </p:nvSpPr>
        <p:spPr>
          <a:xfrm xmlns:a="http://schemas.openxmlformats.org/drawingml/2006/main">
            <a:off x="2933700" y="4686300"/>
            <a:ext cx="790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275" b="0" i="0">
                <a:solidFill>
                  <a:srgbClr val="60798D"/>
                </a:solidFill>
                <a:latin typeface="Arial"/>
                <a:ea typeface="Arial"/>
                <a:cs typeface="Arial"/>
              </a:defRPr>
            </a:pPr>
            <a:r>
              <a:rPr sz="1275" b="0" i="0">
                <a:solidFill>
                  <a:srgbClr val="60798D"/>
                </a:solidFill>
                <a:latin typeface="Arial"/>
                <a:ea typeface="Arial"/>
                <a:cs typeface="Arial"/>
              </a:rPr>
              <a:t>Every practice problem includes a check before the next topic.</a:t>
            </a:r>
          </a:p>
        </p:txBody>
      </p:sp>
    </p:spTree>
    <p:extLst>
      <p:ext uri="{BB962C8B-B14F-4D97-AF65-F5344CB8AC3E}">
        <p14:creationId xmlns:p14="http://schemas.microsoft.com/office/powerpoint/2010/main" val="38208875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9E6ECF8-2707-473B-B7D1-FD7C3AA2B0F6}"/>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B2E169-2BCC-4041-ABDA-C6328C4F4275}"/>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Course website and current priorities</a:t>
            </a:r>
          </a:p>
        </p:txBody>
      </p:sp>
      <p:sp>
        <p:nvSpPr>
          <p:cNvPr id="3" name="">
            <a:extLst xmlns:a="http://schemas.openxmlformats.org/drawingml/2006/main">
              <a:ext uri="{FF2B5EF4-FFF2-40B4-BE49-F238E27FC236}">
                <a16:creationId xmlns:a16="http://schemas.microsoft.com/office/drawing/2014/main" id="{0412F0DB-A984-4D5C-9323-19F2AF9A5B4F}"/>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The updated dashboard keeps this week’s Unit 1C work together</a:t>
            </a:r>
          </a:p>
        </p:txBody>
      </p:sp>
      <p:sp>
        <p:nvSpPr>
          <p:cNvPr id="4" name="">
            <a:extLst xmlns:a="http://schemas.openxmlformats.org/drawingml/2006/main">
              <a:ext uri="{FF2B5EF4-FFF2-40B4-BE49-F238E27FC236}">
                <a16:creationId xmlns:a16="http://schemas.microsoft.com/office/drawing/2014/main" id="{70B41E49-812E-4B9A-A615-0F84E5D5822D}"/>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1777B4"/>
                </a:solidFill>
                <a:latin typeface="Arial"/>
                <a:ea typeface="Arial"/>
                <a:cs typeface="Arial"/>
              </a:defRPr>
            </a:pPr>
            <a:r>
              <a:rPr sz="900" b="1" i="0">
                <a:solidFill>
                  <a:srgbClr val="1777B4"/>
                </a:solidFill>
                <a:latin typeface="Arial"/>
                <a:ea typeface="Arial"/>
                <a:cs typeface="Arial"/>
              </a:rPr>
              <a:t>THIS WEEK</a:t>
            </a:r>
          </a:p>
        </p:txBody>
      </p:sp>
      <p:sp>
        <p:nvSpPr>
          <p:cNvPr id="5" name="">
            <a:extLst xmlns:a="http://schemas.openxmlformats.org/drawingml/2006/main">
              <a:ext uri="{FF2B5EF4-FFF2-40B4-BE49-F238E27FC236}">
                <a16:creationId xmlns:a16="http://schemas.microsoft.com/office/drawing/2014/main" id="{3EB66403-5366-4285-8ABF-A311D9BEA174}"/>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327F2EB-575E-46C4-9A12-9005981758DF}"/>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63264714-BF53-4498-9801-E795786D4697}"/>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3  slide</a:t>
            </a:r>
          </a:p>
        </p:txBody>
      </p:sp>
      <p:sp>
        <p:nvSpPr>
          <p:cNvPr id="9" name="">
            <a:extLst xmlns:a="http://schemas.openxmlformats.org/drawingml/2006/main">
              <a:ext uri="{FF2B5EF4-FFF2-40B4-BE49-F238E27FC236}">
                <a16:creationId xmlns:a16="http://schemas.microsoft.com/office/drawing/2014/main" id="{9B724B6A-BE86-41C0-B1EF-2BBFAD165821}"/>
              </a:ext>
            </a:extLst>
          </p:cNvPr>
          <p:cNvSpPr>
            <a:spLocks xmlns:a="http://schemas.openxmlformats.org/drawingml/2006/main" noGrp="1"/>
          </p:cNvSpPr>
          <p:nvPr/>
        </p:nvSpPr>
        <p:spPr>
          <a:xfrm xmlns:a="http://schemas.openxmlformats.org/drawingml/2006/main">
            <a:off x="7962900" y="1657350"/>
            <a:ext cx="3505200" cy="1581150"/>
          </a:xfrm>
          <a:prstGeom xmlns:a="http://schemas.openxmlformats.org/drawingml/2006/main" prst="rect">
            <a:avLst/>
          </a:prstGeom>
          <a:solidFill xmlns:a="http://schemas.openxmlformats.org/drawingml/2006/main">
            <a:srgbClr val="102F4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425B898-C7C8-4B7D-B9D5-6AC741F7EE22}"/>
              </a:ext>
            </a:extLst>
          </p:cNvPr>
          <p:cNvSpPr>
            <a:spLocks xmlns:a="http://schemas.openxmlformats.org/drawingml/2006/main" noGrp="1"/>
          </p:cNvSpPr>
          <p:nvPr/>
        </p:nvSpPr>
        <p:spPr>
          <a:xfrm xmlns:a="http://schemas.openxmlformats.org/drawingml/2006/main">
            <a:off x="8267700" y="1790700"/>
            <a:ext cx="2895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4650" b="1" i="0">
                <a:solidFill>
                  <a:srgbClr val="F4B52A"/>
                </a:solidFill>
                <a:latin typeface="Arial"/>
                <a:ea typeface="Arial"/>
                <a:cs typeface="Arial"/>
              </a:defRPr>
            </a:pPr>
            <a:r>
              <a:rPr sz="4650" b="1" i="0">
                <a:solidFill>
                  <a:srgbClr val="F4B52A"/>
                </a:solidFill>
                <a:latin typeface="Arial"/>
                <a:ea typeface="Arial"/>
                <a:cs typeface="Arial"/>
              </a:rPr>
              <a:t>36%</a:t>
            </a:r>
          </a:p>
        </p:txBody>
      </p:sp>
      <p:sp>
        <p:nvSpPr>
          <p:cNvPr id="11" name="">
            <a:extLst xmlns:a="http://schemas.openxmlformats.org/drawingml/2006/main">
              <a:ext uri="{FF2B5EF4-FFF2-40B4-BE49-F238E27FC236}">
                <a16:creationId xmlns:a16="http://schemas.microsoft.com/office/drawing/2014/main" id="{094A58A1-4CBA-4ECB-A04A-FE9D633A1356}"/>
              </a:ext>
            </a:extLst>
          </p:cNvPr>
          <p:cNvSpPr>
            <a:spLocks xmlns:a="http://schemas.openxmlformats.org/drawingml/2006/main" noGrp="1"/>
          </p:cNvSpPr>
          <p:nvPr/>
        </p:nvSpPr>
        <p:spPr>
          <a:xfrm xmlns:a="http://schemas.openxmlformats.org/drawingml/2006/main">
            <a:off x="8267700" y="2571750"/>
            <a:ext cx="289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275" b="1" i="0">
                <a:solidFill>
                  <a:srgbClr val="FFFFFF"/>
                </a:solidFill>
                <a:latin typeface="Arial"/>
                <a:ea typeface="Arial"/>
                <a:cs typeface="Arial"/>
              </a:defRPr>
            </a:pPr>
            <a:r>
              <a:rPr sz="1275" b="1" i="0">
                <a:solidFill>
                  <a:srgbClr val="FFFFFF"/>
                </a:solidFill>
                <a:latin typeface="Arial"/>
                <a:ea typeface="Arial"/>
                <a:cs typeface="Arial"/>
              </a:rPr>
              <a:t>average current-module progress</a:t>
            </a:r>
          </a:p>
        </p:txBody>
      </p:sp>
      <p:sp>
        <p:nvSpPr>
          <p:cNvPr id="12" name="">
            <a:extLst xmlns:a="http://schemas.openxmlformats.org/drawingml/2006/main">
              <a:ext uri="{FF2B5EF4-FFF2-40B4-BE49-F238E27FC236}">
                <a16:creationId xmlns:a16="http://schemas.microsoft.com/office/drawing/2014/main" id="{48092BC2-C5D9-443D-B17C-FC19E949D12B}"/>
              </a:ext>
            </a:extLst>
          </p:cNvPr>
          <p:cNvSpPr>
            <a:spLocks xmlns:a="http://schemas.openxmlformats.org/drawingml/2006/main" noGrp="1"/>
          </p:cNvSpPr>
          <p:nvPr/>
        </p:nvSpPr>
        <p:spPr>
          <a:xfrm xmlns:a="http://schemas.openxmlformats.org/drawingml/2006/main">
            <a:off x="7962900" y="3524250"/>
            <a:ext cx="3505200" cy="2000250"/>
          </a:xfrm>
          <a:prstGeom xmlns:a="http://schemas.openxmlformats.org/drawingml/2006/main" prst="rect">
            <a:avLst/>
          </a:prstGeom>
          <a:solidFill xmlns:a="http://schemas.openxmlformats.org/drawingml/2006/main">
            <a:srgbClr val="E4F4E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5FFB3AA-6816-462C-B26B-C22A6087915A}"/>
              </a:ext>
            </a:extLst>
          </p:cNvPr>
          <p:cNvSpPr>
            <a:spLocks xmlns:a="http://schemas.openxmlformats.org/drawingml/2006/main" noGrp="1"/>
          </p:cNvSpPr>
          <p:nvPr/>
        </p:nvSpPr>
        <p:spPr>
          <a:xfrm xmlns:a="http://schemas.openxmlformats.org/drawingml/2006/main">
            <a:off x="8248650" y="3695700"/>
            <a:ext cx="293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650" b="1" i="0">
                <a:solidFill>
                  <a:srgbClr val="168A6B"/>
                </a:solidFill>
                <a:latin typeface="Arial"/>
                <a:ea typeface="Arial"/>
                <a:cs typeface="Arial"/>
              </a:defRPr>
            </a:pPr>
            <a:r>
              <a:rPr sz="1650" b="1" i="0">
                <a:solidFill>
                  <a:srgbClr val="168A6B"/>
                </a:solidFill>
                <a:latin typeface="Arial"/>
                <a:ea typeface="Arial"/>
                <a:cs typeface="Arial"/>
              </a:rPr>
              <a:t>This week on the site</a:t>
            </a:r>
          </a:p>
        </p:txBody>
      </p:sp>
      <p:sp>
        <p:nvSpPr>
          <p:cNvPr id="14" name="">
            <a:extLst xmlns:a="http://schemas.openxmlformats.org/drawingml/2006/main">
              <a:ext uri="{FF2B5EF4-FFF2-40B4-BE49-F238E27FC236}">
                <a16:creationId xmlns:a16="http://schemas.microsoft.com/office/drawing/2014/main" id="{C71E1065-B9A1-438F-B76E-8F78526AD27F}"/>
              </a:ext>
            </a:extLst>
          </p:cNvPr>
          <p:cNvSpPr>
            <a:spLocks xmlns:a="http://schemas.openxmlformats.org/drawingml/2006/main" noGrp="1"/>
          </p:cNvSpPr>
          <p:nvPr/>
        </p:nvSpPr>
        <p:spPr>
          <a:xfrm xmlns:a="http://schemas.openxmlformats.org/drawingml/2006/main">
            <a:off x="8248650" y="4076700"/>
            <a:ext cx="29337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1500" b="1" i="0">
                <a:solidFill>
                  <a:srgbClr val="193B55"/>
                </a:solidFill>
                <a:latin typeface="Arial"/>
                <a:ea typeface="Arial"/>
                <a:cs typeface="Arial"/>
              </a:defRPr>
            </a:pPr>
            <a:r>
              <a:rPr sz="1500" b="1" i="0">
                <a:solidFill>
                  <a:srgbClr val="193B55"/>
                </a:solidFill>
                <a:latin typeface="Arial"/>
                <a:ea typeface="Arial"/>
                <a:cs typeface="Arial"/>
              </a:rPr>
              <a:t>Courses / MATH 130</a:t>
            </a:r>
          </a:p>
          <a:p xmlns:a="http://schemas.openxmlformats.org/drawingml/2006/main">
            <a:pPr algn="l">
              <a:buNone/>
              <a:defRPr sz="1500" b="1" i="0">
                <a:solidFill>
                  <a:srgbClr val="193B55"/>
                </a:solidFill>
                <a:latin typeface="Arial"/>
                <a:ea typeface="Arial"/>
                <a:cs typeface="Arial"/>
              </a:defRPr>
            </a:pPr>
            <a:r>
              <a:rPr sz="1500" b="1" i="0">
                <a:solidFill>
                  <a:srgbClr val="193B55"/>
                </a:solidFill>
                <a:latin typeface="Arial"/>
                <a:ea typeface="Arial"/>
                <a:cs typeface="Arial"/>
              </a:rPr>
              <a:t>Plan and Learn: Unit 1C</a:t>
            </a:r>
          </a:p>
          <a:p xmlns:a="http://schemas.openxmlformats.org/drawingml/2006/main">
            <a:pPr algn="l">
              <a:buNone/>
              <a:defRPr sz="1500" b="1" i="0">
                <a:solidFill>
                  <a:srgbClr val="193B55"/>
                </a:solidFill>
                <a:latin typeface="Arial"/>
                <a:ea typeface="Arial"/>
                <a:cs typeface="Arial"/>
              </a:defRPr>
            </a:pPr>
            <a:r>
              <a:rPr sz="1500" b="1" i="0">
                <a:solidFill>
                  <a:srgbClr val="193B55"/>
                </a:solidFill>
                <a:latin typeface="Arial"/>
                <a:ea typeface="Arial"/>
                <a:cs typeface="Arial"/>
              </a:rPr>
              <a:t>Practice: current skills</a:t>
            </a:r>
          </a:p>
          <a:p xmlns:a="http://schemas.openxmlformats.org/drawingml/2006/main">
            <a:pPr algn="l">
              <a:buNone/>
              <a:defRPr sz="1500" b="1" i="0">
                <a:solidFill>
                  <a:srgbClr val="193B55"/>
                </a:solidFill>
                <a:latin typeface="Arial"/>
                <a:ea typeface="Arial"/>
                <a:cs typeface="Arial"/>
              </a:defRPr>
            </a:pPr>
            <a:r>
              <a:rPr sz="1500" b="1" i="0">
                <a:solidFill>
                  <a:srgbClr val="193B55"/>
                </a:solidFill>
                <a:latin typeface="Arial"/>
                <a:ea typeface="Arial"/>
                <a:cs typeface="Arial"/>
              </a:rPr>
              <a:t>Progress: Quiz 3 checkpoint</a:t>
            </a:r>
          </a:p>
        </p:txBody>
      </p:sp>
      <p:graphicFrame>
        <p:nvGraphicFramePr>
          <p:cNvPr id="30" name="Chart"/>
          <p:cNvGraphicFramePr/>
          <p:nvPr/>
        </p:nvGraphicFramePr>
        <p:xfrm>
          <a:off xmlns:a="http://schemas.openxmlformats.org/drawingml/2006/main" x="609600" y="1524000"/>
          <a:ext xmlns:a="http://schemas.openxmlformats.org/drawingml/2006/main" cx="6953250" cy="4000500"/>
        </p:xfrm>
        <a:graphic xmlns:a="http://schemas.openxmlformats.org/drawingml/2006/main">
          <a:graphicData uri="http://schemas.openxmlformats.org/drawingml/2006/chart">
            <c:chart xmlns:r="http://schemas.openxmlformats.org/officeDocument/2006/relationships" xmlns:c="http://schemas.openxmlformats.org/drawingml/2006/chart" r:id="Rb8e405e4d852400f"/>
          </a:graphicData>
        </a:graphic>
      </p:graphicFrame>
    </p:spTree>
    <p:extLst>
      <p:ext uri="{BB962C8B-B14F-4D97-AF65-F5344CB8AC3E}">
        <p14:creationId xmlns:p14="http://schemas.microsoft.com/office/powerpoint/2010/main" val="19384023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D0609AA-7BA7-46D7-B350-3BC98E6D7450}"/>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C89189-64A6-4776-AA29-6A7AB1077AF0}"/>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Entrance retrieval</a:t>
            </a:r>
          </a:p>
        </p:txBody>
      </p:sp>
      <p:sp>
        <p:nvSpPr>
          <p:cNvPr id="3" name="">
            <a:extLst xmlns:a="http://schemas.openxmlformats.org/drawingml/2006/main">
              <a:ext uri="{FF2B5EF4-FFF2-40B4-BE49-F238E27FC236}">
                <a16:creationId xmlns:a16="http://schemas.microsoft.com/office/drawing/2014/main" id="{110795D2-BF64-4214-80BF-86B9F72CFA00}"/>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Work without notes for 4 minutes.</a:t>
            </a:r>
          </a:p>
        </p:txBody>
      </p:sp>
      <p:sp>
        <p:nvSpPr>
          <p:cNvPr id="4" name="">
            <a:extLst xmlns:a="http://schemas.openxmlformats.org/drawingml/2006/main">
              <a:ext uri="{FF2B5EF4-FFF2-40B4-BE49-F238E27FC236}">
                <a16:creationId xmlns:a16="http://schemas.microsoft.com/office/drawing/2014/main" id="{4A49DB54-6132-4BD6-BE32-587398B72E4C}"/>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F4B52A"/>
                </a:solidFill>
                <a:latin typeface="Arial"/>
                <a:ea typeface="Arial"/>
                <a:cs typeface="Arial"/>
              </a:defRPr>
            </a:pPr>
            <a:r>
              <a:rPr sz="900" b="1" i="0">
                <a:solidFill>
                  <a:srgbClr val="F4B52A"/>
                </a:solidFill>
                <a:latin typeface="Arial"/>
                <a:ea typeface="Arial"/>
                <a:cs typeface="Arial"/>
              </a:rPr>
              <a:t>PRACTICE</a:t>
            </a:r>
          </a:p>
        </p:txBody>
      </p:sp>
      <p:sp>
        <p:nvSpPr>
          <p:cNvPr id="5" name="">
            <a:extLst xmlns:a="http://schemas.openxmlformats.org/drawingml/2006/main">
              <a:ext uri="{FF2B5EF4-FFF2-40B4-BE49-F238E27FC236}">
                <a16:creationId xmlns:a16="http://schemas.microsoft.com/office/drawing/2014/main" id="{FD494469-D708-45DF-BBCC-805397DEAB85}"/>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7ED9936-56CE-4313-A231-52556AE25660}"/>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169D6D40-723D-4924-8158-684B0CEA92D9}"/>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4  slide</a:t>
            </a:r>
          </a:p>
        </p:txBody>
      </p:sp>
      <p:sp>
        <p:nvSpPr>
          <p:cNvPr id="8" name="">
            <a:extLst xmlns:a="http://schemas.openxmlformats.org/drawingml/2006/main">
              <a:ext uri="{FF2B5EF4-FFF2-40B4-BE49-F238E27FC236}">
                <a16:creationId xmlns:a16="http://schemas.microsoft.com/office/drawing/2014/main" id="{1158F562-E36F-4600-AB0C-10EFE8BC329F}"/>
              </a:ext>
            </a:extLst>
          </p:cNvPr>
          <p:cNvSpPr>
            <a:spLocks xmlns:a="http://schemas.openxmlformats.org/drawingml/2006/main" noGrp="1"/>
          </p:cNvSpPr>
          <p:nvPr/>
        </p:nvSpPr>
        <p:spPr>
          <a:xfrm xmlns:a="http://schemas.openxmlformats.org/drawingml/2006/main">
            <a:off x="781050" y="156210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260D35A-4F5D-43C7-A8CE-4FD3B53C9685}"/>
              </a:ext>
            </a:extLst>
          </p:cNvPr>
          <p:cNvSpPr>
            <a:spLocks xmlns:a="http://schemas.openxmlformats.org/drawingml/2006/main" noGrp="1"/>
          </p:cNvSpPr>
          <p:nvPr/>
        </p:nvSpPr>
        <p:spPr>
          <a:xfrm xmlns:a="http://schemas.openxmlformats.org/drawingml/2006/main">
            <a:off x="781050" y="1562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1</a:t>
            </a:r>
          </a:p>
        </p:txBody>
      </p:sp>
      <p:sp>
        <p:nvSpPr>
          <p:cNvPr id="10" name="">
            <a:extLst xmlns:a="http://schemas.openxmlformats.org/drawingml/2006/main">
              <a:ext uri="{FF2B5EF4-FFF2-40B4-BE49-F238E27FC236}">
                <a16:creationId xmlns:a16="http://schemas.microsoft.com/office/drawing/2014/main" id="{B0C905BD-FDB8-426C-9EE9-D05E6E80F38E}"/>
              </a:ext>
            </a:extLst>
          </p:cNvPr>
          <p:cNvSpPr>
            <a:spLocks xmlns:a="http://schemas.openxmlformats.org/drawingml/2006/main" noGrp="1"/>
          </p:cNvSpPr>
          <p:nvPr/>
        </p:nvSpPr>
        <p:spPr>
          <a:xfrm xmlns:a="http://schemas.openxmlformats.org/drawingml/2006/main">
            <a:off x="1409700" y="153352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800" b="1" i="0">
                <a:solidFill>
                  <a:srgbClr val="193B55"/>
                </a:solidFill>
                <a:latin typeface="Arial"/>
                <a:ea typeface="Arial"/>
                <a:cs typeface="Arial"/>
              </a:defRPr>
            </a:pPr>
            <a:r>
              <a:rPr sz="1800" b="1" i="0">
                <a:solidFill>
                  <a:srgbClr val="193B55"/>
                </a:solidFill>
                <a:latin typeface="Arial"/>
                <a:ea typeface="Arial"/>
                <a:cs typeface="Arial"/>
              </a:rPr>
              <a:t>Name the quadrant containing the point (−4, 3).</a:t>
            </a:r>
          </a:p>
        </p:txBody>
      </p:sp>
      <p:sp>
        <p:nvSpPr>
          <p:cNvPr id="11" name="">
            <a:extLst xmlns:a="http://schemas.openxmlformats.org/drawingml/2006/main">
              <a:ext uri="{FF2B5EF4-FFF2-40B4-BE49-F238E27FC236}">
                <a16:creationId xmlns:a16="http://schemas.microsoft.com/office/drawing/2014/main" id="{6E147BC1-47AE-4320-B877-3D12C2CEF2AB}"/>
              </a:ext>
            </a:extLst>
          </p:cNvPr>
          <p:cNvSpPr>
            <a:spLocks xmlns:a="http://schemas.openxmlformats.org/drawingml/2006/main" noGrp="1"/>
          </p:cNvSpPr>
          <p:nvPr/>
        </p:nvSpPr>
        <p:spPr>
          <a:xfrm xmlns:a="http://schemas.openxmlformats.org/drawingml/2006/main">
            <a:off x="781050" y="241935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48E5DEE-7D0D-4B5C-865B-B43D36D24AF5}"/>
              </a:ext>
            </a:extLst>
          </p:cNvPr>
          <p:cNvSpPr>
            <a:spLocks xmlns:a="http://schemas.openxmlformats.org/drawingml/2006/main" noGrp="1"/>
          </p:cNvSpPr>
          <p:nvPr/>
        </p:nvSpPr>
        <p:spPr>
          <a:xfrm xmlns:a="http://schemas.openxmlformats.org/drawingml/2006/main">
            <a:off x="7810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BCC45534-9E5D-41A1-8549-374EBBE3C128}"/>
              </a:ext>
            </a:extLst>
          </p:cNvPr>
          <p:cNvSpPr>
            <a:spLocks xmlns:a="http://schemas.openxmlformats.org/drawingml/2006/main" noGrp="1"/>
          </p:cNvSpPr>
          <p:nvPr/>
        </p:nvSpPr>
        <p:spPr>
          <a:xfrm xmlns:a="http://schemas.openxmlformats.org/drawingml/2006/main">
            <a:off x="1409700" y="23907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800" b="1" i="0">
                <a:solidFill>
                  <a:srgbClr val="193B55"/>
                </a:solidFill>
                <a:latin typeface="Arial"/>
                <a:ea typeface="Arial"/>
                <a:cs typeface="Arial"/>
              </a:defRPr>
            </a:pPr>
            <a:r>
              <a:rPr sz="1800" b="1" i="0">
                <a:solidFill>
                  <a:srgbClr val="193B55"/>
                </a:solidFill>
                <a:latin typeface="Arial"/>
                <a:ea typeface="Arial"/>
                <a:cs typeface="Arial"/>
              </a:rPr>
              <a:t>From A(−2, 1) to B(4, 5), find Δx and Δy.</a:t>
            </a:r>
          </a:p>
        </p:txBody>
      </p:sp>
      <p:sp>
        <p:nvSpPr>
          <p:cNvPr id="14" name="">
            <a:extLst xmlns:a="http://schemas.openxmlformats.org/drawingml/2006/main">
              <a:ext uri="{FF2B5EF4-FFF2-40B4-BE49-F238E27FC236}">
                <a16:creationId xmlns:a16="http://schemas.microsoft.com/office/drawing/2014/main" id="{3BA5D002-F049-4A06-8FE1-7D583A10A7FD}"/>
              </a:ext>
            </a:extLst>
          </p:cNvPr>
          <p:cNvSpPr>
            <a:spLocks xmlns:a="http://schemas.openxmlformats.org/drawingml/2006/main" noGrp="1"/>
          </p:cNvSpPr>
          <p:nvPr/>
        </p:nvSpPr>
        <p:spPr>
          <a:xfrm xmlns:a="http://schemas.openxmlformats.org/drawingml/2006/main">
            <a:off x="781050" y="327660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9400928-F2E6-45AE-9C03-7784943734E8}"/>
              </a:ext>
            </a:extLst>
          </p:cNvPr>
          <p:cNvSpPr>
            <a:spLocks xmlns:a="http://schemas.openxmlformats.org/drawingml/2006/main" noGrp="1"/>
          </p:cNvSpPr>
          <p:nvPr/>
        </p:nvSpPr>
        <p:spPr>
          <a:xfrm xmlns:a="http://schemas.openxmlformats.org/drawingml/2006/main">
            <a:off x="781050" y="3276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3</a:t>
            </a:r>
          </a:p>
        </p:txBody>
      </p:sp>
      <p:sp>
        <p:nvSpPr>
          <p:cNvPr id="16" name="">
            <a:extLst xmlns:a="http://schemas.openxmlformats.org/drawingml/2006/main">
              <a:ext uri="{FF2B5EF4-FFF2-40B4-BE49-F238E27FC236}">
                <a16:creationId xmlns:a16="http://schemas.microsoft.com/office/drawing/2014/main" id="{E2B2C7F0-7EEB-4BB4-991C-4F26C0ABE6E0}"/>
              </a:ext>
            </a:extLst>
          </p:cNvPr>
          <p:cNvSpPr>
            <a:spLocks xmlns:a="http://schemas.openxmlformats.org/drawingml/2006/main" noGrp="1"/>
          </p:cNvSpPr>
          <p:nvPr/>
        </p:nvSpPr>
        <p:spPr>
          <a:xfrm xmlns:a="http://schemas.openxmlformats.org/drawingml/2006/main">
            <a:off x="1409700" y="324802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800" b="1" i="0">
                <a:solidFill>
                  <a:srgbClr val="193B55"/>
                </a:solidFill>
                <a:latin typeface="Arial"/>
                <a:ea typeface="Arial"/>
                <a:cs typeface="Arial"/>
              </a:defRPr>
            </a:pPr>
            <a:r>
              <a:rPr sz="1800" b="1" i="0">
                <a:solidFill>
                  <a:srgbClr val="193B55"/>
                </a:solidFill>
                <a:latin typeface="Arial"/>
                <a:ea typeface="Arial"/>
                <a:cs typeface="Arial"/>
              </a:rPr>
              <a:t>Does (4, 5) satisfy y = 2x − 3? Show the substitution.</a:t>
            </a:r>
          </a:p>
        </p:txBody>
      </p:sp>
      <p:sp>
        <p:nvSpPr>
          <p:cNvPr id="17" name="">
            <a:extLst xmlns:a="http://schemas.openxmlformats.org/drawingml/2006/main">
              <a:ext uri="{FF2B5EF4-FFF2-40B4-BE49-F238E27FC236}">
                <a16:creationId xmlns:a16="http://schemas.microsoft.com/office/drawing/2014/main" id="{BB47C83D-CBA2-4958-9726-84B4264B84AD}"/>
              </a:ext>
            </a:extLst>
          </p:cNvPr>
          <p:cNvSpPr>
            <a:spLocks xmlns:a="http://schemas.openxmlformats.org/drawingml/2006/main" noGrp="1"/>
          </p:cNvSpPr>
          <p:nvPr/>
        </p:nvSpPr>
        <p:spPr>
          <a:xfrm xmlns:a="http://schemas.openxmlformats.org/drawingml/2006/main">
            <a:off x="781050" y="4381500"/>
            <a:ext cx="10477500" cy="895350"/>
          </a:xfrm>
          <a:prstGeom xmlns:a="http://schemas.openxmlformats.org/drawingml/2006/main" prst="rect">
            <a:avLst/>
          </a:prstGeom>
          <a:solidFill xmlns:a="http://schemas.openxmlformats.org/drawingml/2006/main">
            <a:srgbClr val="FFF4D7"/>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3560511-846E-4201-9809-E3D58CFEA3E3}"/>
              </a:ext>
            </a:extLst>
          </p:cNvPr>
          <p:cNvSpPr>
            <a:spLocks xmlns:a="http://schemas.openxmlformats.org/drawingml/2006/main" noGrp="1"/>
          </p:cNvSpPr>
          <p:nvPr/>
        </p:nvSpPr>
        <p:spPr>
          <a:xfrm xmlns:a="http://schemas.openxmlformats.org/drawingml/2006/main">
            <a:off x="1047750" y="4572000"/>
            <a:ext cx="994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800" b="1" i="0">
                <a:solidFill>
                  <a:srgbClr val="193B55"/>
                </a:solidFill>
                <a:latin typeface="Arial"/>
                <a:ea typeface="Arial"/>
                <a:cs typeface="Arial"/>
              </a:defRPr>
            </a:pPr>
            <a:r>
              <a:rPr sz="1800" b="1" i="0">
                <a:solidFill>
                  <a:srgbClr val="193B55"/>
                </a:solidFill>
                <a:latin typeface="Arial"/>
                <a:ea typeface="Arial"/>
                <a:cs typeface="Arial"/>
              </a:rPr>
              <a:t>Keep the coordinate order consistent: x first, y second.</a:t>
            </a:r>
          </a:p>
        </p:txBody>
      </p:sp>
    </p:spTree>
    <p:extLst>
      <p:ext uri="{BB962C8B-B14F-4D97-AF65-F5344CB8AC3E}">
        <p14:creationId xmlns:p14="http://schemas.microsoft.com/office/powerpoint/2010/main" val="74216693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68F15A7-2C0F-4755-8742-3C1E03346C14}"/>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168A6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C4C906-763C-477E-8CE8-08CD83C24F64}"/>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Entrance check</a:t>
            </a:r>
          </a:p>
        </p:txBody>
      </p:sp>
      <p:sp>
        <p:nvSpPr>
          <p:cNvPr id="3" name="">
            <a:extLst xmlns:a="http://schemas.openxmlformats.org/drawingml/2006/main">
              <a:ext uri="{FF2B5EF4-FFF2-40B4-BE49-F238E27FC236}">
                <a16:creationId xmlns:a16="http://schemas.microsoft.com/office/drawing/2014/main" id="{52CD0166-2CC4-400D-8D3A-DF5445EEEA48}"/>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Explain the reason for each answer.</a:t>
            </a:r>
          </a:p>
        </p:txBody>
      </p:sp>
      <p:sp>
        <p:nvSpPr>
          <p:cNvPr id="4" name="">
            <a:extLst xmlns:a="http://schemas.openxmlformats.org/drawingml/2006/main">
              <a:ext uri="{FF2B5EF4-FFF2-40B4-BE49-F238E27FC236}">
                <a16:creationId xmlns:a16="http://schemas.microsoft.com/office/drawing/2014/main" id="{F7A347A0-2208-45C8-9EF5-1C6BDAC5AF8E}"/>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168A6B"/>
                </a:solidFill>
                <a:latin typeface="Arial"/>
                <a:ea typeface="Arial"/>
                <a:cs typeface="Arial"/>
              </a:defRPr>
            </a:pPr>
            <a:r>
              <a:rPr sz="900" b="1" i="0">
                <a:solidFill>
                  <a:srgbClr val="168A6B"/>
                </a:solidFill>
                <a:latin typeface="Arial"/>
                <a:ea typeface="Arial"/>
                <a:cs typeface="Arial"/>
              </a:rPr>
              <a:t>CHECK</a:t>
            </a:r>
          </a:p>
        </p:txBody>
      </p:sp>
      <p:sp>
        <p:nvSpPr>
          <p:cNvPr id="5" name="">
            <a:extLst xmlns:a="http://schemas.openxmlformats.org/drawingml/2006/main">
              <a:ext uri="{FF2B5EF4-FFF2-40B4-BE49-F238E27FC236}">
                <a16:creationId xmlns:a16="http://schemas.microsoft.com/office/drawing/2014/main" id="{0615246E-2CB3-4D73-9912-EC727AF3A43F}"/>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E1E5FF9-4A12-40A4-B7D2-73F49FF8F205}"/>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7F99CDFA-74C0-4367-A2AE-2C72F4B5AA17}"/>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5  slide</a:t>
            </a:r>
          </a:p>
        </p:txBody>
      </p:sp>
      <p:sp>
        <p:nvSpPr>
          <p:cNvPr id="8" name="">
            <a:extLst xmlns:a="http://schemas.openxmlformats.org/drawingml/2006/main">
              <a:ext uri="{FF2B5EF4-FFF2-40B4-BE49-F238E27FC236}">
                <a16:creationId xmlns:a16="http://schemas.microsoft.com/office/drawing/2014/main" id="{649A6D0E-D692-4645-9EFA-548B2E28A9D6}"/>
              </a:ext>
            </a:extLst>
          </p:cNvPr>
          <p:cNvSpPr>
            <a:spLocks xmlns:a="http://schemas.openxmlformats.org/drawingml/2006/main" noGrp="1"/>
          </p:cNvSpPr>
          <p:nvPr/>
        </p:nvSpPr>
        <p:spPr>
          <a:xfrm xmlns:a="http://schemas.openxmlformats.org/drawingml/2006/main">
            <a:off x="781050" y="1562100"/>
            <a:ext cx="400050" cy="400050"/>
          </a:xfrm>
          <a:prstGeom xmlns:a="http://schemas.openxmlformats.org/drawingml/2006/main" prst="rect">
            <a:avLst/>
          </a:prstGeom>
          <a:solidFill xmlns:a="http://schemas.openxmlformats.org/drawingml/2006/main">
            <a:srgbClr val="168A6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5B99F7E-30BF-4AD0-A1EB-C071000835F6}"/>
              </a:ext>
            </a:extLst>
          </p:cNvPr>
          <p:cNvSpPr>
            <a:spLocks xmlns:a="http://schemas.openxmlformats.org/drawingml/2006/main" noGrp="1"/>
          </p:cNvSpPr>
          <p:nvPr/>
        </p:nvSpPr>
        <p:spPr>
          <a:xfrm xmlns:a="http://schemas.openxmlformats.org/drawingml/2006/main">
            <a:off x="781050" y="1562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1</a:t>
            </a:r>
          </a:p>
        </p:txBody>
      </p:sp>
      <p:sp>
        <p:nvSpPr>
          <p:cNvPr id="10" name="">
            <a:extLst xmlns:a="http://schemas.openxmlformats.org/drawingml/2006/main">
              <a:ext uri="{FF2B5EF4-FFF2-40B4-BE49-F238E27FC236}">
                <a16:creationId xmlns:a16="http://schemas.microsoft.com/office/drawing/2014/main" id="{619D9973-2B47-46CD-BD6E-D1702FC5452E}"/>
              </a:ext>
            </a:extLst>
          </p:cNvPr>
          <p:cNvSpPr>
            <a:spLocks xmlns:a="http://schemas.openxmlformats.org/drawingml/2006/main" noGrp="1"/>
          </p:cNvSpPr>
          <p:nvPr/>
        </p:nvSpPr>
        <p:spPr>
          <a:xfrm xmlns:a="http://schemas.openxmlformats.org/drawingml/2006/main">
            <a:off x="1409700" y="153352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i="0">
                <a:solidFill>
                  <a:srgbClr val="193B55"/>
                </a:solidFill>
                <a:latin typeface="Arial"/>
                <a:ea typeface="Arial"/>
                <a:cs typeface="Arial"/>
              </a:defRPr>
            </a:pPr>
            <a:r>
              <a:rPr sz="1725" b="1" i="0">
                <a:solidFill>
                  <a:srgbClr val="193B55"/>
                </a:solidFill>
                <a:latin typeface="Arial"/>
                <a:ea typeface="Arial"/>
                <a:cs typeface="Arial"/>
              </a:rPr>
              <a:t>Quadrant II because x is negative and y is positive.</a:t>
            </a:r>
          </a:p>
        </p:txBody>
      </p:sp>
      <p:sp>
        <p:nvSpPr>
          <p:cNvPr id="11" name="">
            <a:extLst xmlns:a="http://schemas.openxmlformats.org/drawingml/2006/main">
              <a:ext uri="{FF2B5EF4-FFF2-40B4-BE49-F238E27FC236}">
                <a16:creationId xmlns:a16="http://schemas.microsoft.com/office/drawing/2014/main" id="{C2AE2ED9-3082-4F05-A5DA-A01E6D7D1A78}"/>
              </a:ext>
            </a:extLst>
          </p:cNvPr>
          <p:cNvSpPr>
            <a:spLocks xmlns:a="http://schemas.openxmlformats.org/drawingml/2006/main" noGrp="1"/>
          </p:cNvSpPr>
          <p:nvPr/>
        </p:nvSpPr>
        <p:spPr>
          <a:xfrm xmlns:a="http://schemas.openxmlformats.org/drawingml/2006/main">
            <a:off x="781050" y="2419350"/>
            <a:ext cx="400050" cy="400050"/>
          </a:xfrm>
          <a:prstGeom xmlns:a="http://schemas.openxmlformats.org/drawingml/2006/main" prst="rect">
            <a:avLst/>
          </a:prstGeom>
          <a:solidFill xmlns:a="http://schemas.openxmlformats.org/drawingml/2006/main">
            <a:srgbClr val="168A6B"/>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0F99669-842F-44AF-A094-93DC443E30F3}"/>
              </a:ext>
            </a:extLst>
          </p:cNvPr>
          <p:cNvSpPr>
            <a:spLocks xmlns:a="http://schemas.openxmlformats.org/drawingml/2006/main" noGrp="1"/>
          </p:cNvSpPr>
          <p:nvPr/>
        </p:nvSpPr>
        <p:spPr>
          <a:xfrm xmlns:a="http://schemas.openxmlformats.org/drawingml/2006/main">
            <a:off x="7810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735090B3-2CE2-435D-BBC6-17EC08296E36}"/>
              </a:ext>
            </a:extLst>
          </p:cNvPr>
          <p:cNvSpPr>
            <a:spLocks xmlns:a="http://schemas.openxmlformats.org/drawingml/2006/main" noGrp="1"/>
          </p:cNvSpPr>
          <p:nvPr/>
        </p:nvSpPr>
        <p:spPr>
          <a:xfrm xmlns:a="http://schemas.openxmlformats.org/drawingml/2006/main">
            <a:off x="1409700" y="23907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i="0">
                <a:solidFill>
                  <a:srgbClr val="193B55"/>
                </a:solidFill>
                <a:latin typeface="Arial"/>
                <a:ea typeface="Arial"/>
                <a:cs typeface="Arial"/>
              </a:defRPr>
            </a:pPr>
            <a:r>
              <a:rPr sz="1725" b="1" i="0">
                <a:solidFill>
                  <a:srgbClr val="193B55"/>
                </a:solidFill>
                <a:latin typeface="Arial"/>
                <a:ea typeface="Arial"/>
                <a:cs typeface="Arial"/>
              </a:rPr>
              <a:t>Δx = 4 − (−2) = 6 and Δy = 5 − 1 = 4.</a:t>
            </a:r>
          </a:p>
        </p:txBody>
      </p:sp>
      <p:sp>
        <p:nvSpPr>
          <p:cNvPr id="14" name="">
            <a:extLst xmlns:a="http://schemas.openxmlformats.org/drawingml/2006/main">
              <a:ext uri="{FF2B5EF4-FFF2-40B4-BE49-F238E27FC236}">
                <a16:creationId xmlns:a16="http://schemas.microsoft.com/office/drawing/2014/main" id="{A743053C-BE8B-449D-A954-125D6F5E8682}"/>
              </a:ext>
            </a:extLst>
          </p:cNvPr>
          <p:cNvSpPr>
            <a:spLocks xmlns:a="http://schemas.openxmlformats.org/drawingml/2006/main" noGrp="1"/>
          </p:cNvSpPr>
          <p:nvPr/>
        </p:nvSpPr>
        <p:spPr>
          <a:xfrm xmlns:a="http://schemas.openxmlformats.org/drawingml/2006/main">
            <a:off x="781050" y="3276600"/>
            <a:ext cx="400050" cy="400050"/>
          </a:xfrm>
          <a:prstGeom xmlns:a="http://schemas.openxmlformats.org/drawingml/2006/main" prst="rect">
            <a:avLst/>
          </a:prstGeom>
          <a:solidFill xmlns:a="http://schemas.openxmlformats.org/drawingml/2006/main">
            <a:srgbClr val="168A6B"/>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983AAE1-28BA-4E6E-95BC-F18CDF8C4306}"/>
              </a:ext>
            </a:extLst>
          </p:cNvPr>
          <p:cNvSpPr>
            <a:spLocks xmlns:a="http://schemas.openxmlformats.org/drawingml/2006/main" noGrp="1"/>
          </p:cNvSpPr>
          <p:nvPr/>
        </p:nvSpPr>
        <p:spPr>
          <a:xfrm xmlns:a="http://schemas.openxmlformats.org/drawingml/2006/main">
            <a:off x="781050" y="32766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3</a:t>
            </a:r>
          </a:p>
        </p:txBody>
      </p:sp>
      <p:sp>
        <p:nvSpPr>
          <p:cNvPr id="16" name="">
            <a:extLst xmlns:a="http://schemas.openxmlformats.org/drawingml/2006/main">
              <a:ext uri="{FF2B5EF4-FFF2-40B4-BE49-F238E27FC236}">
                <a16:creationId xmlns:a16="http://schemas.microsoft.com/office/drawing/2014/main" id="{3033F3F0-F140-4E48-BC63-60AF4D109C3E}"/>
              </a:ext>
            </a:extLst>
          </p:cNvPr>
          <p:cNvSpPr>
            <a:spLocks xmlns:a="http://schemas.openxmlformats.org/drawingml/2006/main" noGrp="1"/>
          </p:cNvSpPr>
          <p:nvPr/>
        </p:nvSpPr>
        <p:spPr>
          <a:xfrm xmlns:a="http://schemas.openxmlformats.org/drawingml/2006/main">
            <a:off x="1409700" y="324802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i="0">
                <a:solidFill>
                  <a:srgbClr val="193B55"/>
                </a:solidFill>
                <a:latin typeface="Arial"/>
                <a:ea typeface="Arial"/>
                <a:cs typeface="Arial"/>
              </a:defRPr>
            </a:pPr>
            <a:r>
              <a:rPr sz="1725" b="1" i="0">
                <a:solidFill>
                  <a:srgbClr val="193B55"/>
                </a:solidFill>
                <a:latin typeface="Arial"/>
                <a:ea typeface="Arial"/>
                <a:cs typeface="Arial"/>
              </a:rPr>
              <a:t>Yes. Substitution gives 5 = 2(4) − 3 = 5.</a:t>
            </a:r>
          </a:p>
        </p:txBody>
      </p:sp>
      <p:sp>
        <p:nvSpPr>
          <p:cNvPr id="17" name="">
            <a:extLst xmlns:a="http://schemas.openxmlformats.org/drawingml/2006/main">
              <a:ext uri="{FF2B5EF4-FFF2-40B4-BE49-F238E27FC236}">
                <a16:creationId xmlns:a16="http://schemas.microsoft.com/office/drawing/2014/main" id="{CCF56C57-47B6-4CDC-9C21-B795EC43A369}"/>
              </a:ext>
            </a:extLst>
          </p:cNvPr>
          <p:cNvSpPr>
            <a:spLocks xmlns:a="http://schemas.openxmlformats.org/drawingml/2006/main" noGrp="1"/>
          </p:cNvSpPr>
          <p:nvPr/>
        </p:nvSpPr>
        <p:spPr>
          <a:xfrm xmlns:a="http://schemas.openxmlformats.org/drawingml/2006/main">
            <a:off x="781050" y="4362450"/>
            <a:ext cx="10477500" cy="933450"/>
          </a:xfrm>
          <a:prstGeom xmlns:a="http://schemas.openxmlformats.org/drawingml/2006/main" prst="rect">
            <a:avLst/>
          </a:prstGeom>
          <a:solidFill xmlns:a="http://schemas.openxmlformats.org/drawingml/2006/main">
            <a:srgbClr val="E4F4E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D65384D-15F7-4DE0-9E41-88B6FB78CDB0}"/>
              </a:ext>
            </a:extLst>
          </p:cNvPr>
          <p:cNvSpPr>
            <a:spLocks xmlns:a="http://schemas.openxmlformats.org/drawingml/2006/main" noGrp="1"/>
          </p:cNvSpPr>
          <p:nvPr/>
        </p:nvSpPr>
        <p:spPr>
          <a:xfrm xmlns:a="http://schemas.openxmlformats.org/drawingml/2006/main">
            <a:off x="1047750" y="4572000"/>
            <a:ext cx="994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875" b="1" i="0">
                <a:solidFill>
                  <a:srgbClr val="168A6B"/>
                </a:solidFill>
                <a:latin typeface="Arial"/>
                <a:ea typeface="Arial"/>
                <a:cs typeface="Arial"/>
              </a:defRPr>
            </a:pPr>
            <a:r>
              <a:rPr sz="1875" b="1" i="0">
                <a:solidFill>
                  <a:srgbClr val="168A6B"/>
                </a:solidFill>
                <a:latin typeface="Arial"/>
                <a:ea typeface="Arial"/>
                <a:cs typeface="Arial"/>
              </a:rPr>
              <a:t>The same Δx and Δy will produce distance and slope.</a:t>
            </a:r>
          </a:p>
        </p:txBody>
      </p:sp>
    </p:spTree>
    <p:extLst>
      <p:ext uri="{BB962C8B-B14F-4D97-AF65-F5344CB8AC3E}">
        <p14:creationId xmlns:p14="http://schemas.microsoft.com/office/powerpoint/2010/main" val="148096308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0" name="">
            <a:extLst xmlns:a="http://schemas.openxmlformats.org/drawingml/2006/main">
              <a:ext uri="{FF2B5EF4-FFF2-40B4-BE49-F238E27FC236}">
                <a16:creationId xmlns:a16="http://schemas.microsoft.com/office/drawing/2014/main" id="{005659DE-3AB1-4BC9-963C-0F51DDC10FB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5100EA-C1C9-44CF-8E8A-0C2DB61B9D1E}"/>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Coordinate changes</a:t>
            </a:r>
          </a:p>
        </p:txBody>
      </p:sp>
      <p:sp>
        <p:nvSpPr>
          <p:cNvPr id="3" name="">
            <a:extLst xmlns:a="http://schemas.openxmlformats.org/drawingml/2006/main">
              <a:ext uri="{FF2B5EF4-FFF2-40B4-BE49-F238E27FC236}">
                <a16:creationId xmlns:a16="http://schemas.microsoft.com/office/drawing/2014/main" id="{D2145926-7BFE-44E0-8415-80BF43E57064}"/>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A(−2, 1) and B(4, 5)</a:t>
            </a:r>
          </a:p>
        </p:txBody>
      </p:sp>
      <p:sp>
        <p:nvSpPr>
          <p:cNvPr id="4" name="">
            <a:extLst xmlns:a="http://schemas.openxmlformats.org/drawingml/2006/main">
              <a:ext uri="{FF2B5EF4-FFF2-40B4-BE49-F238E27FC236}">
                <a16:creationId xmlns:a16="http://schemas.microsoft.com/office/drawing/2014/main" id="{12BA9654-9B77-4BB0-A27B-53E5D1E3E013}"/>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1777B4"/>
                </a:solidFill>
                <a:latin typeface="Arial"/>
                <a:ea typeface="Arial"/>
                <a:cs typeface="Arial"/>
              </a:defRPr>
            </a:pPr>
            <a:r>
              <a:rPr sz="900" b="1" i="0">
                <a:solidFill>
                  <a:srgbClr val="1777B4"/>
                </a:solidFill>
                <a:latin typeface="Arial"/>
                <a:ea typeface="Arial"/>
                <a:cs typeface="Arial"/>
              </a:rPr>
              <a:t>MODEL</a:t>
            </a:r>
          </a:p>
        </p:txBody>
      </p:sp>
      <p:sp>
        <p:nvSpPr>
          <p:cNvPr id="5" name="">
            <a:extLst xmlns:a="http://schemas.openxmlformats.org/drawingml/2006/main">
              <a:ext uri="{FF2B5EF4-FFF2-40B4-BE49-F238E27FC236}">
                <a16:creationId xmlns:a16="http://schemas.microsoft.com/office/drawing/2014/main" id="{D5529CD1-DCB0-41F9-BD14-53E31689E58C}"/>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56711DC-8E49-48D3-BF78-4232FE40039C}"/>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3C469B46-DA6A-417A-84F7-C18A95297E60}"/>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6  slide</a:t>
            </a:r>
          </a:p>
        </p:txBody>
      </p:sp>
      <p:sp>
        <p:nvSpPr>
          <p:cNvPr id="8" name="">
            <a:extLst xmlns:a="http://schemas.openxmlformats.org/drawingml/2006/main">
              <a:ext uri="{FF2B5EF4-FFF2-40B4-BE49-F238E27FC236}">
                <a16:creationId xmlns:a16="http://schemas.microsoft.com/office/drawing/2014/main" id="{C66361B9-FA0D-4483-B96A-BDA64C6DCF35}"/>
              </a:ext>
            </a:extLst>
          </p:cNvPr>
          <p:cNvSpPr>
            <a:spLocks xmlns:a="http://schemas.openxmlformats.org/drawingml/2006/main" noGrp="1"/>
          </p:cNvSpPr>
          <p:nvPr/>
        </p:nvSpPr>
        <p:spPr>
          <a:xfrm xmlns:a="http://schemas.openxmlformats.org/drawingml/2006/main">
            <a:off x="685800" y="1524000"/>
            <a:ext cx="5143500"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D3DEE6"/>
            </a:solidFill>
          </a:ln>
        </p:spPr>
      </p:sp>
      <p:sp>
        <p:nvSpPr>
          <p:cNvPr id="9" name="">
            <a:extLst xmlns:a="http://schemas.openxmlformats.org/drawingml/2006/main">
              <a:ext uri="{FF2B5EF4-FFF2-40B4-BE49-F238E27FC236}">
                <a16:creationId xmlns:a16="http://schemas.microsoft.com/office/drawing/2014/main" id="{68A1E2D5-3073-417F-BDD9-0DB170492DD6}"/>
              </a:ext>
            </a:extLst>
          </p:cNvPr>
          <p:cNvSpPr>
            <a:spLocks xmlns:a="http://schemas.openxmlformats.org/drawingml/2006/main" noGrp="1"/>
          </p:cNvSpPr>
          <p:nvPr/>
        </p:nvSpPr>
        <p:spPr>
          <a:xfrm xmlns:a="http://schemas.openxmlformats.org/drawingml/2006/main">
            <a:off x="685800" y="1524000"/>
            <a:ext cx="9525" cy="3714750"/>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8C55F54-A968-4355-8CD4-69E61A6E9E03}"/>
              </a:ext>
            </a:extLst>
          </p:cNvPr>
          <p:cNvSpPr>
            <a:spLocks xmlns:a="http://schemas.openxmlformats.org/drawingml/2006/main" noGrp="1"/>
          </p:cNvSpPr>
          <p:nvPr/>
        </p:nvSpPr>
        <p:spPr>
          <a:xfrm xmlns:a="http://schemas.openxmlformats.org/drawingml/2006/main">
            <a:off x="1200150" y="1524000"/>
            <a:ext cx="9525" cy="3714750"/>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39AB75E-C409-4C75-8B86-186F03B6172C}"/>
              </a:ext>
            </a:extLst>
          </p:cNvPr>
          <p:cNvSpPr>
            <a:spLocks xmlns:a="http://schemas.openxmlformats.org/drawingml/2006/main" noGrp="1"/>
          </p:cNvSpPr>
          <p:nvPr/>
        </p:nvSpPr>
        <p:spPr>
          <a:xfrm xmlns:a="http://schemas.openxmlformats.org/drawingml/2006/main">
            <a:off x="1714500" y="1524000"/>
            <a:ext cx="9525" cy="3714750"/>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A4EC08E-8AD4-4D76-A315-70169B4FF193}"/>
              </a:ext>
            </a:extLst>
          </p:cNvPr>
          <p:cNvSpPr>
            <a:spLocks xmlns:a="http://schemas.openxmlformats.org/drawingml/2006/main" noGrp="1"/>
          </p:cNvSpPr>
          <p:nvPr/>
        </p:nvSpPr>
        <p:spPr>
          <a:xfrm xmlns:a="http://schemas.openxmlformats.org/drawingml/2006/main">
            <a:off x="2228850" y="1524000"/>
            <a:ext cx="9525" cy="3714750"/>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F88D393-AA1A-436E-A0E0-03C8420B7593}"/>
              </a:ext>
            </a:extLst>
          </p:cNvPr>
          <p:cNvSpPr>
            <a:spLocks xmlns:a="http://schemas.openxmlformats.org/drawingml/2006/main" noGrp="1"/>
          </p:cNvSpPr>
          <p:nvPr/>
        </p:nvSpPr>
        <p:spPr>
          <a:xfrm xmlns:a="http://schemas.openxmlformats.org/drawingml/2006/main">
            <a:off x="2743200" y="1524000"/>
            <a:ext cx="9525" cy="3714750"/>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6F1906A-15CA-49CC-B01F-7B580D5B4EC6}"/>
              </a:ext>
            </a:extLst>
          </p:cNvPr>
          <p:cNvSpPr>
            <a:spLocks xmlns:a="http://schemas.openxmlformats.org/drawingml/2006/main" noGrp="1"/>
          </p:cNvSpPr>
          <p:nvPr/>
        </p:nvSpPr>
        <p:spPr>
          <a:xfrm xmlns:a="http://schemas.openxmlformats.org/drawingml/2006/main">
            <a:off x="3257550" y="1524000"/>
            <a:ext cx="9525" cy="3714750"/>
          </a:xfrm>
          <a:prstGeom xmlns:a="http://schemas.openxmlformats.org/drawingml/2006/main" prst="rect">
            <a:avLst/>
          </a:prstGeom>
          <a:solidFill xmlns:a="http://schemas.openxmlformats.org/drawingml/2006/main">
            <a:srgbClr val="193B5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125674B-4950-4404-8377-D9CB5D130741}"/>
              </a:ext>
            </a:extLst>
          </p:cNvPr>
          <p:cNvSpPr>
            <a:spLocks xmlns:a="http://schemas.openxmlformats.org/drawingml/2006/main" noGrp="1"/>
          </p:cNvSpPr>
          <p:nvPr/>
        </p:nvSpPr>
        <p:spPr>
          <a:xfrm xmlns:a="http://schemas.openxmlformats.org/drawingml/2006/main">
            <a:off x="3771900" y="1524000"/>
            <a:ext cx="9525" cy="3714750"/>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B94537B-950B-48B4-A512-C84A1310AF3E}"/>
              </a:ext>
            </a:extLst>
          </p:cNvPr>
          <p:cNvSpPr>
            <a:spLocks xmlns:a="http://schemas.openxmlformats.org/drawingml/2006/main" noGrp="1"/>
          </p:cNvSpPr>
          <p:nvPr/>
        </p:nvSpPr>
        <p:spPr>
          <a:xfrm xmlns:a="http://schemas.openxmlformats.org/drawingml/2006/main">
            <a:off x="4286250" y="1524000"/>
            <a:ext cx="9525" cy="3714750"/>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158EB54-C6DF-4CF5-8985-61E60DAD3D08}"/>
              </a:ext>
            </a:extLst>
          </p:cNvPr>
          <p:cNvSpPr>
            <a:spLocks xmlns:a="http://schemas.openxmlformats.org/drawingml/2006/main" noGrp="1"/>
          </p:cNvSpPr>
          <p:nvPr/>
        </p:nvSpPr>
        <p:spPr>
          <a:xfrm xmlns:a="http://schemas.openxmlformats.org/drawingml/2006/main">
            <a:off x="4800600" y="1524000"/>
            <a:ext cx="9525" cy="3714750"/>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B8BE2D3-44BB-448C-A4B9-1C64AE3286AE}"/>
              </a:ext>
            </a:extLst>
          </p:cNvPr>
          <p:cNvSpPr>
            <a:spLocks xmlns:a="http://schemas.openxmlformats.org/drawingml/2006/main" noGrp="1"/>
          </p:cNvSpPr>
          <p:nvPr/>
        </p:nvSpPr>
        <p:spPr>
          <a:xfrm xmlns:a="http://schemas.openxmlformats.org/drawingml/2006/main">
            <a:off x="5314950" y="1524000"/>
            <a:ext cx="9525" cy="3714750"/>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3233C46-3E96-4A95-8CC9-A337AF6C213A}"/>
              </a:ext>
            </a:extLst>
          </p:cNvPr>
          <p:cNvSpPr>
            <a:spLocks xmlns:a="http://schemas.openxmlformats.org/drawingml/2006/main" noGrp="1"/>
          </p:cNvSpPr>
          <p:nvPr/>
        </p:nvSpPr>
        <p:spPr>
          <a:xfrm xmlns:a="http://schemas.openxmlformats.org/drawingml/2006/main">
            <a:off x="5829300" y="1524000"/>
            <a:ext cx="9525" cy="3714750"/>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9A379EC-C527-4CEC-B543-88291B0C6E4E}"/>
              </a:ext>
            </a:extLst>
          </p:cNvPr>
          <p:cNvSpPr>
            <a:spLocks xmlns:a="http://schemas.openxmlformats.org/drawingml/2006/main" noGrp="1"/>
          </p:cNvSpPr>
          <p:nvPr/>
        </p:nvSpPr>
        <p:spPr>
          <a:xfrm xmlns:a="http://schemas.openxmlformats.org/drawingml/2006/main">
            <a:off x="685800" y="5238750"/>
            <a:ext cx="5143500" cy="9525"/>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27FED2E-207F-48E0-BA5E-F92C689B181D}"/>
              </a:ext>
            </a:extLst>
          </p:cNvPr>
          <p:cNvSpPr>
            <a:spLocks xmlns:a="http://schemas.openxmlformats.org/drawingml/2006/main" noGrp="1"/>
          </p:cNvSpPr>
          <p:nvPr/>
        </p:nvSpPr>
        <p:spPr>
          <a:xfrm xmlns:a="http://schemas.openxmlformats.org/drawingml/2006/main">
            <a:off x="685800" y="4774406"/>
            <a:ext cx="5143500" cy="19050"/>
          </a:xfrm>
          <a:prstGeom xmlns:a="http://schemas.openxmlformats.org/drawingml/2006/main" prst="rect">
            <a:avLst/>
          </a:prstGeom>
          <a:solidFill xmlns:a="http://schemas.openxmlformats.org/drawingml/2006/main">
            <a:srgbClr val="193B5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8089D39-A3FB-470A-AA7D-90A86FC5514B}"/>
              </a:ext>
            </a:extLst>
          </p:cNvPr>
          <p:cNvSpPr>
            <a:spLocks xmlns:a="http://schemas.openxmlformats.org/drawingml/2006/main" noGrp="1"/>
          </p:cNvSpPr>
          <p:nvPr/>
        </p:nvSpPr>
        <p:spPr>
          <a:xfrm xmlns:a="http://schemas.openxmlformats.org/drawingml/2006/main">
            <a:off x="685800" y="4310063"/>
            <a:ext cx="5143500" cy="9525"/>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E83F659-5823-4604-AF9D-CD69653A8F4E}"/>
              </a:ext>
            </a:extLst>
          </p:cNvPr>
          <p:cNvSpPr>
            <a:spLocks xmlns:a="http://schemas.openxmlformats.org/drawingml/2006/main" noGrp="1"/>
          </p:cNvSpPr>
          <p:nvPr/>
        </p:nvSpPr>
        <p:spPr>
          <a:xfrm xmlns:a="http://schemas.openxmlformats.org/drawingml/2006/main">
            <a:off x="685800" y="3845719"/>
            <a:ext cx="5143500" cy="9525"/>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1A6F77F-9A47-425C-A634-22EAB3D69F18}"/>
              </a:ext>
            </a:extLst>
          </p:cNvPr>
          <p:cNvSpPr>
            <a:spLocks xmlns:a="http://schemas.openxmlformats.org/drawingml/2006/main" noGrp="1"/>
          </p:cNvSpPr>
          <p:nvPr/>
        </p:nvSpPr>
        <p:spPr>
          <a:xfrm xmlns:a="http://schemas.openxmlformats.org/drawingml/2006/main">
            <a:off x="685800" y="3381375"/>
            <a:ext cx="5143500" cy="9525"/>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195B9053-EC44-49E5-8DC2-0FC062ED6804}"/>
              </a:ext>
            </a:extLst>
          </p:cNvPr>
          <p:cNvSpPr>
            <a:spLocks xmlns:a="http://schemas.openxmlformats.org/drawingml/2006/main" noGrp="1"/>
          </p:cNvSpPr>
          <p:nvPr/>
        </p:nvSpPr>
        <p:spPr>
          <a:xfrm xmlns:a="http://schemas.openxmlformats.org/drawingml/2006/main">
            <a:off x="685800" y="2917031"/>
            <a:ext cx="5143500" cy="9525"/>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E1B8FA20-65EB-454D-927E-03B2DF66FCDD}"/>
              </a:ext>
            </a:extLst>
          </p:cNvPr>
          <p:cNvSpPr>
            <a:spLocks xmlns:a="http://schemas.openxmlformats.org/drawingml/2006/main" noGrp="1"/>
          </p:cNvSpPr>
          <p:nvPr/>
        </p:nvSpPr>
        <p:spPr>
          <a:xfrm xmlns:a="http://schemas.openxmlformats.org/drawingml/2006/main">
            <a:off x="685800" y="2452688"/>
            <a:ext cx="5143500" cy="9525"/>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B18F07A-ACA2-4973-AE93-CE1BC2FB45BE}"/>
              </a:ext>
            </a:extLst>
          </p:cNvPr>
          <p:cNvSpPr>
            <a:spLocks xmlns:a="http://schemas.openxmlformats.org/drawingml/2006/main" noGrp="1"/>
          </p:cNvSpPr>
          <p:nvPr/>
        </p:nvSpPr>
        <p:spPr>
          <a:xfrm xmlns:a="http://schemas.openxmlformats.org/drawingml/2006/main">
            <a:off x="685800" y="1988344"/>
            <a:ext cx="5143500" cy="9525"/>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60FB2040-4E1A-4648-9431-7B842F353871}"/>
              </a:ext>
            </a:extLst>
          </p:cNvPr>
          <p:cNvSpPr>
            <a:spLocks xmlns:a="http://schemas.openxmlformats.org/drawingml/2006/main" noGrp="1"/>
          </p:cNvSpPr>
          <p:nvPr/>
        </p:nvSpPr>
        <p:spPr>
          <a:xfrm xmlns:a="http://schemas.openxmlformats.org/drawingml/2006/main">
            <a:off x="685800" y="1524000"/>
            <a:ext cx="5143500" cy="9525"/>
          </a:xfrm>
          <a:prstGeom xmlns:a="http://schemas.openxmlformats.org/drawingml/2006/main" prst="rect">
            <a:avLst/>
          </a:prstGeom>
          <a:solidFill xmlns:a="http://schemas.openxmlformats.org/drawingml/2006/main">
            <a:srgbClr val="DDE5EA"/>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23B0422-54A9-4632-A700-019AB8FA32DF}"/>
              </a:ext>
            </a:extLst>
          </p:cNvPr>
          <p:cNvSpPr>
            <a:spLocks xmlns:a="http://schemas.openxmlformats.org/drawingml/2006/main" noGrp="1"/>
          </p:cNvSpPr>
          <p:nvPr/>
        </p:nvSpPr>
        <p:spPr>
          <a:xfrm xmlns:a="http://schemas.openxmlformats.org/drawingml/2006/main">
            <a:off x="1019175" y="4812506"/>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00" b="0" i="0">
                <a:solidFill>
                  <a:srgbClr val="60798D"/>
                </a:solidFill>
                <a:latin typeface="Arial"/>
                <a:ea typeface="Arial"/>
                <a:cs typeface="Arial"/>
              </a:defRPr>
            </a:pPr>
            <a:r>
              <a:rPr sz="900" b="0" i="0">
                <a:solidFill>
                  <a:srgbClr val="60798D"/>
                </a:solidFill>
                <a:latin typeface="Arial"/>
                <a:ea typeface="Arial"/>
                <a:cs typeface="Arial"/>
              </a:rPr>
              <a:t>-4</a:t>
            </a:r>
          </a:p>
        </p:txBody>
      </p:sp>
      <p:sp>
        <p:nvSpPr>
          <p:cNvPr id="30" name="">
            <a:extLst xmlns:a="http://schemas.openxmlformats.org/drawingml/2006/main">
              <a:ext uri="{FF2B5EF4-FFF2-40B4-BE49-F238E27FC236}">
                <a16:creationId xmlns:a16="http://schemas.microsoft.com/office/drawing/2014/main" id="{54670282-C13F-4AD1-BE0C-D45FBB98FB04}"/>
              </a:ext>
            </a:extLst>
          </p:cNvPr>
          <p:cNvSpPr>
            <a:spLocks xmlns:a="http://schemas.openxmlformats.org/drawingml/2006/main" noGrp="1"/>
          </p:cNvSpPr>
          <p:nvPr/>
        </p:nvSpPr>
        <p:spPr>
          <a:xfrm xmlns:a="http://schemas.openxmlformats.org/drawingml/2006/main">
            <a:off x="1533525" y="4812506"/>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00" b="0" i="0">
                <a:solidFill>
                  <a:srgbClr val="60798D"/>
                </a:solidFill>
                <a:latin typeface="Arial"/>
                <a:ea typeface="Arial"/>
                <a:cs typeface="Arial"/>
              </a:defRPr>
            </a:pPr>
            <a:r>
              <a:rPr sz="900" b="0" i="0">
                <a:solidFill>
                  <a:srgbClr val="60798D"/>
                </a:solidFill>
                <a:latin typeface="Arial"/>
                <a:ea typeface="Arial"/>
                <a:cs typeface="Arial"/>
              </a:rPr>
              <a:t>-3</a:t>
            </a:r>
          </a:p>
        </p:txBody>
      </p:sp>
      <p:sp>
        <p:nvSpPr>
          <p:cNvPr id="31" name="">
            <a:extLst xmlns:a="http://schemas.openxmlformats.org/drawingml/2006/main">
              <a:ext uri="{FF2B5EF4-FFF2-40B4-BE49-F238E27FC236}">
                <a16:creationId xmlns:a16="http://schemas.microsoft.com/office/drawing/2014/main" id="{649572D6-E058-4148-A3F1-8686CB0B5618}"/>
              </a:ext>
            </a:extLst>
          </p:cNvPr>
          <p:cNvSpPr>
            <a:spLocks xmlns:a="http://schemas.openxmlformats.org/drawingml/2006/main" noGrp="1"/>
          </p:cNvSpPr>
          <p:nvPr/>
        </p:nvSpPr>
        <p:spPr>
          <a:xfrm xmlns:a="http://schemas.openxmlformats.org/drawingml/2006/main">
            <a:off x="2047875" y="4812506"/>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00" b="0" i="0">
                <a:solidFill>
                  <a:srgbClr val="60798D"/>
                </a:solidFill>
                <a:latin typeface="Arial"/>
                <a:ea typeface="Arial"/>
                <a:cs typeface="Arial"/>
              </a:defRPr>
            </a:pPr>
            <a:r>
              <a:rPr sz="900" b="0" i="0">
                <a:solidFill>
                  <a:srgbClr val="60798D"/>
                </a:solidFill>
                <a:latin typeface="Arial"/>
                <a:ea typeface="Arial"/>
                <a:cs typeface="Arial"/>
              </a:rPr>
              <a:t>-2</a:t>
            </a:r>
          </a:p>
        </p:txBody>
      </p:sp>
      <p:sp>
        <p:nvSpPr>
          <p:cNvPr id="32" name="">
            <a:extLst xmlns:a="http://schemas.openxmlformats.org/drawingml/2006/main">
              <a:ext uri="{FF2B5EF4-FFF2-40B4-BE49-F238E27FC236}">
                <a16:creationId xmlns:a16="http://schemas.microsoft.com/office/drawing/2014/main" id="{D33485B7-7741-4588-B8EF-BF4AE2930E03}"/>
              </a:ext>
            </a:extLst>
          </p:cNvPr>
          <p:cNvSpPr>
            <a:spLocks xmlns:a="http://schemas.openxmlformats.org/drawingml/2006/main" noGrp="1"/>
          </p:cNvSpPr>
          <p:nvPr/>
        </p:nvSpPr>
        <p:spPr>
          <a:xfrm xmlns:a="http://schemas.openxmlformats.org/drawingml/2006/main">
            <a:off x="2562225" y="4812506"/>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00" b="0" i="0">
                <a:solidFill>
                  <a:srgbClr val="60798D"/>
                </a:solidFill>
                <a:latin typeface="Arial"/>
                <a:ea typeface="Arial"/>
                <a:cs typeface="Arial"/>
              </a:defRPr>
            </a:pPr>
            <a:r>
              <a:rPr sz="900" b="0" i="0">
                <a:solidFill>
                  <a:srgbClr val="60798D"/>
                </a:solidFill>
                <a:latin typeface="Arial"/>
                <a:ea typeface="Arial"/>
                <a:cs typeface="Arial"/>
              </a:rPr>
              <a:t>-1</a:t>
            </a:r>
          </a:p>
        </p:txBody>
      </p:sp>
      <p:sp>
        <p:nvSpPr>
          <p:cNvPr id="33" name="">
            <a:extLst xmlns:a="http://schemas.openxmlformats.org/drawingml/2006/main">
              <a:ext uri="{FF2B5EF4-FFF2-40B4-BE49-F238E27FC236}">
                <a16:creationId xmlns:a16="http://schemas.microsoft.com/office/drawing/2014/main" id="{780DE90C-CD75-45C0-9175-409032B68032}"/>
              </a:ext>
            </a:extLst>
          </p:cNvPr>
          <p:cNvSpPr>
            <a:spLocks xmlns:a="http://schemas.openxmlformats.org/drawingml/2006/main" noGrp="1"/>
          </p:cNvSpPr>
          <p:nvPr/>
        </p:nvSpPr>
        <p:spPr>
          <a:xfrm xmlns:a="http://schemas.openxmlformats.org/drawingml/2006/main">
            <a:off x="3590925" y="4812506"/>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00" b="0" i="0">
                <a:solidFill>
                  <a:srgbClr val="60798D"/>
                </a:solidFill>
                <a:latin typeface="Arial"/>
                <a:ea typeface="Arial"/>
                <a:cs typeface="Arial"/>
              </a:defRPr>
            </a:pPr>
            <a:r>
              <a:rPr sz="900" b="0" i="0">
                <a:solidFill>
                  <a:srgbClr val="60798D"/>
                </a:solidFill>
                <a:latin typeface="Arial"/>
                <a:ea typeface="Arial"/>
                <a:cs typeface="Arial"/>
              </a:rPr>
              <a:t>1</a:t>
            </a:r>
          </a:p>
        </p:txBody>
      </p:sp>
      <p:sp>
        <p:nvSpPr>
          <p:cNvPr id="34" name="">
            <a:extLst xmlns:a="http://schemas.openxmlformats.org/drawingml/2006/main">
              <a:ext uri="{FF2B5EF4-FFF2-40B4-BE49-F238E27FC236}">
                <a16:creationId xmlns:a16="http://schemas.microsoft.com/office/drawing/2014/main" id="{B50675C2-978D-40A2-A3D7-4793B4238DB6}"/>
              </a:ext>
            </a:extLst>
          </p:cNvPr>
          <p:cNvSpPr>
            <a:spLocks xmlns:a="http://schemas.openxmlformats.org/drawingml/2006/main" noGrp="1"/>
          </p:cNvSpPr>
          <p:nvPr/>
        </p:nvSpPr>
        <p:spPr>
          <a:xfrm xmlns:a="http://schemas.openxmlformats.org/drawingml/2006/main">
            <a:off x="4105275" y="4812506"/>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00" b="0" i="0">
                <a:solidFill>
                  <a:srgbClr val="60798D"/>
                </a:solidFill>
                <a:latin typeface="Arial"/>
                <a:ea typeface="Arial"/>
                <a:cs typeface="Arial"/>
              </a:defRPr>
            </a:pPr>
            <a:r>
              <a:rPr sz="900" b="0" i="0">
                <a:solidFill>
                  <a:srgbClr val="60798D"/>
                </a:solidFill>
                <a:latin typeface="Arial"/>
                <a:ea typeface="Arial"/>
                <a:cs typeface="Arial"/>
              </a:rPr>
              <a:t>2</a:t>
            </a:r>
          </a:p>
        </p:txBody>
      </p:sp>
      <p:sp>
        <p:nvSpPr>
          <p:cNvPr id="35" name="">
            <a:extLst xmlns:a="http://schemas.openxmlformats.org/drawingml/2006/main">
              <a:ext uri="{FF2B5EF4-FFF2-40B4-BE49-F238E27FC236}">
                <a16:creationId xmlns:a16="http://schemas.microsoft.com/office/drawing/2014/main" id="{A1C6D6EB-1A34-4503-A6DE-7145491D9579}"/>
              </a:ext>
            </a:extLst>
          </p:cNvPr>
          <p:cNvSpPr>
            <a:spLocks xmlns:a="http://schemas.openxmlformats.org/drawingml/2006/main" noGrp="1"/>
          </p:cNvSpPr>
          <p:nvPr/>
        </p:nvSpPr>
        <p:spPr>
          <a:xfrm xmlns:a="http://schemas.openxmlformats.org/drawingml/2006/main">
            <a:off x="4619625" y="4812506"/>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00" b="0" i="0">
                <a:solidFill>
                  <a:srgbClr val="60798D"/>
                </a:solidFill>
                <a:latin typeface="Arial"/>
                <a:ea typeface="Arial"/>
                <a:cs typeface="Arial"/>
              </a:defRPr>
            </a:pPr>
            <a:r>
              <a:rPr sz="900" b="0" i="0">
                <a:solidFill>
                  <a:srgbClr val="60798D"/>
                </a:solidFill>
                <a:latin typeface="Arial"/>
                <a:ea typeface="Arial"/>
                <a:cs typeface="Arial"/>
              </a:rPr>
              <a:t>3</a:t>
            </a:r>
          </a:p>
        </p:txBody>
      </p:sp>
      <p:sp>
        <p:nvSpPr>
          <p:cNvPr id="36" name="">
            <a:extLst xmlns:a="http://schemas.openxmlformats.org/drawingml/2006/main">
              <a:ext uri="{FF2B5EF4-FFF2-40B4-BE49-F238E27FC236}">
                <a16:creationId xmlns:a16="http://schemas.microsoft.com/office/drawing/2014/main" id="{E23B1D33-D925-4EB8-B2E4-103DEA24D85D}"/>
              </a:ext>
            </a:extLst>
          </p:cNvPr>
          <p:cNvSpPr>
            <a:spLocks xmlns:a="http://schemas.openxmlformats.org/drawingml/2006/main" noGrp="1"/>
          </p:cNvSpPr>
          <p:nvPr/>
        </p:nvSpPr>
        <p:spPr>
          <a:xfrm xmlns:a="http://schemas.openxmlformats.org/drawingml/2006/main">
            <a:off x="5133975" y="4812506"/>
            <a:ext cx="36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900" b="0" i="0">
                <a:solidFill>
                  <a:srgbClr val="60798D"/>
                </a:solidFill>
                <a:latin typeface="Arial"/>
                <a:ea typeface="Arial"/>
                <a:cs typeface="Arial"/>
              </a:defRPr>
            </a:pPr>
            <a:r>
              <a:rPr sz="900" b="0" i="0">
                <a:solidFill>
                  <a:srgbClr val="60798D"/>
                </a:solidFill>
                <a:latin typeface="Arial"/>
                <a:ea typeface="Arial"/>
                <a:cs typeface="Arial"/>
              </a:rPr>
              <a:t>4</a:t>
            </a:r>
          </a:p>
        </p:txBody>
      </p:sp>
      <p:sp>
        <p:nvSpPr>
          <p:cNvPr id="37" name="">
            <a:extLst xmlns:a="http://schemas.openxmlformats.org/drawingml/2006/main">
              <a:ext uri="{FF2B5EF4-FFF2-40B4-BE49-F238E27FC236}">
                <a16:creationId xmlns:a16="http://schemas.microsoft.com/office/drawing/2014/main" id="{08153D78-D95F-47B9-BAE2-4DFB59E5E3BF}"/>
              </a:ext>
            </a:extLst>
          </p:cNvPr>
          <p:cNvSpPr>
            <a:spLocks xmlns:a="http://schemas.openxmlformats.org/drawingml/2006/main" noGrp="1"/>
          </p:cNvSpPr>
          <p:nvPr/>
        </p:nvSpPr>
        <p:spPr>
          <a:xfrm xmlns:a="http://schemas.openxmlformats.org/drawingml/2006/main">
            <a:off x="2876550" y="4205288"/>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0" i="0">
                <a:solidFill>
                  <a:srgbClr val="60798D"/>
                </a:solidFill>
                <a:latin typeface="Arial"/>
                <a:ea typeface="Arial"/>
                <a:cs typeface="Arial"/>
              </a:defRPr>
            </a:pPr>
            <a:r>
              <a:rPr sz="900" b="0" i="0">
                <a:solidFill>
                  <a:srgbClr val="60798D"/>
                </a:solidFill>
                <a:latin typeface="Arial"/>
                <a:ea typeface="Arial"/>
                <a:cs typeface="Arial"/>
              </a:rPr>
              <a:t>1</a:t>
            </a:r>
          </a:p>
        </p:txBody>
      </p:sp>
      <p:sp>
        <p:nvSpPr>
          <p:cNvPr id="38" name="">
            <a:extLst xmlns:a="http://schemas.openxmlformats.org/drawingml/2006/main">
              <a:ext uri="{FF2B5EF4-FFF2-40B4-BE49-F238E27FC236}">
                <a16:creationId xmlns:a16="http://schemas.microsoft.com/office/drawing/2014/main" id="{6151E3C0-B52A-4A4B-A2E9-2ACB4F2529CF}"/>
              </a:ext>
            </a:extLst>
          </p:cNvPr>
          <p:cNvSpPr>
            <a:spLocks xmlns:a="http://schemas.openxmlformats.org/drawingml/2006/main" noGrp="1"/>
          </p:cNvSpPr>
          <p:nvPr/>
        </p:nvSpPr>
        <p:spPr>
          <a:xfrm xmlns:a="http://schemas.openxmlformats.org/drawingml/2006/main">
            <a:off x="2876550" y="3740944"/>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0" i="0">
                <a:solidFill>
                  <a:srgbClr val="60798D"/>
                </a:solidFill>
                <a:latin typeface="Arial"/>
                <a:ea typeface="Arial"/>
                <a:cs typeface="Arial"/>
              </a:defRPr>
            </a:pPr>
            <a:r>
              <a:rPr sz="900" b="0" i="0">
                <a:solidFill>
                  <a:srgbClr val="60798D"/>
                </a:solidFill>
                <a:latin typeface="Arial"/>
                <a:ea typeface="Arial"/>
                <a:cs typeface="Arial"/>
              </a:rPr>
              <a:t>2</a:t>
            </a:r>
          </a:p>
        </p:txBody>
      </p:sp>
      <p:sp>
        <p:nvSpPr>
          <p:cNvPr id="39" name="">
            <a:extLst xmlns:a="http://schemas.openxmlformats.org/drawingml/2006/main">
              <a:ext uri="{FF2B5EF4-FFF2-40B4-BE49-F238E27FC236}">
                <a16:creationId xmlns:a16="http://schemas.microsoft.com/office/drawing/2014/main" id="{16EF5E44-7854-4FC9-BE7A-22C01958D4E7}"/>
              </a:ext>
            </a:extLst>
          </p:cNvPr>
          <p:cNvSpPr>
            <a:spLocks xmlns:a="http://schemas.openxmlformats.org/drawingml/2006/main" noGrp="1"/>
          </p:cNvSpPr>
          <p:nvPr/>
        </p:nvSpPr>
        <p:spPr>
          <a:xfrm xmlns:a="http://schemas.openxmlformats.org/drawingml/2006/main">
            <a:off x="2876550" y="32766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0" i="0">
                <a:solidFill>
                  <a:srgbClr val="60798D"/>
                </a:solidFill>
                <a:latin typeface="Arial"/>
                <a:ea typeface="Arial"/>
                <a:cs typeface="Arial"/>
              </a:defRPr>
            </a:pPr>
            <a:r>
              <a:rPr sz="900" b="0" i="0">
                <a:solidFill>
                  <a:srgbClr val="60798D"/>
                </a:solidFill>
                <a:latin typeface="Arial"/>
                <a:ea typeface="Arial"/>
                <a:cs typeface="Arial"/>
              </a:rPr>
              <a:t>3</a:t>
            </a:r>
          </a:p>
        </p:txBody>
      </p:sp>
      <p:sp>
        <p:nvSpPr>
          <p:cNvPr id="40" name="">
            <a:extLst xmlns:a="http://schemas.openxmlformats.org/drawingml/2006/main">
              <a:ext uri="{FF2B5EF4-FFF2-40B4-BE49-F238E27FC236}">
                <a16:creationId xmlns:a16="http://schemas.microsoft.com/office/drawing/2014/main" id="{97073246-F2C0-4D1E-BEBC-13E58C3613E5}"/>
              </a:ext>
            </a:extLst>
          </p:cNvPr>
          <p:cNvSpPr>
            <a:spLocks xmlns:a="http://schemas.openxmlformats.org/drawingml/2006/main" noGrp="1"/>
          </p:cNvSpPr>
          <p:nvPr/>
        </p:nvSpPr>
        <p:spPr>
          <a:xfrm xmlns:a="http://schemas.openxmlformats.org/drawingml/2006/main">
            <a:off x="2876550" y="2812256"/>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0" i="0">
                <a:solidFill>
                  <a:srgbClr val="60798D"/>
                </a:solidFill>
                <a:latin typeface="Arial"/>
                <a:ea typeface="Arial"/>
                <a:cs typeface="Arial"/>
              </a:defRPr>
            </a:pPr>
            <a:r>
              <a:rPr sz="900" b="0" i="0">
                <a:solidFill>
                  <a:srgbClr val="60798D"/>
                </a:solidFill>
                <a:latin typeface="Arial"/>
                <a:ea typeface="Arial"/>
                <a:cs typeface="Arial"/>
              </a:rPr>
              <a:t>4</a:t>
            </a:r>
          </a:p>
        </p:txBody>
      </p:sp>
      <p:sp>
        <p:nvSpPr>
          <p:cNvPr id="41" name="">
            <a:extLst xmlns:a="http://schemas.openxmlformats.org/drawingml/2006/main">
              <a:ext uri="{FF2B5EF4-FFF2-40B4-BE49-F238E27FC236}">
                <a16:creationId xmlns:a16="http://schemas.microsoft.com/office/drawing/2014/main" id="{7CE5314C-8EDF-43DC-8336-D335DA83EAF6}"/>
              </a:ext>
            </a:extLst>
          </p:cNvPr>
          <p:cNvSpPr>
            <a:spLocks xmlns:a="http://schemas.openxmlformats.org/drawingml/2006/main" noGrp="1"/>
          </p:cNvSpPr>
          <p:nvPr/>
        </p:nvSpPr>
        <p:spPr>
          <a:xfrm xmlns:a="http://schemas.openxmlformats.org/drawingml/2006/main">
            <a:off x="2876550" y="2347913"/>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0" i="0">
                <a:solidFill>
                  <a:srgbClr val="60798D"/>
                </a:solidFill>
                <a:latin typeface="Arial"/>
                <a:ea typeface="Arial"/>
                <a:cs typeface="Arial"/>
              </a:defRPr>
            </a:pPr>
            <a:r>
              <a:rPr sz="900" b="0" i="0">
                <a:solidFill>
                  <a:srgbClr val="60798D"/>
                </a:solidFill>
                <a:latin typeface="Arial"/>
                <a:ea typeface="Arial"/>
                <a:cs typeface="Arial"/>
              </a:rPr>
              <a:t>5</a:t>
            </a:r>
          </a:p>
        </p:txBody>
      </p:sp>
      <p:sp>
        <p:nvSpPr>
          <p:cNvPr id="42" name="">
            <a:extLst xmlns:a="http://schemas.openxmlformats.org/drawingml/2006/main">
              <a:ext uri="{FF2B5EF4-FFF2-40B4-BE49-F238E27FC236}">
                <a16:creationId xmlns:a16="http://schemas.microsoft.com/office/drawing/2014/main" id="{B19A03F1-B0F0-4DA4-A685-04C7FF65C051}"/>
              </a:ext>
            </a:extLst>
          </p:cNvPr>
          <p:cNvSpPr>
            <a:spLocks xmlns:a="http://schemas.openxmlformats.org/drawingml/2006/main" noGrp="1"/>
          </p:cNvSpPr>
          <p:nvPr/>
        </p:nvSpPr>
        <p:spPr>
          <a:xfrm xmlns:a="http://schemas.openxmlformats.org/drawingml/2006/main">
            <a:off x="2876550" y="1883569"/>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0" i="0">
                <a:solidFill>
                  <a:srgbClr val="60798D"/>
                </a:solidFill>
                <a:latin typeface="Arial"/>
                <a:ea typeface="Arial"/>
                <a:cs typeface="Arial"/>
              </a:defRPr>
            </a:pPr>
            <a:r>
              <a:rPr sz="900" b="0" i="0">
                <a:solidFill>
                  <a:srgbClr val="60798D"/>
                </a:solidFill>
                <a:latin typeface="Arial"/>
                <a:ea typeface="Arial"/>
                <a:cs typeface="Arial"/>
              </a:rPr>
              <a:t>6</a:t>
            </a:r>
          </a:p>
        </p:txBody>
      </p:sp>
      <p:sp>
        <p:nvSpPr>
          <p:cNvPr id="43" name="">
            <a:extLst xmlns:a="http://schemas.openxmlformats.org/drawingml/2006/main">
              <a:ext uri="{FF2B5EF4-FFF2-40B4-BE49-F238E27FC236}">
                <a16:creationId xmlns:a16="http://schemas.microsoft.com/office/drawing/2014/main" id="{A63A9200-CCD9-4CEA-9B4A-D43FCC05D110}"/>
              </a:ext>
            </a:extLst>
          </p:cNvPr>
          <p:cNvSpPr>
            <a:spLocks xmlns:a="http://schemas.openxmlformats.org/drawingml/2006/main" noGrp="1"/>
          </p:cNvSpPr>
          <p:nvPr/>
        </p:nvSpPr>
        <p:spPr>
          <a:xfrm xmlns:a="http://schemas.openxmlformats.org/drawingml/2006/main">
            <a:off x="2876550" y="141922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0" i="0">
                <a:solidFill>
                  <a:srgbClr val="60798D"/>
                </a:solidFill>
                <a:latin typeface="Arial"/>
                <a:ea typeface="Arial"/>
                <a:cs typeface="Arial"/>
              </a:defRPr>
            </a:pPr>
            <a:r>
              <a:rPr sz="900" b="0" i="0">
                <a:solidFill>
                  <a:srgbClr val="60798D"/>
                </a:solidFill>
                <a:latin typeface="Arial"/>
                <a:ea typeface="Arial"/>
                <a:cs typeface="Arial"/>
              </a:rPr>
              <a:t>7</a:t>
            </a:r>
          </a:p>
        </p:txBody>
      </p:sp>
      <p:sp>
        <p:nvSpPr>
          <p:cNvPr id="44" name="">
            <a:extLst xmlns:a="http://schemas.openxmlformats.org/drawingml/2006/main">
              <a:ext uri="{FF2B5EF4-FFF2-40B4-BE49-F238E27FC236}">
                <a16:creationId xmlns:a16="http://schemas.microsoft.com/office/drawing/2014/main" id="{F369E1DA-EBD0-4614-848D-55E2030AB5DD}"/>
              </a:ext>
            </a:extLst>
          </p:cNvPr>
          <p:cNvSpPr>
            <a:spLocks xmlns:a="http://schemas.openxmlformats.org/drawingml/2006/main" noGrp="1"/>
          </p:cNvSpPr>
          <p:nvPr/>
        </p:nvSpPr>
        <p:spPr>
          <a:xfrm xmlns:a="http://schemas.openxmlformats.org/drawingml/2006/main">
            <a:off x="5657850" y="4507706"/>
            <a:ext cx="228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275" b="1" i="0">
                <a:solidFill>
                  <a:srgbClr val="193B55"/>
                </a:solidFill>
                <a:latin typeface="Cambria Math"/>
                <a:ea typeface="Cambria Math"/>
                <a:cs typeface="Cambria Math"/>
              </a:defRPr>
            </a:pPr>
            <a:r>
              <a:rPr sz="1275" b="1" i="0">
                <a:solidFill>
                  <a:srgbClr val="193B55"/>
                </a:solidFill>
                <a:latin typeface="Cambria Math"/>
                <a:ea typeface="Cambria Math"/>
                <a:cs typeface="Cambria Math"/>
              </a:rPr>
              <a:t>x</a:t>
            </a:r>
          </a:p>
        </p:txBody>
      </p:sp>
      <p:sp>
        <p:nvSpPr>
          <p:cNvPr id="45" name="">
            <a:extLst xmlns:a="http://schemas.openxmlformats.org/drawingml/2006/main">
              <a:ext uri="{FF2B5EF4-FFF2-40B4-BE49-F238E27FC236}">
                <a16:creationId xmlns:a16="http://schemas.microsoft.com/office/drawing/2014/main" id="{C3758A78-1D41-4BF9-B9E9-2919F7EF0D87}"/>
              </a:ext>
            </a:extLst>
          </p:cNvPr>
          <p:cNvSpPr>
            <a:spLocks xmlns:a="http://schemas.openxmlformats.org/drawingml/2006/main" noGrp="1"/>
          </p:cNvSpPr>
          <p:nvPr/>
        </p:nvSpPr>
        <p:spPr>
          <a:xfrm xmlns:a="http://schemas.openxmlformats.org/drawingml/2006/main">
            <a:off x="3324225" y="1485900"/>
            <a:ext cx="228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275" b="1" i="0">
                <a:solidFill>
                  <a:srgbClr val="193B55"/>
                </a:solidFill>
                <a:latin typeface="Cambria Math"/>
                <a:ea typeface="Cambria Math"/>
                <a:cs typeface="Cambria Math"/>
              </a:defRPr>
            </a:pPr>
            <a:r>
              <a:rPr sz="1275" b="1" i="0">
                <a:solidFill>
                  <a:srgbClr val="193B55"/>
                </a:solidFill>
                <a:latin typeface="Cambria Math"/>
                <a:ea typeface="Cambria Math"/>
                <a:cs typeface="Cambria Math"/>
              </a:rPr>
              <a:t>y</a:t>
            </a:r>
          </a:p>
        </p:txBody>
      </p:sp>
      <p:sp>
        <p:nvSpPr>
          <p:cNvPr id="46" name="">
            <a:extLst xmlns:a="http://schemas.openxmlformats.org/drawingml/2006/main">
              <a:ext uri="{FF2B5EF4-FFF2-40B4-BE49-F238E27FC236}">
                <a16:creationId xmlns:a16="http://schemas.microsoft.com/office/drawing/2014/main" id="{44A5E47F-C6F5-4E5D-9D39-4002AC4DA9BF}"/>
              </a:ext>
            </a:extLst>
          </p:cNvPr>
          <p:cNvSpPr>
            <a:spLocks xmlns:a="http://schemas.openxmlformats.org/drawingml/2006/main" noGrp="1"/>
          </p:cNvSpPr>
          <p:nvPr/>
        </p:nvSpPr>
        <p:spPr>
          <a:xfrm xmlns:a="http://schemas.openxmlformats.org/drawingml/2006/main">
            <a:off x="2228850" y="4281488"/>
            <a:ext cx="3086100" cy="571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FE8EA34F-F51D-43F3-B614-438285BD6096}"/>
              </a:ext>
            </a:extLst>
          </p:cNvPr>
          <p:cNvSpPr>
            <a:spLocks xmlns:a="http://schemas.openxmlformats.org/drawingml/2006/main" noGrp="1"/>
          </p:cNvSpPr>
          <p:nvPr/>
        </p:nvSpPr>
        <p:spPr>
          <a:xfrm xmlns:a="http://schemas.openxmlformats.org/drawingml/2006/main">
            <a:off x="5286375" y="2452688"/>
            <a:ext cx="57150" cy="1857375"/>
          </a:xfrm>
          <a:prstGeom xmlns:a="http://schemas.openxmlformats.org/drawingml/2006/main" prst="rect">
            <a:avLst/>
          </a:prstGeom>
          <a:solidFill xmlns:a="http://schemas.openxmlformats.org/drawingml/2006/main">
            <a:srgbClr val="168A6B"/>
          </a:solidFill>
          <a:ln xmlns:a="http://schemas.openxmlformats.org/drawingml/2006/main" w="0">
            <a:noFill/>
          </a:ln>
        </p:spPr>
      </p:sp>
      <p:sp>
        <p:nvSpPr>
          <p:cNvPr id="48" name="">
            <a:extLst xmlns:a="http://schemas.openxmlformats.org/drawingml/2006/main">
              <a:ext uri="{FF2B5EF4-FFF2-40B4-BE49-F238E27FC236}">
                <a16:creationId xmlns:a16="http://schemas.microsoft.com/office/drawing/2014/main" id="{8F5E2709-4CF4-4C7C-8401-857044C38884}"/>
              </a:ext>
            </a:extLst>
          </p:cNvPr>
          <p:cNvSpPr>
            <a:spLocks xmlns:a="http://schemas.openxmlformats.org/drawingml/2006/main" noGrp="1"/>
          </p:cNvSpPr>
          <p:nvPr/>
        </p:nvSpPr>
        <p:spPr>
          <a:xfrm xmlns:a="http://schemas.openxmlformats.org/drawingml/2006/main">
            <a:off x="2162175" y="4243388"/>
            <a:ext cx="133350" cy="133350"/>
          </a:xfrm>
          <a:prstGeom xmlns:a="http://schemas.openxmlformats.org/drawingml/2006/main" prst="ellipse">
            <a:avLst/>
          </a:prstGeom>
          <a:solidFill xmlns:a="http://schemas.openxmlformats.org/drawingml/2006/main">
            <a:srgbClr val="E45D50"/>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1E30F04C-9806-4937-AEF0-28231B473BDF}"/>
              </a:ext>
            </a:extLst>
          </p:cNvPr>
          <p:cNvSpPr>
            <a:spLocks xmlns:a="http://schemas.openxmlformats.org/drawingml/2006/main" noGrp="1"/>
          </p:cNvSpPr>
          <p:nvPr/>
        </p:nvSpPr>
        <p:spPr>
          <a:xfrm xmlns:a="http://schemas.openxmlformats.org/drawingml/2006/main">
            <a:off x="5248275" y="2386013"/>
            <a:ext cx="133350" cy="133350"/>
          </a:xfrm>
          <a:prstGeom xmlns:a="http://schemas.openxmlformats.org/drawingml/2006/main" prst="ellipse">
            <a:avLst/>
          </a:prstGeom>
          <a:solidFill xmlns:a="http://schemas.openxmlformats.org/drawingml/2006/main">
            <a:srgbClr val="E45D50"/>
          </a:solidFill>
          <a:ln xmlns:a="http://schemas.openxmlformats.org/drawingml/2006/main" w="0">
            <a:noFill/>
          </a:ln>
        </p:spPr>
      </p:sp>
      <p:sp>
        <p:nvSpPr>
          <p:cNvPr id="50" name="">
            <a:extLst xmlns:a="http://schemas.openxmlformats.org/drawingml/2006/main">
              <a:ext uri="{FF2B5EF4-FFF2-40B4-BE49-F238E27FC236}">
                <a16:creationId xmlns:a16="http://schemas.microsoft.com/office/drawing/2014/main" id="{B27962D1-5C72-4911-ACCF-4EF49E94B485}"/>
              </a:ext>
            </a:extLst>
          </p:cNvPr>
          <p:cNvSpPr>
            <a:spLocks xmlns:a="http://schemas.openxmlformats.org/drawingml/2006/main" noGrp="1"/>
          </p:cNvSpPr>
          <p:nvPr/>
        </p:nvSpPr>
        <p:spPr>
          <a:xfrm xmlns:a="http://schemas.openxmlformats.org/drawingml/2006/main">
            <a:off x="1409700" y="4386263"/>
            <a:ext cx="1028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1" i="0">
                <a:solidFill>
                  <a:srgbClr val="E45D50"/>
                </a:solidFill>
                <a:latin typeface="Cambria Math"/>
                <a:ea typeface="Cambria Math"/>
                <a:cs typeface="Cambria Math"/>
              </a:defRPr>
            </a:pPr>
            <a:r>
              <a:rPr sz="1125" b="1" i="0">
                <a:solidFill>
                  <a:srgbClr val="E45D50"/>
                </a:solidFill>
                <a:latin typeface="Cambria Math"/>
                <a:ea typeface="Cambria Math"/>
                <a:cs typeface="Cambria Math"/>
              </a:rPr>
              <a:t>A(−2, 1)</a:t>
            </a:r>
          </a:p>
        </p:txBody>
      </p:sp>
      <p:sp>
        <p:nvSpPr>
          <p:cNvPr id="51" name="">
            <a:extLst xmlns:a="http://schemas.openxmlformats.org/drawingml/2006/main">
              <a:ext uri="{FF2B5EF4-FFF2-40B4-BE49-F238E27FC236}">
                <a16:creationId xmlns:a16="http://schemas.microsoft.com/office/drawing/2014/main" id="{720DA50A-0C66-4B16-B067-EB1106853DAD}"/>
              </a:ext>
            </a:extLst>
          </p:cNvPr>
          <p:cNvSpPr>
            <a:spLocks xmlns:a="http://schemas.openxmlformats.org/drawingml/2006/main" noGrp="1"/>
          </p:cNvSpPr>
          <p:nvPr/>
        </p:nvSpPr>
        <p:spPr>
          <a:xfrm xmlns:a="http://schemas.openxmlformats.org/drawingml/2006/main">
            <a:off x="5143500" y="2109788"/>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1" i="0">
                <a:solidFill>
                  <a:srgbClr val="E45D50"/>
                </a:solidFill>
                <a:latin typeface="Cambria Math"/>
                <a:ea typeface="Cambria Math"/>
                <a:cs typeface="Cambria Math"/>
              </a:defRPr>
            </a:pPr>
            <a:r>
              <a:rPr sz="1125" b="1" i="0">
                <a:solidFill>
                  <a:srgbClr val="E45D50"/>
                </a:solidFill>
                <a:latin typeface="Cambria Math"/>
                <a:ea typeface="Cambria Math"/>
                <a:cs typeface="Cambria Math"/>
              </a:rPr>
              <a:t>B(4, 5)</a:t>
            </a:r>
          </a:p>
        </p:txBody>
      </p:sp>
      <p:sp>
        <p:nvSpPr>
          <p:cNvPr id="52" name="">
            <a:extLst xmlns:a="http://schemas.openxmlformats.org/drawingml/2006/main">
              <a:ext uri="{FF2B5EF4-FFF2-40B4-BE49-F238E27FC236}">
                <a16:creationId xmlns:a16="http://schemas.microsoft.com/office/drawing/2014/main" id="{CF99531D-8E61-49FA-9004-440279081F59}"/>
              </a:ext>
            </a:extLst>
          </p:cNvPr>
          <p:cNvSpPr>
            <a:spLocks xmlns:a="http://schemas.openxmlformats.org/drawingml/2006/main" noGrp="1"/>
          </p:cNvSpPr>
          <p:nvPr/>
        </p:nvSpPr>
        <p:spPr>
          <a:xfrm xmlns:a="http://schemas.openxmlformats.org/drawingml/2006/main">
            <a:off x="3333750" y="3986213"/>
            <a:ext cx="876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200" b="1" i="0">
                <a:solidFill>
                  <a:srgbClr val="1777B4"/>
                </a:solidFill>
                <a:latin typeface="Cambria Math"/>
                <a:ea typeface="Cambria Math"/>
                <a:cs typeface="Cambria Math"/>
              </a:defRPr>
            </a:pPr>
            <a:r>
              <a:rPr sz="1200" b="1" i="0">
                <a:solidFill>
                  <a:srgbClr val="1777B4"/>
                </a:solidFill>
                <a:latin typeface="Cambria Math"/>
                <a:ea typeface="Cambria Math"/>
                <a:cs typeface="Cambria Math"/>
              </a:rPr>
              <a:t>Δx = 6</a:t>
            </a:r>
          </a:p>
        </p:txBody>
      </p:sp>
      <p:sp>
        <p:nvSpPr>
          <p:cNvPr id="53" name="">
            <a:extLst xmlns:a="http://schemas.openxmlformats.org/drawingml/2006/main">
              <a:ext uri="{FF2B5EF4-FFF2-40B4-BE49-F238E27FC236}">
                <a16:creationId xmlns:a16="http://schemas.microsoft.com/office/drawing/2014/main" id="{CF1A58FD-6FAF-4DCD-BD8C-63C4CE011D3B}"/>
              </a:ext>
            </a:extLst>
          </p:cNvPr>
          <p:cNvSpPr>
            <a:spLocks xmlns:a="http://schemas.openxmlformats.org/drawingml/2006/main" noGrp="1"/>
          </p:cNvSpPr>
          <p:nvPr/>
        </p:nvSpPr>
        <p:spPr>
          <a:xfrm xmlns:a="http://schemas.openxmlformats.org/drawingml/2006/main">
            <a:off x="5410200" y="3267075"/>
            <a:ext cx="876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200" b="1" i="0">
                <a:solidFill>
                  <a:srgbClr val="168A6B"/>
                </a:solidFill>
                <a:latin typeface="Cambria Math"/>
                <a:ea typeface="Cambria Math"/>
                <a:cs typeface="Cambria Math"/>
              </a:defRPr>
            </a:pPr>
            <a:r>
              <a:rPr sz="1200" b="1" i="0">
                <a:solidFill>
                  <a:srgbClr val="168A6B"/>
                </a:solidFill>
                <a:latin typeface="Cambria Math"/>
                <a:ea typeface="Cambria Math"/>
                <a:cs typeface="Cambria Math"/>
              </a:rPr>
              <a:t>Δy = 4</a:t>
            </a:r>
          </a:p>
        </p:txBody>
      </p:sp>
      <p:sp>
        <p:nvSpPr>
          <p:cNvPr id="54" name="">
            <a:extLst xmlns:a="http://schemas.openxmlformats.org/drawingml/2006/main">
              <a:ext uri="{FF2B5EF4-FFF2-40B4-BE49-F238E27FC236}">
                <a16:creationId xmlns:a16="http://schemas.microsoft.com/office/drawing/2014/main" id="{711156F3-7810-4F35-9EC8-716AC87273AA}"/>
              </a:ext>
            </a:extLst>
          </p:cNvPr>
          <p:cNvSpPr>
            <a:spLocks xmlns:a="http://schemas.openxmlformats.org/drawingml/2006/main" noGrp="1"/>
          </p:cNvSpPr>
          <p:nvPr/>
        </p:nvSpPr>
        <p:spPr>
          <a:xfrm xmlns:a="http://schemas.openxmlformats.org/drawingml/2006/main">
            <a:off x="6477000" y="175260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425" b="1" i="0">
                <a:solidFill>
                  <a:srgbClr val="1777B4"/>
                </a:solidFill>
                <a:latin typeface="Arial"/>
                <a:ea typeface="Arial"/>
                <a:cs typeface="Arial"/>
              </a:defRPr>
            </a:pPr>
            <a:r>
              <a:rPr sz="1425" b="1" i="0">
                <a:solidFill>
                  <a:srgbClr val="1777B4"/>
                </a:solidFill>
                <a:latin typeface="Arial"/>
                <a:ea typeface="Arial"/>
                <a:cs typeface="Arial"/>
              </a:rPr>
              <a:t>Horizontal change</a:t>
            </a:r>
          </a:p>
        </p:txBody>
      </p:sp>
      <p:sp>
        <p:nvSpPr>
          <p:cNvPr id="55" name="">
            <a:extLst xmlns:a="http://schemas.openxmlformats.org/drawingml/2006/main">
              <a:ext uri="{FF2B5EF4-FFF2-40B4-BE49-F238E27FC236}">
                <a16:creationId xmlns:a16="http://schemas.microsoft.com/office/drawing/2014/main" id="{89933F26-5869-4DCF-9E5D-534661B04326}"/>
              </a:ext>
            </a:extLst>
          </p:cNvPr>
          <p:cNvSpPr>
            <a:spLocks xmlns:a="http://schemas.openxmlformats.org/drawingml/2006/main" noGrp="1"/>
          </p:cNvSpPr>
          <p:nvPr/>
        </p:nvSpPr>
        <p:spPr>
          <a:xfrm xmlns:a="http://schemas.openxmlformats.org/drawingml/2006/main">
            <a:off x="6477000" y="209550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025" b="1" i="0">
                <a:solidFill>
                  <a:srgbClr val="193B55"/>
                </a:solidFill>
                <a:latin typeface="Cambria Math"/>
                <a:ea typeface="Cambria Math"/>
                <a:cs typeface="Cambria Math"/>
              </a:defRPr>
            </a:pPr>
            <a:r>
              <a:rPr sz="2025" b="1" i="0">
                <a:solidFill>
                  <a:srgbClr val="193B55"/>
                </a:solidFill>
                <a:latin typeface="Cambria Math"/>
                <a:ea typeface="Cambria Math"/>
                <a:cs typeface="Cambria Math"/>
              </a:rPr>
              <a:t>Δx = x₂ − x₁ = 4 − (−2) = 6</a:t>
            </a:r>
          </a:p>
        </p:txBody>
      </p:sp>
      <p:sp>
        <p:nvSpPr>
          <p:cNvPr id="56" name="">
            <a:extLst xmlns:a="http://schemas.openxmlformats.org/drawingml/2006/main">
              <a:ext uri="{FF2B5EF4-FFF2-40B4-BE49-F238E27FC236}">
                <a16:creationId xmlns:a16="http://schemas.microsoft.com/office/drawing/2014/main" id="{00774175-33B1-45C9-B431-E3ECB43D3995}"/>
              </a:ext>
            </a:extLst>
          </p:cNvPr>
          <p:cNvSpPr>
            <a:spLocks xmlns:a="http://schemas.openxmlformats.org/drawingml/2006/main" noGrp="1"/>
          </p:cNvSpPr>
          <p:nvPr/>
        </p:nvSpPr>
        <p:spPr>
          <a:xfrm xmlns:a="http://schemas.openxmlformats.org/drawingml/2006/main">
            <a:off x="6477000" y="299085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425" b="1" i="0">
                <a:solidFill>
                  <a:srgbClr val="168A6B"/>
                </a:solidFill>
                <a:latin typeface="Arial"/>
                <a:ea typeface="Arial"/>
                <a:cs typeface="Arial"/>
              </a:defRPr>
            </a:pPr>
            <a:r>
              <a:rPr sz="1425" b="1" i="0">
                <a:solidFill>
                  <a:srgbClr val="168A6B"/>
                </a:solidFill>
                <a:latin typeface="Arial"/>
                <a:ea typeface="Arial"/>
                <a:cs typeface="Arial"/>
              </a:rPr>
              <a:t>Vertical change</a:t>
            </a:r>
          </a:p>
        </p:txBody>
      </p:sp>
      <p:sp>
        <p:nvSpPr>
          <p:cNvPr id="57" name="">
            <a:extLst xmlns:a="http://schemas.openxmlformats.org/drawingml/2006/main">
              <a:ext uri="{FF2B5EF4-FFF2-40B4-BE49-F238E27FC236}">
                <a16:creationId xmlns:a16="http://schemas.microsoft.com/office/drawing/2014/main" id="{EC8253ED-EC5B-47E9-BE34-2E3B189AFC18}"/>
              </a:ext>
            </a:extLst>
          </p:cNvPr>
          <p:cNvSpPr>
            <a:spLocks xmlns:a="http://schemas.openxmlformats.org/drawingml/2006/main" noGrp="1"/>
          </p:cNvSpPr>
          <p:nvPr/>
        </p:nvSpPr>
        <p:spPr>
          <a:xfrm xmlns:a="http://schemas.openxmlformats.org/drawingml/2006/main">
            <a:off x="6477000" y="3333750"/>
            <a:ext cx="4857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025" b="1" i="0">
                <a:solidFill>
                  <a:srgbClr val="193B55"/>
                </a:solidFill>
                <a:latin typeface="Cambria Math"/>
                <a:ea typeface="Cambria Math"/>
                <a:cs typeface="Cambria Math"/>
              </a:defRPr>
            </a:pPr>
            <a:r>
              <a:rPr sz="2025" b="1" i="0">
                <a:solidFill>
                  <a:srgbClr val="193B55"/>
                </a:solidFill>
                <a:latin typeface="Cambria Math"/>
                <a:ea typeface="Cambria Math"/>
                <a:cs typeface="Cambria Math"/>
              </a:rPr>
              <a:t>Δy = y₂ − y₁ = 5 − 1 = 4</a:t>
            </a:r>
          </a:p>
        </p:txBody>
      </p:sp>
      <p:sp>
        <p:nvSpPr>
          <p:cNvPr id="58" name="">
            <a:extLst xmlns:a="http://schemas.openxmlformats.org/drawingml/2006/main">
              <a:ext uri="{FF2B5EF4-FFF2-40B4-BE49-F238E27FC236}">
                <a16:creationId xmlns:a16="http://schemas.microsoft.com/office/drawing/2014/main" id="{7A8E9C9C-CFB5-4DA5-A26C-9B499E39216F}"/>
              </a:ext>
            </a:extLst>
          </p:cNvPr>
          <p:cNvSpPr>
            <a:spLocks xmlns:a="http://schemas.openxmlformats.org/drawingml/2006/main" noGrp="1"/>
          </p:cNvSpPr>
          <p:nvPr/>
        </p:nvSpPr>
        <p:spPr>
          <a:xfrm xmlns:a="http://schemas.openxmlformats.org/drawingml/2006/main">
            <a:off x="6324600" y="4343400"/>
            <a:ext cx="5048250" cy="895350"/>
          </a:xfrm>
          <a:prstGeom xmlns:a="http://schemas.openxmlformats.org/drawingml/2006/main" prst="rect">
            <a:avLst/>
          </a:prstGeom>
          <a:solidFill xmlns:a="http://schemas.openxmlformats.org/drawingml/2006/main">
            <a:srgbClr val="F3F6F8"/>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0BAE7FE7-B34F-4FB5-9658-BDB1B7DB5D40}"/>
              </a:ext>
            </a:extLst>
          </p:cNvPr>
          <p:cNvSpPr>
            <a:spLocks xmlns:a="http://schemas.openxmlformats.org/drawingml/2006/main" noGrp="1"/>
          </p:cNvSpPr>
          <p:nvPr/>
        </p:nvSpPr>
        <p:spPr>
          <a:xfrm xmlns:a="http://schemas.openxmlformats.org/drawingml/2006/main">
            <a:off x="6591300" y="4514850"/>
            <a:ext cx="45148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650" b="1" i="0">
                <a:solidFill>
                  <a:srgbClr val="193B55"/>
                </a:solidFill>
                <a:latin typeface="Arial"/>
                <a:ea typeface="Arial"/>
                <a:cs typeface="Arial"/>
              </a:defRPr>
            </a:pPr>
            <a:r>
              <a:rPr sz="1650" b="1" i="0">
                <a:solidFill>
                  <a:srgbClr val="193B55"/>
                </a:solidFill>
                <a:latin typeface="Arial"/>
                <a:ea typeface="Arial"/>
                <a:cs typeface="Arial"/>
              </a:rPr>
              <a:t>Keep the endpoint order the same in both differences.</a:t>
            </a:r>
          </a:p>
        </p:txBody>
      </p:sp>
    </p:spTree>
    <p:extLst>
      <p:ext uri="{BB962C8B-B14F-4D97-AF65-F5344CB8AC3E}">
        <p14:creationId xmlns:p14="http://schemas.microsoft.com/office/powerpoint/2010/main" val="95883970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8F257D3-909E-4CDA-93ED-CCBAE478BC84}"/>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97608B-6CE5-4CAA-AB45-2D02DB8D6026}"/>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Distance and midpoint</a:t>
            </a:r>
          </a:p>
        </p:txBody>
      </p:sp>
      <p:sp>
        <p:nvSpPr>
          <p:cNvPr id="3" name="">
            <a:extLst xmlns:a="http://schemas.openxmlformats.org/drawingml/2006/main">
              <a:ext uri="{FF2B5EF4-FFF2-40B4-BE49-F238E27FC236}">
                <a16:creationId xmlns:a16="http://schemas.microsoft.com/office/drawing/2014/main" id="{DD5F53CC-63C4-4708-9265-705F385DE9FC}"/>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Both formulas begin with the same two endpoints.</a:t>
            </a:r>
          </a:p>
        </p:txBody>
      </p:sp>
      <p:sp>
        <p:nvSpPr>
          <p:cNvPr id="4" name="">
            <a:extLst xmlns:a="http://schemas.openxmlformats.org/drawingml/2006/main">
              <a:ext uri="{FF2B5EF4-FFF2-40B4-BE49-F238E27FC236}">
                <a16:creationId xmlns:a16="http://schemas.microsoft.com/office/drawing/2014/main" id="{B4980962-539E-40CC-A8C3-0B00F2776B47}"/>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1777B4"/>
                </a:solidFill>
                <a:latin typeface="Arial"/>
                <a:ea typeface="Arial"/>
                <a:cs typeface="Arial"/>
              </a:defRPr>
            </a:pPr>
            <a:r>
              <a:rPr sz="900" b="1" i="0">
                <a:solidFill>
                  <a:srgbClr val="1777B4"/>
                </a:solidFill>
                <a:latin typeface="Arial"/>
                <a:ea typeface="Arial"/>
                <a:cs typeface="Arial"/>
              </a:rPr>
              <a:t>EXPLAIN</a:t>
            </a:r>
          </a:p>
        </p:txBody>
      </p:sp>
      <p:sp>
        <p:nvSpPr>
          <p:cNvPr id="5" name="">
            <a:extLst xmlns:a="http://schemas.openxmlformats.org/drawingml/2006/main">
              <a:ext uri="{FF2B5EF4-FFF2-40B4-BE49-F238E27FC236}">
                <a16:creationId xmlns:a16="http://schemas.microsoft.com/office/drawing/2014/main" id="{56329772-840C-4BFB-859A-493D2CC0CD3C}"/>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13F7EEE-7861-4739-9B41-4F99824ADDD2}"/>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1E9489DC-ABBE-4EBD-AAA3-A9BE15033DC0}"/>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7  slide</a:t>
            </a:r>
          </a:p>
        </p:txBody>
      </p:sp>
      <p:sp>
        <p:nvSpPr>
          <p:cNvPr id="8" name="">
            <a:extLst xmlns:a="http://schemas.openxmlformats.org/drawingml/2006/main">
              <a:ext uri="{FF2B5EF4-FFF2-40B4-BE49-F238E27FC236}">
                <a16:creationId xmlns:a16="http://schemas.microsoft.com/office/drawing/2014/main" id="{42684FC2-A7AC-46DA-BF01-FB9C36B258ED}"/>
              </a:ext>
            </a:extLst>
          </p:cNvPr>
          <p:cNvSpPr>
            <a:spLocks xmlns:a="http://schemas.openxmlformats.org/drawingml/2006/main" noGrp="1"/>
          </p:cNvSpPr>
          <p:nvPr/>
        </p:nvSpPr>
        <p:spPr>
          <a:xfrm xmlns:a="http://schemas.openxmlformats.org/drawingml/2006/main">
            <a:off x="666750" y="1562100"/>
            <a:ext cx="5257800" cy="2495550"/>
          </a:xfrm>
          <a:prstGeom xmlns:a="http://schemas.openxmlformats.org/drawingml/2006/main" prst="rect">
            <a:avLst/>
          </a:prstGeom>
          <a:solidFill xmlns:a="http://schemas.openxmlformats.org/drawingml/2006/main">
            <a:srgbClr val="DDEFF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00BF694-0CE9-46FD-99C6-A86918BB7B66}"/>
              </a:ext>
            </a:extLst>
          </p:cNvPr>
          <p:cNvSpPr>
            <a:spLocks xmlns:a="http://schemas.openxmlformats.org/drawingml/2006/main" noGrp="1"/>
          </p:cNvSpPr>
          <p:nvPr/>
        </p:nvSpPr>
        <p:spPr>
          <a:xfrm xmlns:a="http://schemas.openxmlformats.org/drawingml/2006/main">
            <a:off x="933450" y="1752600"/>
            <a:ext cx="472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975" b="1" i="0">
                <a:solidFill>
                  <a:srgbClr val="1777B4"/>
                </a:solidFill>
                <a:latin typeface="Arial"/>
                <a:ea typeface="Arial"/>
                <a:cs typeface="Arial"/>
              </a:defRPr>
            </a:pPr>
            <a:r>
              <a:rPr sz="975" b="1" i="0">
                <a:solidFill>
                  <a:srgbClr val="1777B4"/>
                </a:solidFill>
                <a:latin typeface="Arial"/>
                <a:ea typeface="Arial"/>
                <a:cs typeface="Arial"/>
              </a:rPr>
              <a:t>DISTANCE</a:t>
            </a:r>
          </a:p>
        </p:txBody>
      </p:sp>
      <p:sp>
        <p:nvSpPr>
          <p:cNvPr id="10" name="">
            <a:extLst xmlns:a="http://schemas.openxmlformats.org/drawingml/2006/main">
              <a:ext uri="{FF2B5EF4-FFF2-40B4-BE49-F238E27FC236}">
                <a16:creationId xmlns:a16="http://schemas.microsoft.com/office/drawing/2014/main" id="{B7089AC1-AA8C-433C-94A1-02A043A03F06}"/>
              </a:ext>
            </a:extLst>
          </p:cNvPr>
          <p:cNvSpPr>
            <a:spLocks xmlns:a="http://schemas.openxmlformats.org/drawingml/2006/main" noGrp="1"/>
          </p:cNvSpPr>
          <p:nvPr/>
        </p:nvSpPr>
        <p:spPr>
          <a:xfrm xmlns:a="http://schemas.openxmlformats.org/drawingml/2006/main">
            <a:off x="876300" y="2247900"/>
            <a:ext cx="485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475" b="1" i="0">
                <a:solidFill>
                  <a:srgbClr val="193B55"/>
                </a:solidFill>
                <a:latin typeface="Cambria Math"/>
                <a:ea typeface="Cambria Math"/>
                <a:cs typeface="Cambria Math"/>
              </a:defRPr>
            </a:pPr>
            <a:r>
              <a:rPr sz="2475" b="1" i="0">
                <a:solidFill>
                  <a:srgbClr val="193B55"/>
                </a:solidFill>
                <a:latin typeface="Cambria Math"/>
                <a:ea typeface="Cambria Math"/>
                <a:cs typeface="Cambria Math"/>
              </a:rPr>
              <a:t>d = √((x₂ − x₁)² + (y₂ − y₁)²)</a:t>
            </a:r>
          </a:p>
        </p:txBody>
      </p:sp>
      <p:sp>
        <p:nvSpPr>
          <p:cNvPr id="11" name="">
            <a:extLst xmlns:a="http://schemas.openxmlformats.org/drawingml/2006/main">
              <a:ext uri="{FF2B5EF4-FFF2-40B4-BE49-F238E27FC236}">
                <a16:creationId xmlns:a16="http://schemas.microsoft.com/office/drawing/2014/main" id="{F5EA1A82-D470-4052-B737-2860B68F01C0}"/>
              </a:ext>
            </a:extLst>
          </p:cNvPr>
          <p:cNvSpPr>
            <a:spLocks xmlns:a="http://schemas.openxmlformats.org/drawingml/2006/main" noGrp="1"/>
          </p:cNvSpPr>
          <p:nvPr/>
        </p:nvSpPr>
        <p:spPr>
          <a:xfrm xmlns:a="http://schemas.openxmlformats.org/drawingml/2006/main">
            <a:off x="971550" y="3181350"/>
            <a:ext cx="4648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350" b="0" i="0">
                <a:solidFill>
                  <a:srgbClr val="60798D"/>
                </a:solidFill>
                <a:latin typeface="Arial"/>
                <a:ea typeface="Arial"/>
                <a:cs typeface="Arial"/>
              </a:defRPr>
            </a:pPr>
            <a:r>
              <a:rPr sz="1350" b="0" i="0">
                <a:solidFill>
                  <a:srgbClr val="60798D"/>
                </a:solidFill>
                <a:latin typeface="Arial"/>
                <a:ea typeface="Arial"/>
                <a:cs typeface="Arial"/>
              </a:rPr>
              <a:t>Square the coordinate changes, add, then take the square root.</a:t>
            </a:r>
          </a:p>
        </p:txBody>
      </p:sp>
      <p:sp>
        <p:nvSpPr>
          <p:cNvPr id="12" name="">
            <a:extLst xmlns:a="http://schemas.openxmlformats.org/drawingml/2006/main">
              <a:ext uri="{FF2B5EF4-FFF2-40B4-BE49-F238E27FC236}">
                <a16:creationId xmlns:a16="http://schemas.microsoft.com/office/drawing/2014/main" id="{FDD94CE0-FDC5-42FC-8155-F4AB77F7DBE9}"/>
              </a:ext>
            </a:extLst>
          </p:cNvPr>
          <p:cNvSpPr>
            <a:spLocks xmlns:a="http://schemas.openxmlformats.org/drawingml/2006/main" noGrp="1"/>
          </p:cNvSpPr>
          <p:nvPr/>
        </p:nvSpPr>
        <p:spPr>
          <a:xfrm xmlns:a="http://schemas.openxmlformats.org/drawingml/2006/main">
            <a:off x="6267450" y="1562100"/>
            <a:ext cx="5257800" cy="2495550"/>
          </a:xfrm>
          <a:prstGeom xmlns:a="http://schemas.openxmlformats.org/drawingml/2006/main" prst="rect">
            <a:avLst/>
          </a:prstGeom>
          <a:solidFill xmlns:a="http://schemas.openxmlformats.org/drawingml/2006/main">
            <a:srgbClr val="E4F4E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E21D8F1-7268-48D0-A624-2031F7D391CC}"/>
              </a:ext>
            </a:extLst>
          </p:cNvPr>
          <p:cNvSpPr>
            <a:spLocks xmlns:a="http://schemas.openxmlformats.org/drawingml/2006/main" noGrp="1"/>
          </p:cNvSpPr>
          <p:nvPr/>
        </p:nvSpPr>
        <p:spPr>
          <a:xfrm xmlns:a="http://schemas.openxmlformats.org/drawingml/2006/main">
            <a:off x="6534150" y="1752600"/>
            <a:ext cx="472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975" b="1" i="0">
                <a:solidFill>
                  <a:srgbClr val="168A6B"/>
                </a:solidFill>
                <a:latin typeface="Arial"/>
                <a:ea typeface="Arial"/>
                <a:cs typeface="Arial"/>
              </a:defRPr>
            </a:pPr>
            <a:r>
              <a:rPr sz="975" b="1" i="0">
                <a:solidFill>
                  <a:srgbClr val="168A6B"/>
                </a:solidFill>
                <a:latin typeface="Arial"/>
                <a:ea typeface="Arial"/>
                <a:cs typeface="Arial"/>
              </a:rPr>
              <a:t>MIDPOINT</a:t>
            </a:r>
          </a:p>
        </p:txBody>
      </p:sp>
      <p:sp>
        <p:nvSpPr>
          <p:cNvPr id="14" name="">
            <a:extLst xmlns:a="http://schemas.openxmlformats.org/drawingml/2006/main">
              <a:ext uri="{FF2B5EF4-FFF2-40B4-BE49-F238E27FC236}">
                <a16:creationId xmlns:a16="http://schemas.microsoft.com/office/drawing/2014/main" id="{F8D97D71-9CF0-418D-A490-AAABA2899F6F}"/>
              </a:ext>
            </a:extLst>
          </p:cNvPr>
          <p:cNvSpPr>
            <a:spLocks xmlns:a="http://schemas.openxmlformats.org/drawingml/2006/main" noGrp="1"/>
          </p:cNvSpPr>
          <p:nvPr/>
        </p:nvSpPr>
        <p:spPr>
          <a:xfrm xmlns:a="http://schemas.openxmlformats.org/drawingml/2006/main">
            <a:off x="6457950" y="2247900"/>
            <a:ext cx="485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400" b="1" i="0">
                <a:solidFill>
                  <a:srgbClr val="193B55"/>
                </a:solidFill>
                <a:latin typeface="Cambria Math"/>
                <a:ea typeface="Cambria Math"/>
                <a:cs typeface="Cambria Math"/>
              </a:defRPr>
            </a:pPr>
            <a:r>
              <a:rPr sz="2400" b="1" i="0">
                <a:solidFill>
                  <a:srgbClr val="193B55"/>
                </a:solidFill>
                <a:latin typeface="Cambria Math"/>
                <a:ea typeface="Cambria Math"/>
                <a:cs typeface="Cambria Math"/>
              </a:rPr>
              <a:t>M = (½(x₁ + x₂), ½(y₁ + y₂))</a:t>
            </a:r>
          </a:p>
        </p:txBody>
      </p:sp>
      <p:sp>
        <p:nvSpPr>
          <p:cNvPr id="15" name="">
            <a:extLst xmlns:a="http://schemas.openxmlformats.org/drawingml/2006/main">
              <a:ext uri="{FF2B5EF4-FFF2-40B4-BE49-F238E27FC236}">
                <a16:creationId xmlns:a16="http://schemas.microsoft.com/office/drawing/2014/main" id="{E0F6D425-642D-41C5-B511-8D3D7B6A6372}"/>
              </a:ext>
            </a:extLst>
          </p:cNvPr>
          <p:cNvSpPr>
            <a:spLocks xmlns:a="http://schemas.openxmlformats.org/drawingml/2006/main" noGrp="1"/>
          </p:cNvSpPr>
          <p:nvPr/>
        </p:nvSpPr>
        <p:spPr>
          <a:xfrm xmlns:a="http://schemas.openxmlformats.org/drawingml/2006/main">
            <a:off x="6572250" y="3181350"/>
            <a:ext cx="4648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350" b="0" i="0">
                <a:solidFill>
                  <a:srgbClr val="60798D"/>
                </a:solidFill>
                <a:latin typeface="Arial"/>
                <a:ea typeface="Arial"/>
                <a:cs typeface="Arial"/>
              </a:defRPr>
            </a:pPr>
            <a:r>
              <a:rPr sz="1350" b="0" i="0">
                <a:solidFill>
                  <a:srgbClr val="60798D"/>
                </a:solidFill>
                <a:latin typeface="Arial"/>
                <a:ea typeface="Arial"/>
                <a:cs typeface="Arial"/>
              </a:rPr>
              <a:t>Average the x-coordinates and y-coordinates separately.</a:t>
            </a:r>
          </a:p>
        </p:txBody>
      </p:sp>
      <p:sp>
        <p:nvSpPr>
          <p:cNvPr id="16" name="">
            <a:extLst xmlns:a="http://schemas.openxmlformats.org/drawingml/2006/main">
              <a:ext uri="{FF2B5EF4-FFF2-40B4-BE49-F238E27FC236}">
                <a16:creationId xmlns:a16="http://schemas.microsoft.com/office/drawing/2014/main" id="{3988B38B-8166-4BB3-BAE5-623179FDC0D0}"/>
              </a:ext>
            </a:extLst>
          </p:cNvPr>
          <p:cNvSpPr>
            <a:spLocks xmlns:a="http://schemas.openxmlformats.org/drawingml/2006/main" noGrp="1"/>
          </p:cNvSpPr>
          <p:nvPr/>
        </p:nvSpPr>
        <p:spPr>
          <a:xfrm xmlns:a="http://schemas.openxmlformats.org/drawingml/2006/main">
            <a:off x="666750" y="4457700"/>
            <a:ext cx="10858500" cy="857250"/>
          </a:xfrm>
          <a:prstGeom xmlns:a="http://schemas.openxmlformats.org/drawingml/2006/main" prst="rect">
            <a:avLst/>
          </a:prstGeom>
          <a:solidFill xmlns:a="http://schemas.openxmlformats.org/drawingml/2006/main">
            <a:srgbClr val="F3F6F8"/>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8E95773-ABBB-4BC0-904E-0AD20AC8621F}"/>
              </a:ext>
            </a:extLst>
          </p:cNvPr>
          <p:cNvSpPr>
            <a:spLocks xmlns:a="http://schemas.openxmlformats.org/drawingml/2006/main" noGrp="1"/>
          </p:cNvSpPr>
          <p:nvPr/>
        </p:nvSpPr>
        <p:spPr>
          <a:xfrm xmlns:a="http://schemas.openxmlformats.org/drawingml/2006/main">
            <a:off x="914400" y="4648200"/>
            <a:ext cx="10363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800" b="1" i="0">
                <a:solidFill>
                  <a:srgbClr val="193B55"/>
                </a:solidFill>
                <a:latin typeface="Arial"/>
                <a:ea typeface="Arial"/>
                <a:cs typeface="Arial"/>
              </a:defRPr>
            </a:pPr>
            <a:r>
              <a:rPr sz="1800" b="1" i="0">
                <a:solidFill>
                  <a:srgbClr val="193B55"/>
                </a:solidFill>
                <a:latin typeface="Arial"/>
                <a:ea typeface="Arial"/>
                <a:cs typeface="Arial"/>
              </a:rPr>
              <a:t>Distance measures length. Midpoint locates the halfway point.</a:t>
            </a:r>
          </a:p>
        </p:txBody>
      </p:sp>
    </p:spTree>
    <p:extLst>
      <p:ext uri="{BB962C8B-B14F-4D97-AF65-F5344CB8AC3E}">
        <p14:creationId xmlns:p14="http://schemas.microsoft.com/office/powerpoint/2010/main" val="86432989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5569370-5778-4C17-8012-DA787CBC22F5}"/>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1CCCF3-8D79-4712-A1B8-C5083AA53709}"/>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Worked example</a:t>
            </a:r>
          </a:p>
        </p:txBody>
      </p:sp>
      <p:sp>
        <p:nvSpPr>
          <p:cNvPr id="3" name="">
            <a:extLst xmlns:a="http://schemas.openxmlformats.org/drawingml/2006/main">
              <a:ext uri="{FF2B5EF4-FFF2-40B4-BE49-F238E27FC236}">
                <a16:creationId xmlns:a16="http://schemas.microsoft.com/office/drawing/2014/main" id="{C30331F1-9A78-4C77-8414-C12DBF99AD1F}"/>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A(−2, 1) and B(4, 5)</a:t>
            </a:r>
          </a:p>
        </p:txBody>
      </p:sp>
      <p:sp>
        <p:nvSpPr>
          <p:cNvPr id="4" name="">
            <a:extLst xmlns:a="http://schemas.openxmlformats.org/drawingml/2006/main">
              <a:ext uri="{FF2B5EF4-FFF2-40B4-BE49-F238E27FC236}">
                <a16:creationId xmlns:a16="http://schemas.microsoft.com/office/drawing/2014/main" id="{7781D9C1-7C5D-4CA6-8043-F87A19A39AE8}"/>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1777B4"/>
                </a:solidFill>
                <a:latin typeface="Arial"/>
                <a:ea typeface="Arial"/>
                <a:cs typeface="Arial"/>
              </a:defRPr>
            </a:pPr>
            <a:r>
              <a:rPr sz="900" b="1" i="0">
                <a:solidFill>
                  <a:srgbClr val="1777B4"/>
                </a:solidFill>
                <a:latin typeface="Arial"/>
                <a:ea typeface="Arial"/>
                <a:cs typeface="Arial"/>
              </a:rPr>
              <a:t>MODEL</a:t>
            </a:r>
          </a:p>
        </p:txBody>
      </p:sp>
      <p:sp>
        <p:nvSpPr>
          <p:cNvPr id="5" name="">
            <a:extLst xmlns:a="http://schemas.openxmlformats.org/drawingml/2006/main">
              <a:ext uri="{FF2B5EF4-FFF2-40B4-BE49-F238E27FC236}">
                <a16:creationId xmlns:a16="http://schemas.microsoft.com/office/drawing/2014/main" id="{806F6F07-C926-433E-817F-CDCDCAA05AD9}"/>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EE0EE87-573C-446E-9741-566FFE17098D}"/>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52E7E12B-CB38-4005-9172-C616970E3D1E}"/>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8  slide</a:t>
            </a:r>
          </a:p>
        </p:txBody>
      </p:sp>
      <p:sp>
        <p:nvSpPr>
          <p:cNvPr id="8" name="">
            <a:extLst xmlns:a="http://schemas.openxmlformats.org/drawingml/2006/main">
              <a:ext uri="{FF2B5EF4-FFF2-40B4-BE49-F238E27FC236}">
                <a16:creationId xmlns:a16="http://schemas.microsoft.com/office/drawing/2014/main" id="{AEFF6E78-EB10-4520-9215-B12E6D84225E}"/>
              </a:ext>
            </a:extLst>
          </p:cNvPr>
          <p:cNvSpPr>
            <a:spLocks xmlns:a="http://schemas.openxmlformats.org/drawingml/2006/main" noGrp="1"/>
          </p:cNvSpPr>
          <p:nvPr/>
        </p:nvSpPr>
        <p:spPr>
          <a:xfrm xmlns:a="http://schemas.openxmlformats.org/drawingml/2006/main">
            <a:off x="666750" y="1428750"/>
            <a:ext cx="10858500" cy="666750"/>
          </a:xfrm>
          <a:prstGeom xmlns:a="http://schemas.openxmlformats.org/drawingml/2006/main" prst="rect">
            <a:avLst/>
          </a:prstGeom>
          <a:solidFill xmlns:a="http://schemas.openxmlformats.org/drawingml/2006/main">
            <a:srgbClr val="DDEFF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3881BA-E7C1-4EBF-9573-735353F02245}"/>
              </a:ext>
            </a:extLst>
          </p:cNvPr>
          <p:cNvSpPr>
            <a:spLocks xmlns:a="http://schemas.openxmlformats.org/drawingml/2006/main" noGrp="1"/>
          </p:cNvSpPr>
          <p:nvPr/>
        </p:nvSpPr>
        <p:spPr>
          <a:xfrm xmlns:a="http://schemas.openxmlformats.org/drawingml/2006/main">
            <a:off x="895350" y="1524000"/>
            <a:ext cx="10401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325" b="1" i="0">
                <a:solidFill>
                  <a:srgbClr val="193B55"/>
                </a:solidFill>
                <a:latin typeface="Cambria Math"/>
                <a:ea typeface="Cambria Math"/>
                <a:cs typeface="Cambria Math"/>
              </a:defRPr>
            </a:pPr>
            <a:r>
              <a:rPr sz="2325" b="1" i="0">
                <a:solidFill>
                  <a:srgbClr val="193B55"/>
                </a:solidFill>
                <a:latin typeface="Cambria Math"/>
                <a:ea typeface="Cambria Math"/>
                <a:cs typeface="Cambria Math"/>
              </a:rPr>
              <a:t>Δx = 6       Δy = 4</a:t>
            </a:r>
          </a:p>
        </p:txBody>
      </p:sp>
      <p:sp>
        <p:nvSpPr>
          <p:cNvPr id="10" name="">
            <a:extLst xmlns:a="http://schemas.openxmlformats.org/drawingml/2006/main">
              <a:ext uri="{FF2B5EF4-FFF2-40B4-BE49-F238E27FC236}">
                <a16:creationId xmlns:a16="http://schemas.microsoft.com/office/drawing/2014/main" id="{6E1129F4-B786-4774-BDD5-A86B77F55009}"/>
              </a:ext>
            </a:extLst>
          </p:cNvPr>
          <p:cNvSpPr>
            <a:spLocks xmlns:a="http://schemas.openxmlformats.org/drawingml/2006/main" noGrp="1"/>
          </p:cNvSpPr>
          <p:nvPr/>
        </p:nvSpPr>
        <p:spPr>
          <a:xfrm xmlns:a="http://schemas.openxmlformats.org/drawingml/2006/main">
            <a:off x="666750" y="2400300"/>
            <a:ext cx="5257800" cy="2628900"/>
          </a:xfrm>
          <a:prstGeom xmlns:a="http://schemas.openxmlformats.org/drawingml/2006/main" prst="rect">
            <a:avLst/>
          </a:prstGeom>
          <a:solidFill xmlns:a="http://schemas.openxmlformats.org/drawingml/2006/main">
            <a:srgbClr val="F3F6F8"/>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E180EBA-6E07-4B35-B5CB-98A88916221A}"/>
              </a:ext>
            </a:extLst>
          </p:cNvPr>
          <p:cNvSpPr>
            <a:spLocks xmlns:a="http://schemas.openxmlformats.org/drawingml/2006/main" noGrp="1"/>
          </p:cNvSpPr>
          <p:nvPr/>
        </p:nvSpPr>
        <p:spPr>
          <a:xfrm xmlns:a="http://schemas.openxmlformats.org/drawingml/2006/main">
            <a:off x="933450" y="2590800"/>
            <a:ext cx="4724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575" b="1" i="0">
                <a:solidFill>
                  <a:srgbClr val="1777B4"/>
                </a:solidFill>
                <a:latin typeface="Arial"/>
                <a:ea typeface="Arial"/>
                <a:cs typeface="Arial"/>
              </a:defRPr>
            </a:pPr>
            <a:r>
              <a:rPr sz="1575" b="1" i="0">
                <a:solidFill>
                  <a:srgbClr val="1777B4"/>
                </a:solidFill>
                <a:latin typeface="Arial"/>
                <a:ea typeface="Arial"/>
                <a:cs typeface="Arial"/>
              </a:rPr>
              <a:t>Distance</a:t>
            </a:r>
          </a:p>
        </p:txBody>
      </p:sp>
      <p:sp>
        <p:nvSpPr>
          <p:cNvPr id="12" name="">
            <a:extLst xmlns:a="http://schemas.openxmlformats.org/drawingml/2006/main">
              <a:ext uri="{FF2B5EF4-FFF2-40B4-BE49-F238E27FC236}">
                <a16:creationId xmlns:a16="http://schemas.microsoft.com/office/drawing/2014/main" id="{3723B838-751E-44AF-A9E4-BD0992C28954}"/>
              </a:ext>
            </a:extLst>
          </p:cNvPr>
          <p:cNvSpPr>
            <a:spLocks xmlns:a="http://schemas.openxmlformats.org/drawingml/2006/main" noGrp="1"/>
          </p:cNvSpPr>
          <p:nvPr/>
        </p:nvSpPr>
        <p:spPr>
          <a:xfrm xmlns:a="http://schemas.openxmlformats.org/drawingml/2006/main">
            <a:off x="933450" y="3067050"/>
            <a:ext cx="4724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250" b="1" i="0">
                <a:solidFill>
                  <a:srgbClr val="193B55"/>
                </a:solidFill>
                <a:latin typeface="Cambria Math"/>
                <a:ea typeface="Cambria Math"/>
                <a:cs typeface="Cambria Math"/>
              </a:defRPr>
            </a:pPr>
            <a:r>
              <a:rPr sz="2250" b="1" i="0">
                <a:solidFill>
                  <a:srgbClr val="193B55"/>
                </a:solidFill>
                <a:latin typeface="Cambria Math"/>
                <a:ea typeface="Cambria Math"/>
                <a:cs typeface="Cambria Math"/>
              </a:rPr>
              <a:t>d = √(6² + 4²)</a:t>
            </a:r>
          </a:p>
          <a:p xmlns:a="http://schemas.openxmlformats.org/drawingml/2006/main">
            <a:pPr algn="ctr">
              <a:buNone/>
              <a:defRPr sz="2250" b="1" i="0">
                <a:solidFill>
                  <a:srgbClr val="193B55"/>
                </a:solidFill>
                <a:latin typeface="Cambria Math"/>
                <a:ea typeface="Cambria Math"/>
                <a:cs typeface="Cambria Math"/>
              </a:defRPr>
            </a:pPr>
            <a:r>
              <a:rPr sz="2250" b="1" i="0">
                <a:solidFill>
                  <a:srgbClr val="193B55"/>
                </a:solidFill>
                <a:latin typeface="Cambria Math"/>
                <a:ea typeface="Cambria Math"/>
                <a:cs typeface="Cambria Math"/>
              </a:rPr>
              <a:t>d = √52 = 2√13</a:t>
            </a:r>
          </a:p>
          <a:p xmlns:a="http://schemas.openxmlformats.org/drawingml/2006/main">
            <a:pPr algn="ctr">
              <a:buNone/>
              <a:defRPr sz="2250" b="1" i="0">
                <a:solidFill>
                  <a:srgbClr val="193B55"/>
                </a:solidFill>
                <a:latin typeface="Cambria Math"/>
                <a:ea typeface="Cambria Math"/>
                <a:cs typeface="Cambria Math"/>
              </a:defRPr>
            </a:pPr>
            <a:r>
              <a:rPr sz="2250" b="1" i="0">
                <a:solidFill>
                  <a:srgbClr val="193B55"/>
                </a:solidFill>
                <a:latin typeface="Cambria Math"/>
                <a:ea typeface="Cambria Math"/>
                <a:cs typeface="Cambria Math"/>
              </a:rPr>
              <a:t>d ≈ 7.2</a:t>
            </a:r>
          </a:p>
        </p:txBody>
      </p:sp>
      <p:sp>
        <p:nvSpPr>
          <p:cNvPr id="13" name="">
            <a:extLst xmlns:a="http://schemas.openxmlformats.org/drawingml/2006/main">
              <a:ext uri="{FF2B5EF4-FFF2-40B4-BE49-F238E27FC236}">
                <a16:creationId xmlns:a16="http://schemas.microsoft.com/office/drawing/2014/main" id="{5C32A572-DE67-4E09-AF20-F8983ADE67BC}"/>
              </a:ext>
            </a:extLst>
          </p:cNvPr>
          <p:cNvSpPr>
            <a:spLocks xmlns:a="http://schemas.openxmlformats.org/drawingml/2006/main" noGrp="1"/>
          </p:cNvSpPr>
          <p:nvPr/>
        </p:nvSpPr>
        <p:spPr>
          <a:xfrm xmlns:a="http://schemas.openxmlformats.org/drawingml/2006/main">
            <a:off x="6267450" y="2400300"/>
            <a:ext cx="5257800" cy="2628900"/>
          </a:xfrm>
          <a:prstGeom xmlns:a="http://schemas.openxmlformats.org/drawingml/2006/main" prst="rect">
            <a:avLst/>
          </a:prstGeom>
          <a:solidFill xmlns:a="http://schemas.openxmlformats.org/drawingml/2006/main">
            <a:srgbClr val="E4F4E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514A0AE-D6AD-4932-95D1-F130F93E6277}"/>
              </a:ext>
            </a:extLst>
          </p:cNvPr>
          <p:cNvSpPr>
            <a:spLocks xmlns:a="http://schemas.openxmlformats.org/drawingml/2006/main" noGrp="1"/>
          </p:cNvSpPr>
          <p:nvPr/>
        </p:nvSpPr>
        <p:spPr>
          <a:xfrm xmlns:a="http://schemas.openxmlformats.org/drawingml/2006/main">
            <a:off x="6534150" y="2590800"/>
            <a:ext cx="4724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575" b="1" i="0">
                <a:solidFill>
                  <a:srgbClr val="168A6B"/>
                </a:solidFill>
                <a:latin typeface="Arial"/>
                <a:ea typeface="Arial"/>
                <a:cs typeface="Arial"/>
              </a:defRPr>
            </a:pPr>
            <a:r>
              <a:rPr sz="1575" b="1" i="0">
                <a:solidFill>
                  <a:srgbClr val="168A6B"/>
                </a:solidFill>
                <a:latin typeface="Arial"/>
                <a:ea typeface="Arial"/>
                <a:cs typeface="Arial"/>
              </a:rPr>
              <a:t>Midpoint</a:t>
            </a:r>
          </a:p>
        </p:txBody>
      </p:sp>
      <p:sp>
        <p:nvSpPr>
          <p:cNvPr id="15" name="">
            <a:extLst xmlns:a="http://schemas.openxmlformats.org/drawingml/2006/main">
              <a:ext uri="{FF2B5EF4-FFF2-40B4-BE49-F238E27FC236}">
                <a16:creationId xmlns:a16="http://schemas.microsoft.com/office/drawing/2014/main" id="{75D50A80-62E1-4225-9FD7-4AD42F58E83A}"/>
              </a:ext>
            </a:extLst>
          </p:cNvPr>
          <p:cNvSpPr>
            <a:spLocks xmlns:a="http://schemas.openxmlformats.org/drawingml/2006/main" noGrp="1"/>
          </p:cNvSpPr>
          <p:nvPr/>
        </p:nvSpPr>
        <p:spPr>
          <a:xfrm xmlns:a="http://schemas.openxmlformats.org/drawingml/2006/main">
            <a:off x="6534150" y="3067050"/>
            <a:ext cx="4724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00" b="1" i="0">
                <a:solidFill>
                  <a:srgbClr val="193B55"/>
                </a:solidFill>
                <a:latin typeface="Cambria Math"/>
                <a:ea typeface="Cambria Math"/>
                <a:cs typeface="Cambria Math"/>
              </a:defRPr>
            </a:pPr>
            <a:r>
              <a:rPr sz="2100" b="1" i="0">
                <a:solidFill>
                  <a:srgbClr val="193B55"/>
                </a:solidFill>
                <a:latin typeface="Cambria Math"/>
                <a:ea typeface="Cambria Math"/>
                <a:cs typeface="Cambria Math"/>
              </a:rPr>
              <a:t>M = (½(−2 + 4), ½(1 + 5))</a:t>
            </a:r>
          </a:p>
          <a:p xmlns:a="http://schemas.openxmlformats.org/drawingml/2006/main">
            <a:pPr algn="ctr">
              <a:buNone/>
              <a:defRPr sz="2100" b="1" i="0">
                <a:solidFill>
                  <a:srgbClr val="193B55"/>
                </a:solidFill>
                <a:latin typeface="Cambria Math"/>
                <a:ea typeface="Cambria Math"/>
                <a:cs typeface="Cambria Math"/>
              </a:defRPr>
            </a:pPr>
            <a:r>
              <a:rPr sz="2100" b="1" i="0">
                <a:solidFill>
                  <a:srgbClr val="193B55"/>
                </a:solidFill>
                <a:latin typeface="Cambria Math"/>
                <a:ea typeface="Cambria Math"/>
                <a:cs typeface="Cambria Math"/>
              </a:rPr>
              <a:t>M = (½ · 2, ½ · 6)</a:t>
            </a:r>
          </a:p>
          <a:p xmlns:a="http://schemas.openxmlformats.org/drawingml/2006/main">
            <a:pPr algn="ctr">
              <a:buNone/>
              <a:defRPr sz="2100" b="1" i="0">
                <a:solidFill>
                  <a:srgbClr val="193B55"/>
                </a:solidFill>
                <a:latin typeface="Cambria Math"/>
                <a:ea typeface="Cambria Math"/>
                <a:cs typeface="Cambria Math"/>
              </a:defRPr>
            </a:pPr>
            <a:r>
              <a:rPr sz="2100" b="1" i="0">
                <a:solidFill>
                  <a:srgbClr val="193B55"/>
                </a:solidFill>
                <a:latin typeface="Cambria Math"/>
                <a:ea typeface="Cambria Math"/>
                <a:cs typeface="Cambria Math"/>
              </a:rPr>
              <a:t>M = (1, 3)</a:t>
            </a:r>
          </a:p>
        </p:txBody>
      </p:sp>
      <p:sp>
        <p:nvSpPr>
          <p:cNvPr id="16" name="">
            <a:extLst xmlns:a="http://schemas.openxmlformats.org/drawingml/2006/main">
              <a:ext uri="{FF2B5EF4-FFF2-40B4-BE49-F238E27FC236}">
                <a16:creationId xmlns:a16="http://schemas.microsoft.com/office/drawing/2014/main" id="{86524268-0B7D-49F9-82E7-F2088B0390C1}"/>
              </a:ext>
            </a:extLst>
          </p:cNvPr>
          <p:cNvSpPr>
            <a:spLocks xmlns:a="http://schemas.openxmlformats.org/drawingml/2006/main" noGrp="1"/>
          </p:cNvSpPr>
          <p:nvPr/>
        </p:nvSpPr>
        <p:spPr>
          <a:xfrm xmlns:a="http://schemas.openxmlformats.org/drawingml/2006/main">
            <a:off x="666750" y="541020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425" b="1" i="0">
                <a:solidFill>
                  <a:srgbClr val="E45D50"/>
                </a:solidFill>
                <a:latin typeface="Arial"/>
                <a:ea typeface="Arial"/>
                <a:cs typeface="Arial"/>
              </a:defRPr>
            </a:pPr>
            <a:r>
              <a:rPr sz="1425" b="1" i="0">
                <a:solidFill>
                  <a:srgbClr val="E45D50"/>
                </a:solidFill>
                <a:latin typeface="Arial"/>
                <a:ea typeface="Arial"/>
                <a:cs typeface="Arial"/>
              </a:rPr>
              <a:t>Keep the exact radical unless the prompt requests a decimal.</a:t>
            </a:r>
          </a:p>
        </p:txBody>
      </p:sp>
    </p:spTree>
    <p:extLst>
      <p:ext uri="{BB962C8B-B14F-4D97-AF65-F5344CB8AC3E}">
        <p14:creationId xmlns:p14="http://schemas.microsoft.com/office/powerpoint/2010/main" val="86067851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DB06DA5B-467E-4B8A-A37C-89B0F51CC148}"/>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558853-347E-40DA-8A29-1FDCD739CEEA}"/>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Distance and midpoint practice</a:t>
            </a:r>
          </a:p>
        </p:txBody>
      </p:sp>
      <p:sp>
        <p:nvSpPr>
          <p:cNvPr id="3" name="">
            <a:extLst xmlns:a="http://schemas.openxmlformats.org/drawingml/2006/main">
              <a:ext uri="{FF2B5EF4-FFF2-40B4-BE49-F238E27FC236}">
                <a16:creationId xmlns:a16="http://schemas.microsoft.com/office/drawing/2014/main" id="{9154E11B-1259-487C-B6A0-D79F1D3A42B1}"/>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Work independently for 4 minutes.</a:t>
            </a:r>
          </a:p>
        </p:txBody>
      </p:sp>
      <p:sp>
        <p:nvSpPr>
          <p:cNvPr id="4" name="">
            <a:extLst xmlns:a="http://schemas.openxmlformats.org/drawingml/2006/main">
              <a:ext uri="{FF2B5EF4-FFF2-40B4-BE49-F238E27FC236}">
                <a16:creationId xmlns:a16="http://schemas.microsoft.com/office/drawing/2014/main" id="{DE55328A-F949-4627-BCAF-8C2C7E2DA57E}"/>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F4B52A"/>
                </a:solidFill>
                <a:latin typeface="Arial"/>
                <a:ea typeface="Arial"/>
                <a:cs typeface="Arial"/>
              </a:defRPr>
            </a:pPr>
            <a:r>
              <a:rPr sz="900" b="1" i="0">
                <a:solidFill>
                  <a:srgbClr val="F4B52A"/>
                </a:solidFill>
                <a:latin typeface="Arial"/>
                <a:ea typeface="Arial"/>
                <a:cs typeface="Arial"/>
              </a:rPr>
              <a:t>PRACTICE</a:t>
            </a:r>
          </a:p>
        </p:txBody>
      </p:sp>
      <p:sp>
        <p:nvSpPr>
          <p:cNvPr id="5" name="">
            <a:extLst xmlns:a="http://schemas.openxmlformats.org/drawingml/2006/main">
              <a:ext uri="{FF2B5EF4-FFF2-40B4-BE49-F238E27FC236}">
                <a16:creationId xmlns:a16="http://schemas.microsoft.com/office/drawing/2014/main" id="{430BA63F-F1FA-439F-869B-645E4CC173E3}"/>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EF6E7DC-BCCC-4551-9799-DF507ACDACBA}"/>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956E1A52-A96A-405A-B50D-14285E86D5E7}"/>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9  slide</a:t>
            </a:r>
          </a:p>
        </p:txBody>
      </p:sp>
      <p:sp>
        <p:nvSpPr>
          <p:cNvPr id="8" name="">
            <a:extLst xmlns:a="http://schemas.openxmlformats.org/drawingml/2006/main">
              <a:ext uri="{FF2B5EF4-FFF2-40B4-BE49-F238E27FC236}">
                <a16:creationId xmlns:a16="http://schemas.microsoft.com/office/drawing/2014/main" id="{5C7BF463-F1D7-40E0-9D98-4D484B3D0C87}"/>
              </a:ext>
            </a:extLst>
          </p:cNvPr>
          <p:cNvSpPr>
            <a:spLocks xmlns:a="http://schemas.openxmlformats.org/drawingml/2006/main" noGrp="1"/>
          </p:cNvSpPr>
          <p:nvPr/>
        </p:nvSpPr>
        <p:spPr>
          <a:xfrm xmlns:a="http://schemas.openxmlformats.org/drawingml/2006/main">
            <a:off x="819150" y="1524000"/>
            <a:ext cx="10553700" cy="1028700"/>
          </a:xfrm>
          <a:prstGeom xmlns:a="http://schemas.openxmlformats.org/drawingml/2006/main" prst="rect">
            <a:avLst/>
          </a:prstGeom>
          <a:solidFill xmlns:a="http://schemas.openxmlformats.org/drawingml/2006/main">
            <a:srgbClr val="FFF4D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CA819B-D682-4DC1-8E07-FFED873F5B11}"/>
              </a:ext>
            </a:extLst>
          </p:cNvPr>
          <p:cNvSpPr>
            <a:spLocks xmlns:a="http://schemas.openxmlformats.org/drawingml/2006/main" noGrp="1"/>
          </p:cNvSpPr>
          <p:nvPr/>
        </p:nvSpPr>
        <p:spPr>
          <a:xfrm xmlns:a="http://schemas.openxmlformats.org/drawingml/2006/main">
            <a:off x="1066800" y="1695450"/>
            <a:ext cx="10058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3150" b="1" i="0">
                <a:solidFill>
                  <a:srgbClr val="193B55"/>
                </a:solidFill>
                <a:latin typeface="Cambria Math"/>
                <a:ea typeface="Cambria Math"/>
                <a:cs typeface="Cambria Math"/>
              </a:defRPr>
            </a:pPr>
            <a:r>
              <a:rPr sz="3150" b="1" i="0">
                <a:solidFill>
                  <a:srgbClr val="193B55"/>
                </a:solidFill>
                <a:latin typeface="Cambria Math"/>
                <a:ea typeface="Cambria Math"/>
                <a:cs typeface="Cambria Math"/>
              </a:rPr>
              <a:t>C(−3, −2) and D(5, 4)</a:t>
            </a:r>
          </a:p>
        </p:txBody>
      </p:sp>
      <p:sp>
        <p:nvSpPr>
          <p:cNvPr id="10" name="">
            <a:extLst xmlns:a="http://schemas.openxmlformats.org/drawingml/2006/main">
              <a:ext uri="{FF2B5EF4-FFF2-40B4-BE49-F238E27FC236}">
                <a16:creationId xmlns:a16="http://schemas.microsoft.com/office/drawing/2014/main" id="{E6929B18-698E-4C4F-80E1-58168AD97237}"/>
              </a:ext>
            </a:extLst>
          </p:cNvPr>
          <p:cNvSpPr>
            <a:spLocks xmlns:a="http://schemas.openxmlformats.org/drawingml/2006/main" noGrp="1"/>
          </p:cNvSpPr>
          <p:nvPr/>
        </p:nvSpPr>
        <p:spPr>
          <a:xfrm xmlns:a="http://schemas.openxmlformats.org/drawingml/2006/main">
            <a:off x="781050" y="295275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ABAB8C-C5A5-4743-8474-3BF3A2D3FF5F}"/>
              </a:ext>
            </a:extLst>
          </p:cNvPr>
          <p:cNvSpPr>
            <a:spLocks xmlns:a="http://schemas.openxmlformats.org/drawingml/2006/main" noGrp="1"/>
          </p:cNvSpPr>
          <p:nvPr/>
        </p:nvSpPr>
        <p:spPr>
          <a:xfrm xmlns:a="http://schemas.openxmlformats.org/drawingml/2006/main">
            <a:off x="781050" y="29527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1</a:t>
            </a:r>
          </a:p>
        </p:txBody>
      </p:sp>
      <p:sp>
        <p:nvSpPr>
          <p:cNvPr id="12" name="">
            <a:extLst xmlns:a="http://schemas.openxmlformats.org/drawingml/2006/main">
              <a:ext uri="{FF2B5EF4-FFF2-40B4-BE49-F238E27FC236}">
                <a16:creationId xmlns:a16="http://schemas.microsoft.com/office/drawing/2014/main" id="{87112A40-470E-40FD-AFE6-317A033F7E38}"/>
              </a:ext>
            </a:extLst>
          </p:cNvPr>
          <p:cNvSpPr>
            <a:spLocks xmlns:a="http://schemas.openxmlformats.org/drawingml/2006/main" noGrp="1"/>
          </p:cNvSpPr>
          <p:nvPr/>
        </p:nvSpPr>
        <p:spPr>
          <a:xfrm xmlns:a="http://schemas.openxmlformats.org/drawingml/2006/main">
            <a:off x="1409700" y="29241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875" b="1" i="0">
                <a:solidFill>
                  <a:srgbClr val="193B55"/>
                </a:solidFill>
                <a:latin typeface="Arial"/>
                <a:ea typeface="Arial"/>
                <a:cs typeface="Arial"/>
              </a:defRPr>
            </a:pPr>
            <a:r>
              <a:rPr sz="1875" b="1" i="0">
                <a:solidFill>
                  <a:srgbClr val="193B55"/>
                </a:solidFill>
                <a:latin typeface="Arial"/>
                <a:ea typeface="Arial"/>
                <a:cs typeface="Arial"/>
              </a:rPr>
              <a:t>Find Δx and Δy.</a:t>
            </a:r>
          </a:p>
        </p:txBody>
      </p:sp>
      <p:sp>
        <p:nvSpPr>
          <p:cNvPr id="13" name="">
            <a:extLst xmlns:a="http://schemas.openxmlformats.org/drawingml/2006/main">
              <a:ext uri="{FF2B5EF4-FFF2-40B4-BE49-F238E27FC236}">
                <a16:creationId xmlns:a16="http://schemas.microsoft.com/office/drawing/2014/main" id="{94543B58-4EEB-4BB6-8412-0C5BCDA296CC}"/>
              </a:ext>
            </a:extLst>
          </p:cNvPr>
          <p:cNvSpPr>
            <a:spLocks xmlns:a="http://schemas.openxmlformats.org/drawingml/2006/main" noGrp="1"/>
          </p:cNvSpPr>
          <p:nvPr/>
        </p:nvSpPr>
        <p:spPr>
          <a:xfrm xmlns:a="http://schemas.openxmlformats.org/drawingml/2006/main">
            <a:off x="781050" y="363855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624544A-11BE-495B-98E1-76FE5538090F}"/>
              </a:ext>
            </a:extLst>
          </p:cNvPr>
          <p:cNvSpPr>
            <a:spLocks xmlns:a="http://schemas.openxmlformats.org/drawingml/2006/main" noGrp="1"/>
          </p:cNvSpPr>
          <p:nvPr/>
        </p:nvSpPr>
        <p:spPr>
          <a:xfrm xmlns:a="http://schemas.openxmlformats.org/drawingml/2006/main">
            <a:off x="781050" y="36385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2</a:t>
            </a:r>
          </a:p>
        </p:txBody>
      </p:sp>
      <p:sp>
        <p:nvSpPr>
          <p:cNvPr id="15" name="">
            <a:extLst xmlns:a="http://schemas.openxmlformats.org/drawingml/2006/main">
              <a:ext uri="{FF2B5EF4-FFF2-40B4-BE49-F238E27FC236}">
                <a16:creationId xmlns:a16="http://schemas.microsoft.com/office/drawing/2014/main" id="{67531531-FC2D-4C67-BAB1-745E3B34E4A8}"/>
              </a:ext>
            </a:extLst>
          </p:cNvPr>
          <p:cNvSpPr>
            <a:spLocks xmlns:a="http://schemas.openxmlformats.org/drawingml/2006/main" noGrp="1"/>
          </p:cNvSpPr>
          <p:nvPr/>
        </p:nvSpPr>
        <p:spPr>
          <a:xfrm xmlns:a="http://schemas.openxmlformats.org/drawingml/2006/main">
            <a:off x="1409700" y="36099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875" b="1" i="0">
                <a:solidFill>
                  <a:srgbClr val="193B55"/>
                </a:solidFill>
                <a:latin typeface="Arial"/>
                <a:ea typeface="Arial"/>
                <a:cs typeface="Arial"/>
              </a:defRPr>
            </a:pPr>
            <a:r>
              <a:rPr sz="1875" b="1" i="0">
                <a:solidFill>
                  <a:srgbClr val="193B55"/>
                </a:solidFill>
                <a:latin typeface="Arial"/>
                <a:ea typeface="Arial"/>
                <a:cs typeface="Arial"/>
              </a:rPr>
              <a:t>Find the exact distance and its decimal value.</a:t>
            </a:r>
          </a:p>
        </p:txBody>
      </p:sp>
      <p:sp>
        <p:nvSpPr>
          <p:cNvPr id="16" name="">
            <a:extLst xmlns:a="http://schemas.openxmlformats.org/drawingml/2006/main">
              <a:ext uri="{FF2B5EF4-FFF2-40B4-BE49-F238E27FC236}">
                <a16:creationId xmlns:a16="http://schemas.microsoft.com/office/drawing/2014/main" id="{4B421806-928A-4B83-BED8-4F660BD600F8}"/>
              </a:ext>
            </a:extLst>
          </p:cNvPr>
          <p:cNvSpPr>
            <a:spLocks xmlns:a="http://schemas.openxmlformats.org/drawingml/2006/main" noGrp="1"/>
          </p:cNvSpPr>
          <p:nvPr/>
        </p:nvSpPr>
        <p:spPr>
          <a:xfrm xmlns:a="http://schemas.openxmlformats.org/drawingml/2006/main">
            <a:off x="781050" y="432435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7120851-F3AE-4D10-B30F-6FF57B883850}"/>
              </a:ext>
            </a:extLst>
          </p:cNvPr>
          <p:cNvSpPr>
            <a:spLocks xmlns:a="http://schemas.openxmlformats.org/drawingml/2006/main" noGrp="1"/>
          </p:cNvSpPr>
          <p:nvPr/>
        </p:nvSpPr>
        <p:spPr>
          <a:xfrm xmlns:a="http://schemas.openxmlformats.org/drawingml/2006/main">
            <a:off x="781050" y="4324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3</a:t>
            </a:r>
          </a:p>
        </p:txBody>
      </p:sp>
      <p:sp>
        <p:nvSpPr>
          <p:cNvPr id="18" name="">
            <a:extLst xmlns:a="http://schemas.openxmlformats.org/drawingml/2006/main">
              <a:ext uri="{FF2B5EF4-FFF2-40B4-BE49-F238E27FC236}">
                <a16:creationId xmlns:a16="http://schemas.microsoft.com/office/drawing/2014/main" id="{9417B3DF-DB49-4490-9E5D-4F8AE1A70673}"/>
              </a:ext>
            </a:extLst>
          </p:cNvPr>
          <p:cNvSpPr>
            <a:spLocks xmlns:a="http://schemas.openxmlformats.org/drawingml/2006/main" noGrp="1"/>
          </p:cNvSpPr>
          <p:nvPr/>
        </p:nvSpPr>
        <p:spPr>
          <a:xfrm xmlns:a="http://schemas.openxmlformats.org/drawingml/2006/main">
            <a:off x="1409700" y="42957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875" b="1" i="0">
                <a:solidFill>
                  <a:srgbClr val="193B55"/>
                </a:solidFill>
                <a:latin typeface="Arial"/>
                <a:ea typeface="Arial"/>
                <a:cs typeface="Arial"/>
              </a:defRPr>
            </a:pPr>
            <a:r>
              <a:rPr sz="1875" b="1" i="0">
                <a:solidFill>
                  <a:srgbClr val="193B55"/>
                </a:solidFill>
                <a:latin typeface="Arial"/>
                <a:ea typeface="Arial"/>
                <a:cs typeface="Arial"/>
              </a:rPr>
              <a:t>Find the midpoint.</a:t>
            </a:r>
          </a:p>
        </p:txBody>
      </p:sp>
      <p:sp>
        <p:nvSpPr>
          <p:cNvPr id="19" name="">
            <a:extLst xmlns:a="http://schemas.openxmlformats.org/drawingml/2006/main">
              <a:ext uri="{FF2B5EF4-FFF2-40B4-BE49-F238E27FC236}">
                <a16:creationId xmlns:a16="http://schemas.microsoft.com/office/drawing/2014/main" id="{3F4CF35B-91C2-4F83-A77D-A3CDA6150F10}"/>
              </a:ext>
            </a:extLst>
          </p:cNvPr>
          <p:cNvSpPr>
            <a:spLocks xmlns:a="http://schemas.openxmlformats.org/drawingml/2006/main" noGrp="1"/>
          </p:cNvSpPr>
          <p:nvPr/>
        </p:nvSpPr>
        <p:spPr>
          <a:xfrm xmlns:a="http://schemas.openxmlformats.org/drawingml/2006/main">
            <a:off x="819150" y="5276850"/>
            <a:ext cx="10553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350" b="1" i="0">
                <a:solidFill>
                  <a:srgbClr val="193B55"/>
                </a:solidFill>
                <a:latin typeface="Arial"/>
                <a:ea typeface="Arial"/>
                <a:cs typeface="Arial"/>
              </a:defRPr>
            </a:pPr>
            <a:r>
              <a:rPr sz="1350" b="1" i="0">
                <a:solidFill>
                  <a:srgbClr val="193B55"/>
                </a:solidFill>
                <a:latin typeface="Arial"/>
                <a:ea typeface="Arial"/>
                <a:cs typeface="Arial"/>
              </a:rPr>
              <a:t>Reasonableness check: the distance is positive and the midpoint lies between the endpoints.</a:t>
            </a:r>
          </a:p>
        </p:txBody>
      </p:sp>
    </p:spTree>
    <p:extLst>
      <p:ext uri="{BB962C8B-B14F-4D97-AF65-F5344CB8AC3E}">
        <p14:creationId xmlns:p14="http://schemas.microsoft.com/office/powerpoint/2010/main" val="152907461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233959D-E737-4356-8C7B-8906F85D95DE}"/>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168A6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049165-2408-4430-84CE-DD78841E499B}"/>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Practice check</a:t>
            </a:r>
          </a:p>
        </p:txBody>
      </p:sp>
      <p:sp>
        <p:nvSpPr>
          <p:cNvPr id="3" name="">
            <a:extLst xmlns:a="http://schemas.openxmlformats.org/drawingml/2006/main">
              <a:ext uri="{FF2B5EF4-FFF2-40B4-BE49-F238E27FC236}">
                <a16:creationId xmlns:a16="http://schemas.microsoft.com/office/drawing/2014/main" id="{1EA27759-7246-4731-96AE-2F4A55B63941}"/>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C(−3, −2) and D(5, 4)</a:t>
            </a:r>
          </a:p>
        </p:txBody>
      </p:sp>
      <p:sp>
        <p:nvSpPr>
          <p:cNvPr id="4" name="">
            <a:extLst xmlns:a="http://schemas.openxmlformats.org/drawingml/2006/main">
              <a:ext uri="{FF2B5EF4-FFF2-40B4-BE49-F238E27FC236}">
                <a16:creationId xmlns:a16="http://schemas.microsoft.com/office/drawing/2014/main" id="{27D3E146-63A6-4B3A-902D-D2D9FD818664}"/>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168A6B"/>
                </a:solidFill>
                <a:latin typeface="Arial"/>
                <a:ea typeface="Arial"/>
                <a:cs typeface="Arial"/>
              </a:defRPr>
            </a:pPr>
            <a:r>
              <a:rPr sz="900" b="1" i="0">
                <a:solidFill>
                  <a:srgbClr val="168A6B"/>
                </a:solidFill>
                <a:latin typeface="Arial"/>
                <a:ea typeface="Arial"/>
                <a:cs typeface="Arial"/>
              </a:rPr>
              <a:t>CHECK</a:t>
            </a:r>
          </a:p>
        </p:txBody>
      </p:sp>
      <p:sp>
        <p:nvSpPr>
          <p:cNvPr id="5" name="">
            <a:extLst xmlns:a="http://schemas.openxmlformats.org/drawingml/2006/main">
              <a:ext uri="{FF2B5EF4-FFF2-40B4-BE49-F238E27FC236}">
                <a16:creationId xmlns:a16="http://schemas.microsoft.com/office/drawing/2014/main" id="{1A5DA323-4557-4DF4-ADE0-40632848CC9F}"/>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E26AABF-9782-4CA2-8F91-ED99571FE77E}"/>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E528ECAB-7107-493E-A87F-D8478E8E1D3A}"/>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10  slide</a:t>
            </a:r>
          </a:p>
        </p:txBody>
      </p:sp>
      <p:sp>
        <p:nvSpPr>
          <p:cNvPr id="8" name="">
            <a:extLst xmlns:a="http://schemas.openxmlformats.org/drawingml/2006/main">
              <a:ext uri="{FF2B5EF4-FFF2-40B4-BE49-F238E27FC236}">
                <a16:creationId xmlns:a16="http://schemas.microsoft.com/office/drawing/2014/main" id="{98755817-00EF-436A-BF41-424DAEC9A642}"/>
              </a:ext>
            </a:extLst>
          </p:cNvPr>
          <p:cNvSpPr>
            <a:spLocks xmlns:a="http://schemas.openxmlformats.org/drawingml/2006/main" noGrp="1"/>
          </p:cNvSpPr>
          <p:nvPr/>
        </p:nvSpPr>
        <p:spPr>
          <a:xfrm xmlns:a="http://schemas.openxmlformats.org/drawingml/2006/main">
            <a:off x="781050" y="1447800"/>
            <a:ext cx="10629900" cy="685800"/>
          </a:xfrm>
          <a:prstGeom xmlns:a="http://schemas.openxmlformats.org/drawingml/2006/main" prst="rect">
            <a:avLst/>
          </a:prstGeom>
          <a:solidFill xmlns:a="http://schemas.openxmlformats.org/drawingml/2006/main">
            <a:srgbClr val="E4F4EF"/>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0B75CA0-DC1E-4B08-B772-A9A38641C925}"/>
              </a:ext>
            </a:extLst>
          </p:cNvPr>
          <p:cNvSpPr>
            <a:spLocks xmlns:a="http://schemas.openxmlformats.org/drawingml/2006/main" noGrp="1"/>
          </p:cNvSpPr>
          <p:nvPr/>
        </p:nvSpPr>
        <p:spPr>
          <a:xfrm xmlns:a="http://schemas.openxmlformats.org/drawingml/2006/main">
            <a:off x="1009650" y="154305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250" b="1" i="0">
                <a:solidFill>
                  <a:srgbClr val="193B55"/>
                </a:solidFill>
                <a:latin typeface="Cambria Math"/>
                <a:ea typeface="Cambria Math"/>
                <a:cs typeface="Cambria Math"/>
              </a:defRPr>
            </a:pPr>
            <a:r>
              <a:rPr sz="2250" b="1" i="0">
                <a:solidFill>
                  <a:srgbClr val="193B55"/>
                </a:solidFill>
                <a:latin typeface="Cambria Math"/>
                <a:ea typeface="Cambria Math"/>
                <a:cs typeface="Cambria Math"/>
              </a:rPr>
              <a:t>Δx = 8       Δy = 6</a:t>
            </a:r>
          </a:p>
        </p:txBody>
      </p:sp>
      <p:sp>
        <p:nvSpPr>
          <p:cNvPr id="10" name="">
            <a:extLst xmlns:a="http://schemas.openxmlformats.org/drawingml/2006/main">
              <a:ext uri="{FF2B5EF4-FFF2-40B4-BE49-F238E27FC236}">
                <a16:creationId xmlns:a16="http://schemas.microsoft.com/office/drawing/2014/main" id="{9A3312C0-C867-4DDD-BA36-8AC3591E597E}"/>
              </a:ext>
            </a:extLst>
          </p:cNvPr>
          <p:cNvSpPr>
            <a:spLocks xmlns:a="http://schemas.openxmlformats.org/drawingml/2006/main" noGrp="1"/>
          </p:cNvSpPr>
          <p:nvPr/>
        </p:nvSpPr>
        <p:spPr>
          <a:xfrm xmlns:a="http://schemas.openxmlformats.org/drawingml/2006/main">
            <a:off x="781050" y="2419350"/>
            <a:ext cx="4991100" cy="2628900"/>
          </a:xfrm>
          <a:prstGeom xmlns:a="http://schemas.openxmlformats.org/drawingml/2006/main" prst="rect">
            <a:avLst/>
          </a:prstGeom>
          <a:solidFill xmlns:a="http://schemas.openxmlformats.org/drawingml/2006/main">
            <a:srgbClr val="F3F6F8"/>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6368EDD-7F55-4BFC-B2CA-487F4323D56A}"/>
              </a:ext>
            </a:extLst>
          </p:cNvPr>
          <p:cNvSpPr>
            <a:spLocks xmlns:a="http://schemas.openxmlformats.org/drawingml/2006/main" noGrp="1"/>
          </p:cNvSpPr>
          <p:nvPr/>
        </p:nvSpPr>
        <p:spPr>
          <a:xfrm xmlns:a="http://schemas.openxmlformats.org/drawingml/2006/main">
            <a:off x="1047750" y="2609850"/>
            <a:ext cx="4457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500" b="1" i="0">
                <a:solidFill>
                  <a:srgbClr val="1777B4"/>
                </a:solidFill>
                <a:latin typeface="Arial"/>
                <a:ea typeface="Arial"/>
                <a:cs typeface="Arial"/>
              </a:defRPr>
            </a:pPr>
            <a:r>
              <a:rPr sz="1500" b="1" i="0">
                <a:solidFill>
                  <a:srgbClr val="1777B4"/>
                </a:solidFill>
                <a:latin typeface="Arial"/>
                <a:ea typeface="Arial"/>
                <a:cs typeface="Arial"/>
              </a:rPr>
              <a:t>Distance</a:t>
            </a:r>
          </a:p>
        </p:txBody>
      </p:sp>
      <p:sp>
        <p:nvSpPr>
          <p:cNvPr id="12" name="">
            <a:extLst xmlns:a="http://schemas.openxmlformats.org/drawingml/2006/main">
              <a:ext uri="{FF2B5EF4-FFF2-40B4-BE49-F238E27FC236}">
                <a16:creationId xmlns:a16="http://schemas.microsoft.com/office/drawing/2014/main" id="{27B84830-22DE-47E7-B204-142F2288E153}"/>
              </a:ext>
            </a:extLst>
          </p:cNvPr>
          <p:cNvSpPr>
            <a:spLocks xmlns:a="http://schemas.openxmlformats.org/drawingml/2006/main" noGrp="1"/>
          </p:cNvSpPr>
          <p:nvPr/>
        </p:nvSpPr>
        <p:spPr>
          <a:xfrm xmlns:a="http://schemas.openxmlformats.org/drawingml/2006/main">
            <a:off x="1047750" y="3086100"/>
            <a:ext cx="44577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75" b="1" i="0">
                <a:solidFill>
                  <a:srgbClr val="193B55"/>
                </a:solidFill>
                <a:latin typeface="Cambria Math"/>
                <a:ea typeface="Cambria Math"/>
                <a:cs typeface="Cambria Math"/>
              </a:defRPr>
            </a:pPr>
            <a:r>
              <a:rPr sz="2175" b="1" i="0">
                <a:solidFill>
                  <a:srgbClr val="193B55"/>
                </a:solidFill>
                <a:latin typeface="Cambria Math"/>
                <a:ea typeface="Cambria Math"/>
                <a:cs typeface="Cambria Math"/>
              </a:rPr>
              <a:t>d = √(8² + 6²)</a:t>
            </a:r>
          </a:p>
          <a:p xmlns:a="http://schemas.openxmlformats.org/drawingml/2006/main">
            <a:pPr algn="ctr">
              <a:buNone/>
              <a:defRPr sz="2175" b="1" i="0">
                <a:solidFill>
                  <a:srgbClr val="193B55"/>
                </a:solidFill>
                <a:latin typeface="Cambria Math"/>
                <a:ea typeface="Cambria Math"/>
                <a:cs typeface="Cambria Math"/>
              </a:defRPr>
            </a:pPr>
            <a:r>
              <a:rPr sz="2175" b="1" i="0">
                <a:solidFill>
                  <a:srgbClr val="193B55"/>
                </a:solidFill>
                <a:latin typeface="Cambria Math"/>
                <a:ea typeface="Cambria Math"/>
                <a:cs typeface="Cambria Math"/>
              </a:rPr>
              <a:t>= √100 = 10</a:t>
            </a:r>
          </a:p>
          <a:p xmlns:a="http://schemas.openxmlformats.org/drawingml/2006/main">
            <a:pPr algn="ctr">
              <a:buNone/>
              <a:defRPr sz="2175" b="1" i="0">
                <a:solidFill>
                  <a:srgbClr val="193B55"/>
                </a:solidFill>
                <a:latin typeface="Cambria Math"/>
                <a:ea typeface="Cambria Math"/>
                <a:cs typeface="Cambria Math"/>
              </a:defRPr>
            </a:pPr>
            <a:r>
              <a:rPr sz="2175" b="1" i="0">
                <a:solidFill>
                  <a:srgbClr val="193B55"/>
                </a:solidFill>
                <a:latin typeface="Cambria Math"/>
                <a:ea typeface="Cambria Math"/>
                <a:cs typeface="Cambria Math"/>
              </a:rPr>
              <a:t>Decimal value: 10.0</a:t>
            </a:r>
          </a:p>
        </p:txBody>
      </p:sp>
      <p:sp>
        <p:nvSpPr>
          <p:cNvPr id="13" name="">
            <a:extLst xmlns:a="http://schemas.openxmlformats.org/drawingml/2006/main">
              <a:ext uri="{FF2B5EF4-FFF2-40B4-BE49-F238E27FC236}">
                <a16:creationId xmlns:a16="http://schemas.microsoft.com/office/drawing/2014/main" id="{6973456B-9DAF-40BC-9EA2-1785F772AC01}"/>
              </a:ext>
            </a:extLst>
          </p:cNvPr>
          <p:cNvSpPr>
            <a:spLocks xmlns:a="http://schemas.openxmlformats.org/drawingml/2006/main" noGrp="1"/>
          </p:cNvSpPr>
          <p:nvPr/>
        </p:nvSpPr>
        <p:spPr>
          <a:xfrm xmlns:a="http://schemas.openxmlformats.org/drawingml/2006/main">
            <a:off x="6419850" y="2419350"/>
            <a:ext cx="4991100" cy="2628900"/>
          </a:xfrm>
          <a:prstGeom xmlns:a="http://schemas.openxmlformats.org/drawingml/2006/main" prst="rect">
            <a:avLst/>
          </a:prstGeom>
          <a:solidFill xmlns:a="http://schemas.openxmlformats.org/drawingml/2006/main">
            <a:srgbClr val="E4F4E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074CE9B-289A-4020-BFBD-0078D1523D5E}"/>
              </a:ext>
            </a:extLst>
          </p:cNvPr>
          <p:cNvSpPr>
            <a:spLocks xmlns:a="http://schemas.openxmlformats.org/drawingml/2006/main" noGrp="1"/>
          </p:cNvSpPr>
          <p:nvPr/>
        </p:nvSpPr>
        <p:spPr>
          <a:xfrm xmlns:a="http://schemas.openxmlformats.org/drawingml/2006/main">
            <a:off x="6686550" y="2609850"/>
            <a:ext cx="4457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500" b="1" i="0">
                <a:solidFill>
                  <a:srgbClr val="168A6B"/>
                </a:solidFill>
                <a:latin typeface="Arial"/>
                <a:ea typeface="Arial"/>
                <a:cs typeface="Arial"/>
              </a:defRPr>
            </a:pPr>
            <a:r>
              <a:rPr sz="1500" b="1" i="0">
                <a:solidFill>
                  <a:srgbClr val="168A6B"/>
                </a:solidFill>
                <a:latin typeface="Arial"/>
                <a:ea typeface="Arial"/>
                <a:cs typeface="Arial"/>
              </a:rPr>
              <a:t>Midpoint</a:t>
            </a:r>
          </a:p>
        </p:txBody>
      </p:sp>
      <p:sp>
        <p:nvSpPr>
          <p:cNvPr id="15" name="">
            <a:extLst xmlns:a="http://schemas.openxmlformats.org/drawingml/2006/main">
              <a:ext uri="{FF2B5EF4-FFF2-40B4-BE49-F238E27FC236}">
                <a16:creationId xmlns:a16="http://schemas.microsoft.com/office/drawing/2014/main" id="{B360D6C6-A254-4D22-8F52-375F10FF2546}"/>
              </a:ext>
            </a:extLst>
          </p:cNvPr>
          <p:cNvSpPr>
            <a:spLocks xmlns:a="http://schemas.openxmlformats.org/drawingml/2006/main" noGrp="1"/>
          </p:cNvSpPr>
          <p:nvPr/>
        </p:nvSpPr>
        <p:spPr>
          <a:xfrm xmlns:a="http://schemas.openxmlformats.org/drawingml/2006/main">
            <a:off x="6686550" y="3086100"/>
            <a:ext cx="44577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025" b="1" i="0">
                <a:solidFill>
                  <a:srgbClr val="193B55"/>
                </a:solidFill>
                <a:latin typeface="Cambria Math"/>
                <a:ea typeface="Cambria Math"/>
                <a:cs typeface="Cambria Math"/>
              </a:defRPr>
            </a:pPr>
            <a:r>
              <a:rPr sz="2025" b="1" i="0">
                <a:solidFill>
                  <a:srgbClr val="193B55"/>
                </a:solidFill>
                <a:latin typeface="Cambria Math"/>
                <a:ea typeface="Cambria Math"/>
                <a:cs typeface="Cambria Math"/>
              </a:rPr>
              <a:t>M = (½(−3 + 5), ½(−2 + 4))</a:t>
            </a:r>
          </a:p>
          <a:p xmlns:a="http://schemas.openxmlformats.org/drawingml/2006/main">
            <a:pPr algn="ctr">
              <a:buNone/>
              <a:defRPr sz="2025" b="1" i="0">
                <a:solidFill>
                  <a:srgbClr val="193B55"/>
                </a:solidFill>
                <a:latin typeface="Cambria Math"/>
                <a:ea typeface="Cambria Math"/>
                <a:cs typeface="Cambria Math"/>
              </a:defRPr>
            </a:pPr>
            <a:r>
              <a:rPr sz="2025" b="1" i="0">
                <a:solidFill>
                  <a:srgbClr val="193B55"/>
                </a:solidFill>
                <a:latin typeface="Cambria Math"/>
                <a:ea typeface="Cambria Math"/>
                <a:cs typeface="Cambria Math"/>
              </a:rPr>
              <a:t>= (½ · 2, ½ · 2)</a:t>
            </a:r>
          </a:p>
          <a:p xmlns:a="http://schemas.openxmlformats.org/drawingml/2006/main">
            <a:pPr algn="ctr">
              <a:buNone/>
              <a:defRPr sz="2025" b="1" i="0">
                <a:solidFill>
                  <a:srgbClr val="193B55"/>
                </a:solidFill>
                <a:latin typeface="Cambria Math"/>
                <a:ea typeface="Cambria Math"/>
                <a:cs typeface="Cambria Math"/>
              </a:defRPr>
            </a:pPr>
            <a:r>
              <a:rPr sz="2025" b="1" i="0">
                <a:solidFill>
                  <a:srgbClr val="193B55"/>
                </a:solidFill>
                <a:latin typeface="Cambria Math"/>
                <a:ea typeface="Cambria Math"/>
                <a:cs typeface="Cambria Math"/>
              </a:rPr>
              <a:t>= (1, 1)</a:t>
            </a:r>
          </a:p>
        </p:txBody>
      </p:sp>
      <p:sp>
        <p:nvSpPr>
          <p:cNvPr id="16" name="">
            <a:extLst xmlns:a="http://schemas.openxmlformats.org/drawingml/2006/main">
              <a:ext uri="{FF2B5EF4-FFF2-40B4-BE49-F238E27FC236}">
                <a16:creationId xmlns:a16="http://schemas.microsoft.com/office/drawing/2014/main" id="{DE92D912-7A6E-4F24-9529-A53FD38C0777}"/>
              </a:ext>
            </a:extLst>
          </p:cNvPr>
          <p:cNvSpPr>
            <a:spLocks xmlns:a="http://schemas.openxmlformats.org/drawingml/2006/main" noGrp="1"/>
          </p:cNvSpPr>
          <p:nvPr/>
        </p:nvSpPr>
        <p:spPr>
          <a:xfrm xmlns:a="http://schemas.openxmlformats.org/drawingml/2006/main">
            <a:off x="781050" y="5410200"/>
            <a:ext cx="106299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425" b="1" i="0">
                <a:solidFill>
                  <a:srgbClr val="168A6B"/>
                </a:solidFill>
                <a:latin typeface="Arial"/>
                <a:ea typeface="Arial"/>
                <a:cs typeface="Arial"/>
              </a:defRPr>
            </a:pPr>
            <a:r>
              <a:rPr sz="1425" b="1" i="0">
                <a:solidFill>
                  <a:srgbClr val="168A6B"/>
                </a:solidFill>
                <a:latin typeface="Arial"/>
                <a:ea typeface="Arial"/>
                <a:cs typeface="Arial"/>
              </a:rPr>
              <a:t>Both answers satisfy the reasonableness checks.</a:t>
            </a:r>
          </a:p>
        </p:txBody>
      </p:sp>
    </p:spTree>
    <p:extLst>
      <p:ext uri="{BB962C8B-B14F-4D97-AF65-F5344CB8AC3E}">
        <p14:creationId xmlns:p14="http://schemas.microsoft.com/office/powerpoint/2010/main" val="8621282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1F85D58-A84C-4C84-A44B-5C14B8B917C8}"/>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2B0FE3-A901-49F5-8A0C-FC4EDCC480A0}"/>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Slope from two points</a:t>
            </a:r>
          </a:p>
        </p:txBody>
      </p:sp>
      <p:sp>
        <p:nvSpPr>
          <p:cNvPr id="3" name="">
            <a:extLst xmlns:a="http://schemas.openxmlformats.org/drawingml/2006/main">
              <a:ext uri="{FF2B5EF4-FFF2-40B4-BE49-F238E27FC236}">
                <a16:creationId xmlns:a16="http://schemas.microsoft.com/office/drawing/2014/main" id="{0A9E9B98-3E7C-47B5-AF14-D1332E3E6A10}"/>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A(−2, 1) and B(4, 5)</a:t>
            </a:r>
          </a:p>
        </p:txBody>
      </p:sp>
      <p:sp>
        <p:nvSpPr>
          <p:cNvPr id="4" name="">
            <a:extLst xmlns:a="http://schemas.openxmlformats.org/drawingml/2006/main">
              <a:ext uri="{FF2B5EF4-FFF2-40B4-BE49-F238E27FC236}">
                <a16:creationId xmlns:a16="http://schemas.microsoft.com/office/drawing/2014/main" id="{E669EE00-1357-4EC0-B90F-5CB6A8FAF398}"/>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1777B4"/>
                </a:solidFill>
                <a:latin typeface="Arial"/>
                <a:ea typeface="Arial"/>
                <a:cs typeface="Arial"/>
              </a:defRPr>
            </a:pPr>
            <a:r>
              <a:rPr sz="900" b="1" i="0">
                <a:solidFill>
                  <a:srgbClr val="1777B4"/>
                </a:solidFill>
                <a:latin typeface="Arial"/>
                <a:ea typeface="Arial"/>
                <a:cs typeface="Arial"/>
              </a:rPr>
              <a:t>EXPLAIN</a:t>
            </a:r>
          </a:p>
        </p:txBody>
      </p:sp>
      <p:sp>
        <p:nvSpPr>
          <p:cNvPr id="5" name="">
            <a:extLst xmlns:a="http://schemas.openxmlformats.org/drawingml/2006/main">
              <a:ext uri="{FF2B5EF4-FFF2-40B4-BE49-F238E27FC236}">
                <a16:creationId xmlns:a16="http://schemas.microsoft.com/office/drawing/2014/main" id="{B141EF3E-FFE1-4A17-BA58-A3FB733D4DF4}"/>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B762A22-AC94-40E3-98F8-6DE7F870E59D}"/>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8E35BA64-995C-4295-B998-F035F4400B1D}"/>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11  slide</a:t>
            </a:r>
          </a:p>
        </p:txBody>
      </p:sp>
      <p:sp>
        <p:nvSpPr>
          <p:cNvPr id="8" name="">
            <a:extLst xmlns:a="http://schemas.openxmlformats.org/drawingml/2006/main">
              <a:ext uri="{FF2B5EF4-FFF2-40B4-BE49-F238E27FC236}">
                <a16:creationId xmlns:a16="http://schemas.microsoft.com/office/drawing/2014/main" id="{D634CD92-D157-4C59-8E03-1B464E02EE30}"/>
              </a:ext>
            </a:extLst>
          </p:cNvPr>
          <p:cNvSpPr>
            <a:spLocks xmlns:a="http://schemas.openxmlformats.org/drawingml/2006/main" noGrp="1"/>
          </p:cNvSpPr>
          <p:nvPr/>
        </p:nvSpPr>
        <p:spPr>
          <a:xfrm xmlns:a="http://schemas.openxmlformats.org/drawingml/2006/main">
            <a:off x="666750" y="1562100"/>
            <a:ext cx="10858500" cy="1200150"/>
          </a:xfrm>
          <a:prstGeom xmlns:a="http://schemas.openxmlformats.org/drawingml/2006/main" prst="rect">
            <a:avLst/>
          </a:prstGeom>
          <a:solidFill xmlns:a="http://schemas.openxmlformats.org/drawingml/2006/main">
            <a:srgbClr val="DDEFF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1B5A8D-74E8-4ADC-A962-7A388799368A}"/>
              </a:ext>
            </a:extLst>
          </p:cNvPr>
          <p:cNvSpPr>
            <a:spLocks xmlns:a="http://schemas.openxmlformats.org/drawingml/2006/main" noGrp="1"/>
          </p:cNvSpPr>
          <p:nvPr/>
        </p:nvSpPr>
        <p:spPr>
          <a:xfrm xmlns:a="http://schemas.openxmlformats.org/drawingml/2006/main">
            <a:off x="895350" y="1752600"/>
            <a:ext cx="104013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700" b="1" i="0">
                <a:solidFill>
                  <a:srgbClr val="193B55"/>
                </a:solidFill>
                <a:latin typeface="Cambria Math"/>
                <a:ea typeface="Cambria Math"/>
                <a:cs typeface="Cambria Math"/>
              </a:defRPr>
            </a:pPr>
            <a:r>
              <a:rPr sz="2700" b="1" i="0">
                <a:solidFill>
                  <a:srgbClr val="193B55"/>
                </a:solidFill>
                <a:latin typeface="Cambria Math"/>
                <a:ea typeface="Cambria Math"/>
                <a:cs typeface="Cambria Math"/>
              </a:rPr>
              <a:t>m = Δy / Δx = (y₂ − y₁) / (x₂ − x₁)</a:t>
            </a:r>
          </a:p>
        </p:txBody>
      </p:sp>
      <p:sp>
        <p:nvSpPr>
          <p:cNvPr id="10" name="">
            <a:extLst xmlns:a="http://schemas.openxmlformats.org/drawingml/2006/main">
              <a:ext uri="{FF2B5EF4-FFF2-40B4-BE49-F238E27FC236}">
                <a16:creationId xmlns:a16="http://schemas.microsoft.com/office/drawing/2014/main" id="{D7D829E7-057F-4BF3-B166-A07F0F4CE0C4}"/>
              </a:ext>
            </a:extLst>
          </p:cNvPr>
          <p:cNvSpPr>
            <a:spLocks xmlns:a="http://schemas.openxmlformats.org/drawingml/2006/main" noGrp="1"/>
          </p:cNvSpPr>
          <p:nvPr/>
        </p:nvSpPr>
        <p:spPr>
          <a:xfrm xmlns:a="http://schemas.openxmlformats.org/drawingml/2006/main">
            <a:off x="666750" y="29527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E45D50"/>
                </a:solidFill>
                <a:latin typeface="Arial"/>
                <a:ea typeface="Arial"/>
                <a:cs typeface="Arial"/>
              </a:defRPr>
            </a:pPr>
            <a:r>
              <a:rPr sz="1500" b="1" i="0">
                <a:solidFill>
                  <a:srgbClr val="E45D50"/>
                </a:solidFill>
                <a:latin typeface="Arial"/>
                <a:ea typeface="Arial"/>
                <a:cs typeface="Arial"/>
              </a:rPr>
              <a:t>Use the same endpoint order in the numerator and denominator.</a:t>
            </a:r>
          </a:p>
        </p:txBody>
      </p:sp>
      <p:sp>
        <p:nvSpPr>
          <p:cNvPr id="11" name="">
            <a:extLst xmlns:a="http://schemas.openxmlformats.org/drawingml/2006/main">
              <a:ext uri="{FF2B5EF4-FFF2-40B4-BE49-F238E27FC236}">
                <a16:creationId xmlns:a16="http://schemas.microsoft.com/office/drawing/2014/main" id="{7FA4C464-D716-42F3-84F7-9B268B919304}"/>
              </a:ext>
            </a:extLst>
          </p:cNvPr>
          <p:cNvSpPr>
            <a:spLocks xmlns:a="http://schemas.openxmlformats.org/drawingml/2006/main" noGrp="1"/>
          </p:cNvSpPr>
          <p:nvPr/>
        </p:nvSpPr>
        <p:spPr>
          <a:xfrm xmlns:a="http://schemas.openxmlformats.org/drawingml/2006/main">
            <a:off x="2095500" y="3676650"/>
            <a:ext cx="8001000" cy="1371600"/>
          </a:xfrm>
          <a:prstGeom xmlns:a="http://schemas.openxmlformats.org/drawingml/2006/main" prst="rect">
            <a:avLst/>
          </a:prstGeom>
          <a:solidFill xmlns:a="http://schemas.openxmlformats.org/drawingml/2006/main">
            <a:srgbClr val="F3F6F8"/>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6919908-5D07-4587-88E2-01992A4B4547}"/>
              </a:ext>
            </a:extLst>
          </p:cNvPr>
          <p:cNvSpPr>
            <a:spLocks xmlns:a="http://schemas.openxmlformats.org/drawingml/2006/main" noGrp="1"/>
          </p:cNvSpPr>
          <p:nvPr/>
        </p:nvSpPr>
        <p:spPr>
          <a:xfrm xmlns:a="http://schemas.openxmlformats.org/drawingml/2006/main">
            <a:off x="2362200" y="3848100"/>
            <a:ext cx="74676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550" b="1" i="0">
                <a:solidFill>
                  <a:srgbClr val="193B55"/>
                </a:solidFill>
                <a:latin typeface="Cambria Math"/>
                <a:ea typeface="Cambria Math"/>
                <a:cs typeface="Cambria Math"/>
              </a:defRPr>
            </a:pPr>
            <a:r>
              <a:rPr sz="2550" b="1" i="0">
                <a:solidFill>
                  <a:srgbClr val="193B55"/>
                </a:solidFill>
                <a:latin typeface="Cambria Math"/>
                <a:ea typeface="Cambria Math"/>
                <a:cs typeface="Cambria Math"/>
              </a:rPr>
              <a:t>m = (5 − 1) / (4 − (−2))</a:t>
            </a:r>
          </a:p>
          <a:p xmlns:a="http://schemas.openxmlformats.org/drawingml/2006/main">
            <a:pPr algn="ctr">
              <a:buNone/>
              <a:defRPr sz="2550" b="1" i="0">
                <a:solidFill>
                  <a:srgbClr val="193B55"/>
                </a:solidFill>
                <a:latin typeface="Cambria Math"/>
                <a:ea typeface="Cambria Math"/>
                <a:cs typeface="Cambria Math"/>
              </a:defRPr>
            </a:pPr>
            <a:r>
              <a:rPr sz="2550" b="1" i="0">
                <a:solidFill>
                  <a:srgbClr val="193B55"/>
                </a:solidFill>
                <a:latin typeface="Cambria Math"/>
                <a:ea typeface="Cambria Math"/>
                <a:cs typeface="Cambria Math"/>
              </a:rPr>
              <a:t>m = 4 / 6 = ⅔</a:t>
            </a:r>
          </a:p>
        </p:txBody>
      </p:sp>
      <p:sp>
        <p:nvSpPr>
          <p:cNvPr id="13" name="">
            <a:extLst xmlns:a="http://schemas.openxmlformats.org/drawingml/2006/main">
              <a:ext uri="{FF2B5EF4-FFF2-40B4-BE49-F238E27FC236}">
                <a16:creationId xmlns:a16="http://schemas.microsoft.com/office/drawing/2014/main" id="{16CEB8DC-58C8-4645-839E-667DE66EA34A}"/>
              </a:ext>
            </a:extLst>
          </p:cNvPr>
          <p:cNvSpPr>
            <a:spLocks xmlns:a="http://schemas.openxmlformats.org/drawingml/2006/main" noGrp="1"/>
          </p:cNvSpPr>
          <p:nvPr/>
        </p:nvSpPr>
        <p:spPr>
          <a:xfrm xmlns:a="http://schemas.openxmlformats.org/drawingml/2006/main">
            <a:off x="666750" y="541020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425" b="1" i="0">
                <a:solidFill>
                  <a:srgbClr val="1777B4"/>
                </a:solidFill>
                <a:latin typeface="Arial"/>
                <a:ea typeface="Arial"/>
                <a:cs typeface="Arial"/>
              </a:defRPr>
            </a:pPr>
            <a:r>
              <a:rPr sz="1425" b="1" i="0">
                <a:solidFill>
                  <a:srgbClr val="1777B4"/>
                </a:solidFill>
                <a:latin typeface="Arial"/>
                <a:ea typeface="Arial"/>
                <a:cs typeface="Arial"/>
              </a:rPr>
              <a:t>Positive slope means the line rises from left to right.</a:t>
            </a:r>
          </a:p>
        </p:txBody>
      </p:sp>
    </p:spTree>
    <p:extLst>
      <p:ext uri="{BB962C8B-B14F-4D97-AF65-F5344CB8AC3E}">
        <p14:creationId xmlns:p14="http://schemas.microsoft.com/office/powerpoint/2010/main" val="204455201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47769EE-D446-471A-AFDF-9A740E6C2C24}"/>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815665-8531-4331-BF56-2B3878540325}"/>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Horizontal and vertical lines</a:t>
            </a:r>
          </a:p>
        </p:txBody>
      </p:sp>
      <p:sp>
        <p:nvSpPr>
          <p:cNvPr id="3" name="">
            <a:extLst xmlns:a="http://schemas.openxmlformats.org/drawingml/2006/main">
              <a:ext uri="{FF2B5EF4-FFF2-40B4-BE49-F238E27FC236}">
                <a16:creationId xmlns:a16="http://schemas.microsoft.com/office/drawing/2014/main" id="{F74BED04-DB68-4D38-BBD1-889A04CAE6F1}"/>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The denominator determines whether the slope exists.</a:t>
            </a:r>
          </a:p>
        </p:txBody>
      </p:sp>
      <p:sp>
        <p:nvSpPr>
          <p:cNvPr id="4" name="">
            <a:extLst xmlns:a="http://schemas.openxmlformats.org/drawingml/2006/main">
              <a:ext uri="{FF2B5EF4-FFF2-40B4-BE49-F238E27FC236}">
                <a16:creationId xmlns:a16="http://schemas.microsoft.com/office/drawing/2014/main" id="{1AE46733-DD41-4D46-BADC-14AF36D662E3}"/>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1777B4"/>
                </a:solidFill>
                <a:latin typeface="Arial"/>
                <a:ea typeface="Arial"/>
                <a:cs typeface="Arial"/>
              </a:defRPr>
            </a:pPr>
            <a:r>
              <a:rPr sz="900" b="1" i="0">
                <a:solidFill>
                  <a:srgbClr val="1777B4"/>
                </a:solidFill>
                <a:latin typeface="Arial"/>
                <a:ea typeface="Arial"/>
                <a:cs typeface="Arial"/>
              </a:rPr>
              <a:t>EXPLAIN</a:t>
            </a:r>
          </a:p>
        </p:txBody>
      </p:sp>
      <p:sp>
        <p:nvSpPr>
          <p:cNvPr id="5" name="">
            <a:extLst xmlns:a="http://schemas.openxmlformats.org/drawingml/2006/main">
              <a:ext uri="{FF2B5EF4-FFF2-40B4-BE49-F238E27FC236}">
                <a16:creationId xmlns:a16="http://schemas.microsoft.com/office/drawing/2014/main" id="{AE355BC8-58EB-4571-8B3D-661C28255CAA}"/>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B218901-B454-4795-BFA4-D45150075A67}"/>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7F47FF58-A075-414D-962C-481F27E32D83}"/>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12  slide</a:t>
            </a:r>
          </a:p>
        </p:txBody>
      </p:sp>
      <p:sp>
        <p:nvSpPr>
          <p:cNvPr id="8" name="">
            <a:extLst xmlns:a="http://schemas.openxmlformats.org/drawingml/2006/main">
              <a:ext uri="{FF2B5EF4-FFF2-40B4-BE49-F238E27FC236}">
                <a16:creationId xmlns:a16="http://schemas.microsoft.com/office/drawing/2014/main" id="{EA445068-1FB9-45B9-98C3-37A7AD285E10}"/>
              </a:ext>
            </a:extLst>
          </p:cNvPr>
          <p:cNvSpPr>
            <a:spLocks xmlns:a="http://schemas.openxmlformats.org/drawingml/2006/main" noGrp="1"/>
          </p:cNvSpPr>
          <p:nvPr/>
        </p:nvSpPr>
        <p:spPr>
          <a:xfrm xmlns:a="http://schemas.openxmlformats.org/drawingml/2006/main">
            <a:off x="666750" y="1600200"/>
            <a:ext cx="5257800" cy="2857500"/>
          </a:xfrm>
          <a:prstGeom xmlns:a="http://schemas.openxmlformats.org/drawingml/2006/main" prst="rect">
            <a:avLst/>
          </a:prstGeom>
          <a:solidFill xmlns:a="http://schemas.openxmlformats.org/drawingml/2006/main">
            <a:srgbClr val="DDEFF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2BC52E-0C62-428B-85C7-3A54BBDC7E0E}"/>
              </a:ext>
            </a:extLst>
          </p:cNvPr>
          <p:cNvSpPr>
            <a:spLocks xmlns:a="http://schemas.openxmlformats.org/drawingml/2006/main" noGrp="1"/>
          </p:cNvSpPr>
          <p:nvPr/>
        </p:nvSpPr>
        <p:spPr>
          <a:xfrm xmlns:a="http://schemas.openxmlformats.org/drawingml/2006/main">
            <a:off x="952500" y="1809750"/>
            <a:ext cx="4686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i="0">
                <a:solidFill>
                  <a:srgbClr val="1777B4"/>
                </a:solidFill>
                <a:latin typeface="Arial"/>
                <a:ea typeface="Arial"/>
                <a:cs typeface="Arial"/>
              </a:defRPr>
            </a:pPr>
            <a:r>
              <a:rPr sz="1725" b="1" i="0">
                <a:solidFill>
                  <a:srgbClr val="1777B4"/>
                </a:solidFill>
                <a:latin typeface="Arial"/>
                <a:ea typeface="Arial"/>
                <a:cs typeface="Arial"/>
              </a:rPr>
              <a:t>Horizontal line</a:t>
            </a:r>
          </a:p>
        </p:txBody>
      </p:sp>
      <p:sp>
        <p:nvSpPr>
          <p:cNvPr id="10" name="">
            <a:extLst xmlns:a="http://schemas.openxmlformats.org/drawingml/2006/main">
              <a:ext uri="{FF2B5EF4-FFF2-40B4-BE49-F238E27FC236}">
                <a16:creationId xmlns:a16="http://schemas.microsoft.com/office/drawing/2014/main" id="{6BC45F65-FB37-4628-80EF-6549F68D01AA}"/>
              </a:ext>
            </a:extLst>
          </p:cNvPr>
          <p:cNvSpPr>
            <a:spLocks xmlns:a="http://schemas.openxmlformats.org/drawingml/2006/main" noGrp="1"/>
          </p:cNvSpPr>
          <p:nvPr/>
        </p:nvSpPr>
        <p:spPr>
          <a:xfrm xmlns:a="http://schemas.openxmlformats.org/drawingml/2006/main">
            <a:off x="952500" y="232410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00" b="1" i="0">
                <a:solidFill>
                  <a:srgbClr val="193B55"/>
                </a:solidFill>
                <a:latin typeface="Cambria Math"/>
                <a:ea typeface="Cambria Math"/>
                <a:cs typeface="Cambria Math"/>
              </a:defRPr>
            </a:pPr>
            <a:r>
              <a:rPr sz="2100" b="1" i="0">
                <a:solidFill>
                  <a:srgbClr val="193B55"/>
                </a:solidFill>
                <a:latin typeface="Cambria Math"/>
                <a:ea typeface="Cambria Math"/>
                <a:cs typeface="Cambria Math"/>
              </a:rPr>
              <a:t>P(−3, 2), Q(5, 2)</a:t>
            </a:r>
          </a:p>
        </p:txBody>
      </p:sp>
      <p:sp>
        <p:nvSpPr>
          <p:cNvPr id="11" name="">
            <a:extLst xmlns:a="http://schemas.openxmlformats.org/drawingml/2006/main">
              <a:ext uri="{FF2B5EF4-FFF2-40B4-BE49-F238E27FC236}">
                <a16:creationId xmlns:a16="http://schemas.microsoft.com/office/drawing/2014/main" id="{D3574157-7F8B-45DD-A12C-93485C95A211}"/>
              </a:ext>
            </a:extLst>
          </p:cNvPr>
          <p:cNvSpPr>
            <a:spLocks xmlns:a="http://schemas.openxmlformats.org/drawingml/2006/main" noGrp="1"/>
          </p:cNvSpPr>
          <p:nvPr/>
        </p:nvSpPr>
        <p:spPr>
          <a:xfrm xmlns:a="http://schemas.openxmlformats.org/drawingml/2006/main">
            <a:off x="952500" y="2895600"/>
            <a:ext cx="46863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75" b="1" i="0">
                <a:solidFill>
                  <a:srgbClr val="193B55"/>
                </a:solidFill>
                <a:latin typeface="Cambria Math"/>
                <a:ea typeface="Cambria Math"/>
                <a:cs typeface="Cambria Math"/>
              </a:defRPr>
            </a:pPr>
            <a:r>
              <a:rPr sz="2175" b="1" i="0">
                <a:solidFill>
                  <a:srgbClr val="193B55"/>
                </a:solidFill>
                <a:latin typeface="Cambria Math"/>
                <a:ea typeface="Cambria Math"/>
                <a:cs typeface="Cambria Math"/>
              </a:rPr>
              <a:t>Δy = 0</a:t>
            </a:r>
          </a:p>
          <a:p xmlns:a="http://schemas.openxmlformats.org/drawingml/2006/main">
            <a:pPr algn="ctr">
              <a:buNone/>
              <a:defRPr sz="2175" b="1" i="0">
                <a:solidFill>
                  <a:srgbClr val="193B55"/>
                </a:solidFill>
                <a:latin typeface="Cambria Math"/>
                <a:ea typeface="Cambria Math"/>
                <a:cs typeface="Cambria Math"/>
              </a:defRPr>
            </a:pPr>
            <a:r>
              <a:rPr sz="2175" b="1" i="0">
                <a:solidFill>
                  <a:srgbClr val="193B55"/>
                </a:solidFill>
                <a:latin typeface="Cambria Math"/>
                <a:ea typeface="Cambria Math"/>
                <a:cs typeface="Cambria Math"/>
              </a:rPr>
              <a:t>m = 0 / 8 = 0</a:t>
            </a:r>
          </a:p>
        </p:txBody>
      </p:sp>
      <p:sp>
        <p:nvSpPr>
          <p:cNvPr id="12" name="">
            <a:extLst xmlns:a="http://schemas.openxmlformats.org/drawingml/2006/main">
              <a:ext uri="{FF2B5EF4-FFF2-40B4-BE49-F238E27FC236}">
                <a16:creationId xmlns:a16="http://schemas.microsoft.com/office/drawing/2014/main" id="{3B03A87C-8962-44B9-80C7-0719A2AFAB4B}"/>
              </a:ext>
            </a:extLst>
          </p:cNvPr>
          <p:cNvSpPr>
            <a:spLocks xmlns:a="http://schemas.openxmlformats.org/drawingml/2006/main" noGrp="1"/>
          </p:cNvSpPr>
          <p:nvPr/>
        </p:nvSpPr>
        <p:spPr>
          <a:xfrm xmlns:a="http://schemas.openxmlformats.org/drawingml/2006/main">
            <a:off x="952500" y="3943350"/>
            <a:ext cx="4686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425" b="1" i="0">
                <a:solidFill>
                  <a:srgbClr val="1777B4"/>
                </a:solidFill>
                <a:latin typeface="Cambria Math"/>
                <a:ea typeface="Cambria Math"/>
                <a:cs typeface="Cambria Math"/>
              </a:defRPr>
            </a:pPr>
            <a:r>
              <a:rPr sz="1425" b="1" i="0">
                <a:solidFill>
                  <a:srgbClr val="1777B4"/>
                </a:solidFill>
                <a:latin typeface="Cambria Math"/>
                <a:ea typeface="Cambria Math"/>
                <a:cs typeface="Cambria Math"/>
              </a:rPr>
              <a:t>Equation form: y = 2</a:t>
            </a:r>
          </a:p>
        </p:txBody>
      </p:sp>
      <p:sp>
        <p:nvSpPr>
          <p:cNvPr id="13" name="">
            <a:extLst xmlns:a="http://schemas.openxmlformats.org/drawingml/2006/main">
              <a:ext uri="{FF2B5EF4-FFF2-40B4-BE49-F238E27FC236}">
                <a16:creationId xmlns:a16="http://schemas.microsoft.com/office/drawing/2014/main" id="{9F9E8855-106E-4618-9A90-DBF1A290BE8F}"/>
              </a:ext>
            </a:extLst>
          </p:cNvPr>
          <p:cNvSpPr>
            <a:spLocks xmlns:a="http://schemas.openxmlformats.org/drawingml/2006/main" noGrp="1"/>
          </p:cNvSpPr>
          <p:nvPr/>
        </p:nvSpPr>
        <p:spPr>
          <a:xfrm xmlns:a="http://schemas.openxmlformats.org/drawingml/2006/main">
            <a:off x="6267450" y="1600200"/>
            <a:ext cx="5257800" cy="2857500"/>
          </a:xfrm>
          <a:prstGeom xmlns:a="http://schemas.openxmlformats.org/drawingml/2006/main" prst="rect">
            <a:avLst/>
          </a:prstGeom>
          <a:solidFill xmlns:a="http://schemas.openxmlformats.org/drawingml/2006/main">
            <a:srgbClr val="FBE6E3"/>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C7D5BC-E98D-451D-B252-829D5E44B727}"/>
              </a:ext>
            </a:extLst>
          </p:cNvPr>
          <p:cNvSpPr>
            <a:spLocks xmlns:a="http://schemas.openxmlformats.org/drawingml/2006/main" noGrp="1"/>
          </p:cNvSpPr>
          <p:nvPr/>
        </p:nvSpPr>
        <p:spPr>
          <a:xfrm xmlns:a="http://schemas.openxmlformats.org/drawingml/2006/main">
            <a:off x="6553200" y="1809750"/>
            <a:ext cx="4686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i="0">
                <a:solidFill>
                  <a:srgbClr val="E45D50"/>
                </a:solidFill>
                <a:latin typeface="Arial"/>
                <a:ea typeface="Arial"/>
                <a:cs typeface="Arial"/>
              </a:defRPr>
            </a:pPr>
            <a:r>
              <a:rPr sz="1725" b="1" i="0">
                <a:solidFill>
                  <a:srgbClr val="E45D50"/>
                </a:solidFill>
                <a:latin typeface="Arial"/>
                <a:ea typeface="Arial"/>
                <a:cs typeface="Arial"/>
              </a:rPr>
              <a:t>Vertical line</a:t>
            </a:r>
          </a:p>
        </p:txBody>
      </p:sp>
      <p:sp>
        <p:nvSpPr>
          <p:cNvPr id="15" name="">
            <a:extLst xmlns:a="http://schemas.openxmlformats.org/drawingml/2006/main">
              <a:ext uri="{FF2B5EF4-FFF2-40B4-BE49-F238E27FC236}">
                <a16:creationId xmlns:a16="http://schemas.microsoft.com/office/drawing/2014/main" id="{EFA4B915-F752-4F1F-878E-EB47A7BA8C86}"/>
              </a:ext>
            </a:extLst>
          </p:cNvPr>
          <p:cNvSpPr>
            <a:spLocks xmlns:a="http://schemas.openxmlformats.org/drawingml/2006/main" noGrp="1"/>
          </p:cNvSpPr>
          <p:nvPr/>
        </p:nvSpPr>
        <p:spPr>
          <a:xfrm xmlns:a="http://schemas.openxmlformats.org/drawingml/2006/main">
            <a:off x="6553200" y="232410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00" b="1" i="0">
                <a:solidFill>
                  <a:srgbClr val="193B55"/>
                </a:solidFill>
                <a:latin typeface="Cambria Math"/>
                <a:ea typeface="Cambria Math"/>
                <a:cs typeface="Cambria Math"/>
              </a:defRPr>
            </a:pPr>
            <a:r>
              <a:rPr sz="2100" b="1" i="0">
                <a:solidFill>
                  <a:srgbClr val="193B55"/>
                </a:solidFill>
                <a:latin typeface="Cambria Math"/>
                <a:ea typeface="Cambria Math"/>
                <a:cs typeface="Cambria Math"/>
              </a:rPr>
              <a:t>R(4, −2), S(4, 6)</a:t>
            </a:r>
          </a:p>
        </p:txBody>
      </p:sp>
      <p:sp>
        <p:nvSpPr>
          <p:cNvPr id="16" name="">
            <a:extLst xmlns:a="http://schemas.openxmlformats.org/drawingml/2006/main">
              <a:ext uri="{FF2B5EF4-FFF2-40B4-BE49-F238E27FC236}">
                <a16:creationId xmlns:a16="http://schemas.microsoft.com/office/drawing/2014/main" id="{0E2C0F00-F3CF-462E-A7B5-3450888E9905}"/>
              </a:ext>
            </a:extLst>
          </p:cNvPr>
          <p:cNvSpPr>
            <a:spLocks xmlns:a="http://schemas.openxmlformats.org/drawingml/2006/main" noGrp="1"/>
          </p:cNvSpPr>
          <p:nvPr/>
        </p:nvSpPr>
        <p:spPr>
          <a:xfrm xmlns:a="http://schemas.openxmlformats.org/drawingml/2006/main">
            <a:off x="6553200" y="2895600"/>
            <a:ext cx="46863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00" b="1" i="0">
                <a:solidFill>
                  <a:srgbClr val="193B55"/>
                </a:solidFill>
                <a:latin typeface="Cambria Math"/>
                <a:ea typeface="Cambria Math"/>
                <a:cs typeface="Cambria Math"/>
              </a:defRPr>
            </a:pPr>
            <a:r>
              <a:rPr sz="2100" b="1" i="0">
                <a:solidFill>
                  <a:srgbClr val="193B55"/>
                </a:solidFill>
                <a:latin typeface="Cambria Math"/>
                <a:ea typeface="Cambria Math"/>
                <a:cs typeface="Cambria Math"/>
              </a:rPr>
              <a:t>Δx = 0</a:t>
            </a:r>
          </a:p>
          <a:p xmlns:a="http://schemas.openxmlformats.org/drawingml/2006/main">
            <a:pPr algn="ctr">
              <a:buNone/>
              <a:defRPr sz="2100" b="1" i="0">
                <a:solidFill>
                  <a:srgbClr val="193B55"/>
                </a:solidFill>
                <a:latin typeface="Cambria Math"/>
                <a:ea typeface="Cambria Math"/>
                <a:cs typeface="Cambria Math"/>
              </a:defRPr>
            </a:pPr>
            <a:r>
              <a:rPr sz="2100" b="1" i="0">
                <a:solidFill>
                  <a:srgbClr val="193B55"/>
                </a:solidFill>
                <a:latin typeface="Cambria Math"/>
                <a:ea typeface="Cambria Math"/>
                <a:cs typeface="Cambria Math"/>
              </a:rPr>
              <a:t>m = 8 / 0 is undefined</a:t>
            </a:r>
          </a:p>
        </p:txBody>
      </p:sp>
      <p:sp>
        <p:nvSpPr>
          <p:cNvPr id="17" name="">
            <a:extLst xmlns:a="http://schemas.openxmlformats.org/drawingml/2006/main">
              <a:ext uri="{FF2B5EF4-FFF2-40B4-BE49-F238E27FC236}">
                <a16:creationId xmlns:a16="http://schemas.microsoft.com/office/drawing/2014/main" id="{D45799EA-5EEB-4DEA-9B1B-62BB77D79E96}"/>
              </a:ext>
            </a:extLst>
          </p:cNvPr>
          <p:cNvSpPr>
            <a:spLocks xmlns:a="http://schemas.openxmlformats.org/drawingml/2006/main" noGrp="1"/>
          </p:cNvSpPr>
          <p:nvPr/>
        </p:nvSpPr>
        <p:spPr>
          <a:xfrm xmlns:a="http://schemas.openxmlformats.org/drawingml/2006/main">
            <a:off x="6553200" y="3943350"/>
            <a:ext cx="4686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425" b="1" i="0">
                <a:solidFill>
                  <a:srgbClr val="E45D50"/>
                </a:solidFill>
                <a:latin typeface="Cambria Math"/>
                <a:ea typeface="Cambria Math"/>
                <a:cs typeface="Cambria Math"/>
              </a:defRPr>
            </a:pPr>
            <a:r>
              <a:rPr sz="1425" b="1" i="0">
                <a:solidFill>
                  <a:srgbClr val="E45D50"/>
                </a:solidFill>
                <a:latin typeface="Cambria Math"/>
                <a:ea typeface="Cambria Math"/>
                <a:cs typeface="Cambria Math"/>
              </a:rPr>
              <a:t>Equation form: x = 4</a:t>
            </a:r>
          </a:p>
        </p:txBody>
      </p:sp>
      <p:sp>
        <p:nvSpPr>
          <p:cNvPr id="18" name="">
            <a:extLst xmlns:a="http://schemas.openxmlformats.org/drawingml/2006/main">
              <a:ext uri="{FF2B5EF4-FFF2-40B4-BE49-F238E27FC236}">
                <a16:creationId xmlns:a16="http://schemas.microsoft.com/office/drawing/2014/main" id="{9B7E4182-9127-4411-B0BE-9F1B32E20C04}"/>
              </a:ext>
            </a:extLst>
          </p:cNvPr>
          <p:cNvSpPr>
            <a:spLocks xmlns:a="http://schemas.openxmlformats.org/drawingml/2006/main" noGrp="1"/>
          </p:cNvSpPr>
          <p:nvPr/>
        </p:nvSpPr>
        <p:spPr>
          <a:xfrm xmlns:a="http://schemas.openxmlformats.org/drawingml/2006/main">
            <a:off x="666750" y="4857750"/>
            <a:ext cx="10858500" cy="609600"/>
          </a:xfrm>
          <a:prstGeom xmlns:a="http://schemas.openxmlformats.org/drawingml/2006/main" prst="rect">
            <a:avLst/>
          </a:prstGeom>
          <a:solidFill xmlns:a="http://schemas.openxmlformats.org/drawingml/2006/main">
            <a:srgbClr val="F3F6F8"/>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188A4A6-8948-48B1-B272-5FB49D79AE58}"/>
              </a:ext>
            </a:extLst>
          </p:cNvPr>
          <p:cNvSpPr>
            <a:spLocks xmlns:a="http://schemas.openxmlformats.org/drawingml/2006/main" noGrp="1"/>
          </p:cNvSpPr>
          <p:nvPr/>
        </p:nvSpPr>
        <p:spPr>
          <a:xfrm xmlns:a="http://schemas.openxmlformats.org/drawingml/2006/main">
            <a:off x="895350" y="4953000"/>
            <a:ext cx="10401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650" b="1" i="0">
                <a:solidFill>
                  <a:srgbClr val="193B55"/>
                </a:solidFill>
                <a:latin typeface="Arial"/>
                <a:ea typeface="Arial"/>
                <a:cs typeface="Arial"/>
              </a:defRPr>
            </a:pPr>
            <a:r>
              <a:rPr sz="1650" b="1" i="0">
                <a:solidFill>
                  <a:srgbClr val="193B55"/>
                </a:solidFill>
                <a:latin typeface="Arial"/>
                <a:ea typeface="Arial"/>
                <a:cs typeface="Arial"/>
              </a:rPr>
              <a:t>A zero numerator gives slope 0. A zero denominator gives undefined slope.</a:t>
            </a:r>
          </a:p>
        </p:txBody>
      </p:sp>
    </p:spTree>
    <p:extLst>
      <p:ext uri="{BB962C8B-B14F-4D97-AF65-F5344CB8AC3E}">
        <p14:creationId xmlns:p14="http://schemas.microsoft.com/office/powerpoint/2010/main" val="99663809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18E3174-BEA9-4B01-88A1-625AC24D03C2}"/>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B01D2D-0DD0-44BE-BE52-E0BA4A310828}"/>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Equation through two points</a:t>
            </a:r>
          </a:p>
        </p:txBody>
      </p:sp>
      <p:sp>
        <p:nvSpPr>
          <p:cNvPr id="3" name="">
            <a:extLst xmlns:a="http://schemas.openxmlformats.org/drawingml/2006/main">
              <a:ext uri="{FF2B5EF4-FFF2-40B4-BE49-F238E27FC236}">
                <a16:creationId xmlns:a16="http://schemas.microsoft.com/office/drawing/2014/main" id="{A5E850CB-7088-4348-8166-869CCA3F9247}"/>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P(−1, 2) and Q(3, 10)</a:t>
            </a:r>
          </a:p>
        </p:txBody>
      </p:sp>
      <p:sp>
        <p:nvSpPr>
          <p:cNvPr id="4" name="">
            <a:extLst xmlns:a="http://schemas.openxmlformats.org/drawingml/2006/main">
              <a:ext uri="{FF2B5EF4-FFF2-40B4-BE49-F238E27FC236}">
                <a16:creationId xmlns:a16="http://schemas.microsoft.com/office/drawing/2014/main" id="{D8AFB08B-6D37-4FDE-9755-7CDDFA51AD08}"/>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1777B4"/>
                </a:solidFill>
                <a:latin typeface="Arial"/>
                <a:ea typeface="Arial"/>
                <a:cs typeface="Arial"/>
              </a:defRPr>
            </a:pPr>
            <a:r>
              <a:rPr sz="900" b="1" i="0">
                <a:solidFill>
                  <a:srgbClr val="1777B4"/>
                </a:solidFill>
                <a:latin typeface="Arial"/>
                <a:ea typeface="Arial"/>
                <a:cs typeface="Arial"/>
              </a:rPr>
              <a:t>MODEL</a:t>
            </a:r>
          </a:p>
        </p:txBody>
      </p:sp>
      <p:sp>
        <p:nvSpPr>
          <p:cNvPr id="5" name="">
            <a:extLst xmlns:a="http://schemas.openxmlformats.org/drawingml/2006/main">
              <a:ext uri="{FF2B5EF4-FFF2-40B4-BE49-F238E27FC236}">
                <a16:creationId xmlns:a16="http://schemas.microsoft.com/office/drawing/2014/main" id="{12C2D6C1-FF11-42EB-9BDF-A4E97B86AF17}"/>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51B2298-03FD-48B8-9DB8-6D1BA61AA13F}"/>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6076FC02-3A98-4344-81F5-6BBA7B59DE4A}"/>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13  slide</a:t>
            </a:r>
          </a:p>
        </p:txBody>
      </p:sp>
      <p:sp>
        <p:nvSpPr>
          <p:cNvPr id="8" name="">
            <a:extLst xmlns:a="http://schemas.openxmlformats.org/drawingml/2006/main">
              <a:ext uri="{FF2B5EF4-FFF2-40B4-BE49-F238E27FC236}">
                <a16:creationId xmlns:a16="http://schemas.microsoft.com/office/drawing/2014/main" id="{3838E7F7-A9C3-4D9D-A74B-425EC348CF3F}"/>
              </a:ext>
            </a:extLst>
          </p:cNvPr>
          <p:cNvSpPr>
            <a:spLocks xmlns:a="http://schemas.openxmlformats.org/drawingml/2006/main" noGrp="1"/>
          </p:cNvSpPr>
          <p:nvPr/>
        </p:nvSpPr>
        <p:spPr>
          <a:xfrm xmlns:a="http://schemas.openxmlformats.org/drawingml/2006/main">
            <a:off x="781050" y="1466850"/>
            <a:ext cx="400050" cy="4000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0E0BCE3-1FCB-480E-821B-7C06D95E1DE0}"/>
              </a:ext>
            </a:extLst>
          </p:cNvPr>
          <p:cNvSpPr>
            <a:spLocks xmlns:a="http://schemas.openxmlformats.org/drawingml/2006/main" noGrp="1"/>
          </p:cNvSpPr>
          <p:nvPr/>
        </p:nvSpPr>
        <p:spPr>
          <a:xfrm xmlns:a="http://schemas.openxmlformats.org/drawingml/2006/main">
            <a:off x="781050" y="14668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1</a:t>
            </a:r>
          </a:p>
        </p:txBody>
      </p:sp>
      <p:sp>
        <p:nvSpPr>
          <p:cNvPr id="10" name="">
            <a:extLst xmlns:a="http://schemas.openxmlformats.org/drawingml/2006/main">
              <a:ext uri="{FF2B5EF4-FFF2-40B4-BE49-F238E27FC236}">
                <a16:creationId xmlns:a16="http://schemas.microsoft.com/office/drawing/2014/main" id="{8EE80055-8928-487D-A835-27526090E166}"/>
              </a:ext>
            </a:extLst>
          </p:cNvPr>
          <p:cNvSpPr>
            <a:spLocks xmlns:a="http://schemas.openxmlformats.org/drawingml/2006/main" noGrp="1"/>
          </p:cNvSpPr>
          <p:nvPr/>
        </p:nvSpPr>
        <p:spPr>
          <a:xfrm xmlns:a="http://schemas.openxmlformats.org/drawingml/2006/main">
            <a:off x="1409700" y="14382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i="0">
                <a:solidFill>
                  <a:srgbClr val="193B55"/>
                </a:solidFill>
                <a:latin typeface="Arial"/>
                <a:ea typeface="Arial"/>
                <a:cs typeface="Arial"/>
              </a:defRPr>
            </a:pPr>
            <a:r>
              <a:rPr sz="1725" b="1" i="0">
                <a:solidFill>
                  <a:srgbClr val="193B55"/>
                </a:solidFill>
                <a:latin typeface="Arial"/>
                <a:ea typeface="Arial"/>
                <a:cs typeface="Arial"/>
              </a:rPr>
              <a:t>Slope: m = (10 − 2) / (3 − (−1)) = 8 / 4 = 2</a:t>
            </a:r>
          </a:p>
        </p:txBody>
      </p:sp>
      <p:sp>
        <p:nvSpPr>
          <p:cNvPr id="11" name="">
            <a:extLst xmlns:a="http://schemas.openxmlformats.org/drawingml/2006/main">
              <a:ext uri="{FF2B5EF4-FFF2-40B4-BE49-F238E27FC236}">
                <a16:creationId xmlns:a16="http://schemas.microsoft.com/office/drawing/2014/main" id="{D654A4C7-45C7-4B17-BBAF-321B5C4F1DED}"/>
              </a:ext>
            </a:extLst>
          </p:cNvPr>
          <p:cNvSpPr>
            <a:spLocks xmlns:a="http://schemas.openxmlformats.org/drawingml/2006/main" noGrp="1"/>
          </p:cNvSpPr>
          <p:nvPr/>
        </p:nvSpPr>
        <p:spPr>
          <a:xfrm xmlns:a="http://schemas.openxmlformats.org/drawingml/2006/main">
            <a:off x="781050" y="2305050"/>
            <a:ext cx="400050" cy="4000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DA57881-2AB7-4BAA-BD46-83EB6A9DC95B}"/>
              </a:ext>
            </a:extLst>
          </p:cNvPr>
          <p:cNvSpPr>
            <a:spLocks xmlns:a="http://schemas.openxmlformats.org/drawingml/2006/main" noGrp="1"/>
          </p:cNvSpPr>
          <p:nvPr/>
        </p:nvSpPr>
        <p:spPr>
          <a:xfrm xmlns:a="http://schemas.openxmlformats.org/drawingml/2006/main">
            <a:off x="781050" y="23050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D67D5A83-D0B5-43F7-B023-777F42598493}"/>
              </a:ext>
            </a:extLst>
          </p:cNvPr>
          <p:cNvSpPr>
            <a:spLocks xmlns:a="http://schemas.openxmlformats.org/drawingml/2006/main" noGrp="1"/>
          </p:cNvSpPr>
          <p:nvPr/>
        </p:nvSpPr>
        <p:spPr>
          <a:xfrm xmlns:a="http://schemas.openxmlformats.org/drawingml/2006/main">
            <a:off x="1409700" y="22764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i="0">
                <a:solidFill>
                  <a:srgbClr val="193B55"/>
                </a:solidFill>
                <a:latin typeface="Arial"/>
                <a:ea typeface="Arial"/>
                <a:cs typeface="Arial"/>
              </a:defRPr>
            </a:pPr>
            <a:r>
              <a:rPr sz="1725" b="1" i="0">
                <a:solidFill>
                  <a:srgbClr val="193B55"/>
                </a:solidFill>
                <a:latin typeface="Arial"/>
                <a:ea typeface="Arial"/>
                <a:cs typeface="Arial"/>
              </a:rPr>
              <a:t>Point-slope form: y − 2 = 2(x + 1)</a:t>
            </a:r>
          </a:p>
        </p:txBody>
      </p:sp>
      <p:sp>
        <p:nvSpPr>
          <p:cNvPr id="14" name="">
            <a:extLst xmlns:a="http://schemas.openxmlformats.org/drawingml/2006/main">
              <a:ext uri="{FF2B5EF4-FFF2-40B4-BE49-F238E27FC236}">
                <a16:creationId xmlns:a16="http://schemas.microsoft.com/office/drawing/2014/main" id="{4B0BB67E-A078-4333-98E5-ABA6AB4B1FB3}"/>
              </a:ext>
            </a:extLst>
          </p:cNvPr>
          <p:cNvSpPr>
            <a:spLocks xmlns:a="http://schemas.openxmlformats.org/drawingml/2006/main" noGrp="1"/>
          </p:cNvSpPr>
          <p:nvPr/>
        </p:nvSpPr>
        <p:spPr>
          <a:xfrm xmlns:a="http://schemas.openxmlformats.org/drawingml/2006/main">
            <a:off x="781050" y="3143250"/>
            <a:ext cx="400050" cy="400050"/>
          </a:xfrm>
          <a:prstGeom xmlns:a="http://schemas.openxmlformats.org/drawingml/2006/main" prst="rect">
            <a:avLst/>
          </a:prstGeom>
          <a:solidFill xmlns:a="http://schemas.openxmlformats.org/drawingml/2006/main">
            <a:srgbClr val="1777B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54E62F4-4A75-4D70-9E75-305D46C2B99E}"/>
              </a:ext>
            </a:extLst>
          </p:cNvPr>
          <p:cNvSpPr>
            <a:spLocks xmlns:a="http://schemas.openxmlformats.org/drawingml/2006/main" noGrp="1"/>
          </p:cNvSpPr>
          <p:nvPr/>
        </p:nvSpPr>
        <p:spPr>
          <a:xfrm xmlns:a="http://schemas.openxmlformats.org/drawingml/2006/main">
            <a:off x="781050" y="31432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3</a:t>
            </a:r>
          </a:p>
        </p:txBody>
      </p:sp>
      <p:sp>
        <p:nvSpPr>
          <p:cNvPr id="16" name="">
            <a:extLst xmlns:a="http://schemas.openxmlformats.org/drawingml/2006/main">
              <a:ext uri="{FF2B5EF4-FFF2-40B4-BE49-F238E27FC236}">
                <a16:creationId xmlns:a16="http://schemas.microsoft.com/office/drawing/2014/main" id="{22C9B498-60A2-4432-BEED-0EE544F90C2B}"/>
              </a:ext>
            </a:extLst>
          </p:cNvPr>
          <p:cNvSpPr>
            <a:spLocks xmlns:a="http://schemas.openxmlformats.org/drawingml/2006/main" noGrp="1"/>
          </p:cNvSpPr>
          <p:nvPr/>
        </p:nvSpPr>
        <p:spPr>
          <a:xfrm xmlns:a="http://schemas.openxmlformats.org/drawingml/2006/main">
            <a:off x="1409700" y="31146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i="0">
                <a:solidFill>
                  <a:srgbClr val="193B55"/>
                </a:solidFill>
                <a:latin typeface="Arial"/>
                <a:ea typeface="Arial"/>
                <a:cs typeface="Arial"/>
              </a:defRPr>
            </a:pPr>
            <a:r>
              <a:rPr sz="1725" b="1" i="0">
                <a:solidFill>
                  <a:srgbClr val="193B55"/>
                </a:solidFill>
                <a:latin typeface="Arial"/>
                <a:ea typeface="Arial"/>
                <a:cs typeface="Arial"/>
              </a:rPr>
              <a:t>Slope-intercept form: y = 2x + 4</a:t>
            </a:r>
          </a:p>
        </p:txBody>
      </p:sp>
      <p:sp>
        <p:nvSpPr>
          <p:cNvPr id="17" name="">
            <a:extLst xmlns:a="http://schemas.openxmlformats.org/drawingml/2006/main">
              <a:ext uri="{FF2B5EF4-FFF2-40B4-BE49-F238E27FC236}">
                <a16:creationId xmlns:a16="http://schemas.microsoft.com/office/drawing/2014/main" id="{CD815FCF-C4F4-4D60-AA5A-80E1F7CB0706}"/>
              </a:ext>
            </a:extLst>
          </p:cNvPr>
          <p:cNvSpPr>
            <a:spLocks xmlns:a="http://schemas.openxmlformats.org/drawingml/2006/main" noGrp="1"/>
          </p:cNvSpPr>
          <p:nvPr/>
        </p:nvSpPr>
        <p:spPr>
          <a:xfrm xmlns:a="http://schemas.openxmlformats.org/drawingml/2006/main">
            <a:off x="781050" y="4152900"/>
            <a:ext cx="10477500" cy="1066800"/>
          </a:xfrm>
          <a:prstGeom xmlns:a="http://schemas.openxmlformats.org/drawingml/2006/main" prst="rect">
            <a:avLst/>
          </a:prstGeom>
          <a:solidFill xmlns:a="http://schemas.openxmlformats.org/drawingml/2006/main">
            <a:srgbClr val="DDEFF8"/>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CCAD485-BD58-40E8-87DC-63A97DF10E08}"/>
              </a:ext>
            </a:extLst>
          </p:cNvPr>
          <p:cNvSpPr>
            <a:spLocks xmlns:a="http://schemas.openxmlformats.org/drawingml/2006/main" noGrp="1"/>
          </p:cNvSpPr>
          <p:nvPr/>
        </p:nvSpPr>
        <p:spPr>
          <a:xfrm xmlns:a="http://schemas.openxmlformats.org/drawingml/2006/main">
            <a:off x="1047750" y="43053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350" b="1" i="0">
                <a:solidFill>
                  <a:srgbClr val="1777B4"/>
                </a:solidFill>
                <a:latin typeface="Arial"/>
                <a:ea typeface="Arial"/>
                <a:cs typeface="Arial"/>
              </a:defRPr>
            </a:pPr>
            <a:r>
              <a:rPr sz="1350" b="1" i="0">
                <a:solidFill>
                  <a:srgbClr val="1777B4"/>
                </a:solidFill>
                <a:latin typeface="Arial"/>
                <a:ea typeface="Arial"/>
                <a:cs typeface="Arial"/>
              </a:rPr>
              <a:t>Check both points</a:t>
            </a:r>
          </a:p>
        </p:txBody>
      </p:sp>
      <p:sp>
        <p:nvSpPr>
          <p:cNvPr id="19" name="">
            <a:extLst xmlns:a="http://schemas.openxmlformats.org/drawingml/2006/main">
              <a:ext uri="{FF2B5EF4-FFF2-40B4-BE49-F238E27FC236}">
                <a16:creationId xmlns:a16="http://schemas.microsoft.com/office/drawing/2014/main" id="{D77A66E4-8893-4963-B02C-13E4EE42E1DE}"/>
              </a:ext>
            </a:extLst>
          </p:cNvPr>
          <p:cNvSpPr>
            <a:spLocks xmlns:a="http://schemas.openxmlformats.org/drawingml/2006/main" noGrp="1"/>
          </p:cNvSpPr>
          <p:nvPr/>
        </p:nvSpPr>
        <p:spPr>
          <a:xfrm xmlns:a="http://schemas.openxmlformats.org/drawingml/2006/main">
            <a:off x="3295650" y="4381500"/>
            <a:ext cx="7696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025" b="1" i="0">
                <a:solidFill>
                  <a:srgbClr val="193B55"/>
                </a:solidFill>
                <a:latin typeface="Cambria Math"/>
                <a:ea typeface="Cambria Math"/>
                <a:cs typeface="Cambria Math"/>
              </a:defRPr>
            </a:pPr>
            <a:r>
              <a:rPr sz="2025" b="1" i="0">
                <a:solidFill>
                  <a:srgbClr val="193B55"/>
                </a:solidFill>
                <a:latin typeface="Cambria Math"/>
                <a:ea typeface="Cambria Math"/>
                <a:cs typeface="Cambria Math"/>
              </a:rPr>
              <a:t>2 = 2(−1) + 4       10 = 2(3) + 4</a:t>
            </a:r>
          </a:p>
        </p:txBody>
      </p:sp>
      <p:sp>
        <p:nvSpPr>
          <p:cNvPr id="20" name="">
            <a:extLst xmlns:a="http://schemas.openxmlformats.org/drawingml/2006/main">
              <a:ext uri="{FF2B5EF4-FFF2-40B4-BE49-F238E27FC236}">
                <a16:creationId xmlns:a16="http://schemas.microsoft.com/office/drawing/2014/main" id="{6A6FA2CD-3973-40CF-9FE1-33C4F2CD84F8}"/>
              </a:ext>
            </a:extLst>
          </p:cNvPr>
          <p:cNvSpPr>
            <a:spLocks xmlns:a="http://schemas.openxmlformats.org/drawingml/2006/main" noGrp="1"/>
          </p:cNvSpPr>
          <p:nvPr/>
        </p:nvSpPr>
        <p:spPr>
          <a:xfrm xmlns:a="http://schemas.openxmlformats.org/drawingml/2006/main">
            <a:off x="1047750" y="4857750"/>
            <a:ext cx="9944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275" b="0" i="0">
                <a:solidFill>
                  <a:srgbClr val="60798D"/>
                </a:solidFill>
                <a:latin typeface="Arial"/>
                <a:ea typeface="Arial"/>
                <a:cs typeface="Arial"/>
              </a:defRPr>
            </a:pPr>
            <a:r>
              <a:rPr sz="1275" b="0" i="0">
                <a:solidFill>
                  <a:srgbClr val="60798D"/>
                </a:solidFill>
                <a:latin typeface="Arial"/>
                <a:ea typeface="Arial"/>
                <a:cs typeface="Arial"/>
              </a:rPr>
              <a:t>Each endpoint must satisfy the final equation.</a:t>
            </a:r>
          </a:p>
        </p:txBody>
      </p:sp>
    </p:spTree>
    <p:extLst>
      <p:ext uri="{BB962C8B-B14F-4D97-AF65-F5344CB8AC3E}">
        <p14:creationId xmlns:p14="http://schemas.microsoft.com/office/powerpoint/2010/main" val="37369744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466F74D-DABB-4209-A08C-AEC584BA711A}"/>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34B0A3-2C34-44CF-AF64-B87AAFCABB78}"/>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Line practice</a:t>
            </a:r>
          </a:p>
        </p:txBody>
      </p:sp>
      <p:sp>
        <p:nvSpPr>
          <p:cNvPr id="3" name="">
            <a:extLst xmlns:a="http://schemas.openxmlformats.org/drawingml/2006/main">
              <a:ext uri="{FF2B5EF4-FFF2-40B4-BE49-F238E27FC236}">
                <a16:creationId xmlns:a16="http://schemas.microsoft.com/office/drawing/2014/main" id="{6F6F0057-2E88-4ED4-A120-7AE272406A84}"/>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Work for 4 minutes. Use R(−2, 5) and S(4, −1).</a:t>
            </a:r>
          </a:p>
        </p:txBody>
      </p:sp>
      <p:sp>
        <p:nvSpPr>
          <p:cNvPr id="4" name="">
            <a:extLst xmlns:a="http://schemas.openxmlformats.org/drawingml/2006/main">
              <a:ext uri="{FF2B5EF4-FFF2-40B4-BE49-F238E27FC236}">
                <a16:creationId xmlns:a16="http://schemas.microsoft.com/office/drawing/2014/main" id="{57957D35-BE25-47CE-9BD4-B1C85FD190D9}"/>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F4B52A"/>
                </a:solidFill>
                <a:latin typeface="Arial"/>
                <a:ea typeface="Arial"/>
                <a:cs typeface="Arial"/>
              </a:defRPr>
            </a:pPr>
            <a:r>
              <a:rPr sz="900" b="1" i="0">
                <a:solidFill>
                  <a:srgbClr val="F4B52A"/>
                </a:solidFill>
                <a:latin typeface="Arial"/>
                <a:ea typeface="Arial"/>
                <a:cs typeface="Arial"/>
              </a:rPr>
              <a:t>PRACTICE</a:t>
            </a:r>
          </a:p>
        </p:txBody>
      </p:sp>
      <p:sp>
        <p:nvSpPr>
          <p:cNvPr id="5" name="">
            <a:extLst xmlns:a="http://schemas.openxmlformats.org/drawingml/2006/main">
              <a:ext uri="{FF2B5EF4-FFF2-40B4-BE49-F238E27FC236}">
                <a16:creationId xmlns:a16="http://schemas.microsoft.com/office/drawing/2014/main" id="{3C9A38C8-F23F-4105-BB48-414A85FBFFE3}"/>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5EEBB21-70C8-4C16-A1F6-B08800BC73B3}"/>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A436D105-81D1-435B-99D4-8E86676A6975}"/>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14  slide</a:t>
            </a:r>
          </a:p>
        </p:txBody>
      </p:sp>
      <p:sp>
        <p:nvSpPr>
          <p:cNvPr id="8" name="">
            <a:extLst xmlns:a="http://schemas.openxmlformats.org/drawingml/2006/main">
              <a:ext uri="{FF2B5EF4-FFF2-40B4-BE49-F238E27FC236}">
                <a16:creationId xmlns:a16="http://schemas.microsoft.com/office/drawing/2014/main" id="{51F46470-C405-4A6C-8EAC-A60F4C67902C}"/>
              </a:ext>
            </a:extLst>
          </p:cNvPr>
          <p:cNvSpPr>
            <a:spLocks xmlns:a="http://schemas.openxmlformats.org/drawingml/2006/main" noGrp="1"/>
          </p:cNvSpPr>
          <p:nvPr/>
        </p:nvSpPr>
        <p:spPr>
          <a:xfrm xmlns:a="http://schemas.openxmlformats.org/drawingml/2006/main">
            <a:off x="781050" y="158115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93D13EC-7B58-4E31-AF9C-7AC29181AEF8}"/>
              </a:ext>
            </a:extLst>
          </p:cNvPr>
          <p:cNvSpPr>
            <a:spLocks xmlns:a="http://schemas.openxmlformats.org/drawingml/2006/main" noGrp="1"/>
          </p:cNvSpPr>
          <p:nvPr/>
        </p:nvSpPr>
        <p:spPr>
          <a:xfrm xmlns:a="http://schemas.openxmlformats.org/drawingml/2006/main">
            <a:off x="781050" y="15811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1</a:t>
            </a:r>
          </a:p>
        </p:txBody>
      </p:sp>
      <p:sp>
        <p:nvSpPr>
          <p:cNvPr id="10" name="">
            <a:extLst xmlns:a="http://schemas.openxmlformats.org/drawingml/2006/main">
              <a:ext uri="{FF2B5EF4-FFF2-40B4-BE49-F238E27FC236}">
                <a16:creationId xmlns:a16="http://schemas.microsoft.com/office/drawing/2014/main" id="{764BC5D9-8041-4DFA-BEFD-22544FB74191}"/>
              </a:ext>
            </a:extLst>
          </p:cNvPr>
          <p:cNvSpPr>
            <a:spLocks xmlns:a="http://schemas.openxmlformats.org/drawingml/2006/main" noGrp="1"/>
          </p:cNvSpPr>
          <p:nvPr/>
        </p:nvSpPr>
        <p:spPr>
          <a:xfrm xmlns:a="http://schemas.openxmlformats.org/drawingml/2006/main">
            <a:off x="1409700" y="15525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875" b="1" i="0">
                <a:solidFill>
                  <a:srgbClr val="193B55"/>
                </a:solidFill>
                <a:latin typeface="Arial"/>
                <a:ea typeface="Arial"/>
                <a:cs typeface="Arial"/>
              </a:defRPr>
            </a:pPr>
            <a:r>
              <a:rPr sz="1875" b="1" i="0">
                <a:solidFill>
                  <a:srgbClr val="193B55"/>
                </a:solidFill>
                <a:latin typeface="Arial"/>
                <a:ea typeface="Arial"/>
                <a:cs typeface="Arial"/>
              </a:rPr>
              <a:t>Find the slope.</a:t>
            </a:r>
          </a:p>
        </p:txBody>
      </p:sp>
      <p:sp>
        <p:nvSpPr>
          <p:cNvPr id="11" name="">
            <a:extLst xmlns:a="http://schemas.openxmlformats.org/drawingml/2006/main">
              <a:ext uri="{FF2B5EF4-FFF2-40B4-BE49-F238E27FC236}">
                <a16:creationId xmlns:a16="http://schemas.microsoft.com/office/drawing/2014/main" id="{D8F37CB3-7EE5-4167-A58E-3010B594689E}"/>
              </a:ext>
            </a:extLst>
          </p:cNvPr>
          <p:cNvSpPr>
            <a:spLocks xmlns:a="http://schemas.openxmlformats.org/drawingml/2006/main" noGrp="1"/>
          </p:cNvSpPr>
          <p:nvPr/>
        </p:nvSpPr>
        <p:spPr>
          <a:xfrm xmlns:a="http://schemas.openxmlformats.org/drawingml/2006/main">
            <a:off x="781050" y="241935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1E449EC-B5ED-4573-A41E-8D753384B29A}"/>
              </a:ext>
            </a:extLst>
          </p:cNvPr>
          <p:cNvSpPr>
            <a:spLocks xmlns:a="http://schemas.openxmlformats.org/drawingml/2006/main" noGrp="1"/>
          </p:cNvSpPr>
          <p:nvPr/>
        </p:nvSpPr>
        <p:spPr>
          <a:xfrm xmlns:a="http://schemas.openxmlformats.org/drawingml/2006/main">
            <a:off x="7810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B23B5291-A2BF-4308-91B9-D96AA5D4CC5B}"/>
              </a:ext>
            </a:extLst>
          </p:cNvPr>
          <p:cNvSpPr>
            <a:spLocks xmlns:a="http://schemas.openxmlformats.org/drawingml/2006/main" noGrp="1"/>
          </p:cNvSpPr>
          <p:nvPr/>
        </p:nvSpPr>
        <p:spPr>
          <a:xfrm xmlns:a="http://schemas.openxmlformats.org/drawingml/2006/main">
            <a:off x="1409700" y="23907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875" b="1" i="0">
                <a:solidFill>
                  <a:srgbClr val="193B55"/>
                </a:solidFill>
                <a:latin typeface="Arial"/>
                <a:ea typeface="Arial"/>
                <a:cs typeface="Arial"/>
              </a:defRPr>
            </a:pPr>
            <a:r>
              <a:rPr sz="1875" b="1" i="0">
                <a:solidFill>
                  <a:srgbClr val="193B55"/>
                </a:solidFill>
                <a:latin typeface="Arial"/>
                <a:ea typeface="Arial"/>
                <a:cs typeface="Arial"/>
              </a:rPr>
              <a:t>Write the equation in slope-intercept form.</a:t>
            </a:r>
          </a:p>
        </p:txBody>
      </p:sp>
      <p:sp>
        <p:nvSpPr>
          <p:cNvPr id="14" name="">
            <a:extLst xmlns:a="http://schemas.openxmlformats.org/drawingml/2006/main">
              <a:ext uri="{FF2B5EF4-FFF2-40B4-BE49-F238E27FC236}">
                <a16:creationId xmlns:a16="http://schemas.microsoft.com/office/drawing/2014/main" id="{CB752517-E11C-4C25-B22D-1198F32E133C}"/>
              </a:ext>
            </a:extLst>
          </p:cNvPr>
          <p:cNvSpPr>
            <a:spLocks xmlns:a="http://schemas.openxmlformats.org/drawingml/2006/main" noGrp="1"/>
          </p:cNvSpPr>
          <p:nvPr/>
        </p:nvSpPr>
        <p:spPr>
          <a:xfrm xmlns:a="http://schemas.openxmlformats.org/drawingml/2006/main">
            <a:off x="781050" y="325755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B12ECC7-4BCF-4905-8323-CEE1EA4974D7}"/>
              </a:ext>
            </a:extLst>
          </p:cNvPr>
          <p:cNvSpPr>
            <a:spLocks xmlns:a="http://schemas.openxmlformats.org/drawingml/2006/main" noGrp="1"/>
          </p:cNvSpPr>
          <p:nvPr/>
        </p:nvSpPr>
        <p:spPr>
          <a:xfrm xmlns:a="http://schemas.openxmlformats.org/drawingml/2006/main">
            <a:off x="781050" y="32575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3</a:t>
            </a:r>
          </a:p>
        </p:txBody>
      </p:sp>
      <p:sp>
        <p:nvSpPr>
          <p:cNvPr id="16" name="">
            <a:extLst xmlns:a="http://schemas.openxmlformats.org/drawingml/2006/main">
              <a:ext uri="{FF2B5EF4-FFF2-40B4-BE49-F238E27FC236}">
                <a16:creationId xmlns:a16="http://schemas.microsoft.com/office/drawing/2014/main" id="{8CE579ED-73BF-4775-92DE-1AFE747DA84B}"/>
              </a:ext>
            </a:extLst>
          </p:cNvPr>
          <p:cNvSpPr>
            <a:spLocks xmlns:a="http://schemas.openxmlformats.org/drawingml/2006/main" noGrp="1"/>
          </p:cNvSpPr>
          <p:nvPr/>
        </p:nvSpPr>
        <p:spPr>
          <a:xfrm xmlns:a="http://schemas.openxmlformats.org/drawingml/2006/main">
            <a:off x="1409700" y="32289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875" b="1" i="0">
                <a:solidFill>
                  <a:srgbClr val="193B55"/>
                </a:solidFill>
                <a:latin typeface="Arial"/>
                <a:ea typeface="Arial"/>
                <a:cs typeface="Arial"/>
              </a:defRPr>
            </a:pPr>
            <a:r>
              <a:rPr sz="1875" b="1" i="0">
                <a:solidFill>
                  <a:srgbClr val="193B55"/>
                </a:solidFill>
                <a:latin typeface="Arial"/>
                <a:ea typeface="Arial"/>
                <a:cs typeface="Arial"/>
              </a:rPr>
              <a:t>Find the x-intercept and y-intercept.</a:t>
            </a:r>
          </a:p>
        </p:txBody>
      </p:sp>
      <p:sp>
        <p:nvSpPr>
          <p:cNvPr id="17" name="">
            <a:extLst xmlns:a="http://schemas.openxmlformats.org/drawingml/2006/main">
              <a:ext uri="{FF2B5EF4-FFF2-40B4-BE49-F238E27FC236}">
                <a16:creationId xmlns:a16="http://schemas.microsoft.com/office/drawing/2014/main" id="{3F9DF97E-B9DC-4DF1-A743-B6D899BB23EB}"/>
              </a:ext>
            </a:extLst>
          </p:cNvPr>
          <p:cNvSpPr>
            <a:spLocks xmlns:a="http://schemas.openxmlformats.org/drawingml/2006/main" noGrp="1"/>
          </p:cNvSpPr>
          <p:nvPr/>
        </p:nvSpPr>
        <p:spPr>
          <a:xfrm xmlns:a="http://schemas.openxmlformats.org/drawingml/2006/main">
            <a:off x="781050" y="4305300"/>
            <a:ext cx="10477500" cy="1066800"/>
          </a:xfrm>
          <a:prstGeom xmlns:a="http://schemas.openxmlformats.org/drawingml/2006/main" prst="rect">
            <a:avLst/>
          </a:prstGeom>
          <a:solidFill xmlns:a="http://schemas.openxmlformats.org/drawingml/2006/main">
            <a:srgbClr val="FFF4D7"/>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EE9099D-356C-47CF-9FB0-D3859B5CF481}"/>
              </a:ext>
            </a:extLst>
          </p:cNvPr>
          <p:cNvSpPr>
            <a:spLocks xmlns:a="http://schemas.openxmlformats.org/drawingml/2006/main" noGrp="1"/>
          </p:cNvSpPr>
          <p:nvPr/>
        </p:nvSpPr>
        <p:spPr>
          <a:xfrm xmlns:a="http://schemas.openxmlformats.org/drawingml/2006/main">
            <a:off x="1047750" y="443865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425" b="1" i="0">
                <a:solidFill>
                  <a:srgbClr val="F4B52A"/>
                </a:solidFill>
                <a:latin typeface="Arial"/>
                <a:ea typeface="Arial"/>
                <a:cs typeface="Arial"/>
              </a:defRPr>
            </a:pPr>
            <a:r>
              <a:rPr sz="1425" b="1" i="0">
                <a:solidFill>
                  <a:srgbClr val="F4B52A"/>
                </a:solidFill>
                <a:latin typeface="Arial"/>
                <a:ea typeface="Arial"/>
                <a:cs typeface="Arial"/>
              </a:rPr>
              <a:t>Intercept method</a:t>
            </a:r>
          </a:p>
        </p:txBody>
      </p:sp>
      <p:sp>
        <p:nvSpPr>
          <p:cNvPr id="19" name="">
            <a:extLst xmlns:a="http://schemas.openxmlformats.org/drawingml/2006/main">
              <a:ext uri="{FF2B5EF4-FFF2-40B4-BE49-F238E27FC236}">
                <a16:creationId xmlns:a16="http://schemas.microsoft.com/office/drawing/2014/main" id="{AB3CBB47-44AB-440E-A296-923AA0645830}"/>
              </a:ext>
            </a:extLst>
          </p:cNvPr>
          <p:cNvSpPr>
            <a:spLocks xmlns:a="http://schemas.openxmlformats.org/drawingml/2006/main" noGrp="1"/>
          </p:cNvSpPr>
          <p:nvPr/>
        </p:nvSpPr>
        <p:spPr>
          <a:xfrm xmlns:a="http://schemas.openxmlformats.org/drawingml/2006/main">
            <a:off x="3124200" y="4514850"/>
            <a:ext cx="7867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650" b="1" i="0">
                <a:solidFill>
                  <a:srgbClr val="193B55"/>
                </a:solidFill>
                <a:latin typeface="Arial"/>
                <a:ea typeface="Arial"/>
                <a:cs typeface="Arial"/>
              </a:defRPr>
            </a:pPr>
            <a:r>
              <a:rPr sz="1650" b="1" i="0">
                <a:solidFill>
                  <a:srgbClr val="193B55"/>
                </a:solidFill>
                <a:latin typeface="Arial"/>
                <a:ea typeface="Arial"/>
                <a:cs typeface="Arial"/>
              </a:rPr>
              <a:t>Set y = 0 for the x-intercept. Set x = 0 for the y-intercept.</a:t>
            </a:r>
          </a:p>
        </p:txBody>
      </p:sp>
    </p:spTree>
    <p:extLst>
      <p:ext uri="{BB962C8B-B14F-4D97-AF65-F5344CB8AC3E}">
        <p14:creationId xmlns:p14="http://schemas.microsoft.com/office/powerpoint/2010/main" val="29856498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DB3E271-4EEA-4008-87DC-EF5A77834EBD}"/>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168A6B"/>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4986BF-DFB8-47F3-8999-46442F472AB7}"/>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Line practice check</a:t>
            </a:r>
          </a:p>
        </p:txBody>
      </p:sp>
      <p:sp>
        <p:nvSpPr>
          <p:cNvPr id="3" name="">
            <a:extLst xmlns:a="http://schemas.openxmlformats.org/drawingml/2006/main">
              <a:ext uri="{FF2B5EF4-FFF2-40B4-BE49-F238E27FC236}">
                <a16:creationId xmlns:a16="http://schemas.microsoft.com/office/drawing/2014/main" id="{5CA67048-53F9-445D-9E15-9B3DC1661779}"/>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R(−2, 5) and S(4, −1)</a:t>
            </a:r>
          </a:p>
        </p:txBody>
      </p:sp>
      <p:sp>
        <p:nvSpPr>
          <p:cNvPr id="4" name="">
            <a:extLst xmlns:a="http://schemas.openxmlformats.org/drawingml/2006/main">
              <a:ext uri="{FF2B5EF4-FFF2-40B4-BE49-F238E27FC236}">
                <a16:creationId xmlns:a16="http://schemas.microsoft.com/office/drawing/2014/main" id="{BED5A129-5BE7-4547-866E-BD6300264CD0}"/>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168A6B"/>
                </a:solidFill>
                <a:latin typeface="Arial"/>
                <a:ea typeface="Arial"/>
                <a:cs typeface="Arial"/>
              </a:defRPr>
            </a:pPr>
            <a:r>
              <a:rPr sz="900" b="1" i="0">
                <a:solidFill>
                  <a:srgbClr val="168A6B"/>
                </a:solidFill>
                <a:latin typeface="Arial"/>
                <a:ea typeface="Arial"/>
                <a:cs typeface="Arial"/>
              </a:rPr>
              <a:t>CHECK</a:t>
            </a:r>
          </a:p>
        </p:txBody>
      </p:sp>
      <p:sp>
        <p:nvSpPr>
          <p:cNvPr id="5" name="">
            <a:extLst xmlns:a="http://schemas.openxmlformats.org/drawingml/2006/main">
              <a:ext uri="{FF2B5EF4-FFF2-40B4-BE49-F238E27FC236}">
                <a16:creationId xmlns:a16="http://schemas.microsoft.com/office/drawing/2014/main" id="{D11EA7E4-F791-4968-8215-FE5E816910A0}"/>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1EC2CF3-9E10-4DBA-A48E-8EEEA3B01DDF}"/>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A20B9CF6-2667-44C4-B781-F41F456A834A}"/>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15  slide</a:t>
            </a:r>
          </a:p>
        </p:txBody>
      </p:sp>
      <p:sp>
        <p:nvSpPr>
          <p:cNvPr id="8" name="">
            <a:extLst xmlns:a="http://schemas.openxmlformats.org/drawingml/2006/main">
              <a:ext uri="{FF2B5EF4-FFF2-40B4-BE49-F238E27FC236}">
                <a16:creationId xmlns:a16="http://schemas.microsoft.com/office/drawing/2014/main" id="{F0E10368-407B-488B-AA4D-B650F64EC9F3}"/>
              </a:ext>
            </a:extLst>
          </p:cNvPr>
          <p:cNvSpPr>
            <a:spLocks xmlns:a="http://schemas.openxmlformats.org/drawingml/2006/main" noGrp="1"/>
          </p:cNvSpPr>
          <p:nvPr/>
        </p:nvSpPr>
        <p:spPr>
          <a:xfrm xmlns:a="http://schemas.openxmlformats.org/drawingml/2006/main">
            <a:off x="723900" y="1428750"/>
            <a:ext cx="10744200" cy="952500"/>
          </a:xfrm>
          <a:prstGeom xmlns:a="http://schemas.openxmlformats.org/drawingml/2006/main" prst="rect">
            <a:avLst/>
          </a:prstGeom>
          <a:solidFill xmlns:a="http://schemas.openxmlformats.org/drawingml/2006/main">
            <a:srgbClr val="E4F4EF"/>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469CAB4-2C6A-4F30-90A3-4DA6FF274E63}"/>
              </a:ext>
            </a:extLst>
          </p:cNvPr>
          <p:cNvSpPr>
            <a:spLocks xmlns:a="http://schemas.openxmlformats.org/drawingml/2006/main" noGrp="1"/>
          </p:cNvSpPr>
          <p:nvPr/>
        </p:nvSpPr>
        <p:spPr>
          <a:xfrm xmlns:a="http://schemas.openxmlformats.org/drawingml/2006/main">
            <a:off x="952500" y="1581150"/>
            <a:ext cx="1028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325" b="1" i="0">
                <a:solidFill>
                  <a:srgbClr val="193B55"/>
                </a:solidFill>
                <a:latin typeface="Cambria Math"/>
                <a:ea typeface="Cambria Math"/>
                <a:cs typeface="Cambria Math"/>
              </a:defRPr>
            </a:pPr>
            <a:r>
              <a:rPr sz="2325" b="1" i="0">
                <a:solidFill>
                  <a:srgbClr val="193B55"/>
                </a:solidFill>
                <a:latin typeface="Cambria Math"/>
                <a:ea typeface="Cambria Math"/>
                <a:cs typeface="Cambria Math"/>
              </a:rPr>
              <a:t>m = (−1 − 5) / (4 − (−2)) = −6 / 6 = −1</a:t>
            </a:r>
          </a:p>
        </p:txBody>
      </p:sp>
      <p:sp>
        <p:nvSpPr>
          <p:cNvPr id="10" name="">
            <a:extLst xmlns:a="http://schemas.openxmlformats.org/drawingml/2006/main">
              <a:ext uri="{FF2B5EF4-FFF2-40B4-BE49-F238E27FC236}">
                <a16:creationId xmlns:a16="http://schemas.microsoft.com/office/drawing/2014/main" id="{DF6DF77E-E20E-4016-9274-2F8CDAAB5DC3}"/>
              </a:ext>
            </a:extLst>
          </p:cNvPr>
          <p:cNvSpPr>
            <a:spLocks xmlns:a="http://schemas.openxmlformats.org/drawingml/2006/main" noGrp="1"/>
          </p:cNvSpPr>
          <p:nvPr/>
        </p:nvSpPr>
        <p:spPr>
          <a:xfrm xmlns:a="http://schemas.openxmlformats.org/drawingml/2006/main">
            <a:off x="723900" y="2667000"/>
            <a:ext cx="5048250" cy="2190750"/>
          </a:xfrm>
          <a:prstGeom xmlns:a="http://schemas.openxmlformats.org/drawingml/2006/main" prst="rect">
            <a:avLst/>
          </a:prstGeom>
          <a:solidFill xmlns:a="http://schemas.openxmlformats.org/drawingml/2006/main">
            <a:srgbClr val="F3F6F8"/>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614CA93-38D0-4ED6-95F9-13357D7E0C88}"/>
              </a:ext>
            </a:extLst>
          </p:cNvPr>
          <p:cNvSpPr>
            <a:spLocks xmlns:a="http://schemas.openxmlformats.org/drawingml/2006/main" noGrp="1"/>
          </p:cNvSpPr>
          <p:nvPr/>
        </p:nvSpPr>
        <p:spPr>
          <a:xfrm xmlns:a="http://schemas.openxmlformats.org/drawingml/2006/main">
            <a:off x="990600" y="2838450"/>
            <a:ext cx="451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575" b="1" i="0">
                <a:solidFill>
                  <a:srgbClr val="1777B4"/>
                </a:solidFill>
                <a:latin typeface="Arial"/>
                <a:ea typeface="Arial"/>
                <a:cs typeface="Arial"/>
              </a:defRPr>
            </a:pPr>
            <a:r>
              <a:rPr sz="1575" b="1" i="0">
                <a:solidFill>
                  <a:srgbClr val="1777B4"/>
                </a:solidFill>
                <a:latin typeface="Arial"/>
                <a:ea typeface="Arial"/>
                <a:cs typeface="Arial"/>
              </a:rPr>
              <a:t>Equation</a:t>
            </a:r>
          </a:p>
        </p:txBody>
      </p:sp>
      <p:sp>
        <p:nvSpPr>
          <p:cNvPr id="12" name="">
            <a:extLst xmlns:a="http://schemas.openxmlformats.org/drawingml/2006/main">
              <a:ext uri="{FF2B5EF4-FFF2-40B4-BE49-F238E27FC236}">
                <a16:creationId xmlns:a16="http://schemas.microsoft.com/office/drawing/2014/main" id="{9AF0FFBE-484E-4E0B-9B20-E496E31BFBA5}"/>
              </a:ext>
            </a:extLst>
          </p:cNvPr>
          <p:cNvSpPr>
            <a:spLocks xmlns:a="http://schemas.openxmlformats.org/drawingml/2006/main" noGrp="1"/>
          </p:cNvSpPr>
          <p:nvPr/>
        </p:nvSpPr>
        <p:spPr>
          <a:xfrm xmlns:a="http://schemas.openxmlformats.org/drawingml/2006/main">
            <a:off x="990600" y="3371850"/>
            <a:ext cx="45148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325" b="1" i="0">
                <a:solidFill>
                  <a:srgbClr val="193B55"/>
                </a:solidFill>
                <a:latin typeface="Cambria Math"/>
                <a:ea typeface="Cambria Math"/>
                <a:cs typeface="Cambria Math"/>
              </a:defRPr>
            </a:pPr>
            <a:r>
              <a:rPr sz="2325" b="1" i="0">
                <a:solidFill>
                  <a:srgbClr val="193B55"/>
                </a:solidFill>
                <a:latin typeface="Cambria Math"/>
                <a:ea typeface="Cambria Math"/>
                <a:cs typeface="Cambria Math"/>
              </a:rPr>
              <a:t>y − 5 = −1(x + 2)</a:t>
            </a:r>
          </a:p>
          <a:p xmlns:a="http://schemas.openxmlformats.org/drawingml/2006/main">
            <a:pPr algn="ctr">
              <a:buNone/>
              <a:defRPr sz="2325" b="1" i="0">
                <a:solidFill>
                  <a:srgbClr val="193B55"/>
                </a:solidFill>
                <a:latin typeface="Cambria Math"/>
                <a:ea typeface="Cambria Math"/>
                <a:cs typeface="Cambria Math"/>
              </a:defRPr>
            </a:pPr>
            <a:r>
              <a:rPr sz="2325" b="1" i="0">
                <a:solidFill>
                  <a:srgbClr val="193B55"/>
                </a:solidFill>
                <a:latin typeface="Cambria Math"/>
                <a:ea typeface="Cambria Math"/>
                <a:cs typeface="Cambria Math"/>
              </a:rPr>
              <a:t>y = −x + 3</a:t>
            </a:r>
          </a:p>
        </p:txBody>
      </p:sp>
      <p:sp>
        <p:nvSpPr>
          <p:cNvPr id="13" name="">
            <a:extLst xmlns:a="http://schemas.openxmlformats.org/drawingml/2006/main">
              <a:ext uri="{FF2B5EF4-FFF2-40B4-BE49-F238E27FC236}">
                <a16:creationId xmlns:a16="http://schemas.microsoft.com/office/drawing/2014/main" id="{DACEA408-4B36-45F2-8D80-A6C9CF7D90E8}"/>
              </a:ext>
            </a:extLst>
          </p:cNvPr>
          <p:cNvSpPr>
            <a:spLocks xmlns:a="http://schemas.openxmlformats.org/drawingml/2006/main" noGrp="1"/>
          </p:cNvSpPr>
          <p:nvPr/>
        </p:nvSpPr>
        <p:spPr>
          <a:xfrm xmlns:a="http://schemas.openxmlformats.org/drawingml/2006/main">
            <a:off x="6419850" y="2667000"/>
            <a:ext cx="5048250" cy="2190750"/>
          </a:xfrm>
          <a:prstGeom xmlns:a="http://schemas.openxmlformats.org/drawingml/2006/main" prst="rect">
            <a:avLst/>
          </a:prstGeom>
          <a:solidFill xmlns:a="http://schemas.openxmlformats.org/drawingml/2006/main">
            <a:srgbClr val="E4F4E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C44A502-C1F7-439E-940D-B830006BD2AA}"/>
              </a:ext>
            </a:extLst>
          </p:cNvPr>
          <p:cNvSpPr>
            <a:spLocks xmlns:a="http://schemas.openxmlformats.org/drawingml/2006/main" noGrp="1"/>
          </p:cNvSpPr>
          <p:nvPr/>
        </p:nvSpPr>
        <p:spPr>
          <a:xfrm xmlns:a="http://schemas.openxmlformats.org/drawingml/2006/main">
            <a:off x="6686550" y="2838450"/>
            <a:ext cx="4514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575" b="1" i="0">
                <a:solidFill>
                  <a:srgbClr val="168A6B"/>
                </a:solidFill>
                <a:latin typeface="Arial"/>
                <a:ea typeface="Arial"/>
                <a:cs typeface="Arial"/>
              </a:defRPr>
            </a:pPr>
            <a:r>
              <a:rPr sz="1575" b="1" i="0">
                <a:solidFill>
                  <a:srgbClr val="168A6B"/>
                </a:solidFill>
                <a:latin typeface="Arial"/>
                <a:ea typeface="Arial"/>
                <a:cs typeface="Arial"/>
              </a:rPr>
              <a:t>Intercepts</a:t>
            </a:r>
          </a:p>
        </p:txBody>
      </p:sp>
      <p:sp>
        <p:nvSpPr>
          <p:cNvPr id="15" name="">
            <a:extLst xmlns:a="http://schemas.openxmlformats.org/drawingml/2006/main">
              <a:ext uri="{FF2B5EF4-FFF2-40B4-BE49-F238E27FC236}">
                <a16:creationId xmlns:a16="http://schemas.microsoft.com/office/drawing/2014/main" id="{F41D8506-15E3-49D9-88E8-FA78566E08FD}"/>
              </a:ext>
            </a:extLst>
          </p:cNvPr>
          <p:cNvSpPr>
            <a:spLocks xmlns:a="http://schemas.openxmlformats.org/drawingml/2006/main" noGrp="1"/>
          </p:cNvSpPr>
          <p:nvPr/>
        </p:nvSpPr>
        <p:spPr>
          <a:xfrm xmlns:a="http://schemas.openxmlformats.org/drawingml/2006/main">
            <a:off x="6686550" y="3371850"/>
            <a:ext cx="45148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75" b="1" i="0">
                <a:solidFill>
                  <a:srgbClr val="193B55"/>
                </a:solidFill>
                <a:latin typeface="Cambria Math"/>
                <a:ea typeface="Cambria Math"/>
                <a:cs typeface="Cambria Math"/>
              </a:defRPr>
            </a:pPr>
            <a:r>
              <a:rPr sz="2175" b="1" i="0">
                <a:solidFill>
                  <a:srgbClr val="193B55"/>
                </a:solidFill>
                <a:latin typeface="Cambria Math"/>
                <a:ea typeface="Cambria Math"/>
                <a:cs typeface="Cambria Math"/>
              </a:rPr>
              <a:t>x-intercept: (3, 0)</a:t>
            </a:r>
          </a:p>
          <a:p xmlns:a="http://schemas.openxmlformats.org/drawingml/2006/main">
            <a:pPr algn="ctr">
              <a:buNone/>
              <a:defRPr sz="2175" b="1" i="0">
                <a:solidFill>
                  <a:srgbClr val="193B55"/>
                </a:solidFill>
                <a:latin typeface="Cambria Math"/>
                <a:ea typeface="Cambria Math"/>
                <a:cs typeface="Cambria Math"/>
              </a:defRPr>
            </a:pPr>
            <a:r>
              <a:rPr sz="2175" b="1" i="0">
                <a:solidFill>
                  <a:srgbClr val="193B55"/>
                </a:solidFill>
                <a:latin typeface="Cambria Math"/>
                <a:ea typeface="Cambria Math"/>
                <a:cs typeface="Cambria Math"/>
              </a:rPr>
              <a:t>y-intercept: (0, 3)</a:t>
            </a:r>
          </a:p>
        </p:txBody>
      </p:sp>
      <p:sp>
        <p:nvSpPr>
          <p:cNvPr id="16" name="">
            <a:extLst xmlns:a="http://schemas.openxmlformats.org/drawingml/2006/main">
              <a:ext uri="{FF2B5EF4-FFF2-40B4-BE49-F238E27FC236}">
                <a16:creationId xmlns:a16="http://schemas.microsoft.com/office/drawing/2014/main" id="{9BBA748E-E7EC-41A5-9B7D-FF3DAEF15A2C}"/>
              </a:ext>
            </a:extLst>
          </p:cNvPr>
          <p:cNvSpPr>
            <a:spLocks xmlns:a="http://schemas.openxmlformats.org/drawingml/2006/main" noGrp="1"/>
          </p:cNvSpPr>
          <p:nvPr/>
        </p:nvSpPr>
        <p:spPr>
          <a:xfrm xmlns:a="http://schemas.openxmlformats.org/drawingml/2006/main">
            <a:off x="723900" y="5276850"/>
            <a:ext cx="1074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425" b="1" i="0">
                <a:solidFill>
                  <a:srgbClr val="168A6B"/>
                </a:solidFill>
                <a:latin typeface="Arial"/>
                <a:ea typeface="Arial"/>
                <a:cs typeface="Arial"/>
              </a:defRPr>
            </a:pPr>
            <a:r>
              <a:rPr sz="1425" b="1" i="0">
                <a:solidFill>
                  <a:srgbClr val="168A6B"/>
                </a:solidFill>
                <a:latin typeface="Arial"/>
                <a:ea typeface="Arial"/>
                <a:cs typeface="Arial"/>
              </a:rPr>
              <a:t>Check: both intercepts satisfy y = −x + 3.</a:t>
            </a:r>
          </a:p>
        </p:txBody>
      </p:sp>
    </p:spTree>
    <p:extLst>
      <p:ext uri="{BB962C8B-B14F-4D97-AF65-F5344CB8AC3E}">
        <p14:creationId xmlns:p14="http://schemas.microsoft.com/office/powerpoint/2010/main" val="193991063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1EA3561-BAEA-4CE9-A409-9F9D7782EC1A}"/>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E45D5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02ECE8-1737-4D5F-9AD6-4988A9A34BC7}"/>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Circle form</a:t>
            </a:r>
          </a:p>
        </p:txBody>
      </p:sp>
      <p:sp>
        <p:nvSpPr>
          <p:cNvPr id="3" name="">
            <a:extLst xmlns:a="http://schemas.openxmlformats.org/drawingml/2006/main">
              <a:ext uri="{FF2B5EF4-FFF2-40B4-BE49-F238E27FC236}">
                <a16:creationId xmlns:a16="http://schemas.microsoft.com/office/drawing/2014/main" id="{260C549B-134B-48C0-829D-34A6E1A207E2}"/>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Identify center and radius from standard form.</a:t>
            </a:r>
          </a:p>
        </p:txBody>
      </p:sp>
      <p:sp>
        <p:nvSpPr>
          <p:cNvPr id="4" name="">
            <a:extLst xmlns:a="http://schemas.openxmlformats.org/drawingml/2006/main">
              <a:ext uri="{FF2B5EF4-FFF2-40B4-BE49-F238E27FC236}">
                <a16:creationId xmlns:a16="http://schemas.microsoft.com/office/drawing/2014/main" id="{16EEEAC7-42AF-402E-9C54-131CA06F19A4}"/>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E45D50"/>
                </a:solidFill>
                <a:latin typeface="Arial"/>
                <a:ea typeface="Arial"/>
                <a:cs typeface="Arial"/>
              </a:defRPr>
            </a:pPr>
            <a:r>
              <a:rPr sz="900" b="1" i="0">
                <a:solidFill>
                  <a:srgbClr val="E45D50"/>
                </a:solidFill>
                <a:latin typeface="Arial"/>
                <a:ea typeface="Arial"/>
                <a:cs typeface="Arial"/>
              </a:rPr>
              <a:t>PREVIEW</a:t>
            </a:r>
          </a:p>
        </p:txBody>
      </p:sp>
      <p:sp>
        <p:nvSpPr>
          <p:cNvPr id="5" name="">
            <a:extLst xmlns:a="http://schemas.openxmlformats.org/drawingml/2006/main">
              <a:ext uri="{FF2B5EF4-FFF2-40B4-BE49-F238E27FC236}">
                <a16:creationId xmlns:a16="http://schemas.microsoft.com/office/drawing/2014/main" id="{BEDACCA0-17CC-414F-AF2F-D4DE432E939D}"/>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D177B7-793E-454D-AFCA-DCDE8EFE84CA}"/>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60A2E7E9-9DE0-4E91-BABC-37BCC35396BC}"/>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16  slide</a:t>
            </a:r>
          </a:p>
        </p:txBody>
      </p:sp>
      <p:sp>
        <p:nvSpPr>
          <p:cNvPr id="8" name="">
            <a:extLst xmlns:a="http://schemas.openxmlformats.org/drawingml/2006/main">
              <a:ext uri="{FF2B5EF4-FFF2-40B4-BE49-F238E27FC236}">
                <a16:creationId xmlns:a16="http://schemas.microsoft.com/office/drawing/2014/main" id="{EB3E3135-7B55-4A75-8D59-1A6329C9665A}"/>
              </a:ext>
            </a:extLst>
          </p:cNvPr>
          <p:cNvSpPr>
            <a:spLocks xmlns:a="http://schemas.openxmlformats.org/drawingml/2006/main" noGrp="1"/>
          </p:cNvSpPr>
          <p:nvPr/>
        </p:nvSpPr>
        <p:spPr>
          <a:xfrm xmlns:a="http://schemas.openxmlformats.org/drawingml/2006/main">
            <a:off x="666750" y="1390650"/>
            <a:ext cx="10858500" cy="857250"/>
          </a:xfrm>
          <a:prstGeom xmlns:a="http://schemas.openxmlformats.org/drawingml/2006/main" prst="rect">
            <a:avLst/>
          </a:prstGeom>
          <a:solidFill xmlns:a="http://schemas.openxmlformats.org/drawingml/2006/main">
            <a:srgbClr val="102F4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37B3E37-506C-4A21-A4C8-97D194CA7A51}"/>
              </a:ext>
            </a:extLst>
          </p:cNvPr>
          <p:cNvSpPr>
            <a:spLocks xmlns:a="http://schemas.openxmlformats.org/drawingml/2006/main" noGrp="1"/>
          </p:cNvSpPr>
          <p:nvPr/>
        </p:nvSpPr>
        <p:spPr>
          <a:xfrm xmlns:a="http://schemas.openxmlformats.org/drawingml/2006/main">
            <a:off x="914400" y="1504950"/>
            <a:ext cx="10363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3000" b="1" i="0">
                <a:solidFill>
                  <a:srgbClr val="FFFFFF"/>
                </a:solidFill>
                <a:latin typeface="Cambria Math"/>
                <a:ea typeface="Cambria Math"/>
                <a:cs typeface="Cambria Math"/>
              </a:defRPr>
            </a:pPr>
            <a:r>
              <a:rPr sz="3000" b="1" i="0">
                <a:solidFill>
                  <a:srgbClr val="FFFFFF"/>
                </a:solidFill>
                <a:latin typeface="Cambria Math"/>
                <a:ea typeface="Cambria Math"/>
                <a:cs typeface="Cambria Math"/>
              </a:rPr>
              <a:t>(x − h)² + (y − k)² = r²</a:t>
            </a:r>
          </a:p>
        </p:txBody>
      </p:sp>
      <p:sp>
        <p:nvSpPr>
          <p:cNvPr id="10" name="">
            <a:extLst xmlns:a="http://schemas.openxmlformats.org/drawingml/2006/main">
              <a:ext uri="{FF2B5EF4-FFF2-40B4-BE49-F238E27FC236}">
                <a16:creationId xmlns:a16="http://schemas.microsoft.com/office/drawing/2014/main" id="{ED9221DD-C6BF-421C-AB9D-A01035D22558}"/>
              </a:ext>
            </a:extLst>
          </p:cNvPr>
          <p:cNvSpPr>
            <a:spLocks xmlns:a="http://schemas.openxmlformats.org/drawingml/2006/main" noGrp="1"/>
          </p:cNvSpPr>
          <p:nvPr/>
        </p:nvSpPr>
        <p:spPr>
          <a:xfrm xmlns:a="http://schemas.openxmlformats.org/drawingml/2006/main">
            <a:off x="666750" y="2571750"/>
            <a:ext cx="5257800" cy="2381250"/>
          </a:xfrm>
          <a:prstGeom xmlns:a="http://schemas.openxmlformats.org/drawingml/2006/main" prst="rect">
            <a:avLst/>
          </a:prstGeom>
          <a:solidFill xmlns:a="http://schemas.openxmlformats.org/drawingml/2006/main">
            <a:srgbClr val="FBE6E3"/>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52379F1-F0E0-4320-A8A9-10399B7E351D}"/>
              </a:ext>
            </a:extLst>
          </p:cNvPr>
          <p:cNvSpPr>
            <a:spLocks xmlns:a="http://schemas.openxmlformats.org/drawingml/2006/main" noGrp="1"/>
          </p:cNvSpPr>
          <p:nvPr/>
        </p:nvSpPr>
        <p:spPr>
          <a:xfrm xmlns:a="http://schemas.openxmlformats.org/drawingml/2006/main">
            <a:off x="933450" y="2743200"/>
            <a:ext cx="472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975" b="1" i="0">
                <a:solidFill>
                  <a:srgbClr val="E45D50"/>
                </a:solidFill>
                <a:latin typeface="Arial"/>
                <a:ea typeface="Arial"/>
                <a:cs typeface="Arial"/>
              </a:defRPr>
            </a:pPr>
            <a:r>
              <a:rPr sz="975" b="1" i="0">
                <a:solidFill>
                  <a:srgbClr val="E45D50"/>
                </a:solidFill>
                <a:latin typeface="Arial"/>
                <a:ea typeface="Arial"/>
                <a:cs typeface="Arial"/>
              </a:rPr>
              <a:t>MODEL</a:t>
            </a:r>
          </a:p>
        </p:txBody>
      </p:sp>
      <p:sp>
        <p:nvSpPr>
          <p:cNvPr id="12" name="">
            <a:extLst xmlns:a="http://schemas.openxmlformats.org/drawingml/2006/main">
              <a:ext uri="{FF2B5EF4-FFF2-40B4-BE49-F238E27FC236}">
                <a16:creationId xmlns:a16="http://schemas.microsoft.com/office/drawing/2014/main" id="{863907CE-4C8D-4773-A125-2F1787463E73}"/>
              </a:ext>
            </a:extLst>
          </p:cNvPr>
          <p:cNvSpPr>
            <a:spLocks xmlns:a="http://schemas.openxmlformats.org/drawingml/2006/main" noGrp="1"/>
          </p:cNvSpPr>
          <p:nvPr/>
        </p:nvSpPr>
        <p:spPr>
          <a:xfrm xmlns:a="http://schemas.openxmlformats.org/drawingml/2006/main">
            <a:off x="876300" y="31623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250" b="1" i="0">
                <a:solidFill>
                  <a:srgbClr val="193B55"/>
                </a:solidFill>
                <a:latin typeface="Cambria Math"/>
                <a:ea typeface="Cambria Math"/>
                <a:cs typeface="Cambria Math"/>
              </a:defRPr>
            </a:pPr>
            <a:r>
              <a:rPr sz="2250" b="1" i="0">
                <a:solidFill>
                  <a:srgbClr val="193B55"/>
                </a:solidFill>
                <a:latin typeface="Cambria Math"/>
                <a:ea typeface="Cambria Math"/>
                <a:cs typeface="Cambria Math"/>
              </a:rPr>
              <a:t>(x + 3)² + (y − 2)² = 25</a:t>
            </a:r>
          </a:p>
        </p:txBody>
      </p:sp>
      <p:sp>
        <p:nvSpPr>
          <p:cNvPr id="13" name="">
            <a:extLst xmlns:a="http://schemas.openxmlformats.org/drawingml/2006/main">
              <a:ext uri="{FF2B5EF4-FFF2-40B4-BE49-F238E27FC236}">
                <a16:creationId xmlns:a16="http://schemas.microsoft.com/office/drawing/2014/main" id="{1F3CE56A-17D0-4388-A4C8-A822738368F4}"/>
              </a:ext>
            </a:extLst>
          </p:cNvPr>
          <p:cNvSpPr>
            <a:spLocks xmlns:a="http://schemas.openxmlformats.org/drawingml/2006/main" noGrp="1"/>
          </p:cNvSpPr>
          <p:nvPr/>
        </p:nvSpPr>
        <p:spPr>
          <a:xfrm xmlns:a="http://schemas.openxmlformats.org/drawingml/2006/main">
            <a:off x="933450" y="3867150"/>
            <a:ext cx="4724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875" b="1" i="0">
                <a:solidFill>
                  <a:srgbClr val="E45D50"/>
                </a:solidFill>
                <a:latin typeface="Cambria Math"/>
                <a:ea typeface="Cambria Math"/>
                <a:cs typeface="Cambria Math"/>
              </a:defRPr>
            </a:pPr>
            <a:r>
              <a:rPr sz="1875" b="1" i="0">
                <a:solidFill>
                  <a:srgbClr val="E45D50"/>
                </a:solidFill>
                <a:latin typeface="Cambria Math"/>
                <a:ea typeface="Cambria Math"/>
                <a:cs typeface="Cambria Math"/>
              </a:rPr>
              <a:t>Center: (−3, 2)</a:t>
            </a:r>
          </a:p>
          <a:p xmlns:a="http://schemas.openxmlformats.org/drawingml/2006/main">
            <a:pPr algn="ctr">
              <a:buNone/>
              <a:defRPr sz="1875" b="1" i="0">
                <a:solidFill>
                  <a:srgbClr val="E45D50"/>
                </a:solidFill>
                <a:latin typeface="Cambria Math"/>
                <a:ea typeface="Cambria Math"/>
                <a:cs typeface="Cambria Math"/>
              </a:defRPr>
            </a:pPr>
            <a:r>
              <a:rPr sz="1875" b="1" i="0">
                <a:solidFill>
                  <a:srgbClr val="E45D50"/>
                </a:solidFill>
                <a:latin typeface="Cambria Math"/>
                <a:ea typeface="Cambria Math"/>
                <a:cs typeface="Cambria Math"/>
              </a:rPr>
              <a:t>Radius: 5</a:t>
            </a:r>
          </a:p>
        </p:txBody>
      </p:sp>
      <p:sp>
        <p:nvSpPr>
          <p:cNvPr id="14" name="">
            <a:extLst xmlns:a="http://schemas.openxmlformats.org/drawingml/2006/main">
              <a:ext uri="{FF2B5EF4-FFF2-40B4-BE49-F238E27FC236}">
                <a16:creationId xmlns:a16="http://schemas.microsoft.com/office/drawing/2014/main" id="{98982306-26D4-4F8A-97D7-CAC6EE5E0FF1}"/>
              </a:ext>
            </a:extLst>
          </p:cNvPr>
          <p:cNvSpPr>
            <a:spLocks xmlns:a="http://schemas.openxmlformats.org/drawingml/2006/main" noGrp="1"/>
          </p:cNvSpPr>
          <p:nvPr/>
        </p:nvSpPr>
        <p:spPr>
          <a:xfrm xmlns:a="http://schemas.openxmlformats.org/drawingml/2006/main">
            <a:off x="6267450" y="2571750"/>
            <a:ext cx="5257800" cy="2381250"/>
          </a:xfrm>
          <a:prstGeom xmlns:a="http://schemas.openxmlformats.org/drawingml/2006/main" prst="rect">
            <a:avLst/>
          </a:prstGeom>
          <a:solidFill xmlns:a="http://schemas.openxmlformats.org/drawingml/2006/main">
            <a:srgbClr val="FFF4D7"/>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4F462F6-D3F5-49C1-A112-F63DBDF4EA34}"/>
              </a:ext>
            </a:extLst>
          </p:cNvPr>
          <p:cNvSpPr>
            <a:spLocks xmlns:a="http://schemas.openxmlformats.org/drawingml/2006/main" noGrp="1"/>
          </p:cNvSpPr>
          <p:nvPr/>
        </p:nvSpPr>
        <p:spPr>
          <a:xfrm xmlns:a="http://schemas.openxmlformats.org/drawingml/2006/main">
            <a:off x="6534150" y="2743200"/>
            <a:ext cx="472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975" b="1" i="0">
                <a:solidFill>
                  <a:srgbClr val="F4B52A"/>
                </a:solidFill>
                <a:latin typeface="Arial"/>
                <a:ea typeface="Arial"/>
                <a:cs typeface="Arial"/>
              </a:defRPr>
            </a:pPr>
            <a:r>
              <a:rPr sz="975" b="1" i="0">
                <a:solidFill>
                  <a:srgbClr val="F4B52A"/>
                </a:solidFill>
                <a:latin typeface="Arial"/>
                <a:ea typeface="Arial"/>
                <a:cs typeface="Arial"/>
              </a:rPr>
              <a:t>QUICK CHECK</a:t>
            </a:r>
          </a:p>
        </p:txBody>
      </p:sp>
      <p:sp>
        <p:nvSpPr>
          <p:cNvPr id="16" name="">
            <a:extLst xmlns:a="http://schemas.openxmlformats.org/drawingml/2006/main">
              <a:ext uri="{FF2B5EF4-FFF2-40B4-BE49-F238E27FC236}">
                <a16:creationId xmlns:a16="http://schemas.microsoft.com/office/drawing/2014/main" id="{8EF69683-C098-4A48-9392-6B90B76B7780}"/>
              </a:ext>
            </a:extLst>
          </p:cNvPr>
          <p:cNvSpPr>
            <a:spLocks xmlns:a="http://schemas.openxmlformats.org/drawingml/2006/main" noGrp="1"/>
          </p:cNvSpPr>
          <p:nvPr/>
        </p:nvSpPr>
        <p:spPr>
          <a:xfrm xmlns:a="http://schemas.openxmlformats.org/drawingml/2006/main">
            <a:off x="6457950" y="31623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250" b="1" i="0">
                <a:solidFill>
                  <a:srgbClr val="193B55"/>
                </a:solidFill>
                <a:latin typeface="Cambria Math"/>
                <a:ea typeface="Cambria Math"/>
                <a:cs typeface="Cambria Math"/>
              </a:defRPr>
            </a:pPr>
            <a:r>
              <a:rPr sz="2250" b="1" i="0">
                <a:solidFill>
                  <a:srgbClr val="193B55"/>
                </a:solidFill>
                <a:latin typeface="Cambria Math"/>
                <a:ea typeface="Cambria Math"/>
                <a:cs typeface="Cambria Math"/>
              </a:rPr>
              <a:t>(x − 4)² + (y + 1)² = 9</a:t>
            </a:r>
          </a:p>
        </p:txBody>
      </p:sp>
      <p:sp>
        <p:nvSpPr>
          <p:cNvPr id="17" name="">
            <a:extLst xmlns:a="http://schemas.openxmlformats.org/drawingml/2006/main">
              <a:ext uri="{FF2B5EF4-FFF2-40B4-BE49-F238E27FC236}">
                <a16:creationId xmlns:a16="http://schemas.microsoft.com/office/drawing/2014/main" id="{41AAFC25-CC5B-4F47-BEA1-554A3ED77E91}"/>
              </a:ext>
            </a:extLst>
          </p:cNvPr>
          <p:cNvSpPr>
            <a:spLocks xmlns:a="http://schemas.openxmlformats.org/drawingml/2006/main" noGrp="1"/>
          </p:cNvSpPr>
          <p:nvPr/>
        </p:nvSpPr>
        <p:spPr>
          <a:xfrm xmlns:a="http://schemas.openxmlformats.org/drawingml/2006/main">
            <a:off x="6534150" y="3867150"/>
            <a:ext cx="47244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800" b="1" i="0">
                <a:solidFill>
                  <a:srgbClr val="193B55"/>
                </a:solidFill>
                <a:latin typeface="Cambria Math"/>
                <a:ea typeface="Cambria Math"/>
                <a:cs typeface="Cambria Math"/>
              </a:defRPr>
            </a:pPr>
            <a:r>
              <a:rPr sz="1800" b="1" i="0">
                <a:solidFill>
                  <a:srgbClr val="193B55"/>
                </a:solidFill>
                <a:latin typeface="Cambria Math"/>
                <a:ea typeface="Cambria Math"/>
                <a:cs typeface="Cambria Math"/>
              </a:rPr>
              <a:t>Center: ________</a:t>
            </a:r>
          </a:p>
          <a:p xmlns:a="http://schemas.openxmlformats.org/drawingml/2006/main">
            <a:pPr algn="ctr">
              <a:buNone/>
              <a:defRPr sz="1800" b="1" i="0">
                <a:solidFill>
                  <a:srgbClr val="193B55"/>
                </a:solidFill>
                <a:latin typeface="Cambria Math"/>
                <a:ea typeface="Cambria Math"/>
                <a:cs typeface="Cambria Math"/>
              </a:defRPr>
            </a:pPr>
            <a:r>
              <a:rPr sz="1800" b="1" i="0">
                <a:solidFill>
                  <a:srgbClr val="193B55"/>
                </a:solidFill>
                <a:latin typeface="Cambria Math"/>
                <a:ea typeface="Cambria Math"/>
                <a:cs typeface="Cambria Math"/>
              </a:rPr>
              <a:t>Radius: ________</a:t>
            </a:r>
          </a:p>
        </p:txBody>
      </p:sp>
      <p:sp>
        <p:nvSpPr>
          <p:cNvPr id="18" name="">
            <a:extLst xmlns:a="http://schemas.openxmlformats.org/drawingml/2006/main">
              <a:ext uri="{FF2B5EF4-FFF2-40B4-BE49-F238E27FC236}">
                <a16:creationId xmlns:a16="http://schemas.microsoft.com/office/drawing/2014/main" id="{F8B335B8-9FB0-4084-9E39-D19746C67C38}"/>
              </a:ext>
            </a:extLst>
          </p:cNvPr>
          <p:cNvSpPr>
            <a:spLocks xmlns:a="http://schemas.openxmlformats.org/drawingml/2006/main" noGrp="1"/>
          </p:cNvSpPr>
          <p:nvPr/>
        </p:nvSpPr>
        <p:spPr>
          <a:xfrm xmlns:a="http://schemas.openxmlformats.org/drawingml/2006/main">
            <a:off x="666750" y="5105400"/>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275" b="1" i="0">
                <a:solidFill>
                  <a:srgbClr val="E45D50"/>
                </a:solidFill>
                <a:latin typeface="Arial"/>
                <a:ea typeface="Arial"/>
                <a:cs typeface="Arial"/>
              </a:defRPr>
            </a:pPr>
            <a:r>
              <a:rPr sz="1275" b="1" i="0">
                <a:solidFill>
                  <a:srgbClr val="E45D50"/>
                </a:solidFill>
                <a:latin typeface="Arial"/>
                <a:ea typeface="Arial"/>
                <a:cs typeface="Arial"/>
              </a:rPr>
              <a:t>Read the center using opposite signs inside the parentheses. Radius is the positive square root of r².</a:t>
            </a:r>
          </a:p>
        </p:txBody>
      </p:sp>
    </p:spTree>
    <p:extLst>
      <p:ext uri="{BB962C8B-B14F-4D97-AF65-F5344CB8AC3E}">
        <p14:creationId xmlns:p14="http://schemas.microsoft.com/office/powerpoint/2010/main" val="8755179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0F72FF8-4779-4928-9D3F-5052E19B63F2}"/>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FEA193-952C-4F7D-A473-4080AA5EBEF8}"/>
              </a:ext>
            </a:extLst>
          </p:cNvPr>
          <p:cNvSpPr>
            <a:spLocks xmlns:a="http://schemas.openxmlformats.org/drawingml/2006/main" noGrp="1"/>
          </p:cNvSpPr>
          <p:nvPr/>
        </p:nvSpPr>
        <p:spPr>
          <a:xfrm xmlns:a="http://schemas.openxmlformats.org/drawingml/2006/main">
            <a:off x="571500" y="342900"/>
            <a:ext cx="9525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2250" b="1" i="0">
                <a:solidFill>
                  <a:srgbClr val="193B55"/>
                </a:solidFill>
                <a:latin typeface="Arial"/>
                <a:ea typeface="Arial"/>
                <a:cs typeface="Arial"/>
              </a:defRPr>
            </a:pPr>
            <a:r>
              <a:rPr sz="2250" b="1" i="0">
                <a:solidFill>
                  <a:srgbClr val="193B55"/>
                </a:solidFill>
                <a:latin typeface="Arial"/>
                <a:ea typeface="Arial"/>
                <a:cs typeface="Arial"/>
              </a:rPr>
              <a:t>Exit ticket and ALEKS</a:t>
            </a:r>
          </a:p>
        </p:txBody>
      </p:sp>
      <p:sp>
        <p:nvSpPr>
          <p:cNvPr id="3" name="">
            <a:extLst xmlns:a="http://schemas.openxmlformats.org/drawingml/2006/main">
              <a:ext uri="{FF2B5EF4-FFF2-40B4-BE49-F238E27FC236}">
                <a16:creationId xmlns:a16="http://schemas.microsoft.com/office/drawing/2014/main" id="{B46C7C2B-D54C-413B-B67B-B63004279E43}"/>
              </a:ext>
            </a:extLst>
          </p:cNvPr>
          <p:cNvSpPr>
            <a:spLocks xmlns:a="http://schemas.openxmlformats.org/drawingml/2006/main" noGrp="1"/>
          </p:cNvSpPr>
          <p:nvPr/>
        </p:nvSpPr>
        <p:spPr>
          <a:xfrm xmlns:a="http://schemas.openxmlformats.org/drawingml/2006/main">
            <a:off x="571500" y="838200"/>
            <a:ext cx="990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125" b="0" i="0">
                <a:solidFill>
                  <a:srgbClr val="60798D"/>
                </a:solidFill>
                <a:latin typeface="Arial"/>
                <a:ea typeface="Arial"/>
                <a:cs typeface="Arial"/>
              </a:defRPr>
            </a:pPr>
            <a:r>
              <a:rPr sz="1125" b="0" i="0">
                <a:solidFill>
                  <a:srgbClr val="60798D"/>
                </a:solidFill>
                <a:latin typeface="Arial"/>
                <a:ea typeface="Arial"/>
                <a:cs typeface="Arial"/>
              </a:rPr>
              <a:t>Complete the response, then plan your next Unit 1C step.</a:t>
            </a:r>
          </a:p>
        </p:txBody>
      </p:sp>
      <p:sp>
        <p:nvSpPr>
          <p:cNvPr id="4" name="">
            <a:extLst xmlns:a="http://schemas.openxmlformats.org/drawingml/2006/main">
              <a:ext uri="{FF2B5EF4-FFF2-40B4-BE49-F238E27FC236}">
                <a16:creationId xmlns:a16="http://schemas.microsoft.com/office/drawing/2014/main" id="{478860DE-135A-40E9-97E7-E8BD790CA1A2}"/>
              </a:ext>
            </a:extLst>
          </p:cNvPr>
          <p:cNvSpPr>
            <a:spLocks xmlns:a="http://schemas.openxmlformats.org/drawingml/2006/main" noGrp="1"/>
          </p:cNvSpPr>
          <p:nvPr/>
        </p:nvSpPr>
        <p:spPr>
          <a:xfrm xmlns:a="http://schemas.openxmlformats.org/drawingml/2006/main">
            <a:off x="10572750" y="409575"/>
            <a:ext cx="1047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900" b="1" i="0">
                <a:solidFill>
                  <a:srgbClr val="F4B52A"/>
                </a:solidFill>
                <a:latin typeface="Arial"/>
                <a:ea typeface="Arial"/>
                <a:cs typeface="Arial"/>
              </a:defRPr>
            </a:pPr>
            <a:r>
              <a:rPr sz="900" b="1" i="0">
                <a:solidFill>
                  <a:srgbClr val="F4B52A"/>
                </a:solidFill>
                <a:latin typeface="Arial"/>
                <a:ea typeface="Arial"/>
                <a:cs typeface="Arial"/>
              </a:rPr>
              <a:t>CLOSE</a:t>
            </a:r>
          </a:p>
        </p:txBody>
      </p:sp>
      <p:sp>
        <p:nvSpPr>
          <p:cNvPr id="5" name="">
            <a:extLst xmlns:a="http://schemas.openxmlformats.org/drawingml/2006/main">
              <a:ext uri="{FF2B5EF4-FFF2-40B4-BE49-F238E27FC236}">
                <a16:creationId xmlns:a16="http://schemas.microsoft.com/office/drawing/2014/main" id="{8B742338-90EA-42FD-BCBE-BDCB0EAFE7EE}"/>
              </a:ext>
            </a:extLst>
          </p:cNvPr>
          <p:cNvSpPr>
            <a:spLocks xmlns:a="http://schemas.openxmlformats.org/drawingml/2006/main" noGrp="1"/>
          </p:cNvSpPr>
          <p:nvPr/>
        </p:nvSpPr>
        <p:spPr>
          <a:xfrm xmlns:a="http://schemas.openxmlformats.org/drawingml/2006/main">
            <a:off x="571500" y="6334125"/>
            <a:ext cx="11049000" cy="9525"/>
          </a:xfrm>
          <a:prstGeom xmlns:a="http://schemas.openxmlformats.org/drawingml/2006/main" prst="rect">
            <a:avLst/>
          </a:prstGeom>
          <a:solidFill xmlns:a="http://schemas.openxmlformats.org/drawingml/2006/main">
            <a:srgbClr val="D3DEE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EF5DD1-977C-481F-AB59-903A906BE620}"/>
              </a:ext>
            </a:extLst>
          </p:cNvPr>
          <p:cNvSpPr>
            <a:spLocks xmlns:a="http://schemas.openxmlformats.org/drawingml/2006/main" noGrp="1"/>
          </p:cNvSpPr>
          <p:nvPr/>
        </p:nvSpPr>
        <p:spPr>
          <a:xfrm xmlns:a="http://schemas.openxmlformats.org/drawingml/2006/main">
            <a:off x="571500" y="6410325"/>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675" b="1" i="0">
                <a:solidFill>
                  <a:srgbClr val="60798D"/>
                </a:solidFill>
                <a:latin typeface="Arial"/>
                <a:ea typeface="Arial"/>
                <a:cs typeface="Arial"/>
              </a:defRPr>
            </a:pPr>
            <a:r>
              <a:rPr sz="675" b="1" i="0">
                <a:solidFill>
                  <a:srgbClr val="60798D"/>
                </a:solidFill>
                <a:latin typeface="Arial"/>
                <a:ea typeface="Arial"/>
                <a:cs typeface="Arial"/>
              </a:rPr>
              <a:t>MATH 130  •  SEPT 11</a:t>
            </a:r>
          </a:p>
        </p:txBody>
      </p:sp>
      <p:sp>
        <p:nvSpPr>
          <p:cNvPr id="7" name="">
            <a:extLst xmlns:a="http://schemas.openxmlformats.org/drawingml/2006/main">
              <a:ext uri="{FF2B5EF4-FFF2-40B4-BE49-F238E27FC236}">
                <a16:creationId xmlns:a16="http://schemas.microsoft.com/office/drawing/2014/main" id="{0DDEE0A4-DCEE-4889-9AAF-B640E509BB8B}"/>
              </a:ext>
            </a:extLst>
          </p:cNvPr>
          <p:cNvSpPr>
            <a:spLocks xmlns:a="http://schemas.openxmlformats.org/drawingml/2006/main" noGrp="1"/>
          </p:cNvSpPr>
          <p:nvPr/>
        </p:nvSpPr>
        <p:spPr>
          <a:xfrm xmlns:a="http://schemas.openxmlformats.org/drawingml/2006/main">
            <a:off x="10572750" y="6410325"/>
            <a:ext cx="1047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75" b="0" i="0">
                <a:solidFill>
                  <a:srgbClr val="60798D"/>
                </a:solidFill>
                <a:latin typeface="Arial"/>
                <a:ea typeface="Arial"/>
                <a:cs typeface="Arial"/>
              </a:defRPr>
            </a:pPr>
            <a:r>
              <a:rPr sz="675" b="0" i="0">
                <a:solidFill>
                  <a:srgbClr val="60798D"/>
                </a:solidFill>
                <a:latin typeface="Arial"/>
                <a:ea typeface="Arial"/>
                <a:cs typeface="Arial"/>
              </a:rPr>
              <a:t>17  slide</a:t>
            </a:r>
          </a:p>
        </p:txBody>
      </p:sp>
      <p:sp>
        <p:nvSpPr>
          <p:cNvPr id="8" name="">
            <a:extLst xmlns:a="http://schemas.openxmlformats.org/drawingml/2006/main">
              <a:ext uri="{FF2B5EF4-FFF2-40B4-BE49-F238E27FC236}">
                <a16:creationId xmlns:a16="http://schemas.microsoft.com/office/drawing/2014/main" id="{702F97E6-348B-4F52-9CAC-3B7D4DD2EDEC}"/>
              </a:ext>
            </a:extLst>
          </p:cNvPr>
          <p:cNvSpPr>
            <a:spLocks xmlns:a="http://schemas.openxmlformats.org/drawingml/2006/main" noGrp="1"/>
          </p:cNvSpPr>
          <p:nvPr/>
        </p:nvSpPr>
        <p:spPr>
          <a:xfrm xmlns:a="http://schemas.openxmlformats.org/drawingml/2006/main">
            <a:off x="666750" y="1428750"/>
            <a:ext cx="10858500" cy="1238250"/>
          </a:xfrm>
          <a:prstGeom xmlns:a="http://schemas.openxmlformats.org/drawingml/2006/main" prst="rect">
            <a:avLst/>
          </a:prstGeom>
          <a:solidFill xmlns:a="http://schemas.openxmlformats.org/drawingml/2006/main">
            <a:srgbClr val="102F4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55DBB78-C12A-4213-B6A1-ED130D636F02}"/>
              </a:ext>
            </a:extLst>
          </p:cNvPr>
          <p:cNvSpPr>
            <a:spLocks xmlns:a="http://schemas.openxmlformats.org/drawingml/2006/main" noGrp="1"/>
          </p:cNvSpPr>
          <p:nvPr/>
        </p:nvSpPr>
        <p:spPr>
          <a:xfrm xmlns:a="http://schemas.openxmlformats.org/drawingml/2006/main">
            <a:off x="914400" y="15811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975" b="1" i="0">
                <a:solidFill>
                  <a:srgbClr val="F4B52A"/>
                </a:solidFill>
                <a:latin typeface="Arial"/>
                <a:ea typeface="Arial"/>
                <a:cs typeface="Arial"/>
              </a:defRPr>
            </a:pPr>
            <a:r>
              <a:rPr sz="975" b="1" i="0">
                <a:solidFill>
                  <a:srgbClr val="F4B52A"/>
                </a:solidFill>
                <a:latin typeface="Arial"/>
                <a:ea typeface="Arial"/>
                <a:cs typeface="Arial"/>
              </a:rPr>
              <a:t>EXIT TICKET</a:t>
            </a:r>
          </a:p>
        </p:txBody>
      </p:sp>
      <p:sp>
        <p:nvSpPr>
          <p:cNvPr id="10" name="">
            <a:extLst xmlns:a="http://schemas.openxmlformats.org/drawingml/2006/main">
              <a:ext uri="{FF2B5EF4-FFF2-40B4-BE49-F238E27FC236}">
                <a16:creationId xmlns:a16="http://schemas.microsoft.com/office/drawing/2014/main" id="{1CEF80F0-95B3-488D-8B10-364A59DEBDAE}"/>
              </a:ext>
            </a:extLst>
          </p:cNvPr>
          <p:cNvSpPr>
            <a:spLocks xmlns:a="http://schemas.openxmlformats.org/drawingml/2006/main" noGrp="1"/>
          </p:cNvSpPr>
          <p:nvPr/>
        </p:nvSpPr>
        <p:spPr>
          <a:xfrm xmlns:a="http://schemas.openxmlformats.org/drawingml/2006/main">
            <a:off x="914400" y="1943100"/>
            <a:ext cx="10363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00" b="1" i="0">
                <a:solidFill>
                  <a:srgbClr val="FFFFFF"/>
                </a:solidFill>
                <a:latin typeface="Cambria Math"/>
                <a:ea typeface="Cambria Math"/>
                <a:cs typeface="Cambria Math"/>
              </a:defRPr>
            </a:pPr>
            <a:r>
              <a:rPr sz="2100" b="1" i="0">
                <a:solidFill>
                  <a:srgbClr val="FFFFFF"/>
                </a:solidFill>
                <a:latin typeface="Cambria Math"/>
                <a:ea typeface="Cambria Math"/>
                <a:cs typeface="Cambria Math"/>
              </a:rPr>
              <a:t>For T(−4, 6) and U(2, −2), find the midpoint and slope.</a:t>
            </a:r>
          </a:p>
        </p:txBody>
      </p:sp>
      <p:sp>
        <p:nvSpPr>
          <p:cNvPr id="11" name="">
            <a:extLst xmlns:a="http://schemas.openxmlformats.org/drawingml/2006/main">
              <a:ext uri="{FF2B5EF4-FFF2-40B4-BE49-F238E27FC236}">
                <a16:creationId xmlns:a16="http://schemas.microsoft.com/office/drawing/2014/main" id="{1631A29A-6DCC-4DAE-B6F5-424398E18B95}"/>
              </a:ext>
            </a:extLst>
          </p:cNvPr>
          <p:cNvSpPr>
            <a:spLocks xmlns:a="http://schemas.openxmlformats.org/drawingml/2006/main" noGrp="1"/>
          </p:cNvSpPr>
          <p:nvPr/>
        </p:nvSpPr>
        <p:spPr>
          <a:xfrm xmlns:a="http://schemas.openxmlformats.org/drawingml/2006/main">
            <a:off x="781050" y="314325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F249D6B-51F1-461C-8962-A5D79C22608D}"/>
              </a:ext>
            </a:extLst>
          </p:cNvPr>
          <p:cNvSpPr>
            <a:spLocks xmlns:a="http://schemas.openxmlformats.org/drawingml/2006/main" noGrp="1"/>
          </p:cNvSpPr>
          <p:nvPr/>
        </p:nvSpPr>
        <p:spPr>
          <a:xfrm xmlns:a="http://schemas.openxmlformats.org/drawingml/2006/main">
            <a:off x="781050" y="31432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1</a:t>
            </a:r>
          </a:p>
        </p:txBody>
      </p:sp>
      <p:sp>
        <p:nvSpPr>
          <p:cNvPr id="13" name="">
            <a:extLst xmlns:a="http://schemas.openxmlformats.org/drawingml/2006/main">
              <a:ext uri="{FF2B5EF4-FFF2-40B4-BE49-F238E27FC236}">
                <a16:creationId xmlns:a16="http://schemas.microsoft.com/office/drawing/2014/main" id="{5FE47FE3-F527-49F2-B606-E72FE88D27DB}"/>
              </a:ext>
            </a:extLst>
          </p:cNvPr>
          <p:cNvSpPr>
            <a:spLocks xmlns:a="http://schemas.openxmlformats.org/drawingml/2006/main" noGrp="1"/>
          </p:cNvSpPr>
          <p:nvPr/>
        </p:nvSpPr>
        <p:spPr>
          <a:xfrm xmlns:a="http://schemas.openxmlformats.org/drawingml/2006/main">
            <a:off x="1409700" y="31146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i="0">
                <a:solidFill>
                  <a:srgbClr val="193B55"/>
                </a:solidFill>
                <a:latin typeface="Arial"/>
                <a:ea typeface="Arial"/>
                <a:cs typeface="Arial"/>
              </a:defRPr>
            </a:pPr>
            <a:r>
              <a:rPr sz="1725" b="1" i="0">
                <a:solidFill>
                  <a:srgbClr val="193B55"/>
                </a:solidFill>
                <a:latin typeface="Arial"/>
                <a:ea typeface="Arial"/>
                <a:cs typeface="Arial"/>
              </a:rPr>
              <a:t>Open the course dashboard and continue Unit 1C.</a:t>
            </a:r>
          </a:p>
        </p:txBody>
      </p:sp>
      <p:sp>
        <p:nvSpPr>
          <p:cNvPr id="14" name="">
            <a:extLst xmlns:a="http://schemas.openxmlformats.org/drawingml/2006/main">
              <a:ext uri="{FF2B5EF4-FFF2-40B4-BE49-F238E27FC236}">
                <a16:creationId xmlns:a16="http://schemas.microsoft.com/office/drawing/2014/main" id="{69C2DCBC-9BD2-43CA-97C0-9BC96DBC0AB6}"/>
              </a:ext>
            </a:extLst>
          </p:cNvPr>
          <p:cNvSpPr>
            <a:spLocks xmlns:a="http://schemas.openxmlformats.org/drawingml/2006/main" noGrp="1"/>
          </p:cNvSpPr>
          <p:nvPr/>
        </p:nvSpPr>
        <p:spPr>
          <a:xfrm xmlns:a="http://schemas.openxmlformats.org/drawingml/2006/main">
            <a:off x="781050" y="384810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DA488DE-693A-4894-8172-2FC77CDE2BFA}"/>
              </a:ext>
            </a:extLst>
          </p:cNvPr>
          <p:cNvSpPr>
            <a:spLocks xmlns:a="http://schemas.openxmlformats.org/drawingml/2006/main" noGrp="1"/>
          </p:cNvSpPr>
          <p:nvPr/>
        </p:nvSpPr>
        <p:spPr>
          <a:xfrm xmlns:a="http://schemas.openxmlformats.org/drawingml/2006/main">
            <a:off x="781050" y="384810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2</a:t>
            </a:r>
          </a:p>
        </p:txBody>
      </p:sp>
      <p:sp>
        <p:nvSpPr>
          <p:cNvPr id="16" name="">
            <a:extLst xmlns:a="http://schemas.openxmlformats.org/drawingml/2006/main">
              <a:ext uri="{FF2B5EF4-FFF2-40B4-BE49-F238E27FC236}">
                <a16:creationId xmlns:a16="http://schemas.microsoft.com/office/drawing/2014/main" id="{C7FD1416-A90D-44CF-8670-1DB0EF75C5D7}"/>
              </a:ext>
            </a:extLst>
          </p:cNvPr>
          <p:cNvSpPr>
            <a:spLocks xmlns:a="http://schemas.openxmlformats.org/drawingml/2006/main" noGrp="1"/>
          </p:cNvSpPr>
          <p:nvPr/>
        </p:nvSpPr>
        <p:spPr>
          <a:xfrm xmlns:a="http://schemas.openxmlformats.org/drawingml/2006/main">
            <a:off x="1409700" y="381952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i="0">
                <a:solidFill>
                  <a:srgbClr val="193B55"/>
                </a:solidFill>
                <a:latin typeface="Arial"/>
                <a:ea typeface="Arial"/>
                <a:cs typeface="Arial"/>
              </a:defRPr>
            </a:pPr>
            <a:r>
              <a:rPr sz="1725" b="1" i="0">
                <a:solidFill>
                  <a:srgbClr val="193B55"/>
                </a:solidFill>
                <a:latin typeface="Arial"/>
                <a:ea typeface="Arial"/>
                <a:cs typeface="Arial"/>
              </a:rPr>
              <a:t>Finish ALEKS Sections 2.1, 2.2, and 2.4.</a:t>
            </a:r>
          </a:p>
        </p:txBody>
      </p:sp>
      <p:sp>
        <p:nvSpPr>
          <p:cNvPr id="17" name="">
            <a:extLst xmlns:a="http://schemas.openxmlformats.org/drawingml/2006/main">
              <a:ext uri="{FF2B5EF4-FFF2-40B4-BE49-F238E27FC236}">
                <a16:creationId xmlns:a16="http://schemas.microsoft.com/office/drawing/2014/main" id="{308712B7-12B4-46D8-8BDF-F70B43EAA5CB}"/>
              </a:ext>
            </a:extLst>
          </p:cNvPr>
          <p:cNvSpPr>
            <a:spLocks xmlns:a="http://schemas.openxmlformats.org/drawingml/2006/main" noGrp="1"/>
          </p:cNvSpPr>
          <p:nvPr/>
        </p:nvSpPr>
        <p:spPr>
          <a:xfrm xmlns:a="http://schemas.openxmlformats.org/drawingml/2006/main">
            <a:off x="781050" y="4552950"/>
            <a:ext cx="400050" cy="400050"/>
          </a:xfrm>
          <a:prstGeom xmlns:a="http://schemas.openxmlformats.org/drawingml/2006/main" prst="rect">
            <a:avLst/>
          </a:prstGeom>
          <a:solidFill xmlns:a="http://schemas.openxmlformats.org/drawingml/2006/main">
            <a:srgbClr val="F4B52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C87401B-18D2-4A17-B910-EEED72AD84B9}"/>
              </a:ext>
            </a:extLst>
          </p:cNvPr>
          <p:cNvSpPr>
            <a:spLocks xmlns:a="http://schemas.openxmlformats.org/drawingml/2006/main" noGrp="1"/>
          </p:cNvSpPr>
          <p:nvPr/>
        </p:nvSpPr>
        <p:spPr>
          <a:xfrm xmlns:a="http://schemas.openxmlformats.org/drawingml/2006/main">
            <a:off x="781050" y="45529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500" b="1" i="0">
                <a:solidFill>
                  <a:srgbClr val="FFFFFF"/>
                </a:solidFill>
                <a:latin typeface="Arial"/>
                <a:ea typeface="Arial"/>
                <a:cs typeface="Arial"/>
              </a:defRPr>
            </a:pPr>
            <a:r>
              <a:rPr sz="1500" b="1" i="0">
                <a:solidFill>
                  <a:srgbClr val="FFFFFF"/>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FE1D7A60-1479-464F-AB1B-ED8689DAC1EA}"/>
              </a:ext>
            </a:extLst>
          </p:cNvPr>
          <p:cNvSpPr>
            <a:spLocks xmlns:a="http://schemas.openxmlformats.org/drawingml/2006/main" noGrp="1"/>
          </p:cNvSpPr>
          <p:nvPr/>
        </p:nvSpPr>
        <p:spPr>
          <a:xfrm xmlns:a="http://schemas.openxmlformats.org/drawingml/2006/main">
            <a:off x="1409700" y="4524375"/>
            <a:ext cx="971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i="0">
                <a:solidFill>
                  <a:srgbClr val="193B55"/>
                </a:solidFill>
                <a:latin typeface="Arial"/>
                <a:ea typeface="Arial"/>
                <a:cs typeface="Arial"/>
              </a:defRPr>
            </a:pPr>
            <a:r>
              <a:rPr sz="1725" b="1" i="0">
                <a:solidFill>
                  <a:srgbClr val="193B55"/>
                </a:solidFill>
                <a:latin typeface="Arial"/>
                <a:ea typeface="Arial"/>
                <a:cs typeface="Arial"/>
              </a:rPr>
              <a:t>Use Unit 1C practice and the checkpoint before Quiz 3.</a:t>
            </a:r>
          </a:p>
        </p:txBody>
      </p:sp>
      <p:sp>
        <p:nvSpPr>
          <p:cNvPr id="20" name="">
            <a:extLst xmlns:a="http://schemas.openxmlformats.org/drawingml/2006/main">
              <a:ext uri="{FF2B5EF4-FFF2-40B4-BE49-F238E27FC236}">
                <a16:creationId xmlns:a16="http://schemas.microsoft.com/office/drawing/2014/main" id="{CC6A786B-8731-49E3-9D6A-CBDD6286F22A}"/>
              </a:ext>
            </a:extLst>
          </p:cNvPr>
          <p:cNvSpPr>
            <a:spLocks xmlns:a="http://schemas.openxmlformats.org/drawingml/2006/main" noGrp="1"/>
          </p:cNvSpPr>
          <p:nvPr/>
        </p:nvSpPr>
        <p:spPr>
          <a:xfrm xmlns:a="http://schemas.openxmlformats.org/drawingml/2006/main">
            <a:off x="781050" y="5391150"/>
            <a:ext cx="10477500" cy="419100"/>
          </a:xfrm>
          <a:prstGeom xmlns:a="http://schemas.openxmlformats.org/drawingml/2006/main" prst="rect">
            <a:avLst/>
          </a:prstGeom>
          <a:solidFill xmlns:a="http://schemas.openxmlformats.org/drawingml/2006/main">
            <a:srgbClr val="FFF4D7"/>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FE11D9D-F829-463F-AEE2-11640FAFE217}"/>
              </a:ext>
            </a:extLst>
          </p:cNvPr>
          <p:cNvSpPr>
            <a:spLocks xmlns:a="http://schemas.openxmlformats.org/drawingml/2006/main" noGrp="1"/>
          </p:cNvSpPr>
          <p:nvPr/>
        </p:nvSpPr>
        <p:spPr>
          <a:xfrm xmlns:a="http://schemas.openxmlformats.org/drawingml/2006/main">
            <a:off x="1009650" y="5429250"/>
            <a:ext cx="1002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1350" b="1" i="0">
                <a:solidFill>
                  <a:srgbClr val="193B55"/>
                </a:solidFill>
                <a:latin typeface="Cambria Math"/>
                <a:ea typeface="Cambria Math"/>
                <a:cs typeface="Cambria Math"/>
              </a:defRPr>
            </a:pPr>
            <a:r>
              <a:rPr sz="1350" b="1" i="0">
                <a:solidFill>
                  <a:srgbClr val="193B55"/>
                </a:solidFill>
                <a:latin typeface="Cambria Math"/>
                <a:ea typeface="Cambria Math"/>
                <a:cs typeface="Cambria Math"/>
              </a:rPr>
              <a:t>Exit key for discussion: midpoint (−1, 2), slope −4/3</a:t>
            </a:r>
          </a:p>
        </p:txBody>
      </p:sp>
    </p:spTree>
    <p:extLst>
      <p:ext uri="{BB962C8B-B14F-4D97-AF65-F5344CB8AC3E}">
        <p14:creationId xmlns:p14="http://schemas.microsoft.com/office/powerpoint/2010/main" val="14276750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2026-09-11T18:38:04.9580000Z</dcterms:created>
  <dcterms:modified xsi:type="dcterms:W3CDTF">2026-09-11T18:38:04.9580000Z</dcterms:modified>
</coreProperties>
</file>