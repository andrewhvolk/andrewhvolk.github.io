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T H   1 3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Geometry: Circles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Solids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Circumference, Area, Arc Length, Sectors, Radians, Velocity, and Solid Figures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 University  |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Goals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54864"/>
          </a:xfrm>
          <a:prstGeom prst="rect">
            <a:avLst/>
          </a:prstGeom>
          <a:solidFill>
            <a:srgbClr val="1A7C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circle components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define radius, diameter, chord, tangent, secant, arc, sector, and segment.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600200"/>
            <a:ext cx="2651760" cy="54864"/>
          </a:xfrm>
          <a:prstGeom prst="rect">
            <a:avLst/>
          </a:prstGeom>
          <a:solidFill>
            <a:srgbClr val="1A7C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 areas of basic shapes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areas of triangles, parallelograms, trapezoids, piecewise figures, and concentric circle regions.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00200"/>
            <a:ext cx="2651760" cy="54864"/>
          </a:xfrm>
          <a:prstGeom prst="rect">
            <a:avLst/>
          </a:prstGeom>
          <a:solidFill>
            <a:srgbClr val="1A7C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angles (DMS &amp; radians)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DMS, decimal degrees, and radians.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291840"/>
            <a:ext cx="2651760" cy="54864"/>
          </a:xfrm>
          <a:prstGeom prst="rect">
            <a:avLst/>
          </a:prstGeom>
          <a:solidFill>
            <a:srgbClr val="C9982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204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length, sectors &amp; velocity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 = rθ, A = ½r²θ, and v = rω to solve problems.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91840" y="329184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3291840"/>
            <a:ext cx="2651760" cy="54864"/>
          </a:xfrm>
          <a:prstGeom prst="rect">
            <a:avLst/>
          </a:prstGeom>
          <a:solidFill>
            <a:srgbClr val="C9982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5204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947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&amp; surface area of solids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2900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formulas for prisms, cylinders, cones, spheres, and pyramids.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Readiness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Circle Basics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formulas for basic shapes, circumference, and circle terminology.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of Basic Shapes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Triangle, parallelogram, and trapezoid — the foundational area formulas you will use throughout this unit.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6517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½ b 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12 cm, h = 5 cm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½(12)(5) = 30 cm²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54480"/>
            <a:ext cx="26517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Parallelogram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b 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9 in, h = 4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(9)(4) = 36 in²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54480"/>
            <a:ext cx="26517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Trapezoid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½(b</a:t>
            </a:r>
            <a:pPr indent="0" marL="0">
              <a:buNone/>
            </a:pPr>
            <a:r>
              <a:rPr lang="en-US" sz="16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₁</a:t>
            </a:r>
            <a:pPr indent="0" marL="0">
              <a:buNone/>
            </a:pPr>
            <a:r>
              <a:rPr lang="en-US" sz="22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b</a:t>
            </a:r>
            <a:pPr indent="0" marL="0">
              <a:buNone/>
            </a:pPr>
            <a:r>
              <a:rPr lang="en-US" sz="16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₂</a:t>
            </a:r>
            <a:pPr indent="0" marL="0">
              <a:buNone/>
            </a:pPr>
            <a:r>
              <a:rPr lang="en-US" sz="22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8, b₂ = 14, h = 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½(8+14)(6) = 66 units²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h is always the perpendicular height, not a slanted side.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Piecewise Rectangular Figures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shapes into rectangles, find each area, then add them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to split the figure into non-overlapping rectangles.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area of each rectangle (A = l × w).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rectangle areas together for the total.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find the area of the bounding rectangle and subtract the missing pieces.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411480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L-shaped room: overall 10 ft × 8 ft with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 ft × 3 ft piece removed from one corner.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(subtraction):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rectangle: 10 × 8 = 80 ft²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piece: 4 × 3 = 12 ft²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= 80 − 12 = 68 ft²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Terminology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circle is the set of all points in a plane equidistant from a fixed point (the center).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371600"/>
            <a:ext cx="34747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0" y="1463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31920" y="1463040"/>
            <a:ext cx="24231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4041648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41648" y="1901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to circle. Half the diameter.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7960" y="1463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463040"/>
            <a:ext cx="24231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0"/>
          <p:cNvSpPr/>
          <p:nvPr/>
        </p:nvSpPr>
        <p:spPr>
          <a:xfrm>
            <a:off x="6647688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Diameter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47688" y="1901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through center. Equal to 2r.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31920" y="2606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31920" y="2606040"/>
            <a:ext cx="24231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041648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with both endpoints on circle.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37960" y="2606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37960" y="2606040"/>
            <a:ext cx="24231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1" name="Text 18"/>
          <p:cNvSpPr/>
          <p:nvPr/>
        </p:nvSpPr>
        <p:spPr>
          <a:xfrm>
            <a:off x="6647688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47688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touching circle at exactly one point.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931920" y="3749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931920" y="3749040"/>
            <a:ext cx="24231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25" name="Text 22"/>
          <p:cNvSpPr/>
          <p:nvPr/>
        </p:nvSpPr>
        <p:spPr>
          <a:xfrm>
            <a:off x="4041648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Secant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041648" y="4187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intersecting circle at two points.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37960" y="3749040"/>
            <a:ext cx="24231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37960" y="3749040"/>
            <a:ext cx="24231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9" name="Text 26"/>
          <p:cNvSpPr/>
          <p:nvPr/>
        </p:nvSpPr>
        <p:spPr>
          <a:xfrm>
            <a:off x="6647688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47688" y="4187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equidistant point.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Arcs, Sectors &amp; Segments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regions and curves defined within a circle.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88720"/>
            <a:ext cx="36576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55448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54480"/>
            <a:ext cx="44805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portion of the circumference. Minor arc &lt; semicircle; major arc &gt; semicircle.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42316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423160"/>
            <a:ext cx="44805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532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Angle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45920" y="25328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at the center formed by two radii. Its measure equals the intercepted arc.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29184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291840"/>
            <a:ext cx="44805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401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45920" y="34015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"pie-slice" region between two radii and the arc they intercept.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416052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4160520"/>
            <a:ext cx="44805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270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645920" y="4270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between a chord and its arc. A chord creates a minor and major segment.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Circumference &amp; Area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measurements of every circle.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Circumference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= πd = 2πr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around the circle.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πr²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enclosed by the circle. Always use the radius.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Circumference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5 → C = 2π(5) = 10π ≈ 31.416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7.6 → C = 2π(7.6) = 15.2π ≈ 47.752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040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Area (exact)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5 → A = π(5²) = 25π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 → A = π(3²) = 9π ≈ 28.274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answers in terms of π for exact answers. Use π ≈ 3.14159 for decimal approximations.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Between Concentric Circles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circle is inside another sharing the same center, the ring-shaped region between them is called an annulus.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280160"/>
            <a:ext cx="34747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0" y="1554480"/>
            <a:ext cx="4846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31920" y="1554480"/>
            <a:ext cx="484632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69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πR² − πr² = π(R² − r²)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069080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outer radius, r = inner radius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880360"/>
            <a:ext cx="4846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31920" y="2880360"/>
            <a:ext cx="484632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4" name="Text 11"/>
          <p:cNvSpPr/>
          <p:nvPr/>
        </p:nvSpPr>
        <p:spPr>
          <a:xfrm>
            <a:off x="406908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69080" y="3337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fountain has radius 4 ft. A walkway 3 ft wide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surrounds it. Find the area of the walkway.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 + 3 = 7 ft,  r = 4 ft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π(7² − 4²) = π(49 − 16) = 33π ≈ 103.67 ft²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Inscribed Angles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inscribed angle has its vertex on the circle and its sides are chords.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97280"/>
            <a:ext cx="36576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554480"/>
            <a:ext cx="4572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54480"/>
            <a:ext cx="4572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Inscribed Angle Theorem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057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of an inscribed angle is exactly one-half the measure of its intercepted arc.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∠ABC = ½ · arc AC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45720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063240"/>
            <a:ext cx="457200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2004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Corollary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inscribed angle in a semicircle is always 90°, because the intercepted arc is 180°.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Chord &amp; Angle Theorems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chords intersect inside a circle, the angles formed relate to the intercepted arcs.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Intersecting Chords Angle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∠ = ½(arc₁ + arc₂)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equals half the sum of the two intercepted arcs.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&amp; Supplementary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angles are congruent.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angles are supplementary (sum = 180°).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Inscribed Angle ↔ Arc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angle → arc = 2 × angle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→ inscribed angle = ½ × arc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Diameter = 180° Arc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diameter divides the circle into two semicircles of 180° each.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Circle Angles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∠AED = 133° and arc AB = 52°. AC is a diameter (BD is not). Find ∠AEB, ∠ACB, and arc CD.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303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30352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373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(a): Find ∠AEB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∠AEB and ∠AED are supplementary (straight line).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∠AEB = 180° − 133° = 47°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(b): Find ∠ACB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∠ACB is inscribed, intercepting arc AB = 52°.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∠ACB = ½ × 52° = 26°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(c): Find arc CD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133° = ½(arc AD + arc BC). Arc BC = 180° − 52° = 128°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266° = arc AD + 128° → arc AD = 138°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CD = 180° − 138° = 42°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554480"/>
            <a:ext cx="2834640" cy="54864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1554480"/>
            <a:ext cx="2834640" cy="29260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∠AEB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47°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∠ACB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26°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arc CD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42°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Measure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Arc Length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notation, radians, degree-radian conversion, arc length, and sector area formulas.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Degrees, Minutes &amp; Seconds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in navigation and surveying use DMS notation. 1° = 60′ (minutes), 1′ = 60″ (seconds).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DMS → Decimal Degrees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 = D + M/60 + S/3600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minutes by 60, seconds by 3600, then add all parts.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 → DMS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Whole part = degrees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Decimal × 60 → whole part = 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Remaining decimal × 60 = seconds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37°41′11″ → Decimal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 + 41/60 + 11/3600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 + 0.6833 + 0.003056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37.6864°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0040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36.3492° → DMS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36°. 0.3492 × 60 = 20.952 → M = 20′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 × 60 = 57.12 → S ≈ 57″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36°20′57″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 &amp; Radians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central angle intercepts an arc equal in length to the radius, that angle is exactly 1 radian.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Relationship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2π rad = 360°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 rad = 180°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54480"/>
            <a:ext cx="26517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 → Radians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180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Radians → Degrees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radian ≈ 57.296°. Think of it as the angle that "unwraps" one radius-length of arc.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Examples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converting between degrees and radians in both directions.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Radians → Degrees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π/6 → (π/6)(180/π) = 30°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rad → (2.7)(180/π) ≈ 154.699°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rad → (1)(180/π) ≈ 57.296°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 → Radians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→ (45)(π/180) = π/4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 → (120)(π/180) = 2π/3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255° → (255)(π/180) = 17π/12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→ π/180 ≈ 0.01745 rad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π rad = 180° is the bridge. Multiply by whichever fraction cancels the unit you want to eliminate.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Sketching Angles in Standard Position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position: vertex at origin, initial side along the positive x-axis.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38404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554480"/>
            <a:ext cx="45720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06240" y="1554480"/>
            <a:ext cx="4572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16916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Sketch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the initial side along the positive x-axis.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Rotate counterclockwise for positive angles,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clockwise for negative angles.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Draw the terminal side at the given angle.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2926080"/>
            <a:ext cx="45720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2926080"/>
            <a:ext cx="457200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063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Angles to Know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4340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π/6 = 30°     π/4 = 45°     π/3 = 60°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π/2 = 90°     π = 180°       3π/2 = 270°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2π = 360°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−π/4 is 45° clockwise from x-axis.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Length on the Unit Circle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unit circle (r = 1), the arc length equals the central angle in radians: s = θ.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7280"/>
            <a:ext cx="3931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554480"/>
            <a:ext cx="4572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06240" y="1554480"/>
            <a:ext cx="4572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16916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 = θ on the Unit Circle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 = rθ and r = 1: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(1)θ = θ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radian measure of an angle IS the arc length on the unit circle.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200400"/>
            <a:ext cx="4572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3200400"/>
            <a:ext cx="457200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337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43400" y="3611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= 2π/3. On the unit circle: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s = 2π/3 ≈ 2.094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circle with r =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5 · (2π/3) = 10π/3 ≈ 10.472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Length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along the curved part of a circle between two points. θ must be in radians.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rθ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arc length,  r = radius,  θ = central angle (radians)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θ is in degrees: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radians first by multiplying by π/180,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apply s = rθ.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= π/3,  radius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rθ = 10 · (π/3) = 10π/3 ≈ 10.472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= 45°,  radius = 21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45° × π/180 = π/4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21 · (π/4) = 21π/4 ≈ 16.493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of a Sector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sector is the "pie-slice" region between two radii and an arc. Its area is proportional to 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½r²θ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area,  r = radius,  θ = central angle (radians)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Alternatively (degrees):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(θ/360) · πr²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simply the fraction of the full circle's area.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= π/3,  radius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½(10²)(π/3) = 50π/3 ≈ 52.360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= 45°,  radius = 21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45° × π/180 = π/4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½(21²)(π/4) = 441π/8 ≈ 173.18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Sector Problems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arc length and sector area to aviation and everyday scenarios.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60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16052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Aviation Arc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south on 12 NM arc from 090 to 210 radial.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210° − 90° = 120° = 2π/3 rad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12(2π/3) = 8π ≈ 25.13 NM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120 kt: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25.13/120 ≈ 0.209 hr ≈ 12.6 min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TLAR check: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 is ⅓ of 360°, so ⅓ × 2π(12) ≈ 25 NM 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690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54480"/>
            <a:ext cx="406908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Sprinkler Coverage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sprinkler sprays water 20 ft, covering a 150° sector.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area of the watered region.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150° × π/180 = 5π/6 rad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½(20²)(5π/6)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½(400)(5π/6)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500π/3 ≈ 523.60 ft²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about 150/360 ≈ 41.7% of the full circle.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&amp; Angular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rotational speed to the speed of a point on a spinning object.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&amp; Angular Velocity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describe how fast something spins — and how they connect.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Velocity (ω)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ω = θ / 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angle changes. Measured in rad/s or rad/min.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Velocity (v)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rω = s / 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 point on the rotating object. Farther from center → faster.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841248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RPM to Radians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4015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revolution = 2π radians. So n RPM = n × 2π rad/min. Always convert before using v = rω.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v = rω — linear velocity is directly proportional to both radius and angular velocity.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Riverboat Paddles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= 8.50 ft, turning at 20.0 RPM. Find the speed of a paddle tip.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30352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Convert RPM to angular velocity: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20.0 rev/min × 2π rad/rev = 40π rad/min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Apply v = rω: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8.50 ft × 40π rad/min = 340π ft/min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 to convenient units: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340π ≈ 1068 ft/min ≈ 12.14 mi/hr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834640" cy="2743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1068 ft/min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12.14 mi/hr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tip moves at about 12 miles per hour through the water.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Velocity Examples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shaft rotation and wind turbine blade tips.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Shaft Rotation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Tachometer reads 3200 RPM. Angle in 1 second?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3200 × 2π/60 ≈ 335.1 rad/s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 s: θ = 335.1 rad ≈ 53.3 revolutions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Turbine Blade Tips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 116 ft long at 22.0 RPM. Tip speed?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22.0 × 2π = 44π rad/min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116 × 44π ≈ 16,035 ft/min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182.2 mph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841248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Bonus: Turbine Sweep Area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3794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πr² = π(116)² = 13,456π ≈ 42,273 ft² ÷ 43,560 ft²/acre ≈ 0.97 acres — nearly a full acre of wind capture.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Geometric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surface area formulas for common three-dimensional shapes.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&amp; Surface Area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base area, P = perimeter, l = slant height, h = height, r = radius.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69748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Rectangular Prism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lwh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2(lw+lh+wh)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69748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Cylinder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πr²h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2πr²+2πrh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269748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⅓πr²h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πr²+πrl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54680"/>
            <a:ext cx="269748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Sphere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⁴⁄₃πr³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4πr²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54680"/>
            <a:ext cx="269748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Pyramid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55848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⅓Bh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55848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B+½Pl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15468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154680"/>
            <a:ext cx="269748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Triangular Prism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Bh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36208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 SA = 2B+Ph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Drain Pipe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 ft pipe (inner diameter 4 in) is clogged. Will two 5-gallon buckets hold the water? (1 gal = 231 in³)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30352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373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Convert to consistent units: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12 ft = 144 in.  Radius: 4/2 = 2 in.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Volume of the cylinder: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πr²h = π(2²)(144) = 576π ≈ 1809.56 in³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 to gallons: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1809.56 ÷ 231 ≈ 7.83 gallons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Compare: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5-gal buckets = 10 gal. Since 7.83 &lt; 10, yes!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834640" cy="2743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7.83 gal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5-gallon buckets provide more than enough capacity (10 gal &gt; 7.83 gal).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Quick Reference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key formulas from this unit in one 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4023360" cy="54864"/>
          </a:xfrm>
          <a:prstGeom prst="rect">
            <a:avLst/>
          </a:prstGeom>
          <a:solidFill>
            <a:srgbClr val="1A7C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&amp; Area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2πr = πd          A = πr²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Annulus: A = π(R² − r²)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A = ½bh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Parallelogram: A = bh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Trapezoid: A = ½(b₁+b₂)h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&amp; Sector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rθ          A = ½r²θ     (θ in radians)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→ Rad: multiply by π/180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→ Deg: multiply by 180/π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→ Dec: D + M/60 + S/3600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402336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916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θ/t          v = rω = s/t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→ rad/min: n × 2π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Rect. Prism: V=lwh  SA=2(lw+lh+wh)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Cylinder: V=πr²h  SA=2πr²+2πrh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Cone: V=⅓πr²h  SA=πr²+πrl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Sphere: V=⁴⁄₃πr³  SA=4πr²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Pyramid: V=⅓Bh  SA=B+½Pl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Angle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∠inscribed = ½ × intercepted arc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Always convert to radians before using s = rθ or A = ½r²θ. Always use radius (not diameter) for area.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Katz, V. J. (1998). A History of Mathematics: An Introduction (2nd ed.).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NY: Addison-Wesley.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130  |  Liberty University  | 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130 – Geometry: Circles &amp; Solids</dc:title>
  <dc:subject>PptxGenJS Presentation</dc:subject>
  <dc:creator>Liberty University</dc:creator>
  <cp:lastModifiedBy>Liberty University</cp:lastModifiedBy>
  <cp:revision>1</cp:revision>
  <dcterms:created xsi:type="dcterms:W3CDTF">2026-03-09T18:40:59Z</dcterms:created>
  <dcterms:modified xsi:type="dcterms:W3CDTF">2026-03-09T18:40:59Z</dcterms:modified>
</cp:coreProperties>
</file>