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Shape 1"/>
          <p:cNvSpPr/>
          <p:nvPr/>
        </p:nvSpPr>
        <p:spPr>
          <a:xfrm rot="1200000">
            <a:off x="6583680" y="-457200"/>
            <a:ext cx="2926080" cy="2926080"/>
          </a:xfrm>
          <a:prstGeom prst="rect">
            <a:avLst/>
          </a:prstGeom>
          <a:solidFill>
            <a:srgbClr val="1C7293">
              <a:alpha val="40000"/>
            </a:srgbClr>
          </a:solidFill>
          <a:ln/>
        </p:spPr>
      </p:sp>
      <p:sp>
        <p:nvSpPr>
          <p:cNvPr id="4" name="Shape 2"/>
          <p:cNvSpPr/>
          <p:nvPr/>
        </p:nvSpPr>
        <p:spPr>
          <a:xfrm rot="-600000">
            <a:off x="7315200" y="1371600"/>
            <a:ext cx="2286000" cy="2286000"/>
          </a:xfrm>
          <a:prstGeom prst="rect">
            <a:avLst/>
          </a:prstGeom>
          <a:solidFill>
            <a:srgbClr val="2A7B88">
              <a:alpha val="45000"/>
            </a:srgbClr>
          </a:solidFill>
          <a:ln/>
        </p:spPr>
      </p:sp>
      <p:sp>
        <p:nvSpPr>
          <p:cNvPr id="5" name="Shape 3"/>
          <p:cNvSpPr/>
          <p:nvPr/>
        </p:nvSpPr>
        <p:spPr>
          <a:xfrm>
            <a:off x="7498080" y="2926080"/>
            <a:ext cx="1828800" cy="1828800"/>
          </a:xfrm>
          <a:prstGeom prst="ellipse">
            <a:avLst/>
          </a:prstGeom>
          <a:solidFill>
            <a:srgbClr val="1C7293">
              <a:alpha val="50000"/>
            </a:srgbClr>
          </a:solidFill>
          <a:ln/>
        </p:spPr>
      </p:sp>
      <p:sp>
        <p:nvSpPr>
          <p:cNvPr id="6" name="Text 4"/>
          <p:cNvSpPr/>
          <p:nvPr/>
        </p:nvSpPr>
        <p:spPr>
          <a:xfrm>
            <a:off x="640080" y="640080"/>
            <a:ext cx="5486400" cy="457200"/>
          </a:xfrm>
          <a:prstGeom prst="rect">
            <a:avLst/>
          </a:prstGeom>
          <a:noFill/>
          <a:ln/>
        </p:spPr>
        <p:txBody>
          <a:bodyPr wrap="square" lIns="0" tIns="0" rIns="0" bIns="0" rtlCol="0" anchor="ctr"/>
          <a:lstStyle/>
          <a:p>
            <a:pPr indent="0" marL="0">
              <a:buNone/>
            </a:pPr>
            <a:r>
              <a:rPr lang="en-US" sz="1600" b="1" spc="300" kern="0" dirty="0">
                <a:solidFill>
                  <a:srgbClr val="5AB8B8"/>
                </a:solidFill>
                <a:latin typeface="Calibri" pitchFamily="34" charset="0"/>
                <a:ea typeface="Calibri" pitchFamily="34" charset="-122"/>
                <a:cs typeface="Calibri" pitchFamily="34" charset="-120"/>
              </a:rPr>
              <a:t>M A T H   1 3 0</a:t>
            </a:r>
            <a:endParaRPr lang="en-US" sz="1600" dirty="0"/>
          </a:p>
        </p:txBody>
      </p:sp>
      <p:sp>
        <p:nvSpPr>
          <p:cNvPr id="7" name="Text 5"/>
          <p:cNvSpPr/>
          <p:nvPr/>
        </p:nvSpPr>
        <p:spPr>
          <a:xfrm>
            <a:off x="640080" y="1280160"/>
            <a:ext cx="6400800" cy="201168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Geometry: Circles</a:t>
            </a:r>
            <a:endParaRPr lang="en-US" sz="5400" dirty="0"/>
          </a:p>
          <a:p>
            <a:pPr indent="0" marL="0">
              <a:buNone/>
            </a:pPr>
            <a:r>
              <a:rPr lang="en-US" sz="5400" b="1" dirty="0">
                <a:solidFill>
                  <a:srgbClr val="FFFFFF"/>
                </a:solidFill>
                <a:latin typeface="Georgia" pitchFamily="34" charset="0"/>
                <a:ea typeface="Georgia" pitchFamily="34" charset="-122"/>
                <a:cs typeface="Georgia" pitchFamily="34" charset="-120"/>
              </a:rPr>
              <a:t>&amp; Solids</a:t>
            </a:r>
            <a:endParaRPr lang="en-US" sz="5400" dirty="0"/>
          </a:p>
        </p:txBody>
      </p:sp>
      <p:sp>
        <p:nvSpPr>
          <p:cNvPr id="8" name="Shape 6"/>
          <p:cNvSpPr/>
          <p:nvPr/>
        </p:nvSpPr>
        <p:spPr>
          <a:xfrm>
            <a:off x="640080" y="3429000"/>
            <a:ext cx="3200400" cy="0"/>
          </a:xfrm>
          <a:prstGeom prst="line">
            <a:avLst/>
          </a:prstGeom>
          <a:noFill/>
          <a:ln w="38100">
            <a:solidFill>
              <a:srgbClr val="D4A843"/>
            </a:solidFill>
            <a:prstDash val="solid"/>
          </a:ln>
        </p:spPr>
      </p:sp>
      <p:sp>
        <p:nvSpPr>
          <p:cNvPr id="9" name="Text 7"/>
          <p:cNvSpPr/>
          <p:nvPr/>
        </p:nvSpPr>
        <p:spPr>
          <a:xfrm>
            <a:off x="640080" y="3657600"/>
            <a:ext cx="6400800" cy="548640"/>
          </a:xfrm>
          <a:prstGeom prst="rect">
            <a:avLst/>
          </a:prstGeom>
          <a:noFill/>
          <a:ln/>
        </p:spPr>
        <p:txBody>
          <a:bodyPr wrap="square" lIns="0" tIns="0" rIns="0" bIns="0" rtlCol="0" anchor="ctr"/>
          <a:lstStyle/>
          <a:p>
            <a:pPr indent="0" marL="0">
              <a:buNone/>
            </a:pPr>
            <a:r>
              <a:rPr lang="en-US" sz="1500" i="1" dirty="0">
                <a:solidFill>
                  <a:srgbClr val="F5F2EB"/>
                </a:solidFill>
                <a:latin typeface="Calibri" pitchFamily="34" charset="0"/>
                <a:ea typeface="Calibri" pitchFamily="34" charset="-122"/>
                <a:cs typeface="Calibri" pitchFamily="34" charset="-120"/>
              </a:rPr>
              <a:t>Circumference, Area, Arc Length, Sectors, Radians, Velocity, and Solid Figures</a:t>
            </a:r>
            <a:endParaRPr lang="en-US" sz="1500" dirty="0"/>
          </a:p>
        </p:txBody>
      </p:sp>
      <p:sp>
        <p:nvSpPr>
          <p:cNvPr id="10" name="Text 8"/>
          <p:cNvSpPr/>
          <p:nvPr/>
        </p:nvSpPr>
        <p:spPr>
          <a:xfrm>
            <a:off x="640080" y="4434840"/>
            <a:ext cx="5486400" cy="365760"/>
          </a:xfrm>
          <a:prstGeom prst="rect">
            <a:avLst/>
          </a:prstGeom>
          <a:noFill/>
          <a:ln/>
        </p:spPr>
        <p:txBody>
          <a:bodyPr wrap="square" lIns="0" tIns="0" rIns="0" bIns="0" rtlCol="0" anchor="ctr"/>
          <a:lstStyle/>
          <a:p>
            <a:pPr indent="0" marL="0">
              <a:buNone/>
            </a:pPr>
            <a:r>
              <a:rPr lang="en-US" sz="1200" dirty="0">
                <a:solidFill>
                  <a:srgbClr val="8A8A8A"/>
                </a:solidFill>
                <a:latin typeface="Calibri" pitchFamily="34" charset="0"/>
                <a:ea typeface="Calibri" pitchFamily="34" charset="-122"/>
                <a:cs typeface="Calibri" pitchFamily="34" charset="-120"/>
              </a:rPr>
              <a:t>Liberty University  |  Spring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Learning Goals</a:t>
            </a:r>
            <a:endParaRPr lang="en-US" sz="3600" dirty="0"/>
          </a:p>
        </p:txBody>
      </p:sp>
      <p:sp>
        <p:nvSpPr>
          <p:cNvPr id="4" name="Text 2"/>
          <p:cNvSpPr/>
          <p:nvPr/>
        </p:nvSpPr>
        <p:spPr>
          <a:xfrm>
            <a:off x="548640" y="822960"/>
            <a:ext cx="8046720" cy="365760"/>
          </a:xfrm>
          <a:prstGeom prst="rect">
            <a:avLst/>
          </a:prstGeom>
          <a:noFill/>
          <a:ln/>
        </p:spPr>
        <p:txBody>
          <a:bodyPr wrap="square" lIns="0" tIns="0" rIns="0" bIns="0"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By the end of this lesson, you will be able to:</a:t>
            </a:r>
            <a:endParaRPr lang="en-US" sz="1400" dirty="0"/>
          </a:p>
        </p:txBody>
      </p:sp>
      <p:sp>
        <p:nvSpPr>
          <p:cNvPr id="5" name="Shape 3"/>
          <p:cNvSpPr/>
          <p:nvPr/>
        </p:nvSpPr>
        <p:spPr>
          <a:xfrm>
            <a:off x="548640" y="128016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6" name="Shape 4"/>
          <p:cNvSpPr/>
          <p:nvPr/>
        </p:nvSpPr>
        <p:spPr>
          <a:xfrm>
            <a:off x="548640" y="1280160"/>
            <a:ext cx="3886200" cy="54864"/>
          </a:xfrm>
          <a:prstGeom prst="rect">
            <a:avLst/>
          </a:prstGeom>
          <a:solidFill>
            <a:srgbClr val="1C7293"/>
          </a:solidFill>
          <a:ln/>
        </p:spPr>
      </p:sp>
      <p:sp>
        <p:nvSpPr>
          <p:cNvPr id="7" name="Text 5"/>
          <p:cNvSpPr/>
          <p:nvPr/>
        </p:nvSpPr>
        <p:spPr>
          <a:xfrm>
            <a:off x="685800" y="141732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1.  Identify circle components</a:t>
            </a:r>
            <a:endParaRPr lang="en-US" sz="1400" dirty="0"/>
          </a:p>
        </p:txBody>
      </p:sp>
      <p:sp>
        <p:nvSpPr>
          <p:cNvPr id="8" name="Text 6"/>
          <p:cNvSpPr/>
          <p:nvPr/>
        </p:nvSpPr>
        <p:spPr>
          <a:xfrm>
            <a:off x="685800" y="173736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Name and define radius, diameter, chord, tangent, secant, arc, sector, and segment.</a:t>
            </a:r>
            <a:endParaRPr lang="en-US" sz="1200" dirty="0"/>
          </a:p>
        </p:txBody>
      </p:sp>
      <p:sp>
        <p:nvSpPr>
          <p:cNvPr id="9" name="Shape 7"/>
          <p:cNvSpPr/>
          <p:nvPr/>
        </p:nvSpPr>
        <p:spPr>
          <a:xfrm>
            <a:off x="548640" y="246888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Shape 8"/>
          <p:cNvSpPr/>
          <p:nvPr/>
        </p:nvSpPr>
        <p:spPr>
          <a:xfrm>
            <a:off x="548640" y="2468880"/>
            <a:ext cx="3886200" cy="54864"/>
          </a:xfrm>
          <a:prstGeom prst="rect">
            <a:avLst/>
          </a:prstGeom>
          <a:solidFill>
            <a:srgbClr val="1C7293"/>
          </a:solidFill>
          <a:ln/>
        </p:spPr>
      </p:sp>
      <p:sp>
        <p:nvSpPr>
          <p:cNvPr id="11" name="Text 9"/>
          <p:cNvSpPr/>
          <p:nvPr/>
        </p:nvSpPr>
        <p:spPr>
          <a:xfrm>
            <a:off x="685800" y="260604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2.  Apply angle theorems in circles</a:t>
            </a:r>
            <a:endParaRPr lang="en-US" sz="1400" dirty="0"/>
          </a:p>
        </p:txBody>
      </p:sp>
      <p:sp>
        <p:nvSpPr>
          <p:cNvPr id="12" name="Text 10"/>
          <p:cNvSpPr/>
          <p:nvPr/>
        </p:nvSpPr>
        <p:spPr>
          <a:xfrm>
            <a:off x="685800" y="292608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Use inscribed angle, intersecting chord, and supplementary angle theorems to find unknown measures.</a:t>
            </a:r>
            <a:endParaRPr lang="en-US" sz="1200" dirty="0"/>
          </a:p>
        </p:txBody>
      </p:sp>
      <p:sp>
        <p:nvSpPr>
          <p:cNvPr id="13" name="Shape 11"/>
          <p:cNvSpPr/>
          <p:nvPr/>
        </p:nvSpPr>
        <p:spPr>
          <a:xfrm>
            <a:off x="548640" y="365760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4" name="Shape 12"/>
          <p:cNvSpPr/>
          <p:nvPr/>
        </p:nvSpPr>
        <p:spPr>
          <a:xfrm>
            <a:off x="548640" y="3657600"/>
            <a:ext cx="3886200" cy="54864"/>
          </a:xfrm>
          <a:prstGeom prst="rect">
            <a:avLst/>
          </a:prstGeom>
          <a:solidFill>
            <a:srgbClr val="1C7293"/>
          </a:solidFill>
          <a:ln/>
        </p:spPr>
      </p:sp>
      <p:sp>
        <p:nvSpPr>
          <p:cNvPr id="15" name="Text 13"/>
          <p:cNvSpPr/>
          <p:nvPr/>
        </p:nvSpPr>
        <p:spPr>
          <a:xfrm>
            <a:off x="685800" y="379476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3.  Convert angles (DMS &amp; radians)</a:t>
            </a:r>
            <a:endParaRPr lang="en-US" sz="1400" dirty="0"/>
          </a:p>
        </p:txBody>
      </p:sp>
      <p:sp>
        <p:nvSpPr>
          <p:cNvPr id="16" name="Text 14"/>
          <p:cNvSpPr/>
          <p:nvPr/>
        </p:nvSpPr>
        <p:spPr>
          <a:xfrm>
            <a:off x="685800" y="411480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Convert between DMS, decimal degrees, and radians using π rad = 180° and DMS rules.</a:t>
            </a:r>
            <a:endParaRPr lang="en-US" sz="1200" dirty="0"/>
          </a:p>
        </p:txBody>
      </p:sp>
      <p:sp>
        <p:nvSpPr>
          <p:cNvPr id="17" name="Shape 15"/>
          <p:cNvSpPr/>
          <p:nvPr/>
        </p:nvSpPr>
        <p:spPr>
          <a:xfrm>
            <a:off x="4709160" y="128016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8" name="Shape 16"/>
          <p:cNvSpPr/>
          <p:nvPr/>
        </p:nvSpPr>
        <p:spPr>
          <a:xfrm>
            <a:off x="4709160" y="1280160"/>
            <a:ext cx="3886200" cy="54864"/>
          </a:xfrm>
          <a:prstGeom prst="rect">
            <a:avLst/>
          </a:prstGeom>
          <a:solidFill>
            <a:srgbClr val="1C7293"/>
          </a:solidFill>
          <a:ln/>
        </p:spPr>
      </p:sp>
      <p:sp>
        <p:nvSpPr>
          <p:cNvPr id="19" name="Text 17"/>
          <p:cNvSpPr/>
          <p:nvPr/>
        </p:nvSpPr>
        <p:spPr>
          <a:xfrm>
            <a:off x="4846320" y="141732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4.  Calculate arc length and sector area</a:t>
            </a:r>
            <a:endParaRPr lang="en-US" sz="1400" dirty="0"/>
          </a:p>
        </p:txBody>
      </p:sp>
      <p:sp>
        <p:nvSpPr>
          <p:cNvPr id="20" name="Text 18"/>
          <p:cNvSpPr/>
          <p:nvPr/>
        </p:nvSpPr>
        <p:spPr>
          <a:xfrm>
            <a:off x="4846320" y="173736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Apply s = rθ for arc length and A = ½r²θ for sector area (θ in radians).</a:t>
            </a:r>
            <a:endParaRPr lang="en-US" sz="1200" dirty="0"/>
          </a:p>
        </p:txBody>
      </p:sp>
      <p:sp>
        <p:nvSpPr>
          <p:cNvPr id="21" name="Shape 19"/>
          <p:cNvSpPr/>
          <p:nvPr/>
        </p:nvSpPr>
        <p:spPr>
          <a:xfrm>
            <a:off x="4709160" y="246888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2" name="Shape 20"/>
          <p:cNvSpPr/>
          <p:nvPr/>
        </p:nvSpPr>
        <p:spPr>
          <a:xfrm>
            <a:off x="4709160" y="2468880"/>
            <a:ext cx="3886200" cy="54864"/>
          </a:xfrm>
          <a:prstGeom prst="rect">
            <a:avLst/>
          </a:prstGeom>
          <a:solidFill>
            <a:srgbClr val="1C7293"/>
          </a:solidFill>
          <a:ln/>
        </p:spPr>
      </p:sp>
      <p:sp>
        <p:nvSpPr>
          <p:cNvPr id="23" name="Text 21"/>
          <p:cNvSpPr/>
          <p:nvPr/>
        </p:nvSpPr>
        <p:spPr>
          <a:xfrm>
            <a:off x="4846320" y="260604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5.  Solve linear and angular velocity problems</a:t>
            </a:r>
            <a:endParaRPr lang="en-US" sz="1400" dirty="0"/>
          </a:p>
        </p:txBody>
      </p:sp>
      <p:sp>
        <p:nvSpPr>
          <p:cNvPr id="24" name="Text 22"/>
          <p:cNvSpPr/>
          <p:nvPr/>
        </p:nvSpPr>
        <p:spPr>
          <a:xfrm>
            <a:off x="4846320" y="292608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Relate v = rω and ω = θ/t; apply to real-world rotation scenarios.</a:t>
            </a:r>
            <a:endParaRPr lang="en-US" sz="1200" dirty="0"/>
          </a:p>
        </p:txBody>
      </p:sp>
      <p:sp>
        <p:nvSpPr>
          <p:cNvPr id="25" name="Shape 23"/>
          <p:cNvSpPr/>
          <p:nvPr/>
        </p:nvSpPr>
        <p:spPr>
          <a:xfrm>
            <a:off x="4709160" y="3657600"/>
            <a:ext cx="3886200" cy="1051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6" name="Shape 24"/>
          <p:cNvSpPr/>
          <p:nvPr/>
        </p:nvSpPr>
        <p:spPr>
          <a:xfrm>
            <a:off x="4709160" y="3657600"/>
            <a:ext cx="3886200" cy="54864"/>
          </a:xfrm>
          <a:prstGeom prst="rect">
            <a:avLst/>
          </a:prstGeom>
          <a:solidFill>
            <a:srgbClr val="1C7293"/>
          </a:solidFill>
          <a:ln/>
        </p:spPr>
      </p:sp>
      <p:sp>
        <p:nvSpPr>
          <p:cNvPr id="27" name="Text 25"/>
          <p:cNvSpPr/>
          <p:nvPr/>
        </p:nvSpPr>
        <p:spPr>
          <a:xfrm>
            <a:off x="4846320" y="3794760"/>
            <a:ext cx="361188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6.  Compute volume and surface area of solids</a:t>
            </a:r>
            <a:endParaRPr lang="en-US" sz="1400" dirty="0"/>
          </a:p>
        </p:txBody>
      </p:sp>
      <p:sp>
        <p:nvSpPr>
          <p:cNvPr id="28" name="Text 26"/>
          <p:cNvSpPr/>
          <p:nvPr/>
        </p:nvSpPr>
        <p:spPr>
          <a:xfrm>
            <a:off x="4846320" y="4114800"/>
            <a:ext cx="361188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Use standard formulas for prisms, cylinders, cones, spheres, and pyramids.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A7B8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Text 1"/>
          <p:cNvSpPr/>
          <p:nvPr/>
        </p:nvSpPr>
        <p:spPr>
          <a:xfrm>
            <a:off x="640080" y="914400"/>
            <a:ext cx="5486400" cy="365760"/>
          </a:xfrm>
          <a:prstGeom prst="rect">
            <a:avLst/>
          </a:prstGeom>
          <a:noFill/>
          <a:ln/>
        </p:spPr>
        <p:txBody>
          <a:bodyPr wrap="square" lIns="0" tIns="0" rIns="0" bIns="0" rtlCol="0" anchor="ctr"/>
          <a:lstStyle/>
          <a:p>
            <a:pPr indent="0" marL="0">
              <a:buNone/>
            </a:pPr>
            <a:r>
              <a:rPr lang="en-US" sz="1400" spc="300" kern="0" dirty="0">
                <a:solidFill>
                  <a:srgbClr val="5AB8B8"/>
                </a:solidFill>
                <a:latin typeface="Calibri" pitchFamily="34" charset="0"/>
                <a:ea typeface="Calibri" pitchFamily="34" charset="-122"/>
                <a:cs typeface="Calibri" pitchFamily="34" charset="-120"/>
              </a:rPr>
              <a:t>S E C T I O N   1</a:t>
            </a:r>
            <a:endParaRPr lang="en-US" sz="1400" dirty="0"/>
          </a:p>
        </p:txBody>
      </p:sp>
      <p:sp>
        <p:nvSpPr>
          <p:cNvPr id="4" name="Text 2"/>
          <p:cNvSpPr/>
          <p:nvPr/>
        </p:nvSpPr>
        <p:spPr>
          <a:xfrm>
            <a:off x="640080" y="1554480"/>
            <a:ext cx="7315200" cy="164592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Circle</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Fundamentals</a:t>
            </a:r>
            <a:endParaRPr lang="en-US" sz="4800" dirty="0"/>
          </a:p>
        </p:txBody>
      </p:sp>
      <p:sp>
        <p:nvSpPr>
          <p:cNvPr id="5" name="Shape 3"/>
          <p:cNvSpPr/>
          <p:nvPr/>
        </p:nvSpPr>
        <p:spPr>
          <a:xfrm>
            <a:off x="640080" y="3337560"/>
            <a:ext cx="2743200" cy="0"/>
          </a:xfrm>
          <a:prstGeom prst="line">
            <a:avLst/>
          </a:prstGeom>
          <a:noFill/>
          <a:ln w="38100">
            <a:solidFill>
              <a:srgbClr val="D4A843"/>
            </a:solidFill>
            <a:prstDash val="solid"/>
          </a:ln>
        </p:spPr>
      </p:sp>
      <p:sp>
        <p:nvSpPr>
          <p:cNvPr id="6" name="Text 4"/>
          <p:cNvSpPr/>
          <p:nvPr/>
        </p:nvSpPr>
        <p:spPr>
          <a:xfrm>
            <a:off x="640080" y="3566160"/>
            <a:ext cx="7315200" cy="457200"/>
          </a:xfrm>
          <a:prstGeom prst="rect">
            <a:avLst/>
          </a:prstGeom>
          <a:noFill/>
          <a:ln/>
        </p:spPr>
        <p:txBody>
          <a:bodyPr wrap="square" lIns="0" tIns="0" rIns="0" bIns="0" rtlCol="0" anchor="ctr"/>
          <a:lstStyle/>
          <a:p>
            <a:pPr indent="0" marL="0">
              <a:buNone/>
            </a:pPr>
            <a:r>
              <a:rPr lang="en-US" sz="1400" i="1" dirty="0">
                <a:solidFill>
                  <a:srgbClr val="F5F2EB"/>
                </a:solidFill>
                <a:latin typeface="Calibri" pitchFamily="34" charset="0"/>
                <a:ea typeface="Calibri" pitchFamily="34" charset="-122"/>
                <a:cs typeface="Calibri" pitchFamily="34" charset="-120"/>
              </a:rPr>
              <a:t>Definitions, terminology, and the key parts of every circle.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Circle Terminology</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 circle is the set of all points in a plane that are equidistant from a fixed point called the center. The distance from the center to any point on the circle is the radius.</a:t>
            </a:r>
            <a:endParaRPr lang="en-US" sz="1400" dirty="0"/>
          </a:p>
        </p:txBody>
      </p:sp>
      <p:sp>
        <p:nvSpPr>
          <p:cNvPr id="7" name="Shape 5"/>
          <p:cNvSpPr/>
          <p:nvPr/>
        </p:nvSpPr>
        <p:spPr>
          <a:xfrm>
            <a:off x="548640" y="17373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2514600" cy="54864"/>
          </a:xfrm>
          <a:prstGeom prst="rect">
            <a:avLst/>
          </a:prstGeom>
          <a:solidFill>
            <a:srgbClr val="1C7293"/>
          </a:solidFill>
          <a:ln/>
        </p:spPr>
      </p:sp>
      <p:sp>
        <p:nvSpPr>
          <p:cNvPr id="9" name="Text 7"/>
          <p:cNvSpPr/>
          <p:nvPr/>
        </p:nvSpPr>
        <p:spPr>
          <a:xfrm>
            <a:off x="685800" y="19202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Radius</a:t>
            </a:r>
            <a:endParaRPr lang="en-US" sz="1800" dirty="0"/>
          </a:p>
        </p:txBody>
      </p:sp>
      <p:sp>
        <p:nvSpPr>
          <p:cNvPr id="10" name="Text 8"/>
          <p:cNvSpPr/>
          <p:nvPr/>
        </p:nvSpPr>
        <p:spPr>
          <a:xfrm>
            <a:off x="685800" y="22860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Distance from the center to any point on the circle. Half the diameter.</a:t>
            </a:r>
            <a:endParaRPr lang="en-US" sz="1200" dirty="0"/>
          </a:p>
        </p:txBody>
      </p:sp>
      <p:sp>
        <p:nvSpPr>
          <p:cNvPr id="11" name="Shape 9"/>
          <p:cNvSpPr/>
          <p:nvPr/>
        </p:nvSpPr>
        <p:spPr>
          <a:xfrm>
            <a:off x="3246120" y="17373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3246120" y="1737360"/>
            <a:ext cx="2514600" cy="54864"/>
          </a:xfrm>
          <a:prstGeom prst="rect">
            <a:avLst/>
          </a:prstGeom>
          <a:solidFill>
            <a:srgbClr val="D4A843"/>
          </a:solidFill>
          <a:ln/>
        </p:spPr>
      </p:sp>
      <p:sp>
        <p:nvSpPr>
          <p:cNvPr id="13" name="Text 11"/>
          <p:cNvSpPr/>
          <p:nvPr/>
        </p:nvSpPr>
        <p:spPr>
          <a:xfrm>
            <a:off x="3383280" y="19202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Diameter</a:t>
            </a:r>
            <a:endParaRPr lang="en-US" sz="1800" dirty="0"/>
          </a:p>
        </p:txBody>
      </p:sp>
      <p:sp>
        <p:nvSpPr>
          <p:cNvPr id="14" name="Text 12"/>
          <p:cNvSpPr/>
          <p:nvPr/>
        </p:nvSpPr>
        <p:spPr>
          <a:xfrm>
            <a:off x="3383280" y="22860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chord passing through the center. Equal to 2r (twice the radius).</a:t>
            </a:r>
            <a:endParaRPr lang="en-US" sz="1200" dirty="0"/>
          </a:p>
        </p:txBody>
      </p:sp>
      <p:sp>
        <p:nvSpPr>
          <p:cNvPr id="15" name="Shape 13"/>
          <p:cNvSpPr/>
          <p:nvPr/>
        </p:nvSpPr>
        <p:spPr>
          <a:xfrm>
            <a:off x="5943600" y="17373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6" name="Shape 14"/>
          <p:cNvSpPr/>
          <p:nvPr/>
        </p:nvSpPr>
        <p:spPr>
          <a:xfrm>
            <a:off x="5943600" y="1737360"/>
            <a:ext cx="2514600" cy="54864"/>
          </a:xfrm>
          <a:prstGeom prst="rect">
            <a:avLst/>
          </a:prstGeom>
          <a:solidFill>
            <a:srgbClr val="1C7293"/>
          </a:solidFill>
          <a:ln/>
        </p:spPr>
      </p:sp>
      <p:sp>
        <p:nvSpPr>
          <p:cNvPr id="17" name="Text 15"/>
          <p:cNvSpPr/>
          <p:nvPr/>
        </p:nvSpPr>
        <p:spPr>
          <a:xfrm>
            <a:off x="6080760" y="19202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Chord</a:t>
            </a:r>
            <a:endParaRPr lang="en-US" sz="1800" dirty="0"/>
          </a:p>
        </p:txBody>
      </p:sp>
      <p:sp>
        <p:nvSpPr>
          <p:cNvPr id="18" name="Text 16"/>
          <p:cNvSpPr/>
          <p:nvPr/>
        </p:nvSpPr>
        <p:spPr>
          <a:xfrm>
            <a:off x="6080760" y="22860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line segment with both endpoints on the circle.</a:t>
            </a:r>
            <a:endParaRPr lang="en-US" sz="1200" dirty="0"/>
          </a:p>
        </p:txBody>
      </p:sp>
      <p:sp>
        <p:nvSpPr>
          <p:cNvPr id="19" name="Shape 17"/>
          <p:cNvSpPr/>
          <p:nvPr/>
        </p:nvSpPr>
        <p:spPr>
          <a:xfrm>
            <a:off x="548640" y="33375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0" name="Shape 18"/>
          <p:cNvSpPr/>
          <p:nvPr/>
        </p:nvSpPr>
        <p:spPr>
          <a:xfrm>
            <a:off x="548640" y="3337560"/>
            <a:ext cx="2514600" cy="54864"/>
          </a:xfrm>
          <a:prstGeom prst="rect">
            <a:avLst/>
          </a:prstGeom>
          <a:solidFill>
            <a:srgbClr val="D4A843"/>
          </a:solidFill>
          <a:ln/>
        </p:spPr>
      </p:sp>
      <p:sp>
        <p:nvSpPr>
          <p:cNvPr id="21" name="Text 19"/>
          <p:cNvSpPr/>
          <p:nvPr/>
        </p:nvSpPr>
        <p:spPr>
          <a:xfrm>
            <a:off x="685800" y="35204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Tangent</a:t>
            </a:r>
            <a:endParaRPr lang="en-US" sz="1800" dirty="0"/>
          </a:p>
        </p:txBody>
      </p:sp>
      <p:sp>
        <p:nvSpPr>
          <p:cNvPr id="22" name="Text 20"/>
          <p:cNvSpPr/>
          <p:nvPr/>
        </p:nvSpPr>
        <p:spPr>
          <a:xfrm>
            <a:off x="685800" y="38862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line that touches the circle at exactly one point.</a:t>
            </a:r>
            <a:endParaRPr lang="en-US" sz="1200" dirty="0"/>
          </a:p>
        </p:txBody>
      </p:sp>
      <p:sp>
        <p:nvSpPr>
          <p:cNvPr id="23" name="Shape 21"/>
          <p:cNvSpPr/>
          <p:nvPr/>
        </p:nvSpPr>
        <p:spPr>
          <a:xfrm>
            <a:off x="3246120" y="33375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4" name="Shape 22"/>
          <p:cNvSpPr/>
          <p:nvPr/>
        </p:nvSpPr>
        <p:spPr>
          <a:xfrm>
            <a:off x="3246120" y="3337560"/>
            <a:ext cx="2514600" cy="54864"/>
          </a:xfrm>
          <a:prstGeom prst="rect">
            <a:avLst/>
          </a:prstGeom>
          <a:solidFill>
            <a:srgbClr val="1C7293"/>
          </a:solidFill>
          <a:ln/>
        </p:spPr>
      </p:sp>
      <p:sp>
        <p:nvSpPr>
          <p:cNvPr id="25" name="Text 23"/>
          <p:cNvSpPr/>
          <p:nvPr/>
        </p:nvSpPr>
        <p:spPr>
          <a:xfrm>
            <a:off x="3383280" y="35204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Secant</a:t>
            </a:r>
            <a:endParaRPr lang="en-US" sz="1800" dirty="0"/>
          </a:p>
        </p:txBody>
      </p:sp>
      <p:sp>
        <p:nvSpPr>
          <p:cNvPr id="26" name="Text 24"/>
          <p:cNvSpPr/>
          <p:nvPr/>
        </p:nvSpPr>
        <p:spPr>
          <a:xfrm>
            <a:off x="3383280" y="38862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line that intersects the circle at two points.</a:t>
            </a:r>
            <a:endParaRPr lang="en-US" sz="1200" dirty="0"/>
          </a:p>
        </p:txBody>
      </p:sp>
      <p:sp>
        <p:nvSpPr>
          <p:cNvPr id="27" name="Shape 25"/>
          <p:cNvSpPr/>
          <p:nvPr/>
        </p:nvSpPr>
        <p:spPr>
          <a:xfrm>
            <a:off x="5943600" y="3337560"/>
            <a:ext cx="2514600" cy="1417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8" name="Shape 26"/>
          <p:cNvSpPr/>
          <p:nvPr/>
        </p:nvSpPr>
        <p:spPr>
          <a:xfrm>
            <a:off x="5943600" y="3337560"/>
            <a:ext cx="2514600" cy="54864"/>
          </a:xfrm>
          <a:prstGeom prst="rect">
            <a:avLst/>
          </a:prstGeom>
          <a:solidFill>
            <a:srgbClr val="D4A843"/>
          </a:solidFill>
          <a:ln/>
        </p:spPr>
      </p:sp>
      <p:sp>
        <p:nvSpPr>
          <p:cNvPr id="29" name="Text 27"/>
          <p:cNvSpPr/>
          <p:nvPr/>
        </p:nvSpPr>
        <p:spPr>
          <a:xfrm>
            <a:off x="6080760" y="3520440"/>
            <a:ext cx="224028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Center</a:t>
            </a:r>
            <a:endParaRPr lang="en-US" sz="1800" dirty="0"/>
          </a:p>
        </p:txBody>
      </p:sp>
      <p:sp>
        <p:nvSpPr>
          <p:cNvPr id="30" name="Text 28"/>
          <p:cNvSpPr/>
          <p:nvPr/>
        </p:nvSpPr>
        <p:spPr>
          <a:xfrm>
            <a:off x="6080760" y="3886200"/>
            <a:ext cx="224028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The fixed point equidistant from all points on the circle.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Arcs, Sectors &amp; Segments</a:t>
            </a:r>
            <a:endParaRPr lang="en-US" sz="3600" dirty="0"/>
          </a:p>
        </p:txBody>
      </p:sp>
      <p:sp>
        <p:nvSpPr>
          <p:cNvPr id="4" name="Shape 2"/>
          <p:cNvSpPr/>
          <p:nvPr/>
        </p:nvSpPr>
        <p:spPr>
          <a:xfrm>
            <a:off x="548640" y="1051560"/>
            <a:ext cx="397764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1051560"/>
            <a:ext cx="54864" cy="1554480"/>
          </a:xfrm>
          <a:prstGeom prst="rect">
            <a:avLst/>
          </a:prstGeom>
          <a:solidFill>
            <a:srgbClr val="1C7293"/>
          </a:solidFill>
          <a:ln/>
        </p:spPr>
      </p:sp>
      <p:sp>
        <p:nvSpPr>
          <p:cNvPr id="6" name="Text 4"/>
          <p:cNvSpPr/>
          <p:nvPr/>
        </p:nvSpPr>
        <p:spPr>
          <a:xfrm>
            <a:off x="777240" y="118872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Arc</a:t>
            </a:r>
            <a:endParaRPr lang="en-US" sz="2000" dirty="0"/>
          </a:p>
        </p:txBody>
      </p:sp>
      <p:sp>
        <p:nvSpPr>
          <p:cNvPr id="7" name="Text 5"/>
          <p:cNvSpPr/>
          <p:nvPr/>
        </p:nvSpPr>
        <p:spPr>
          <a:xfrm>
            <a:off x="777240" y="1600200"/>
            <a:ext cx="356616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A portion of the circle's circumference. A minor arc is less than a semicircle; a major arc is greater.</a:t>
            </a:r>
            <a:endParaRPr lang="en-US" sz="1300" dirty="0"/>
          </a:p>
        </p:txBody>
      </p:sp>
      <p:sp>
        <p:nvSpPr>
          <p:cNvPr id="8" name="Shape 6"/>
          <p:cNvSpPr/>
          <p:nvPr/>
        </p:nvSpPr>
        <p:spPr>
          <a:xfrm>
            <a:off x="4800600" y="1051560"/>
            <a:ext cx="397764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9" name="Shape 7"/>
          <p:cNvSpPr/>
          <p:nvPr/>
        </p:nvSpPr>
        <p:spPr>
          <a:xfrm>
            <a:off x="4800600" y="1051560"/>
            <a:ext cx="54864" cy="1554480"/>
          </a:xfrm>
          <a:prstGeom prst="rect">
            <a:avLst/>
          </a:prstGeom>
          <a:solidFill>
            <a:srgbClr val="1C7293"/>
          </a:solidFill>
          <a:ln/>
        </p:spPr>
      </p:sp>
      <p:sp>
        <p:nvSpPr>
          <p:cNvPr id="10" name="Text 8"/>
          <p:cNvSpPr/>
          <p:nvPr/>
        </p:nvSpPr>
        <p:spPr>
          <a:xfrm>
            <a:off x="5029200" y="118872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Central Angle</a:t>
            </a:r>
            <a:endParaRPr lang="en-US" sz="2000" dirty="0"/>
          </a:p>
        </p:txBody>
      </p:sp>
      <p:sp>
        <p:nvSpPr>
          <p:cNvPr id="11" name="Text 9"/>
          <p:cNvSpPr/>
          <p:nvPr/>
        </p:nvSpPr>
        <p:spPr>
          <a:xfrm>
            <a:off x="5029200" y="1600200"/>
            <a:ext cx="356616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An angle formed at the center by two radii. Its measure equals the intercepted arc.</a:t>
            </a:r>
            <a:endParaRPr lang="en-US" sz="1300" dirty="0"/>
          </a:p>
        </p:txBody>
      </p:sp>
      <p:sp>
        <p:nvSpPr>
          <p:cNvPr id="12" name="Shape 10"/>
          <p:cNvSpPr/>
          <p:nvPr/>
        </p:nvSpPr>
        <p:spPr>
          <a:xfrm>
            <a:off x="548640" y="2880360"/>
            <a:ext cx="397764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3" name="Shape 11"/>
          <p:cNvSpPr/>
          <p:nvPr/>
        </p:nvSpPr>
        <p:spPr>
          <a:xfrm>
            <a:off x="548640" y="2880360"/>
            <a:ext cx="54864" cy="1554480"/>
          </a:xfrm>
          <a:prstGeom prst="rect">
            <a:avLst/>
          </a:prstGeom>
          <a:solidFill>
            <a:srgbClr val="D4A843"/>
          </a:solidFill>
          <a:ln/>
        </p:spPr>
      </p:sp>
      <p:sp>
        <p:nvSpPr>
          <p:cNvPr id="14" name="Text 12"/>
          <p:cNvSpPr/>
          <p:nvPr/>
        </p:nvSpPr>
        <p:spPr>
          <a:xfrm>
            <a:off x="777240" y="301752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Sector</a:t>
            </a:r>
            <a:endParaRPr lang="en-US" sz="2000" dirty="0"/>
          </a:p>
        </p:txBody>
      </p:sp>
      <p:sp>
        <p:nvSpPr>
          <p:cNvPr id="15" name="Text 13"/>
          <p:cNvSpPr/>
          <p:nvPr/>
        </p:nvSpPr>
        <p:spPr>
          <a:xfrm>
            <a:off x="777240" y="3429000"/>
            <a:ext cx="356616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The region bounded by two radii and the arc they intercept — like a "slice of pie."</a:t>
            </a:r>
            <a:endParaRPr lang="en-US" sz="1300" dirty="0"/>
          </a:p>
        </p:txBody>
      </p:sp>
      <p:sp>
        <p:nvSpPr>
          <p:cNvPr id="16" name="Shape 14"/>
          <p:cNvSpPr/>
          <p:nvPr/>
        </p:nvSpPr>
        <p:spPr>
          <a:xfrm>
            <a:off x="4800600" y="2880360"/>
            <a:ext cx="397764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7" name="Shape 15"/>
          <p:cNvSpPr/>
          <p:nvPr/>
        </p:nvSpPr>
        <p:spPr>
          <a:xfrm>
            <a:off x="4800600" y="2880360"/>
            <a:ext cx="54864" cy="1554480"/>
          </a:xfrm>
          <a:prstGeom prst="rect">
            <a:avLst/>
          </a:prstGeom>
          <a:solidFill>
            <a:srgbClr val="D4A843"/>
          </a:solidFill>
          <a:ln/>
        </p:spPr>
      </p:sp>
      <p:sp>
        <p:nvSpPr>
          <p:cNvPr id="18" name="Text 16"/>
          <p:cNvSpPr/>
          <p:nvPr/>
        </p:nvSpPr>
        <p:spPr>
          <a:xfrm>
            <a:off x="5029200" y="301752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Segment</a:t>
            </a:r>
            <a:endParaRPr lang="en-US" sz="2000" dirty="0"/>
          </a:p>
        </p:txBody>
      </p:sp>
      <p:sp>
        <p:nvSpPr>
          <p:cNvPr id="19" name="Text 17"/>
          <p:cNvSpPr/>
          <p:nvPr/>
        </p:nvSpPr>
        <p:spPr>
          <a:xfrm>
            <a:off x="5029200" y="3429000"/>
            <a:ext cx="356616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The region between a chord and its arc. A chord creates both a minor and a major segment.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Inscribed Angles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An inscribed angle has its vertex on the circle and its sides are chords. The key theorem relates it to its intercepted arc.</a:t>
            </a:r>
            <a:endParaRPr lang="en-US" sz="1400" dirty="0"/>
          </a:p>
        </p:txBody>
      </p:sp>
      <p:sp>
        <p:nvSpPr>
          <p:cNvPr id="7" name="Shape 5"/>
          <p:cNvSpPr/>
          <p:nvPr/>
        </p:nvSpPr>
        <p:spPr>
          <a:xfrm>
            <a:off x="548640" y="1737360"/>
            <a:ext cx="3931920" cy="22860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54864" cy="2286000"/>
          </a:xfrm>
          <a:prstGeom prst="rect">
            <a:avLst/>
          </a:prstGeom>
          <a:solidFill>
            <a:srgbClr val="1C7293"/>
          </a:solidFill>
          <a:ln/>
        </p:spPr>
      </p:sp>
      <p:sp>
        <p:nvSpPr>
          <p:cNvPr id="9" name="Text 7"/>
          <p:cNvSpPr/>
          <p:nvPr/>
        </p:nvSpPr>
        <p:spPr>
          <a:xfrm>
            <a:off x="777240" y="1874520"/>
            <a:ext cx="3474720" cy="320040"/>
          </a:xfrm>
          <a:prstGeom prst="rect">
            <a:avLst/>
          </a:prstGeom>
          <a:noFill/>
          <a:ln/>
        </p:spPr>
        <p:txBody>
          <a:bodyPr wrap="square" lIns="0" tIns="0" rIns="0" bIns="0"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Definition</a:t>
            </a:r>
            <a:endParaRPr lang="en-US" sz="1800" dirty="0"/>
          </a:p>
        </p:txBody>
      </p:sp>
      <p:sp>
        <p:nvSpPr>
          <p:cNvPr id="10" name="Text 8"/>
          <p:cNvSpPr/>
          <p:nvPr/>
        </p:nvSpPr>
        <p:spPr>
          <a:xfrm>
            <a:off x="777240" y="2240280"/>
            <a:ext cx="3474720" cy="10972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An inscribed angle of an arc is an angle whose vertex lies on the circle, whose sides pass through the endpoints of the arc, and whose vertex is not an endpoint of the arc.</a:t>
            </a:r>
            <a:endParaRPr lang="en-US" sz="1300" dirty="0"/>
          </a:p>
        </p:txBody>
      </p:sp>
      <p:sp>
        <p:nvSpPr>
          <p:cNvPr id="11" name="Shape 9"/>
          <p:cNvSpPr/>
          <p:nvPr/>
        </p:nvSpPr>
        <p:spPr>
          <a:xfrm>
            <a:off x="4800600" y="1737360"/>
            <a:ext cx="3931920" cy="22860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4800600" y="1737360"/>
            <a:ext cx="54864" cy="2286000"/>
          </a:xfrm>
          <a:prstGeom prst="rect">
            <a:avLst/>
          </a:prstGeom>
          <a:solidFill>
            <a:srgbClr val="D4A843"/>
          </a:solidFill>
          <a:ln/>
        </p:spPr>
      </p:sp>
      <p:sp>
        <p:nvSpPr>
          <p:cNvPr id="13" name="Text 11"/>
          <p:cNvSpPr/>
          <p:nvPr/>
        </p:nvSpPr>
        <p:spPr>
          <a:xfrm>
            <a:off x="5029200" y="1874520"/>
            <a:ext cx="3474720" cy="320040"/>
          </a:xfrm>
          <a:prstGeom prst="rect">
            <a:avLst/>
          </a:prstGeom>
          <a:noFill/>
          <a:ln/>
        </p:spPr>
        <p:txBody>
          <a:bodyPr wrap="square" lIns="0" tIns="0" rIns="0" bIns="0" rtlCol="0" anchor="ctr"/>
          <a:lstStyle/>
          <a:p>
            <a:pPr indent="0" marL="0">
              <a:buNone/>
            </a:pPr>
            <a:r>
              <a:rPr lang="en-US" sz="1800" b="1" dirty="0">
                <a:solidFill>
                  <a:srgbClr val="D4A843"/>
                </a:solidFill>
                <a:latin typeface="Georgia" pitchFamily="34" charset="0"/>
                <a:ea typeface="Georgia" pitchFamily="34" charset="-122"/>
                <a:cs typeface="Georgia" pitchFamily="34" charset="-120"/>
              </a:rPr>
              <a:t>Inscribed Angle Theorem</a:t>
            </a:r>
            <a:endParaRPr lang="en-US" sz="1800" dirty="0"/>
          </a:p>
        </p:txBody>
      </p:sp>
      <p:sp>
        <p:nvSpPr>
          <p:cNvPr id="14" name="Text 12"/>
          <p:cNvSpPr/>
          <p:nvPr/>
        </p:nvSpPr>
        <p:spPr>
          <a:xfrm>
            <a:off x="5029200" y="2240280"/>
            <a:ext cx="3474720" cy="6400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The measure of an inscribed angle is exactly one-half the measure of its intercepted arc.</a:t>
            </a:r>
            <a:endParaRPr lang="en-US" sz="1300" dirty="0"/>
          </a:p>
        </p:txBody>
      </p:sp>
      <p:sp>
        <p:nvSpPr>
          <p:cNvPr id="15" name="Text 13"/>
          <p:cNvSpPr/>
          <p:nvPr/>
        </p:nvSpPr>
        <p:spPr>
          <a:xfrm>
            <a:off x="5029200" y="2926080"/>
            <a:ext cx="3474720" cy="457200"/>
          </a:xfrm>
          <a:prstGeom prst="rect">
            <a:avLst/>
          </a:prstGeom>
          <a:noFill/>
          <a:ln/>
        </p:spPr>
        <p:txBody>
          <a:bodyPr wrap="square" lIns="0" tIns="0" rIns="0" bIns="0" rtlCol="0" anchor="ctr"/>
          <a:lstStyle/>
          <a:p>
            <a:pPr indent="0" marL="0">
              <a:buNone/>
            </a:pPr>
            <a:r>
              <a:rPr lang="en-US" sz="2200" b="1" dirty="0">
                <a:solidFill>
                  <a:srgbClr val="1C7293"/>
                </a:solidFill>
                <a:latin typeface="Georgia" pitchFamily="34" charset="0"/>
                <a:ea typeface="Georgia" pitchFamily="34" charset="-122"/>
                <a:cs typeface="Georgia" pitchFamily="34" charset="-120"/>
              </a:rPr>
              <a:t>∠ABC = ½ · arc AC</a:t>
            </a:r>
            <a:endParaRPr lang="en-US" sz="2200" dirty="0"/>
          </a:p>
        </p:txBody>
      </p:sp>
      <p:sp>
        <p:nvSpPr>
          <p:cNvPr id="16" name="Shape 14"/>
          <p:cNvSpPr/>
          <p:nvPr/>
        </p:nvSpPr>
        <p:spPr>
          <a:xfrm>
            <a:off x="457200" y="4434840"/>
            <a:ext cx="8229600" cy="502920"/>
          </a:xfrm>
          <a:prstGeom prst="rect">
            <a:avLst/>
          </a:prstGeom>
          <a:solidFill>
            <a:srgbClr val="1E2761"/>
          </a:solidFill>
          <a:ln/>
        </p:spPr>
      </p:sp>
      <p:sp>
        <p:nvSpPr>
          <p:cNvPr id="17" name="Text 15"/>
          <p:cNvSpPr/>
          <p:nvPr/>
        </p:nvSpPr>
        <p:spPr>
          <a:xfrm>
            <a:off x="640080" y="4434840"/>
            <a:ext cx="786384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Corollary: An inscribed angle in a semicircle is always a right angle (90°), because the intercepted arc is 180°.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Chord &amp; Angle Theorems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When two chords intersect inside a circle, the angles formed relate to the intercepted arcs. These theorems work together with supplementary angle rules.</a:t>
            </a:r>
            <a:endParaRPr lang="en-US" sz="1400" dirty="0"/>
          </a:p>
        </p:txBody>
      </p:sp>
      <p:sp>
        <p:nvSpPr>
          <p:cNvPr id="7" name="Shape 5"/>
          <p:cNvSpPr/>
          <p:nvPr/>
        </p:nvSpPr>
        <p:spPr>
          <a:xfrm>
            <a:off x="548640" y="1737360"/>
            <a:ext cx="393192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3931920" cy="54864"/>
          </a:xfrm>
          <a:prstGeom prst="rect">
            <a:avLst/>
          </a:prstGeom>
          <a:solidFill>
            <a:srgbClr val="1C7293"/>
          </a:solidFill>
          <a:ln/>
        </p:spPr>
      </p:sp>
      <p:sp>
        <p:nvSpPr>
          <p:cNvPr id="9" name="Text 7"/>
          <p:cNvSpPr/>
          <p:nvPr/>
        </p:nvSpPr>
        <p:spPr>
          <a:xfrm>
            <a:off x="731520" y="1874520"/>
            <a:ext cx="3566160" cy="320040"/>
          </a:xfrm>
          <a:prstGeom prst="rect">
            <a:avLst/>
          </a:prstGeom>
          <a:noFill/>
          <a:ln/>
        </p:spPr>
        <p:txBody>
          <a:bodyPr wrap="square" lIns="0" tIns="0" rIns="0" bIns="0" rtlCol="0" anchor="ctr"/>
          <a:lstStyle/>
          <a:p>
            <a:pPr indent="0" marL="0">
              <a:buNone/>
            </a:pPr>
            <a:r>
              <a:rPr lang="en-US" sz="1600" b="1" dirty="0">
                <a:solidFill>
                  <a:srgbClr val="1B3A4B"/>
                </a:solidFill>
                <a:latin typeface="Georgia" pitchFamily="34" charset="0"/>
                <a:ea typeface="Georgia" pitchFamily="34" charset="-122"/>
                <a:cs typeface="Georgia" pitchFamily="34" charset="-120"/>
              </a:rPr>
              <a:t>Intersecting Chords Angle</a:t>
            </a:r>
            <a:endParaRPr lang="en-US" sz="1600" dirty="0"/>
          </a:p>
        </p:txBody>
      </p:sp>
      <p:sp>
        <p:nvSpPr>
          <p:cNvPr id="10" name="Text 8"/>
          <p:cNvSpPr/>
          <p:nvPr/>
        </p:nvSpPr>
        <p:spPr>
          <a:xfrm>
            <a:off x="731520" y="2240280"/>
            <a:ext cx="3566160" cy="365760"/>
          </a:xfrm>
          <a:prstGeom prst="rect">
            <a:avLst/>
          </a:prstGeom>
          <a:noFill/>
          <a:ln/>
        </p:spPr>
        <p:txBody>
          <a:bodyPr wrap="square" lIns="0" tIns="0" rIns="0" bIns="0" rtlCol="0" anchor="ctr"/>
          <a:lstStyle/>
          <a:p>
            <a:pPr indent="0" marL="0">
              <a:buNone/>
            </a:pPr>
            <a:r>
              <a:rPr lang="en-US" sz="2200" b="1" dirty="0">
                <a:solidFill>
                  <a:srgbClr val="1C7293"/>
                </a:solidFill>
                <a:latin typeface="Georgia" pitchFamily="34" charset="0"/>
                <a:ea typeface="Georgia" pitchFamily="34" charset="-122"/>
                <a:cs typeface="Georgia" pitchFamily="34" charset="-120"/>
              </a:rPr>
              <a:t>∠ = ½(arc₁ + arc₂)</a:t>
            </a:r>
            <a:endParaRPr lang="en-US" sz="2200" dirty="0"/>
          </a:p>
        </p:txBody>
      </p:sp>
      <p:sp>
        <p:nvSpPr>
          <p:cNvPr id="11" name="Text 9"/>
          <p:cNvSpPr/>
          <p:nvPr/>
        </p:nvSpPr>
        <p:spPr>
          <a:xfrm>
            <a:off x="731520" y="2651760"/>
            <a:ext cx="3566160" cy="5029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When two chords cross inside a circle, the measure of the angle formed equals half the sum of the two intercepted arcs.</a:t>
            </a:r>
            <a:endParaRPr lang="en-US" sz="1200" dirty="0"/>
          </a:p>
        </p:txBody>
      </p:sp>
      <p:sp>
        <p:nvSpPr>
          <p:cNvPr id="12" name="Shape 10"/>
          <p:cNvSpPr/>
          <p:nvPr/>
        </p:nvSpPr>
        <p:spPr>
          <a:xfrm>
            <a:off x="4800600" y="1737360"/>
            <a:ext cx="393192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3" name="Shape 11"/>
          <p:cNvSpPr/>
          <p:nvPr/>
        </p:nvSpPr>
        <p:spPr>
          <a:xfrm>
            <a:off x="4800600" y="1737360"/>
            <a:ext cx="3931920" cy="54864"/>
          </a:xfrm>
          <a:prstGeom prst="rect">
            <a:avLst/>
          </a:prstGeom>
          <a:solidFill>
            <a:srgbClr val="D4A843"/>
          </a:solidFill>
          <a:ln/>
        </p:spPr>
      </p:sp>
      <p:sp>
        <p:nvSpPr>
          <p:cNvPr id="14" name="Text 12"/>
          <p:cNvSpPr/>
          <p:nvPr/>
        </p:nvSpPr>
        <p:spPr>
          <a:xfrm>
            <a:off x="4983480" y="1874520"/>
            <a:ext cx="3566160" cy="320040"/>
          </a:xfrm>
          <a:prstGeom prst="rect">
            <a:avLst/>
          </a:prstGeom>
          <a:noFill/>
          <a:ln/>
        </p:spPr>
        <p:txBody>
          <a:bodyPr wrap="square" lIns="0" tIns="0" rIns="0" bIns="0" rtlCol="0" anchor="ctr"/>
          <a:lstStyle/>
          <a:p>
            <a:pPr indent="0" marL="0">
              <a:buNone/>
            </a:pPr>
            <a:r>
              <a:rPr lang="en-US" sz="1600" b="1" dirty="0">
                <a:solidFill>
                  <a:srgbClr val="1B3A4B"/>
                </a:solidFill>
                <a:latin typeface="Georgia" pitchFamily="34" charset="0"/>
                <a:ea typeface="Georgia" pitchFamily="34" charset="-122"/>
                <a:cs typeface="Georgia" pitchFamily="34" charset="-120"/>
              </a:rPr>
              <a:t>Vertical &amp; Supplementary</a:t>
            </a:r>
            <a:endParaRPr lang="en-US" sz="1600" dirty="0"/>
          </a:p>
        </p:txBody>
      </p:sp>
      <p:sp>
        <p:nvSpPr>
          <p:cNvPr id="15" name="Text 13"/>
          <p:cNvSpPr/>
          <p:nvPr/>
        </p:nvSpPr>
        <p:spPr>
          <a:xfrm>
            <a:off x="4983480" y="2240280"/>
            <a:ext cx="3566160" cy="914400"/>
          </a:xfrm>
          <a:prstGeom prst="rect">
            <a:avLst/>
          </a:prstGeom>
          <a:noFill/>
          <a:ln/>
        </p:spPr>
        <p:txBody>
          <a:bodyPr wrap="square" lIns="0" tIns="0" rIns="0" bIns="0" rtlCol="0" anchor="ctr"/>
          <a:lstStyle/>
          <a:p>
            <a:pPr indent="0" marL="0">
              <a:buNone/>
            </a:pPr>
            <a:r>
              <a:rPr lang="en-US" sz="1300" b="1" dirty="0">
                <a:solidFill>
                  <a:srgbClr val="3A3A3A"/>
                </a:solidFill>
                <a:latin typeface="Calibri" pitchFamily="34" charset="0"/>
                <a:ea typeface="Calibri" pitchFamily="34" charset="-122"/>
                <a:cs typeface="Calibri" pitchFamily="34" charset="-120"/>
              </a:rPr>
              <a:t>Vertical angles are congruent</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∠AEB = ∠DEC  and  ∠AED = ∠BEC</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Adjacent angles are supplementary</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∠AEB + ∠AED = 180°</a:t>
            </a:r>
            <a:endParaRPr lang="en-US" sz="1300" dirty="0"/>
          </a:p>
        </p:txBody>
      </p:sp>
      <p:sp>
        <p:nvSpPr>
          <p:cNvPr id="16" name="Shape 14"/>
          <p:cNvSpPr/>
          <p:nvPr/>
        </p:nvSpPr>
        <p:spPr>
          <a:xfrm>
            <a:off x="548640" y="352044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7" name="Shape 15"/>
          <p:cNvSpPr/>
          <p:nvPr/>
        </p:nvSpPr>
        <p:spPr>
          <a:xfrm>
            <a:off x="548640" y="3520440"/>
            <a:ext cx="54864" cy="1097280"/>
          </a:xfrm>
          <a:prstGeom prst="rect">
            <a:avLst/>
          </a:prstGeom>
          <a:solidFill>
            <a:srgbClr val="1C7293"/>
          </a:solidFill>
          <a:ln/>
        </p:spPr>
      </p:sp>
      <p:sp>
        <p:nvSpPr>
          <p:cNvPr id="18" name="Text 16"/>
          <p:cNvSpPr/>
          <p:nvPr/>
        </p:nvSpPr>
        <p:spPr>
          <a:xfrm>
            <a:off x="777240" y="3611880"/>
            <a:ext cx="34747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Inscribed Angle → Arc</a:t>
            </a:r>
            <a:endParaRPr lang="en-US" sz="1400" dirty="0"/>
          </a:p>
        </p:txBody>
      </p:sp>
      <p:sp>
        <p:nvSpPr>
          <p:cNvPr id="19" name="Text 17"/>
          <p:cNvSpPr/>
          <p:nvPr/>
        </p:nvSpPr>
        <p:spPr>
          <a:xfrm>
            <a:off x="777240" y="3931920"/>
            <a:ext cx="3474720" cy="5486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If you know an inscribed angle, the intercepted arc = 2 × (angle). If you know the arc, the inscribed angle = ½ × (arc).</a:t>
            </a:r>
            <a:endParaRPr lang="en-US" sz="1200" dirty="0"/>
          </a:p>
        </p:txBody>
      </p:sp>
      <p:sp>
        <p:nvSpPr>
          <p:cNvPr id="20" name="Shape 18"/>
          <p:cNvSpPr/>
          <p:nvPr/>
        </p:nvSpPr>
        <p:spPr>
          <a:xfrm>
            <a:off x="4800600" y="352044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1" name="Shape 19"/>
          <p:cNvSpPr/>
          <p:nvPr/>
        </p:nvSpPr>
        <p:spPr>
          <a:xfrm>
            <a:off x="4800600" y="3520440"/>
            <a:ext cx="54864" cy="1097280"/>
          </a:xfrm>
          <a:prstGeom prst="rect">
            <a:avLst/>
          </a:prstGeom>
          <a:solidFill>
            <a:srgbClr val="D4A843"/>
          </a:solidFill>
          <a:ln/>
        </p:spPr>
      </p:sp>
      <p:sp>
        <p:nvSpPr>
          <p:cNvPr id="22" name="Text 20"/>
          <p:cNvSpPr/>
          <p:nvPr/>
        </p:nvSpPr>
        <p:spPr>
          <a:xfrm>
            <a:off x="5029200" y="3611880"/>
            <a:ext cx="3474720" cy="27432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Diameter = 180° Arc</a:t>
            </a:r>
            <a:endParaRPr lang="en-US" sz="1400" dirty="0"/>
          </a:p>
        </p:txBody>
      </p:sp>
      <p:sp>
        <p:nvSpPr>
          <p:cNvPr id="23" name="Text 21"/>
          <p:cNvSpPr/>
          <p:nvPr/>
        </p:nvSpPr>
        <p:spPr>
          <a:xfrm>
            <a:off x="5029200" y="3931920"/>
            <a:ext cx="3474720" cy="5486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diameter divides the circle into two semicircles of 180° each. If AC is a diameter, then arc ABC = 180° and arc ADC = 180°.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Worked Example: Circle Angles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∠AED = 133° and arc AB = 52°. AC is a diameter (BD is not). Find ∠AEB, ∠ACB, and arc CD.</a:t>
            </a:r>
            <a:endParaRPr lang="en-US" sz="1400" dirty="0"/>
          </a:p>
        </p:txBody>
      </p:sp>
      <p:sp>
        <p:nvSpPr>
          <p:cNvPr id="7" name="Shape 5"/>
          <p:cNvSpPr/>
          <p:nvPr/>
        </p:nvSpPr>
        <p:spPr>
          <a:xfrm>
            <a:off x="548640" y="1737360"/>
            <a:ext cx="5303520" cy="29260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54864" cy="2926080"/>
          </a:xfrm>
          <a:prstGeom prst="rect">
            <a:avLst/>
          </a:prstGeom>
          <a:solidFill>
            <a:srgbClr val="1C7293"/>
          </a:solidFill>
          <a:ln/>
        </p:spPr>
      </p:sp>
      <p:sp>
        <p:nvSpPr>
          <p:cNvPr id="9" name="Text 7"/>
          <p:cNvSpPr/>
          <p:nvPr/>
        </p:nvSpPr>
        <p:spPr>
          <a:xfrm>
            <a:off x="777240" y="1874520"/>
            <a:ext cx="4846320" cy="2651760"/>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Part (a): Find ∠AEB</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∠AEB and ∠AED are supplementary (they form a straight line).</a:t>
            </a:r>
            <a:endParaRPr lang="en-US" sz="1250" dirty="0"/>
          </a:p>
          <a:p>
            <a:pPr indent="0" marL="0">
              <a:buNone/>
            </a:pPr>
            <a:r>
              <a:rPr lang="en-US" sz="1250" b="1" dirty="0">
                <a:solidFill>
                  <a:srgbClr val="3A3A3A"/>
                </a:solidFill>
                <a:latin typeface="Calibri" pitchFamily="34" charset="0"/>
                <a:ea typeface="Calibri" pitchFamily="34" charset="-122"/>
                <a:cs typeface="Calibri" pitchFamily="34" charset="-120"/>
              </a:rPr>
              <a:t>∠AEB = 180° − 133° = 47°</a:t>
            </a:r>
            <a:endParaRPr lang="en-US" sz="1250" dirty="0"/>
          </a:p>
          <a:p>
            <a:pPr indent="0" marL="0">
              <a:buNone/>
            </a:pPr>
            <a:endParaRPr lang="en-US" sz="1250" dirty="0"/>
          </a:p>
          <a:p>
            <a:pPr indent="0" marL="0">
              <a:buNone/>
            </a:pPr>
            <a:r>
              <a:rPr lang="en-US" sz="1250" b="1" dirty="0">
                <a:solidFill>
                  <a:srgbClr val="1C7293"/>
                </a:solidFill>
                <a:latin typeface="Calibri" pitchFamily="34" charset="0"/>
                <a:ea typeface="Calibri" pitchFamily="34" charset="-122"/>
                <a:cs typeface="Calibri" pitchFamily="34" charset="-120"/>
              </a:rPr>
              <a:t>Part (b): Find ∠ACB</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∠ACB is an inscribed angle that intercepts arc AB = 52°.</a:t>
            </a:r>
            <a:endParaRPr lang="en-US" sz="1250" dirty="0"/>
          </a:p>
          <a:p>
            <a:pPr indent="0" marL="0">
              <a:buNone/>
            </a:pPr>
            <a:r>
              <a:rPr lang="en-US" sz="1250" b="1" dirty="0">
                <a:solidFill>
                  <a:srgbClr val="3A3A3A"/>
                </a:solidFill>
                <a:latin typeface="Calibri" pitchFamily="34" charset="0"/>
                <a:ea typeface="Calibri" pitchFamily="34" charset="-122"/>
                <a:cs typeface="Calibri" pitchFamily="34" charset="-120"/>
              </a:rPr>
              <a:t>∠ACB = ½ × 52° = 26°</a:t>
            </a:r>
            <a:endParaRPr lang="en-US" sz="1250" dirty="0"/>
          </a:p>
          <a:p>
            <a:pPr indent="0" marL="0">
              <a:buNone/>
            </a:pPr>
            <a:endParaRPr lang="en-US" sz="1250" dirty="0"/>
          </a:p>
          <a:p>
            <a:pPr indent="0" marL="0">
              <a:buNone/>
            </a:pPr>
            <a:r>
              <a:rPr lang="en-US" sz="1250" b="1" dirty="0">
                <a:solidFill>
                  <a:srgbClr val="1C7293"/>
                </a:solidFill>
                <a:latin typeface="Calibri" pitchFamily="34" charset="0"/>
                <a:ea typeface="Calibri" pitchFamily="34" charset="-122"/>
                <a:cs typeface="Calibri" pitchFamily="34" charset="-120"/>
              </a:rPr>
              <a:t>Part (c): Find arc CD</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∠AED = 133° is formed by intersecting chords, so:</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133° = ½(arc AD + arc BC).  Since AC is a diameter:</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arc ABC = 180°  →  arc BC = 180° − 52° = 128°</a:t>
            </a:r>
            <a:endParaRPr lang="en-US" sz="1250" dirty="0"/>
          </a:p>
          <a:p>
            <a:pPr indent="0" marL="0">
              <a:buNone/>
            </a:pPr>
            <a:r>
              <a:rPr lang="en-US" sz="1250" dirty="0">
                <a:solidFill>
                  <a:srgbClr val="3A3A3A"/>
                </a:solidFill>
                <a:latin typeface="Calibri" pitchFamily="34" charset="0"/>
                <a:ea typeface="Calibri" pitchFamily="34" charset="-122"/>
                <a:cs typeface="Calibri" pitchFamily="34" charset="-120"/>
              </a:rPr>
              <a:t>So: 133° = ½(arc AD + 128°)  →  266° = arc AD + 128°</a:t>
            </a:r>
            <a:endParaRPr lang="en-US" sz="1250" dirty="0"/>
          </a:p>
          <a:p>
            <a:pPr indent="0" marL="0">
              <a:buNone/>
            </a:pPr>
            <a:r>
              <a:rPr lang="en-US" sz="1250" b="1" dirty="0">
                <a:solidFill>
                  <a:srgbClr val="3A3A3A"/>
                </a:solidFill>
                <a:latin typeface="Calibri" pitchFamily="34" charset="0"/>
                <a:ea typeface="Calibri" pitchFamily="34" charset="-122"/>
                <a:cs typeface="Calibri" pitchFamily="34" charset="-120"/>
              </a:rPr>
              <a:t>arc AD = 138°</a:t>
            </a:r>
            <a:endParaRPr lang="en-US" sz="1250" dirty="0"/>
          </a:p>
          <a:p>
            <a:pPr indent="0" marL="0">
              <a:buNone/>
            </a:pPr>
            <a:r>
              <a:rPr lang="en-US" sz="1250" b="1" dirty="0">
                <a:solidFill>
                  <a:srgbClr val="3A3A3A"/>
                </a:solidFill>
                <a:latin typeface="Calibri" pitchFamily="34" charset="0"/>
                <a:ea typeface="Calibri" pitchFamily="34" charset="-122"/>
                <a:cs typeface="Calibri" pitchFamily="34" charset="-120"/>
              </a:rPr>
              <a:t>arc ADC = 180° (semicircle)  →  arc CD = 180° − 138° = 42°</a:t>
            </a:r>
            <a:endParaRPr lang="en-US" sz="1250" dirty="0"/>
          </a:p>
        </p:txBody>
      </p:sp>
      <p:sp>
        <p:nvSpPr>
          <p:cNvPr id="10" name="Shape 8"/>
          <p:cNvSpPr/>
          <p:nvPr/>
        </p:nvSpPr>
        <p:spPr>
          <a:xfrm>
            <a:off x="6126480" y="1737360"/>
            <a:ext cx="2560320" cy="29260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1" name="Shape 9"/>
          <p:cNvSpPr/>
          <p:nvPr/>
        </p:nvSpPr>
        <p:spPr>
          <a:xfrm>
            <a:off x="6126480" y="1737360"/>
            <a:ext cx="2560320" cy="54864"/>
          </a:xfrm>
          <a:prstGeom prst="rect">
            <a:avLst/>
          </a:prstGeom>
          <a:solidFill>
            <a:srgbClr val="1E2761"/>
          </a:solidFill>
          <a:ln/>
        </p:spPr>
      </p:sp>
      <p:sp>
        <p:nvSpPr>
          <p:cNvPr id="12" name="Text 10"/>
          <p:cNvSpPr/>
          <p:nvPr/>
        </p:nvSpPr>
        <p:spPr>
          <a:xfrm>
            <a:off x="6263640" y="1920240"/>
            <a:ext cx="228600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Answers</a:t>
            </a:r>
            <a:endParaRPr lang="en-US" sz="1600" dirty="0"/>
          </a:p>
        </p:txBody>
      </p:sp>
      <p:sp>
        <p:nvSpPr>
          <p:cNvPr id="13" name="Text 11"/>
          <p:cNvSpPr/>
          <p:nvPr/>
        </p:nvSpPr>
        <p:spPr>
          <a:xfrm>
            <a:off x="6263640" y="2331720"/>
            <a:ext cx="2286000" cy="2194560"/>
          </a:xfrm>
          <a:prstGeom prst="rect">
            <a:avLst/>
          </a:prstGeom>
          <a:noFill/>
          <a:ln/>
        </p:spPr>
        <p:txBody>
          <a:bodyPr wrap="square" lIns="0" tIns="0" rIns="0" bIns="0" rtlCol="0" anchor="ctr"/>
          <a:lstStyle/>
          <a:p>
            <a:pPr indent="0" marL="0">
              <a:buNone/>
            </a:pPr>
            <a:r>
              <a:rPr lang="en-US" sz="1100" dirty="0">
                <a:solidFill>
                  <a:srgbClr val="F5F2EB"/>
                </a:solidFill>
                <a:latin typeface="Georgia" pitchFamily="34" charset="0"/>
                <a:ea typeface="Georgia" pitchFamily="34" charset="-122"/>
                <a:cs typeface="Georgia" pitchFamily="34" charset="-120"/>
              </a:rPr>
              <a:t>(a)  ∠AEB</a:t>
            </a:r>
            <a:endParaRPr lang="en-US" sz="1100" dirty="0"/>
          </a:p>
          <a:p>
            <a:pPr indent="0" marL="0">
              <a:buNone/>
            </a:pPr>
            <a:r>
              <a:rPr lang="en-US" sz="2200" b="1" dirty="0">
                <a:solidFill>
                  <a:srgbClr val="D4A843"/>
                </a:solidFill>
                <a:latin typeface="Georgia" pitchFamily="34" charset="0"/>
                <a:ea typeface="Georgia" pitchFamily="34" charset="-122"/>
                <a:cs typeface="Georgia" pitchFamily="34" charset="-120"/>
              </a:rPr>
              <a:t>= 47°</a:t>
            </a:r>
            <a:endParaRPr lang="en-US" sz="1100" dirty="0"/>
          </a:p>
          <a:p>
            <a:pPr indent="0" marL="0">
              <a:buNone/>
            </a:pPr>
            <a:endParaRPr lang="en-US" sz="1100" dirty="0"/>
          </a:p>
          <a:p>
            <a:pPr indent="0" marL="0">
              <a:buNone/>
            </a:pPr>
            <a:r>
              <a:rPr lang="en-US" sz="1100" dirty="0">
                <a:solidFill>
                  <a:srgbClr val="F5F2EB"/>
                </a:solidFill>
                <a:latin typeface="Georgia" pitchFamily="34" charset="0"/>
                <a:ea typeface="Georgia" pitchFamily="34" charset="-122"/>
                <a:cs typeface="Georgia" pitchFamily="34" charset="-120"/>
              </a:rPr>
              <a:t>(b)  ∠ACB</a:t>
            </a:r>
            <a:endParaRPr lang="en-US" sz="1100" dirty="0"/>
          </a:p>
          <a:p>
            <a:pPr indent="0" marL="0">
              <a:buNone/>
            </a:pPr>
            <a:r>
              <a:rPr lang="en-US" sz="2200" b="1" dirty="0">
                <a:solidFill>
                  <a:srgbClr val="D4A843"/>
                </a:solidFill>
                <a:latin typeface="Georgia" pitchFamily="34" charset="0"/>
                <a:ea typeface="Georgia" pitchFamily="34" charset="-122"/>
                <a:cs typeface="Georgia" pitchFamily="34" charset="-120"/>
              </a:rPr>
              <a:t>= 26°</a:t>
            </a:r>
            <a:endParaRPr lang="en-US" sz="1100" dirty="0"/>
          </a:p>
          <a:p>
            <a:pPr indent="0" marL="0">
              <a:buNone/>
            </a:pPr>
            <a:endParaRPr lang="en-US" sz="1100" dirty="0"/>
          </a:p>
          <a:p>
            <a:pPr indent="0" marL="0">
              <a:buNone/>
            </a:pPr>
            <a:r>
              <a:rPr lang="en-US" sz="1100" dirty="0">
                <a:solidFill>
                  <a:srgbClr val="F5F2EB"/>
                </a:solidFill>
                <a:latin typeface="Georgia" pitchFamily="34" charset="0"/>
                <a:ea typeface="Georgia" pitchFamily="34" charset="-122"/>
                <a:cs typeface="Georgia" pitchFamily="34" charset="-120"/>
              </a:rPr>
              <a:t>(c)  arc CD</a:t>
            </a:r>
            <a:endParaRPr lang="en-US" sz="1100" dirty="0"/>
          </a:p>
          <a:p>
            <a:pPr indent="0" marL="0">
              <a:buNone/>
            </a:pPr>
            <a:r>
              <a:rPr lang="en-US" sz="2200" b="1" dirty="0">
                <a:solidFill>
                  <a:srgbClr val="D4A843"/>
                </a:solidFill>
                <a:latin typeface="Georgia" pitchFamily="34" charset="0"/>
                <a:ea typeface="Georgia" pitchFamily="34" charset="-122"/>
                <a:cs typeface="Georgia" pitchFamily="34" charset="-120"/>
              </a:rPr>
              <a:t>= 42°</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Circumference &amp; Area</a:t>
            </a:r>
            <a:endParaRPr lang="en-US" sz="3600" dirty="0"/>
          </a:p>
        </p:txBody>
      </p:sp>
      <p:sp>
        <p:nvSpPr>
          <p:cNvPr id="4" name="Shape 2"/>
          <p:cNvSpPr/>
          <p:nvPr/>
        </p:nvSpPr>
        <p:spPr>
          <a:xfrm>
            <a:off x="548640" y="1051560"/>
            <a:ext cx="3931920" cy="2194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1051560"/>
            <a:ext cx="3931920" cy="54864"/>
          </a:xfrm>
          <a:prstGeom prst="rect">
            <a:avLst/>
          </a:prstGeom>
          <a:solidFill>
            <a:srgbClr val="1C7293"/>
          </a:solidFill>
          <a:ln/>
        </p:spPr>
      </p:sp>
      <p:sp>
        <p:nvSpPr>
          <p:cNvPr id="6" name="Text 4"/>
          <p:cNvSpPr/>
          <p:nvPr/>
        </p:nvSpPr>
        <p:spPr>
          <a:xfrm>
            <a:off x="731520" y="123444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Circumference</a:t>
            </a:r>
            <a:endParaRPr lang="en-US" sz="2000" dirty="0"/>
          </a:p>
        </p:txBody>
      </p:sp>
      <p:sp>
        <p:nvSpPr>
          <p:cNvPr id="7" name="Text 5"/>
          <p:cNvSpPr/>
          <p:nvPr/>
        </p:nvSpPr>
        <p:spPr>
          <a:xfrm>
            <a:off x="731520" y="1691640"/>
            <a:ext cx="3566160" cy="502920"/>
          </a:xfrm>
          <a:prstGeom prst="rect">
            <a:avLst/>
          </a:prstGeom>
          <a:noFill/>
          <a:ln/>
        </p:spPr>
        <p:txBody>
          <a:bodyPr wrap="square" lIns="0" tIns="0" rIns="0" bIns="0" rtlCol="0" anchor="ctr"/>
          <a:lstStyle/>
          <a:p>
            <a:pPr indent="0" marL="0">
              <a:buNone/>
            </a:pPr>
            <a:r>
              <a:rPr lang="en-US" sz="2800" b="1" dirty="0">
                <a:solidFill>
                  <a:srgbClr val="1C7293"/>
                </a:solidFill>
                <a:latin typeface="Georgia" pitchFamily="34" charset="0"/>
                <a:ea typeface="Georgia" pitchFamily="34" charset="-122"/>
                <a:cs typeface="Georgia" pitchFamily="34" charset="-120"/>
              </a:rPr>
              <a:t>C = πd = 2πr</a:t>
            </a:r>
            <a:endParaRPr lang="en-US" sz="2800" dirty="0"/>
          </a:p>
        </p:txBody>
      </p:sp>
      <p:sp>
        <p:nvSpPr>
          <p:cNvPr id="8" name="Text 6"/>
          <p:cNvSpPr/>
          <p:nvPr/>
        </p:nvSpPr>
        <p:spPr>
          <a:xfrm>
            <a:off x="731520" y="2286000"/>
            <a:ext cx="3566160" cy="7772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The distance around a circle. Use π ≈ 3.14159 for decimal answers, or leave in terms of π for exact answers.</a:t>
            </a:r>
            <a:endParaRPr lang="en-US" sz="1200" dirty="0"/>
          </a:p>
        </p:txBody>
      </p:sp>
      <p:sp>
        <p:nvSpPr>
          <p:cNvPr id="9" name="Shape 7"/>
          <p:cNvSpPr/>
          <p:nvPr/>
        </p:nvSpPr>
        <p:spPr>
          <a:xfrm>
            <a:off x="4800600" y="1051560"/>
            <a:ext cx="3931920" cy="21945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Shape 8"/>
          <p:cNvSpPr/>
          <p:nvPr/>
        </p:nvSpPr>
        <p:spPr>
          <a:xfrm>
            <a:off x="4800600" y="1051560"/>
            <a:ext cx="3931920" cy="54864"/>
          </a:xfrm>
          <a:prstGeom prst="rect">
            <a:avLst/>
          </a:prstGeom>
          <a:solidFill>
            <a:srgbClr val="D4A843"/>
          </a:solidFill>
          <a:ln/>
        </p:spPr>
      </p:sp>
      <p:sp>
        <p:nvSpPr>
          <p:cNvPr id="11" name="Text 9"/>
          <p:cNvSpPr/>
          <p:nvPr/>
        </p:nvSpPr>
        <p:spPr>
          <a:xfrm>
            <a:off x="4983480" y="1234440"/>
            <a:ext cx="3566160" cy="36576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Area</a:t>
            </a:r>
            <a:endParaRPr lang="en-US" sz="2000" dirty="0"/>
          </a:p>
        </p:txBody>
      </p:sp>
      <p:sp>
        <p:nvSpPr>
          <p:cNvPr id="12" name="Text 10"/>
          <p:cNvSpPr/>
          <p:nvPr/>
        </p:nvSpPr>
        <p:spPr>
          <a:xfrm>
            <a:off x="4983480" y="1691640"/>
            <a:ext cx="3566160" cy="502920"/>
          </a:xfrm>
          <a:prstGeom prst="rect">
            <a:avLst/>
          </a:prstGeom>
          <a:noFill/>
          <a:ln/>
        </p:spPr>
        <p:txBody>
          <a:bodyPr wrap="square" lIns="0" tIns="0" rIns="0" bIns="0" rtlCol="0" anchor="ctr"/>
          <a:lstStyle/>
          <a:p>
            <a:pPr indent="0" marL="0">
              <a:buNone/>
            </a:pPr>
            <a:r>
              <a:rPr lang="en-US" sz="2800" b="1" dirty="0">
                <a:solidFill>
                  <a:srgbClr val="D4A843"/>
                </a:solidFill>
                <a:latin typeface="Georgia" pitchFamily="34" charset="0"/>
                <a:ea typeface="Georgia" pitchFamily="34" charset="-122"/>
                <a:cs typeface="Georgia" pitchFamily="34" charset="-120"/>
              </a:rPr>
              <a:t>A = πr²</a:t>
            </a:r>
            <a:endParaRPr lang="en-US" sz="2800" dirty="0"/>
          </a:p>
        </p:txBody>
      </p:sp>
      <p:sp>
        <p:nvSpPr>
          <p:cNvPr id="13" name="Text 11"/>
          <p:cNvSpPr/>
          <p:nvPr/>
        </p:nvSpPr>
        <p:spPr>
          <a:xfrm>
            <a:off x="4983480" y="2286000"/>
            <a:ext cx="3566160" cy="7772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The area enclosed by the circle. Always use the radius (not the diameter) in this formula.</a:t>
            </a:r>
            <a:endParaRPr lang="en-US" sz="1200" dirty="0"/>
          </a:p>
        </p:txBody>
      </p:sp>
      <p:sp>
        <p:nvSpPr>
          <p:cNvPr id="14" name="Shape 12"/>
          <p:cNvSpPr/>
          <p:nvPr/>
        </p:nvSpPr>
        <p:spPr>
          <a:xfrm>
            <a:off x="548640" y="3474720"/>
            <a:ext cx="822960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5" name="Shape 13"/>
          <p:cNvSpPr/>
          <p:nvPr/>
        </p:nvSpPr>
        <p:spPr>
          <a:xfrm>
            <a:off x="548640" y="3474720"/>
            <a:ext cx="54864" cy="1097280"/>
          </a:xfrm>
          <a:prstGeom prst="rect">
            <a:avLst/>
          </a:prstGeom>
          <a:solidFill>
            <a:srgbClr val="1C7293"/>
          </a:solidFill>
          <a:ln/>
        </p:spPr>
      </p:sp>
      <p:sp>
        <p:nvSpPr>
          <p:cNvPr id="16" name="Text 14"/>
          <p:cNvSpPr/>
          <p:nvPr/>
        </p:nvSpPr>
        <p:spPr>
          <a:xfrm>
            <a:off x="777240" y="3566160"/>
            <a:ext cx="320040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Example: Circumference</a:t>
            </a:r>
            <a:endParaRPr lang="en-US" sz="1400" dirty="0"/>
          </a:p>
        </p:txBody>
      </p:sp>
      <p:sp>
        <p:nvSpPr>
          <p:cNvPr id="17" name="Text 15"/>
          <p:cNvSpPr/>
          <p:nvPr/>
        </p:nvSpPr>
        <p:spPr>
          <a:xfrm>
            <a:off x="777240" y="3886200"/>
            <a:ext cx="7772400" cy="5486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Find the circumference for r = 1, r = 5, r = π/2, and r = 7.6.</a:t>
            </a:r>
            <a:endParaRPr lang="en-US" sz="1200" dirty="0"/>
          </a:p>
          <a:p>
            <a:pPr indent="0" marL="0">
              <a:buNone/>
            </a:pPr>
            <a:r>
              <a:rPr lang="en-US" sz="1200" dirty="0">
                <a:solidFill>
                  <a:srgbClr val="3A3A3A"/>
                </a:solidFill>
                <a:latin typeface="Calibri" pitchFamily="34" charset="0"/>
                <a:ea typeface="Calibri" pitchFamily="34" charset="-122"/>
                <a:cs typeface="Calibri" pitchFamily="34" charset="-120"/>
              </a:rPr>
              <a:t>Solutions:  C = 2π,  C = 10π,  C = π²,  C ≈ 47.752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A7B8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Text 1"/>
          <p:cNvSpPr/>
          <p:nvPr/>
        </p:nvSpPr>
        <p:spPr>
          <a:xfrm>
            <a:off x="640080" y="914400"/>
            <a:ext cx="5486400" cy="365760"/>
          </a:xfrm>
          <a:prstGeom prst="rect">
            <a:avLst/>
          </a:prstGeom>
          <a:noFill/>
          <a:ln/>
        </p:spPr>
        <p:txBody>
          <a:bodyPr wrap="square" lIns="0" tIns="0" rIns="0" bIns="0" rtlCol="0" anchor="ctr"/>
          <a:lstStyle/>
          <a:p>
            <a:pPr indent="0" marL="0">
              <a:buNone/>
            </a:pPr>
            <a:r>
              <a:rPr lang="en-US" sz="1400" spc="300" kern="0" dirty="0">
                <a:solidFill>
                  <a:srgbClr val="5AB8B8"/>
                </a:solidFill>
                <a:latin typeface="Calibri" pitchFamily="34" charset="0"/>
                <a:ea typeface="Calibri" pitchFamily="34" charset="-122"/>
                <a:cs typeface="Calibri" pitchFamily="34" charset="-120"/>
              </a:rPr>
              <a:t>S E C T I O N   2</a:t>
            </a:r>
            <a:endParaRPr lang="en-US" sz="1400" dirty="0"/>
          </a:p>
        </p:txBody>
      </p:sp>
      <p:sp>
        <p:nvSpPr>
          <p:cNvPr id="4" name="Text 2"/>
          <p:cNvSpPr/>
          <p:nvPr/>
        </p:nvSpPr>
        <p:spPr>
          <a:xfrm>
            <a:off x="640080" y="1554480"/>
            <a:ext cx="7315200" cy="164592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Angle Measure</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&amp; Arc Length</a:t>
            </a:r>
            <a:endParaRPr lang="en-US" sz="4800" dirty="0"/>
          </a:p>
        </p:txBody>
      </p:sp>
      <p:sp>
        <p:nvSpPr>
          <p:cNvPr id="5" name="Shape 3"/>
          <p:cNvSpPr/>
          <p:nvPr/>
        </p:nvSpPr>
        <p:spPr>
          <a:xfrm>
            <a:off x="640080" y="3337560"/>
            <a:ext cx="2743200" cy="0"/>
          </a:xfrm>
          <a:prstGeom prst="line">
            <a:avLst/>
          </a:prstGeom>
          <a:noFill/>
          <a:ln w="38100">
            <a:solidFill>
              <a:srgbClr val="D4A843"/>
            </a:solidFill>
            <a:prstDash val="solid"/>
          </a:ln>
        </p:spPr>
      </p:sp>
      <p:sp>
        <p:nvSpPr>
          <p:cNvPr id="6" name="Text 4"/>
          <p:cNvSpPr/>
          <p:nvPr/>
        </p:nvSpPr>
        <p:spPr>
          <a:xfrm>
            <a:off x="640080" y="3566160"/>
            <a:ext cx="7315200" cy="457200"/>
          </a:xfrm>
          <a:prstGeom prst="rect">
            <a:avLst/>
          </a:prstGeom>
          <a:noFill/>
          <a:ln/>
        </p:spPr>
        <p:txBody>
          <a:bodyPr wrap="square" lIns="0" tIns="0" rIns="0" bIns="0" rtlCol="0" anchor="ctr"/>
          <a:lstStyle/>
          <a:p>
            <a:pPr indent="0" marL="0">
              <a:buNone/>
            </a:pPr>
            <a:r>
              <a:rPr lang="en-US" sz="1400" i="1" dirty="0">
                <a:solidFill>
                  <a:srgbClr val="F5F2EB"/>
                </a:solidFill>
                <a:latin typeface="Calibri" pitchFamily="34" charset="0"/>
                <a:ea typeface="Calibri" pitchFamily="34" charset="-122"/>
                <a:cs typeface="Calibri" pitchFamily="34" charset="-120"/>
              </a:rPr>
              <a:t>DMS notation, radians, degree–radian conversion, arc length, and sector area formulas.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Degrees, Minutes &amp; Seconds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Angles in navigation and surveying often use DMS (degrees-minutes-seconds) notation. 1° = 60′ (minutes), 1′ = 60″ (seconds).</a:t>
            </a:r>
            <a:endParaRPr lang="en-US" sz="1400" dirty="0"/>
          </a:p>
        </p:txBody>
      </p:sp>
      <p:sp>
        <p:nvSpPr>
          <p:cNvPr id="7" name="Shape 5"/>
          <p:cNvSpPr/>
          <p:nvPr/>
        </p:nvSpPr>
        <p:spPr>
          <a:xfrm>
            <a:off x="548640" y="1737360"/>
            <a:ext cx="393192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3931920" cy="54864"/>
          </a:xfrm>
          <a:prstGeom prst="rect">
            <a:avLst/>
          </a:prstGeom>
          <a:solidFill>
            <a:srgbClr val="1C7293"/>
          </a:solidFill>
          <a:ln/>
        </p:spPr>
      </p:sp>
      <p:sp>
        <p:nvSpPr>
          <p:cNvPr id="9" name="Text 7"/>
          <p:cNvSpPr/>
          <p:nvPr/>
        </p:nvSpPr>
        <p:spPr>
          <a:xfrm>
            <a:off x="731520" y="1874520"/>
            <a:ext cx="3566160" cy="274320"/>
          </a:xfrm>
          <a:prstGeom prst="rect">
            <a:avLst/>
          </a:prstGeom>
          <a:noFill/>
          <a:ln/>
        </p:spPr>
        <p:txBody>
          <a:bodyPr wrap="square" lIns="0" tIns="0" rIns="0" bIns="0" rtlCol="0" anchor="ctr"/>
          <a:lstStyle/>
          <a:p>
            <a:pPr indent="0" marL="0">
              <a:buNone/>
            </a:pPr>
            <a:r>
              <a:rPr lang="en-US" sz="1600" b="1" dirty="0">
                <a:solidFill>
                  <a:srgbClr val="1B3A4B"/>
                </a:solidFill>
                <a:latin typeface="Georgia" pitchFamily="34" charset="0"/>
                <a:ea typeface="Georgia" pitchFamily="34" charset="-122"/>
                <a:cs typeface="Georgia" pitchFamily="34" charset="-120"/>
              </a:rPr>
              <a:t>DMS → Decimal Degrees</a:t>
            </a:r>
            <a:endParaRPr lang="en-US" sz="1600" dirty="0"/>
          </a:p>
        </p:txBody>
      </p:sp>
      <p:sp>
        <p:nvSpPr>
          <p:cNvPr id="10" name="Text 8"/>
          <p:cNvSpPr/>
          <p:nvPr/>
        </p:nvSpPr>
        <p:spPr>
          <a:xfrm>
            <a:off x="731520" y="2194560"/>
            <a:ext cx="3566160" cy="320040"/>
          </a:xfrm>
          <a:prstGeom prst="rect">
            <a:avLst/>
          </a:prstGeom>
          <a:noFill/>
          <a:ln/>
        </p:spPr>
        <p:txBody>
          <a:bodyPr wrap="square" lIns="0" tIns="0" rIns="0" bIns="0"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Decimal = D + M/60 + S/3600</a:t>
            </a:r>
            <a:endParaRPr lang="en-US" sz="1800" dirty="0"/>
          </a:p>
        </p:txBody>
      </p:sp>
      <p:sp>
        <p:nvSpPr>
          <p:cNvPr id="11" name="Text 9"/>
          <p:cNvSpPr/>
          <p:nvPr/>
        </p:nvSpPr>
        <p:spPr>
          <a:xfrm>
            <a:off x="731520" y="2560320"/>
            <a:ext cx="3566160" cy="41148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Divide minutes by 60 and seconds by 3600, then add all three parts together.</a:t>
            </a:r>
            <a:endParaRPr lang="en-US" sz="1200" dirty="0"/>
          </a:p>
        </p:txBody>
      </p:sp>
      <p:sp>
        <p:nvSpPr>
          <p:cNvPr id="12" name="Shape 10"/>
          <p:cNvSpPr/>
          <p:nvPr/>
        </p:nvSpPr>
        <p:spPr>
          <a:xfrm>
            <a:off x="4800600" y="1737360"/>
            <a:ext cx="393192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3" name="Shape 11"/>
          <p:cNvSpPr/>
          <p:nvPr/>
        </p:nvSpPr>
        <p:spPr>
          <a:xfrm>
            <a:off x="4800600" y="1737360"/>
            <a:ext cx="3931920" cy="54864"/>
          </a:xfrm>
          <a:prstGeom prst="rect">
            <a:avLst/>
          </a:prstGeom>
          <a:solidFill>
            <a:srgbClr val="D4A843"/>
          </a:solidFill>
          <a:ln/>
        </p:spPr>
      </p:sp>
      <p:sp>
        <p:nvSpPr>
          <p:cNvPr id="14" name="Text 12"/>
          <p:cNvSpPr/>
          <p:nvPr/>
        </p:nvSpPr>
        <p:spPr>
          <a:xfrm>
            <a:off x="4983480" y="1874520"/>
            <a:ext cx="3566160" cy="274320"/>
          </a:xfrm>
          <a:prstGeom prst="rect">
            <a:avLst/>
          </a:prstGeom>
          <a:noFill/>
          <a:ln/>
        </p:spPr>
        <p:txBody>
          <a:bodyPr wrap="square" lIns="0" tIns="0" rIns="0" bIns="0" rtlCol="0" anchor="ctr"/>
          <a:lstStyle/>
          <a:p>
            <a:pPr indent="0" marL="0">
              <a:buNone/>
            </a:pPr>
            <a:r>
              <a:rPr lang="en-US" sz="1600" b="1" dirty="0">
                <a:solidFill>
                  <a:srgbClr val="1B3A4B"/>
                </a:solidFill>
                <a:latin typeface="Georgia" pitchFamily="34" charset="0"/>
                <a:ea typeface="Georgia" pitchFamily="34" charset="-122"/>
                <a:cs typeface="Georgia" pitchFamily="34" charset="-120"/>
              </a:rPr>
              <a:t>Decimal → DMS</a:t>
            </a:r>
            <a:endParaRPr lang="en-US" sz="1600" dirty="0"/>
          </a:p>
        </p:txBody>
      </p:sp>
      <p:sp>
        <p:nvSpPr>
          <p:cNvPr id="15" name="Text 13"/>
          <p:cNvSpPr/>
          <p:nvPr/>
        </p:nvSpPr>
        <p:spPr>
          <a:xfrm>
            <a:off x="4983480" y="2240280"/>
            <a:ext cx="3566160" cy="77724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1. Whole part = degrees</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2. Decimal × 60 → whole part = minutes</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3. Remaining decimal × 60 = seconds</a:t>
            </a:r>
            <a:endParaRPr lang="en-US" sz="1300" dirty="0"/>
          </a:p>
        </p:txBody>
      </p:sp>
      <p:sp>
        <p:nvSpPr>
          <p:cNvPr id="16" name="Shape 14"/>
          <p:cNvSpPr/>
          <p:nvPr/>
        </p:nvSpPr>
        <p:spPr>
          <a:xfrm>
            <a:off x="548640" y="3337560"/>
            <a:ext cx="393192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7" name="Shape 15"/>
          <p:cNvSpPr/>
          <p:nvPr/>
        </p:nvSpPr>
        <p:spPr>
          <a:xfrm>
            <a:off x="548640" y="3337560"/>
            <a:ext cx="54864" cy="1371600"/>
          </a:xfrm>
          <a:prstGeom prst="rect">
            <a:avLst/>
          </a:prstGeom>
          <a:solidFill>
            <a:srgbClr val="1C7293"/>
          </a:solidFill>
          <a:ln/>
        </p:spPr>
      </p:sp>
      <p:sp>
        <p:nvSpPr>
          <p:cNvPr id="18" name="Text 16"/>
          <p:cNvSpPr/>
          <p:nvPr/>
        </p:nvSpPr>
        <p:spPr>
          <a:xfrm>
            <a:off x="777240" y="3429000"/>
            <a:ext cx="34747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Example: 37°41′11″ → Decimal</a:t>
            </a:r>
            <a:endParaRPr lang="en-US" sz="1400" dirty="0"/>
          </a:p>
        </p:txBody>
      </p:sp>
      <p:sp>
        <p:nvSpPr>
          <p:cNvPr id="19" name="Text 17"/>
          <p:cNvSpPr/>
          <p:nvPr/>
        </p:nvSpPr>
        <p:spPr>
          <a:xfrm>
            <a:off x="777240" y="3749040"/>
            <a:ext cx="3474720" cy="82296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 37 + 41/60 + 11/3600</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 37 + 0.6833 + 0.003056</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 37.6864°</a:t>
            </a:r>
            <a:endParaRPr lang="en-US" sz="1300" dirty="0"/>
          </a:p>
        </p:txBody>
      </p:sp>
      <p:sp>
        <p:nvSpPr>
          <p:cNvPr id="20" name="Shape 18"/>
          <p:cNvSpPr/>
          <p:nvPr/>
        </p:nvSpPr>
        <p:spPr>
          <a:xfrm>
            <a:off x="4800600" y="3337560"/>
            <a:ext cx="393192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1" name="Shape 19"/>
          <p:cNvSpPr/>
          <p:nvPr/>
        </p:nvSpPr>
        <p:spPr>
          <a:xfrm>
            <a:off x="4800600" y="3337560"/>
            <a:ext cx="54864" cy="1371600"/>
          </a:xfrm>
          <a:prstGeom prst="rect">
            <a:avLst/>
          </a:prstGeom>
          <a:solidFill>
            <a:srgbClr val="D4A843"/>
          </a:solidFill>
          <a:ln/>
        </p:spPr>
      </p:sp>
      <p:sp>
        <p:nvSpPr>
          <p:cNvPr id="22" name="Text 20"/>
          <p:cNvSpPr/>
          <p:nvPr/>
        </p:nvSpPr>
        <p:spPr>
          <a:xfrm>
            <a:off x="5029200" y="3429000"/>
            <a:ext cx="3474720" cy="27432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Example: 36.3492° → DMS</a:t>
            </a:r>
            <a:endParaRPr lang="en-US" sz="1400" dirty="0"/>
          </a:p>
        </p:txBody>
      </p:sp>
      <p:sp>
        <p:nvSpPr>
          <p:cNvPr id="23" name="Text 21"/>
          <p:cNvSpPr/>
          <p:nvPr/>
        </p:nvSpPr>
        <p:spPr>
          <a:xfrm>
            <a:off x="5029200" y="3749040"/>
            <a:ext cx="3474720" cy="82296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D = 36°.  0.3492 × 60 = 20.952 → M = 20′</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0.952 × 60 = 57.12 → S ≈ 57″</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Result: 36°20′57″</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Degrees &amp; Radians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If a central angle intercepts an arc equal in length to the radius, that angle measures exactly 1 radian. The radius can be marked off along the circumference approximately 2π ≈ 6.28 times.</a:t>
            </a:r>
            <a:endParaRPr lang="en-US" sz="1400" dirty="0"/>
          </a:p>
        </p:txBody>
      </p:sp>
      <p:sp>
        <p:nvSpPr>
          <p:cNvPr id="7" name="Shape 5"/>
          <p:cNvSpPr/>
          <p:nvPr/>
        </p:nvSpPr>
        <p:spPr>
          <a:xfrm>
            <a:off x="548640" y="1737360"/>
            <a:ext cx="347472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3474720" cy="54864"/>
          </a:xfrm>
          <a:prstGeom prst="rect">
            <a:avLst/>
          </a:prstGeom>
          <a:solidFill>
            <a:srgbClr val="1C7293"/>
          </a:solidFill>
          <a:ln/>
        </p:spPr>
      </p:sp>
      <p:sp>
        <p:nvSpPr>
          <p:cNvPr id="9" name="Text 7"/>
          <p:cNvSpPr/>
          <p:nvPr/>
        </p:nvSpPr>
        <p:spPr>
          <a:xfrm>
            <a:off x="731520" y="1874520"/>
            <a:ext cx="3108960" cy="320040"/>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Key Relationship</a:t>
            </a:r>
            <a:endParaRPr lang="en-US" sz="1600" dirty="0"/>
          </a:p>
        </p:txBody>
      </p:sp>
      <p:sp>
        <p:nvSpPr>
          <p:cNvPr id="10" name="Text 8"/>
          <p:cNvSpPr/>
          <p:nvPr/>
        </p:nvSpPr>
        <p:spPr>
          <a:xfrm>
            <a:off x="731520" y="2240280"/>
            <a:ext cx="3108960" cy="777240"/>
          </a:xfrm>
          <a:prstGeom prst="rect">
            <a:avLst/>
          </a:prstGeom>
          <a:noFill/>
          <a:ln/>
        </p:spPr>
        <p:txBody>
          <a:bodyPr wrap="square" lIns="0" tIns="0" rIns="0" bIns="0" rtlCol="0" anchor="ctr"/>
          <a:lstStyle/>
          <a:p>
            <a:pPr indent="0" marL="0">
              <a:buNone/>
            </a:pPr>
            <a:r>
              <a:rPr lang="en-US" sz="2000" b="1" dirty="0">
                <a:solidFill>
                  <a:srgbClr val="1B3A4B"/>
                </a:solidFill>
                <a:latin typeface="Georgia" pitchFamily="34" charset="0"/>
                <a:ea typeface="Georgia" pitchFamily="34" charset="-122"/>
                <a:cs typeface="Georgia" pitchFamily="34" charset="-120"/>
              </a:rPr>
              <a:t>2π rad = 360°</a:t>
            </a:r>
            <a:endParaRPr lang="en-US" sz="2000" dirty="0"/>
          </a:p>
          <a:p>
            <a:pPr indent="0" marL="0">
              <a:buNone/>
            </a:pPr>
            <a:r>
              <a:rPr lang="en-US" sz="2000" b="1" dirty="0">
                <a:solidFill>
                  <a:srgbClr val="1B3A4B"/>
                </a:solidFill>
                <a:latin typeface="Georgia" pitchFamily="34" charset="0"/>
                <a:ea typeface="Georgia" pitchFamily="34" charset="-122"/>
                <a:cs typeface="Georgia" pitchFamily="34" charset="-120"/>
              </a:rPr>
              <a:t>π rad = 180°</a:t>
            </a:r>
            <a:endParaRPr lang="en-US" sz="2000" dirty="0"/>
          </a:p>
        </p:txBody>
      </p:sp>
      <p:sp>
        <p:nvSpPr>
          <p:cNvPr id="11" name="Shape 9"/>
          <p:cNvSpPr/>
          <p:nvPr/>
        </p:nvSpPr>
        <p:spPr>
          <a:xfrm>
            <a:off x="4206240" y="1737360"/>
            <a:ext cx="228600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4206240" y="1737360"/>
            <a:ext cx="2286000" cy="54864"/>
          </a:xfrm>
          <a:prstGeom prst="rect">
            <a:avLst/>
          </a:prstGeom>
          <a:solidFill>
            <a:srgbClr val="D4A843"/>
          </a:solidFill>
          <a:ln/>
        </p:spPr>
      </p:sp>
      <p:sp>
        <p:nvSpPr>
          <p:cNvPr id="13" name="Text 11"/>
          <p:cNvSpPr/>
          <p:nvPr/>
        </p:nvSpPr>
        <p:spPr>
          <a:xfrm>
            <a:off x="4343400" y="1874520"/>
            <a:ext cx="2011680" cy="320040"/>
          </a:xfrm>
          <a:prstGeom prst="rect">
            <a:avLst/>
          </a:prstGeom>
          <a:noFill/>
          <a:ln/>
        </p:spPr>
        <p:txBody>
          <a:bodyPr wrap="square" lIns="0" tIns="0" rIns="0" bIns="0" rtlCol="0" anchor="ctr"/>
          <a:lstStyle/>
          <a:p>
            <a:pPr indent="0" marL="0">
              <a:buNone/>
            </a:pPr>
            <a:r>
              <a:rPr lang="en-US" sz="1300" b="1" dirty="0">
                <a:solidFill>
                  <a:srgbClr val="D4A843"/>
                </a:solidFill>
                <a:latin typeface="Calibri" pitchFamily="34" charset="0"/>
                <a:ea typeface="Calibri" pitchFamily="34" charset="-122"/>
                <a:cs typeface="Calibri" pitchFamily="34" charset="-120"/>
              </a:rPr>
              <a:t>Degrees → Radians</a:t>
            </a:r>
            <a:endParaRPr lang="en-US" sz="1300" dirty="0"/>
          </a:p>
        </p:txBody>
      </p:sp>
      <p:sp>
        <p:nvSpPr>
          <p:cNvPr id="14" name="Text 12"/>
          <p:cNvSpPr/>
          <p:nvPr/>
        </p:nvSpPr>
        <p:spPr>
          <a:xfrm>
            <a:off x="4343400" y="2286000"/>
            <a:ext cx="2011680" cy="640080"/>
          </a:xfrm>
          <a:prstGeom prst="rect">
            <a:avLst/>
          </a:prstGeom>
          <a:noFill/>
          <a:ln/>
        </p:spPr>
        <p:txBody>
          <a:bodyPr wrap="square" lIns="0" tIns="0" rIns="0" bIns="0" rtlCol="0" anchor="ctr"/>
          <a:lstStyle/>
          <a:p>
            <a:pPr indent="0" marL="0">
              <a:buNone/>
            </a:pPr>
            <a:r>
              <a:rPr lang="en-US" sz="1400" dirty="0">
                <a:solidFill>
                  <a:srgbClr val="3A3A3A"/>
                </a:solidFill>
                <a:latin typeface="Calibri" pitchFamily="34" charset="0"/>
                <a:ea typeface="Calibri" pitchFamily="34" charset="-122"/>
                <a:cs typeface="Calibri" pitchFamily="34" charset="-120"/>
              </a:rPr>
              <a:t>Multiply by π</a:t>
            </a: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Divide by 180</a:t>
            </a:r>
            <a:endParaRPr lang="en-US" sz="1400" dirty="0"/>
          </a:p>
        </p:txBody>
      </p:sp>
      <p:sp>
        <p:nvSpPr>
          <p:cNvPr id="15" name="Shape 13"/>
          <p:cNvSpPr/>
          <p:nvPr/>
        </p:nvSpPr>
        <p:spPr>
          <a:xfrm>
            <a:off x="6675120" y="1737360"/>
            <a:ext cx="2286000" cy="13716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6" name="Shape 14"/>
          <p:cNvSpPr/>
          <p:nvPr/>
        </p:nvSpPr>
        <p:spPr>
          <a:xfrm>
            <a:off x="6675120" y="1737360"/>
            <a:ext cx="2286000" cy="54864"/>
          </a:xfrm>
          <a:prstGeom prst="rect">
            <a:avLst/>
          </a:prstGeom>
          <a:solidFill>
            <a:srgbClr val="1C7293"/>
          </a:solidFill>
          <a:ln/>
        </p:spPr>
      </p:sp>
      <p:sp>
        <p:nvSpPr>
          <p:cNvPr id="17" name="Text 15"/>
          <p:cNvSpPr/>
          <p:nvPr/>
        </p:nvSpPr>
        <p:spPr>
          <a:xfrm>
            <a:off x="6812280" y="1874520"/>
            <a:ext cx="201168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Radians → Degrees</a:t>
            </a:r>
            <a:endParaRPr lang="en-US" sz="1300" dirty="0"/>
          </a:p>
        </p:txBody>
      </p:sp>
      <p:sp>
        <p:nvSpPr>
          <p:cNvPr id="18" name="Text 16"/>
          <p:cNvSpPr/>
          <p:nvPr/>
        </p:nvSpPr>
        <p:spPr>
          <a:xfrm>
            <a:off x="6812280" y="2286000"/>
            <a:ext cx="2011680" cy="640080"/>
          </a:xfrm>
          <a:prstGeom prst="rect">
            <a:avLst/>
          </a:prstGeom>
          <a:noFill/>
          <a:ln/>
        </p:spPr>
        <p:txBody>
          <a:bodyPr wrap="square" lIns="0" tIns="0" rIns="0" bIns="0" rtlCol="0" anchor="ctr"/>
          <a:lstStyle/>
          <a:p>
            <a:pPr indent="0" marL="0">
              <a:buNone/>
            </a:pPr>
            <a:r>
              <a:rPr lang="en-US" sz="1400" dirty="0">
                <a:solidFill>
                  <a:srgbClr val="3A3A3A"/>
                </a:solidFill>
                <a:latin typeface="Calibri" pitchFamily="34" charset="0"/>
                <a:ea typeface="Calibri" pitchFamily="34" charset="-122"/>
                <a:cs typeface="Calibri" pitchFamily="34" charset="-120"/>
              </a:rPr>
              <a:t>Multiply by 180</a:t>
            </a: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Divide by π</a:t>
            </a:r>
            <a:endParaRPr lang="en-US" sz="1400" dirty="0"/>
          </a:p>
        </p:txBody>
      </p:sp>
      <p:sp>
        <p:nvSpPr>
          <p:cNvPr id="19" name="Shape 17"/>
          <p:cNvSpPr/>
          <p:nvPr/>
        </p:nvSpPr>
        <p:spPr>
          <a:xfrm>
            <a:off x="457200" y="4434840"/>
            <a:ext cx="8229600" cy="502920"/>
          </a:xfrm>
          <a:prstGeom prst="rect">
            <a:avLst/>
          </a:prstGeom>
          <a:solidFill>
            <a:srgbClr val="1E2761"/>
          </a:solidFill>
          <a:ln/>
        </p:spPr>
      </p:sp>
      <p:sp>
        <p:nvSpPr>
          <p:cNvPr id="20" name="Text 18"/>
          <p:cNvSpPr/>
          <p:nvPr/>
        </p:nvSpPr>
        <p:spPr>
          <a:xfrm>
            <a:off x="640080" y="4434840"/>
            <a:ext cx="786384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One radian ≈ 57.296°. Think of it as the angle that "unwraps" one radius-length of arc.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Conversion Examples</a:t>
            </a:r>
            <a:endParaRPr lang="en-US" sz="3600" dirty="0"/>
          </a:p>
        </p:txBody>
      </p:sp>
      <p:sp>
        <p:nvSpPr>
          <p:cNvPr id="4" name="Shape 2"/>
          <p:cNvSpPr/>
          <p:nvPr/>
        </p:nvSpPr>
        <p:spPr>
          <a:xfrm>
            <a:off x="548640" y="1005840"/>
            <a:ext cx="3977640" cy="2560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1005840"/>
            <a:ext cx="3977640" cy="54864"/>
          </a:xfrm>
          <a:prstGeom prst="rect">
            <a:avLst/>
          </a:prstGeom>
          <a:solidFill>
            <a:srgbClr val="1C7293"/>
          </a:solidFill>
          <a:ln/>
        </p:spPr>
      </p:sp>
      <p:sp>
        <p:nvSpPr>
          <p:cNvPr id="6" name="Text 4"/>
          <p:cNvSpPr/>
          <p:nvPr/>
        </p:nvSpPr>
        <p:spPr>
          <a:xfrm>
            <a:off x="731520" y="1143000"/>
            <a:ext cx="3657600" cy="320040"/>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Radians → Degrees</a:t>
            </a:r>
            <a:endParaRPr lang="en-US" sz="1600" dirty="0"/>
          </a:p>
        </p:txBody>
      </p:sp>
      <p:sp>
        <p:nvSpPr>
          <p:cNvPr id="7" name="Text 5"/>
          <p:cNvSpPr/>
          <p:nvPr/>
        </p:nvSpPr>
        <p:spPr>
          <a:xfrm>
            <a:off x="731520" y="1554480"/>
            <a:ext cx="3657600" cy="1828800"/>
          </a:xfrm>
          <a:prstGeom prst="rect">
            <a:avLst/>
          </a:prstGeom>
          <a:noFill/>
          <a:ln/>
        </p:spPr>
        <p:txBody>
          <a:bodyPr wrap="square" lIns="0" tIns="0" rIns="0" bIns="0" rtlCol="0" anchor="ctr"/>
          <a:lstStyle/>
          <a:p>
            <a:pPr indent="0" marL="0">
              <a:buNone/>
            </a:pPr>
            <a:r>
              <a:rPr lang="en-US" sz="1400" dirty="0">
                <a:solidFill>
                  <a:srgbClr val="3A3A3A"/>
                </a:solidFill>
                <a:latin typeface="Calibri" pitchFamily="34" charset="0"/>
                <a:ea typeface="Calibri" pitchFamily="34" charset="-122"/>
                <a:cs typeface="Calibri" pitchFamily="34" charset="-120"/>
              </a:rPr>
              <a:t>π/6  →  (π/6)(180/π) = 30°</a:t>
            </a:r>
            <a:endParaRPr lang="en-US" sz="1400" dirty="0"/>
          </a:p>
          <a:p>
            <a:pPr indent="0" marL="0">
              <a:buNone/>
            </a:pP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2.7 rad  →  (2.7)(180/π) ≈ 154.699°</a:t>
            </a:r>
            <a:endParaRPr lang="en-US" sz="1400" dirty="0"/>
          </a:p>
          <a:p>
            <a:pPr indent="0" marL="0">
              <a:buNone/>
            </a:pP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1 rad  →  (1)(180/π) ≈ 57.296°</a:t>
            </a:r>
            <a:endParaRPr lang="en-US" sz="1400" dirty="0"/>
          </a:p>
        </p:txBody>
      </p:sp>
      <p:sp>
        <p:nvSpPr>
          <p:cNvPr id="8" name="Shape 6"/>
          <p:cNvSpPr/>
          <p:nvPr/>
        </p:nvSpPr>
        <p:spPr>
          <a:xfrm>
            <a:off x="4800600" y="1005840"/>
            <a:ext cx="3977640" cy="2560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9" name="Shape 7"/>
          <p:cNvSpPr/>
          <p:nvPr/>
        </p:nvSpPr>
        <p:spPr>
          <a:xfrm>
            <a:off x="4800600" y="1005840"/>
            <a:ext cx="3977640" cy="54864"/>
          </a:xfrm>
          <a:prstGeom prst="rect">
            <a:avLst/>
          </a:prstGeom>
          <a:solidFill>
            <a:srgbClr val="D4A843"/>
          </a:solidFill>
          <a:ln/>
        </p:spPr>
      </p:sp>
      <p:sp>
        <p:nvSpPr>
          <p:cNvPr id="10" name="Text 8"/>
          <p:cNvSpPr/>
          <p:nvPr/>
        </p:nvSpPr>
        <p:spPr>
          <a:xfrm>
            <a:off x="4983480" y="1143000"/>
            <a:ext cx="3657600" cy="320040"/>
          </a:xfrm>
          <a:prstGeom prst="rect">
            <a:avLst/>
          </a:prstGeom>
          <a:noFill/>
          <a:ln/>
        </p:spPr>
        <p:txBody>
          <a:bodyPr wrap="square" lIns="0" tIns="0" rIns="0" bIns="0" rtlCol="0" anchor="ctr"/>
          <a:lstStyle/>
          <a:p>
            <a:pPr indent="0" marL="0">
              <a:buNone/>
            </a:pPr>
            <a:r>
              <a:rPr lang="en-US" sz="1600" b="1" dirty="0">
                <a:solidFill>
                  <a:srgbClr val="D4A843"/>
                </a:solidFill>
                <a:latin typeface="Calibri" pitchFamily="34" charset="0"/>
                <a:ea typeface="Calibri" pitchFamily="34" charset="-122"/>
                <a:cs typeface="Calibri" pitchFamily="34" charset="-120"/>
              </a:rPr>
              <a:t>Degrees → Radians</a:t>
            </a:r>
            <a:endParaRPr lang="en-US" sz="1600" dirty="0"/>
          </a:p>
        </p:txBody>
      </p:sp>
      <p:sp>
        <p:nvSpPr>
          <p:cNvPr id="11" name="Text 9"/>
          <p:cNvSpPr/>
          <p:nvPr/>
        </p:nvSpPr>
        <p:spPr>
          <a:xfrm>
            <a:off x="4983480" y="1554480"/>
            <a:ext cx="3657600" cy="1828800"/>
          </a:xfrm>
          <a:prstGeom prst="rect">
            <a:avLst/>
          </a:prstGeom>
          <a:noFill/>
          <a:ln/>
        </p:spPr>
        <p:txBody>
          <a:bodyPr wrap="square" lIns="0" tIns="0" rIns="0" bIns="0" rtlCol="0" anchor="ctr"/>
          <a:lstStyle/>
          <a:p>
            <a:pPr indent="0" marL="0">
              <a:buNone/>
            </a:pPr>
            <a:r>
              <a:rPr lang="en-US" sz="1400" dirty="0">
                <a:solidFill>
                  <a:srgbClr val="3A3A3A"/>
                </a:solidFill>
                <a:latin typeface="Calibri" pitchFamily="34" charset="0"/>
                <a:ea typeface="Calibri" pitchFamily="34" charset="-122"/>
                <a:cs typeface="Calibri" pitchFamily="34" charset="-120"/>
              </a:rPr>
              <a:t>45°  →  (45)(π/180) = π/4</a:t>
            </a:r>
            <a:endParaRPr lang="en-US" sz="1400" dirty="0"/>
          </a:p>
          <a:p>
            <a:pPr indent="0" marL="0">
              <a:buNone/>
            </a:pP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120°  →  (120)(π/180) = 2π/3</a:t>
            </a:r>
            <a:endParaRPr lang="en-US" sz="1400" dirty="0"/>
          </a:p>
          <a:p>
            <a:pPr indent="0" marL="0">
              <a:buNone/>
            </a:pP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255°  →  (255)(π/180) = 17π/12</a:t>
            </a:r>
            <a:endParaRPr lang="en-US" sz="1400" dirty="0"/>
          </a:p>
          <a:p>
            <a:pPr indent="0" marL="0">
              <a:buNone/>
            </a:pPr>
            <a:endParaRPr lang="en-US" sz="1400" dirty="0"/>
          </a:p>
          <a:p>
            <a:pPr indent="0" marL="0">
              <a:buNone/>
            </a:pPr>
            <a:r>
              <a:rPr lang="en-US" sz="1400" dirty="0">
                <a:solidFill>
                  <a:srgbClr val="3A3A3A"/>
                </a:solidFill>
                <a:latin typeface="Calibri" pitchFamily="34" charset="0"/>
                <a:ea typeface="Calibri" pitchFamily="34" charset="-122"/>
                <a:cs typeface="Calibri" pitchFamily="34" charset="-120"/>
              </a:rPr>
              <a:t>1°  →  (1)(π/180) = π/180 ≈ 0.01745 rad</a:t>
            </a:r>
            <a:endParaRPr lang="en-US" sz="1400" dirty="0"/>
          </a:p>
        </p:txBody>
      </p:sp>
      <p:sp>
        <p:nvSpPr>
          <p:cNvPr id="12" name="Shape 10"/>
          <p:cNvSpPr/>
          <p:nvPr/>
        </p:nvSpPr>
        <p:spPr>
          <a:xfrm>
            <a:off x="457200" y="3840480"/>
            <a:ext cx="8229600" cy="502920"/>
          </a:xfrm>
          <a:prstGeom prst="rect">
            <a:avLst/>
          </a:prstGeom>
          <a:solidFill>
            <a:srgbClr val="1E2761"/>
          </a:solidFill>
          <a:ln/>
        </p:spPr>
      </p:sp>
      <p:sp>
        <p:nvSpPr>
          <p:cNvPr id="13" name="Text 11"/>
          <p:cNvSpPr/>
          <p:nvPr/>
        </p:nvSpPr>
        <p:spPr>
          <a:xfrm>
            <a:off x="640080" y="3840480"/>
            <a:ext cx="786384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Remember: π rad = 180° is the bridge. Multiply by whichever fraction cancels the unit you want to eliminate.</a:t>
            </a:r>
            <a:endParaRPr lang="en-US" sz="1300" dirty="0"/>
          </a:p>
        </p:txBody>
      </p:sp>
      <p:sp>
        <p:nvSpPr>
          <p:cNvPr id="14" name="Shape 12"/>
          <p:cNvSpPr/>
          <p:nvPr/>
        </p:nvSpPr>
        <p:spPr>
          <a:xfrm>
            <a:off x="548640" y="4526280"/>
            <a:ext cx="8229600" cy="4572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5" name="Shape 13"/>
          <p:cNvSpPr/>
          <p:nvPr/>
        </p:nvSpPr>
        <p:spPr>
          <a:xfrm>
            <a:off x="548640" y="4526280"/>
            <a:ext cx="54864" cy="457200"/>
          </a:xfrm>
          <a:prstGeom prst="rect">
            <a:avLst/>
          </a:prstGeom>
          <a:solidFill>
            <a:srgbClr val="1C7293"/>
          </a:solidFill>
          <a:ln/>
        </p:spPr>
      </p:sp>
      <p:sp>
        <p:nvSpPr>
          <p:cNvPr id="16" name="Text 14"/>
          <p:cNvSpPr/>
          <p:nvPr/>
        </p:nvSpPr>
        <p:spPr>
          <a:xfrm>
            <a:off x="777240" y="4526280"/>
            <a:ext cx="7772400" cy="45720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Mil: A unit used in artillery — 1 mil = 1/6400 of a full circle. To convert degrees to mils: multiply by 6400/360 ≈ 17.78.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Arc Length</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Arc length is the distance along the curved part of a circle between two points. The central angle must be in radians.</a:t>
            </a:r>
            <a:endParaRPr lang="en-US" sz="1400" dirty="0"/>
          </a:p>
        </p:txBody>
      </p:sp>
      <p:sp>
        <p:nvSpPr>
          <p:cNvPr id="7" name="Shape 5"/>
          <p:cNvSpPr/>
          <p:nvPr/>
        </p:nvSpPr>
        <p:spPr>
          <a:xfrm>
            <a:off x="548640" y="173736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3931920" cy="54864"/>
          </a:xfrm>
          <a:prstGeom prst="rect">
            <a:avLst/>
          </a:prstGeom>
          <a:solidFill>
            <a:srgbClr val="1C7293"/>
          </a:solidFill>
          <a:ln/>
        </p:spPr>
      </p:sp>
      <p:sp>
        <p:nvSpPr>
          <p:cNvPr id="9" name="Text 7"/>
          <p:cNvSpPr/>
          <p:nvPr/>
        </p:nvSpPr>
        <p:spPr>
          <a:xfrm>
            <a:off x="731520" y="1874520"/>
            <a:ext cx="3566160" cy="502920"/>
          </a:xfrm>
          <a:prstGeom prst="rect">
            <a:avLst/>
          </a:prstGeom>
          <a:noFill/>
          <a:ln/>
        </p:spPr>
        <p:txBody>
          <a:bodyPr wrap="square" lIns="0" tIns="0" rIns="0" bIns="0" rtlCol="0" anchor="ctr"/>
          <a:lstStyle/>
          <a:p>
            <a:pPr indent="0" marL="0">
              <a:buNone/>
            </a:pPr>
            <a:r>
              <a:rPr lang="en-US" sz="3200" b="1" dirty="0">
                <a:solidFill>
                  <a:srgbClr val="1C7293"/>
                </a:solidFill>
                <a:latin typeface="Georgia" pitchFamily="34" charset="0"/>
                <a:ea typeface="Georgia" pitchFamily="34" charset="-122"/>
                <a:cs typeface="Georgia" pitchFamily="34" charset="-120"/>
              </a:rPr>
              <a:t>s = rθ</a:t>
            </a:r>
            <a:endParaRPr lang="en-US" sz="3200" dirty="0"/>
          </a:p>
        </p:txBody>
      </p:sp>
      <p:sp>
        <p:nvSpPr>
          <p:cNvPr id="10" name="Text 8"/>
          <p:cNvSpPr/>
          <p:nvPr/>
        </p:nvSpPr>
        <p:spPr>
          <a:xfrm>
            <a:off x="731520" y="2377440"/>
            <a:ext cx="3566160" cy="3200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s = arc length,  r = radius,  θ = central angle (in radians)</a:t>
            </a:r>
            <a:endParaRPr lang="en-US" sz="1200" dirty="0"/>
          </a:p>
        </p:txBody>
      </p:sp>
      <p:sp>
        <p:nvSpPr>
          <p:cNvPr id="11" name="Shape 9"/>
          <p:cNvSpPr/>
          <p:nvPr/>
        </p:nvSpPr>
        <p:spPr>
          <a:xfrm>
            <a:off x="4800600" y="173736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4800600" y="1737360"/>
            <a:ext cx="3931920" cy="54864"/>
          </a:xfrm>
          <a:prstGeom prst="rect">
            <a:avLst/>
          </a:prstGeom>
          <a:solidFill>
            <a:srgbClr val="D4A843"/>
          </a:solidFill>
          <a:ln/>
        </p:spPr>
      </p:sp>
      <p:sp>
        <p:nvSpPr>
          <p:cNvPr id="13" name="Text 11"/>
          <p:cNvSpPr/>
          <p:nvPr/>
        </p:nvSpPr>
        <p:spPr>
          <a:xfrm>
            <a:off x="4983480" y="1874520"/>
            <a:ext cx="3566160" cy="32004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If θ is in degrees:</a:t>
            </a:r>
            <a:endParaRPr lang="en-US" sz="1400" dirty="0"/>
          </a:p>
        </p:txBody>
      </p:sp>
      <p:sp>
        <p:nvSpPr>
          <p:cNvPr id="14" name="Text 12"/>
          <p:cNvSpPr/>
          <p:nvPr/>
        </p:nvSpPr>
        <p:spPr>
          <a:xfrm>
            <a:off x="4983480" y="2240280"/>
            <a:ext cx="3566160" cy="5029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Convert to radians first by multiplying by π/180, then apply s = rθ.</a:t>
            </a:r>
            <a:endParaRPr lang="en-US" sz="1300" dirty="0"/>
          </a:p>
        </p:txBody>
      </p:sp>
      <p:sp>
        <p:nvSpPr>
          <p:cNvPr id="15" name="Shape 13"/>
          <p:cNvSpPr/>
          <p:nvPr/>
        </p:nvSpPr>
        <p:spPr>
          <a:xfrm>
            <a:off x="548640" y="3108960"/>
            <a:ext cx="3931920" cy="14630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6" name="Shape 14"/>
          <p:cNvSpPr/>
          <p:nvPr/>
        </p:nvSpPr>
        <p:spPr>
          <a:xfrm>
            <a:off x="548640" y="3108960"/>
            <a:ext cx="54864" cy="1463040"/>
          </a:xfrm>
          <a:prstGeom prst="rect">
            <a:avLst/>
          </a:prstGeom>
          <a:solidFill>
            <a:srgbClr val="1C7293"/>
          </a:solidFill>
          <a:ln/>
        </p:spPr>
      </p:sp>
      <p:sp>
        <p:nvSpPr>
          <p:cNvPr id="17" name="Text 15"/>
          <p:cNvSpPr/>
          <p:nvPr/>
        </p:nvSpPr>
        <p:spPr>
          <a:xfrm>
            <a:off x="777240" y="3200400"/>
            <a:ext cx="34747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Example 1</a:t>
            </a:r>
            <a:endParaRPr lang="en-US" sz="1400" dirty="0"/>
          </a:p>
        </p:txBody>
      </p:sp>
      <p:sp>
        <p:nvSpPr>
          <p:cNvPr id="18" name="Text 16"/>
          <p:cNvSpPr/>
          <p:nvPr/>
        </p:nvSpPr>
        <p:spPr>
          <a:xfrm>
            <a:off x="777240" y="3520440"/>
            <a:ext cx="347472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Central angle = π/3,  radius = 10.</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s = rθ = 10 · (π/3) = 10π/3 ≈ 10.472</a:t>
            </a:r>
            <a:endParaRPr lang="en-US" sz="1300" dirty="0"/>
          </a:p>
        </p:txBody>
      </p:sp>
      <p:sp>
        <p:nvSpPr>
          <p:cNvPr id="19" name="Shape 17"/>
          <p:cNvSpPr/>
          <p:nvPr/>
        </p:nvSpPr>
        <p:spPr>
          <a:xfrm>
            <a:off x="4800600" y="3108960"/>
            <a:ext cx="3931920" cy="14630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0" name="Shape 18"/>
          <p:cNvSpPr/>
          <p:nvPr/>
        </p:nvSpPr>
        <p:spPr>
          <a:xfrm>
            <a:off x="4800600" y="3108960"/>
            <a:ext cx="54864" cy="1463040"/>
          </a:xfrm>
          <a:prstGeom prst="rect">
            <a:avLst/>
          </a:prstGeom>
          <a:solidFill>
            <a:srgbClr val="D4A843"/>
          </a:solidFill>
          <a:ln/>
        </p:spPr>
      </p:sp>
      <p:sp>
        <p:nvSpPr>
          <p:cNvPr id="21" name="Text 19"/>
          <p:cNvSpPr/>
          <p:nvPr/>
        </p:nvSpPr>
        <p:spPr>
          <a:xfrm>
            <a:off x="5029200" y="3200400"/>
            <a:ext cx="3474720" cy="27432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Example 2</a:t>
            </a:r>
            <a:endParaRPr lang="en-US" sz="1400" dirty="0"/>
          </a:p>
        </p:txBody>
      </p:sp>
      <p:sp>
        <p:nvSpPr>
          <p:cNvPr id="22" name="Text 20"/>
          <p:cNvSpPr/>
          <p:nvPr/>
        </p:nvSpPr>
        <p:spPr>
          <a:xfrm>
            <a:off x="5029200" y="3520440"/>
            <a:ext cx="347472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Central angle = 45°,  radius = 21.</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Convert: 45° × π/180 = π/4</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s = 21 · (π/4) = 21π/4 ≈ 16.493</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Area of a Sector</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 sector is the "pie-slice" region between two radii and an arc. Its area is proportional to its central angle.</a:t>
            </a:r>
            <a:endParaRPr lang="en-US" sz="1400" dirty="0"/>
          </a:p>
        </p:txBody>
      </p:sp>
      <p:sp>
        <p:nvSpPr>
          <p:cNvPr id="7" name="Shape 5"/>
          <p:cNvSpPr/>
          <p:nvPr/>
        </p:nvSpPr>
        <p:spPr>
          <a:xfrm>
            <a:off x="548640" y="173736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3931920" cy="54864"/>
          </a:xfrm>
          <a:prstGeom prst="rect">
            <a:avLst/>
          </a:prstGeom>
          <a:solidFill>
            <a:srgbClr val="1C7293"/>
          </a:solidFill>
          <a:ln/>
        </p:spPr>
      </p:sp>
      <p:sp>
        <p:nvSpPr>
          <p:cNvPr id="9" name="Text 7"/>
          <p:cNvSpPr/>
          <p:nvPr/>
        </p:nvSpPr>
        <p:spPr>
          <a:xfrm>
            <a:off x="731520" y="1874520"/>
            <a:ext cx="3566160" cy="502920"/>
          </a:xfrm>
          <a:prstGeom prst="rect">
            <a:avLst/>
          </a:prstGeom>
          <a:noFill/>
          <a:ln/>
        </p:spPr>
        <p:txBody>
          <a:bodyPr wrap="square" lIns="0" tIns="0" rIns="0" bIns="0" rtlCol="0" anchor="ctr"/>
          <a:lstStyle/>
          <a:p>
            <a:pPr indent="0" marL="0">
              <a:buNone/>
            </a:pPr>
            <a:r>
              <a:rPr lang="en-US" sz="3200" b="1" dirty="0">
                <a:solidFill>
                  <a:srgbClr val="1C7293"/>
                </a:solidFill>
                <a:latin typeface="Georgia" pitchFamily="34" charset="0"/>
                <a:ea typeface="Georgia" pitchFamily="34" charset="-122"/>
                <a:cs typeface="Georgia" pitchFamily="34" charset="-120"/>
              </a:rPr>
              <a:t>A = ½ r²θ</a:t>
            </a:r>
            <a:endParaRPr lang="en-US" sz="3200" dirty="0"/>
          </a:p>
        </p:txBody>
      </p:sp>
      <p:sp>
        <p:nvSpPr>
          <p:cNvPr id="10" name="Text 8"/>
          <p:cNvSpPr/>
          <p:nvPr/>
        </p:nvSpPr>
        <p:spPr>
          <a:xfrm>
            <a:off x="731520" y="2377440"/>
            <a:ext cx="3566160" cy="32004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A = area,  r = radius,  θ = central angle (in radians)</a:t>
            </a:r>
            <a:endParaRPr lang="en-US" sz="1200" dirty="0"/>
          </a:p>
        </p:txBody>
      </p:sp>
      <p:sp>
        <p:nvSpPr>
          <p:cNvPr id="11" name="Shape 9"/>
          <p:cNvSpPr/>
          <p:nvPr/>
        </p:nvSpPr>
        <p:spPr>
          <a:xfrm>
            <a:off x="4800600" y="1737360"/>
            <a:ext cx="3931920" cy="10972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4800600" y="1737360"/>
            <a:ext cx="3931920" cy="54864"/>
          </a:xfrm>
          <a:prstGeom prst="rect">
            <a:avLst/>
          </a:prstGeom>
          <a:solidFill>
            <a:srgbClr val="D4A843"/>
          </a:solidFill>
          <a:ln/>
        </p:spPr>
      </p:sp>
      <p:sp>
        <p:nvSpPr>
          <p:cNvPr id="13" name="Text 11"/>
          <p:cNvSpPr/>
          <p:nvPr/>
        </p:nvSpPr>
        <p:spPr>
          <a:xfrm>
            <a:off x="4983480" y="1874520"/>
            <a:ext cx="3566160" cy="32004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Alternatively (degrees):</a:t>
            </a:r>
            <a:endParaRPr lang="en-US" sz="1400" dirty="0"/>
          </a:p>
        </p:txBody>
      </p:sp>
      <p:sp>
        <p:nvSpPr>
          <p:cNvPr id="14" name="Text 12"/>
          <p:cNvSpPr/>
          <p:nvPr/>
        </p:nvSpPr>
        <p:spPr>
          <a:xfrm>
            <a:off x="4983480" y="2240280"/>
            <a:ext cx="3566160" cy="5029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A = (θ/360) · πr²  where θ is in degrees. This is simply the fraction of the full circle's area.</a:t>
            </a:r>
            <a:endParaRPr lang="en-US" sz="1300" dirty="0"/>
          </a:p>
        </p:txBody>
      </p:sp>
      <p:sp>
        <p:nvSpPr>
          <p:cNvPr id="15" name="Shape 13"/>
          <p:cNvSpPr/>
          <p:nvPr/>
        </p:nvSpPr>
        <p:spPr>
          <a:xfrm>
            <a:off x="548640" y="3108960"/>
            <a:ext cx="3931920" cy="14630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6" name="Shape 14"/>
          <p:cNvSpPr/>
          <p:nvPr/>
        </p:nvSpPr>
        <p:spPr>
          <a:xfrm>
            <a:off x="548640" y="3108960"/>
            <a:ext cx="54864" cy="1463040"/>
          </a:xfrm>
          <a:prstGeom prst="rect">
            <a:avLst/>
          </a:prstGeom>
          <a:solidFill>
            <a:srgbClr val="1C7293"/>
          </a:solidFill>
          <a:ln/>
        </p:spPr>
      </p:sp>
      <p:sp>
        <p:nvSpPr>
          <p:cNvPr id="17" name="Text 15"/>
          <p:cNvSpPr/>
          <p:nvPr/>
        </p:nvSpPr>
        <p:spPr>
          <a:xfrm>
            <a:off x="777240" y="3200400"/>
            <a:ext cx="34747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Example 1</a:t>
            </a:r>
            <a:endParaRPr lang="en-US" sz="1400" dirty="0"/>
          </a:p>
        </p:txBody>
      </p:sp>
      <p:sp>
        <p:nvSpPr>
          <p:cNvPr id="18" name="Text 16"/>
          <p:cNvSpPr/>
          <p:nvPr/>
        </p:nvSpPr>
        <p:spPr>
          <a:xfrm>
            <a:off x="777240" y="3520440"/>
            <a:ext cx="347472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Central angle = π/3,  radius = 10.</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 = ½(10²)(π/3) = 50π/3 ≈ 52.360</a:t>
            </a:r>
            <a:endParaRPr lang="en-US" sz="1300" dirty="0"/>
          </a:p>
        </p:txBody>
      </p:sp>
      <p:sp>
        <p:nvSpPr>
          <p:cNvPr id="19" name="Shape 17"/>
          <p:cNvSpPr/>
          <p:nvPr/>
        </p:nvSpPr>
        <p:spPr>
          <a:xfrm>
            <a:off x="4800600" y="3108960"/>
            <a:ext cx="3931920" cy="14630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0" name="Shape 18"/>
          <p:cNvSpPr/>
          <p:nvPr/>
        </p:nvSpPr>
        <p:spPr>
          <a:xfrm>
            <a:off x="4800600" y="3108960"/>
            <a:ext cx="54864" cy="1463040"/>
          </a:xfrm>
          <a:prstGeom prst="rect">
            <a:avLst/>
          </a:prstGeom>
          <a:solidFill>
            <a:srgbClr val="D4A843"/>
          </a:solidFill>
          <a:ln/>
        </p:spPr>
      </p:sp>
      <p:sp>
        <p:nvSpPr>
          <p:cNvPr id="21" name="Text 19"/>
          <p:cNvSpPr/>
          <p:nvPr/>
        </p:nvSpPr>
        <p:spPr>
          <a:xfrm>
            <a:off x="5029200" y="3200400"/>
            <a:ext cx="3474720" cy="27432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Example 2</a:t>
            </a:r>
            <a:endParaRPr lang="en-US" sz="1400" dirty="0"/>
          </a:p>
        </p:txBody>
      </p:sp>
      <p:sp>
        <p:nvSpPr>
          <p:cNvPr id="22" name="Text 20"/>
          <p:cNvSpPr/>
          <p:nvPr/>
        </p:nvSpPr>
        <p:spPr>
          <a:xfrm>
            <a:off x="5029200" y="3520440"/>
            <a:ext cx="3474720" cy="8686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Central angle = 45°,  radius = 21.</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Convert: 45° × π/180 = π/4</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 = ½(21²)(π/4) = 441π/8 ≈ 173.18</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Applied Example: Aviation Arc</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You are instructed to arc south on the 12 NM arc from the 090 radial to the 210 radial.</a:t>
            </a:r>
            <a:endParaRPr lang="en-US" sz="1400" dirty="0"/>
          </a:p>
        </p:txBody>
      </p:sp>
      <p:sp>
        <p:nvSpPr>
          <p:cNvPr id="7" name="Shape 5"/>
          <p:cNvSpPr/>
          <p:nvPr/>
        </p:nvSpPr>
        <p:spPr>
          <a:xfrm>
            <a:off x="548640" y="1737360"/>
            <a:ext cx="5029200" cy="1554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54864" cy="1554480"/>
          </a:xfrm>
          <a:prstGeom prst="rect">
            <a:avLst/>
          </a:prstGeom>
          <a:solidFill>
            <a:srgbClr val="1C7293"/>
          </a:solidFill>
          <a:ln/>
        </p:spPr>
      </p:sp>
      <p:sp>
        <p:nvSpPr>
          <p:cNvPr id="9" name="Text 7"/>
          <p:cNvSpPr/>
          <p:nvPr/>
        </p:nvSpPr>
        <p:spPr>
          <a:xfrm>
            <a:off x="777240" y="1828800"/>
            <a:ext cx="457200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Part A — Arc Distance</a:t>
            </a:r>
            <a:endParaRPr lang="en-US" sz="1400" dirty="0"/>
          </a:p>
        </p:txBody>
      </p:sp>
      <p:sp>
        <p:nvSpPr>
          <p:cNvPr id="10" name="Text 8"/>
          <p:cNvSpPr/>
          <p:nvPr/>
        </p:nvSpPr>
        <p:spPr>
          <a:xfrm>
            <a:off x="777240" y="2194560"/>
            <a:ext cx="4572000" cy="91440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Central angle: 210° − 90° = 120° → convert to radians: 120 × π/180 = 2π/3.</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Arc length: s = rθ = 12 · (2π/3) = 8π ≈ 25.13 NM.</a:t>
            </a:r>
            <a:endParaRPr lang="en-US" sz="1300" dirty="0"/>
          </a:p>
        </p:txBody>
      </p:sp>
      <p:sp>
        <p:nvSpPr>
          <p:cNvPr id="11" name="Shape 9"/>
          <p:cNvSpPr/>
          <p:nvPr/>
        </p:nvSpPr>
        <p:spPr>
          <a:xfrm>
            <a:off x="548640" y="3520440"/>
            <a:ext cx="5029200" cy="7772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548640" y="3520440"/>
            <a:ext cx="54864" cy="777240"/>
          </a:xfrm>
          <a:prstGeom prst="rect">
            <a:avLst/>
          </a:prstGeom>
          <a:solidFill>
            <a:srgbClr val="D4A843"/>
          </a:solidFill>
          <a:ln/>
        </p:spPr>
      </p:sp>
      <p:sp>
        <p:nvSpPr>
          <p:cNvPr id="13" name="Text 11"/>
          <p:cNvSpPr/>
          <p:nvPr/>
        </p:nvSpPr>
        <p:spPr>
          <a:xfrm>
            <a:off x="777240" y="3611880"/>
            <a:ext cx="4572000" cy="274320"/>
          </a:xfrm>
          <a:prstGeom prst="rect">
            <a:avLst/>
          </a:prstGeom>
          <a:noFill/>
          <a:ln/>
        </p:spPr>
        <p:txBody>
          <a:bodyPr wrap="square" lIns="0" tIns="0" rIns="0" bIns="0" rtlCol="0" anchor="ctr"/>
          <a:lstStyle/>
          <a:p>
            <a:pPr indent="0" marL="0">
              <a:buNone/>
            </a:pPr>
            <a:r>
              <a:rPr lang="en-US" sz="1400" b="1" dirty="0">
                <a:solidFill>
                  <a:srgbClr val="D4A843"/>
                </a:solidFill>
                <a:latin typeface="Calibri" pitchFamily="34" charset="0"/>
                <a:ea typeface="Calibri" pitchFamily="34" charset="-122"/>
                <a:cs typeface="Calibri" pitchFamily="34" charset="-120"/>
              </a:rPr>
              <a:t>Part B — Time at 120 Knots</a:t>
            </a:r>
            <a:endParaRPr lang="en-US" sz="1400" dirty="0"/>
          </a:p>
        </p:txBody>
      </p:sp>
      <p:sp>
        <p:nvSpPr>
          <p:cNvPr id="14" name="Text 12"/>
          <p:cNvSpPr/>
          <p:nvPr/>
        </p:nvSpPr>
        <p:spPr>
          <a:xfrm>
            <a:off x="777240" y="3886200"/>
            <a:ext cx="4572000" cy="36576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Time = Distance / Speed = 25.13 NM / 120 kt ≈ 0.209 hr ≈ 12.6 minutes.</a:t>
            </a:r>
            <a:endParaRPr lang="en-US" sz="1300" dirty="0"/>
          </a:p>
        </p:txBody>
      </p:sp>
      <p:sp>
        <p:nvSpPr>
          <p:cNvPr id="15" name="Shape 13"/>
          <p:cNvSpPr/>
          <p:nvPr/>
        </p:nvSpPr>
        <p:spPr>
          <a:xfrm>
            <a:off x="5852160" y="1737360"/>
            <a:ext cx="2926080" cy="2560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6" name="Shape 14"/>
          <p:cNvSpPr/>
          <p:nvPr/>
        </p:nvSpPr>
        <p:spPr>
          <a:xfrm>
            <a:off x="5852160" y="1737360"/>
            <a:ext cx="2926080" cy="54864"/>
          </a:xfrm>
          <a:prstGeom prst="rect">
            <a:avLst/>
          </a:prstGeom>
          <a:solidFill>
            <a:srgbClr val="1E2761"/>
          </a:solidFill>
          <a:ln/>
        </p:spPr>
      </p:sp>
      <p:sp>
        <p:nvSpPr>
          <p:cNvPr id="17" name="Text 15"/>
          <p:cNvSpPr/>
          <p:nvPr/>
        </p:nvSpPr>
        <p:spPr>
          <a:xfrm>
            <a:off x="5989320" y="1920240"/>
            <a:ext cx="265176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TLAR Estimation</a:t>
            </a:r>
            <a:endParaRPr lang="en-US" sz="1600" dirty="0"/>
          </a:p>
        </p:txBody>
      </p:sp>
      <p:sp>
        <p:nvSpPr>
          <p:cNvPr id="18" name="Text 16"/>
          <p:cNvSpPr/>
          <p:nvPr/>
        </p:nvSpPr>
        <p:spPr>
          <a:xfrm>
            <a:off x="5989320" y="2286000"/>
            <a:ext cx="2651760" cy="1828800"/>
          </a:xfrm>
          <a:prstGeom prst="rect">
            <a:avLst/>
          </a:prstGeom>
          <a:noFill/>
          <a:ln/>
        </p:spPr>
        <p:txBody>
          <a:bodyPr wrap="square" lIns="0" tIns="0" rIns="0" bIns="0" rtlCol="0" anchor="ctr"/>
          <a:lstStyle/>
          <a:p>
            <a:pPr indent="0" marL="0">
              <a:buNone/>
            </a:pPr>
            <a:r>
              <a:rPr lang="en-US" sz="1200" dirty="0">
                <a:solidFill>
                  <a:srgbClr val="F5F2EB"/>
                </a:solidFill>
                <a:latin typeface="Calibri" pitchFamily="34" charset="0"/>
                <a:ea typeface="Calibri" pitchFamily="34" charset="-122"/>
                <a:cs typeface="Calibri" pitchFamily="34" charset="-120"/>
              </a:rPr>
              <a:t>"That Looks About Right" — pilots use quick mental math to verify computed results. 120° is one-third of a full circle, so the arc should be about one-third of the circumference: ⅓ × 2π(12) ≈ 25 NM.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A7B8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Text 1"/>
          <p:cNvSpPr/>
          <p:nvPr/>
        </p:nvSpPr>
        <p:spPr>
          <a:xfrm>
            <a:off x="640080" y="914400"/>
            <a:ext cx="5486400" cy="365760"/>
          </a:xfrm>
          <a:prstGeom prst="rect">
            <a:avLst/>
          </a:prstGeom>
          <a:noFill/>
          <a:ln/>
        </p:spPr>
        <p:txBody>
          <a:bodyPr wrap="square" lIns="0" tIns="0" rIns="0" bIns="0" rtlCol="0" anchor="ctr"/>
          <a:lstStyle/>
          <a:p>
            <a:pPr indent="0" marL="0">
              <a:buNone/>
            </a:pPr>
            <a:r>
              <a:rPr lang="en-US" sz="1400" spc="300" kern="0" dirty="0">
                <a:solidFill>
                  <a:srgbClr val="5AB8B8"/>
                </a:solidFill>
                <a:latin typeface="Calibri" pitchFamily="34" charset="0"/>
                <a:ea typeface="Calibri" pitchFamily="34" charset="-122"/>
                <a:cs typeface="Calibri" pitchFamily="34" charset="-120"/>
              </a:rPr>
              <a:t>S E C T I O N   3</a:t>
            </a:r>
            <a:endParaRPr lang="en-US" sz="1400" dirty="0"/>
          </a:p>
        </p:txBody>
      </p:sp>
      <p:sp>
        <p:nvSpPr>
          <p:cNvPr id="4" name="Text 2"/>
          <p:cNvSpPr/>
          <p:nvPr/>
        </p:nvSpPr>
        <p:spPr>
          <a:xfrm>
            <a:off x="640080" y="1554480"/>
            <a:ext cx="7315200" cy="164592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Linear &amp; Angular</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Velocity</a:t>
            </a:r>
            <a:endParaRPr lang="en-US" sz="4800" dirty="0"/>
          </a:p>
        </p:txBody>
      </p:sp>
      <p:sp>
        <p:nvSpPr>
          <p:cNvPr id="5" name="Shape 3"/>
          <p:cNvSpPr/>
          <p:nvPr/>
        </p:nvSpPr>
        <p:spPr>
          <a:xfrm>
            <a:off x="640080" y="3337560"/>
            <a:ext cx="2743200" cy="0"/>
          </a:xfrm>
          <a:prstGeom prst="line">
            <a:avLst/>
          </a:prstGeom>
          <a:noFill/>
          <a:ln w="38100">
            <a:solidFill>
              <a:srgbClr val="D4A843"/>
            </a:solidFill>
            <a:prstDash val="solid"/>
          </a:ln>
        </p:spPr>
      </p:sp>
      <p:sp>
        <p:nvSpPr>
          <p:cNvPr id="6" name="Text 4"/>
          <p:cNvSpPr/>
          <p:nvPr/>
        </p:nvSpPr>
        <p:spPr>
          <a:xfrm>
            <a:off x="640080" y="3566160"/>
            <a:ext cx="7315200" cy="457200"/>
          </a:xfrm>
          <a:prstGeom prst="rect">
            <a:avLst/>
          </a:prstGeom>
          <a:noFill/>
          <a:ln/>
        </p:spPr>
        <p:txBody>
          <a:bodyPr wrap="square" lIns="0" tIns="0" rIns="0" bIns="0" rtlCol="0" anchor="ctr"/>
          <a:lstStyle/>
          <a:p>
            <a:pPr indent="0" marL="0">
              <a:buNone/>
            </a:pPr>
            <a:r>
              <a:rPr lang="en-US" sz="1400" i="1" dirty="0">
                <a:solidFill>
                  <a:srgbClr val="F5F2EB"/>
                </a:solidFill>
                <a:latin typeface="Calibri" pitchFamily="34" charset="0"/>
                <a:ea typeface="Calibri" pitchFamily="34" charset="-122"/>
                <a:cs typeface="Calibri" pitchFamily="34" charset="-120"/>
              </a:rPr>
              <a:t>Connecting rotational speed to the speed of a point on a spinning object.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Linear &amp; Angular Velocity</a:t>
            </a:r>
            <a:endParaRPr lang="en-US" sz="3600" dirty="0"/>
          </a:p>
        </p:txBody>
      </p:sp>
      <p:sp>
        <p:nvSpPr>
          <p:cNvPr id="4" name="Shape 2"/>
          <p:cNvSpPr/>
          <p:nvPr/>
        </p:nvSpPr>
        <p:spPr>
          <a:xfrm>
            <a:off x="548640" y="1005840"/>
            <a:ext cx="3931920" cy="18288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1005840"/>
            <a:ext cx="3931920" cy="54864"/>
          </a:xfrm>
          <a:prstGeom prst="rect">
            <a:avLst/>
          </a:prstGeom>
          <a:solidFill>
            <a:srgbClr val="1C7293"/>
          </a:solidFill>
          <a:ln/>
        </p:spPr>
      </p:sp>
      <p:sp>
        <p:nvSpPr>
          <p:cNvPr id="6" name="Text 4"/>
          <p:cNvSpPr/>
          <p:nvPr/>
        </p:nvSpPr>
        <p:spPr>
          <a:xfrm>
            <a:off x="731520" y="1143000"/>
            <a:ext cx="356616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Angular Velocity (ω)</a:t>
            </a:r>
            <a:endParaRPr lang="en-US" sz="1800" dirty="0"/>
          </a:p>
        </p:txBody>
      </p:sp>
      <p:sp>
        <p:nvSpPr>
          <p:cNvPr id="7" name="Text 5"/>
          <p:cNvSpPr/>
          <p:nvPr/>
        </p:nvSpPr>
        <p:spPr>
          <a:xfrm>
            <a:off x="731520" y="1554480"/>
            <a:ext cx="3566160" cy="411480"/>
          </a:xfrm>
          <a:prstGeom prst="rect">
            <a:avLst/>
          </a:prstGeom>
          <a:noFill/>
          <a:ln/>
        </p:spPr>
        <p:txBody>
          <a:bodyPr wrap="square" lIns="0" tIns="0" rIns="0" bIns="0" rtlCol="0" anchor="ctr"/>
          <a:lstStyle/>
          <a:p>
            <a:pPr indent="0" marL="0">
              <a:buNone/>
            </a:pPr>
            <a:r>
              <a:rPr lang="en-US" sz="2600" b="1" dirty="0">
                <a:solidFill>
                  <a:srgbClr val="1C7293"/>
                </a:solidFill>
                <a:latin typeface="Georgia" pitchFamily="34" charset="0"/>
                <a:ea typeface="Georgia" pitchFamily="34" charset="-122"/>
                <a:cs typeface="Georgia" pitchFamily="34" charset="-120"/>
              </a:rPr>
              <a:t>ω = θ / t</a:t>
            </a:r>
            <a:endParaRPr lang="en-US" sz="2600" dirty="0"/>
          </a:p>
        </p:txBody>
      </p:sp>
      <p:sp>
        <p:nvSpPr>
          <p:cNvPr id="8" name="Text 6"/>
          <p:cNvSpPr/>
          <p:nvPr/>
        </p:nvSpPr>
        <p:spPr>
          <a:xfrm>
            <a:off x="731520" y="2011680"/>
            <a:ext cx="3566160" cy="68580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The rate of rotation — how fast the angle changes. Measured in radians per unit time (rad/s, rad/min).</a:t>
            </a:r>
            <a:endParaRPr lang="en-US" sz="1200" dirty="0"/>
          </a:p>
        </p:txBody>
      </p:sp>
      <p:sp>
        <p:nvSpPr>
          <p:cNvPr id="9" name="Shape 7"/>
          <p:cNvSpPr/>
          <p:nvPr/>
        </p:nvSpPr>
        <p:spPr>
          <a:xfrm>
            <a:off x="4800600" y="1005840"/>
            <a:ext cx="3931920" cy="18288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Shape 8"/>
          <p:cNvSpPr/>
          <p:nvPr/>
        </p:nvSpPr>
        <p:spPr>
          <a:xfrm>
            <a:off x="4800600" y="1005840"/>
            <a:ext cx="3931920" cy="54864"/>
          </a:xfrm>
          <a:prstGeom prst="rect">
            <a:avLst/>
          </a:prstGeom>
          <a:solidFill>
            <a:srgbClr val="D4A843"/>
          </a:solidFill>
          <a:ln/>
        </p:spPr>
      </p:sp>
      <p:sp>
        <p:nvSpPr>
          <p:cNvPr id="11" name="Text 9"/>
          <p:cNvSpPr/>
          <p:nvPr/>
        </p:nvSpPr>
        <p:spPr>
          <a:xfrm>
            <a:off x="4983480" y="1143000"/>
            <a:ext cx="3566160" cy="320040"/>
          </a:xfrm>
          <a:prstGeom prst="rect">
            <a:avLst/>
          </a:prstGeom>
          <a:noFill/>
          <a:ln/>
        </p:spPr>
        <p:txBody>
          <a:bodyPr wrap="square" lIns="0" tIns="0" rIns="0" bIns="0" rtlCol="0" anchor="ctr"/>
          <a:lstStyle/>
          <a:p>
            <a:pPr indent="0" marL="0">
              <a:buNone/>
            </a:pPr>
            <a:r>
              <a:rPr lang="en-US" sz="1800" b="1" dirty="0">
                <a:solidFill>
                  <a:srgbClr val="1B3A4B"/>
                </a:solidFill>
                <a:latin typeface="Georgia" pitchFamily="34" charset="0"/>
                <a:ea typeface="Georgia" pitchFamily="34" charset="-122"/>
                <a:cs typeface="Georgia" pitchFamily="34" charset="-120"/>
              </a:rPr>
              <a:t>Linear Velocity (v)</a:t>
            </a:r>
            <a:endParaRPr lang="en-US" sz="1800" dirty="0"/>
          </a:p>
        </p:txBody>
      </p:sp>
      <p:sp>
        <p:nvSpPr>
          <p:cNvPr id="12" name="Text 10"/>
          <p:cNvSpPr/>
          <p:nvPr/>
        </p:nvSpPr>
        <p:spPr>
          <a:xfrm>
            <a:off x="4983480" y="1554480"/>
            <a:ext cx="3566160" cy="411480"/>
          </a:xfrm>
          <a:prstGeom prst="rect">
            <a:avLst/>
          </a:prstGeom>
          <a:noFill/>
          <a:ln/>
        </p:spPr>
        <p:txBody>
          <a:bodyPr wrap="square" lIns="0" tIns="0" rIns="0" bIns="0" rtlCol="0" anchor="ctr"/>
          <a:lstStyle/>
          <a:p>
            <a:pPr indent="0" marL="0">
              <a:buNone/>
            </a:pPr>
            <a:r>
              <a:rPr lang="en-US" sz="2600" b="1" dirty="0">
                <a:solidFill>
                  <a:srgbClr val="D4A843"/>
                </a:solidFill>
                <a:latin typeface="Georgia" pitchFamily="34" charset="0"/>
                <a:ea typeface="Georgia" pitchFamily="34" charset="-122"/>
                <a:cs typeface="Georgia" pitchFamily="34" charset="-120"/>
              </a:rPr>
              <a:t>v = rω = s / t</a:t>
            </a:r>
            <a:endParaRPr lang="en-US" sz="2600" dirty="0"/>
          </a:p>
        </p:txBody>
      </p:sp>
      <p:sp>
        <p:nvSpPr>
          <p:cNvPr id="13" name="Text 11"/>
          <p:cNvSpPr/>
          <p:nvPr/>
        </p:nvSpPr>
        <p:spPr>
          <a:xfrm>
            <a:off x="4983480" y="2011680"/>
            <a:ext cx="3566160" cy="68580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The speed of a point on the rotating object. Farther from the center → faster linear speed for the same ω.</a:t>
            </a:r>
            <a:endParaRPr lang="en-US" sz="1200" dirty="0"/>
          </a:p>
        </p:txBody>
      </p:sp>
      <p:sp>
        <p:nvSpPr>
          <p:cNvPr id="14" name="Shape 12"/>
          <p:cNvSpPr/>
          <p:nvPr/>
        </p:nvSpPr>
        <p:spPr>
          <a:xfrm>
            <a:off x="548640" y="3063240"/>
            <a:ext cx="8229600" cy="7315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5" name="Shape 13"/>
          <p:cNvSpPr/>
          <p:nvPr/>
        </p:nvSpPr>
        <p:spPr>
          <a:xfrm>
            <a:off x="548640" y="3063240"/>
            <a:ext cx="54864" cy="731520"/>
          </a:xfrm>
          <a:prstGeom prst="rect">
            <a:avLst/>
          </a:prstGeom>
          <a:solidFill>
            <a:srgbClr val="1C7293"/>
          </a:solidFill>
          <a:ln/>
        </p:spPr>
      </p:sp>
      <p:sp>
        <p:nvSpPr>
          <p:cNvPr id="16" name="Text 14"/>
          <p:cNvSpPr/>
          <p:nvPr/>
        </p:nvSpPr>
        <p:spPr>
          <a:xfrm>
            <a:off x="777240" y="3127248"/>
            <a:ext cx="274320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Converting RPM to Radians</a:t>
            </a:r>
            <a:endParaRPr lang="en-US" sz="1400" dirty="0"/>
          </a:p>
        </p:txBody>
      </p:sp>
      <p:sp>
        <p:nvSpPr>
          <p:cNvPr id="17" name="Text 15"/>
          <p:cNvSpPr/>
          <p:nvPr/>
        </p:nvSpPr>
        <p:spPr>
          <a:xfrm>
            <a:off x="777240" y="3429000"/>
            <a:ext cx="7772400" cy="32004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1 revolution = 2π radians. So n RPM = n × 2π rad/min. Always convert revolutions to radians before using v = rω.</a:t>
            </a:r>
            <a:endParaRPr lang="en-US" sz="1300" dirty="0"/>
          </a:p>
        </p:txBody>
      </p:sp>
      <p:sp>
        <p:nvSpPr>
          <p:cNvPr id="18" name="Shape 16"/>
          <p:cNvSpPr/>
          <p:nvPr/>
        </p:nvSpPr>
        <p:spPr>
          <a:xfrm>
            <a:off x="457200" y="4023360"/>
            <a:ext cx="8229600" cy="502920"/>
          </a:xfrm>
          <a:prstGeom prst="rect">
            <a:avLst/>
          </a:prstGeom>
          <a:solidFill>
            <a:srgbClr val="1E2761"/>
          </a:solidFill>
          <a:ln/>
        </p:spPr>
      </p:sp>
      <p:sp>
        <p:nvSpPr>
          <p:cNvPr id="19" name="Text 17"/>
          <p:cNvSpPr/>
          <p:nvPr/>
        </p:nvSpPr>
        <p:spPr>
          <a:xfrm>
            <a:off x="640080" y="4023360"/>
            <a:ext cx="786384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v = rω shows that linear velocity is directly proportional to both radius and angular velocity.</a:t>
            </a:r>
            <a:endParaRPr lang="en-US" sz="1300" dirty="0"/>
          </a:p>
        </p:txBody>
      </p:sp>
      <p:sp>
        <p:nvSpPr>
          <p:cNvPr id="20" name="Shape 18"/>
          <p:cNvSpPr/>
          <p:nvPr/>
        </p:nvSpPr>
        <p:spPr>
          <a:xfrm>
            <a:off x="548640" y="4572000"/>
            <a:ext cx="8229600" cy="411480"/>
          </a:xfrm>
          <a:prstGeom prst="rect">
            <a:avLst/>
          </a:prstGeom>
          <a:solidFill>
            <a:srgbClr val="E8E3DA"/>
          </a:solidFill>
          <a:ln/>
        </p:spPr>
      </p:sp>
      <p:sp>
        <p:nvSpPr>
          <p:cNvPr id="21" name="Text 19"/>
          <p:cNvSpPr/>
          <p:nvPr/>
        </p:nvSpPr>
        <p:spPr>
          <a:xfrm>
            <a:off x="731520" y="4572000"/>
            <a:ext cx="7863840" cy="411480"/>
          </a:xfrm>
          <a:prstGeom prst="rect">
            <a:avLst/>
          </a:prstGeom>
          <a:noFill/>
          <a:ln/>
        </p:spPr>
        <p:txBody>
          <a:bodyPr wrap="square" lIns="0" tIns="0" rIns="0" bIns="0" rtlCol="0" anchor="ctr"/>
          <a:lstStyle/>
          <a:p>
            <a:pPr indent="0" marL="0">
              <a:buNone/>
            </a:pPr>
            <a:r>
              <a:rPr lang="en-US" sz="1200" i="1" dirty="0">
                <a:solidFill>
                  <a:srgbClr val="3A3A3A"/>
                </a:solidFill>
                <a:latin typeface="Calibri" pitchFamily="34" charset="0"/>
                <a:ea typeface="Calibri" pitchFamily="34" charset="-122"/>
                <a:cs typeface="Calibri" pitchFamily="34" charset="-120"/>
              </a:rPr>
              <a:t>s = rθ   →   v = s/t = r(θ/t) = rω   →   v = rω       These three formulas are all connected.</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Worked Example: Riverboat Paddles</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The paddles of a riverboat have a radius of 8.50 ft and turn at 20.0 revolutions per minute (RPM). What is the speed of a tip of one paddle?</a:t>
            </a:r>
            <a:endParaRPr lang="en-US" sz="1400" dirty="0"/>
          </a:p>
        </p:txBody>
      </p:sp>
      <p:sp>
        <p:nvSpPr>
          <p:cNvPr id="7" name="Shape 5"/>
          <p:cNvSpPr/>
          <p:nvPr/>
        </p:nvSpPr>
        <p:spPr>
          <a:xfrm>
            <a:off x="548640" y="1783080"/>
            <a:ext cx="5303520" cy="2560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83080"/>
            <a:ext cx="54864" cy="2560320"/>
          </a:xfrm>
          <a:prstGeom prst="rect">
            <a:avLst/>
          </a:prstGeom>
          <a:solidFill>
            <a:srgbClr val="1C7293"/>
          </a:solidFill>
          <a:ln/>
        </p:spPr>
      </p:sp>
      <p:sp>
        <p:nvSpPr>
          <p:cNvPr id="9" name="Text 7"/>
          <p:cNvSpPr/>
          <p:nvPr/>
        </p:nvSpPr>
        <p:spPr>
          <a:xfrm>
            <a:off x="777240" y="1920240"/>
            <a:ext cx="4846320" cy="320040"/>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Solution</a:t>
            </a:r>
            <a:endParaRPr lang="en-US" sz="1600" dirty="0"/>
          </a:p>
        </p:txBody>
      </p:sp>
      <p:sp>
        <p:nvSpPr>
          <p:cNvPr id="10" name="Text 8"/>
          <p:cNvSpPr/>
          <p:nvPr/>
        </p:nvSpPr>
        <p:spPr>
          <a:xfrm>
            <a:off x="777240" y="2286000"/>
            <a:ext cx="4846320" cy="1920240"/>
          </a:xfrm>
          <a:prstGeom prst="rect">
            <a:avLst/>
          </a:prstGeom>
          <a:noFill/>
          <a:ln/>
        </p:spPr>
        <p:txBody>
          <a:bodyPr wrap="square" lIns="0" tIns="0" rIns="0" bIns="0" rtlCol="0" anchor="ctr"/>
          <a:lstStyle/>
          <a:p>
            <a:pPr indent="0" marL="0">
              <a:buNone/>
            </a:pPr>
            <a:r>
              <a:rPr lang="en-US" sz="1300" b="1" dirty="0">
                <a:solidFill>
                  <a:srgbClr val="3A3A3A"/>
                </a:solidFill>
                <a:latin typeface="Calibri" pitchFamily="34" charset="0"/>
                <a:ea typeface="Calibri" pitchFamily="34" charset="-122"/>
                <a:cs typeface="Calibri" pitchFamily="34" charset="-120"/>
              </a:rPr>
              <a:t>Step 1 — Convert RPM to angular velocity:</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ω = 20.0 rev/min × 2π rad/rev = 40π rad/min</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Step 2 — Apply v = rω:</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v = 8.50 ft × 40π rad/min = 340π ft/min</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Step 3 — Convert to convenient units:</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v = 340π ≈ 1068 ft/min ≈ 12.14 mi/hr</a:t>
            </a:r>
            <a:endParaRPr lang="en-US" sz="1300" dirty="0"/>
          </a:p>
        </p:txBody>
      </p:sp>
      <p:sp>
        <p:nvSpPr>
          <p:cNvPr id="11" name="Shape 9"/>
          <p:cNvSpPr/>
          <p:nvPr/>
        </p:nvSpPr>
        <p:spPr>
          <a:xfrm>
            <a:off x="6126480" y="1783080"/>
            <a:ext cx="2560320" cy="25603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6126480" y="1783080"/>
            <a:ext cx="2560320" cy="54864"/>
          </a:xfrm>
          <a:prstGeom prst="rect">
            <a:avLst/>
          </a:prstGeom>
          <a:solidFill>
            <a:srgbClr val="1E2761"/>
          </a:solidFill>
          <a:ln/>
        </p:spPr>
      </p:sp>
      <p:sp>
        <p:nvSpPr>
          <p:cNvPr id="13" name="Text 11"/>
          <p:cNvSpPr/>
          <p:nvPr/>
        </p:nvSpPr>
        <p:spPr>
          <a:xfrm>
            <a:off x="6263640" y="1920240"/>
            <a:ext cx="228600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Answer</a:t>
            </a:r>
            <a:endParaRPr lang="en-US" sz="1600" dirty="0"/>
          </a:p>
        </p:txBody>
      </p:sp>
      <p:sp>
        <p:nvSpPr>
          <p:cNvPr id="14" name="Text 12"/>
          <p:cNvSpPr/>
          <p:nvPr/>
        </p:nvSpPr>
        <p:spPr>
          <a:xfrm>
            <a:off x="6263640" y="2331720"/>
            <a:ext cx="2286000" cy="457200"/>
          </a:xfrm>
          <a:prstGeom prst="rect">
            <a:avLst/>
          </a:prstGeom>
          <a:noFill/>
          <a:ln/>
        </p:spPr>
        <p:txBody>
          <a:bodyPr wrap="square" lIns="0" tIns="0" rIns="0" bIns="0" rtlCol="0" anchor="ctr"/>
          <a:lstStyle/>
          <a:p>
            <a:pPr indent="0" marL="0">
              <a:buNone/>
            </a:pPr>
            <a:r>
              <a:rPr lang="en-US" sz="2200" b="1" dirty="0">
                <a:solidFill>
                  <a:srgbClr val="D4A843"/>
                </a:solidFill>
                <a:latin typeface="Georgia" pitchFamily="34" charset="0"/>
                <a:ea typeface="Georgia" pitchFamily="34" charset="-122"/>
                <a:cs typeface="Georgia" pitchFamily="34" charset="-120"/>
              </a:rPr>
              <a:t>≈ 1068 ft/min</a:t>
            </a:r>
            <a:endParaRPr lang="en-US" sz="2200" dirty="0"/>
          </a:p>
        </p:txBody>
      </p:sp>
      <p:sp>
        <p:nvSpPr>
          <p:cNvPr id="15" name="Text 13"/>
          <p:cNvSpPr/>
          <p:nvPr/>
        </p:nvSpPr>
        <p:spPr>
          <a:xfrm>
            <a:off x="6263640" y="2788920"/>
            <a:ext cx="2286000" cy="365760"/>
          </a:xfrm>
          <a:prstGeom prst="rect">
            <a:avLst/>
          </a:prstGeom>
          <a:noFill/>
          <a:ln/>
        </p:spPr>
        <p:txBody>
          <a:bodyPr wrap="square" lIns="0" tIns="0" rIns="0" bIns="0" rtlCol="0" anchor="ctr"/>
          <a:lstStyle/>
          <a:p>
            <a:pPr indent="0" marL="0">
              <a:buNone/>
            </a:pPr>
            <a:r>
              <a:rPr lang="en-US" sz="1800" dirty="0">
                <a:solidFill>
                  <a:srgbClr val="5AB8B8"/>
                </a:solidFill>
                <a:latin typeface="Georgia" pitchFamily="34" charset="0"/>
                <a:ea typeface="Georgia" pitchFamily="34" charset="-122"/>
                <a:cs typeface="Georgia" pitchFamily="34" charset="-120"/>
              </a:rPr>
              <a:t>≈ 12.14 mi/hr</a:t>
            </a:r>
            <a:endParaRPr lang="en-US" sz="1800" dirty="0"/>
          </a:p>
        </p:txBody>
      </p:sp>
      <p:sp>
        <p:nvSpPr>
          <p:cNvPr id="16" name="Text 14"/>
          <p:cNvSpPr/>
          <p:nvPr/>
        </p:nvSpPr>
        <p:spPr>
          <a:xfrm>
            <a:off x="6263640" y="3246120"/>
            <a:ext cx="2286000" cy="822960"/>
          </a:xfrm>
          <a:prstGeom prst="rect">
            <a:avLst/>
          </a:prstGeom>
          <a:noFill/>
          <a:ln/>
        </p:spPr>
        <p:txBody>
          <a:bodyPr wrap="square" lIns="0" tIns="0" rIns="0" bIns="0" rtlCol="0" anchor="ctr"/>
          <a:lstStyle/>
          <a:p>
            <a:pPr indent="0" marL="0">
              <a:buNone/>
            </a:pPr>
            <a:r>
              <a:rPr lang="en-US" sz="1200" dirty="0">
                <a:solidFill>
                  <a:srgbClr val="F5F2EB"/>
                </a:solidFill>
                <a:latin typeface="Calibri" pitchFamily="34" charset="0"/>
                <a:ea typeface="Calibri" pitchFamily="34" charset="-122"/>
                <a:cs typeface="Calibri" pitchFamily="34" charset="-120"/>
              </a:rPr>
              <a:t>The paddle tip moves at about 12 miles per hour through the water.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More Velocity Examples</a:t>
            </a:r>
            <a:endParaRPr lang="en-US" sz="3600" dirty="0"/>
          </a:p>
        </p:txBody>
      </p:sp>
      <p:sp>
        <p:nvSpPr>
          <p:cNvPr id="4" name="Shape 2"/>
          <p:cNvSpPr/>
          <p:nvPr/>
        </p:nvSpPr>
        <p:spPr>
          <a:xfrm>
            <a:off x="548640" y="1005840"/>
            <a:ext cx="3977640" cy="18288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1005840"/>
            <a:ext cx="54864" cy="1828800"/>
          </a:xfrm>
          <a:prstGeom prst="rect">
            <a:avLst/>
          </a:prstGeom>
          <a:solidFill>
            <a:srgbClr val="1C7293"/>
          </a:solidFill>
          <a:ln/>
        </p:spPr>
      </p:sp>
      <p:sp>
        <p:nvSpPr>
          <p:cNvPr id="6" name="Text 4"/>
          <p:cNvSpPr/>
          <p:nvPr/>
        </p:nvSpPr>
        <p:spPr>
          <a:xfrm>
            <a:off x="777240" y="1097280"/>
            <a:ext cx="3657600" cy="274320"/>
          </a:xfrm>
          <a:prstGeom prst="rect">
            <a:avLst/>
          </a:prstGeom>
          <a:noFill/>
          <a:ln/>
        </p:spPr>
        <p:txBody>
          <a:bodyPr wrap="square" lIns="0" tIns="0" rIns="0" bIns="0"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Drive Shaft Rotation</a:t>
            </a:r>
            <a:endParaRPr lang="en-US" sz="1500" dirty="0"/>
          </a:p>
        </p:txBody>
      </p:sp>
      <p:sp>
        <p:nvSpPr>
          <p:cNvPr id="7" name="Text 5"/>
          <p:cNvSpPr/>
          <p:nvPr/>
        </p:nvSpPr>
        <p:spPr>
          <a:xfrm>
            <a:off x="777240" y="1417320"/>
            <a:ext cx="3657600" cy="502920"/>
          </a:xfrm>
          <a:prstGeom prst="rect">
            <a:avLst/>
          </a:prstGeom>
          <a:noFill/>
          <a:ln/>
        </p:spPr>
        <p:txBody>
          <a:bodyPr wrap="square" lIns="0" tIns="0" rIns="0" bIns="0" rtlCol="0" anchor="ctr"/>
          <a:lstStyle/>
          <a:p>
            <a:pPr indent="0" marL="0">
              <a:buNone/>
            </a:pPr>
            <a:r>
              <a:rPr lang="en-US" sz="1200" i="1" dirty="0">
                <a:solidFill>
                  <a:srgbClr val="3A3A3A"/>
                </a:solidFill>
                <a:latin typeface="Calibri" pitchFamily="34" charset="0"/>
                <a:ea typeface="Calibri" pitchFamily="34" charset="-122"/>
                <a:cs typeface="Calibri" pitchFamily="34" charset="-120"/>
              </a:rPr>
              <a:t>A car's tachometer reads 3200 RPM. Through what total angle does the drive shaft rotate in 1 second?</a:t>
            </a:r>
            <a:endParaRPr lang="en-US" sz="1200" dirty="0"/>
          </a:p>
        </p:txBody>
      </p:sp>
      <p:sp>
        <p:nvSpPr>
          <p:cNvPr id="8" name="Text 6"/>
          <p:cNvSpPr/>
          <p:nvPr/>
        </p:nvSpPr>
        <p:spPr>
          <a:xfrm>
            <a:off x="777240" y="1965960"/>
            <a:ext cx="365760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ω = 3200 rev/min × (2π rad/rev) × (1 min/60 s)</a:t>
            </a:r>
            <a:endParaRPr lang="en-US" sz="1200" dirty="0"/>
          </a:p>
          <a:p>
            <a:pPr indent="0" marL="0">
              <a:buNone/>
            </a:pPr>
            <a:r>
              <a:rPr lang="en-US" sz="1200" dirty="0">
                <a:solidFill>
                  <a:srgbClr val="3A3A3A"/>
                </a:solidFill>
                <a:latin typeface="Calibri" pitchFamily="34" charset="0"/>
                <a:ea typeface="Calibri" pitchFamily="34" charset="-122"/>
                <a:cs typeface="Calibri" pitchFamily="34" charset="-120"/>
              </a:rPr>
              <a:t>   = 3200 × 2π/60 ≈ 335.1 rad/s</a:t>
            </a:r>
            <a:endParaRPr lang="en-US" sz="1200" dirty="0"/>
          </a:p>
          <a:p>
            <a:pPr indent="0" marL="0">
              <a:buNone/>
            </a:pPr>
            <a:r>
              <a:rPr lang="en-US" sz="1200" dirty="0">
                <a:solidFill>
                  <a:srgbClr val="3A3A3A"/>
                </a:solidFill>
                <a:latin typeface="Calibri" pitchFamily="34" charset="0"/>
                <a:ea typeface="Calibri" pitchFamily="34" charset="-122"/>
                <a:cs typeface="Calibri" pitchFamily="34" charset="-120"/>
              </a:rPr>
              <a:t>In 1 s: θ = 335.1 rad ≈ 53.3 revolutions</a:t>
            </a:r>
            <a:endParaRPr lang="en-US" sz="1200" dirty="0"/>
          </a:p>
        </p:txBody>
      </p:sp>
      <p:sp>
        <p:nvSpPr>
          <p:cNvPr id="9" name="Shape 7"/>
          <p:cNvSpPr/>
          <p:nvPr/>
        </p:nvSpPr>
        <p:spPr>
          <a:xfrm>
            <a:off x="4800600" y="1005840"/>
            <a:ext cx="3977640" cy="18288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Shape 8"/>
          <p:cNvSpPr/>
          <p:nvPr/>
        </p:nvSpPr>
        <p:spPr>
          <a:xfrm>
            <a:off x="4800600" y="1005840"/>
            <a:ext cx="54864" cy="1828800"/>
          </a:xfrm>
          <a:prstGeom prst="rect">
            <a:avLst/>
          </a:prstGeom>
          <a:solidFill>
            <a:srgbClr val="D4A843"/>
          </a:solidFill>
          <a:ln/>
        </p:spPr>
      </p:sp>
      <p:sp>
        <p:nvSpPr>
          <p:cNvPr id="11" name="Text 9"/>
          <p:cNvSpPr/>
          <p:nvPr/>
        </p:nvSpPr>
        <p:spPr>
          <a:xfrm>
            <a:off x="5029200" y="1097280"/>
            <a:ext cx="3657600" cy="274320"/>
          </a:xfrm>
          <a:prstGeom prst="rect">
            <a:avLst/>
          </a:prstGeom>
          <a:noFill/>
          <a:ln/>
        </p:spPr>
        <p:txBody>
          <a:bodyPr wrap="square" lIns="0" tIns="0" rIns="0" bIns="0" rtlCol="0" anchor="ctr"/>
          <a:lstStyle/>
          <a:p>
            <a:pPr indent="0" marL="0">
              <a:buNone/>
            </a:pPr>
            <a:r>
              <a:rPr lang="en-US" sz="1500" b="1" dirty="0">
                <a:solidFill>
                  <a:srgbClr val="D4A843"/>
                </a:solidFill>
                <a:latin typeface="Calibri" pitchFamily="34" charset="0"/>
                <a:ea typeface="Calibri" pitchFamily="34" charset="-122"/>
                <a:cs typeface="Calibri" pitchFamily="34" charset="-120"/>
              </a:rPr>
              <a:t>Wind Turbine Blade Tips</a:t>
            </a:r>
            <a:endParaRPr lang="en-US" sz="1500" dirty="0"/>
          </a:p>
        </p:txBody>
      </p:sp>
      <p:sp>
        <p:nvSpPr>
          <p:cNvPr id="12" name="Text 10"/>
          <p:cNvSpPr/>
          <p:nvPr/>
        </p:nvSpPr>
        <p:spPr>
          <a:xfrm>
            <a:off x="5029200" y="1417320"/>
            <a:ext cx="3657600" cy="502920"/>
          </a:xfrm>
          <a:prstGeom prst="rect">
            <a:avLst/>
          </a:prstGeom>
          <a:noFill/>
          <a:ln/>
        </p:spPr>
        <p:txBody>
          <a:bodyPr wrap="square" lIns="0" tIns="0" rIns="0" bIns="0" rtlCol="0" anchor="ctr"/>
          <a:lstStyle/>
          <a:p>
            <a:pPr indent="0" marL="0">
              <a:buNone/>
            </a:pPr>
            <a:r>
              <a:rPr lang="en-US" sz="1200" i="1" dirty="0">
                <a:solidFill>
                  <a:srgbClr val="3A3A3A"/>
                </a:solidFill>
                <a:latin typeface="Calibri" pitchFamily="34" charset="0"/>
                <a:ea typeface="Calibri" pitchFamily="34" charset="-122"/>
                <a:cs typeface="Calibri" pitchFamily="34" charset="-120"/>
              </a:rPr>
              <a:t>GE 1.5 MW turbine: blades are 116 ft long, spinning at 22.0 RPM. Find the tip speed.</a:t>
            </a:r>
            <a:endParaRPr lang="en-US" sz="1200" dirty="0"/>
          </a:p>
        </p:txBody>
      </p:sp>
      <p:sp>
        <p:nvSpPr>
          <p:cNvPr id="13" name="Text 11"/>
          <p:cNvSpPr/>
          <p:nvPr/>
        </p:nvSpPr>
        <p:spPr>
          <a:xfrm>
            <a:off x="5029200" y="1965960"/>
            <a:ext cx="3657600" cy="731520"/>
          </a:xfrm>
          <a:prstGeom prst="rect">
            <a:avLst/>
          </a:prstGeom>
          <a:noFill/>
          <a:ln/>
        </p:spPr>
        <p:txBody>
          <a:bodyPr wrap="square" lIns="0" tIns="0" rIns="0" bIns="0" rtlCol="0" anchor="ctr"/>
          <a:lstStyle/>
          <a:p>
            <a:pPr indent="0" marL="0">
              <a:buNone/>
            </a:pPr>
            <a:r>
              <a:rPr lang="en-US" sz="1200" dirty="0">
                <a:solidFill>
                  <a:srgbClr val="3A3A3A"/>
                </a:solidFill>
                <a:latin typeface="Calibri" pitchFamily="34" charset="0"/>
                <a:ea typeface="Calibri" pitchFamily="34" charset="-122"/>
                <a:cs typeface="Calibri" pitchFamily="34" charset="-120"/>
              </a:rPr>
              <a:t>ω = 22.0 × 2π = 44π rad/min</a:t>
            </a:r>
            <a:endParaRPr lang="en-US" sz="1200" dirty="0"/>
          </a:p>
          <a:p>
            <a:pPr indent="0" marL="0">
              <a:buNone/>
            </a:pPr>
            <a:r>
              <a:rPr lang="en-US" sz="1200" dirty="0">
                <a:solidFill>
                  <a:srgbClr val="3A3A3A"/>
                </a:solidFill>
                <a:latin typeface="Calibri" pitchFamily="34" charset="0"/>
                <a:ea typeface="Calibri" pitchFamily="34" charset="-122"/>
                <a:cs typeface="Calibri" pitchFamily="34" charset="-120"/>
              </a:rPr>
              <a:t>v = rω = 116 × 44π ≈ 16,035 ft/min</a:t>
            </a:r>
            <a:endParaRPr lang="en-US" sz="1200" dirty="0"/>
          </a:p>
          <a:p>
            <a:pPr indent="0" marL="0">
              <a:buNone/>
            </a:pPr>
            <a:r>
              <a:rPr lang="en-US" sz="1200" dirty="0">
                <a:solidFill>
                  <a:srgbClr val="3A3A3A"/>
                </a:solidFill>
                <a:latin typeface="Calibri" pitchFamily="34" charset="0"/>
                <a:ea typeface="Calibri" pitchFamily="34" charset="-122"/>
                <a:cs typeface="Calibri" pitchFamily="34" charset="-120"/>
              </a:rPr>
              <a:t>≈ 182.2 mph</a:t>
            </a:r>
            <a:endParaRPr lang="en-US" sz="1200" dirty="0"/>
          </a:p>
        </p:txBody>
      </p:sp>
      <p:sp>
        <p:nvSpPr>
          <p:cNvPr id="14" name="Shape 12"/>
          <p:cNvSpPr/>
          <p:nvPr/>
        </p:nvSpPr>
        <p:spPr>
          <a:xfrm>
            <a:off x="548640" y="3063240"/>
            <a:ext cx="8229600" cy="16459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5" name="Shape 13"/>
          <p:cNvSpPr/>
          <p:nvPr/>
        </p:nvSpPr>
        <p:spPr>
          <a:xfrm>
            <a:off x="548640" y="3063240"/>
            <a:ext cx="54864" cy="1645920"/>
          </a:xfrm>
          <a:prstGeom prst="rect">
            <a:avLst/>
          </a:prstGeom>
          <a:solidFill>
            <a:srgbClr val="1C7293"/>
          </a:solidFill>
          <a:ln/>
        </p:spPr>
      </p:sp>
      <p:sp>
        <p:nvSpPr>
          <p:cNvPr id="16" name="Text 14"/>
          <p:cNvSpPr/>
          <p:nvPr/>
        </p:nvSpPr>
        <p:spPr>
          <a:xfrm>
            <a:off x="777240" y="3154680"/>
            <a:ext cx="7772400" cy="274320"/>
          </a:xfrm>
          <a:prstGeom prst="rect">
            <a:avLst/>
          </a:prstGeom>
          <a:noFill/>
          <a:ln/>
        </p:spPr>
        <p:txBody>
          <a:bodyPr wrap="square" lIns="0" tIns="0" rIns="0" bIns="0"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Bonus: Turbine Sweep Area</a:t>
            </a:r>
            <a:endParaRPr lang="en-US" sz="1500" dirty="0"/>
          </a:p>
        </p:txBody>
      </p:sp>
      <p:sp>
        <p:nvSpPr>
          <p:cNvPr id="17" name="Text 15"/>
          <p:cNvSpPr/>
          <p:nvPr/>
        </p:nvSpPr>
        <p:spPr>
          <a:xfrm>
            <a:off x="777240" y="3474720"/>
            <a:ext cx="7772400" cy="109728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The area swept by the rotating blades forms a circle:</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A = πr² = π(116)² = 13,456π ≈ 42,273 ft²</a:t>
            </a:r>
            <a:endParaRPr lang="en-US" sz="1300" dirty="0"/>
          </a:p>
          <a:p>
            <a:pPr indent="0" marL="0">
              <a:buNone/>
            </a:pP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Convert to acres: 42,273 ft² ÷ 43,560 ft²/acre ≈ 0.97 acres — nearly a full acre of wind capture.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A7B8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Text 1"/>
          <p:cNvSpPr/>
          <p:nvPr/>
        </p:nvSpPr>
        <p:spPr>
          <a:xfrm>
            <a:off x="640080" y="914400"/>
            <a:ext cx="5486400" cy="365760"/>
          </a:xfrm>
          <a:prstGeom prst="rect">
            <a:avLst/>
          </a:prstGeom>
          <a:noFill/>
          <a:ln/>
        </p:spPr>
        <p:txBody>
          <a:bodyPr wrap="square" lIns="0" tIns="0" rIns="0" bIns="0" rtlCol="0" anchor="ctr"/>
          <a:lstStyle/>
          <a:p>
            <a:pPr indent="0" marL="0">
              <a:buNone/>
            </a:pPr>
            <a:r>
              <a:rPr lang="en-US" sz="1400" spc="300" kern="0" dirty="0">
                <a:solidFill>
                  <a:srgbClr val="5AB8B8"/>
                </a:solidFill>
                <a:latin typeface="Calibri" pitchFamily="34" charset="0"/>
                <a:ea typeface="Calibri" pitchFamily="34" charset="-122"/>
                <a:cs typeface="Calibri" pitchFamily="34" charset="-120"/>
              </a:rPr>
              <a:t>S E C T I O N   4</a:t>
            </a:r>
            <a:endParaRPr lang="en-US" sz="1400" dirty="0"/>
          </a:p>
        </p:txBody>
      </p:sp>
      <p:sp>
        <p:nvSpPr>
          <p:cNvPr id="4" name="Text 2"/>
          <p:cNvSpPr/>
          <p:nvPr/>
        </p:nvSpPr>
        <p:spPr>
          <a:xfrm>
            <a:off x="640080" y="1554480"/>
            <a:ext cx="7315200" cy="164592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Solid Geometric</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Figures</a:t>
            </a:r>
            <a:endParaRPr lang="en-US" sz="4800" dirty="0"/>
          </a:p>
        </p:txBody>
      </p:sp>
      <p:sp>
        <p:nvSpPr>
          <p:cNvPr id="5" name="Shape 3"/>
          <p:cNvSpPr/>
          <p:nvPr/>
        </p:nvSpPr>
        <p:spPr>
          <a:xfrm>
            <a:off x="640080" y="3337560"/>
            <a:ext cx="2743200" cy="0"/>
          </a:xfrm>
          <a:prstGeom prst="line">
            <a:avLst/>
          </a:prstGeom>
          <a:noFill/>
          <a:ln w="38100">
            <a:solidFill>
              <a:srgbClr val="D4A843"/>
            </a:solidFill>
            <a:prstDash val="solid"/>
          </a:ln>
        </p:spPr>
      </p:sp>
      <p:sp>
        <p:nvSpPr>
          <p:cNvPr id="6" name="Text 4"/>
          <p:cNvSpPr/>
          <p:nvPr/>
        </p:nvSpPr>
        <p:spPr>
          <a:xfrm>
            <a:off x="640080" y="3566160"/>
            <a:ext cx="7315200" cy="457200"/>
          </a:xfrm>
          <a:prstGeom prst="rect">
            <a:avLst/>
          </a:prstGeom>
          <a:noFill/>
          <a:ln/>
        </p:spPr>
        <p:txBody>
          <a:bodyPr wrap="square" lIns="0" tIns="0" rIns="0" bIns="0" rtlCol="0" anchor="ctr"/>
          <a:lstStyle/>
          <a:p>
            <a:pPr indent="0" marL="0">
              <a:buNone/>
            </a:pPr>
            <a:r>
              <a:rPr lang="en-US" sz="1400" i="1" dirty="0">
                <a:solidFill>
                  <a:srgbClr val="F5F2EB"/>
                </a:solidFill>
                <a:latin typeface="Calibri" pitchFamily="34" charset="0"/>
                <a:ea typeface="Calibri" pitchFamily="34" charset="-122"/>
                <a:cs typeface="Calibri" pitchFamily="34" charset="-120"/>
              </a:rPr>
              <a:t>Volume and surface area formulas for common three-dimensional shapes.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137160"/>
            <a:ext cx="8046720" cy="548640"/>
          </a:xfrm>
          <a:prstGeom prst="rect">
            <a:avLst/>
          </a:prstGeom>
          <a:noFill/>
          <a:ln/>
        </p:spPr>
        <p:txBody>
          <a:bodyPr wrap="square" lIns="0" tIns="0" rIns="0" bIns="0" rtlCol="0" anchor="ctr"/>
          <a:lstStyle/>
          <a:p>
            <a:pPr indent="0" marL="0">
              <a:buNone/>
            </a:pPr>
            <a:r>
              <a:rPr lang="en-US" sz="3200" b="1" dirty="0">
                <a:solidFill>
                  <a:srgbClr val="1B3A4B"/>
                </a:solidFill>
                <a:latin typeface="Georgia" pitchFamily="34" charset="0"/>
                <a:ea typeface="Georgia" pitchFamily="34" charset="-122"/>
                <a:cs typeface="Georgia" pitchFamily="34" charset="-120"/>
              </a:rPr>
              <a:t>Volume &amp; Surface Area</a:t>
            </a:r>
            <a:endParaRPr lang="en-US" sz="3200" dirty="0"/>
          </a:p>
        </p:txBody>
      </p:sp>
      <p:sp>
        <p:nvSpPr>
          <p:cNvPr id="4" name="Shape 2"/>
          <p:cNvSpPr/>
          <p:nvPr/>
        </p:nvSpPr>
        <p:spPr>
          <a:xfrm>
            <a:off x="548640" y="77724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5" name="Shape 3"/>
          <p:cNvSpPr/>
          <p:nvPr/>
        </p:nvSpPr>
        <p:spPr>
          <a:xfrm>
            <a:off x="548640" y="777240"/>
            <a:ext cx="2514600" cy="54864"/>
          </a:xfrm>
          <a:prstGeom prst="rect">
            <a:avLst/>
          </a:prstGeom>
          <a:solidFill>
            <a:srgbClr val="1C7293"/>
          </a:solidFill>
          <a:ln/>
        </p:spPr>
      </p:sp>
      <p:sp>
        <p:nvSpPr>
          <p:cNvPr id="6" name="Text 4"/>
          <p:cNvSpPr/>
          <p:nvPr/>
        </p:nvSpPr>
        <p:spPr>
          <a:xfrm>
            <a:off x="658368" y="94183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Rectangular Prism</a:t>
            </a:r>
            <a:endParaRPr lang="en-US" sz="1500" dirty="0"/>
          </a:p>
        </p:txBody>
      </p:sp>
      <p:sp>
        <p:nvSpPr>
          <p:cNvPr id="7" name="Text 5"/>
          <p:cNvSpPr/>
          <p:nvPr/>
        </p:nvSpPr>
        <p:spPr>
          <a:xfrm>
            <a:off x="658368" y="132588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8" name="Text 6"/>
          <p:cNvSpPr/>
          <p:nvPr/>
        </p:nvSpPr>
        <p:spPr>
          <a:xfrm>
            <a:off x="658368" y="1554480"/>
            <a:ext cx="2295144" cy="320040"/>
          </a:xfrm>
          <a:prstGeom prst="rect">
            <a:avLst/>
          </a:prstGeom>
          <a:noFill/>
          <a:ln/>
        </p:spPr>
        <p:txBody>
          <a:bodyPr wrap="square" lIns="0" tIns="0" rIns="0" bIns="0"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V = lwh</a:t>
            </a:r>
            <a:endParaRPr lang="en-US" sz="1800" dirty="0"/>
          </a:p>
        </p:txBody>
      </p:sp>
      <p:sp>
        <p:nvSpPr>
          <p:cNvPr id="9" name="Text 7"/>
          <p:cNvSpPr/>
          <p:nvPr/>
        </p:nvSpPr>
        <p:spPr>
          <a:xfrm>
            <a:off x="658368" y="187452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10" name="Text 8"/>
          <p:cNvSpPr/>
          <p:nvPr/>
        </p:nvSpPr>
        <p:spPr>
          <a:xfrm>
            <a:off x="658368" y="210312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2(lw + lh + wh)</a:t>
            </a:r>
            <a:endParaRPr lang="en-US" sz="1300" dirty="0"/>
          </a:p>
        </p:txBody>
      </p:sp>
      <p:sp>
        <p:nvSpPr>
          <p:cNvPr id="11" name="Shape 9"/>
          <p:cNvSpPr/>
          <p:nvPr/>
        </p:nvSpPr>
        <p:spPr>
          <a:xfrm>
            <a:off x="3246120" y="77724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3246120" y="777240"/>
            <a:ext cx="2514600" cy="54864"/>
          </a:xfrm>
          <a:prstGeom prst="rect">
            <a:avLst/>
          </a:prstGeom>
          <a:solidFill>
            <a:srgbClr val="1C7293"/>
          </a:solidFill>
          <a:ln/>
        </p:spPr>
      </p:sp>
      <p:sp>
        <p:nvSpPr>
          <p:cNvPr id="13" name="Text 11"/>
          <p:cNvSpPr/>
          <p:nvPr/>
        </p:nvSpPr>
        <p:spPr>
          <a:xfrm>
            <a:off x="3355848" y="94183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Cylinder</a:t>
            </a:r>
            <a:endParaRPr lang="en-US" sz="1500" dirty="0"/>
          </a:p>
        </p:txBody>
      </p:sp>
      <p:sp>
        <p:nvSpPr>
          <p:cNvPr id="14" name="Text 12"/>
          <p:cNvSpPr/>
          <p:nvPr/>
        </p:nvSpPr>
        <p:spPr>
          <a:xfrm>
            <a:off x="3355848" y="132588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15" name="Text 13"/>
          <p:cNvSpPr/>
          <p:nvPr/>
        </p:nvSpPr>
        <p:spPr>
          <a:xfrm>
            <a:off x="3355848" y="1554480"/>
            <a:ext cx="2295144" cy="320040"/>
          </a:xfrm>
          <a:prstGeom prst="rect">
            <a:avLst/>
          </a:prstGeom>
          <a:noFill/>
          <a:ln/>
        </p:spPr>
        <p:txBody>
          <a:bodyPr wrap="square" lIns="0" tIns="0" rIns="0" bIns="0"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V = πr²h</a:t>
            </a:r>
            <a:endParaRPr lang="en-US" sz="1800" dirty="0"/>
          </a:p>
        </p:txBody>
      </p:sp>
      <p:sp>
        <p:nvSpPr>
          <p:cNvPr id="16" name="Text 14"/>
          <p:cNvSpPr/>
          <p:nvPr/>
        </p:nvSpPr>
        <p:spPr>
          <a:xfrm>
            <a:off x="3355848" y="187452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17" name="Text 15"/>
          <p:cNvSpPr/>
          <p:nvPr/>
        </p:nvSpPr>
        <p:spPr>
          <a:xfrm>
            <a:off x="3355848" y="210312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2πr² + 2πrh</a:t>
            </a:r>
            <a:endParaRPr lang="en-US" sz="1300" dirty="0"/>
          </a:p>
        </p:txBody>
      </p:sp>
      <p:sp>
        <p:nvSpPr>
          <p:cNvPr id="18" name="Shape 16"/>
          <p:cNvSpPr/>
          <p:nvPr/>
        </p:nvSpPr>
        <p:spPr>
          <a:xfrm>
            <a:off x="5943600" y="77724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9" name="Shape 17"/>
          <p:cNvSpPr/>
          <p:nvPr/>
        </p:nvSpPr>
        <p:spPr>
          <a:xfrm>
            <a:off x="5943600" y="777240"/>
            <a:ext cx="2514600" cy="54864"/>
          </a:xfrm>
          <a:prstGeom prst="rect">
            <a:avLst/>
          </a:prstGeom>
          <a:solidFill>
            <a:srgbClr val="1C7293"/>
          </a:solidFill>
          <a:ln/>
        </p:spPr>
      </p:sp>
      <p:sp>
        <p:nvSpPr>
          <p:cNvPr id="20" name="Text 18"/>
          <p:cNvSpPr/>
          <p:nvPr/>
        </p:nvSpPr>
        <p:spPr>
          <a:xfrm>
            <a:off x="6053328" y="94183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Cone</a:t>
            </a:r>
            <a:endParaRPr lang="en-US" sz="1500" dirty="0"/>
          </a:p>
        </p:txBody>
      </p:sp>
      <p:sp>
        <p:nvSpPr>
          <p:cNvPr id="21" name="Text 19"/>
          <p:cNvSpPr/>
          <p:nvPr/>
        </p:nvSpPr>
        <p:spPr>
          <a:xfrm>
            <a:off x="6053328" y="132588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22" name="Text 20"/>
          <p:cNvSpPr/>
          <p:nvPr/>
        </p:nvSpPr>
        <p:spPr>
          <a:xfrm>
            <a:off x="6053328" y="1554480"/>
            <a:ext cx="2295144" cy="320040"/>
          </a:xfrm>
          <a:prstGeom prst="rect">
            <a:avLst/>
          </a:prstGeom>
          <a:noFill/>
          <a:ln/>
        </p:spPr>
        <p:txBody>
          <a:bodyPr wrap="square" lIns="0" tIns="0" rIns="0" bIns="0"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V = ⅓πr²h</a:t>
            </a:r>
            <a:endParaRPr lang="en-US" sz="1800" dirty="0"/>
          </a:p>
        </p:txBody>
      </p:sp>
      <p:sp>
        <p:nvSpPr>
          <p:cNvPr id="23" name="Text 21"/>
          <p:cNvSpPr/>
          <p:nvPr/>
        </p:nvSpPr>
        <p:spPr>
          <a:xfrm>
            <a:off x="6053328" y="187452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24" name="Text 22"/>
          <p:cNvSpPr/>
          <p:nvPr/>
        </p:nvSpPr>
        <p:spPr>
          <a:xfrm>
            <a:off x="6053328" y="210312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πr² + πrl</a:t>
            </a:r>
            <a:endParaRPr lang="en-US" sz="1300" dirty="0"/>
          </a:p>
        </p:txBody>
      </p:sp>
      <p:sp>
        <p:nvSpPr>
          <p:cNvPr id="25" name="Shape 23"/>
          <p:cNvSpPr/>
          <p:nvPr/>
        </p:nvSpPr>
        <p:spPr>
          <a:xfrm>
            <a:off x="548640" y="265176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26" name="Shape 24"/>
          <p:cNvSpPr/>
          <p:nvPr/>
        </p:nvSpPr>
        <p:spPr>
          <a:xfrm>
            <a:off x="548640" y="2651760"/>
            <a:ext cx="2514600" cy="54864"/>
          </a:xfrm>
          <a:prstGeom prst="rect">
            <a:avLst/>
          </a:prstGeom>
          <a:solidFill>
            <a:srgbClr val="D4A843"/>
          </a:solidFill>
          <a:ln/>
        </p:spPr>
      </p:sp>
      <p:sp>
        <p:nvSpPr>
          <p:cNvPr id="27" name="Text 25"/>
          <p:cNvSpPr/>
          <p:nvPr/>
        </p:nvSpPr>
        <p:spPr>
          <a:xfrm>
            <a:off x="658368" y="281635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Sphere</a:t>
            </a:r>
            <a:endParaRPr lang="en-US" sz="1500" dirty="0"/>
          </a:p>
        </p:txBody>
      </p:sp>
      <p:sp>
        <p:nvSpPr>
          <p:cNvPr id="28" name="Text 26"/>
          <p:cNvSpPr/>
          <p:nvPr/>
        </p:nvSpPr>
        <p:spPr>
          <a:xfrm>
            <a:off x="658368" y="320040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29" name="Text 27"/>
          <p:cNvSpPr/>
          <p:nvPr/>
        </p:nvSpPr>
        <p:spPr>
          <a:xfrm>
            <a:off x="658368" y="3429000"/>
            <a:ext cx="2295144" cy="320040"/>
          </a:xfrm>
          <a:prstGeom prst="rect">
            <a:avLst/>
          </a:prstGeom>
          <a:noFill/>
          <a:ln/>
        </p:spPr>
        <p:txBody>
          <a:bodyPr wrap="square" lIns="0" tIns="0" rIns="0" bIns="0" rtlCol="0" anchor="ctr"/>
          <a:lstStyle/>
          <a:p>
            <a:pPr indent="0" marL="0">
              <a:buNone/>
            </a:pPr>
            <a:r>
              <a:rPr lang="en-US" sz="1800" b="1" dirty="0">
                <a:solidFill>
                  <a:srgbClr val="D4A843"/>
                </a:solidFill>
                <a:latin typeface="Georgia" pitchFamily="34" charset="0"/>
                <a:ea typeface="Georgia" pitchFamily="34" charset="-122"/>
                <a:cs typeface="Georgia" pitchFamily="34" charset="-120"/>
              </a:rPr>
              <a:t>V = ⁴⁄₃πr³</a:t>
            </a:r>
            <a:endParaRPr lang="en-US" sz="1800" dirty="0"/>
          </a:p>
        </p:txBody>
      </p:sp>
      <p:sp>
        <p:nvSpPr>
          <p:cNvPr id="30" name="Text 28"/>
          <p:cNvSpPr/>
          <p:nvPr/>
        </p:nvSpPr>
        <p:spPr>
          <a:xfrm>
            <a:off x="658368" y="374904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31" name="Text 29"/>
          <p:cNvSpPr/>
          <p:nvPr/>
        </p:nvSpPr>
        <p:spPr>
          <a:xfrm>
            <a:off x="658368" y="397764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4πr²</a:t>
            </a:r>
            <a:endParaRPr lang="en-US" sz="1300" dirty="0"/>
          </a:p>
        </p:txBody>
      </p:sp>
      <p:sp>
        <p:nvSpPr>
          <p:cNvPr id="32" name="Shape 30"/>
          <p:cNvSpPr/>
          <p:nvPr/>
        </p:nvSpPr>
        <p:spPr>
          <a:xfrm>
            <a:off x="3246120" y="265176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33" name="Shape 31"/>
          <p:cNvSpPr/>
          <p:nvPr/>
        </p:nvSpPr>
        <p:spPr>
          <a:xfrm>
            <a:off x="3246120" y="2651760"/>
            <a:ext cx="2514600" cy="54864"/>
          </a:xfrm>
          <a:prstGeom prst="rect">
            <a:avLst/>
          </a:prstGeom>
          <a:solidFill>
            <a:srgbClr val="D4A843"/>
          </a:solidFill>
          <a:ln/>
        </p:spPr>
      </p:sp>
      <p:sp>
        <p:nvSpPr>
          <p:cNvPr id="34" name="Text 32"/>
          <p:cNvSpPr/>
          <p:nvPr/>
        </p:nvSpPr>
        <p:spPr>
          <a:xfrm>
            <a:off x="3355848" y="281635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Right Pyramid</a:t>
            </a:r>
            <a:endParaRPr lang="en-US" sz="1500" dirty="0"/>
          </a:p>
        </p:txBody>
      </p:sp>
      <p:sp>
        <p:nvSpPr>
          <p:cNvPr id="35" name="Text 33"/>
          <p:cNvSpPr/>
          <p:nvPr/>
        </p:nvSpPr>
        <p:spPr>
          <a:xfrm>
            <a:off x="3355848" y="320040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36" name="Text 34"/>
          <p:cNvSpPr/>
          <p:nvPr/>
        </p:nvSpPr>
        <p:spPr>
          <a:xfrm>
            <a:off x="3355848" y="3429000"/>
            <a:ext cx="2295144" cy="320040"/>
          </a:xfrm>
          <a:prstGeom prst="rect">
            <a:avLst/>
          </a:prstGeom>
          <a:noFill/>
          <a:ln/>
        </p:spPr>
        <p:txBody>
          <a:bodyPr wrap="square" lIns="0" tIns="0" rIns="0" bIns="0" rtlCol="0" anchor="ctr"/>
          <a:lstStyle/>
          <a:p>
            <a:pPr indent="0" marL="0">
              <a:buNone/>
            </a:pPr>
            <a:r>
              <a:rPr lang="en-US" sz="1800" b="1" dirty="0">
                <a:solidFill>
                  <a:srgbClr val="D4A843"/>
                </a:solidFill>
                <a:latin typeface="Georgia" pitchFamily="34" charset="0"/>
                <a:ea typeface="Georgia" pitchFamily="34" charset="-122"/>
                <a:cs typeface="Georgia" pitchFamily="34" charset="-120"/>
              </a:rPr>
              <a:t>V = ⅓Bh</a:t>
            </a:r>
            <a:endParaRPr lang="en-US" sz="1800" dirty="0"/>
          </a:p>
        </p:txBody>
      </p:sp>
      <p:sp>
        <p:nvSpPr>
          <p:cNvPr id="37" name="Text 35"/>
          <p:cNvSpPr/>
          <p:nvPr/>
        </p:nvSpPr>
        <p:spPr>
          <a:xfrm>
            <a:off x="3355848" y="374904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38" name="Text 36"/>
          <p:cNvSpPr/>
          <p:nvPr/>
        </p:nvSpPr>
        <p:spPr>
          <a:xfrm>
            <a:off x="3355848" y="397764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B + ½Pl</a:t>
            </a:r>
            <a:endParaRPr lang="en-US" sz="1300" dirty="0"/>
          </a:p>
        </p:txBody>
      </p:sp>
      <p:sp>
        <p:nvSpPr>
          <p:cNvPr id="39" name="Shape 37"/>
          <p:cNvSpPr/>
          <p:nvPr/>
        </p:nvSpPr>
        <p:spPr>
          <a:xfrm>
            <a:off x="5943600" y="2651760"/>
            <a:ext cx="2514600" cy="169164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40" name="Shape 38"/>
          <p:cNvSpPr/>
          <p:nvPr/>
        </p:nvSpPr>
        <p:spPr>
          <a:xfrm>
            <a:off x="5943600" y="2651760"/>
            <a:ext cx="2514600" cy="54864"/>
          </a:xfrm>
          <a:prstGeom prst="rect">
            <a:avLst/>
          </a:prstGeom>
          <a:solidFill>
            <a:srgbClr val="D4A843"/>
          </a:solidFill>
          <a:ln/>
        </p:spPr>
      </p:sp>
      <p:sp>
        <p:nvSpPr>
          <p:cNvPr id="41" name="Text 39"/>
          <p:cNvSpPr/>
          <p:nvPr/>
        </p:nvSpPr>
        <p:spPr>
          <a:xfrm>
            <a:off x="6053328" y="2816352"/>
            <a:ext cx="2295144" cy="320040"/>
          </a:xfrm>
          <a:prstGeom prst="rect">
            <a:avLst/>
          </a:prstGeom>
          <a:noFill/>
          <a:ln/>
        </p:spPr>
        <p:txBody>
          <a:bodyPr wrap="square" lIns="0" tIns="0" rIns="0" bIns="0" rtlCol="0" anchor="ctr"/>
          <a:lstStyle/>
          <a:p>
            <a:pPr indent="0" marL="0">
              <a:buNone/>
            </a:pPr>
            <a:r>
              <a:rPr lang="en-US" sz="1500" b="1" dirty="0">
                <a:solidFill>
                  <a:srgbClr val="1B3A4B"/>
                </a:solidFill>
                <a:latin typeface="Georgia" pitchFamily="34" charset="0"/>
                <a:ea typeface="Georgia" pitchFamily="34" charset="-122"/>
                <a:cs typeface="Georgia" pitchFamily="34" charset="-120"/>
              </a:rPr>
              <a:t>Triangular Prism</a:t>
            </a:r>
            <a:endParaRPr lang="en-US" sz="1500" dirty="0"/>
          </a:p>
        </p:txBody>
      </p:sp>
      <p:sp>
        <p:nvSpPr>
          <p:cNvPr id="42" name="Text 40"/>
          <p:cNvSpPr/>
          <p:nvPr/>
        </p:nvSpPr>
        <p:spPr>
          <a:xfrm>
            <a:off x="6053328" y="320040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Volume</a:t>
            </a:r>
            <a:endParaRPr lang="en-US" sz="1100" dirty="0"/>
          </a:p>
        </p:txBody>
      </p:sp>
      <p:sp>
        <p:nvSpPr>
          <p:cNvPr id="43" name="Text 41"/>
          <p:cNvSpPr/>
          <p:nvPr/>
        </p:nvSpPr>
        <p:spPr>
          <a:xfrm>
            <a:off x="6053328" y="3429000"/>
            <a:ext cx="2295144" cy="320040"/>
          </a:xfrm>
          <a:prstGeom prst="rect">
            <a:avLst/>
          </a:prstGeom>
          <a:noFill/>
          <a:ln/>
        </p:spPr>
        <p:txBody>
          <a:bodyPr wrap="square" lIns="0" tIns="0" rIns="0" bIns="0" rtlCol="0" anchor="ctr"/>
          <a:lstStyle/>
          <a:p>
            <a:pPr indent="0" marL="0">
              <a:buNone/>
            </a:pPr>
            <a:r>
              <a:rPr lang="en-US" sz="1800" b="1" dirty="0">
                <a:solidFill>
                  <a:srgbClr val="D4A843"/>
                </a:solidFill>
                <a:latin typeface="Georgia" pitchFamily="34" charset="0"/>
                <a:ea typeface="Georgia" pitchFamily="34" charset="-122"/>
                <a:cs typeface="Georgia" pitchFamily="34" charset="-120"/>
              </a:rPr>
              <a:t>V = Bh</a:t>
            </a:r>
            <a:endParaRPr lang="en-US" sz="1800" dirty="0"/>
          </a:p>
        </p:txBody>
      </p:sp>
      <p:sp>
        <p:nvSpPr>
          <p:cNvPr id="44" name="Text 42"/>
          <p:cNvSpPr/>
          <p:nvPr/>
        </p:nvSpPr>
        <p:spPr>
          <a:xfrm>
            <a:off x="6053328" y="3749040"/>
            <a:ext cx="2295144" cy="228600"/>
          </a:xfrm>
          <a:prstGeom prst="rect">
            <a:avLst/>
          </a:prstGeom>
          <a:noFill/>
          <a:ln/>
        </p:spPr>
        <p:txBody>
          <a:bodyPr wrap="square" lIns="0" tIns="0" rIns="0" bIns="0" rtlCol="0" anchor="ctr"/>
          <a:lstStyle/>
          <a:p>
            <a:pPr indent="0" marL="0">
              <a:buNone/>
            </a:pPr>
            <a:r>
              <a:rPr lang="en-US" sz="1100" b="1" dirty="0">
                <a:solidFill>
                  <a:srgbClr val="8A8A8A"/>
                </a:solidFill>
                <a:latin typeface="Calibri" pitchFamily="34" charset="0"/>
                <a:ea typeface="Calibri" pitchFamily="34" charset="-122"/>
                <a:cs typeface="Calibri" pitchFamily="34" charset="-120"/>
              </a:rPr>
              <a:t>Surface Area</a:t>
            </a:r>
            <a:endParaRPr lang="en-US" sz="1100" dirty="0"/>
          </a:p>
        </p:txBody>
      </p:sp>
      <p:sp>
        <p:nvSpPr>
          <p:cNvPr id="45" name="Text 43"/>
          <p:cNvSpPr/>
          <p:nvPr/>
        </p:nvSpPr>
        <p:spPr>
          <a:xfrm>
            <a:off x="6053328" y="3977640"/>
            <a:ext cx="2295144" cy="274320"/>
          </a:xfrm>
          <a:prstGeom prst="rect">
            <a:avLst/>
          </a:prstGeom>
          <a:noFill/>
          <a:ln/>
        </p:spPr>
        <p:txBody>
          <a:bodyPr wrap="square" lIns="0" tIns="0" rIns="0" bIns="0" rtlCol="0" anchor="ctr"/>
          <a:lstStyle/>
          <a:p>
            <a:pPr indent="0" marL="0">
              <a:buNone/>
            </a:pPr>
            <a:r>
              <a:rPr lang="en-US" sz="1300" dirty="0">
                <a:solidFill>
                  <a:srgbClr val="3A3A3A"/>
                </a:solidFill>
                <a:latin typeface="Calibri" pitchFamily="34" charset="0"/>
                <a:ea typeface="Calibri" pitchFamily="34" charset="-122"/>
                <a:cs typeface="Calibri" pitchFamily="34" charset="-120"/>
              </a:rPr>
              <a:t>SA = 2B + Ph</a:t>
            </a:r>
            <a:endParaRPr lang="en-US" sz="1300" dirty="0"/>
          </a:p>
        </p:txBody>
      </p:sp>
      <p:sp>
        <p:nvSpPr>
          <p:cNvPr id="46" name="Shape 44"/>
          <p:cNvSpPr/>
          <p:nvPr/>
        </p:nvSpPr>
        <p:spPr>
          <a:xfrm>
            <a:off x="457200" y="4617720"/>
            <a:ext cx="8229600" cy="411480"/>
          </a:xfrm>
          <a:prstGeom prst="rect">
            <a:avLst/>
          </a:prstGeom>
          <a:solidFill>
            <a:srgbClr val="1E2761"/>
          </a:solidFill>
          <a:ln/>
        </p:spPr>
      </p:sp>
      <p:sp>
        <p:nvSpPr>
          <p:cNvPr id="47" name="Text 45"/>
          <p:cNvSpPr/>
          <p:nvPr/>
        </p:nvSpPr>
        <p:spPr>
          <a:xfrm>
            <a:off x="640080" y="4617720"/>
            <a:ext cx="7863840" cy="41148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 = base area,  P = base perimeter,  l = slant height,  h = height,  r = radius.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C7293"/>
          </a:solidFill>
          <a:ln/>
        </p:spPr>
      </p:sp>
      <p:sp>
        <p:nvSpPr>
          <p:cNvPr id="3" name="Text 1"/>
          <p:cNvSpPr/>
          <p:nvPr/>
        </p:nvSpPr>
        <p:spPr>
          <a:xfrm>
            <a:off x="548640" y="228600"/>
            <a:ext cx="8046720" cy="640080"/>
          </a:xfrm>
          <a:prstGeom prst="rect">
            <a:avLst/>
          </a:prstGeom>
          <a:noFill/>
          <a:ln/>
        </p:spPr>
        <p:txBody>
          <a:bodyPr wrap="square" lIns="0" tIns="0" rIns="0" bIns="0" rtlCol="0" anchor="ctr"/>
          <a:lstStyle/>
          <a:p>
            <a:pPr indent="0" marL="0">
              <a:buNone/>
            </a:pPr>
            <a:r>
              <a:rPr lang="en-US" sz="3600" b="1" dirty="0">
                <a:solidFill>
                  <a:srgbClr val="1B3A4B"/>
                </a:solidFill>
                <a:latin typeface="Georgia" pitchFamily="34" charset="0"/>
                <a:ea typeface="Georgia" pitchFamily="34" charset="-122"/>
                <a:cs typeface="Georgia" pitchFamily="34" charset="-120"/>
              </a:rPr>
              <a:t>Worked Example: Drain Pipe</a:t>
            </a:r>
            <a:endParaRPr lang="en-US" sz="3600" dirty="0"/>
          </a:p>
        </p:txBody>
      </p:sp>
      <p:sp>
        <p:nvSpPr>
          <p:cNvPr id="4" name="Shape 2"/>
          <p:cNvSpPr/>
          <p:nvPr/>
        </p:nvSpPr>
        <p:spPr>
          <a:xfrm>
            <a:off x="548640" y="960120"/>
            <a:ext cx="8046720" cy="594360"/>
          </a:xfrm>
          <a:prstGeom prst="rect">
            <a:avLst/>
          </a:prstGeom>
          <a:solidFill>
            <a:srgbClr val="E8E3DA"/>
          </a:solidFill>
          <a:ln/>
        </p:spPr>
      </p:sp>
      <p:sp>
        <p:nvSpPr>
          <p:cNvPr id="5" name="Shape 3"/>
          <p:cNvSpPr/>
          <p:nvPr/>
        </p:nvSpPr>
        <p:spPr>
          <a:xfrm>
            <a:off x="548640" y="960120"/>
            <a:ext cx="54864" cy="594360"/>
          </a:xfrm>
          <a:prstGeom prst="rect">
            <a:avLst/>
          </a:prstGeom>
          <a:solidFill>
            <a:srgbClr val="1C7293"/>
          </a:solidFill>
          <a:ln/>
        </p:spPr>
      </p:sp>
      <p:sp>
        <p:nvSpPr>
          <p:cNvPr id="6" name="Text 4"/>
          <p:cNvSpPr/>
          <p:nvPr/>
        </p:nvSpPr>
        <p:spPr>
          <a:xfrm>
            <a:off x="777240" y="960120"/>
            <a:ext cx="7635240" cy="594360"/>
          </a:xfrm>
          <a:prstGeom prst="rect">
            <a:avLst/>
          </a:prstGeom>
          <a:noFill/>
          <a:ln/>
        </p:spPr>
        <p:txBody>
          <a:bodyPr wrap="square" rtlCol="0" anchor="ctr"/>
          <a:lstStyle/>
          <a:p>
            <a:pPr indent="0" marL="0">
              <a:buNone/>
            </a:pPr>
            <a:r>
              <a:rPr lang="en-US" sz="1400" i="1" dirty="0">
                <a:solidFill>
                  <a:srgbClr val="3A3A3A"/>
                </a:solidFill>
                <a:latin typeface="Calibri" pitchFamily="34" charset="0"/>
                <a:ea typeface="Calibri" pitchFamily="34" charset="-122"/>
                <a:cs typeface="Calibri" pitchFamily="34" charset="-120"/>
              </a:rPr>
              <a:t>A 12 ft long drain pipe (inner diameter = 4 inches) is clogged. Will two 5-gallon buckets hold the water pumped out?  (1 gallon = 231 in³)</a:t>
            </a:r>
            <a:endParaRPr lang="en-US" sz="1400" dirty="0"/>
          </a:p>
        </p:txBody>
      </p:sp>
      <p:sp>
        <p:nvSpPr>
          <p:cNvPr id="7" name="Shape 5"/>
          <p:cNvSpPr/>
          <p:nvPr/>
        </p:nvSpPr>
        <p:spPr>
          <a:xfrm>
            <a:off x="548640" y="1737360"/>
            <a:ext cx="5303520" cy="27432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8" name="Shape 6"/>
          <p:cNvSpPr/>
          <p:nvPr/>
        </p:nvSpPr>
        <p:spPr>
          <a:xfrm>
            <a:off x="548640" y="1737360"/>
            <a:ext cx="54864" cy="2743200"/>
          </a:xfrm>
          <a:prstGeom prst="rect">
            <a:avLst/>
          </a:prstGeom>
          <a:solidFill>
            <a:srgbClr val="1C7293"/>
          </a:solidFill>
          <a:ln/>
        </p:spPr>
      </p:sp>
      <p:sp>
        <p:nvSpPr>
          <p:cNvPr id="9" name="Text 7"/>
          <p:cNvSpPr/>
          <p:nvPr/>
        </p:nvSpPr>
        <p:spPr>
          <a:xfrm>
            <a:off x="777240" y="1828800"/>
            <a:ext cx="4846320" cy="274320"/>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Solution</a:t>
            </a:r>
            <a:endParaRPr lang="en-US" sz="1600" dirty="0"/>
          </a:p>
        </p:txBody>
      </p:sp>
      <p:sp>
        <p:nvSpPr>
          <p:cNvPr id="10" name="Text 8"/>
          <p:cNvSpPr/>
          <p:nvPr/>
        </p:nvSpPr>
        <p:spPr>
          <a:xfrm>
            <a:off x="777240" y="2148840"/>
            <a:ext cx="4846320" cy="2194560"/>
          </a:xfrm>
          <a:prstGeom prst="rect">
            <a:avLst/>
          </a:prstGeom>
          <a:noFill/>
          <a:ln/>
        </p:spPr>
        <p:txBody>
          <a:bodyPr wrap="square" lIns="0" tIns="0" rIns="0" bIns="0" rtlCol="0" anchor="ctr"/>
          <a:lstStyle/>
          <a:p>
            <a:pPr indent="0" marL="0">
              <a:buNone/>
            </a:pPr>
            <a:r>
              <a:rPr lang="en-US" sz="1300" b="1" dirty="0">
                <a:solidFill>
                  <a:srgbClr val="3A3A3A"/>
                </a:solidFill>
                <a:latin typeface="Calibri" pitchFamily="34" charset="0"/>
                <a:ea typeface="Calibri" pitchFamily="34" charset="-122"/>
                <a:cs typeface="Calibri" pitchFamily="34" charset="-120"/>
              </a:rPr>
              <a:t>Step 1 — Convert to consistent units:</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Length: 12 ft = 144 in.  Radius: diameter/2 = 4/2 = 2 in.</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Step 2 — Volume of the cylindrical pipe:</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V = πr²h = π(2²)(144) = 576π ≈ 1809.56 in³</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Step 3 — Convert to gallons:</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V = 1809.56 ÷ 231 ≈ 7.83 gallons</a:t>
            </a:r>
            <a:endParaRPr lang="en-US" sz="1300" dirty="0"/>
          </a:p>
          <a:p>
            <a:pPr indent="0" marL="0">
              <a:buNone/>
            </a:pPr>
            <a:endParaRPr lang="en-US" sz="1300" dirty="0"/>
          </a:p>
          <a:p>
            <a:pPr indent="0" marL="0">
              <a:buNone/>
            </a:pPr>
            <a:r>
              <a:rPr lang="en-US" sz="1300" b="1" dirty="0">
                <a:solidFill>
                  <a:srgbClr val="3A3A3A"/>
                </a:solidFill>
                <a:latin typeface="Calibri" pitchFamily="34" charset="0"/>
                <a:ea typeface="Calibri" pitchFamily="34" charset="-122"/>
                <a:cs typeface="Calibri" pitchFamily="34" charset="-120"/>
              </a:rPr>
              <a:t>Step 4 — Compare:</a:t>
            </a:r>
            <a:endParaRPr lang="en-US" sz="1300" dirty="0"/>
          </a:p>
          <a:p>
            <a:pPr indent="0" marL="0">
              <a:buNone/>
            </a:pPr>
            <a:r>
              <a:rPr lang="en-US" sz="1300" dirty="0">
                <a:solidFill>
                  <a:srgbClr val="3A3A3A"/>
                </a:solidFill>
                <a:latin typeface="Calibri" pitchFamily="34" charset="0"/>
                <a:ea typeface="Calibri" pitchFamily="34" charset="-122"/>
                <a:cs typeface="Calibri" pitchFamily="34" charset="-120"/>
              </a:rPr>
              <a:t>Two 5-gallon buckets = 10 gallons. Since 7.83 &lt; 10, yes — two buckets are sufficient.</a:t>
            </a:r>
            <a:endParaRPr lang="en-US" sz="1300" dirty="0"/>
          </a:p>
        </p:txBody>
      </p:sp>
      <p:sp>
        <p:nvSpPr>
          <p:cNvPr id="11" name="Shape 9"/>
          <p:cNvSpPr/>
          <p:nvPr/>
        </p:nvSpPr>
        <p:spPr>
          <a:xfrm>
            <a:off x="6126480" y="1737360"/>
            <a:ext cx="2560320" cy="274320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2" name="Shape 10"/>
          <p:cNvSpPr/>
          <p:nvPr/>
        </p:nvSpPr>
        <p:spPr>
          <a:xfrm>
            <a:off x="6126480" y="1737360"/>
            <a:ext cx="2560320" cy="54864"/>
          </a:xfrm>
          <a:prstGeom prst="rect">
            <a:avLst/>
          </a:prstGeom>
          <a:solidFill>
            <a:srgbClr val="1E2761"/>
          </a:solidFill>
          <a:ln/>
        </p:spPr>
      </p:sp>
      <p:sp>
        <p:nvSpPr>
          <p:cNvPr id="13" name="Text 11"/>
          <p:cNvSpPr/>
          <p:nvPr/>
        </p:nvSpPr>
        <p:spPr>
          <a:xfrm>
            <a:off x="6263640" y="1920240"/>
            <a:ext cx="228600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Answer</a:t>
            </a:r>
            <a:endParaRPr lang="en-US" sz="1600" dirty="0"/>
          </a:p>
        </p:txBody>
      </p:sp>
      <p:sp>
        <p:nvSpPr>
          <p:cNvPr id="14" name="Text 12"/>
          <p:cNvSpPr/>
          <p:nvPr/>
        </p:nvSpPr>
        <p:spPr>
          <a:xfrm>
            <a:off x="6263640" y="2331720"/>
            <a:ext cx="2286000" cy="457200"/>
          </a:xfrm>
          <a:prstGeom prst="rect">
            <a:avLst/>
          </a:prstGeom>
          <a:noFill/>
          <a:ln/>
        </p:spPr>
        <p:txBody>
          <a:bodyPr wrap="square" lIns="0" tIns="0" rIns="0" bIns="0" rtlCol="0" anchor="ctr"/>
          <a:lstStyle/>
          <a:p>
            <a:pPr indent="0" marL="0">
              <a:buNone/>
            </a:pPr>
            <a:r>
              <a:rPr lang="en-US" sz="2800" b="1" dirty="0">
                <a:solidFill>
                  <a:srgbClr val="D4A843"/>
                </a:solidFill>
                <a:latin typeface="Georgia" pitchFamily="34" charset="0"/>
                <a:ea typeface="Georgia" pitchFamily="34" charset="-122"/>
                <a:cs typeface="Georgia" pitchFamily="34" charset="-120"/>
              </a:rPr>
              <a:t>Yes ✓</a:t>
            </a:r>
            <a:endParaRPr lang="en-US" sz="2800" dirty="0"/>
          </a:p>
        </p:txBody>
      </p:sp>
      <p:sp>
        <p:nvSpPr>
          <p:cNvPr id="15" name="Text 13"/>
          <p:cNvSpPr/>
          <p:nvPr/>
        </p:nvSpPr>
        <p:spPr>
          <a:xfrm>
            <a:off x="6263640" y="2788920"/>
            <a:ext cx="2286000" cy="365760"/>
          </a:xfrm>
          <a:prstGeom prst="rect">
            <a:avLst/>
          </a:prstGeom>
          <a:noFill/>
          <a:ln/>
        </p:spPr>
        <p:txBody>
          <a:bodyPr wrap="square" lIns="0" tIns="0" rIns="0" bIns="0" rtlCol="0" anchor="ctr"/>
          <a:lstStyle/>
          <a:p>
            <a:pPr indent="0" marL="0">
              <a:buNone/>
            </a:pPr>
            <a:r>
              <a:rPr lang="en-US" sz="1800" dirty="0">
                <a:solidFill>
                  <a:srgbClr val="5AB8B8"/>
                </a:solidFill>
                <a:latin typeface="Georgia" pitchFamily="34" charset="0"/>
                <a:ea typeface="Georgia" pitchFamily="34" charset="-122"/>
                <a:cs typeface="Georgia" pitchFamily="34" charset="-120"/>
              </a:rPr>
              <a:t>≈ 7.83 gal</a:t>
            </a:r>
            <a:endParaRPr lang="en-US" sz="1800" dirty="0"/>
          </a:p>
        </p:txBody>
      </p:sp>
      <p:sp>
        <p:nvSpPr>
          <p:cNvPr id="16" name="Text 14"/>
          <p:cNvSpPr/>
          <p:nvPr/>
        </p:nvSpPr>
        <p:spPr>
          <a:xfrm>
            <a:off x="6263640" y="3246120"/>
            <a:ext cx="2286000" cy="914400"/>
          </a:xfrm>
          <a:prstGeom prst="rect">
            <a:avLst/>
          </a:prstGeom>
          <a:noFill/>
          <a:ln/>
        </p:spPr>
        <p:txBody>
          <a:bodyPr wrap="square" lIns="0" tIns="0" rIns="0" bIns="0" rtlCol="0" anchor="ctr"/>
          <a:lstStyle/>
          <a:p>
            <a:pPr indent="0" marL="0">
              <a:buNone/>
            </a:pPr>
            <a:r>
              <a:rPr lang="en-US" sz="1200" dirty="0">
                <a:solidFill>
                  <a:srgbClr val="F5F2EB"/>
                </a:solidFill>
                <a:latin typeface="Calibri" pitchFamily="34" charset="0"/>
                <a:ea typeface="Calibri" pitchFamily="34" charset="-122"/>
                <a:cs typeface="Calibri" pitchFamily="34" charset="-120"/>
              </a:rPr>
              <a:t>Two 5-gallon buckets provide more than enough capacity (10 gal &gt; 7.83 gal).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AB8B8"/>
          </a:solidFill>
          <a:ln/>
        </p:spPr>
      </p:sp>
      <p:sp>
        <p:nvSpPr>
          <p:cNvPr id="3" name="Shape 1"/>
          <p:cNvSpPr/>
          <p:nvPr/>
        </p:nvSpPr>
        <p:spPr>
          <a:xfrm rot="900000">
            <a:off x="6858000" y="-274320"/>
            <a:ext cx="2560320" cy="2560320"/>
          </a:xfrm>
          <a:prstGeom prst="rect">
            <a:avLst/>
          </a:prstGeom>
          <a:solidFill>
            <a:srgbClr val="1C7293">
              <a:alpha val="40000"/>
            </a:srgbClr>
          </a:solidFill>
          <a:ln/>
        </p:spPr>
      </p:sp>
      <p:sp>
        <p:nvSpPr>
          <p:cNvPr id="4" name="Shape 2"/>
          <p:cNvSpPr/>
          <p:nvPr/>
        </p:nvSpPr>
        <p:spPr>
          <a:xfrm>
            <a:off x="7772400" y="3200400"/>
            <a:ext cx="1645920" cy="1645920"/>
          </a:xfrm>
          <a:prstGeom prst="ellipse">
            <a:avLst/>
          </a:prstGeom>
          <a:solidFill>
            <a:srgbClr val="2A7B88">
              <a:alpha val="45000"/>
            </a:srgbClr>
          </a:solidFill>
          <a:ln/>
        </p:spPr>
      </p:sp>
      <p:sp>
        <p:nvSpPr>
          <p:cNvPr id="5" name="Text 3"/>
          <p:cNvSpPr/>
          <p:nvPr/>
        </p:nvSpPr>
        <p:spPr>
          <a:xfrm>
            <a:off x="640080" y="914400"/>
            <a:ext cx="548640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References</a:t>
            </a:r>
            <a:endParaRPr lang="en-US" sz="4000" dirty="0"/>
          </a:p>
        </p:txBody>
      </p:sp>
      <p:sp>
        <p:nvSpPr>
          <p:cNvPr id="6" name="Shape 4"/>
          <p:cNvSpPr/>
          <p:nvPr/>
        </p:nvSpPr>
        <p:spPr>
          <a:xfrm>
            <a:off x="640080" y="1691640"/>
            <a:ext cx="2286000" cy="0"/>
          </a:xfrm>
          <a:prstGeom prst="line">
            <a:avLst/>
          </a:prstGeom>
          <a:noFill/>
          <a:ln w="38100">
            <a:solidFill>
              <a:srgbClr val="D4A843"/>
            </a:solidFill>
            <a:prstDash val="solid"/>
          </a:ln>
        </p:spPr>
      </p:sp>
      <p:sp>
        <p:nvSpPr>
          <p:cNvPr id="7" name="Text 5"/>
          <p:cNvSpPr/>
          <p:nvPr/>
        </p:nvSpPr>
        <p:spPr>
          <a:xfrm>
            <a:off x="640080" y="2011680"/>
            <a:ext cx="5943600" cy="731520"/>
          </a:xfrm>
          <a:prstGeom prst="rect">
            <a:avLst/>
          </a:prstGeom>
          <a:noFill/>
          <a:ln/>
        </p:spPr>
        <p:txBody>
          <a:bodyPr wrap="square" lIns="0" tIns="0" rIns="0" bIns="0" rtlCol="0" anchor="ctr"/>
          <a:lstStyle/>
          <a:p>
            <a:pPr indent="0" marL="0">
              <a:buNone/>
            </a:pPr>
            <a:r>
              <a:rPr lang="en-US" sz="1400" dirty="0">
                <a:solidFill>
                  <a:srgbClr val="F5F2EB"/>
                </a:solidFill>
                <a:latin typeface="Calibri" pitchFamily="34" charset="0"/>
                <a:ea typeface="Calibri" pitchFamily="34" charset="-122"/>
                <a:cs typeface="Calibri" pitchFamily="34" charset="-120"/>
              </a:rPr>
              <a:t>Katz, V. J. (1998). A History of Mathematics: An Introduction (2nd ed.). New York, NY: Addison-Wesley.</a:t>
            </a:r>
            <a:endParaRPr lang="en-US" sz="1400" dirty="0"/>
          </a:p>
        </p:txBody>
      </p:sp>
      <p:sp>
        <p:nvSpPr>
          <p:cNvPr id="8" name="Text 6"/>
          <p:cNvSpPr/>
          <p:nvPr/>
        </p:nvSpPr>
        <p:spPr>
          <a:xfrm>
            <a:off x="640080" y="4434840"/>
            <a:ext cx="5486400" cy="365760"/>
          </a:xfrm>
          <a:prstGeom prst="rect">
            <a:avLst/>
          </a:prstGeom>
          <a:noFill/>
          <a:ln/>
        </p:spPr>
        <p:txBody>
          <a:bodyPr wrap="square" lIns="0" tIns="0" rIns="0" bIns="0" rtlCol="0" anchor="ctr"/>
          <a:lstStyle/>
          <a:p>
            <a:pPr indent="0" marL="0">
              <a:buNone/>
            </a:pPr>
            <a:r>
              <a:rPr lang="en-US" sz="1200" dirty="0">
                <a:solidFill>
                  <a:srgbClr val="8A8A8A"/>
                </a:solidFill>
                <a:latin typeface="Calibri" pitchFamily="34" charset="0"/>
                <a:ea typeface="Calibri" pitchFamily="34" charset="-122"/>
                <a:cs typeface="Calibri" pitchFamily="34" charset="-120"/>
              </a:rPr>
              <a:t>MATH 130  |  Liberty University  |  Spring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 130 - Geometry: Circles &amp; Solids</dc:title>
  <dc:subject>PptxGenJS Presentation</dc:subject>
  <dc:creator>Math 130</dc:creator>
  <cp:lastModifiedBy>Math 130</cp:lastModifiedBy>
  <cp:revision>1</cp:revision>
  <dcterms:created xsi:type="dcterms:W3CDTF">2026-03-01T17:02:56Z</dcterms:created>
  <dcterms:modified xsi:type="dcterms:W3CDTF">2026-03-01T17:02:56Z</dcterms:modified>
</cp:coreProperties>
</file>