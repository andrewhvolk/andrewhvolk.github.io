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371600"/>
            <a:ext cx="4572000" cy="4572000"/>
          </a:xfrm>
          <a:prstGeom prst="ellipse">
            <a:avLst/>
          </a:prstGeom>
          <a:solidFill>
            <a:srgbClr val="13547A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2286000"/>
            <a:ext cx="3657600" cy="3657600"/>
          </a:xfrm>
          <a:prstGeom prst="ellipse">
            <a:avLst/>
          </a:prstGeom>
          <a:solidFill>
            <a:srgbClr val="1C7293">
              <a:alpha val="7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10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5.1 &amp; 5.2  |  Angles and Right Triangle Trigonometry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130: Advanced Technical Mathematics  |  Unit 3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4206240"/>
            <a:ext cx="2286000" cy="54864"/>
          </a:xfrm>
          <a:prstGeom prst="rect">
            <a:avLst/>
          </a:prstGeom>
          <a:solidFill>
            <a:srgbClr val="F4845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54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1C7293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8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5.1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Angles and Their Measure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3291840"/>
            <a:ext cx="1828800" cy="45720"/>
          </a:xfrm>
          <a:prstGeom prst="rect">
            <a:avLst/>
          </a:prstGeom>
          <a:solidFill>
            <a:srgbClr val="F4845F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5.1 — Topics Covered (5 Skills)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91440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5214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0972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Sketching angles |θ| &lt; 360° in standard position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5506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600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Sketching angles in degrees &amp; coterminal angles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5798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1031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Sketching angles in radians &amp; coterminal angles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15214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5074920" y="10972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Sketching angles |θ| &gt; 360° in standard position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165506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5074920" y="1600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 length and central angle measure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Angles in Standard Position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84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 Position: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angle drawn in the xy-plane with its vertex at the origin and its initial side along the positive x-axis.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angles are generated by counterclockwise rotation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angles are generated by clockwise rotation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terminal side is the ray after rotation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initial side always lies on the positive x-axis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Sketching Angles with |θ| &lt; 360°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 initial side on the positive x-axis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 counterclockwise for positive angles, clockwise for negative angles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which quadrant the terminal side falls in: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Q I: 0° &lt; θ &lt; 90°     Q II: 90° &lt; θ &lt; 180°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Q III: 180° &lt; θ &lt; 270°     Q IV: 270° &lt; θ &lt; 360°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Sketch θ = 135° → terminal side is in Quadrant II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Sketch θ = −60° → rotate 60° clockwise → terminal side is in Q IV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Coterminal Angles — Degrees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84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Coterminal Angles: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angles in standard position that share the same terminal side. Found by adding or subtracting full rotations (360°).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a coterminal angle: θ ± 360° · n, where n is any integer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45° and 405° are coterminal (405° − 360° = 45°)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−30° and 330° are coterminal (−30° + 360° = 330°)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angle has infinitely many coterminal angles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Coterminal Angles — Radians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84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Coterminal Angles in Radians: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or subtract 2π to find coterminal angles when measured in radians.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Formula: θ ± 2πn, where n is any integer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π/4 and 9π/4 are coterminal (π/4 + 2π = 9π/4)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−π/3 and 5π/3 are coterminal (−π/3 + 2π = 5π/3)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conversion: 360° = 2π rad,  180° = π rad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convert: degrees × (π / 180) = radians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Sketching Angles with |θ| &gt; 360°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Angles greater than 360° (or less than −360°) involve more than one full rotation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by 360° to find how many full rotations plus the remaining angle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θ = 495°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495° − 360° = 135°  →  one full rotation + 135°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Terminal side is in Quadrant II (same as 135°)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θ = −750°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−750° + 2(360°) = −750° + 720° = −30°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Terminal side is in Quadrant IV (same as 330°)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 Length and Central Angle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 length:  s = rθ     (θ must be in radians)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659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 measure of central angle:  θ = s / 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7432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Conversion:  θ(rad) = θ(deg) × π / 180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5204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31520" y="352044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circle arc length:  s = 2πr  (when θ = 2π)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43891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The arc length formula only works when θ is in radians. Always convert degrees to radians first.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Arc Length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circle has radius 12 cm. Find the arc length subtended by a central angle of 150°.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Convert 150° to radians: θ = 150 × π/180 = 5π/6 ≈ 2.618 rad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Apply formula s = rθ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s = 12 × 5π/6 = 10π ≈ 31.42 cm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54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1C7293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8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5.2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Right Triangle Trigonometry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3291840"/>
            <a:ext cx="1828800" cy="45720"/>
          </a:xfrm>
          <a:prstGeom prst="rect">
            <a:avLst/>
          </a:prstGeom>
          <a:solidFill>
            <a:srgbClr val="F4845F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5.2 — Topics Covered (8 Skills)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91440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5214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0972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calculator to approximate sin, cos, tan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5506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600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 ratios: numbers for side lengths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5798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1031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 ratios: variables for side lengths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6090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606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Pythagorean Theorem to find a trig ratio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115214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5074920" y="10972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Pythagorean Theorem for several trig ratios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165506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5074920" y="1600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trig ratio to find a side length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0" y="215798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5074920" y="21031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problem with one right triangle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266090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5074920" y="2606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problem with two right triangles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Right Triangle Trigonometry — SOH CAH TOA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84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SOH-CAH-TOA: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acute angle A in a right triangle with opposite side, adjacent side, and hypotenuse: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 = Opposite / Hypotenuse   (SOH)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 A = Adjacent / Hypotenuse   (CAH)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 A = Opposite / Adjacent   (TOA)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ratios are the same for all similar right triangles with angle A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Reciprocal Trigonometric Functions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A = 1 / sin A = Hypotenuse / Opposite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659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A = 1 / cos A = Hypotenuse / Adjacent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7432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 A = 1 / tan A = Adjacent / Opposite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361188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six functions (sin, cos, tan, csc, sec, cot) are the foundation of trigonometry.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Using a Calculator for Trig Values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your calculator is in the correct mode (degree or radian)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calculators have sin, cos, and tan buttons directly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csc, sec, cot: calculate the reciprocal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csc θ = 1 / sin θ,  sec θ = 1 / cos θ,  cot θ = 1 / tan θ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sin 37° ≈ 0.6018,  cos 37° ≈ 0.7986,  tan 37° ≈ 0.7536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to 4 decimal places unless instructed otherwise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Trig Ratios with Numbers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right triangle has legs of length 5 and 12, with hypotenuse 13. Find all six trig ratios for the angle opposite the side of length 5.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 = 5/13 ≈ 0.3846          csc A = 13/5 = 2.6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 A = 12/13 ≈ 0.9231          sec A = 13/12 ≈ 1.0833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 A = 5/12 ≈ 0.4167          cot A = 12/5 = 2.4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Verify with Pythagorean Theorem: 5² + 12² = 25 + 144 = 169 = 13² ✓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Trig Ratios with Variables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right triangle with angle A, the side opposite A has length a, the adjacent side has length b, and the hypotenuse is c. Express all six trig ratios.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 = a/c          csc A = c/a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 A = b/c          sec A = c/b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 A = a/b          cot A = b/a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identify which side is opposite, adjacent, and hypotenuse relative to the angle of interest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Using Pythagorean Theorem for Trig Ratios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right triangle, one leg is 8 and the hypotenuse is 17. Find sin A and cos A for the angle A opposite the unknown leg.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Find the missing leg using a² + b² = c²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b² = 17² − 8² = 289 − 64 = 225 → b = 15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Write the ratios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sin A = 15/17 ≈ 0.8824     (opposite / hypotenuse)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cos A = 8/17 ≈ 0.4706     (adjacent / hypotenuse)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tan A = 15/8 = 1.875     (opposite / adjacent)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Finding Several Trig Ratios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right triangle where sin θ = 3/5, find cos θ, tan θ, csc θ, sec θ, and cot θ.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sin θ = opp/hyp = 3/5, the opposite = 3 and hypotenuse = 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Adjacent = √(5² − 3²) = √(25 − 9) = √16 = 4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 θ = 4/5 = 0.8           sec θ = 5/4 = 1.25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 θ = 3/4 = 0.75          cot θ = 4/3 ≈ 1.333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θ = 5/3 ≈ 1.667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Special Right Triangles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93192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371600"/>
            <a:ext cx="3566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30-60-90 Triangle: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Sides in ratio  1 : √3 : 2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leg opposite 30°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leg opposite 60°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Hypotenuse opposite 90°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30° = 1/2, cos 30° = √3/2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60° = √3/2, cos 60° = 1/2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93192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2801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54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45-45-90 Triangle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178308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Sides in ratio  1 : 1 : √2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legs are equal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Hypotenuse = leg × √2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45° = √2/2 ≈ 0.7071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 45° = √2/2 ≈ 0.7071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 45° = 1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Finding a Side Length Using Trig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right triangle has a hypotenuse of 20 m and one angle of 35°. Find the length of the side opposite the 35° angle.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Identify: We know the hypotenuse and want the opposite side → use sin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35° = opposite / 20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 = 20 × sin 35° = 20 × 0.5736 ≈ 11.47 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Does the answer make sense? The opposite side should be shorter than the hypotenuse ✓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Word Problem (One Right Triangle)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25-foot ladder leans against a building, making a 70° angle with the ground. How high up the building does the ladder reach?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right triangle: ladder = hypotenuse = 25 ft, angle at base = 70°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height is the side opposite the 70° angle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70° = height / 25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= 25 × sin 70° = 25 × 0.9397 ≈ 23.49 ft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ladder reaches approximately 23.5 ft up the building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Word Problem (Two Right Triangles)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73152" cy="822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058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top of a 150 ft cliff, the angle of depression to a boat is 20° and to a second boat (farther away) is 12°. How far apart are the boats?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 1 (near boat): tan 20° = 150/d₁ → d₁ = 150/tan 20° ≈ 412.1 ft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 2 (far boat): tan 12° = 150/d₂ → d₂ = 150/tan 12° ≈ 705.5 ft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between boats = d₂ − d₁ ≈ 705.5 − 412.1 ≈ 293.4 ft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Both triangles share the same vertical side (cliff height)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Solving Right Triangles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'solve' a triangle means finding all unknown sides and angles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right triangle has 3 sides and 3 angles (one is always 90°)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at least one side plus one other part to solve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Strategy: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1. Sketch and label known and unknown parts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2. Use trig ratios (SOH CAH TOA) to find unknowns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3. The third angle = 90° − (known acute angle)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4. Check: angles sum to 180°, sides satisfy Pythagorean Theorem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Trigonometric Identities (Section 5.2)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Reciprocal: csc θ = 1/sin θ,  sec θ = 1/cos θ,  cot θ = 1/tan θ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659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Quotient: tan θ = sin θ / cos θ,  cot θ = cos θ / sin θ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7432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Pythagorean: sin²θ + cos²θ = 1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5204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31520" y="352044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Pythagorean: 1 + tan²θ = sec²θ,   1 + cot²θ = csc²θ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43891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Co-function identities: sin(90°−θ) = cos θ,  cos(90°−θ) = sin θ,  tan(90°−θ) = cot θ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3547A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10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828800" cy="45720"/>
          </a:xfrm>
          <a:prstGeom prst="rect">
            <a:avLst/>
          </a:prstGeom>
          <a:solidFill>
            <a:srgbClr val="F4845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5.1: Angles in standard position, coterminal angles (degrees and radians), arc length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5.2: SOH-CAH-TOA, trig ratios, calculator usage, special triangles (30-60-90 and 45-45-90)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skill: Use Pythagorean Theorem with trig ratios to find missing sides and ratios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Word problems with one and two right triangles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ALEKS topics total for this module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10: Sections 5.1, 5.2</dc:title>
  <dc:subject>PptxGenJS Presentation</dc:subject>
  <dc:creator>Math 130</dc:creator>
  <cp:lastModifiedBy>Math 130</cp:lastModifiedBy>
  <cp:revision>1</cp:revision>
  <dcterms:created xsi:type="dcterms:W3CDTF">2026-03-11T16:36:17Z</dcterms:created>
  <dcterms:modified xsi:type="dcterms:W3CDTF">2026-03-11T16:36:17Z</dcterms:modified>
</cp:coreProperties>
</file>