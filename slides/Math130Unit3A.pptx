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368" r:id="rId2"/>
    <p:sldId id="427" r:id="rId3"/>
    <p:sldId id="438" r:id="rId4"/>
    <p:sldId id="439" r:id="rId5"/>
    <p:sldId id="440" r:id="rId6"/>
    <p:sldId id="369" r:id="rId7"/>
    <p:sldId id="446" r:id="rId8"/>
    <p:sldId id="449" r:id="rId9"/>
    <p:sldId id="450" r:id="rId10"/>
    <p:sldId id="430" r:id="rId11"/>
    <p:sldId id="422" r:id="rId12"/>
    <p:sldId id="386" r:id="rId13"/>
    <p:sldId id="388" r:id="rId14"/>
    <p:sldId id="387" r:id="rId15"/>
    <p:sldId id="442" r:id="rId16"/>
    <p:sldId id="441" r:id="rId17"/>
    <p:sldId id="389" r:id="rId18"/>
    <p:sldId id="374" r:id="rId19"/>
    <p:sldId id="371" r:id="rId20"/>
    <p:sldId id="372" r:id="rId21"/>
    <p:sldId id="375" r:id="rId22"/>
    <p:sldId id="443" r:id="rId23"/>
    <p:sldId id="451" r:id="rId24"/>
    <p:sldId id="447" r:id="rId25"/>
    <p:sldId id="448" r:id="rId26"/>
    <p:sldId id="452" r:id="rId27"/>
  </p:sldIdLst>
  <p:sldSz cx="9144000" cy="6858000" type="screen4x3"/>
  <p:notesSz cx="7315200" cy="96012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06600"/>
    <a:srgbClr val="0000FF"/>
    <a:srgbClr val="660066"/>
    <a:srgbClr val="FFFF00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758" autoAdjust="0"/>
    <p:restoredTop sz="80837" autoAdjust="0"/>
  </p:normalViewPr>
  <p:slideViewPr>
    <p:cSldViewPr>
      <p:cViewPr varScale="1">
        <p:scale>
          <a:sx n="66" d="100"/>
          <a:sy n="66" d="100"/>
        </p:scale>
        <p:origin x="1786" y="7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130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391C066D-3AF1-4B4F-9031-B75B3FD2C054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4D49327-9843-45D3-98E9-241379F73B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12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20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125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11 Mar 2022 before </a:t>
            </a:r>
            <a:r>
              <a:rPr lang="en-US"/>
              <a:t>Spring Break.</a:t>
            </a:r>
          </a:p>
          <a:p>
            <a:r>
              <a:rPr lang="en-US" dirty="0"/>
              <a:t>Last slide on 15 Oct 2018</a:t>
            </a:r>
          </a:p>
          <a:p>
            <a:r>
              <a:rPr lang="en-US" dirty="0"/>
              <a:t>Last slide on 4 Oct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5519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31 Oct 2022.  Showed that the ratios SOA CAH TOA are the same no matter what size </a:t>
            </a:r>
            <a:r>
              <a:rPr lang="en-US"/>
              <a:t>the triangle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015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10 Apr 2019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324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C0480-E94B-AA9D-DD04-17F3A22060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47C37-D1D2-9D7A-A528-0AAE42EBEA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327769-2C23-A36A-70FB-5F0B83A2F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</a:t>
            </a:r>
            <a:r>
              <a:rPr lang="en-US"/>
              <a:t>12 Apr</a:t>
            </a:r>
            <a:r>
              <a:rPr lang="en-US" baseline="0"/>
              <a:t> 2019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FE4CC7-9136-2BA1-3D5E-8561A00704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8379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10 Apr 2019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13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Last slide on 12 Apr 2021</a:t>
            </a:r>
            <a:endParaRPr lang="en-US" dirty="0"/>
          </a:p>
          <a:p>
            <a:r>
              <a:rPr lang="en-US" dirty="0"/>
              <a:t>Last slide on 2 Nov 2020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4948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=3.5</a:t>
                </a:r>
              </a:p>
              <a:p>
                <a:r>
                  <a:rPr lang="en-US" dirty="0"/>
                  <a:t>Last slide on </a:t>
                </a:r>
                <a:r>
                  <a:rPr lang="en-US"/>
                  <a:t>27 Oct 2025</a:t>
                </a:r>
                <a:endParaRPr lang="en-US" dirty="0"/>
              </a:p>
              <a:p>
                <a:r>
                  <a:rPr lang="en-US" dirty="0"/>
                  <a:t>Last slide on 25 Oct 2023, but only found side </a:t>
                </a:r>
                <a:r>
                  <a:rPr lang="en-US" i="1" dirty="0"/>
                  <a:t>a</a:t>
                </a:r>
                <a:r>
                  <a:rPr lang="en-US" i="0" dirty="0"/>
                  <a:t>.</a:t>
                </a:r>
                <a:endParaRPr lang="en-US" dirty="0"/>
              </a:p>
              <a:p>
                <a:r>
                  <a:rPr lang="en-US" dirty="0"/>
                  <a:t>Last slide on 3 Apr 2023</a:t>
                </a:r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b="0" i="0" dirty="0" smtClean="0">
                    <a:latin typeface="Cambria Math" panose="02040503050406030204" pitchFamily="18" charset="0"/>
                  </a:rPr>
                  <a:t>𝑎</a:t>
                </a:r>
                <a:r>
                  <a:rPr lang="en-US" dirty="0" smtClean="0"/>
                  <a:t>=3.5</a:t>
                </a:r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34747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Last slide on 21 Mar 2022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6529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24 Mar 2025. </a:t>
            </a:r>
            <a:r>
              <a:rPr lang="en-US"/>
              <a:t>However, did not show the calculator error.</a:t>
            </a:r>
          </a:p>
          <a:p>
            <a:r>
              <a:rPr lang="en-US"/>
              <a:t>Last </a:t>
            </a:r>
            <a:r>
              <a:rPr lang="en-US" dirty="0"/>
              <a:t>slide on 28 Oct 2024.  However, did not show the calculator error.</a:t>
            </a:r>
          </a:p>
          <a:p>
            <a:r>
              <a:rPr lang="en-US" dirty="0"/>
              <a:t>Last slide on 29 Oct 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369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5423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25 Mar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20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</a:t>
            </a:r>
            <a:r>
              <a:rPr lang="en-US"/>
              <a:t>12 Apr</a:t>
            </a:r>
            <a:r>
              <a:rPr lang="en-US" baseline="0"/>
              <a:t> 2019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413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Last slide on 28 Mar 2025.  Did first two examples.</a:t>
            </a:r>
          </a:p>
          <a:p>
            <a:r>
              <a:rPr lang="en-US" dirty="0"/>
              <a:t>Last slide on 2 Nov 2022.  Only did first example.</a:t>
            </a:r>
          </a:p>
          <a:p>
            <a:r>
              <a:rPr lang="en-US" dirty="0"/>
              <a:t>Last slide on 1 Nov 2021.  Did first two examples.</a:t>
            </a:r>
          </a:p>
          <a:p>
            <a:r>
              <a:rPr lang="en-US" dirty="0"/>
              <a:t>Last slide on 27 Mar 2020.  Only did first example.</a:t>
            </a:r>
          </a:p>
          <a:p>
            <a:r>
              <a:rPr lang="en-US" dirty="0"/>
              <a:t>Last slide on 16 Oct 2019.  Did first example.</a:t>
            </a:r>
          </a:p>
          <a:p>
            <a:r>
              <a:rPr lang="en-US" dirty="0"/>
              <a:t>Last slide on 3 Oct 2018.  Only did first example.  Homework due Wed after Fall Break.</a:t>
            </a:r>
          </a:p>
          <a:p>
            <a:r>
              <a:rPr lang="en-US" dirty="0"/>
              <a:t>Last slide on 13 Oct 2017.  Only did first</a:t>
            </a:r>
            <a:r>
              <a:rPr lang="en-US" baseline="0" dirty="0"/>
              <a:t>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5436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</a:t>
            </a:r>
            <a:r>
              <a:rPr lang="en-US" baseline="0" dirty="0"/>
              <a:t> slide on 14 Apr 2021.  Did a) and sketched b).</a:t>
            </a:r>
            <a:endParaRPr lang="en-US" dirty="0"/>
          </a:p>
          <a:p>
            <a:r>
              <a:rPr lang="en-US" dirty="0"/>
              <a:t>Last slide on 15 Apr 2018.  Did a) and 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1245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29 Oct 2025.  Did a), d), f).</a:t>
            </a:r>
          </a:p>
          <a:p>
            <a:r>
              <a:rPr lang="en-US" dirty="0"/>
              <a:t>Last slide on 29 Mar 2024. Did d) only.  Use these for quiz after Easter.</a:t>
            </a:r>
          </a:p>
          <a:p>
            <a:r>
              <a:rPr lang="en-US" dirty="0"/>
              <a:t>Last slide on 15 Apr 2018.  Did a) and c)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225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2E423-B68B-210A-CC9D-B9C480F5D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B88C6F9-CD95-0A41-85F0-BFDF017A6A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18BE84C-9E43-C819-8097-E364B32656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slide on 29 Oct 2025.  Did a), d), f).</a:t>
            </a:r>
          </a:p>
          <a:p>
            <a:r>
              <a:rPr lang="en-US" dirty="0"/>
              <a:t>Last slide on 29 Mar 2024. Did d) only.  Use these for quiz after Easter.</a:t>
            </a:r>
          </a:p>
          <a:p>
            <a:r>
              <a:rPr lang="en-US" dirty="0"/>
              <a:t>Last slide on 15 Apr 2018.  Did a) and 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1F5A1D-200F-5DE9-57E4-6F076281E5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994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1D3F-0E10-E59F-876C-48577379B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60060B-8330-966C-E9BE-0F96C05157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6B63EC2-E6F2-4F7F-2FA8-CEDA6A86E5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a) 20,  b) 25, c) 10, d) 6, e)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725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ra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≈26.9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Last slide on 31 Oct 2025.</a:t>
                </a:r>
              </a:p>
              <a:p>
                <a:r>
                  <a:rPr lang="en-US" dirty="0"/>
                  <a:t>Last slide on 30 Oct 2024.  On 1 NOV just did Test 2 review and 5.2 exercises from textbook.</a:t>
                </a:r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36B63EC2-E6F2-4F7F-2FA8-CEDA6A86E50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a) 20,  b) 25, c) 10, d) 6, e) </a:t>
                </a:r>
                <a:r>
                  <a:rPr lang="en-US" i="0">
                    <a:latin typeface="Cambria Math" panose="02040503050406030204" pitchFamily="18" charset="0"/>
                  </a:rPr>
                  <a:t>√</a:t>
                </a:r>
                <a:r>
                  <a:rPr lang="en-US" b="0" i="0">
                    <a:latin typeface="Cambria Math" panose="02040503050406030204" pitchFamily="18" charset="0"/>
                  </a:rPr>
                  <a:t>725=5√29</a:t>
                </a:r>
                <a:r>
                  <a:rPr lang="en-US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≈26.9</a:t>
                </a:r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Last slide on 30 Oct 2024.  On 1 NOV just did Test 2 review and 5.2 exercises from textbook.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533490-B2C4-CDAD-BACB-23AEA903B4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2454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0B55A-8548-6532-A8A6-AE2FA99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F1A68-FD71-C607-DD15-D6E15B9460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57E17D-E275-2DA5-6266-510A103C2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19.1 miles</a:t>
            </a:r>
          </a:p>
          <a:p>
            <a:r>
              <a:rPr lang="en-US"/>
              <a:t>Last slide on 31 Mar 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BC7000-00CA-4C03-25BE-C7A009ADF1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3867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10624-EA00-3CA0-3EA4-583CB0BE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4A79F4-4F32-35C4-EB14-41C62EDDD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337F95-EB70-9E78-FBD5-B573C90EA21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19.1 miles</a:t>
            </a:r>
          </a:p>
          <a:p>
            <a:r>
              <a:rPr lang="en-US"/>
              <a:t>Last slide on 31 Mar 2025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050EC-25BA-D2F0-E55E-439FDEF73B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D49327-9843-45D3-98E9-241379F73BEB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22" name="Subtitle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20" name="Footer Placehold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76200"/>
            <a:ext cx="7498080" cy="1143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1219200"/>
            <a:ext cx="7498080" cy="48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 eaLnBrk="1" latinLnBrk="0" hangingPunct="1"/>
            <a:r>
              <a:rPr lang="en-US" dirty="0"/>
              <a:t>Click to edit Master text styles</a:t>
            </a:r>
          </a:p>
          <a:p>
            <a:pPr lvl="1" eaLnBrk="1" latinLnBrk="0" hangingPunct="1"/>
            <a:r>
              <a:rPr lang="en-US" dirty="0"/>
              <a:t>Second level</a:t>
            </a:r>
          </a:p>
          <a:p>
            <a:pPr lvl="2" eaLnBrk="1" latinLnBrk="0" hangingPunct="1"/>
            <a:r>
              <a:rPr lang="en-US" dirty="0"/>
              <a:t>Third level</a:t>
            </a:r>
          </a:p>
          <a:p>
            <a:pPr lvl="3" eaLnBrk="1" latinLnBrk="0" hangingPunct="1"/>
            <a:r>
              <a:rPr lang="en-US" dirty="0"/>
              <a:t>Fourth level</a:t>
            </a:r>
          </a:p>
          <a:p>
            <a:pPr lvl="4" eaLnBrk="1" latinLnBrk="0" hangingPunct="1"/>
            <a:r>
              <a:rPr lang="en-US" dirty="0"/>
              <a:t>Fifth level</a:t>
            </a:r>
            <a:endParaRPr kumimoji="0"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Oval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Oval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906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906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9" name="Flowchart: Proc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owchart: Proc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AB02A5-4FE5-49D9-9E24-09F23B90C450}" type="datetimeFigureOut">
              <a:rPr lang="en-US" smtClean="0"/>
              <a:pPr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4C92D-0306-4E69-9CD3-20855E849650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11/5/2025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762000" y="7620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762000" y="12192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pPr algn="r" eaLnBrk="1" latinLnBrk="0" hangingPunct="1"/>
            <a:fld id="{54AB02A5-4FE5-49D9-9E24-09F23B90C450}" type="datetimeFigureOut">
              <a:rPr lang="en-US" smtClean="0"/>
              <a:pPr algn="r" eaLnBrk="1" latinLnBrk="0" hangingPunct="1"/>
              <a:t>11/5/2025</a:t>
            </a:fld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pPr algn="ctr" eaLnBrk="1" latinLnBrk="0" hangingPunct="1"/>
            <a:fld id="{6294C92D-0306-4E69-9CD3-20855E849650}" type="slidenum">
              <a:rPr kumimoji="0" lang="en-US" smtClean="0"/>
              <a:pPr algn="ctr" eaLnBrk="1" latinLnBrk="0" hangingPunct="1"/>
              <a:t>‹#›</a:t>
            </a:fld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grpSp>
        <p:nvGrpSpPr>
          <p:cNvPr id="13" name="Group 2"/>
          <p:cNvGrpSpPr>
            <a:grpSpLocks/>
          </p:cNvGrpSpPr>
          <p:nvPr userDrawn="1"/>
        </p:nvGrpSpPr>
        <p:grpSpPr bwMode="auto">
          <a:xfrm>
            <a:off x="228600" y="381000"/>
            <a:ext cx="533400" cy="6096000"/>
            <a:chOff x="144" y="240"/>
            <a:chExt cx="336" cy="3840"/>
          </a:xfrm>
        </p:grpSpPr>
        <p:sp>
          <p:nvSpPr>
            <p:cNvPr id="14" name="Rectangle 3"/>
            <p:cNvSpPr>
              <a:spLocks noChangeArrowheads="1"/>
            </p:cNvSpPr>
            <p:nvPr/>
          </p:nvSpPr>
          <p:spPr bwMode="auto">
            <a:xfrm>
              <a:off x="144" y="240"/>
              <a:ext cx="288" cy="384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Rectangle 4"/>
            <p:cNvSpPr>
              <a:spLocks noChangeArrowheads="1"/>
            </p:cNvSpPr>
            <p:nvPr/>
          </p:nvSpPr>
          <p:spPr bwMode="auto">
            <a:xfrm>
              <a:off x="336" y="240"/>
              <a:ext cx="96" cy="3840"/>
            </a:xfrm>
            <a:prstGeom prst="rect">
              <a:avLst/>
            </a:prstGeom>
            <a:solidFill>
              <a:srgbClr val="0099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7" name="Rectangle 5"/>
            <p:cNvSpPr>
              <a:spLocks noChangeArrowheads="1"/>
            </p:cNvSpPr>
            <p:nvPr/>
          </p:nvSpPr>
          <p:spPr bwMode="auto">
            <a:xfrm>
              <a:off x="432" y="240"/>
              <a:ext cx="48" cy="3840"/>
            </a:xfrm>
            <a:prstGeom prst="rect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rgbClr val="000066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20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7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19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8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7.png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8.png"/><Relationship Id="rId9" Type="http://schemas.openxmlformats.org/officeDocument/2006/relationships/image" Target="../media/image49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2600324"/>
            <a:ext cx="6400800" cy="3952876"/>
          </a:xfrm>
        </p:spPr>
        <p:txBody>
          <a:bodyPr>
            <a:normAutofit/>
          </a:bodyPr>
          <a:lstStyle/>
          <a:p>
            <a:r>
              <a:rPr lang="en-US" sz="2800" dirty="0"/>
              <a:t>Trigonometric Functions</a:t>
            </a:r>
            <a:br>
              <a:rPr lang="en-US" sz="2800" dirty="0"/>
            </a:br>
            <a:r>
              <a:rPr lang="en-US" sz="2800" b="0" cap="non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5.1 Angles and Their Measure</a:t>
            </a:r>
            <a:br>
              <a:rPr lang="en-US" sz="2800" b="0" cap="non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cap="non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5.2 Right Triangle Trigonometry</a:t>
            </a:r>
            <a:br>
              <a:rPr lang="en-US" sz="2800" b="0" cap="non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cap="non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5.3 Trigonometric Functions at Any Angle</a:t>
            </a:r>
            <a:br>
              <a:rPr lang="en-US" sz="2800" b="0" cap="non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2800" b="0" cap="none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5.7 Inverse Trigonometric Functions</a:t>
            </a:r>
            <a:br>
              <a:rPr lang="en-US" sz="2800" b="0" cap="none">
                <a:effectLst/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2800" b="0" cap="none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38400" y="1066800"/>
            <a:ext cx="6400800" cy="1509712"/>
          </a:xfrm>
        </p:spPr>
        <p:txBody>
          <a:bodyPr>
            <a:normAutofit/>
          </a:bodyPr>
          <a:lstStyle/>
          <a:p>
            <a:r>
              <a:rPr lang="en-US" sz="3600" dirty="0"/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7296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5.1  Angles and Their Measures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Most of the concepts in 5.1 were covered in earlier Geometry lessons.</a:t>
                </a:r>
              </a:p>
              <a:p>
                <a:pPr lvl="1"/>
                <a:r>
                  <a:rPr lang="en-US" dirty="0"/>
                  <a:t>Angles</a:t>
                </a:r>
              </a:p>
              <a:p>
                <a:pPr lvl="2"/>
                <a:r>
                  <a:rPr lang="en-US" dirty="0"/>
                  <a:t>Complementary, supplementary, acute, obtuse, right, alternate interior, central, inscribed, ….</a:t>
                </a:r>
              </a:p>
              <a:p>
                <a:pPr lvl="1"/>
                <a:r>
                  <a:rPr lang="en-US" dirty="0"/>
                  <a:t>Measure of angles</a:t>
                </a:r>
              </a:p>
              <a:p>
                <a:pPr lvl="2"/>
                <a:r>
                  <a:rPr lang="en-US" dirty="0"/>
                  <a:t>Degrees, radians; degrees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minutes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seconds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Arc length</a:t>
                </a:r>
              </a:p>
              <a:p>
                <a:pPr lvl="1"/>
                <a:r>
                  <a:rPr lang="en-US" dirty="0"/>
                  <a:t>Angular and linear speed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1015" r="-20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5678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 in Standard Position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90600" y="1066800"/>
            <a:ext cx="8153400" cy="5257800"/>
          </a:xfrm>
        </p:spPr>
        <p:txBody>
          <a:bodyPr>
            <a:noAutofit/>
          </a:bodyPr>
          <a:lstStyle/>
          <a:p>
            <a:pPr marL="82296" lvl="0" indent="0">
              <a:buNone/>
            </a:pPr>
            <a:r>
              <a:rPr lang="en-US" dirty="0"/>
              <a:t>Angles in </a:t>
            </a:r>
            <a:r>
              <a:rPr lang="en-US" b="1" dirty="0">
                <a:solidFill>
                  <a:srgbClr val="0000CC"/>
                </a:solidFill>
              </a:rPr>
              <a:t>Standard Position</a:t>
            </a:r>
            <a:r>
              <a:rPr lang="en-US" dirty="0">
                <a:solidFill>
                  <a:srgbClr val="0000CC"/>
                </a:solidFill>
              </a:rPr>
              <a:t> </a:t>
            </a:r>
            <a:r>
              <a:rPr lang="en-US" dirty="0"/>
              <a:t>are drawn in the </a:t>
            </a:r>
            <a:r>
              <a:rPr lang="en-US" i="1" dirty="0" err="1"/>
              <a:t>xy</a:t>
            </a:r>
            <a:r>
              <a:rPr lang="en-US" dirty="0"/>
              <a:t>-plane with vertex at the origin and initial side on the positive </a:t>
            </a:r>
            <a:r>
              <a:rPr lang="en-US" i="1" dirty="0"/>
              <a:t>x</a:t>
            </a:r>
            <a:r>
              <a:rPr lang="en-US" dirty="0"/>
              <a:t>-axis.</a:t>
            </a:r>
          </a:p>
          <a:p>
            <a:pPr lvl="0"/>
            <a:r>
              <a:rPr lang="en-US" dirty="0"/>
              <a:t>Positive angles are generated by counterclockwise rotation.</a:t>
            </a:r>
          </a:p>
          <a:p>
            <a:pPr lvl="0"/>
            <a:r>
              <a:rPr lang="en-US" dirty="0"/>
              <a:t>Negative angles are generated by clockwise rotation.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300" y="3200400"/>
            <a:ext cx="3667635" cy="301098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" y="3175715"/>
            <a:ext cx="3657600" cy="299179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43063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0150" y="3175715"/>
            <a:ext cx="3657600" cy="2991796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990600" y="1066800"/>
                <a:ext cx="8153400" cy="5791200"/>
              </a:xfrm>
            </p:spPr>
            <p:txBody>
              <a:bodyPr>
                <a:noAutofit/>
              </a:bodyPr>
              <a:lstStyle/>
              <a:p>
                <a:pPr marL="82296" lvl="0" indent="0">
                  <a:buNone/>
                </a:pPr>
                <a:r>
                  <a:rPr lang="en-US" dirty="0"/>
                  <a:t>Angles in </a:t>
                </a:r>
                <a:r>
                  <a:rPr lang="en-US" b="1" dirty="0">
                    <a:solidFill>
                      <a:srgbClr val="0000CC"/>
                    </a:solidFill>
                  </a:rPr>
                  <a:t>Standard Position</a:t>
                </a:r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  <a:r>
                  <a:rPr lang="en-US" dirty="0"/>
                  <a:t>are drawn in the </a:t>
                </a:r>
                <a:r>
                  <a:rPr lang="en-US" i="1" dirty="0" err="1"/>
                  <a:t>xy</a:t>
                </a:r>
                <a:r>
                  <a:rPr lang="en-US" dirty="0"/>
                  <a:t>-plane with vertex at the origin and initial side on the positive </a:t>
                </a:r>
                <a:r>
                  <a:rPr lang="en-US" i="1" dirty="0"/>
                  <a:t>x</a:t>
                </a:r>
                <a:r>
                  <a:rPr lang="en-US" dirty="0"/>
                  <a:t>-axis.</a:t>
                </a:r>
              </a:p>
              <a:p>
                <a:pPr lvl="0"/>
                <a:r>
                  <a:rPr lang="en-US" dirty="0"/>
                  <a:t>Positive angles are generated by counterclockwise rotation.</a:t>
                </a:r>
              </a:p>
              <a:p>
                <a:pPr lvl="0"/>
                <a:r>
                  <a:rPr lang="en-US" dirty="0"/>
                  <a:t>Negative angles are generated by clockwise rotation.</a:t>
                </a:r>
              </a:p>
              <a:p>
                <a:pPr lvl="1"/>
                <a:r>
                  <a:rPr lang="en-US" dirty="0"/>
                  <a:t>Examples: Sketch the angles in standard position.</a:t>
                </a:r>
              </a:p>
              <a:p>
                <a:pPr marL="402336" lvl="1" indent="0">
                  <a:buNone/>
                </a:pPr>
                <a:r>
                  <a:rPr lang="en-US" dirty="0"/>
                  <a:t>			         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230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−77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Solution: on the board.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066800"/>
                <a:ext cx="8153400" cy="5791200"/>
              </a:xfrm>
              <a:blipFill>
                <a:blip r:embed="rId5"/>
                <a:stretch>
                  <a:fillRect l="-150" t="-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2103458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76600"/>
            <a:ext cx="5610225" cy="2847975"/>
          </a:xfrm>
          <a:prstGeom prst="rect">
            <a:avLst/>
          </a:prstGeom>
        </p:spPr>
      </p:pic>
      <p:sp>
        <p:nvSpPr>
          <p:cNvPr id="18" name="Title 1"/>
          <p:cNvSpPr txBox="1">
            <a:spLocks/>
          </p:cNvSpPr>
          <p:nvPr/>
        </p:nvSpPr>
        <p:spPr>
          <a:xfrm>
            <a:off x="990600" y="0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600" noProof="0" dirty="0">
                <a:solidFill>
                  <a:schemeClr val="tx2">
                    <a:satMod val="130000"/>
                  </a:schemeClr>
                </a:solidFill>
                <a:effectLst>
                  <a:outerShdw blurRad="50000" dist="30000" dir="5400000" algn="tl" rotWithShape="0">
                    <a:srgbClr val="000000">
                      <a:alpha val="30000"/>
                    </a:srgbClr>
                  </a:outerShdw>
                </a:effectLst>
                <a:latin typeface="+mj-lt"/>
                <a:ea typeface="+mj-ea"/>
                <a:cs typeface="+mj-cs"/>
              </a:rPr>
              <a:t>Angles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tx2">
                  <a:satMod val="130000"/>
                </a:schemeClr>
              </a:solidFill>
              <a:effectLst>
                <a:outerShdw blurRad="50000" dist="30000" dir="5400000" algn="tl" rotWithShape="0">
                  <a:srgbClr val="000000">
                    <a:alpha val="30000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990600" y="1066800"/>
                <a:ext cx="8153400" cy="5257800"/>
              </a:xfrm>
            </p:spPr>
            <p:txBody>
              <a:bodyPr>
                <a:noAutofit/>
              </a:bodyPr>
              <a:lstStyle/>
              <a:p>
                <a:pPr marL="82296" indent="0">
                  <a:buNone/>
                </a:pPr>
                <a:r>
                  <a:rPr lang="en-US" b="1" dirty="0">
                    <a:solidFill>
                      <a:srgbClr val="0000CC"/>
                    </a:solidFill>
                  </a:rPr>
                  <a:t>Coterminal Angles</a:t>
                </a:r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  <a:r>
                  <a:rPr lang="en-US" dirty="0"/>
                  <a:t>are angles in standard position whose sides coincide.</a:t>
                </a:r>
              </a:p>
              <a:p>
                <a:pPr lvl="1"/>
                <a:r>
                  <a:rPr lang="en-US" dirty="0"/>
                  <a:t>Examples:  Determine two coterminal angles (one positive and one negative) for each angle</a:t>
                </a:r>
              </a:p>
              <a:p>
                <a:pPr marL="402336" lvl="1" indent="0">
                  <a:buNone/>
                </a:pPr>
                <a:r>
                  <a:rPr lang="en-US" dirty="0"/>
                  <a:t>			         </a:t>
                </a:r>
                <a14:m>
                  <m:oMath xmlns:m="http://schemas.openxmlformats.org/officeDocument/2006/math">
                    <m:r>
                      <a:rPr lang="en-US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230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−77</m:t>
                    </m:r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dirty="0"/>
              </a:p>
              <a:p>
                <a:pPr marL="402336" lvl="1" indent="0">
                  <a:buNone/>
                </a:pPr>
                <a:endParaRPr lang="en-US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endParaRPr lang="en-US" b="1" dirty="0"/>
              </a:p>
              <a:p>
                <a:r>
                  <a:rPr lang="en-US" dirty="0"/>
                  <a:t>Solution: on the board.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90600" y="1066800"/>
                <a:ext cx="8153400" cy="5257800"/>
              </a:xfrm>
              <a:blipFill>
                <a:blip r:embed="rId5"/>
                <a:stretch>
                  <a:fillRect l="-150" t="-927" r="-449" b="-39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40014641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5.2  Right Triangle Trigonometry</a:t>
            </a:r>
          </a:p>
        </p:txBody>
      </p:sp>
    </p:spTree>
    <p:extLst>
      <p:ext uri="{BB962C8B-B14F-4D97-AF65-F5344CB8AC3E}">
        <p14:creationId xmlns:p14="http://schemas.microsoft.com/office/powerpoint/2010/main" val="907192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5.2  Right Triangle Trigonometry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8077200" cy="4800600"/>
              </a:xfrm>
            </p:spPr>
            <p:txBody>
              <a:bodyPr/>
              <a:lstStyle/>
              <a:p>
                <a:r>
                  <a:rPr lang="en-US" dirty="0"/>
                  <a:t>What do we know, so far, about right triangles?</a:t>
                </a:r>
              </a:p>
              <a:p>
                <a:endParaRPr lang="en-US" dirty="0"/>
              </a:p>
              <a:p>
                <a:r>
                  <a:rPr lang="en-US" dirty="0"/>
                  <a:t>Suppose two </a:t>
                </a:r>
                <a:r>
                  <a:rPr lang="en-US" i="1" dirty="0"/>
                  <a:t>right</a:t>
                </a:r>
                <a:r>
                  <a:rPr lang="en-US" dirty="0"/>
                  <a:t> triangles each had an interior angle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82296" indent="0">
                  <a:buNone/>
                </a:pPr>
                <a:r>
                  <a:rPr lang="en-US" dirty="0"/>
                  <a:t>    What could you conclude when comparing the two triangles?</a:t>
                </a: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8077200" cy="4800600"/>
              </a:xfrm>
              <a:blipFill>
                <a:blip r:embed="rId3"/>
                <a:stretch>
                  <a:fillRect t="-1015" r="-1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493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B744B-5E96-4143-E17C-7D54DEB52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F7560D-7B8D-00D2-4792-7F9A3AADD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Special Triangles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90EE26-D62F-E124-142A-1CA0882627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066800"/>
            <a:ext cx="7498080" cy="4800600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30°-60°-90° triangles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45°-45°-90° triangles</a:t>
            </a:r>
          </a:p>
          <a:p>
            <a:endParaRPr lang="en-US" sz="2000" dirty="0">
              <a:solidFill>
                <a:srgbClr val="0000CC"/>
              </a:solidFill>
              <a:sym typeface="Symbol" panose="05050102010706020507" pitchFamily="18" charset="2"/>
            </a:endParaRPr>
          </a:p>
          <a:p>
            <a:pPr lvl="1"/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46448-D293-98B2-446F-4CAB5C8F12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2326857" cy="20907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5B36135-2DEC-271D-9213-4DB3BA1A8A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404" y="3657600"/>
            <a:ext cx="2091536" cy="2016838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11D57DE-051B-748F-1E54-AAEFA2A239FC}"/>
              </a:ext>
            </a:extLst>
          </p:cNvPr>
          <p:cNvSpPr/>
          <p:nvPr/>
        </p:nvSpPr>
        <p:spPr>
          <a:xfrm>
            <a:off x="6324600" y="2009749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4B696B1-50AF-9BC8-3264-A1EB422B9BAD}"/>
                  </a:ext>
                </a:extLst>
              </p:cNvPr>
              <p:cNvSpPr/>
              <p:nvPr/>
            </p:nvSpPr>
            <p:spPr>
              <a:xfrm>
                <a:off x="6324600" y="2057400"/>
                <a:ext cx="3727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057400"/>
                <a:ext cx="3727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4519D666-D927-652C-C718-68CA8024B708}"/>
              </a:ext>
            </a:extLst>
          </p:cNvPr>
          <p:cNvSpPr/>
          <p:nvPr/>
        </p:nvSpPr>
        <p:spPr>
          <a:xfrm>
            <a:off x="5562600" y="2781300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A19C512-E5B9-2B34-941E-46F7BEA2DB67}"/>
              </a:ext>
            </a:extLst>
          </p:cNvPr>
          <p:cNvSpPr/>
          <p:nvPr/>
        </p:nvSpPr>
        <p:spPr>
          <a:xfrm>
            <a:off x="5287183" y="1913084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4F112E5-6F9E-9EC5-802B-1DF686C8D753}"/>
              </a:ext>
            </a:extLst>
          </p:cNvPr>
          <p:cNvSpPr/>
          <p:nvPr/>
        </p:nvSpPr>
        <p:spPr>
          <a:xfrm>
            <a:off x="5886406" y="4191000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2C1D2B8E-D0BD-1E6B-FB04-13C0869F9724}"/>
              </a:ext>
            </a:extLst>
          </p:cNvPr>
          <p:cNvSpPr/>
          <p:nvPr/>
        </p:nvSpPr>
        <p:spPr>
          <a:xfrm>
            <a:off x="7113721" y="4666019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5EA2A1E-558D-DAE2-2657-84F328974526}"/>
              </a:ext>
            </a:extLst>
          </p:cNvPr>
          <p:cNvSpPr/>
          <p:nvPr/>
        </p:nvSpPr>
        <p:spPr>
          <a:xfrm>
            <a:off x="5981612" y="5522038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5D2C4668-FD2D-214E-EE0A-FF5A25AF2E82}"/>
                  </a:ext>
                </a:extLst>
              </p:cNvPr>
              <p:cNvSpPr/>
              <p:nvPr/>
            </p:nvSpPr>
            <p:spPr>
              <a:xfrm>
                <a:off x="5610998" y="2746572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98" y="2746572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351D9A1B-0BBF-95E0-C51A-6B76E74DB99B}"/>
                  </a:ext>
                </a:extLst>
              </p:cNvPr>
              <p:cNvSpPr/>
              <p:nvPr/>
            </p:nvSpPr>
            <p:spPr>
              <a:xfrm>
                <a:off x="5420586" y="1600200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586" y="1600200"/>
                <a:ext cx="3706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365CB78-1E49-4930-F1D0-968345E0AB2C}"/>
                  </a:ext>
                </a:extLst>
              </p:cNvPr>
              <p:cNvSpPr/>
              <p:nvPr/>
            </p:nvSpPr>
            <p:spPr>
              <a:xfrm>
                <a:off x="6287172" y="2057400"/>
                <a:ext cx="522194" cy="4019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172" y="2057400"/>
                <a:ext cx="522194" cy="401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290A0FC-E3E8-7DBF-AF95-EBCFC05171B5}"/>
                  </a:ext>
                </a:extLst>
              </p:cNvPr>
              <p:cNvSpPr/>
              <p:nvPr/>
            </p:nvSpPr>
            <p:spPr>
              <a:xfrm>
                <a:off x="1807867" y="2527249"/>
                <a:ext cx="2173672" cy="438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867" y="2527249"/>
                <a:ext cx="2173672" cy="4386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4D27346-432C-F565-459C-ACEA8ED2D8EB}"/>
                  </a:ext>
                </a:extLst>
              </p:cNvPr>
              <p:cNvSpPr/>
              <p:nvPr/>
            </p:nvSpPr>
            <p:spPr>
              <a:xfrm>
                <a:off x="6030186" y="5498068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186" y="5498068"/>
                <a:ext cx="37061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336C2F1C-A6AF-BE04-A47B-00809768B832}"/>
                  </a:ext>
                </a:extLst>
              </p:cNvPr>
              <p:cNvSpPr/>
              <p:nvPr/>
            </p:nvSpPr>
            <p:spPr>
              <a:xfrm>
                <a:off x="7173186" y="4507468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186" y="4507468"/>
                <a:ext cx="37061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44E8CBC-9234-C951-5411-66F840ABE6A6}"/>
                  </a:ext>
                </a:extLst>
              </p:cNvPr>
              <p:cNvSpPr/>
              <p:nvPr/>
            </p:nvSpPr>
            <p:spPr>
              <a:xfrm>
                <a:off x="5693299" y="4235696"/>
                <a:ext cx="3727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299" y="4235696"/>
                <a:ext cx="37279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A5A7B98F-A286-F008-7053-33375A5F908D}"/>
                  </a:ext>
                </a:extLst>
              </p:cNvPr>
              <p:cNvSpPr/>
              <p:nvPr/>
            </p:nvSpPr>
            <p:spPr>
              <a:xfrm>
                <a:off x="1828800" y="4897745"/>
                <a:ext cx="2173672" cy="435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897745"/>
                <a:ext cx="2173672" cy="4354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7BC6FB3B-3CDB-0FC9-EF77-959B2226F3D1}"/>
                  </a:ext>
                </a:extLst>
              </p:cNvPr>
              <p:cNvSpPr/>
              <p:nvPr/>
            </p:nvSpPr>
            <p:spPr>
              <a:xfrm>
                <a:off x="5651199" y="4174336"/>
                <a:ext cx="522194" cy="4019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199" y="4174336"/>
                <a:ext cx="522194" cy="4019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90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5" grpId="0"/>
      <p:bldP spid="14" grpId="0"/>
      <p:bldP spid="15" grpId="0" animBg="1"/>
      <p:bldP spid="16" grpId="0"/>
      <p:bldP spid="17" grpId="0"/>
      <p:bldP spid="18" grpId="0"/>
      <p:bldP spid="19" grpId="0"/>
      <p:bldP spid="20" grpId="0"/>
      <p:bldP spid="2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6FBE1-A1E1-A8F3-14D9-43F3C9FDA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52A85B-B5E7-DFE6-A891-0C88FF7703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914400"/>
            <a:ext cx="2326857" cy="209073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4DA55DA-BEFF-41F2-A07E-CB40AE341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Special Triangles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99E65DA-22A2-43D3-C0CC-0030E00923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066800"/>
            <a:ext cx="7498080" cy="4800600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30°-60°-90° triangles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45°-45°-90° triangles</a:t>
            </a:r>
          </a:p>
          <a:p>
            <a:endParaRPr lang="en-US" sz="2000" dirty="0">
              <a:solidFill>
                <a:srgbClr val="0000CC"/>
              </a:solidFill>
              <a:sym typeface="Symbol" panose="05050102010706020507" pitchFamily="18" charset="2"/>
            </a:endParaRPr>
          </a:p>
          <a:p>
            <a:pPr lvl="1"/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4B42DE-CAC9-9C5C-FCDE-11ADEF57E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5004" y="3657600"/>
            <a:ext cx="2091536" cy="20168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473E800-3BF4-91FE-712F-67DD3512F179}"/>
              </a:ext>
            </a:extLst>
          </p:cNvPr>
          <p:cNvSpPr/>
          <p:nvPr/>
        </p:nvSpPr>
        <p:spPr>
          <a:xfrm>
            <a:off x="4692616" y="969168"/>
            <a:ext cx="963924" cy="10358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D87D43-C6ED-768A-6696-8356DA2C8580}"/>
              </a:ext>
            </a:extLst>
          </p:cNvPr>
          <p:cNvSpPr/>
          <p:nvPr/>
        </p:nvSpPr>
        <p:spPr>
          <a:xfrm>
            <a:off x="4692616" y="2264569"/>
            <a:ext cx="9906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87DA5C-4984-A78B-0033-0ADF7AD059F2}"/>
              </a:ext>
            </a:extLst>
          </p:cNvPr>
          <p:cNvSpPr/>
          <p:nvPr/>
        </p:nvSpPr>
        <p:spPr>
          <a:xfrm>
            <a:off x="3505200" y="3657600"/>
            <a:ext cx="1828800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1EBF4DA-01BF-18C4-EFDA-2A7C3579283D}"/>
              </a:ext>
            </a:extLst>
          </p:cNvPr>
          <p:cNvSpPr/>
          <p:nvPr/>
        </p:nvSpPr>
        <p:spPr>
          <a:xfrm>
            <a:off x="3429000" y="3733800"/>
            <a:ext cx="228600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CEB925E-B72C-F406-708F-5970B85211C7}"/>
              </a:ext>
            </a:extLst>
          </p:cNvPr>
          <p:cNvSpPr/>
          <p:nvPr/>
        </p:nvSpPr>
        <p:spPr>
          <a:xfrm>
            <a:off x="5257800" y="3590965"/>
            <a:ext cx="152400" cy="14283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C5870F3-64B9-8611-F62C-B91647164623}"/>
              </a:ext>
            </a:extLst>
          </p:cNvPr>
          <p:cNvSpPr/>
          <p:nvPr/>
        </p:nvSpPr>
        <p:spPr>
          <a:xfrm>
            <a:off x="5013308" y="1935427"/>
            <a:ext cx="488984" cy="54526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E5484B1-9B6E-1EF1-7E4E-D791E024451E}"/>
              </a:ext>
            </a:extLst>
          </p:cNvPr>
          <p:cNvGrpSpPr/>
          <p:nvPr/>
        </p:nvGrpSpPr>
        <p:grpSpPr>
          <a:xfrm>
            <a:off x="5410200" y="990600"/>
            <a:ext cx="1561705" cy="2039005"/>
            <a:chOff x="5410200" y="990600"/>
            <a:chExt cx="1561705" cy="2039005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762EF3D2-639A-0408-1CE7-935DE4B78F3E}"/>
                </a:ext>
              </a:extLst>
            </p:cNvPr>
            <p:cNvGrpSpPr/>
            <p:nvPr/>
          </p:nvGrpSpPr>
          <p:grpSpPr>
            <a:xfrm>
              <a:off x="5410200" y="990600"/>
              <a:ext cx="1561705" cy="2039005"/>
              <a:chOff x="6834506" y="990600"/>
              <a:chExt cx="1561705" cy="2039005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32668C91-65A1-4221-9C57-534D23F84DCD}"/>
                  </a:ext>
                </a:extLst>
              </p:cNvPr>
              <p:cNvSpPr/>
              <p:nvPr/>
            </p:nvSpPr>
            <p:spPr>
              <a:xfrm>
                <a:off x="6837640" y="1485900"/>
                <a:ext cx="990600" cy="1066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CC"/>
                  </a:solidFill>
                </a:endParaRPr>
              </a:p>
            </p:txBody>
          </p:sp>
          <p:sp>
            <p:nvSpPr>
              <p:cNvPr id="13" name="Right Triangle 12">
                <a:extLst>
                  <a:ext uri="{FF2B5EF4-FFF2-40B4-BE49-F238E27FC236}">
                    <a16:creationId xmlns:a16="http://schemas.microsoft.com/office/drawing/2014/main" id="{3F4B10F6-6153-B87A-75AA-1ABBB3B94E18}"/>
                  </a:ext>
                </a:extLst>
              </p:cNvPr>
              <p:cNvSpPr/>
              <p:nvPr/>
            </p:nvSpPr>
            <p:spPr>
              <a:xfrm flipH="1">
                <a:off x="6834506" y="990600"/>
                <a:ext cx="1014094" cy="1752599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CC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83D3468-9116-707D-5623-F6706F18763B}"/>
                  </a:ext>
                </a:extLst>
              </p:cNvPr>
              <p:cNvSpPr txBox="1"/>
              <p:nvPr/>
            </p:nvSpPr>
            <p:spPr>
              <a:xfrm>
                <a:off x="7451445" y="1485900"/>
                <a:ext cx="56518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0000CC"/>
                    </a:solidFill>
                  </a:rPr>
                  <a:t>30°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1A4117C-A01E-4999-4EBE-0681ABAC0415}"/>
                      </a:ext>
                    </a:extLst>
                  </p:cNvPr>
                  <p:cNvSpPr txBox="1"/>
                  <p:nvPr/>
                </p:nvSpPr>
                <p:spPr>
                  <a:xfrm>
                    <a:off x="7200786" y="2752606"/>
                    <a:ext cx="19159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dirty="0">
                      <a:solidFill>
                        <a:srgbClr val="0000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2" name="TextBox 21">
                    <a:extLst>
                      <a:ext uri="{FF2B5EF4-FFF2-40B4-BE49-F238E27FC236}">
                        <a16:creationId xmlns:a16="http://schemas.microsoft.com/office/drawing/2014/main" id="{21A4117C-A01E-4999-4EBE-0681ABAC041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00786" y="2752606"/>
                    <a:ext cx="191591" cy="276999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6129" r="-16129" b="-222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CE0CB7D-3B39-ECC4-98E5-BA35660D7A51}"/>
                      </a:ext>
                    </a:extLst>
                  </p:cNvPr>
                  <p:cNvSpPr txBox="1"/>
                  <p:nvPr/>
                </p:nvSpPr>
                <p:spPr>
                  <a:xfrm>
                    <a:off x="6934200" y="1752600"/>
                    <a:ext cx="31983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dirty="0">
                      <a:solidFill>
                        <a:srgbClr val="0000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3" name="TextBox 22">
                    <a:extLst>
                      <a:ext uri="{FF2B5EF4-FFF2-40B4-BE49-F238E27FC236}">
                        <a16:creationId xmlns:a16="http://schemas.microsoft.com/office/drawing/2014/main" id="{DCE0CB7D-3B39-ECC4-98E5-BA35660D7A5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4200" y="1752600"/>
                    <a:ext cx="319831" cy="276999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7308" r="-15385" b="-888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D105E17-2C5E-861D-53C4-11FD25F58D0B}"/>
                      </a:ext>
                    </a:extLst>
                  </p:cNvPr>
                  <p:cNvSpPr txBox="1"/>
                  <p:nvPr/>
                </p:nvSpPr>
                <p:spPr>
                  <a:xfrm>
                    <a:off x="7924800" y="1905000"/>
                    <a:ext cx="471411" cy="30963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oMath>
                      </m:oMathPara>
                    </a14:m>
                    <a:endParaRPr lang="en-US" dirty="0">
                      <a:solidFill>
                        <a:srgbClr val="0000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1D105E17-2C5E-861D-53C4-11FD25F58D0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924800" y="1905000"/>
                    <a:ext cx="471411" cy="309637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r="-5128" b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FD60E0AB-AC7F-EF62-4BF4-188A0FE2E66E}"/>
                </a:ext>
              </a:extLst>
            </p:cNvPr>
            <p:cNvSpPr/>
            <p:nvPr/>
          </p:nvSpPr>
          <p:spPr>
            <a:xfrm>
              <a:off x="6268760" y="2552700"/>
              <a:ext cx="155534" cy="1904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C67BFAE-F9FD-CE51-DE56-41C3AFABCD83}"/>
              </a:ext>
            </a:extLst>
          </p:cNvPr>
          <p:cNvGrpSpPr/>
          <p:nvPr/>
        </p:nvGrpSpPr>
        <p:grpSpPr>
          <a:xfrm>
            <a:off x="7391400" y="990600"/>
            <a:ext cx="1182124" cy="2039005"/>
            <a:chOff x="7391400" y="990600"/>
            <a:chExt cx="1182124" cy="2039005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7E46CF6-BA9F-582D-7DB3-6476E3EA757F}"/>
                </a:ext>
              </a:extLst>
            </p:cNvPr>
            <p:cNvGrpSpPr/>
            <p:nvPr/>
          </p:nvGrpSpPr>
          <p:grpSpPr>
            <a:xfrm>
              <a:off x="7391400" y="990600"/>
              <a:ext cx="1182124" cy="2039005"/>
              <a:chOff x="3238895" y="2228195"/>
              <a:chExt cx="1182124" cy="2039005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8E06FC8-2D7E-36F2-ACB1-1695519FA385}"/>
                  </a:ext>
                </a:extLst>
              </p:cNvPr>
              <p:cNvSpPr/>
              <p:nvPr/>
            </p:nvSpPr>
            <p:spPr>
              <a:xfrm>
                <a:off x="3242029" y="2723495"/>
                <a:ext cx="990600" cy="10668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CC"/>
                  </a:solidFill>
                </a:endParaRPr>
              </a:p>
            </p:txBody>
          </p:sp>
          <p:sp>
            <p:nvSpPr>
              <p:cNvPr id="26" name="Right Triangle 25">
                <a:extLst>
                  <a:ext uri="{FF2B5EF4-FFF2-40B4-BE49-F238E27FC236}">
                    <a16:creationId xmlns:a16="http://schemas.microsoft.com/office/drawing/2014/main" id="{D3EFD4B3-A98B-AE3D-C270-F3EEF1E95066}"/>
                  </a:ext>
                </a:extLst>
              </p:cNvPr>
              <p:cNvSpPr/>
              <p:nvPr/>
            </p:nvSpPr>
            <p:spPr>
              <a:xfrm flipH="1">
                <a:off x="3238895" y="2228195"/>
                <a:ext cx="1014094" cy="1752599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rgbClr val="0000CC"/>
                  </a:solidFill>
                </a:endParaRP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0403350E-C162-4198-2009-BFC8D1E7F15D}"/>
                  </a:ext>
                </a:extLst>
              </p:cNvPr>
              <p:cNvSpPr txBox="1"/>
              <p:nvPr/>
            </p:nvSpPr>
            <p:spPr>
              <a:xfrm>
                <a:off x="3855834" y="2723495"/>
                <a:ext cx="56518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0000CC"/>
                    </a:solidFill>
                  </a:rPr>
                  <a:t>30°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A03E3632-2F5A-C941-AD29-C8ABBA7D0F5B}"/>
                      </a:ext>
                    </a:extLst>
                  </p:cNvPr>
                  <p:cNvSpPr txBox="1"/>
                  <p:nvPr/>
                </p:nvSpPr>
                <p:spPr>
                  <a:xfrm>
                    <a:off x="3605175" y="3990201"/>
                    <a:ext cx="18594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US" dirty="0">
                      <a:solidFill>
                        <a:srgbClr val="0000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A03E3632-2F5A-C941-AD29-C8ABBA7D0F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605175" y="3990201"/>
                    <a:ext cx="185948" cy="276999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30000" r="-33333" b="-11111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FA013B81-F639-B3F2-2F00-7DE7F07635AB}"/>
                </a:ext>
              </a:extLst>
            </p:cNvPr>
            <p:cNvSpPr/>
            <p:nvPr/>
          </p:nvSpPr>
          <p:spPr>
            <a:xfrm>
              <a:off x="8249960" y="2552700"/>
              <a:ext cx="155534" cy="1904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E24E94-2E6C-07B7-670F-D7B7F8D3AF7D}"/>
              </a:ext>
            </a:extLst>
          </p:cNvPr>
          <p:cNvGrpSpPr/>
          <p:nvPr/>
        </p:nvGrpSpPr>
        <p:grpSpPr>
          <a:xfrm>
            <a:off x="6553200" y="3733800"/>
            <a:ext cx="2014748" cy="1752600"/>
            <a:chOff x="6553200" y="3733800"/>
            <a:chExt cx="2014748" cy="175260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2CB1C2D-8AC3-5928-481C-707721EE4ED6}"/>
                </a:ext>
              </a:extLst>
            </p:cNvPr>
            <p:cNvGrpSpPr/>
            <p:nvPr/>
          </p:nvGrpSpPr>
          <p:grpSpPr>
            <a:xfrm>
              <a:off x="6553200" y="3733800"/>
              <a:ext cx="2014748" cy="1752600"/>
              <a:chOff x="6553200" y="3733800"/>
              <a:chExt cx="2014748" cy="1752600"/>
            </a:xfrm>
          </p:grpSpPr>
          <p:sp>
            <p:nvSpPr>
              <p:cNvPr id="33" name="Right Triangle 32">
                <a:extLst>
                  <a:ext uri="{FF2B5EF4-FFF2-40B4-BE49-F238E27FC236}">
                    <a16:creationId xmlns:a16="http://schemas.microsoft.com/office/drawing/2014/main" id="{75D23596-F2B1-74C0-DD52-2068D720889E}"/>
                  </a:ext>
                </a:extLst>
              </p:cNvPr>
              <p:cNvSpPr/>
              <p:nvPr/>
            </p:nvSpPr>
            <p:spPr>
              <a:xfrm flipH="1">
                <a:off x="6553200" y="3733800"/>
                <a:ext cx="1752600" cy="1752600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85377D1-4A3C-A60B-29F8-AA9D283F0F9A}"/>
                  </a:ext>
                </a:extLst>
              </p:cNvPr>
              <p:cNvSpPr txBox="1"/>
              <p:nvPr/>
            </p:nvSpPr>
            <p:spPr>
              <a:xfrm>
                <a:off x="6769162" y="5132595"/>
                <a:ext cx="565185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dirty="0">
                    <a:solidFill>
                      <a:srgbClr val="0000CC"/>
                    </a:solidFill>
                  </a:rPr>
                  <a:t>45°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C80F8595-815C-459A-2BEF-A8ABB1458711}"/>
                      </a:ext>
                    </a:extLst>
                  </p:cNvPr>
                  <p:cNvSpPr txBox="1"/>
                  <p:nvPr/>
                </p:nvSpPr>
                <p:spPr>
                  <a:xfrm>
                    <a:off x="8382000" y="4523601"/>
                    <a:ext cx="18594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oMath>
                      </m:oMathPara>
                    </a14:m>
                    <a:endParaRPr lang="en-US" dirty="0">
                      <a:solidFill>
                        <a:srgbClr val="0000CC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C80F8595-815C-459A-2BEF-A8ABB145871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2000" y="4523601"/>
                    <a:ext cx="185948" cy="276999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29032" r="-29032" b="-869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1455482-905B-5279-125C-610F8609CAEE}"/>
                </a:ext>
              </a:extLst>
            </p:cNvPr>
            <p:cNvSpPr/>
            <p:nvPr/>
          </p:nvSpPr>
          <p:spPr>
            <a:xfrm>
              <a:off x="8150266" y="5295901"/>
              <a:ext cx="155534" cy="19049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9712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5.2  Right Triangle Trigonometry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1219200"/>
            <a:ext cx="8077200" cy="4800600"/>
          </a:xfrm>
        </p:spPr>
        <p:txBody>
          <a:bodyPr/>
          <a:lstStyle/>
          <a:p>
            <a:r>
              <a:rPr lang="en-US" dirty="0"/>
              <a:t>For an acute angle </a:t>
            </a:r>
            <a:r>
              <a:rPr lang="en-US" i="1" dirty="0"/>
              <a:t>A</a:t>
            </a:r>
            <a:r>
              <a:rPr lang="en-US" dirty="0"/>
              <a:t> in a right triangle (see labeled triangle), we define the trigonometric </a:t>
            </a:r>
            <a:r>
              <a:rPr lang="en-US" i="1" dirty="0"/>
              <a:t>ratios</a:t>
            </a:r>
            <a:r>
              <a:rPr lang="en-US" dirty="0"/>
              <a:t> of the sides of a </a:t>
            </a:r>
            <a:r>
              <a:rPr lang="en-US" b="1" dirty="0"/>
              <a:t>right</a:t>
            </a:r>
            <a:r>
              <a:rPr lang="en-US" dirty="0"/>
              <a:t> triangle as follows.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2057400"/>
            <a:ext cx="3105150" cy="1876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337" y="3857625"/>
            <a:ext cx="6334125" cy="291465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19200" y="3250168"/>
            <a:ext cx="1680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CC"/>
                </a:solidFill>
              </a:rPr>
              <a:t>SOH-CAH-TOA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43400"/>
            <a:ext cx="6463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solidFill>
                  <a:srgbClr val="0000CC"/>
                </a:solidFill>
              </a:rPr>
              <a:t>SOH</a:t>
            </a:r>
          </a:p>
          <a:p>
            <a:endParaRPr lang="en-US" i="1" dirty="0">
              <a:solidFill>
                <a:srgbClr val="0000CC"/>
              </a:solidFill>
            </a:endParaRPr>
          </a:p>
          <a:p>
            <a:endParaRPr lang="en-US" i="1" dirty="0">
              <a:solidFill>
                <a:srgbClr val="0000CC"/>
              </a:solidFill>
            </a:endParaRPr>
          </a:p>
          <a:p>
            <a:r>
              <a:rPr lang="en-US" i="1" dirty="0">
                <a:solidFill>
                  <a:srgbClr val="0000CC"/>
                </a:solidFill>
              </a:rPr>
              <a:t>CAH</a:t>
            </a:r>
          </a:p>
          <a:p>
            <a:endParaRPr lang="en-US" i="1" dirty="0">
              <a:solidFill>
                <a:srgbClr val="0000CC"/>
              </a:solidFill>
            </a:endParaRPr>
          </a:p>
          <a:p>
            <a:endParaRPr lang="en-US" i="1" dirty="0">
              <a:solidFill>
                <a:srgbClr val="0000CC"/>
              </a:solidFill>
            </a:endParaRPr>
          </a:p>
          <a:p>
            <a:r>
              <a:rPr lang="en-US" i="1" dirty="0">
                <a:solidFill>
                  <a:srgbClr val="0000CC"/>
                </a:solidFill>
              </a:rPr>
              <a:t>TOA</a:t>
            </a:r>
          </a:p>
        </p:txBody>
      </p:sp>
    </p:spTree>
    <p:extLst>
      <p:ext uri="{BB962C8B-B14F-4D97-AF65-F5344CB8AC3E}">
        <p14:creationId xmlns:p14="http://schemas.microsoft.com/office/powerpoint/2010/main" val="2992038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Ratios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dirty="0"/>
                  <a:t>Find the trigonometric ratios for angle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37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=35 </m:t>
                    </m:r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Solution:  in your notes.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  <a:blipFill>
                <a:blip r:embed="rId3"/>
                <a:stretch>
                  <a:fillRect l="-81" t="-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4953000" y="2665253"/>
            <a:ext cx="3692843" cy="2031272"/>
            <a:chOff x="4953000" y="2665253"/>
            <a:chExt cx="3692843" cy="2031272"/>
          </a:xfrm>
        </p:grpSpPr>
        <p:grpSp>
          <p:nvGrpSpPr>
            <p:cNvPr id="9" name="Group 8"/>
            <p:cNvGrpSpPr/>
            <p:nvPr/>
          </p:nvGrpSpPr>
          <p:grpSpPr>
            <a:xfrm>
              <a:off x="4953000" y="2665253"/>
              <a:ext cx="3124200" cy="1896264"/>
              <a:chOff x="4953000" y="2209800"/>
              <a:chExt cx="3124200" cy="2286000"/>
            </a:xfrm>
          </p:grpSpPr>
          <p:sp>
            <p:nvSpPr>
              <p:cNvPr id="4" name="Right Triangle 3"/>
              <p:cNvSpPr/>
              <p:nvPr/>
            </p:nvSpPr>
            <p:spPr>
              <a:xfrm flipH="1">
                <a:off x="4953000" y="2209800"/>
                <a:ext cx="3124200" cy="2286000"/>
              </a:xfrm>
              <a:prstGeom prst="rtTriangl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7772400" y="4191000"/>
                <a:ext cx="304800" cy="304800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0" name="TextBox 9"/>
            <p:cNvSpPr txBox="1"/>
            <p:nvPr/>
          </p:nvSpPr>
          <p:spPr>
            <a:xfrm rot="19692001">
              <a:off x="6211984" y="3163274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37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53400" y="3195935"/>
              <a:ext cx="49244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0" dirty="0"/>
                <a:t>12</a:t>
              </a:r>
              <a:endParaRPr lang="en-US" sz="2400" i="1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728425" y="4110335"/>
                  <a:ext cx="44377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28425" y="4110335"/>
                  <a:ext cx="443775" cy="46166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4" name="Arc 13"/>
            <p:cNvSpPr/>
            <p:nvPr/>
          </p:nvSpPr>
          <p:spPr>
            <a:xfrm rot="2149019">
              <a:off x="5262875" y="4144393"/>
              <a:ext cx="539984" cy="552132"/>
            </a:xfrm>
            <a:prstGeom prst="arc">
              <a:avLst>
                <a:gd name="adj1" fmla="val 14940873"/>
                <a:gd name="adj2" fmla="val 0"/>
              </a:avLst>
            </a:prstGeom>
            <a:noFill/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6365557" y="4643735"/>
                <a:ext cx="43441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i="1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5557" y="4643735"/>
                <a:ext cx="434413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262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Ratios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498080" cy="54864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dirty="0"/>
                  <a:t>Find the trigonometric ratios for angles </a:t>
                </a:r>
                <a:r>
                  <a:rPr lang="en-US" i="1" dirty="0">
                    <a:solidFill>
                      <a:srgbClr val="0000CC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i="1" dirty="0">
                    <a:solidFill>
                      <a:srgbClr val="0000CC"/>
                    </a:solidFill>
                  </a:rPr>
                  <a:t>B</a:t>
                </a:r>
                <a:r>
                  <a:rPr lang="en-US" dirty="0"/>
                  <a:t>.</a:t>
                </a:r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5.5</m:t>
                        </m:r>
                      </m:e>
                      <m:sup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e>
                      <m:sup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6.5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5.5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rgbClr val="0000CC"/>
                  </a:solidFill>
                </a:endParaRPr>
              </a:p>
              <a:p>
                <a:pPr marL="82296" indent="0">
                  <a:buNone/>
                </a:pPr>
                <a:r>
                  <a:rPr lang="en-US" dirty="0">
                    <a:solidFill>
                      <a:srgbClr val="0000CC"/>
                    </a:solidFill>
                    <a:ea typeface="Cambria Math" panose="02040503050406030204" pitchFamily="18" charset="0"/>
                  </a:rPr>
                  <a:t>		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3.5</m:t>
                    </m:r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Exact value: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den>
                    </m:f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Rounded:	        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0.53</m:t>
                    </m:r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 </a:t>
                </a:r>
              </a:p>
              <a:p>
                <a:pPr marL="82296" indent="0">
                  <a:buNone/>
                </a:pPr>
                <a:r>
                  <a:rPr lang="en-US" dirty="0"/>
                  <a:t> (note:  </a:t>
                </a:r>
                <a:r>
                  <a:rPr lang="en-US" i="1" dirty="0"/>
                  <a:t>not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3.5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=.54</m:t>
                    </m:r>
                  </m:oMath>
                </a14:m>
                <a:r>
                  <a:rPr lang="en-US" dirty="0"/>
                  <a:t>, i.e., round the </a:t>
                </a:r>
                <a:r>
                  <a:rPr lang="en-US" i="1" dirty="0"/>
                  <a:t>final answer</a:t>
                </a:r>
                <a:r>
                  <a:rPr lang="en-US" dirty="0"/>
                  <a:t>.)</a:t>
                </a:r>
              </a:p>
              <a:p>
                <a:pPr marL="82296" indent="0">
                  <a:buNone/>
                </a:pPr>
                <a:r>
                  <a:rPr lang="en-US" dirty="0"/>
                  <a:t>Solution:  in your notes.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498080" cy="5486400"/>
              </a:xfrm>
              <a:blipFill>
                <a:blip r:embed="rId3"/>
                <a:stretch>
                  <a:fillRect l="-81" t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4928028" y="1905000"/>
            <a:ext cx="3971250" cy="3128665"/>
            <a:chOff x="4504582" y="1752600"/>
            <a:chExt cx="3971250" cy="3128665"/>
          </a:xfrm>
        </p:grpSpPr>
        <p:sp>
          <p:nvSpPr>
            <p:cNvPr id="4" name="Right Triangle 3"/>
            <p:cNvSpPr/>
            <p:nvPr/>
          </p:nvSpPr>
          <p:spPr>
            <a:xfrm flipH="1">
              <a:off x="4953000" y="2209800"/>
              <a:ext cx="3124200" cy="2286000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04582" y="4343400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933582" y="1752600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85982" y="44196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772400" y="4191000"/>
              <a:ext cx="304800" cy="304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6290846" y="3048000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6.5 in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3246" y="4719935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5.5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76846" y="33483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CC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692649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Ratios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</p:spPr>
            <p:txBody>
              <a:bodyPr>
                <a:normAutofit lnSpcReduction="10000"/>
              </a:bodyPr>
              <a:lstStyle/>
              <a:p>
                <a:pPr marL="82296" indent="0">
                  <a:buNone/>
                </a:pPr>
                <a:r>
                  <a:rPr lang="en-US" dirty="0"/>
                  <a:t>If angle </a:t>
                </a:r>
                <a:r>
                  <a:rPr lang="en-US" i="1" dirty="0">
                    <a:solidFill>
                      <a:srgbClr val="0000CC"/>
                    </a:solidFill>
                  </a:rPr>
                  <a:t>A</a:t>
                </a:r>
                <a:r>
                  <a:rPr lang="en-US" dirty="0"/>
                  <a:t> is </a:t>
                </a:r>
                <a:r>
                  <a:rPr lang="en-US" dirty="0">
                    <a:solidFill>
                      <a:srgbClr val="0000CC"/>
                    </a:solidFill>
                  </a:rPr>
                  <a:t>35</a:t>
                </a:r>
                <a:r>
                  <a:rPr lang="en-US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</a:t>
                </a:r>
                <a:r>
                  <a:rPr lang="en-US" dirty="0"/>
                  <a:t>, find the sides </a:t>
                </a:r>
                <a:r>
                  <a:rPr lang="en-US" i="1" dirty="0">
                    <a:solidFill>
                      <a:srgbClr val="0000CC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i="1" dirty="0">
                    <a:solidFill>
                      <a:srgbClr val="0000CC"/>
                    </a:solidFill>
                  </a:rPr>
                  <a:t>c</a:t>
                </a:r>
                <a:r>
                  <a:rPr lang="en-US" dirty="0"/>
                  <a:t>.</a:t>
                </a:r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r>
                  <a:rPr lang="en-US" b="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10.2</m:t>
                        </m:r>
                      </m:den>
                    </m:f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b="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=10.2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  <m:r>
                      <a:rPr lang="en-US" i="1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7.14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00CC"/>
                    </a:solidFill>
                  </a:rPr>
                  <a:t>m</a:t>
                </a:r>
              </a:p>
              <a:p>
                <a:pPr marL="82296" indent="0">
                  <a:buNone/>
                </a:pPr>
                <a:r>
                  <a:rPr lang="en-US" dirty="0"/>
                  <a:t> </a:t>
                </a:r>
              </a:p>
              <a:p>
                <a:pPr marL="82296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35</m:t>
                        </m:r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°</m:t>
                        </m:r>
                      </m:e>
                    </m:func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10.2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10.2</m:t>
                        </m:r>
                      </m:num>
                      <m:den>
                        <m:func>
                          <m:func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35</m:t>
                            </m:r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°</m:t>
                            </m:r>
                          </m:e>
                        </m:func>
                      </m:den>
                    </m:f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≈12.45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0000CC"/>
                    </a:solidFill>
                  </a:rPr>
                  <a:t>m</a:t>
                </a:r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Solution:  in your notes.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  <a:blipFill>
                <a:blip r:embed="rId3"/>
                <a:stretch>
                  <a:fillRect l="-81" t="-17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4504582" y="1752600"/>
            <a:ext cx="3971250" cy="3128665"/>
            <a:chOff x="4504582" y="1752600"/>
            <a:chExt cx="3971250" cy="3128665"/>
          </a:xfrm>
        </p:grpSpPr>
        <p:sp>
          <p:nvSpPr>
            <p:cNvPr id="4" name="Right Triangle 3"/>
            <p:cNvSpPr/>
            <p:nvPr/>
          </p:nvSpPr>
          <p:spPr>
            <a:xfrm flipH="1">
              <a:off x="4953000" y="2209800"/>
              <a:ext cx="3124200" cy="2286000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04582" y="4343400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933582" y="1752600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85982" y="44196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772400" y="4191000"/>
              <a:ext cx="304800" cy="304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867400" y="2895600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CC"/>
                </a:solidFill>
              </a:rPr>
              <a:t>c</a:t>
            </a:r>
            <a:r>
              <a:rPr lang="en-US" sz="2400" dirty="0">
                <a:solidFill>
                  <a:srgbClr val="0000CC"/>
                </a:solidFill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800" y="4567535"/>
            <a:ext cx="10390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10.2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31959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CC"/>
                </a:solidFill>
              </a:rP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27726" y="4034135"/>
            <a:ext cx="6158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35</a:t>
            </a:r>
            <a:r>
              <a:rPr lang="en-US" sz="2400" dirty="0">
                <a:solidFill>
                  <a:srgbClr val="0000CC"/>
                </a:solidFill>
                <a:sym typeface="Symbol" panose="05050102010706020507" pitchFamily="18" charset="2"/>
              </a:rPr>
              <a:t>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03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Ratios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8077200" cy="5257800"/>
              </a:xfrm>
            </p:spPr>
            <p:txBody>
              <a:bodyPr>
                <a:normAutofit fontScale="92500"/>
              </a:bodyPr>
              <a:lstStyle/>
              <a:p>
                <a:pPr marL="82296" indent="0">
                  <a:buNone/>
                </a:pPr>
                <a:r>
                  <a:rPr lang="en-US" dirty="0"/>
                  <a:t>Find the angles </a:t>
                </a:r>
                <a:r>
                  <a:rPr lang="en-US" i="1" dirty="0">
                    <a:solidFill>
                      <a:srgbClr val="0000CC"/>
                    </a:solidFill>
                  </a:rPr>
                  <a:t>A</a:t>
                </a:r>
                <a:r>
                  <a:rPr lang="en-US" dirty="0"/>
                  <a:t> and </a:t>
                </a:r>
                <a:r>
                  <a:rPr lang="en-US" i="1" dirty="0">
                    <a:solidFill>
                      <a:srgbClr val="0000CC"/>
                    </a:solidFill>
                  </a:rPr>
                  <a:t>B</a:t>
                </a:r>
                <a:r>
                  <a:rPr lang="en-US" dirty="0"/>
                  <a:t>.</a:t>
                </a:r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5.5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5.5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6.5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≈32.2°</m:t>
                    </m:r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b="0" dirty="0">
                    <a:solidFill>
                      <a:srgbClr val="0000CC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=90°−32.2°=57.8°</m:t>
                    </m:r>
                  </m:oMath>
                </a14:m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or,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in</m:t>
                    </m:r>
                    <m:r>
                      <a:rPr lang="en-US" b="0" i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5.5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6.5</m:t>
                        </m:r>
                      </m:den>
                    </m:f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      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d>
                          <m:d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5.5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solidFill>
                                      <a:srgbClr val="0000CC"/>
                                    </a:solidFill>
                                    <a:latin typeface="Cambria Math" panose="02040503050406030204" pitchFamily="18" charset="0"/>
                                  </a:rPr>
                                  <m:t>6.5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≈57.8°</m:t>
                    </m:r>
                  </m:oMath>
                </a14:m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Calculator note:  Use parentheses to avoid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5.5</m:t>
                        </m:r>
                      </m:e>
                    </m:func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÷6.5=</m:t>
                    </m:r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𝑒𝑟𝑟𝑜𝑟</m:t>
                    </m:r>
                  </m:oMath>
                </a14:m>
                <a:endParaRPr lang="en-US" dirty="0"/>
              </a:p>
              <a:p>
                <a:pPr marL="82296" indent="0">
                  <a:buNone/>
                </a:pPr>
                <a:endParaRPr lang="en-US" dirty="0"/>
              </a:p>
              <a:p>
                <a:pPr marL="82296" indent="0">
                  <a:buNone/>
                </a:pPr>
                <a:r>
                  <a:rPr lang="en-US" dirty="0"/>
                  <a:t>Solution:  in your notes.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8077200" cy="5257800"/>
              </a:xfrm>
              <a:blipFill>
                <a:blip r:embed="rId3"/>
                <a:stretch>
                  <a:fillRect t="-811" b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Group 8"/>
          <p:cNvGrpSpPr/>
          <p:nvPr/>
        </p:nvGrpSpPr>
        <p:grpSpPr>
          <a:xfrm>
            <a:off x="4504582" y="1752600"/>
            <a:ext cx="3971250" cy="3128665"/>
            <a:chOff x="4504582" y="1752600"/>
            <a:chExt cx="3971250" cy="3128665"/>
          </a:xfrm>
        </p:grpSpPr>
        <p:sp>
          <p:nvSpPr>
            <p:cNvPr id="4" name="Right Triangle 3"/>
            <p:cNvSpPr/>
            <p:nvPr/>
          </p:nvSpPr>
          <p:spPr>
            <a:xfrm flipH="1">
              <a:off x="4953000" y="2209800"/>
              <a:ext cx="3124200" cy="2286000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504582" y="4343400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A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933582" y="1752600"/>
              <a:ext cx="37221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B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8085982" y="4419600"/>
              <a:ext cx="38985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i="1" dirty="0">
                  <a:solidFill>
                    <a:srgbClr val="0000CC"/>
                  </a:solidFill>
                </a:rPr>
                <a:t>C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7772400" y="4191000"/>
              <a:ext cx="304800" cy="304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867400" y="2895600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6.5 in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19800" y="4567535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5.5 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3400" y="3195935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0000CC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348760" y="2021123"/>
                <a:ext cx="2903680" cy="369332"/>
              </a:xfrm>
              <a:prstGeom prst="rect">
                <a:avLst/>
              </a:prstGeom>
              <a:ln>
                <a:solidFill>
                  <a:srgbClr val="006600"/>
                </a:solidFill>
              </a:ln>
            </p:spPr>
            <p:txBody>
              <a:bodyPr wrap="none">
                <a:spAutoFit/>
              </a:bodyPr>
              <a:lstStyle/>
              <a:p>
                <a:r>
                  <a:rPr lang="en-US" dirty="0">
                    <a:solidFill>
                      <a:srgbClr val="006600"/>
                    </a:solidFill>
                  </a:rPr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</a:rPr>
                      <m:t>  ⇔  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66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66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fName>
                      <m:e>
                        <m:r>
                          <a:rPr lang="en-US" b="0" i="1" smtClean="0">
                            <a:solidFill>
                              <a:srgbClr val="0066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𝑦</m:t>
                        </m:r>
                      </m:e>
                    </m:func>
                  </m:oMath>
                </a14:m>
                <a:endParaRPr lang="en-US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8760" y="2021123"/>
                <a:ext cx="2903680" cy="369332"/>
              </a:xfrm>
              <a:prstGeom prst="rect">
                <a:avLst/>
              </a:prstGeom>
              <a:blipFill>
                <a:blip r:embed="rId4"/>
                <a:stretch>
                  <a:fillRect b="-6452"/>
                </a:stretch>
              </a:blipFill>
              <a:ln>
                <a:solidFill>
                  <a:srgbClr val="00660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2458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Ratios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sz="2200" dirty="0"/>
                  <a:t>Sketch a right triangle corresponding to the trigonometric function of the acute angle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.  Find the length of the third side of the triangle and then find the exact values of the other five trigonometric functions of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b="0" dirty="0">
                    <a:solidFill>
                      <a:srgbClr val="0000CC"/>
                    </a:solidFill>
                  </a:rPr>
                  <a:t>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2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Solution:  in your notes.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  <a:blipFill>
                <a:blip r:embed="rId3"/>
                <a:stretch>
                  <a:fillRect t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703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Trigonometric Ratios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</p:spPr>
            <p:txBody>
              <a:bodyPr>
                <a:normAutofit/>
              </a:bodyPr>
              <a:lstStyle/>
              <a:p>
                <a:pPr marL="82296" indent="0">
                  <a:buNone/>
                </a:pPr>
                <a:r>
                  <a:rPr lang="en-US" sz="2200" dirty="0"/>
                  <a:t>Sketch a right triangle corresponding to the trigonometric function of the acute angle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.  Find the length of the third side of the triangle and then find the exact values of the other five trigonometric functions of </a:t>
                </a:r>
                <a14:m>
                  <m:oMath xmlns:m="http://schemas.openxmlformats.org/officeDocument/2006/math">
                    <m:r>
                      <a:rPr lang="en-US" sz="220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b="0" dirty="0">
                    <a:solidFill>
                      <a:srgbClr val="0000CC"/>
                    </a:solidFill>
                  </a:rPr>
                  <a:t>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2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	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20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  <m:sup>
                            <m:r>
                              <a:rPr lang="en-US" sz="22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sz="22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2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endParaRPr lang="en-US" sz="2200" dirty="0"/>
              </a:p>
              <a:p>
                <a:pPr marL="82296" indent="0">
                  <a:buNone/>
                </a:pPr>
                <a:r>
                  <a:rPr lang="en-US" sz="2200" dirty="0"/>
                  <a:t>Solution:  in your notes.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219200"/>
                <a:ext cx="7498080" cy="5257800"/>
              </a:xfrm>
              <a:blipFill>
                <a:blip r:embed="rId3"/>
                <a:stretch>
                  <a:fillRect t="-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334000" y="3442673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3442673"/>
                <a:ext cx="37061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506186" y="3505200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186" y="3505200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8558422" y="3663434"/>
                <a:ext cx="2511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8422" y="3663434"/>
                <a:ext cx="251100" cy="369332"/>
              </a:xfrm>
              <a:prstGeom prst="rect">
                <a:avLst/>
              </a:prstGeom>
              <a:blipFill>
                <a:blip r:embed="rId6"/>
                <a:stretch>
                  <a:fillRect r="-219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970212" y="3383061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0212" y="3383061"/>
                <a:ext cx="370614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6115105" y="5369092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105" y="5369092"/>
                <a:ext cx="37061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369168" y="5148331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168" y="5148331"/>
                <a:ext cx="37061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4478956" y="2971800"/>
            <a:ext cx="855044" cy="1524000"/>
            <a:chOff x="4478956" y="2971800"/>
            <a:chExt cx="855044" cy="1524000"/>
          </a:xfrm>
        </p:grpSpPr>
        <p:sp>
          <p:nvSpPr>
            <p:cNvPr id="4" name="Right Triangle 3"/>
            <p:cNvSpPr/>
            <p:nvPr/>
          </p:nvSpPr>
          <p:spPr>
            <a:xfrm flipH="1">
              <a:off x="4478956" y="2971800"/>
              <a:ext cx="855044" cy="1524000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181600" y="4343400"/>
              <a:ext cx="1524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867400" y="2971800"/>
            <a:ext cx="2667000" cy="1524000"/>
            <a:chOff x="5867400" y="2971800"/>
            <a:chExt cx="2667000" cy="1524000"/>
          </a:xfrm>
        </p:grpSpPr>
        <p:sp>
          <p:nvSpPr>
            <p:cNvPr id="5" name="Right Triangle 4"/>
            <p:cNvSpPr/>
            <p:nvPr/>
          </p:nvSpPr>
          <p:spPr>
            <a:xfrm flipH="1">
              <a:off x="5867400" y="2971800"/>
              <a:ext cx="2667000" cy="1524000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379689" y="4343400"/>
              <a:ext cx="1524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5181600" y="4942974"/>
            <a:ext cx="931244" cy="1143000"/>
            <a:chOff x="5181600" y="4942974"/>
            <a:chExt cx="931244" cy="1143000"/>
          </a:xfrm>
        </p:grpSpPr>
        <p:sp>
          <p:nvSpPr>
            <p:cNvPr id="6" name="Right Triangle 5"/>
            <p:cNvSpPr/>
            <p:nvPr/>
          </p:nvSpPr>
          <p:spPr>
            <a:xfrm flipH="1">
              <a:off x="5181600" y="4942974"/>
              <a:ext cx="931244" cy="1143000"/>
            </a:xfrm>
            <a:prstGeom prst="rt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960444" y="5933574"/>
              <a:ext cx="152400" cy="1524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551583" y="4497754"/>
                <a:ext cx="650434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583" y="4497754"/>
                <a:ext cx="650434" cy="40197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5345931" y="6081485"/>
                <a:ext cx="650434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931" y="6081485"/>
                <a:ext cx="650434" cy="40197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968706" y="4465533"/>
                <a:ext cx="650434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11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8706" y="4465533"/>
                <a:ext cx="650434" cy="40197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4487642" y="4165389"/>
                <a:ext cx="3789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7642" y="4165389"/>
                <a:ext cx="378950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294606" y="4158734"/>
                <a:ext cx="3789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4606" y="4158734"/>
                <a:ext cx="378950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5307174" y="5744870"/>
                <a:ext cx="37895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𝜃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7174" y="5744870"/>
                <a:ext cx="378950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4569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250"/>
                            </p:stCondLst>
                            <p:childTnLst>
                              <p:par>
                                <p:cTn id="2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00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9" grpId="0"/>
      <p:bldP spid="20" grpId="0"/>
      <p:bldP spid="21" grpId="0"/>
      <p:bldP spid="22" grpId="0"/>
      <p:bldP spid="23" grpId="0"/>
      <p:bldP spid="2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Special Triangles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1066800"/>
            <a:ext cx="7498080" cy="4800600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30°-60°-90° triangles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45°-45°-90° triangles</a:t>
            </a:r>
          </a:p>
          <a:p>
            <a:endParaRPr lang="en-US" sz="2000" dirty="0">
              <a:solidFill>
                <a:srgbClr val="0000CC"/>
              </a:solidFill>
              <a:sym typeface="Symbol" panose="05050102010706020507" pitchFamily="18" charset="2"/>
            </a:endParaRPr>
          </a:p>
          <a:p>
            <a:pPr lvl="1"/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2326857" cy="20907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1404" y="3657600"/>
            <a:ext cx="2091536" cy="20168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324600" y="2009749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6324600" y="2057400"/>
                <a:ext cx="3727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4600" y="2057400"/>
                <a:ext cx="372794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562600" y="2781300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/>
          <p:cNvSpPr/>
          <p:nvPr/>
        </p:nvSpPr>
        <p:spPr>
          <a:xfrm>
            <a:off x="5287183" y="1913084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886406" y="4191000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le 11"/>
          <p:cNvSpPr/>
          <p:nvPr/>
        </p:nvSpPr>
        <p:spPr>
          <a:xfrm>
            <a:off x="7113721" y="4666019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981612" y="5522038"/>
            <a:ext cx="266787" cy="3048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610998" y="2746572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998" y="2746572"/>
                <a:ext cx="37061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420586" y="1600200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586" y="1600200"/>
                <a:ext cx="370614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6287172" y="2057400"/>
                <a:ext cx="522194" cy="4019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7172" y="2057400"/>
                <a:ext cx="522194" cy="401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807867" y="2527249"/>
                <a:ext cx="2173672" cy="4386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7867" y="2527249"/>
                <a:ext cx="2173672" cy="43864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030186" y="5498068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0186" y="5498068"/>
                <a:ext cx="370614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7173186" y="4507468"/>
                <a:ext cx="37061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>
                    <a:solidFill>
                      <a:srgbClr val="0000CC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3186" y="4507468"/>
                <a:ext cx="370614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693299" y="4235696"/>
                <a:ext cx="37279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3299" y="4235696"/>
                <a:ext cx="37279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Rectangle 19"/>
              <p:cNvSpPr/>
              <p:nvPr/>
            </p:nvSpPr>
            <p:spPr>
              <a:xfrm>
                <a:off x="1828800" y="4897745"/>
                <a:ext cx="2173672" cy="4354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p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0" name="Rectangle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8800" y="4897745"/>
                <a:ext cx="2173672" cy="43544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651199" y="4174336"/>
                <a:ext cx="522194" cy="401970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US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1199" y="4174336"/>
                <a:ext cx="522194" cy="40197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6380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Special Triangles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62000" y="1066800"/>
            <a:ext cx="7498080" cy="4800600"/>
          </a:xfrm>
        </p:spPr>
        <p:txBody>
          <a:bodyPr>
            <a:normAutofit/>
          </a:bodyPr>
          <a:lstStyle/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30°-60°-90° triangles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45°-45°-90° triangles</a:t>
            </a:r>
          </a:p>
          <a:p>
            <a:endParaRPr lang="en-US" sz="2000" dirty="0">
              <a:solidFill>
                <a:srgbClr val="0000CC"/>
              </a:solidFill>
              <a:sym typeface="Symbol" panose="05050102010706020507" pitchFamily="18" charset="2"/>
            </a:endParaRPr>
          </a:p>
          <a:p>
            <a:pPr lvl="1"/>
            <a:endParaRPr lang="en-US" sz="2000" dirty="0">
              <a:solidFill>
                <a:srgbClr val="0000CC"/>
              </a:solidFill>
            </a:endParaRPr>
          </a:p>
          <a:p>
            <a:endParaRPr lang="en-US" sz="20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914400"/>
            <a:ext cx="2326857" cy="209073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1404" y="3657600"/>
            <a:ext cx="2091536" cy="2016838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5" name="Rectangle 4"/>
          <p:cNvSpPr/>
          <p:nvPr/>
        </p:nvSpPr>
        <p:spPr>
          <a:xfrm>
            <a:off x="6292816" y="969168"/>
            <a:ext cx="984956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92816" y="2264569"/>
            <a:ext cx="9906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6837640" y="1485900"/>
            <a:ext cx="990600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181600" y="3657600"/>
            <a:ext cx="1828800" cy="76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/>
          <p:cNvSpPr/>
          <p:nvPr/>
        </p:nvSpPr>
        <p:spPr>
          <a:xfrm>
            <a:off x="5105400" y="3733800"/>
            <a:ext cx="228600" cy="16764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6934200" y="3590965"/>
            <a:ext cx="152400" cy="14283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1371600" y="2209800"/>
                <a:ext cx="1345240" cy="61093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30</m:t>
                          </m:r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209800"/>
                <a:ext cx="1345240" cy="61093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1371600" y="2810969"/>
                <a:ext cx="1496820" cy="67326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810969"/>
                <a:ext cx="1496820" cy="6732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1371600" y="3560430"/>
                <a:ext cx="1524072" cy="40197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60</m:t>
                          </m:r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3560430"/>
                <a:ext cx="1524072" cy="40197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371600" y="4398630"/>
                <a:ext cx="1496820" cy="674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4398630"/>
                <a:ext cx="1496820" cy="67415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371600" y="5117041"/>
                <a:ext cx="1527278" cy="6741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solidFill>
                                    <a:srgbClr val="0000CC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</m:num>
                        <m:den>
                          <m:r>
                            <a:rPr lang="en-US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117041"/>
                <a:ext cx="1527278" cy="67415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1371600" y="5879068"/>
                <a:ext cx="13724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45</m:t>
                          </m:r>
                          <m:r>
                            <a:rPr lang="en-US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US" i="1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0000CC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5879068"/>
                <a:ext cx="1372492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1826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  <p:bldP spid="18" grpId="0"/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38200" y="3200400"/>
            <a:ext cx="7772400" cy="3276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Right Triangles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762000" y="1066800"/>
            <a:ext cx="7924800" cy="541020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To </a:t>
            </a:r>
            <a:r>
              <a:rPr lang="en-US" i="1" dirty="0"/>
              <a:t>solve a triangle</a:t>
            </a:r>
            <a:r>
              <a:rPr lang="en-US" dirty="0"/>
              <a:t> means that we are given three parts of the triangle and we are to find the other three parts.</a:t>
            </a:r>
          </a:p>
          <a:p>
            <a:pPr lvl="1"/>
            <a:r>
              <a:rPr lang="en-US" dirty="0"/>
              <a:t>Triangles have 3 sides and 3 angles.</a:t>
            </a:r>
          </a:p>
          <a:p>
            <a:pPr lvl="1"/>
            <a:r>
              <a:rPr lang="en-US" dirty="0"/>
              <a:t>To solve the triangle, we need to know 3 parts, one of which must be a side.</a:t>
            </a:r>
          </a:p>
          <a:p>
            <a:pPr marL="82296" indent="0">
              <a:buNone/>
            </a:pPr>
            <a:endParaRPr lang="en-US" sz="1800" dirty="0"/>
          </a:p>
          <a:p>
            <a:pPr marL="82296" indent="0">
              <a:buNone/>
            </a:pPr>
            <a:r>
              <a:rPr lang="en-US" dirty="0"/>
              <a:t>To solve a right triangle,</a:t>
            </a:r>
          </a:p>
          <a:p>
            <a:pPr marL="539496" indent="-457200">
              <a:buClr>
                <a:srgbClr val="0000CC"/>
              </a:buClr>
              <a:buSzPct val="100000"/>
              <a:buFont typeface="+mj-lt"/>
              <a:buAutoNum type="arabicPeriod"/>
            </a:pPr>
            <a:r>
              <a:rPr lang="en-US" dirty="0"/>
              <a:t>Sketch a right triangle and label the known and unknown sides and angles.</a:t>
            </a:r>
          </a:p>
          <a:p>
            <a:pPr marL="539496" indent="-457200">
              <a:buClr>
                <a:srgbClr val="0000CC"/>
              </a:buClr>
              <a:buSzPct val="100000"/>
              <a:buFont typeface="+mj-lt"/>
              <a:buAutoNum type="arabicPeriod"/>
            </a:pPr>
            <a:r>
              <a:rPr lang="en-US" dirty="0"/>
              <a:t>Express each of the three unknown parts in terms of the known parts and solve for the unknown parts.</a:t>
            </a:r>
          </a:p>
          <a:p>
            <a:pPr marL="539496" indent="-457200">
              <a:buClr>
                <a:srgbClr val="0000CC"/>
              </a:buClr>
              <a:buSzPct val="100000"/>
              <a:buFont typeface="+mj-lt"/>
              <a:buAutoNum type="arabicPeriod"/>
            </a:pPr>
            <a:r>
              <a:rPr lang="en-US" dirty="0"/>
              <a:t>Check the results.</a:t>
            </a:r>
          </a:p>
          <a:p>
            <a:pPr marL="699516" lvl="1" indent="-342900"/>
            <a:r>
              <a:rPr lang="en-US" dirty="0"/>
              <a:t>Sum of interior angles should be 180</a:t>
            </a:r>
            <a:r>
              <a:rPr lang="en-US" dirty="0">
                <a:sym typeface="Symbol" panose="05050102010706020507" pitchFamily="18" charset="2"/>
              </a:rPr>
              <a:t></a:t>
            </a:r>
          </a:p>
          <a:p>
            <a:pPr marL="699516" lvl="1" indent="-342900"/>
            <a:r>
              <a:rPr lang="en-US" dirty="0">
                <a:sym typeface="Symbol" panose="05050102010706020507" pitchFamily="18" charset="2"/>
              </a:rPr>
              <a:t>Sides should satisfy Pythagorean Theorem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1255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Examples – Solving Triangles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/>
              <p:cNvSpPr>
                <a:spLocks noGrp="1"/>
              </p:cNvSpPr>
              <p:nvPr>
                <p:ph idx="1"/>
              </p:nvPr>
            </p:nvSpPr>
            <p:spPr>
              <a:xfrm>
                <a:off x="762000" y="1066800"/>
                <a:ext cx="7498080" cy="533400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Solve the triangles.</a:t>
                </a:r>
              </a:p>
              <a:p>
                <a:pPr lvl="1"/>
                <a:r>
                  <a:rPr lang="en-US" i="1" dirty="0">
                    <a:solidFill>
                      <a:srgbClr val="0000CC"/>
                    </a:solidFill>
                  </a:rPr>
                  <a:t>A</a:t>
                </a:r>
                <a:r>
                  <a:rPr lang="en-US" dirty="0">
                    <a:solidFill>
                      <a:srgbClr val="0000CC"/>
                    </a:solidFill>
                  </a:rPr>
                  <a:t> = 52</a:t>
                </a:r>
                <a:r>
                  <a:rPr lang="en-US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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00CC"/>
                    </a:solidFill>
                  </a:rPr>
                  <a:t>b</a:t>
                </a:r>
                <a:r>
                  <a:rPr lang="en-US" dirty="0">
                    <a:solidFill>
                      <a:srgbClr val="0000CC"/>
                    </a:solidFill>
                  </a:rPr>
                  <a:t> = 6.7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00CC"/>
                    </a:solidFill>
                  </a:rPr>
                  <a:t>C</a:t>
                </a:r>
                <a:r>
                  <a:rPr lang="en-US" dirty="0">
                    <a:solidFill>
                      <a:srgbClr val="0000CC"/>
                    </a:solidFill>
                  </a:rPr>
                  <a:t> = 90</a:t>
                </a:r>
                <a:r>
                  <a:rPr lang="en-US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</a:t>
                </a:r>
                <a:endParaRPr lang="en-US" dirty="0">
                  <a:solidFill>
                    <a:srgbClr val="0000CC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=8.6,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=10.9,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=38°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r>
                  <a:rPr lang="en-US" i="1" dirty="0">
                    <a:solidFill>
                      <a:srgbClr val="0000CC"/>
                    </a:solidFill>
                  </a:rPr>
                  <a:t>a</a:t>
                </a:r>
                <a:r>
                  <a:rPr lang="en-US" dirty="0">
                    <a:solidFill>
                      <a:srgbClr val="0000CC"/>
                    </a:solidFill>
                  </a:rPr>
                  <a:t> = 61.5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00CC"/>
                    </a:solidFill>
                  </a:rPr>
                  <a:t>b</a:t>
                </a:r>
                <a:r>
                  <a:rPr lang="en-US" dirty="0">
                    <a:solidFill>
                      <a:srgbClr val="0000CC"/>
                    </a:solidFill>
                  </a:rPr>
                  <a:t> = 21.4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00CC"/>
                    </a:solidFill>
                  </a:rPr>
                  <a:t>C</a:t>
                </a:r>
                <a:r>
                  <a:rPr lang="en-US" dirty="0">
                    <a:solidFill>
                      <a:srgbClr val="0000CC"/>
                    </a:solidFill>
                  </a:rPr>
                  <a:t> = 90</a:t>
                </a:r>
                <a:r>
                  <a:rPr lang="en-US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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𝑐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=65.1,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=70.8°,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=19.2°</m:t>
                    </m:r>
                  </m:oMath>
                </a14:m>
                <a:endParaRPr lang="en-US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lvl="1"/>
                <a:endParaRPr lang="en-US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lvl="1"/>
                <a:endParaRPr lang="en-US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lvl="1"/>
                <a:r>
                  <a:rPr lang="en-US" i="1" dirty="0">
                    <a:solidFill>
                      <a:srgbClr val="0000CC"/>
                    </a:solidFill>
                  </a:rPr>
                  <a:t>a</a:t>
                </a:r>
                <a:r>
                  <a:rPr lang="en-US" dirty="0">
                    <a:solidFill>
                      <a:srgbClr val="0000CC"/>
                    </a:solidFill>
                  </a:rPr>
                  <a:t> = 2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00CC"/>
                    </a:solidFill>
                  </a:rPr>
                  <a:t>c</a:t>
                </a:r>
                <a:r>
                  <a:rPr lang="en-US" dirty="0">
                    <a:solidFill>
                      <a:srgbClr val="0000CC"/>
                    </a:solidFill>
                  </a:rPr>
                  <a:t> = 3</a:t>
                </a:r>
                <a:r>
                  <a:rPr lang="en-US" dirty="0"/>
                  <a:t>, </a:t>
                </a:r>
                <a:r>
                  <a:rPr lang="en-US" i="1" dirty="0">
                    <a:solidFill>
                      <a:srgbClr val="0000CC"/>
                    </a:solidFill>
                  </a:rPr>
                  <a:t>C</a:t>
                </a:r>
                <a:r>
                  <a:rPr lang="en-US" dirty="0">
                    <a:solidFill>
                      <a:srgbClr val="0000CC"/>
                    </a:solidFill>
                  </a:rPr>
                  <a:t> = 90</a:t>
                </a:r>
                <a:r>
                  <a:rPr lang="en-US" dirty="0">
                    <a:solidFill>
                      <a:srgbClr val="0000CC"/>
                    </a:solidFill>
                    <a:sym typeface="Symbol" panose="05050102010706020507" pitchFamily="18" charset="2"/>
                  </a:rPr>
                  <a:t>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𝑏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=2.2,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𝐴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=41.8°, 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𝐵</m:t>
                    </m:r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Symbol" panose="05050102010706020507" pitchFamily="18" charset="2"/>
                      </a:rPr>
                      <m:t>=48.2°</m:t>
                    </m:r>
                  </m:oMath>
                </a14:m>
                <a:endParaRPr lang="en-US" dirty="0">
                  <a:solidFill>
                    <a:srgbClr val="0000CC"/>
                  </a:solidFill>
                  <a:sym typeface="Symbol" panose="05050102010706020507" pitchFamily="18" charset="2"/>
                </a:endParaRPr>
              </a:p>
              <a:p>
                <a:pPr lvl="1"/>
                <a:endParaRPr lang="en-US" dirty="0">
                  <a:solidFill>
                    <a:srgbClr val="0000CC"/>
                  </a:solidFill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0" y="1066800"/>
                <a:ext cx="7498080" cy="5334000"/>
              </a:xfrm>
              <a:blipFill>
                <a:blip r:embed="rId3"/>
                <a:stretch>
                  <a:fillRect t="-9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0" y="38020"/>
            <a:ext cx="1926688" cy="1562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8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Examples – Solve the Triangles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2031" t="46297" b="29695"/>
          <a:stretch/>
        </p:blipFill>
        <p:spPr>
          <a:xfrm>
            <a:off x="6474164" y="990600"/>
            <a:ext cx="2550268" cy="14478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834898" y="4381500"/>
            <a:ext cx="1828800" cy="609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/>
              <p:cNvSpPr txBox="1">
                <a:spLocks/>
              </p:cNvSpPr>
              <p:nvPr/>
            </p:nvSpPr>
            <p:spPr>
              <a:xfrm>
                <a:off x="762000" y="1066800"/>
                <a:ext cx="7772400" cy="54102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65760" indent="-283464" algn="l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00000"/>
                  </a:lnSpc>
                  <a:spcBef>
                    <a:spcPts val="550"/>
                  </a:spcBef>
                  <a:buClr>
                    <a:schemeClr val="accent1"/>
                  </a:buClr>
                  <a:buFont typeface="Verdana"/>
                  <a:buChar char="◦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82296" indent="0">
                  <a:buNone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=345</m:t>
                    </m:r>
                  </m:oMath>
                </a14:m>
                <a:endParaRPr lang="en-US" sz="20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=932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411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32.1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=56.85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=184.2</m:t>
                    </m:r>
                  </m:oMath>
                </a14:m>
                <a:endParaRPr lang="en-US" sz="20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87.25</m:t>
                    </m:r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=8.45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51.36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3692</m:t>
                    </m:r>
                  </m:oMath>
                </a14:m>
                <a:endParaRPr lang="en-US" sz="20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066800"/>
                <a:ext cx="7772400" cy="5410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0394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Examples – Solve the Triangles</a:t>
            </a:r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2031" t="46297" b="29695"/>
          <a:stretch/>
        </p:blipFill>
        <p:spPr>
          <a:xfrm>
            <a:off x="6474164" y="990600"/>
            <a:ext cx="2550268" cy="1447800"/>
          </a:xfrm>
          <a:prstGeom prst="rect">
            <a:avLst/>
          </a:prstGeom>
        </p:spPr>
      </p:pic>
      <p:sp>
        <p:nvSpPr>
          <p:cNvPr id="2" name="Rounded Rectangle 1"/>
          <p:cNvSpPr/>
          <p:nvPr/>
        </p:nvSpPr>
        <p:spPr>
          <a:xfrm>
            <a:off x="6834898" y="4381500"/>
            <a:ext cx="1828800" cy="609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/>
              <p:cNvSpPr txBox="1">
                <a:spLocks/>
              </p:cNvSpPr>
              <p:nvPr/>
            </p:nvSpPr>
            <p:spPr>
              <a:xfrm>
                <a:off x="762000" y="1066800"/>
                <a:ext cx="7772400" cy="54102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65760" indent="-283464" algn="l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00000"/>
                  </a:lnSpc>
                  <a:spcBef>
                    <a:spcPts val="550"/>
                  </a:spcBef>
                  <a:buClr>
                    <a:schemeClr val="accent1"/>
                  </a:buClr>
                  <a:buFont typeface="Verdana"/>
                  <a:buChar char="◦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82296" indent="0">
                  <a:buNone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=150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=345</m:t>
                    </m:r>
                  </m:oMath>
                </a14:m>
                <a:endParaRPr lang="en-US" sz="20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=932</m:t>
                    </m:r>
                  </m:oMath>
                </a14:m>
                <a:r>
                  <a:rPr lang="en-US" sz="20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411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20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32.1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=56.85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=184.2</m:t>
                    </m:r>
                  </m:oMath>
                </a14:m>
                <a:endParaRPr lang="en-US" sz="20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87.25</m:t>
                    </m:r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dirty="0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=8.45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51.36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3692</m:t>
                    </m:r>
                  </m:oMath>
                </a14:m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066800"/>
                <a:ext cx="7772400" cy="5410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1"/>
              <p:cNvSpPr txBox="1">
                <a:spLocks/>
              </p:cNvSpPr>
              <p:nvPr/>
            </p:nvSpPr>
            <p:spPr>
              <a:xfrm>
                <a:off x="3886200" y="1143000"/>
                <a:ext cx="3505200" cy="54102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65760" indent="-283464" algn="l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00000"/>
                  </a:lnSpc>
                  <a:spcBef>
                    <a:spcPts val="550"/>
                  </a:spcBef>
                  <a:buClr>
                    <a:schemeClr val="accent1"/>
                  </a:buClr>
                  <a:buFont typeface="Verdana"/>
                  <a:buChar char="◦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82296" indent="0">
                  <a:buNone/>
                </a:pPr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r>
                  <a:rPr lang="en-US" sz="2000" b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=311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=25.8°</m:t>
                    </m:r>
                  </m:oMath>
                </a14:m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r>
                  <a:rPr lang="en-US" sz="200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4214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12.8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r>
                  <a:rPr lang="en-US" sz="2000" b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30.2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48.2</m:t>
                    </m:r>
                  </m:oMath>
                </a14:m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r>
                  <a:rPr lang="en-US" sz="2000" b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70.5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170.2</m:t>
                    </m:r>
                  </m:oMath>
                </a14:m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r>
                  <a:rPr lang="en-US" sz="2000" b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=175.9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176.1</a:t>
                </a:r>
              </a:p>
              <a:p>
                <a:pPr marL="82296" indent="0">
                  <a:buClrTx/>
                  <a:buSzPct val="100000"/>
                  <a:buNone/>
                </a:pPr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r>
                  <a:rPr lang="en-US" sz="2000" b="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=2951.5</m:t>
                    </m:r>
                  </m:oMath>
                </a14:m>
                <a:r>
                  <a:rPr lang="en-US" sz="2000" dirty="0">
                    <a:solidFill>
                      <a:srgbClr val="00B05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4726.8</m:t>
                    </m:r>
                  </m:oMath>
                </a14:m>
                <a:endParaRPr lang="en-US" sz="2000" dirty="0">
                  <a:solidFill>
                    <a:srgbClr val="00B050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Content Placeholder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1143000"/>
                <a:ext cx="3505200" cy="5410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381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9C1CC5-4209-2295-FE17-4F67A23B1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91027F-F5C9-EBED-C6F6-1658EF3D9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Examples – From the text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D492ECB-73C2-B162-8077-0336FCE738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/>
          <a:srcRect l="52031" t="46297" b="29695"/>
          <a:stretch/>
        </p:blipFill>
        <p:spPr>
          <a:xfrm>
            <a:off x="6474164" y="990600"/>
            <a:ext cx="2550268" cy="1447800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ADE01DA-B315-7E8D-E2A4-D12490EAD51E}"/>
              </a:ext>
            </a:extLst>
          </p:cNvPr>
          <p:cNvSpPr/>
          <p:nvPr/>
        </p:nvSpPr>
        <p:spPr>
          <a:xfrm>
            <a:off x="6834898" y="4381500"/>
            <a:ext cx="1828800" cy="609600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D17A01CC-075B-AED1-A698-0ED93AB698A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62000" y="1066800"/>
                <a:ext cx="7772400" cy="5410200"/>
              </a:xfrm>
              <a:prstGeom prst="rect">
                <a:avLst/>
              </a:prstGeom>
            </p:spPr>
            <p:txBody>
              <a:bodyPr>
                <a:normAutofit/>
              </a:bodyPr>
              <a:lstStyle>
                <a:lvl1pPr marL="365760" indent="-283464" algn="l" rtl="0" eaLnBrk="1" latinLnBrk="0" hangingPunct="1">
                  <a:lnSpc>
                    <a:spcPct val="100000"/>
                  </a:lnSpc>
                  <a:spcBef>
                    <a:spcPts val="600"/>
                  </a:spcBef>
                  <a:buClr>
                    <a:schemeClr val="accent1"/>
                  </a:buClr>
                  <a:buSzPct val="80000"/>
                  <a:buFont typeface="Wingdings 2"/>
                  <a:buChar char="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40080" indent="-237744" algn="l" rtl="0" eaLnBrk="1" latinLnBrk="0" hangingPunct="1">
                  <a:lnSpc>
                    <a:spcPct val="100000"/>
                  </a:lnSpc>
                  <a:spcBef>
                    <a:spcPts val="550"/>
                  </a:spcBef>
                  <a:buClr>
                    <a:schemeClr val="accent1"/>
                  </a:buClr>
                  <a:buFont typeface="Verdana"/>
                  <a:buChar char="◦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886968" indent="-22860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2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097280" indent="-173736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3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298448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4"/>
                  </a:buClr>
                  <a:buFont typeface="Wingdings 2"/>
                  <a:buChar char=""/>
                  <a:defRPr kumimoji="0"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150876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5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171907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1920240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130552" indent="-182880" algn="l" rtl="0" eaLnBrk="1" latinLnBrk="0" hangingPunct="1">
                  <a:lnSpc>
                    <a:spcPct val="100000"/>
                  </a:lnSpc>
                  <a:spcBef>
                    <a:spcPct val="20000"/>
                  </a:spcBef>
                  <a:buClr>
                    <a:schemeClr val="accent6"/>
                  </a:buClr>
                  <a:buFont typeface="Wingdings 2"/>
                  <a:buChar char=""/>
                  <a:defRPr kumimoji="0"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  <a:extLst/>
              </a:lstStyle>
              <a:p>
                <a:pPr marL="82296" indent="0">
                  <a:buNone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r>
                  <a:rPr lang="en-US" sz="2000" b="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21) Solve the triangle: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e>
                    </m:rad>
                  </m:oMath>
                </a14:m>
                <a:r>
                  <a:rPr lang="en-US" sz="2000" dirty="0">
                    <a:solidFill>
                      <a:srgbClr val="0000FF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=2</m:t>
                    </m:r>
                    <m:rad>
                      <m:radPr>
                        <m:degHide m:val="on"/>
                        <m:ctrlP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</m:rad>
                  </m:oMath>
                </a14:m>
                <a:endParaRPr lang="en-US" sz="2000" dirty="0">
                  <a:solidFill>
                    <a:srgbClr val="0000FF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539496" indent="-457200">
                  <a:buClrTx/>
                  <a:buSzPct val="100000"/>
                  <a:buFont typeface="+mj-lt"/>
                  <a:buAutoNum type="alphaLcParenR"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endParaRPr lang="en-US" sz="2000" b="0" dirty="0">
                  <a:latin typeface="Cambria Math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endParaRPr lang="en-US" sz="2000" dirty="0">
                  <a:latin typeface="Cambria Math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endParaRPr lang="en-US" sz="2000" b="0" dirty="0">
                  <a:latin typeface="Cambria Math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endParaRPr lang="en-US" sz="2000" b="0" dirty="0">
                  <a:latin typeface="Cambria Math" panose="02040503050406030204" pitchFamily="18" charset="0"/>
                </a:endParaRPr>
              </a:p>
              <a:p>
                <a:pPr marL="82296" indent="0">
                  <a:buClrTx/>
                  <a:buSzPct val="100000"/>
                  <a:buNone/>
                </a:pPr>
                <a:r>
                  <a:rPr lang="en-US" sz="2000" b="0" dirty="0">
                    <a:latin typeface="Cambria Math" panose="02040503050406030204" pitchFamily="18" charset="0"/>
                  </a:rPr>
                  <a:t>25)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US" sz="2000" b="0" i="1" smtClean="0">
                        <a:solidFill>
                          <a:srgbClr val="0000CC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sz="20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sz="2000" b="0" i="1" smtClean="0">
                                <a:solidFill>
                                  <a:srgbClr val="0000CC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US" sz="2000" b="0" i="1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den>
                    </m:f>
                  </m:oMath>
                </a14:m>
                <a:r>
                  <a:rPr lang="en-US" sz="2000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  </a:t>
                </a:r>
                <a:r>
                  <a:rPr lang="en-US" sz="20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Find</a:t>
                </a:r>
                <a:r>
                  <a:rPr lang="en-US" sz="2000" dirty="0">
                    <a:solidFill>
                      <a:srgbClr val="0000CC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b="0" i="0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</a:rPr>
                          <m:t>csc</m:t>
                        </m:r>
                      </m:fName>
                      <m:e>
                        <m:r>
                          <a:rPr lang="en-US" sz="2000" b="0" i="1" dirty="0" smtClean="0">
                            <a:solidFill>
                              <a:srgbClr val="0000C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US" sz="20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.</a:t>
                </a:r>
              </a:p>
              <a:p>
                <a:pPr marL="82296" indent="0">
                  <a:buClrTx/>
                  <a:buSzPct val="100000"/>
                  <a:buNone/>
                </a:pPr>
                <a:endParaRPr lang="en-US" sz="20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Content Placeholder 1">
                <a:extLst>
                  <a:ext uri="{FF2B5EF4-FFF2-40B4-BE49-F238E27FC236}">
                    <a16:creationId xmlns:a16="http://schemas.microsoft.com/office/drawing/2014/main" id="{D17A01CC-075B-AED1-A698-0ED93AB69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066800"/>
                <a:ext cx="7772400" cy="5410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29060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8542D-8E2B-3C41-812A-E8F1E2701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0583652-B0E3-D623-A485-EDA2632DD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Examples – From the text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DC104B1-5B2C-2D9B-B358-65941A3A4A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42999" y="1295400"/>
            <a:ext cx="6482687" cy="2895600"/>
          </a:xfr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F373C02-9BAF-2D69-9064-5E162A6DB6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1828800"/>
            <a:ext cx="3973390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488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675F-F0A0-3AD1-6492-9D951B8FC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CC4B973-FE89-4FD6-42A5-6417D3D6A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Examples – From the text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F70E3-2DA8-FE20-BC79-83357FE9FF1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82296" indent="0">
                  <a:buNone/>
                </a:pPr>
                <a:r>
                  <a:rPr lang="en-US" dirty="0"/>
                  <a:t>A pilot on an airplane flying at an altitude of 6000 ft above ground level sights a point at the end of the runway.  The angle of depression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US" dirty="0"/>
                  <a:t>.  What is the distance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from the plane to the point on the runway?  Round to the nearest tenth of a nautical mile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NM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≈6000</m:t>
                    </m:r>
                  </m:oMath>
                </a14:m>
                <a:r>
                  <a:rPr lang="en-US" dirty="0"/>
                  <a:t> ft).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FF70E3-2DA8-FE20-BC79-83357FE9FF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1" t="-1015" r="-13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08B2FDE3-04B6-D2B1-6002-41D2E90AA8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810000"/>
            <a:ext cx="3962953" cy="1171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014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8A5D7E8-6007-81ED-6818-4DEF7AB9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56B5A60-2B2B-6EA2-5C90-5E3176331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-76200"/>
            <a:ext cx="7498080" cy="1143000"/>
          </a:xfrm>
        </p:spPr>
        <p:txBody>
          <a:bodyPr/>
          <a:lstStyle/>
          <a:p>
            <a:r>
              <a:rPr lang="en-US" dirty="0"/>
              <a:t>Trigonometric Identities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47682E-00AD-F796-17E7-183C70C4B1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82296" indent="0">
              <a:buNone/>
            </a:pPr>
            <a:r>
              <a:rPr lang="en-US" dirty="0"/>
              <a:t>Basic Identities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Pythagorean Identities</a:t>
            </a:r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endParaRPr lang="en-US" dirty="0"/>
          </a:p>
          <a:p>
            <a:pPr marL="82296" indent="0">
              <a:buNone/>
            </a:pPr>
            <a:r>
              <a:rPr lang="en-US" dirty="0"/>
              <a:t>Co-function Identities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60991C2-3F4F-1976-9F6A-8C7EB2F1D94C}"/>
              </a:ext>
            </a:extLst>
          </p:cNvPr>
          <p:cNvSpPr/>
          <p:nvPr/>
        </p:nvSpPr>
        <p:spPr>
          <a:xfrm rot="19606044">
            <a:off x="1390798" y="3355109"/>
            <a:ext cx="71865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</a:rPr>
              <a:t>Add to slides – is in 5.2.</a:t>
            </a:r>
          </a:p>
        </p:txBody>
      </p:sp>
    </p:spTree>
    <p:extLst>
      <p:ext uri="{BB962C8B-B14F-4D97-AF65-F5344CB8AC3E}">
        <p14:creationId xmlns:p14="http://schemas.microsoft.com/office/powerpoint/2010/main" val="2908644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2830136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TASKPANEKEY" val="40d5cd3d-514c-467f-b0f2-50def1ba4a48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1"/>
  <p:tag name="CHARTSCALE" val="True"/>
  <p:tag name="FIBDISPLAYKEYWORDS" val="True"/>
  <p:tag name="PRRESPONSE6" val="5"/>
  <p:tag name="SHOWFLASHWARNING" val="False"/>
  <p:tag name="EXPANDSHOWBAR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False"/>
  <p:tag name="AUTOADJUSTPARTRANGE" val="True"/>
  <p:tag name="PRRESPONSE2" val="9"/>
  <p:tag name="PRRESPONSE8" val="3"/>
  <p:tag name="POWERPOINTVERSION" val="14.0"/>
  <p:tag name="RESPCOUNTERFORMAT" val="0"/>
  <p:tag name="AUTOADVANCE" val="True"/>
  <p:tag name="SKIPREMAININGRACESLIDES" val="True"/>
  <p:tag name="CUSTOMCELLBACKCOLOR1" val="-657956"/>
  <p:tag name="GRIDROTATIONINTERVAL" val="2"/>
  <p:tag name="MULTIRESPDIVISOR" val="1"/>
  <p:tag name="ADVANCEDSETTINGSVIEW" val="True"/>
  <p:tag name="PRRESPONSE4" val="7"/>
  <p:tag name="TPVERSION" val="2008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False"/>
  <p:tag name="ANSWERNOWSTYLE" val="3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PFULLVERSION" val="4.3.2.11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ice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Solstice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28824</TotalTime>
  <Words>1749</Words>
  <Application>Microsoft Office PowerPoint</Application>
  <PresentationFormat>On-screen Show (4:3)</PresentationFormat>
  <Paragraphs>381</Paragraphs>
  <Slides>26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Arial</vt:lpstr>
      <vt:lpstr>Calibri</vt:lpstr>
      <vt:lpstr>Cambria</vt:lpstr>
      <vt:lpstr>Cambria Math</vt:lpstr>
      <vt:lpstr>Symbol</vt:lpstr>
      <vt:lpstr>Times New Roman</vt:lpstr>
      <vt:lpstr>Verdana</vt:lpstr>
      <vt:lpstr>Wingdings 2</vt:lpstr>
      <vt:lpstr>Solstice</vt:lpstr>
      <vt:lpstr>Trigonometric Functions 5.1 Angles and Their Measure 5.2 Right Triangle Trigonometry 5.3 Trigonometric Functions at Any Angle 5.7 Inverse Trigonometric Functions </vt:lpstr>
      <vt:lpstr>5.1  Angles and Their Measures</vt:lpstr>
      <vt:lpstr>PowerPoint Presentation</vt:lpstr>
      <vt:lpstr>PowerPoint Presentation</vt:lpstr>
      <vt:lpstr>PowerPoint Presentation</vt:lpstr>
      <vt:lpstr>5.2  Right Triangle Trigonometry</vt:lpstr>
      <vt:lpstr>5.2  Right Triangle Trigonometry</vt:lpstr>
      <vt:lpstr>Special Triangles</vt:lpstr>
      <vt:lpstr>Special Triangles</vt:lpstr>
      <vt:lpstr>5.2  Right Triangle Trigonometry</vt:lpstr>
      <vt:lpstr>Trigonometric Ratios</vt:lpstr>
      <vt:lpstr>Trigonometric Ratios</vt:lpstr>
      <vt:lpstr>Trigonometric Ratios </vt:lpstr>
      <vt:lpstr>Trigonometric Ratios </vt:lpstr>
      <vt:lpstr>Trigonometric Ratios </vt:lpstr>
      <vt:lpstr>Trigonometric Ratios </vt:lpstr>
      <vt:lpstr>Special Triangles</vt:lpstr>
      <vt:lpstr>Special Triangles</vt:lpstr>
      <vt:lpstr>Solving Right Triangles </vt:lpstr>
      <vt:lpstr>Examples – Solving Triangles</vt:lpstr>
      <vt:lpstr>Examples – Solve the Triangles</vt:lpstr>
      <vt:lpstr>Examples – Solve the Triangles</vt:lpstr>
      <vt:lpstr>Examples – From the text</vt:lpstr>
      <vt:lpstr>Examples – From the text</vt:lpstr>
      <vt:lpstr>Examples – From the text</vt:lpstr>
      <vt:lpstr>Trigonometric Identities</vt:lpstr>
    </vt:vector>
  </TitlesOfParts>
  <Company>Liberty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creator>rbyoung</dc:creator>
  <cp:lastModifiedBy>Young, Robert Breen</cp:lastModifiedBy>
  <cp:revision>451</cp:revision>
  <cp:lastPrinted>2025-03-31T17:34:54Z</cp:lastPrinted>
  <dcterms:created xsi:type="dcterms:W3CDTF">2008-01-31T05:19:00Z</dcterms:created>
  <dcterms:modified xsi:type="dcterms:W3CDTF">2025-11-05T18:50:01Z</dcterms:modified>
</cp:coreProperties>
</file>