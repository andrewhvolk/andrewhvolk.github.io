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6b9c1b52084189" /><Relationship Type="http://schemas.openxmlformats.org/officeDocument/2006/relationships/extended-properties" Target="/docProps/app.xml" Id="Rffdfecc2c9104f5d" /><Relationship Type="http://schemas.openxmlformats.org/officeDocument/2006/relationships/officeDocument" Target="/ppt/presentation.xml" Id="R09d83015faf640d5" /></Relationships>
</file>

<file path=ppt/presentation.xml><?xml version="1.0" encoding="utf-8"?>
<p:presentation xmlns:p="http://schemas.openxmlformats.org/presentationml/2006/main">
  <p:sldMasterIdLst>
    <p:sldMasterId xmlns:r="http://schemas.openxmlformats.org/officeDocument/2006/relationships" id="2147483648" r:id="R37e3407421504f6a"/>
  </p:sldMasterIdLst>
  <p:notesMasterIdLst>
    <p:notesMasterId xmlns:r="http://schemas.openxmlformats.org/officeDocument/2006/relationships" r:id="R8a2fd94db1f0451f"/>
  </p:notesMasterIdLst>
  <p:sldIdLst>
    <p:sldId xmlns:r="http://schemas.openxmlformats.org/officeDocument/2006/relationships" id="256" r:id="R0ce1728855984e3b"/>
    <p:sldId xmlns:r="http://schemas.openxmlformats.org/officeDocument/2006/relationships" id="257" r:id="R8ba53721a7414eb1"/>
    <p:sldId xmlns:r="http://schemas.openxmlformats.org/officeDocument/2006/relationships" id="258" r:id="Rc9719a0fe1014556"/>
    <p:sldId xmlns:r="http://schemas.openxmlformats.org/officeDocument/2006/relationships" id="259" r:id="R3b5d23f7a0c443a6"/>
    <p:sldId xmlns:r="http://schemas.openxmlformats.org/officeDocument/2006/relationships" id="260" r:id="R07c686dfc57b45af"/>
    <p:sldId xmlns:r="http://schemas.openxmlformats.org/officeDocument/2006/relationships" id="261" r:id="R5fce35153adc4e76"/>
    <p:sldId xmlns:r="http://schemas.openxmlformats.org/officeDocument/2006/relationships" id="262" r:id="R4acf371aa5fb4d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8597e61a76f4e51" /><Relationship Type="http://schemas.openxmlformats.org/officeDocument/2006/relationships/slideMaster" Target="/ppt/slideMasters/slideMaster1.xml" Id="R37e3407421504f6a" /><Relationship Type="http://schemas.openxmlformats.org/officeDocument/2006/relationships/notesMaster" Target="/ppt/notesMasters/notesMaster1.xml" Id="R8a2fd94db1f0451f" /><Relationship Type="http://schemas.openxmlformats.org/officeDocument/2006/relationships/presProps" Target="/ppt/presProps.xml" Id="Rb6af5eb14f20407e" /><Relationship Type="http://schemas.openxmlformats.org/officeDocument/2006/relationships/viewProps" Target="/ppt/viewProps.xml" Id="Rd96f896a15834d48" /><Relationship Type="http://schemas.openxmlformats.org/officeDocument/2006/relationships/tableStyles" Target="/ppt/tableStyles.xml" Id="Re6bbfe2b29ee4e95" /><Relationship Type="http://schemas.openxmlformats.org/officeDocument/2006/relationships/slide" Target="/ppt/slides/slide1.xml" Id="R0ce1728855984e3b" /><Relationship Type="http://schemas.openxmlformats.org/officeDocument/2006/relationships/slide" Target="/ppt/slides/slide2.xml" Id="R8ba53721a7414eb1" /><Relationship Type="http://schemas.openxmlformats.org/officeDocument/2006/relationships/slide" Target="/ppt/slides/slide3.xml" Id="Rc9719a0fe1014556" /><Relationship Type="http://schemas.openxmlformats.org/officeDocument/2006/relationships/slide" Target="/ppt/slides/slide4.xml" Id="R3b5d23f7a0c443a6" /><Relationship Type="http://schemas.openxmlformats.org/officeDocument/2006/relationships/slide" Target="/ppt/slides/slide5.xml" Id="R07c686dfc57b45af" /><Relationship Type="http://schemas.openxmlformats.org/officeDocument/2006/relationships/slide" Target="/ppt/slides/slide6.xml" Id="R5fce35153adc4e76" /><Relationship Type="http://schemas.openxmlformats.org/officeDocument/2006/relationships/slide" Target="/ppt/slides/slide7.xml" Id="R4acf371aa5fb4d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8f40b9f97a45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3e59b8a7104d4f" /><Relationship Type="http://schemas.openxmlformats.org/officeDocument/2006/relationships/notesMaster" Target="/ppt/notesMasters/notesMaster1.xml" Id="Rbebbcc80dd1140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54a35d5d434816" /><Relationship Type="http://schemas.openxmlformats.org/officeDocument/2006/relationships/notesMaster" Target="/ppt/notesMasters/notesMaster1.xml" Id="R644bb153a71444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ff53be7dbb414e" /><Relationship Type="http://schemas.openxmlformats.org/officeDocument/2006/relationships/notesMaster" Target="/ppt/notesMasters/notesMaster1.xml" Id="Re3f765cb028a44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5136b491564022" /><Relationship Type="http://schemas.openxmlformats.org/officeDocument/2006/relationships/notesMaster" Target="/ppt/notesMasters/notesMaster1.xml" Id="Rda763f35c24643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ca90bd85124b42" /><Relationship Type="http://schemas.openxmlformats.org/officeDocument/2006/relationships/notesMaster" Target="/ppt/notesMasters/notesMaster1.xml" Id="R1913ef42ee7c4a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d784aef23f4a40" /><Relationship Type="http://schemas.openxmlformats.org/officeDocument/2006/relationships/notesMaster" Target="/ppt/notesMasters/notesMaster1.xml" Id="Ra99b648fe33a48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437e96874345bd" /><Relationship Type="http://schemas.openxmlformats.org/officeDocument/2006/relationships/notesMaster" Target="/ppt/notesMasters/notesMaster1.xml" Id="Rb6a7f088fd2146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3:15–3:40 PM quiz window. Distribute papers and explain directions before starting a full 25-minute timer; if distribution delays the start, preserve all 25 minutes and shorten the post-quiz notes. Quiz: MATH 130 Quiz 3, Sep 16, 2026, 100 points, six questions, 25 minutes. Do not show quiz questions or answers. Source: instructor quiz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3 minutes. Use the current module topic summary to emphasize writing equations of parallel or perpendicular lines through a point. Course schedule: theme.js lines 308–311 and 352–354. Friday Sep 18 is Section 3.1; current module is due Sep 23 at 2:10 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 minutes. First rewrite Ax + By = C as y = mx + b when needed. For nonvertical lines, parallel slopes are equal; perpendicular slopes multiply to −1. The horizontal line y = c and vertical line x = d are perpendicular; a vertical line has undefined slope, so do not attempt −1/m. Ask for a quick verbal example: if slope is −2, parallel is −2 and perpendicular is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 minutes. Fictional airfield-planning grid with equal east and north scales; this is a mathematics model, not an operational design. Work slowly through the standard-form conversion and point-slope form. Check P in each final equation: parallel, 0 = −8 + 8; perpendicular, 0 = 2 − 2. The existing runway centerline supplies a slope but does not pass through P. This targets the course's current practice focus without repeating Quiz 3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approximately three minutes of independent work and two minutes for pair comparison. The east and north axes use the same nautical-mile scale, so slope and perpendicularity are meaningful on this schematic map. It is a mathematical survey-pattern exercise, not navigation instructions. Do not advance to the solution slide until students have attempted both equations. Students who finish early should substitute (4,1) into each answer and confirm both 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three minutes. Ask for both slopes first, then show the equations. Confirm that the existing flight leg and the new parallel leg are distinct because their intercepts differ. Both final paths satisfy P = (4,1). This is a schematic coordinate exercise, not an operational flight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in two minutes. Today's course schedule lists 2.5; Friday Sep 18 lists 3.1. The current ALEKS module 2.5/3.1 and Test 1 are listed for Wednesday Sep 23 at 2:10 PM. Quiz 4 is planned Monday Sep 21, but coverage remains unconfirmed, so direct students to Canvas for the final scope. Source: theme.js lines 308–311 and 352–354. If the quiz ran late, show this slide immediately after the model and release on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cbbda1855a43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af266431d44fee" /><Relationship Type="http://schemas.openxmlformats.org/officeDocument/2006/relationships/slideLayout" Target="/ppt/slideLayouts/slideLayout1.xml" Id="R96399612fc5840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399612fc5840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51ad8cc05547c3" /><Relationship Type="http://schemas.openxmlformats.org/officeDocument/2006/relationships/notesSlide" Target="/ppt/notesSlides/notesSlide1.xml" Id="R1d7564aeb3f843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8144e52e444279" /><Relationship Type="http://schemas.openxmlformats.org/officeDocument/2006/relationships/notesSlide" Target="/ppt/notesSlides/notesSlide2.xml" Id="R633812bcd9c04c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b77ec7acaa470e" /><Relationship Type="http://schemas.openxmlformats.org/officeDocument/2006/relationships/notesSlide" Target="/ppt/notesSlides/notesSlide3.xml" Id="Rff265a3c467d4a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326bb21b1e42a7" /><Relationship Type="http://schemas.openxmlformats.org/officeDocument/2006/relationships/notesSlide" Target="/ppt/notesSlides/notesSlide4.xml" Id="R81a3d016432449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d1556ed0734d08" /><Relationship Type="http://schemas.openxmlformats.org/officeDocument/2006/relationships/notesSlide" Target="/ppt/notesSlides/notesSlide5.xml" Id="R2dab570153714c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f9717ae981423a" /><Relationship Type="http://schemas.openxmlformats.org/officeDocument/2006/relationships/notesSlide" Target="/ppt/notesSlides/notesSlide6.xml" Id="R714aa55ccb8046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848e9019534302" /><Relationship Type="http://schemas.openxmlformats.org/officeDocument/2006/relationships/notesSlide" Target="/ppt/notesSlides/notesSlide7.xml" Id="R484bb9ab2ff6485d" /></Relationships>
</file>

<file path=ppt/slides/slide1.xml><?xml version="1.0" encoding="utf-8"?>
<p:sld xmlns:p="http://schemas.openxmlformats.org/presentationml/2006/main">
  <p:cSld>
    <p:bg>
      <p:bgPr>
        <a:solidFill xmlns:a="http://schemas.openxmlformats.org/drawingml/2006/main">
          <a:srgbClr val="11344E"/>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630D18FB-C73C-4BDE-90E4-6C31F3F8E2A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3FBFF84A-AC96-41ED-B49A-4D8985CD9430}"/>
              </a:ext>
            </a:extLst>
          </p:cNvPr>
          <p:cNvSpPr>
            <a:spLocks xmlns:a="http://schemas.openxmlformats.org/drawingml/2006/main" noGrp="1"/>
          </p:cNvSpPr>
          <p:nvPr/>
        </p:nvSpPr>
        <p:spPr>
          <a:xfrm xmlns:a="http://schemas.openxmlformats.org/drawingml/2006/main">
            <a:off x="609600" y="361950"/>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1">
                <a:solidFill>
                  <a:srgbClr val="D7E6EF"/>
                </a:solidFill>
                <a:latin typeface="Arial"/>
                <a:ea typeface="Arial"/>
                <a:cs typeface="Arial"/>
              </a:defRPr>
            </a:pPr>
            <a:r>
              <a:rPr sz="1200" b="1">
                <a:solidFill>
                  <a:srgbClr val="D7E6EF"/>
                </a:solidFill>
                <a:latin typeface="Arial"/>
                <a:ea typeface="Arial"/>
                <a:cs typeface="Arial"/>
              </a:rPr>
              <a:t>MATH 130  ·  WEDNESDAY, SEPTEMBER 16</a:t>
            </a:r>
          </a:p>
        </p:txBody>
      </p:sp>
      <p:sp>
        <p:nvSpPr>
          <p:cNvPr id="3" name="Rectangle 2">
            <a:extLst xmlns:a="http://schemas.openxmlformats.org/drawingml/2006/main">
              <a:ext uri="{FF2B5EF4-FFF2-40B4-BE49-F238E27FC236}">
                <a16:creationId xmlns:a16="http://schemas.microsoft.com/office/drawing/2014/main" id="{E1126F39-F420-42A9-A0C0-694609DCB816}"/>
              </a:ext>
            </a:extLst>
          </p:cNvPr>
          <p:cNvSpPr>
            <a:spLocks xmlns:a="http://schemas.openxmlformats.org/drawingml/2006/main" noGrp="1"/>
          </p:cNvSpPr>
          <p:nvPr/>
        </p:nvSpPr>
        <p:spPr>
          <a:xfrm xmlns:a="http://schemas.openxmlformats.org/drawingml/2006/main">
            <a:off x="609600" y="857250"/>
            <a:ext cx="647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Quiz 3</a:t>
            </a:r>
          </a:p>
        </p:txBody>
      </p:sp>
      <p:sp>
        <p:nvSpPr>
          <p:cNvPr id="4" name="Rectangle 3">
            <a:extLst xmlns:a="http://schemas.openxmlformats.org/drawingml/2006/main">
              <a:ext uri="{FF2B5EF4-FFF2-40B4-BE49-F238E27FC236}">
                <a16:creationId xmlns:a16="http://schemas.microsoft.com/office/drawing/2014/main" id="{9F68B645-97BE-4BA7-8A90-F562D6C088F2}"/>
              </a:ext>
            </a:extLst>
          </p:cNvPr>
          <p:cNvSpPr>
            <a:spLocks xmlns:a="http://schemas.openxmlformats.org/drawingml/2006/main" noGrp="1"/>
          </p:cNvSpPr>
          <p:nvPr/>
        </p:nvSpPr>
        <p:spPr>
          <a:xfrm xmlns:a="http://schemas.openxmlformats.org/drawingml/2006/main">
            <a:off x="8001000" y="800100"/>
            <a:ext cx="3476625" cy="1238250"/>
          </a:xfrm>
          <a:prstGeom xmlns:a="http://schemas.openxmlformats.org/drawingml/2006/main" prst="rect">
            <a:avLst/>
          </a:prstGeom>
          <a:solidFill xmlns:a="http://schemas.openxmlformats.org/drawingml/2006/main">
            <a:srgbClr val="F2AD1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248320B9-C011-4BCD-A615-531C970C52DC}"/>
              </a:ext>
            </a:extLst>
          </p:cNvPr>
          <p:cNvSpPr>
            <a:spLocks xmlns:a="http://schemas.openxmlformats.org/drawingml/2006/main" noGrp="1"/>
          </p:cNvSpPr>
          <p:nvPr/>
        </p:nvSpPr>
        <p:spPr>
          <a:xfrm xmlns:a="http://schemas.openxmlformats.org/drawingml/2006/main">
            <a:off x="8191500" y="93345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3600" b="1">
                <a:solidFill>
                  <a:srgbClr val="11344E"/>
                </a:solidFill>
                <a:latin typeface="Arial"/>
                <a:ea typeface="Arial"/>
                <a:cs typeface="Arial"/>
              </a:defRPr>
            </a:pPr>
            <a:r>
              <a:rPr sz="3600" b="1">
                <a:solidFill>
                  <a:srgbClr val="11344E"/>
                </a:solidFill>
                <a:latin typeface="Arial"/>
                <a:ea typeface="Arial"/>
                <a:cs typeface="Arial"/>
              </a:rPr>
              <a:t>25 minutes</a:t>
            </a:r>
          </a:p>
        </p:txBody>
      </p:sp>
      <p:sp>
        <p:nvSpPr>
          <p:cNvPr id="6" name="Rectangle 5">
            <a:extLst xmlns:a="http://schemas.openxmlformats.org/drawingml/2006/main">
              <a:ext uri="{FF2B5EF4-FFF2-40B4-BE49-F238E27FC236}">
                <a16:creationId xmlns:a16="http://schemas.microsoft.com/office/drawing/2014/main" id="{95F57D0D-01EB-46D9-9ED5-4D7C598FBFF1}"/>
              </a:ext>
            </a:extLst>
          </p:cNvPr>
          <p:cNvSpPr>
            <a:spLocks xmlns:a="http://schemas.openxmlformats.org/drawingml/2006/main" noGrp="1"/>
          </p:cNvSpPr>
          <p:nvPr/>
        </p:nvSpPr>
        <p:spPr>
          <a:xfrm xmlns:a="http://schemas.openxmlformats.org/drawingml/2006/main">
            <a:off x="8229600" y="168592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125" b="1">
                <a:solidFill>
                  <a:srgbClr val="11344E"/>
                </a:solidFill>
                <a:latin typeface="Arial"/>
                <a:ea typeface="Arial"/>
                <a:cs typeface="Arial"/>
              </a:defRPr>
            </a:pPr>
            <a:r>
              <a:rPr sz="1125" b="1">
                <a:solidFill>
                  <a:srgbClr val="11344E"/>
                </a:solidFill>
                <a:latin typeface="Arial"/>
                <a:ea typeface="Arial"/>
                <a:cs typeface="Arial"/>
              </a:rPr>
              <a:t>Timer begins after papers are ready</a:t>
            </a:r>
          </a:p>
        </p:txBody>
      </p:sp>
      <p:sp>
        <p:nvSpPr>
          <p:cNvPr id="7" name="Straight Connector 6">
            <a:extLst xmlns:a="http://schemas.openxmlformats.org/drawingml/2006/main">
              <a:ext uri="{FF2B5EF4-FFF2-40B4-BE49-F238E27FC236}">
                <a16:creationId xmlns:a16="http://schemas.microsoft.com/office/drawing/2014/main" id="{8B3DD9D1-331F-449B-8FD9-BFB8F4546811}"/>
              </a:ext>
            </a:extLst>
          </p:cNvPr>
          <p:cNvSpPr>
            <a:spLocks xmlns:a="http://schemas.openxmlformats.org/drawingml/2006/main" noGrp="1"/>
          </p:cNvSpPr>
          <p:nvPr/>
        </p:nvSpPr>
        <p:spPr>
          <a:xfrm xmlns:a="http://schemas.openxmlformats.org/drawingml/2006/main">
            <a:off x="609600" y="2209800"/>
            <a:ext cx="10858500" cy="0"/>
          </a:xfrm>
          <a:prstGeom xmlns:a="http://schemas.openxmlformats.org/drawingml/2006/main" prst="line">
            <a:avLst/>
          </a:prstGeom>
          <a:noFill xmlns:a="http://schemas.openxmlformats.org/drawingml/2006/main"/>
          <a:ln xmlns:a="http://schemas.openxmlformats.org/drawingml/2006/main" w="19050">
            <a:solidFill>
              <a:srgbClr val="41627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51267A5A-19DD-4B5A-9F0F-A4C2459C90EC}"/>
              </a:ext>
            </a:extLst>
          </p:cNvPr>
          <p:cNvSpPr>
            <a:spLocks xmlns:a="http://schemas.openxmlformats.org/drawingml/2006/main" noGrp="1"/>
          </p:cNvSpPr>
          <p:nvPr/>
        </p:nvSpPr>
        <p:spPr>
          <a:xfrm xmlns:a="http://schemas.openxmlformats.org/drawingml/2006/main">
            <a:off x="619125" y="2571750"/>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AB98056D-92D7-4564-A8A1-AFC42FEDE15F}"/>
              </a:ext>
            </a:extLst>
          </p:cNvPr>
          <p:cNvSpPr>
            <a:spLocks xmlns:a="http://schemas.openxmlformats.org/drawingml/2006/main" noGrp="1"/>
          </p:cNvSpPr>
          <p:nvPr/>
        </p:nvSpPr>
        <p:spPr>
          <a:xfrm xmlns:a="http://schemas.openxmlformats.org/drawingml/2006/main">
            <a:off x="619125" y="25717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4727B0BA-9732-4EA8-B4FD-938CEC5F8F03}"/>
              </a:ext>
            </a:extLst>
          </p:cNvPr>
          <p:cNvSpPr>
            <a:spLocks xmlns:a="http://schemas.openxmlformats.org/drawingml/2006/main" noGrp="1"/>
          </p:cNvSpPr>
          <p:nvPr/>
        </p:nvSpPr>
        <p:spPr>
          <a:xfrm xmlns:a="http://schemas.openxmlformats.org/drawingml/2006/main">
            <a:off x="1285875" y="25527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Write your name (last, first), date, and section.</a:t>
            </a:r>
          </a:p>
        </p:txBody>
      </p:sp>
      <p:sp>
        <p:nvSpPr>
          <p:cNvPr id="11" name="Rectangle 10">
            <a:extLst xmlns:a="http://schemas.openxmlformats.org/drawingml/2006/main">
              <a:ext uri="{FF2B5EF4-FFF2-40B4-BE49-F238E27FC236}">
                <a16:creationId xmlns:a16="http://schemas.microsoft.com/office/drawing/2014/main" id="{25B980B2-739A-452D-AF87-EFDA4F0A037F}"/>
              </a:ext>
            </a:extLst>
          </p:cNvPr>
          <p:cNvSpPr>
            <a:spLocks xmlns:a="http://schemas.openxmlformats.org/drawingml/2006/main" noGrp="1"/>
          </p:cNvSpPr>
          <p:nvPr/>
        </p:nvSpPr>
        <p:spPr>
          <a:xfrm xmlns:a="http://schemas.openxmlformats.org/drawingml/2006/main">
            <a:off x="619125" y="3286125"/>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FB4EA56A-9E26-4A40-9B35-D9FF1C752A5F}"/>
              </a:ext>
            </a:extLst>
          </p:cNvPr>
          <p:cNvSpPr>
            <a:spLocks xmlns:a="http://schemas.openxmlformats.org/drawingml/2006/main" noGrp="1"/>
          </p:cNvSpPr>
          <p:nvPr/>
        </p:nvSpPr>
        <p:spPr>
          <a:xfrm xmlns:a="http://schemas.openxmlformats.org/drawingml/2006/main">
            <a:off x="619125" y="32861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3" name="Rectangle 12">
            <a:extLst xmlns:a="http://schemas.openxmlformats.org/drawingml/2006/main">
              <a:ext uri="{FF2B5EF4-FFF2-40B4-BE49-F238E27FC236}">
                <a16:creationId xmlns:a16="http://schemas.microsoft.com/office/drawing/2014/main" id="{B12A756D-A67F-468F-ABCD-7A7D8C516C9D}"/>
              </a:ext>
            </a:extLst>
          </p:cNvPr>
          <p:cNvSpPr>
            <a:spLocks xmlns:a="http://schemas.openxmlformats.org/drawingml/2006/main" noGrp="1"/>
          </p:cNvSpPr>
          <p:nvPr/>
        </p:nvSpPr>
        <p:spPr>
          <a:xfrm xmlns:a="http://schemas.openxmlformats.org/drawingml/2006/main">
            <a:off x="1285875" y="3267075"/>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Show all work inside each question box.</a:t>
            </a:r>
          </a:p>
        </p:txBody>
      </p:sp>
      <p:sp>
        <p:nvSpPr>
          <p:cNvPr id="14" name="Rectangle 13">
            <a:extLst xmlns:a="http://schemas.openxmlformats.org/drawingml/2006/main">
              <a:ext uri="{FF2B5EF4-FFF2-40B4-BE49-F238E27FC236}">
                <a16:creationId xmlns:a16="http://schemas.microsoft.com/office/drawing/2014/main" id="{50C4752E-B672-446B-A1C6-439006D010E0}"/>
              </a:ext>
            </a:extLst>
          </p:cNvPr>
          <p:cNvSpPr>
            <a:spLocks xmlns:a="http://schemas.openxmlformats.org/drawingml/2006/main" noGrp="1"/>
          </p:cNvSpPr>
          <p:nvPr/>
        </p:nvSpPr>
        <p:spPr>
          <a:xfrm xmlns:a="http://schemas.openxmlformats.org/drawingml/2006/main">
            <a:off x="619125" y="4000500"/>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44F27802-309D-4E44-A186-74D5BE5F2FEE}"/>
              </a:ext>
            </a:extLst>
          </p:cNvPr>
          <p:cNvSpPr>
            <a:spLocks xmlns:a="http://schemas.openxmlformats.org/drawingml/2006/main" noGrp="1"/>
          </p:cNvSpPr>
          <p:nvPr/>
        </p:nvSpPr>
        <p:spPr>
          <a:xfrm xmlns:a="http://schemas.openxmlformats.org/drawingml/2006/main">
            <a:off x="619125" y="40005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6" name="Rectangle 15">
            <a:extLst xmlns:a="http://schemas.openxmlformats.org/drawingml/2006/main">
              <a:ext uri="{FF2B5EF4-FFF2-40B4-BE49-F238E27FC236}">
                <a16:creationId xmlns:a16="http://schemas.microsoft.com/office/drawing/2014/main" id="{42980976-80AC-4465-8256-0C9600307A1E}"/>
              </a:ext>
            </a:extLst>
          </p:cNvPr>
          <p:cNvSpPr>
            <a:spLocks xmlns:a="http://schemas.openxmlformats.org/drawingml/2006/main" noGrp="1"/>
          </p:cNvSpPr>
          <p:nvPr/>
        </p:nvSpPr>
        <p:spPr>
          <a:xfrm xmlns:a="http://schemas.openxmlformats.org/drawingml/2006/main">
            <a:off x="1285875" y="398145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A correct answer without supporting work receives no credit.</a:t>
            </a:r>
          </a:p>
        </p:txBody>
      </p:sp>
      <p:sp>
        <p:nvSpPr>
          <p:cNvPr id="17" name="Rectangle 16">
            <a:extLst xmlns:a="http://schemas.openxmlformats.org/drawingml/2006/main">
              <a:ext uri="{FF2B5EF4-FFF2-40B4-BE49-F238E27FC236}">
                <a16:creationId xmlns:a16="http://schemas.microsoft.com/office/drawing/2014/main" id="{1041ED5B-5819-4DF0-B421-56828D173FD3}"/>
              </a:ext>
            </a:extLst>
          </p:cNvPr>
          <p:cNvSpPr>
            <a:spLocks xmlns:a="http://schemas.openxmlformats.org/drawingml/2006/main" noGrp="1"/>
          </p:cNvSpPr>
          <p:nvPr/>
        </p:nvSpPr>
        <p:spPr>
          <a:xfrm xmlns:a="http://schemas.openxmlformats.org/drawingml/2006/main">
            <a:off x="619125" y="4714875"/>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B8A952E-4282-4CC7-BF9D-70D397A968F7}"/>
              </a:ext>
            </a:extLst>
          </p:cNvPr>
          <p:cNvSpPr>
            <a:spLocks xmlns:a="http://schemas.openxmlformats.org/drawingml/2006/main" noGrp="1"/>
          </p:cNvSpPr>
          <p:nvPr/>
        </p:nvSpPr>
        <p:spPr>
          <a:xfrm xmlns:a="http://schemas.openxmlformats.org/drawingml/2006/main">
            <a:off x="619125" y="47148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19" name="Rectangle 18">
            <a:extLst xmlns:a="http://schemas.openxmlformats.org/drawingml/2006/main">
              <a:ext uri="{FF2B5EF4-FFF2-40B4-BE49-F238E27FC236}">
                <a16:creationId xmlns:a16="http://schemas.microsoft.com/office/drawing/2014/main" id="{B347DB1C-A239-4B11-B837-A8D1AE039B57}"/>
              </a:ext>
            </a:extLst>
          </p:cNvPr>
          <p:cNvSpPr>
            <a:spLocks xmlns:a="http://schemas.openxmlformats.org/drawingml/2006/main" noGrp="1"/>
          </p:cNvSpPr>
          <p:nvPr/>
        </p:nvSpPr>
        <p:spPr>
          <a:xfrm xmlns:a="http://schemas.openxmlformats.org/drawingml/2006/main">
            <a:off x="1285875" y="4695825"/>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Odd questions: left column. Even questions: right column.</a:t>
            </a:r>
          </a:p>
        </p:txBody>
      </p:sp>
      <p:sp>
        <p:nvSpPr>
          <p:cNvPr id="20" name="Rectangle 19">
            <a:extLst xmlns:a="http://schemas.openxmlformats.org/drawingml/2006/main">
              <a:ext uri="{FF2B5EF4-FFF2-40B4-BE49-F238E27FC236}">
                <a16:creationId xmlns:a16="http://schemas.microsoft.com/office/drawing/2014/main" id="{21AC9A26-2750-48AD-99BB-76179745C87E}"/>
              </a:ext>
            </a:extLst>
          </p:cNvPr>
          <p:cNvSpPr>
            <a:spLocks xmlns:a="http://schemas.openxmlformats.org/drawingml/2006/main" noGrp="1"/>
          </p:cNvSpPr>
          <p:nvPr/>
        </p:nvSpPr>
        <p:spPr>
          <a:xfrm xmlns:a="http://schemas.openxmlformats.org/drawingml/2006/main">
            <a:off x="609600" y="58483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1">
                <a:solidFill>
                  <a:srgbClr val="F2AD12"/>
                </a:solidFill>
                <a:latin typeface="Arial"/>
                <a:ea typeface="Arial"/>
                <a:cs typeface="Arial"/>
              </a:defRPr>
            </a:pPr>
            <a:r>
              <a:rPr sz="1500" b="1">
                <a:solidFill>
                  <a:srgbClr val="F2AD12"/>
                </a:solidFill>
                <a:latin typeface="Arial"/>
                <a:ea typeface="Arial"/>
                <a:cs typeface="Arial"/>
              </a:rPr>
              <a:t>Wait for the start signal. Turn in your paper when the timer ends.</a:t>
            </a:r>
          </a:p>
        </p:txBody>
      </p:sp>
    </p:spTree>
    <p:extLst>
      <p:ext uri="{BB962C8B-B14F-4D97-AF65-F5344CB8AC3E}">
        <p14:creationId xmlns:p14="http://schemas.microsoft.com/office/powerpoint/2010/main" val="16653390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DCA8D6A6-2339-4B59-8855-8895B4CCC6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1E2FB40D-47A0-4223-B062-A9F93FD3A804}"/>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1">
                <a:solidFill>
                  <a:srgbClr val="11344E"/>
                </a:solidFill>
                <a:latin typeface="Arial"/>
                <a:ea typeface="Arial"/>
                <a:cs typeface="Arial"/>
              </a:defRPr>
            </a:pPr>
            <a:r>
              <a:rPr sz="2550" b="1">
                <a:solidFill>
                  <a:srgbClr val="11344E"/>
                </a:solidFill>
                <a:latin typeface="Arial"/>
                <a:ea typeface="Arial"/>
                <a:cs typeface="Arial"/>
              </a:rPr>
              <a:t>After the quiz: Section 2.5</a:t>
            </a:r>
          </a:p>
        </p:txBody>
      </p:sp>
      <p:sp>
        <p:nvSpPr>
          <p:cNvPr id="3" name="Rectangle 2">
            <a:extLst xmlns:a="http://schemas.openxmlformats.org/drawingml/2006/main">
              <a:ext uri="{FF2B5EF4-FFF2-40B4-BE49-F238E27FC236}">
                <a16:creationId xmlns:a16="http://schemas.microsoft.com/office/drawing/2014/main" id="{9BCE5FE6-1326-4A67-BBAC-817EFBE73BCC}"/>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75" b="0">
                <a:solidFill>
                  <a:srgbClr val="687783"/>
                </a:solidFill>
                <a:latin typeface="Arial"/>
                <a:ea typeface="Arial"/>
                <a:cs typeface="Arial"/>
              </a:defRPr>
            </a:pPr>
            <a:r>
              <a:rPr sz="1275" b="0">
                <a:solidFill>
                  <a:srgbClr val="687783"/>
                </a:solidFill>
                <a:latin typeface="Arial"/>
                <a:ea typeface="Arial"/>
                <a:cs typeface="Arial"/>
              </a:rPr>
              <a:t>A focused start on parallel and perpendicular lines</a:t>
            </a:r>
          </a:p>
        </p:txBody>
      </p:sp>
      <p:sp>
        <p:nvSpPr>
          <p:cNvPr id="4" name="Rectangle 3">
            <a:extLst xmlns:a="http://schemas.openxmlformats.org/drawingml/2006/main">
              <a:ext uri="{FF2B5EF4-FFF2-40B4-BE49-F238E27FC236}">
                <a16:creationId xmlns:a16="http://schemas.microsoft.com/office/drawing/2014/main" id="{2207E18B-80D9-4F47-B407-332B39C663DC}"/>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825" b="1">
                <a:solidFill>
                  <a:srgbClr val="148A68"/>
                </a:solidFill>
                <a:latin typeface="Arial"/>
                <a:ea typeface="Arial"/>
                <a:cs typeface="Arial"/>
              </a:defRPr>
            </a:pPr>
            <a:r>
              <a:rPr sz="825" b="1">
                <a:solidFill>
                  <a:srgbClr val="148A68"/>
                </a:solidFill>
                <a:latin typeface="Arial"/>
                <a:ea typeface="Arial"/>
                <a:cs typeface="Arial"/>
              </a:rPr>
              <a:t>3:40–3:43</a:t>
            </a:r>
          </a:p>
        </p:txBody>
      </p:sp>
      <p:sp>
        <p:nvSpPr>
          <p:cNvPr id="5" name="Straight Connector 4">
            <a:extLst xmlns:a="http://schemas.openxmlformats.org/drawingml/2006/main">
              <a:ext uri="{FF2B5EF4-FFF2-40B4-BE49-F238E27FC236}">
                <a16:creationId xmlns:a16="http://schemas.microsoft.com/office/drawing/2014/main" id="{6A7E2660-D145-4ACF-AF73-434B1D46C289}"/>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BB67213A-0350-4995-BECB-0B4E9CD321A0}"/>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Rectangle 6">
            <a:extLst xmlns:a="http://schemas.openxmlformats.org/drawingml/2006/main">
              <a:ext uri="{FF2B5EF4-FFF2-40B4-BE49-F238E27FC236}">
                <a16:creationId xmlns:a16="http://schemas.microsoft.com/office/drawing/2014/main" id="{7D5E7723-B794-46A5-9BC7-09CD7D127D4F}"/>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750" b="0">
                <a:solidFill>
                  <a:srgbClr val="687783"/>
                </a:solidFill>
                <a:latin typeface="Arial"/>
                <a:ea typeface="Arial"/>
                <a:cs typeface="Arial"/>
              </a:defRPr>
            </a:pPr>
            <a:r>
              <a:rPr sz="750" b="0">
                <a:solidFill>
                  <a:srgbClr val="687783"/>
                </a:solidFill>
                <a:latin typeface="Arial"/>
                <a:ea typeface="Arial"/>
                <a:cs typeface="Arial"/>
              </a:rPr>
              <a:t>2  slide</a:t>
            </a:r>
          </a:p>
        </p:txBody>
      </p:sp>
      <p:sp>
        <p:nvSpPr>
          <p:cNvPr id="8" name="Rectangle 7">
            <a:extLst xmlns:a="http://schemas.openxmlformats.org/drawingml/2006/main">
              <a:ext uri="{FF2B5EF4-FFF2-40B4-BE49-F238E27FC236}">
                <a16:creationId xmlns:a16="http://schemas.microsoft.com/office/drawing/2014/main" id="{0BB1F932-32B1-4B69-9FCF-AEA955EB68BF}"/>
              </a:ext>
            </a:extLst>
          </p:cNvPr>
          <p:cNvSpPr>
            <a:spLocks xmlns:a="http://schemas.openxmlformats.org/drawingml/2006/main" noGrp="1"/>
          </p:cNvSpPr>
          <p:nvPr/>
        </p:nvSpPr>
        <p:spPr>
          <a:xfrm xmlns:a="http://schemas.openxmlformats.org/drawingml/2006/main">
            <a:off x="723900" y="1476375"/>
            <a:ext cx="5048250" cy="1638300"/>
          </a:xfrm>
          <a:prstGeom xmlns:a="http://schemas.openxmlformats.org/drawingml/2006/main" prst="rect">
            <a:avLst/>
          </a:prstGeom>
          <a:solidFill xmlns:a="http://schemas.openxmlformats.org/drawingml/2006/main">
            <a:srgbClr val="E4F2F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15B111BF-362B-47F0-8214-A1DBEC2228C2}"/>
              </a:ext>
            </a:extLst>
          </p:cNvPr>
          <p:cNvSpPr>
            <a:spLocks xmlns:a="http://schemas.openxmlformats.org/drawingml/2006/main" noGrp="1"/>
          </p:cNvSpPr>
          <p:nvPr/>
        </p:nvSpPr>
        <p:spPr>
          <a:xfrm xmlns:a="http://schemas.openxmlformats.org/drawingml/2006/main">
            <a:off x="990600" y="171450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777B4"/>
                </a:solidFill>
                <a:latin typeface="Arial"/>
                <a:ea typeface="Arial"/>
                <a:cs typeface="Arial"/>
              </a:defRPr>
            </a:pPr>
            <a:r>
              <a:rPr sz="900" b="1">
                <a:solidFill>
                  <a:srgbClr val="1777B4"/>
                </a:solidFill>
                <a:latin typeface="Arial"/>
                <a:ea typeface="Arial"/>
                <a:cs typeface="Arial"/>
              </a:rPr>
              <a:t>TODAY</a:t>
            </a:r>
          </a:p>
        </p:txBody>
      </p:sp>
      <p:sp>
        <p:nvSpPr>
          <p:cNvPr id="10" name="Rectangle 9">
            <a:extLst xmlns:a="http://schemas.openxmlformats.org/drawingml/2006/main">
              <a:ext uri="{FF2B5EF4-FFF2-40B4-BE49-F238E27FC236}">
                <a16:creationId xmlns:a16="http://schemas.microsoft.com/office/drawing/2014/main" id="{93B5880C-2E37-4674-942C-715F9BA0A8BE}"/>
              </a:ext>
            </a:extLst>
          </p:cNvPr>
          <p:cNvSpPr>
            <a:spLocks xmlns:a="http://schemas.openxmlformats.org/drawingml/2006/main" noGrp="1"/>
          </p:cNvSpPr>
          <p:nvPr/>
        </p:nvSpPr>
        <p:spPr>
          <a:xfrm xmlns:a="http://schemas.openxmlformats.org/drawingml/2006/main">
            <a:off x="990600" y="2009775"/>
            <a:ext cx="1762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4350" b="1">
                <a:solidFill>
                  <a:srgbClr val="1777B4"/>
                </a:solidFill>
                <a:latin typeface="Arial"/>
                <a:ea typeface="Arial"/>
                <a:cs typeface="Arial"/>
              </a:defRPr>
            </a:pPr>
            <a:r>
              <a:rPr sz="4350" b="1">
                <a:solidFill>
                  <a:srgbClr val="1777B4"/>
                </a:solidFill>
                <a:latin typeface="Arial"/>
                <a:ea typeface="Arial"/>
                <a:cs typeface="Arial"/>
              </a:rPr>
              <a:t>2.5</a:t>
            </a:r>
          </a:p>
        </p:txBody>
      </p:sp>
      <p:sp>
        <p:nvSpPr>
          <p:cNvPr id="11" name="Rectangle 10">
            <a:extLst xmlns:a="http://schemas.openxmlformats.org/drawingml/2006/main">
              <a:ext uri="{FF2B5EF4-FFF2-40B4-BE49-F238E27FC236}">
                <a16:creationId xmlns:a16="http://schemas.microsoft.com/office/drawing/2014/main" id="{64615CEC-E34A-48E8-BDB4-68BD5A8EBD27}"/>
              </a:ext>
            </a:extLst>
          </p:cNvPr>
          <p:cNvSpPr>
            <a:spLocks xmlns:a="http://schemas.openxmlformats.org/drawingml/2006/main" noGrp="1"/>
          </p:cNvSpPr>
          <p:nvPr/>
        </p:nvSpPr>
        <p:spPr>
          <a:xfrm xmlns:a="http://schemas.openxmlformats.org/drawingml/2006/main">
            <a:off x="2762250" y="1924050"/>
            <a:ext cx="276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650" b="1">
                <a:solidFill>
                  <a:srgbClr val="11344E"/>
                </a:solidFill>
                <a:latin typeface="Arial"/>
                <a:ea typeface="Arial"/>
                <a:cs typeface="Arial"/>
              </a:defRPr>
            </a:pPr>
            <a:r>
              <a:rPr sz="1650" b="1">
                <a:solidFill>
                  <a:srgbClr val="11344E"/>
                </a:solidFill>
                <a:latin typeface="Arial"/>
                <a:ea typeface="Arial"/>
                <a:cs typeface="Arial"/>
              </a:rPr>
              <a:t>Slopes and equations of parallel or perpendicular lines</a:t>
            </a:r>
          </a:p>
        </p:txBody>
      </p:sp>
      <p:sp>
        <p:nvSpPr>
          <p:cNvPr id="12" name="Rectangle 11">
            <a:extLst xmlns:a="http://schemas.openxmlformats.org/drawingml/2006/main">
              <a:ext uri="{FF2B5EF4-FFF2-40B4-BE49-F238E27FC236}">
                <a16:creationId xmlns:a16="http://schemas.microsoft.com/office/drawing/2014/main" id="{46E762FF-DCAD-4336-8886-B081B3F4C02B}"/>
              </a:ext>
            </a:extLst>
          </p:cNvPr>
          <p:cNvSpPr>
            <a:spLocks xmlns:a="http://schemas.openxmlformats.org/drawingml/2006/main" noGrp="1"/>
          </p:cNvSpPr>
          <p:nvPr/>
        </p:nvSpPr>
        <p:spPr>
          <a:xfrm xmlns:a="http://schemas.openxmlformats.org/drawingml/2006/main">
            <a:off x="5981700" y="1476375"/>
            <a:ext cx="5486400" cy="1638300"/>
          </a:xfrm>
          <a:prstGeom xmlns:a="http://schemas.openxmlformats.org/drawingml/2006/main" prst="rect">
            <a:avLst/>
          </a:prstGeom>
          <a:solidFill xmlns:a="http://schemas.openxmlformats.org/drawingml/2006/main">
            <a:srgbClr val="E3F3E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5984243-43AB-4E4B-B7B5-54217667600F}"/>
              </a:ext>
            </a:extLst>
          </p:cNvPr>
          <p:cNvSpPr>
            <a:spLocks xmlns:a="http://schemas.openxmlformats.org/drawingml/2006/main" noGrp="1"/>
          </p:cNvSpPr>
          <p:nvPr/>
        </p:nvSpPr>
        <p:spPr>
          <a:xfrm xmlns:a="http://schemas.openxmlformats.org/drawingml/2006/main">
            <a:off x="6248400" y="171450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48A68"/>
                </a:solidFill>
                <a:latin typeface="Arial"/>
                <a:ea typeface="Arial"/>
                <a:cs typeface="Arial"/>
              </a:defRPr>
            </a:pPr>
            <a:r>
              <a:rPr sz="900" b="1">
                <a:solidFill>
                  <a:srgbClr val="148A68"/>
                </a:solidFill>
                <a:latin typeface="Arial"/>
                <a:ea typeface="Arial"/>
                <a:cs typeface="Arial"/>
              </a:rPr>
              <a:t>FRIDAY</a:t>
            </a:r>
          </a:p>
        </p:txBody>
      </p:sp>
      <p:sp>
        <p:nvSpPr>
          <p:cNvPr id="14" name="Rectangle 13">
            <a:extLst xmlns:a="http://schemas.openxmlformats.org/drawingml/2006/main">
              <a:ext uri="{FF2B5EF4-FFF2-40B4-BE49-F238E27FC236}">
                <a16:creationId xmlns:a16="http://schemas.microsoft.com/office/drawing/2014/main" id="{658C02C9-7631-4E04-AF52-EB34C98BA813}"/>
              </a:ext>
            </a:extLst>
          </p:cNvPr>
          <p:cNvSpPr>
            <a:spLocks xmlns:a="http://schemas.openxmlformats.org/drawingml/2006/main" noGrp="1"/>
          </p:cNvSpPr>
          <p:nvPr/>
        </p:nvSpPr>
        <p:spPr>
          <a:xfrm xmlns:a="http://schemas.openxmlformats.org/drawingml/2006/main">
            <a:off x="6248400" y="2009775"/>
            <a:ext cx="1762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4350" b="1">
                <a:solidFill>
                  <a:srgbClr val="148A68"/>
                </a:solidFill>
                <a:latin typeface="Arial"/>
                <a:ea typeface="Arial"/>
                <a:cs typeface="Arial"/>
              </a:defRPr>
            </a:pPr>
            <a:r>
              <a:rPr sz="4350" b="1">
                <a:solidFill>
                  <a:srgbClr val="148A68"/>
                </a:solidFill>
                <a:latin typeface="Arial"/>
                <a:ea typeface="Arial"/>
                <a:cs typeface="Arial"/>
              </a:rPr>
              <a:t>3.1</a:t>
            </a:r>
          </a:p>
        </p:txBody>
      </p:sp>
      <p:sp>
        <p:nvSpPr>
          <p:cNvPr id="15" name="Rectangle 14">
            <a:extLst xmlns:a="http://schemas.openxmlformats.org/drawingml/2006/main">
              <a:ext uri="{FF2B5EF4-FFF2-40B4-BE49-F238E27FC236}">
                <a16:creationId xmlns:a16="http://schemas.microsoft.com/office/drawing/2014/main" id="{4AA5A00C-6C04-4442-956D-11C0208585E2}"/>
              </a:ext>
            </a:extLst>
          </p:cNvPr>
          <p:cNvSpPr>
            <a:spLocks xmlns:a="http://schemas.openxmlformats.org/drawingml/2006/main" noGrp="1"/>
          </p:cNvSpPr>
          <p:nvPr/>
        </p:nvSpPr>
        <p:spPr>
          <a:xfrm xmlns:a="http://schemas.openxmlformats.org/drawingml/2006/main">
            <a:off x="8020050" y="1952625"/>
            <a:ext cx="316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11344E"/>
                </a:solidFill>
                <a:latin typeface="Arial"/>
                <a:ea typeface="Arial"/>
                <a:cs typeface="Arial"/>
              </a:defRPr>
            </a:pPr>
            <a:r>
              <a:rPr sz="1725" b="1">
                <a:solidFill>
                  <a:srgbClr val="11344E"/>
                </a:solidFill>
                <a:latin typeface="Arial"/>
                <a:ea typeface="Arial"/>
                <a:cs typeface="Arial"/>
              </a:rPr>
              <a:t>Quadratic maxima and minima</a:t>
            </a:r>
          </a:p>
        </p:txBody>
      </p:sp>
      <p:sp>
        <p:nvSpPr>
          <p:cNvPr id="16" name="Rectangle 15">
            <a:extLst xmlns:a="http://schemas.openxmlformats.org/drawingml/2006/main">
              <a:ext uri="{FF2B5EF4-FFF2-40B4-BE49-F238E27FC236}">
                <a16:creationId xmlns:a16="http://schemas.microsoft.com/office/drawing/2014/main" id="{6366236D-AC0E-44BE-9EDC-A11BA75394A1}"/>
              </a:ext>
            </a:extLst>
          </p:cNvPr>
          <p:cNvSpPr>
            <a:spLocks xmlns:a="http://schemas.openxmlformats.org/drawingml/2006/main" noGrp="1"/>
          </p:cNvSpPr>
          <p:nvPr/>
        </p:nvSpPr>
        <p:spPr>
          <a:xfrm xmlns:a="http://schemas.openxmlformats.org/drawingml/2006/main">
            <a:off x="723900" y="3457575"/>
            <a:ext cx="10744200" cy="1524000"/>
          </a:xfrm>
          <a:prstGeom xmlns:a="http://schemas.openxmlformats.org/drawingml/2006/main" prst="rect">
            <a:avLst/>
          </a:prstGeom>
          <a:solidFill xmlns:a="http://schemas.openxmlformats.org/drawingml/2006/main">
            <a:srgbClr val="F2F5F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B8D52414-6D80-4BB4-B7D5-8ADB78FAD3A2}"/>
              </a:ext>
            </a:extLst>
          </p:cNvPr>
          <p:cNvSpPr>
            <a:spLocks xmlns:a="http://schemas.openxmlformats.org/drawingml/2006/main" noGrp="1"/>
          </p:cNvSpPr>
          <p:nvPr/>
        </p:nvSpPr>
        <p:spPr>
          <a:xfrm xmlns:a="http://schemas.openxmlformats.org/drawingml/2006/main">
            <a:off x="1009650" y="36385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950" b="1">
                <a:solidFill>
                  <a:srgbClr val="11344E"/>
                </a:solidFill>
                <a:latin typeface="Arial"/>
                <a:ea typeface="Arial"/>
                <a:cs typeface="Arial"/>
              </a:defRPr>
            </a:pPr>
            <a:r>
              <a:rPr sz="1950" b="1">
                <a:solidFill>
                  <a:srgbClr val="11344E"/>
                </a:solidFill>
                <a:latin typeface="Arial"/>
                <a:ea typeface="Arial"/>
                <a:cs typeface="Arial"/>
              </a:rPr>
              <a:t>Why this focus?</a:t>
            </a:r>
          </a:p>
        </p:txBody>
      </p:sp>
      <p:sp>
        <p:nvSpPr>
          <p:cNvPr id="18" name="Rectangle 17">
            <a:extLst xmlns:a="http://schemas.openxmlformats.org/drawingml/2006/main">
              <a:ext uri="{FF2B5EF4-FFF2-40B4-BE49-F238E27FC236}">
                <a16:creationId xmlns:a16="http://schemas.microsoft.com/office/drawing/2014/main" id="{729A2CD4-F3F6-49AD-B664-E1F671466F2E}"/>
              </a:ext>
            </a:extLst>
          </p:cNvPr>
          <p:cNvSpPr>
            <a:spLocks xmlns:a="http://schemas.openxmlformats.org/drawingml/2006/main" noGrp="1"/>
          </p:cNvSpPr>
          <p:nvPr/>
        </p:nvSpPr>
        <p:spPr>
          <a:xfrm xmlns:a="http://schemas.openxmlformats.org/drawingml/2006/main">
            <a:off x="1009650" y="4105275"/>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650" b="0">
                <a:solidFill>
                  <a:srgbClr val="18364D"/>
                </a:solidFill>
                <a:latin typeface="Arial"/>
                <a:ea typeface="Arial"/>
                <a:cs typeface="Arial"/>
              </a:defRPr>
            </a:pPr>
            <a:r>
              <a:rPr sz="1650" b="0">
                <a:solidFill>
                  <a:srgbClr val="18364D"/>
                </a:solidFill>
                <a:latin typeface="Arial"/>
                <a:ea typeface="Arial"/>
                <a:cs typeface="Arial"/>
              </a:rPr>
              <a:t>Today’s lesson connects slope rules to equations through a point and prepares for Friday’s work with quadratic functions.</a:t>
            </a:r>
          </a:p>
        </p:txBody>
      </p:sp>
      <p:sp>
        <p:nvSpPr>
          <p:cNvPr id="19" name="Rectangle 18">
            <a:extLst xmlns:a="http://schemas.openxmlformats.org/drawingml/2006/main">
              <a:ext uri="{FF2B5EF4-FFF2-40B4-BE49-F238E27FC236}">
                <a16:creationId xmlns:a16="http://schemas.microsoft.com/office/drawing/2014/main" id="{30EC5E07-D447-4BDC-B6F1-386D1CAFFE5E}"/>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64393EB5-7265-41E5-BB7E-2C0AC26116C3}"/>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18364D"/>
                </a:solidFill>
                <a:latin typeface="Arial"/>
                <a:ea typeface="Arial"/>
                <a:cs typeface="Arial"/>
              </a:defRPr>
            </a:pPr>
            <a:r>
              <a:rPr sz="1500" b="1">
                <a:solidFill>
                  <a:srgbClr val="18364D"/>
                </a:solidFill>
                <a:latin typeface="Arial"/>
                <a:ea typeface="Arial"/>
                <a:cs typeface="Arial"/>
              </a:rPr>
              <a:t>Current ALEKS module: Sections 2.5 and 3.1 · due Wed, Sep 23 at 2:10 PM</a:t>
            </a:r>
          </a:p>
        </p:txBody>
      </p:sp>
    </p:spTree>
    <p:extLst>
      <p:ext uri="{BB962C8B-B14F-4D97-AF65-F5344CB8AC3E}">
        <p14:creationId xmlns:p14="http://schemas.microsoft.com/office/powerpoint/2010/main" val="4559021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6865FCA2-A314-459C-B5B8-615432C9DA9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13A32B3-CEEC-46CB-BABE-A8CF2C12ADAC}"/>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1">
                <a:solidFill>
                  <a:srgbClr val="11344E"/>
                </a:solidFill>
                <a:latin typeface="Arial"/>
                <a:ea typeface="Arial"/>
                <a:cs typeface="Arial"/>
              </a:defRPr>
            </a:pPr>
            <a:r>
              <a:rPr sz="2550" b="1">
                <a:solidFill>
                  <a:srgbClr val="11344E"/>
                </a:solidFill>
                <a:latin typeface="Arial"/>
                <a:ea typeface="Arial"/>
                <a:cs typeface="Arial"/>
              </a:rPr>
              <a:t>The two slope rules</a:t>
            </a:r>
          </a:p>
        </p:txBody>
      </p:sp>
      <p:sp>
        <p:nvSpPr>
          <p:cNvPr id="3" name="Rectangle 2">
            <a:extLst xmlns:a="http://schemas.openxmlformats.org/drawingml/2006/main">
              <a:ext uri="{FF2B5EF4-FFF2-40B4-BE49-F238E27FC236}">
                <a16:creationId xmlns:a16="http://schemas.microsoft.com/office/drawing/2014/main" id="{A00E37AF-0325-448A-B23A-5BC0BBD78086}"/>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75" b="0">
                <a:solidFill>
                  <a:srgbClr val="687783"/>
                </a:solidFill>
                <a:latin typeface="Arial"/>
                <a:ea typeface="Arial"/>
                <a:cs typeface="Arial"/>
              </a:defRPr>
            </a:pPr>
            <a:r>
              <a:rPr sz="1275" b="0">
                <a:solidFill>
                  <a:srgbClr val="687783"/>
                </a:solidFill>
                <a:latin typeface="Arial"/>
                <a:ea typeface="Arial"/>
                <a:cs typeface="Arial"/>
              </a:rPr>
              <a:t>Start by writing the given line in slope–intercept form</a:t>
            </a:r>
          </a:p>
        </p:txBody>
      </p:sp>
      <p:sp>
        <p:nvSpPr>
          <p:cNvPr id="4" name="Rectangle 3">
            <a:extLst xmlns:a="http://schemas.openxmlformats.org/drawingml/2006/main">
              <a:ext uri="{FF2B5EF4-FFF2-40B4-BE49-F238E27FC236}">
                <a16:creationId xmlns:a16="http://schemas.microsoft.com/office/drawing/2014/main" id="{8ABE39AD-8E20-4608-BC73-6B9635B0819A}"/>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825" b="1">
                <a:solidFill>
                  <a:srgbClr val="1777B4"/>
                </a:solidFill>
                <a:latin typeface="Arial"/>
                <a:ea typeface="Arial"/>
                <a:cs typeface="Arial"/>
              </a:defRPr>
            </a:pPr>
            <a:r>
              <a:rPr sz="825" b="1">
                <a:solidFill>
                  <a:srgbClr val="1777B4"/>
                </a:solidFill>
                <a:latin typeface="Arial"/>
                <a:ea typeface="Arial"/>
                <a:cs typeface="Arial"/>
              </a:rPr>
              <a:t>3:43–3:48</a:t>
            </a:r>
          </a:p>
        </p:txBody>
      </p:sp>
      <p:sp>
        <p:nvSpPr>
          <p:cNvPr id="5" name="Straight Connector 4">
            <a:extLst xmlns:a="http://schemas.openxmlformats.org/drawingml/2006/main">
              <a:ext uri="{FF2B5EF4-FFF2-40B4-BE49-F238E27FC236}">
                <a16:creationId xmlns:a16="http://schemas.microsoft.com/office/drawing/2014/main" id="{29BB1747-8CDA-42C0-8371-9F2F6E785623}"/>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FBC4C44-5F33-4262-B326-625464DA0B1F}"/>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Rectangle 6">
            <a:extLst xmlns:a="http://schemas.openxmlformats.org/drawingml/2006/main">
              <a:ext uri="{FF2B5EF4-FFF2-40B4-BE49-F238E27FC236}">
                <a16:creationId xmlns:a16="http://schemas.microsoft.com/office/drawing/2014/main" id="{7EDEE42A-05E7-49BD-8D5A-2F3D3FC2EB93}"/>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750" b="0">
                <a:solidFill>
                  <a:srgbClr val="687783"/>
                </a:solidFill>
                <a:latin typeface="Arial"/>
                <a:ea typeface="Arial"/>
                <a:cs typeface="Arial"/>
              </a:defRPr>
            </a:pPr>
            <a:r>
              <a:rPr sz="750" b="0">
                <a:solidFill>
                  <a:srgbClr val="687783"/>
                </a:solidFill>
                <a:latin typeface="Arial"/>
                <a:ea typeface="Arial"/>
                <a:cs typeface="Arial"/>
              </a:rPr>
              <a:t>3  slide</a:t>
            </a:r>
          </a:p>
        </p:txBody>
      </p:sp>
      <p:sp>
        <p:nvSpPr>
          <p:cNvPr id="8" name="Rectangle 7">
            <a:extLst xmlns:a="http://schemas.openxmlformats.org/drawingml/2006/main">
              <a:ext uri="{FF2B5EF4-FFF2-40B4-BE49-F238E27FC236}">
                <a16:creationId xmlns:a16="http://schemas.microsoft.com/office/drawing/2014/main" id="{230488C9-C014-42BF-8B10-197A674DA1F0}"/>
              </a:ext>
            </a:extLst>
          </p:cNvPr>
          <p:cNvSpPr>
            <a:spLocks xmlns:a="http://schemas.openxmlformats.org/drawingml/2006/main" noGrp="1"/>
          </p:cNvSpPr>
          <p:nvPr/>
        </p:nvSpPr>
        <p:spPr>
          <a:xfrm xmlns:a="http://schemas.openxmlformats.org/drawingml/2006/main">
            <a:off x="723900" y="1438275"/>
            <a:ext cx="5114925" cy="3143250"/>
          </a:xfrm>
          <a:prstGeom xmlns:a="http://schemas.openxmlformats.org/drawingml/2006/main" prst="rect">
            <a:avLst/>
          </a:prstGeom>
          <a:solidFill xmlns:a="http://schemas.openxmlformats.org/drawingml/2006/main">
            <a:srgbClr val="E4F2F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3D825EDE-498C-4814-B014-CEEAE134D394}"/>
              </a:ext>
            </a:extLst>
          </p:cNvPr>
          <p:cNvSpPr>
            <a:spLocks xmlns:a="http://schemas.openxmlformats.org/drawingml/2006/main" noGrp="1"/>
          </p:cNvSpPr>
          <p:nvPr/>
        </p:nvSpPr>
        <p:spPr>
          <a:xfrm xmlns:a="http://schemas.openxmlformats.org/drawingml/2006/main">
            <a:off x="1019175" y="16859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777B4"/>
                </a:solidFill>
                <a:latin typeface="Arial"/>
                <a:ea typeface="Arial"/>
                <a:cs typeface="Arial"/>
              </a:defRPr>
            </a:pPr>
            <a:r>
              <a:rPr sz="900" b="1">
                <a:solidFill>
                  <a:srgbClr val="1777B4"/>
                </a:solidFill>
                <a:latin typeface="Arial"/>
                <a:ea typeface="Arial"/>
                <a:cs typeface="Arial"/>
              </a:rPr>
              <a:t>PARALLEL</a:t>
            </a:r>
          </a:p>
        </p:txBody>
      </p:sp>
      <p:sp>
        <p:nvSpPr>
          <p:cNvPr id="10" name="Rectangle 9">
            <a:extLst xmlns:a="http://schemas.openxmlformats.org/drawingml/2006/main">
              <a:ext uri="{FF2B5EF4-FFF2-40B4-BE49-F238E27FC236}">
                <a16:creationId xmlns:a16="http://schemas.microsoft.com/office/drawing/2014/main" id="{0D403A33-43CA-4A8F-9BD1-C0ABD7920BD3}"/>
              </a:ext>
            </a:extLst>
          </p:cNvPr>
          <p:cNvSpPr>
            <a:spLocks xmlns:a="http://schemas.openxmlformats.org/drawingml/2006/main" noGrp="1"/>
          </p:cNvSpPr>
          <p:nvPr/>
        </p:nvSpPr>
        <p:spPr>
          <a:xfrm xmlns:a="http://schemas.openxmlformats.org/drawingml/2006/main">
            <a:off x="1057275" y="2143125"/>
            <a:ext cx="4429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3600" b="1">
                <a:solidFill>
                  <a:srgbClr val="11344E"/>
                </a:solidFill>
                <a:latin typeface="Cambria Math"/>
                <a:ea typeface="Cambria Math"/>
                <a:cs typeface="Cambria Math"/>
              </a:defRPr>
            </a:pPr>
            <a:r>
              <a:rPr sz="3600" b="1">
                <a:solidFill>
                  <a:srgbClr val="11344E"/>
                </a:solidFill>
                <a:latin typeface="Cambria Math"/>
                <a:ea typeface="Cambria Math"/>
                <a:cs typeface="Cambria Math"/>
              </a:rPr>
              <a:t>m₂ = m₁</a:t>
            </a:r>
          </a:p>
        </p:txBody>
      </p:sp>
      <p:sp>
        <p:nvSpPr>
          <p:cNvPr id="11" name="Rectangle 10">
            <a:extLst xmlns:a="http://schemas.openxmlformats.org/drawingml/2006/main">
              <a:ext uri="{FF2B5EF4-FFF2-40B4-BE49-F238E27FC236}">
                <a16:creationId xmlns:a16="http://schemas.microsoft.com/office/drawing/2014/main" id="{B3734CD2-5B21-4DD4-A5F5-4107C732275F}"/>
              </a:ext>
            </a:extLst>
          </p:cNvPr>
          <p:cNvSpPr>
            <a:spLocks xmlns:a="http://schemas.openxmlformats.org/drawingml/2006/main" noGrp="1"/>
          </p:cNvSpPr>
          <p:nvPr/>
        </p:nvSpPr>
        <p:spPr>
          <a:xfrm xmlns:a="http://schemas.openxmlformats.org/drawingml/2006/main">
            <a:off x="1047750" y="33147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100" b="1">
                <a:solidFill>
                  <a:srgbClr val="1777B4"/>
                </a:solidFill>
                <a:latin typeface="Arial"/>
                <a:ea typeface="Arial"/>
                <a:cs typeface="Arial"/>
              </a:defRPr>
            </a:pPr>
            <a:r>
              <a:rPr sz="2100" b="1">
                <a:solidFill>
                  <a:srgbClr val="1777B4"/>
                </a:solidFill>
                <a:latin typeface="Arial"/>
                <a:ea typeface="Arial"/>
                <a:cs typeface="Arial"/>
              </a:rPr>
              <a:t>Same slope</a:t>
            </a:r>
          </a:p>
        </p:txBody>
      </p:sp>
      <p:sp>
        <p:nvSpPr>
          <p:cNvPr id="12" name="Rectangle 11">
            <a:extLst xmlns:a="http://schemas.openxmlformats.org/drawingml/2006/main">
              <a:ext uri="{FF2B5EF4-FFF2-40B4-BE49-F238E27FC236}">
                <a16:creationId xmlns:a16="http://schemas.microsoft.com/office/drawing/2014/main" id="{27644B31-1C04-49C3-8FEB-D99D24942CDA}"/>
              </a:ext>
            </a:extLst>
          </p:cNvPr>
          <p:cNvSpPr>
            <a:spLocks xmlns:a="http://schemas.openxmlformats.org/drawingml/2006/main" noGrp="1"/>
          </p:cNvSpPr>
          <p:nvPr/>
        </p:nvSpPr>
        <p:spPr>
          <a:xfrm xmlns:a="http://schemas.openxmlformats.org/drawingml/2006/main">
            <a:off x="6029325" y="1438275"/>
            <a:ext cx="5438775" cy="3143250"/>
          </a:xfrm>
          <a:prstGeom xmlns:a="http://schemas.openxmlformats.org/drawingml/2006/main" prst="rect">
            <a:avLst/>
          </a:prstGeom>
          <a:solidFill xmlns:a="http://schemas.openxmlformats.org/drawingml/2006/main">
            <a:srgbClr val="E3F3E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81561BB-A894-4F36-9019-E58B57C1D19E}"/>
              </a:ext>
            </a:extLst>
          </p:cNvPr>
          <p:cNvSpPr>
            <a:spLocks xmlns:a="http://schemas.openxmlformats.org/drawingml/2006/main" noGrp="1"/>
          </p:cNvSpPr>
          <p:nvPr/>
        </p:nvSpPr>
        <p:spPr>
          <a:xfrm xmlns:a="http://schemas.openxmlformats.org/drawingml/2006/main">
            <a:off x="6334125" y="16859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48A68"/>
                </a:solidFill>
                <a:latin typeface="Arial"/>
                <a:ea typeface="Arial"/>
                <a:cs typeface="Arial"/>
              </a:defRPr>
            </a:pPr>
            <a:r>
              <a:rPr sz="900" b="1">
                <a:solidFill>
                  <a:srgbClr val="148A68"/>
                </a:solidFill>
                <a:latin typeface="Arial"/>
                <a:ea typeface="Arial"/>
                <a:cs typeface="Arial"/>
              </a:rPr>
              <a:t>PERPENDICULAR</a:t>
            </a:r>
          </a:p>
        </p:txBody>
      </p:sp>
      <p:sp>
        <p:nvSpPr>
          <p:cNvPr id="14" name="Rectangle 13">
            <a:extLst xmlns:a="http://schemas.openxmlformats.org/drawingml/2006/main">
              <a:ext uri="{FF2B5EF4-FFF2-40B4-BE49-F238E27FC236}">
                <a16:creationId xmlns:a16="http://schemas.microsoft.com/office/drawing/2014/main" id="{267ED97C-F294-4578-91C5-110CC0AB521B}"/>
              </a:ext>
            </a:extLst>
          </p:cNvPr>
          <p:cNvSpPr>
            <a:spLocks xmlns:a="http://schemas.openxmlformats.org/drawingml/2006/main" noGrp="1"/>
          </p:cNvSpPr>
          <p:nvPr/>
        </p:nvSpPr>
        <p:spPr>
          <a:xfrm xmlns:a="http://schemas.openxmlformats.org/drawingml/2006/main">
            <a:off x="6353175" y="2143125"/>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3300" b="1">
                <a:solidFill>
                  <a:srgbClr val="11344E"/>
                </a:solidFill>
                <a:latin typeface="Cambria Math"/>
                <a:ea typeface="Cambria Math"/>
                <a:cs typeface="Cambria Math"/>
              </a:defRPr>
            </a:pPr>
            <a:r>
              <a:rPr sz="3300" b="1">
                <a:solidFill>
                  <a:srgbClr val="11344E"/>
                </a:solidFill>
                <a:latin typeface="Cambria Math"/>
                <a:ea typeface="Cambria Math"/>
                <a:cs typeface="Cambria Math"/>
              </a:rPr>
              <a:t>m₁ · m₂ = −1</a:t>
            </a:r>
          </a:p>
        </p:txBody>
      </p:sp>
      <p:sp>
        <p:nvSpPr>
          <p:cNvPr id="15" name="Rectangle 14">
            <a:extLst xmlns:a="http://schemas.openxmlformats.org/drawingml/2006/main">
              <a:ext uri="{FF2B5EF4-FFF2-40B4-BE49-F238E27FC236}">
                <a16:creationId xmlns:a16="http://schemas.microsoft.com/office/drawing/2014/main" id="{D70D7FEF-C7E0-49BC-B29C-35FF9531984B}"/>
              </a:ext>
            </a:extLst>
          </p:cNvPr>
          <p:cNvSpPr>
            <a:spLocks xmlns:a="http://schemas.openxmlformats.org/drawingml/2006/main" noGrp="1"/>
          </p:cNvSpPr>
          <p:nvPr/>
        </p:nvSpPr>
        <p:spPr>
          <a:xfrm xmlns:a="http://schemas.openxmlformats.org/drawingml/2006/main">
            <a:off x="6334125" y="3314700"/>
            <a:ext cx="4800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025" b="1">
                <a:solidFill>
                  <a:srgbClr val="148A68"/>
                </a:solidFill>
                <a:latin typeface="Arial"/>
                <a:ea typeface="Arial"/>
                <a:cs typeface="Arial"/>
              </a:defRPr>
            </a:pPr>
            <a:r>
              <a:rPr sz="2025" b="1">
                <a:solidFill>
                  <a:srgbClr val="148A68"/>
                </a:solidFill>
                <a:latin typeface="Arial"/>
                <a:ea typeface="Arial"/>
                <a:cs typeface="Arial"/>
              </a:rPr>
              <a:t>Opposite reciprocal slopes</a:t>
            </a:r>
          </a:p>
        </p:txBody>
      </p:sp>
      <p:sp>
        <p:nvSpPr>
          <p:cNvPr id="16" name="Rectangle 15">
            <a:extLst xmlns:a="http://schemas.openxmlformats.org/drawingml/2006/main">
              <a:ext uri="{FF2B5EF4-FFF2-40B4-BE49-F238E27FC236}">
                <a16:creationId xmlns:a16="http://schemas.microsoft.com/office/drawing/2014/main" id="{D3E88A33-CD09-431F-8933-86EACA7C169C}"/>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9EF32CA4-0CF8-4A83-8163-4CCA489497A7}"/>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18364D"/>
                </a:solidFill>
                <a:latin typeface="Arial"/>
                <a:ea typeface="Arial"/>
                <a:cs typeface="Arial"/>
              </a:defRPr>
            </a:pPr>
            <a:r>
              <a:rPr sz="1500" b="1">
                <a:solidFill>
                  <a:srgbClr val="18364D"/>
                </a:solidFill>
                <a:latin typeface="Arial"/>
                <a:ea typeface="Arial"/>
                <a:cs typeface="Arial"/>
              </a:rPr>
              <a:t>Exception to the slope formula: horizontal and vertical lines are perpendicular.</a:t>
            </a:r>
          </a:p>
        </p:txBody>
      </p:sp>
    </p:spTree>
    <p:extLst>
      <p:ext uri="{BB962C8B-B14F-4D97-AF65-F5344CB8AC3E}">
        <p14:creationId xmlns:p14="http://schemas.microsoft.com/office/powerpoint/2010/main" val="2887904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7EBE32D6-F9B3-4B0E-AE02-3C6831D1C9A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7BE5A2A7-B94D-4A8E-A7F2-7F4DA8B43E9B}"/>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1">
                <a:solidFill>
                  <a:srgbClr val="11344E"/>
                </a:solidFill>
                <a:latin typeface="Arial"/>
                <a:ea typeface="Arial"/>
                <a:cs typeface="Arial"/>
              </a:defRPr>
            </a:pPr>
            <a:r>
              <a:rPr sz="2550" b="1">
                <a:solidFill>
                  <a:srgbClr val="11344E"/>
                </a:solidFill>
                <a:latin typeface="Arial"/>
                <a:ea typeface="Arial"/>
                <a:cs typeface="Arial"/>
              </a:rPr>
              <a:t>Airfield map: aligned paths</a:t>
            </a:r>
          </a:p>
        </p:txBody>
      </p:sp>
      <p:sp>
        <p:nvSpPr>
          <p:cNvPr id="3" name="Rectangle 2">
            <a:extLst xmlns:a="http://schemas.openxmlformats.org/drawingml/2006/main">
              <a:ext uri="{FF2B5EF4-FFF2-40B4-BE49-F238E27FC236}">
                <a16:creationId xmlns:a16="http://schemas.microsoft.com/office/drawing/2014/main" id="{7CE8E32A-908B-4A3C-891D-053DE09E378B}"/>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75" b="0">
                <a:solidFill>
                  <a:srgbClr val="687783"/>
                </a:solidFill>
                <a:latin typeface="Arial"/>
                <a:ea typeface="Arial"/>
                <a:cs typeface="Arial"/>
              </a:defRPr>
            </a:pPr>
            <a:r>
              <a:rPr sz="1275" b="0">
                <a:solidFill>
                  <a:srgbClr val="687783"/>
                </a:solidFill>
                <a:latin typeface="Arial"/>
                <a:ea typeface="Arial"/>
                <a:cs typeface="Arial"/>
              </a:rPr>
              <a:t>Schematic east–north grid (km) · runway: 2x + y = 5 · junction P = (4, 0)</a:t>
            </a:r>
          </a:p>
        </p:txBody>
      </p:sp>
      <p:sp>
        <p:nvSpPr>
          <p:cNvPr id="4" name="Rectangle 3">
            <a:extLst xmlns:a="http://schemas.openxmlformats.org/drawingml/2006/main">
              <a:ext uri="{FF2B5EF4-FFF2-40B4-BE49-F238E27FC236}">
                <a16:creationId xmlns:a16="http://schemas.microsoft.com/office/drawing/2014/main" id="{A2644BE1-14C5-45CD-AC0F-CADB49B6A814}"/>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825" b="1">
                <a:solidFill>
                  <a:srgbClr val="148A68"/>
                </a:solidFill>
                <a:latin typeface="Arial"/>
                <a:ea typeface="Arial"/>
                <a:cs typeface="Arial"/>
              </a:defRPr>
            </a:pPr>
            <a:r>
              <a:rPr sz="825" b="1">
                <a:solidFill>
                  <a:srgbClr val="148A68"/>
                </a:solidFill>
                <a:latin typeface="Arial"/>
                <a:ea typeface="Arial"/>
                <a:cs typeface="Arial"/>
              </a:rPr>
              <a:t>3:48–3:55</a:t>
            </a:r>
          </a:p>
        </p:txBody>
      </p:sp>
      <p:sp>
        <p:nvSpPr>
          <p:cNvPr id="5" name="Straight Connector 4">
            <a:extLst xmlns:a="http://schemas.openxmlformats.org/drawingml/2006/main">
              <a:ext uri="{FF2B5EF4-FFF2-40B4-BE49-F238E27FC236}">
                <a16:creationId xmlns:a16="http://schemas.microsoft.com/office/drawing/2014/main" id="{BAF32400-91BF-432F-9ADE-383DFAF5E0B2}"/>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7DD0DB23-CF48-46BB-AC0E-2A8CFFFCE0B7}"/>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Rectangle 6">
            <a:extLst xmlns:a="http://schemas.openxmlformats.org/drawingml/2006/main">
              <a:ext uri="{FF2B5EF4-FFF2-40B4-BE49-F238E27FC236}">
                <a16:creationId xmlns:a16="http://schemas.microsoft.com/office/drawing/2014/main" id="{225D6B81-2C40-45F7-ACF7-D8D546FE6820}"/>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750" b="0">
                <a:solidFill>
                  <a:srgbClr val="687783"/>
                </a:solidFill>
                <a:latin typeface="Arial"/>
                <a:ea typeface="Arial"/>
                <a:cs typeface="Arial"/>
              </a:defRPr>
            </a:pPr>
            <a:r>
              <a:rPr sz="750" b="0">
                <a:solidFill>
                  <a:srgbClr val="687783"/>
                </a:solidFill>
                <a:latin typeface="Arial"/>
                <a:ea typeface="Arial"/>
                <a:cs typeface="Arial"/>
              </a:rPr>
              <a:t>4  slide</a:t>
            </a:r>
          </a:p>
        </p:txBody>
      </p:sp>
      <p:sp>
        <p:nvSpPr>
          <p:cNvPr id="8" name="Rectangle 7">
            <a:extLst xmlns:a="http://schemas.openxmlformats.org/drawingml/2006/main">
              <a:ext uri="{FF2B5EF4-FFF2-40B4-BE49-F238E27FC236}">
                <a16:creationId xmlns:a16="http://schemas.microsoft.com/office/drawing/2014/main" id="{63599493-9D46-4438-BDF3-5BE1FF706DA0}"/>
              </a:ext>
            </a:extLst>
          </p:cNvPr>
          <p:cNvSpPr>
            <a:spLocks xmlns:a="http://schemas.openxmlformats.org/drawingml/2006/main" noGrp="1"/>
          </p:cNvSpPr>
          <p:nvPr/>
        </p:nvSpPr>
        <p:spPr>
          <a:xfrm xmlns:a="http://schemas.openxmlformats.org/drawingml/2006/main">
            <a:off x="714375" y="1352550"/>
            <a:ext cx="10763250" cy="790575"/>
          </a:xfrm>
          <a:prstGeom xmlns:a="http://schemas.openxmlformats.org/drawingml/2006/main" prst="rect">
            <a:avLst/>
          </a:prstGeom>
          <a:solidFill xmlns:a="http://schemas.openxmlformats.org/drawingml/2006/main">
            <a:srgbClr val="11344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D48B48DD-2F0F-4A7C-9C7A-C7B4ED2DFBDE}"/>
              </a:ext>
            </a:extLst>
          </p:cNvPr>
          <p:cNvSpPr>
            <a:spLocks xmlns:a="http://schemas.openxmlformats.org/drawingml/2006/main" noGrp="1"/>
          </p:cNvSpPr>
          <p:nvPr/>
        </p:nvSpPr>
        <p:spPr>
          <a:xfrm xmlns:a="http://schemas.openxmlformats.org/drawingml/2006/main">
            <a:off x="981075" y="1457325"/>
            <a:ext cx="10248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325" b="1">
                <a:solidFill>
                  <a:srgbClr val="FFFFFF"/>
                </a:solidFill>
                <a:latin typeface="Cambria Math"/>
                <a:ea typeface="Cambria Math"/>
                <a:cs typeface="Cambria Math"/>
              </a:defRPr>
            </a:pPr>
            <a:r>
              <a:rPr sz="2325" b="1">
                <a:solidFill>
                  <a:srgbClr val="FFFFFF"/>
                </a:solidFill>
                <a:latin typeface="Cambria Math"/>
                <a:ea typeface="Cambria Math"/>
                <a:cs typeface="Cambria Math"/>
              </a:rPr>
              <a:t>2x + y = 5    →    y = −2x + 5    →    m = −2</a:t>
            </a:r>
          </a:p>
        </p:txBody>
      </p:sp>
      <p:sp>
        <p:nvSpPr>
          <p:cNvPr id="10" name="Rectangle 9">
            <a:extLst xmlns:a="http://schemas.openxmlformats.org/drawingml/2006/main">
              <a:ext uri="{FF2B5EF4-FFF2-40B4-BE49-F238E27FC236}">
                <a16:creationId xmlns:a16="http://schemas.microsoft.com/office/drawing/2014/main" id="{A80DF1F6-A4BD-4740-8639-2A4B32417D1B}"/>
              </a:ext>
            </a:extLst>
          </p:cNvPr>
          <p:cNvSpPr>
            <a:spLocks xmlns:a="http://schemas.openxmlformats.org/drawingml/2006/main" noGrp="1"/>
          </p:cNvSpPr>
          <p:nvPr/>
        </p:nvSpPr>
        <p:spPr>
          <a:xfrm xmlns:a="http://schemas.openxmlformats.org/drawingml/2006/main">
            <a:off x="714375" y="2400300"/>
            <a:ext cx="5143500" cy="2524125"/>
          </a:xfrm>
          <a:prstGeom xmlns:a="http://schemas.openxmlformats.org/drawingml/2006/main" prst="rect">
            <a:avLst/>
          </a:prstGeom>
          <a:solidFill xmlns:a="http://schemas.openxmlformats.org/drawingml/2006/main">
            <a:srgbClr val="E4F2F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7E71AA45-8539-4BA8-B278-22E77BF575D3}"/>
              </a:ext>
            </a:extLst>
          </p:cNvPr>
          <p:cNvSpPr>
            <a:spLocks xmlns:a="http://schemas.openxmlformats.org/drawingml/2006/main" noGrp="1"/>
          </p:cNvSpPr>
          <p:nvPr/>
        </p:nvSpPr>
        <p:spPr>
          <a:xfrm xmlns:a="http://schemas.openxmlformats.org/drawingml/2006/main">
            <a:off x="952500" y="25812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777B4"/>
                </a:solidFill>
                <a:latin typeface="Arial"/>
                <a:ea typeface="Arial"/>
                <a:cs typeface="Arial"/>
              </a:defRPr>
            </a:pPr>
            <a:r>
              <a:rPr sz="900" b="1">
                <a:solidFill>
                  <a:srgbClr val="1777B4"/>
                </a:solidFill>
                <a:latin typeface="Arial"/>
                <a:ea typeface="Arial"/>
                <a:cs typeface="Arial"/>
              </a:rPr>
              <a:t>PARALLEL TAXIWAY THROUGH P</a:t>
            </a:r>
          </a:p>
        </p:txBody>
      </p:sp>
      <p:sp>
        <p:nvSpPr>
          <p:cNvPr id="12" name="Rectangle 11">
            <a:extLst xmlns:a="http://schemas.openxmlformats.org/drawingml/2006/main">
              <a:ext uri="{FF2B5EF4-FFF2-40B4-BE49-F238E27FC236}">
                <a16:creationId xmlns:a16="http://schemas.microsoft.com/office/drawing/2014/main" id="{8C4F2BDD-B248-4099-80EE-D861D0B83120}"/>
              </a:ext>
            </a:extLst>
          </p:cNvPr>
          <p:cNvSpPr>
            <a:spLocks xmlns:a="http://schemas.openxmlformats.org/drawingml/2006/main" noGrp="1"/>
          </p:cNvSpPr>
          <p:nvPr/>
        </p:nvSpPr>
        <p:spPr>
          <a:xfrm xmlns:a="http://schemas.openxmlformats.org/drawingml/2006/main">
            <a:off x="952500" y="2905125"/>
            <a:ext cx="4648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250" b="1">
                <a:solidFill>
                  <a:srgbClr val="1777B4"/>
                </a:solidFill>
                <a:latin typeface="Cambria Math"/>
                <a:ea typeface="Cambria Math"/>
                <a:cs typeface="Cambria Math"/>
              </a:defRPr>
            </a:pPr>
            <a:r>
              <a:rPr sz="2250" b="1">
                <a:solidFill>
                  <a:srgbClr val="1777B4"/>
                </a:solidFill>
                <a:latin typeface="Cambria Math"/>
                <a:ea typeface="Cambria Math"/>
                <a:cs typeface="Cambria Math"/>
              </a:rPr>
              <a:t>m = −2</a:t>
            </a:r>
          </a:p>
        </p:txBody>
      </p:sp>
      <p:sp>
        <p:nvSpPr>
          <p:cNvPr id="13" name="Rectangle 12">
            <a:extLst xmlns:a="http://schemas.openxmlformats.org/drawingml/2006/main">
              <a:ext uri="{FF2B5EF4-FFF2-40B4-BE49-F238E27FC236}">
                <a16:creationId xmlns:a16="http://schemas.microsoft.com/office/drawing/2014/main" id="{983D3239-176B-4D21-B09B-5262E7A22772}"/>
              </a:ext>
            </a:extLst>
          </p:cNvPr>
          <p:cNvSpPr>
            <a:spLocks xmlns:a="http://schemas.openxmlformats.org/drawingml/2006/main" noGrp="1"/>
          </p:cNvSpPr>
          <p:nvPr/>
        </p:nvSpPr>
        <p:spPr>
          <a:xfrm xmlns:a="http://schemas.openxmlformats.org/drawingml/2006/main">
            <a:off x="952500" y="3476625"/>
            <a:ext cx="4648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400" b="0">
                <a:solidFill>
                  <a:srgbClr val="11344E"/>
                </a:solidFill>
                <a:latin typeface="Cambria Math"/>
                <a:ea typeface="Cambria Math"/>
                <a:cs typeface="Cambria Math"/>
              </a:defRPr>
            </a:pPr>
            <a:r>
              <a:rPr sz="2400" b="0">
                <a:solidFill>
                  <a:srgbClr val="11344E"/>
                </a:solidFill>
                <a:latin typeface="Cambria Math"/>
                <a:ea typeface="Cambria Math"/>
                <a:cs typeface="Cambria Math"/>
              </a:rPr>
              <a:t>y − 0 = −2(x − 4)</a:t>
            </a:r>
          </a:p>
        </p:txBody>
      </p:sp>
      <p:sp>
        <p:nvSpPr>
          <p:cNvPr id="14" name="Rectangle 13">
            <a:extLst xmlns:a="http://schemas.openxmlformats.org/drawingml/2006/main">
              <a:ext uri="{FF2B5EF4-FFF2-40B4-BE49-F238E27FC236}">
                <a16:creationId xmlns:a16="http://schemas.microsoft.com/office/drawing/2014/main" id="{D542EFAF-0F1C-4B91-8023-5B11DC828E65}"/>
              </a:ext>
            </a:extLst>
          </p:cNvPr>
          <p:cNvSpPr>
            <a:spLocks xmlns:a="http://schemas.openxmlformats.org/drawingml/2006/main" noGrp="1"/>
          </p:cNvSpPr>
          <p:nvPr/>
        </p:nvSpPr>
        <p:spPr>
          <a:xfrm xmlns:a="http://schemas.openxmlformats.org/drawingml/2006/main">
            <a:off x="952500" y="4114800"/>
            <a:ext cx="4648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625" b="1">
                <a:solidFill>
                  <a:srgbClr val="11344E"/>
                </a:solidFill>
                <a:latin typeface="Cambria Math"/>
                <a:ea typeface="Cambria Math"/>
                <a:cs typeface="Cambria Math"/>
              </a:defRPr>
            </a:pPr>
            <a:r>
              <a:rPr sz="2625" b="1">
                <a:solidFill>
                  <a:srgbClr val="11344E"/>
                </a:solidFill>
                <a:latin typeface="Cambria Math"/>
                <a:ea typeface="Cambria Math"/>
                <a:cs typeface="Cambria Math"/>
              </a:rPr>
              <a:t>y = −2x + 8</a:t>
            </a:r>
          </a:p>
        </p:txBody>
      </p:sp>
      <p:sp>
        <p:nvSpPr>
          <p:cNvPr id="15" name="Rectangle 14">
            <a:extLst xmlns:a="http://schemas.openxmlformats.org/drawingml/2006/main">
              <a:ext uri="{FF2B5EF4-FFF2-40B4-BE49-F238E27FC236}">
                <a16:creationId xmlns:a16="http://schemas.microsoft.com/office/drawing/2014/main" id="{8C2DB74F-05AD-4E8C-87EE-5ADE6A06FE67}"/>
              </a:ext>
            </a:extLst>
          </p:cNvPr>
          <p:cNvSpPr>
            <a:spLocks xmlns:a="http://schemas.openxmlformats.org/drawingml/2006/main" noGrp="1"/>
          </p:cNvSpPr>
          <p:nvPr/>
        </p:nvSpPr>
        <p:spPr>
          <a:xfrm xmlns:a="http://schemas.openxmlformats.org/drawingml/2006/main">
            <a:off x="6048375" y="2400300"/>
            <a:ext cx="5429250" cy="2524125"/>
          </a:xfrm>
          <a:prstGeom xmlns:a="http://schemas.openxmlformats.org/drawingml/2006/main" prst="rect">
            <a:avLst/>
          </a:prstGeom>
          <a:solidFill xmlns:a="http://schemas.openxmlformats.org/drawingml/2006/main">
            <a:srgbClr val="E3F3E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6B355AEA-BC1E-4AC7-BB63-87A11C0E1AC0}"/>
              </a:ext>
            </a:extLst>
          </p:cNvPr>
          <p:cNvSpPr>
            <a:spLocks xmlns:a="http://schemas.openxmlformats.org/drawingml/2006/main" noGrp="1"/>
          </p:cNvSpPr>
          <p:nvPr/>
        </p:nvSpPr>
        <p:spPr>
          <a:xfrm xmlns:a="http://schemas.openxmlformats.org/drawingml/2006/main">
            <a:off x="6286500" y="2581275"/>
            <a:ext cx="481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48A68"/>
                </a:solidFill>
                <a:latin typeface="Arial"/>
                <a:ea typeface="Arial"/>
                <a:cs typeface="Arial"/>
              </a:defRPr>
            </a:pPr>
            <a:r>
              <a:rPr sz="900" b="1">
                <a:solidFill>
                  <a:srgbClr val="148A68"/>
                </a:solidFill>
                <a:latin typeface="Arial"/>
                <a:ea typeface="Arial"/>
                <a:cs typeface="Arial"/>
              </a:rPr>
              <a:t>PERPENDICULAR CONNECTOR THROUGH P</a:t>
            </a:r>
          </a:p>
        </p:txBody>
      </p:sp>
      <p:sp>
        <p:nvSpPr>
          <p:cNvPr id="17" name="Rectangle 16">
            <a:extLst xmlns:a="http://schemas.openxmlformats.org/drawingml/2006/main">
              <a:ext uri="{FF2B5EF4-FFF2-40B4-BE49-F238E27FC236}">
                <a16:creationId xmlns:a16="http://schemas.microsoft.com/office/drawing/2014/main" id="{A5599292-4C3B-471A-961D-7512370AD739}"/>
              </a:ext>
            </a:extLst>
          </p:cNvPr>
          <p:cNvSpPr>
            <a:spLocks xmlns:a="http://schemas.openxmlformats.org/drawingml/2006/main" noGrp="1"/>
          </p:cNvSpPr>
          <p:nvPr/>
        </p:nvSpPr>
        <p:spPr>
          <a:xfrm xmlns:a="http://schemas.openxmlformats.org/drawingml/2006/main">
            <a:off x="6286500" y="2905125"/>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250" b="1">
                <a:solidFill>
                  <a:srgbClr val="148A68"/>
                </a:solidFill>
                <a:latin typeface="Cambria Math"/>
                <a:ea typeface="Cambria Math"/>
                <a:cs typeface="Cambria Math"/>
              </a:defRPr>
            </a:pPr>
            <a:r>
              <a:rPr sz="2250" b="1">
                <a:solidFill>
                  <a:srgbClr val="148A68"/>
                </a:solidFill>
                <a:latin typeface="Cambria Math"/>
                <a:ea typeface="Cambria Math"/>
                <a:cs typeface="Cambria Math"/>
              </a:rPr>
              <a:t>m = ½</a:t>
            </a:r>
          </a:p>
        </p:txBody>
      </p:sp>
      <p:sp>
        <p:nvSpPr>
          <p:cNvPr id="18" name="Rectangle 17">
            <a:extLst xmlns:a="http://schemas.openxmlformats.org/drawingml/2006/main">
              <a:ext uri="{FF2B5EF4-FFF2-40B4-BE49-F238E27FC236}">
                <a16:creationId xmlns:a16="http://schemas.microsoft.com/office/drawing/2014/main" id="{959FC181-DBFF-4E3D-887C-03B7EAC4B23C}"/>
              </a:ext>
            </a:extLst>
          </p:cNvPr>
          <p:cNvSpPr>
            <a:spLocks xmlns:a="http://schemas.openxmlformats.org/drawingml/2006/main" noGrp="1"/>
          </p:cNvSpPr>
          <p:nvPr/>
        </p:nvSpPr>
        <p:spPr>
          <a:xfrm xmlns:a="http://schemas.openxmlformats.org/drawingml/2006/main">
            <a:off x="6286500" y="3476625"/>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400" b="0">
                <a:solidFill>
                  <a:srgbClr val="11344E"/>
                </a:solidFill>
                <a:latin typeface="Cambria Math"/>
                <a:ea typeface="Cambria Math"/>
                <a:cs typeface="Cambria Math"/>
              </a:defRPr>
            </a:pPr>
            <a:r>
              <a:rPr sz="2400" b="0">
                <a:solidFill>
                  <a:srgbClr val="11344E"/>
                </a:solidFill>
                <a:latin typeface="Cambria Math"/>
                <a:ea typeface="Cambria Math"/>
                <a:cs typeface="Cambria Math"/>
              </a:rPr>
              <a:t>y − 0 = ½(x − 4)</a:t>
            </a:r>
          </a:p>
        </p:txBody>
      </p:sp>
      <p:sp>
        <p:nvSpPr>
          <p:cNvPr id="19" name="Rectangle 18">
            <a:extLst xmlns:a="http://schemas.openxmlformats.org/drawingml/2006/main">
              <a:ext uri="{FF2B5EF4-FFF2-40B4-BE49-F238E27FC236}">
                <a16:creationId xmlns:a16="http://schemas.microsoft.com/office/drawing/2014/main" id="{7832F509-F6CE-47C1-9AC5-964659232633}"/>
              </a:ext>
            </a:extLst>
          </p:cNvPr>
          <p:cNvSpPr>
            <a:spLocks xmlns:a="http://schemas.openxmlformats.org/drawingml/2006/main" noGrp="1"/>
          </p:cNvSpPr>
          <p:nvPr/>
        </p:nvSpPr>
        <p:spPr>
          <a:xfrm xmlns:a="http://schemas.openxmlformats.org/drawingml/2006/main">
            <a:off x="6286500" y="4114800"/>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625" b="1">
                <a:solidFill>
                  <a:srgbClr val="11344E"/>
                </a:solidFill>
                <a:latin typeface="Cambria Math"/>
                <a:ea typeface="Cambria Math"/>
                <a:cs typeface="Cambria Math"/>
              </a:defRPr>
            </a:pPr>
            <a:r>
              <a:rPr sz="2625" b="1">
                <a:solidFill>
                  <a:srgbClr val="11344E"/>
                </a:solidFill>
                <a:latin typeface="Cambria Math"/>
                <a:ea typeface="Cambria Math"/>
                <a:cs typeface="Cambria Math"/>
              </a:rPr>
              <a:t>y = ½x − 2</a:t>
            </a:r>
          </a:p>
        </p:txBody>
      </p:sp>
      <p:sp>
        <p:nvSpPr>
          <p:cNvPr id="20" name="Rectangle 19">
            <a:extLst xmlns:a="http://schemas.openxmlformats.org/drawingml/2006/main">
              <a:ext uri="{FF2B5EF4-FFF2-40B4-BE49-F238E27FC236}">
                <a16:creationId xmlns:a16="http://schemas.microsoft.com/office/drawing/2014/main" id="{1975D376-7BA5-45F6-81CF-8EC7CA84DFE6}"/>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85CF700C-67C7-499B-87D7-C0E6E622AF86}"/>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18364D"/>
                </a:solidFill>
                <a:latin typeface="Arial"/>
                <a:ea typeface="Arial"/>
                <a:cs typeface="Arial"/>
              </a:defRPr>
            </a:pPr>
            <a:r>
              <a:rPr sz="1500" b="1">
                <a:solidFill>
                  <a:srgbClr val="18364D"/>
                </a:solidFill>
                <a:latin typeface="Arial"/>
                <a:ea typeface="Arial"/>
                <a:cs typeface="Arial"/>
              </a:rPr>
              <a:t>Both proposed paths pass through junction P = (4, 0).</a:t>
            </a:r>
          </a:p>
        </p:txBody>
      </p:sp>
    </p:spTree>
    <p:extLst>
      <p:ext uri="{BB962C8B-B14F-4D97-AF65-F5344CB8AC3E}">
        <p14:creationId xmlns:p14="http://schemas.microsoft.com/office/powerpoint/2010/main" val="2023506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36E37CF5-E9D5-4B84-90B7-7B60C858E4E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8CB8DF75-BD0D-4E3C-B7A0-14BE61335BDC}"/>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1">
                <a:solidFill>
                  <a:srgbClr val="11344E"/>
                </a:solidFill>
                <a:latin typeface="Arial"/>
                <a:ea typeface="Arial"/>
                <a:cs typeface="Arial"/>
              </a:defRPr>
            </a:pPr>
            <a:r>
              <a:rPr sz="2550" b="1">
                <a:solidFill>
                  <a:srgbClr val="11344E"/>
                </a:solidFill>
                <a:latin typeface="Arial"/>
                <a:ea typeface="Arial"/>
                <a:cs typeface="Arial"/>
              </a:rPr>
              <a:t>Aerial-survey flight paths</a:t>
            </a:r>
          </a:p>
        </p:txBody>
      </p:sp>
      <p:sp>
        <p:nvSpPr>
          <p:cNvPr id="3" name="Rectangle 2">
            <a:extLst xmlns:a="http://schemas.openxmlformats.org/drawingml/2006/main">
              <a:ext uri="{FF2B5EF4-FFF2-40B4-BE49-F238E27FC236}">
                <a16:creationId xmlns:a16="http://schemas.microsoft.com/office/drawing/2014/main" id="{9C233202-5E61-434C-A1D1-3A4F18FBCBEA}"/>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75" b="0">
                <a:solidFill>
                  <a:srgbClr val="687783"/>
                </a:solidFill>
                <a:latin typeface="Arial"/>
                <a:ea typeface="Arial"/>
                <a:cs typeface="Arial"/>
              </a:defRPr>
            </a:pPr>
            <a:r>
              <a:rPr sz="1275" b="0">
                <a:solidFill>
                  <a:srgbClr val="687783"/>
                </a:solidFill>
                <a:latin typeface="Arial"/>
                <a:ea typeface="Arial"/>
                <a:cs typeface="Arial"/>
              </a:rPr>
              <a:t>Training map: x east, y north (nautical miles)</a:t>
            </a:r>
          </a:p>
        </p:txBody>
      </p:sp>
      <p:sp>
        <p:nvSpPr>
          <p:cNvPr id="4" name="Rectangle 3">
            <a:extLst xmlns:a="http://schemas.openxmlformats.org/drawingml/2006/main">
              <a:ext uri="{FF2B5EF4-FFF2-40B4-BE49-F238E27FC236}">
                <a16:creationId xmlns:a16="http://schemas.microsoft.com/office/drawing/2014/main" id="{D39CCF5F-0AA7-4AAB-83D4-9DE48B0EDD8E}"/>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825" b="1">
                <a:solidFill>
                  <a:srgbClr val="F2AD12"/>
                </a:solidFill>
                <a:latin typeface="Arial"/>
                <a:ea typeface="Arial"/>
                <a:cs typeface="Arial"/>
              </a:defRPr>
            </a:pPr>
            <a:r>
              <a:rPr sz="825" b="1">
                <a:solidFill>
                  <a:srgbClr val="F2AD12"/>
                </a:solidFill>
                <a:latin typeface="Arial"/>
                <a:ea typeface="Arial"/>
                <a:cs typeface="Arial"/>
              </a:rPr>
              <a:t>3:55–4:00</a:t>
            </a:r>
          </a:p>
        </p:txBody>
      </p:sp>
      <p:sp>
        <p:nvSpPr>
          <p:cNvPr id="5" name="Straight Connector 4">
            <a:extLst xmlns:a="http://schemas.openxmlformats.org/drawingml/2006/main">
              <a:ext uri="{FF2B5EF4-FFF2-40B4-BE49-F238E27FC236}">
                <a16:creationId xmlns:a16="http://schemas.microsoft.com/office/drawing/2014/main" id="{AB7BA97A-EB50-4041-AA12-FFE3753D6376}"/>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2C57585-4350-4BDA-AE3F-06262858E12C}"/>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Rectangle 6">
            <a:extLst xmlns:a="http://schemas.openxmlformats.org/drawingml/2006/main">
              <a:ext uri="{FF2B5EF4-FFF2-40B4-BE49-F238E27FC236}">
                <a16:creationId xmlns:a16="http://schemas.microsoft.com/office/drawing/2014/main" id="{3AF0EB93-35FB-4239-B4B4-2C07AE3C50FB}"/>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750" b="0">
                <a:solidFill>
                  <a:srgbClr val="687783"/>
                </a:solidFill>
                <a:latin typeface="Arial"/>
                <a:ea typeface="Arial"/>
                <a:cs typeface="Arial"/>
              </a:defRPr>
            </a:pPr>
            <a:r>
              <a:rPr sz="750" b="0">
                <a:solidFill>
                  <a:srgbClr val="687783"/>
                </a:solidFill>
                <a:latin typeface="Arial"/>
                <a:ea typeface="Arial"/>
                <a:cs typeface="Arial"/>
              </a:rPr>
              <a:t>5  slide</a:t>
            </a:r>
          </a:p>
        </p:txBody>
      </p:sp>
      <p:sp>
        <p:nvSpPr>
          <p:cNvPr id="8" name="Rectangle 7">
            <a:extLst xmlns:a="http://schemas.openxmlformats.org/drawingml/2006/main">
              <a:ext uri="{FF2B5EF4-FFF2-40B4-BE49-F238E27FC236}">
                <a16:creationId xmlns:a16="http://schemas.microsoft.com/office/drawing/2014/main" id="{A5F7EC8D-B991-4B3F-9322-71462E32BFE6}"/>
              </a:ext>
            </a:extLst>
          </p:cNvPr>
          <p:cNvSpPr>
            <a:spLocks xmlns:a="http://schemas.openxmlformats.org/drawingml/2006/main" noGrp="1"/>
          </p:cNvSpPr>
          <p:nvPr/>
        </p:nvSpPr>
        <p:spPr>
          <a:xfrm xmlns:a="http://schemas.openxmlformats.org/drawingml/2006/main">
            <a:off x="714375" y="1428750"/>
            <a:ext cx="10763250" cy="1238250"/>
          </a:xfrm>
          <a:prstGeom xmlns:a="http://schemas.openxmlformats.org/drawingml/2006/main" prst="rect">
            <a:avLst/>
          </a:prstGeom>
          <a:solidFill xmlns:a="http://schemas.openxmlformats.org/drawingml/2006/main">
            <a:srgbClr val="11344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C8E78A70-F374-49FD-9DD9-297181272695}"/>
              </a:ext>
            </a:extLst>
          </p:cNvPr>
          <p:cNvSpPr>
            <a:spLocks xmlns:a="http://schemas.openxmlformats.org/drawingml/2006/main" noGrp="1"/>
          </p:cNvSpPr>
          <p:nvPr/>
        </p:nvSpPr>
        <p:spPr>
          <a:xfrm xmlns:a="http://schemas.openxmlformats.org/drawingml/2006/main">
            <a:off x="990600" y="1647825"/>
            <a:ext cx="10210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925" b="1">
                <a:solidFill>
                  <a:srgbClr val="FFFFFF"/>
                </a:solidFill>
                <a:latin typeface="Cambria Math"/>
                <a:ea typeface="Cambria Math"/>
                <a:cs typeface="Cambria Math"/>
              </a:defRPr>
            </a:pPr>
            <a:r>
              <a:rPr sz="2925" b="1">
                <a:solidFill>
                  <a:srgbClr val="FFFFFF"/>
                </a:solidFill>
                <a:latin typeface="Cambria Math"/>
                <a:ea typeface="Cambria Math"/>
                <a:cs typeface="Cambria Math"/>
              </a:rPr>
              <a:t>Existing flight leg: y = 2x + 3</a:t>
            </a:r>
          </a:p>
        </p:txBody>
      </p:sp>
      <p:sp>
        <p:nvSpPr>
          <p:cNvPr id="10" name="Rectangle 9">
            <a:extLst xmlns:a="http://schemas.openxmlformats.org/drawingml/2006/main">
              <a:ext uri="{FF2B5EF4-FFF2-40B4-BE49-F238E27FC236}">
                <a16:creationId xmlns:a16="http://schemas.microsoft.com/office/drawing/2014/main" id="{7D81EF15-3290-4EA2-BD80-226861E61BB2}"/>
              </a:ext>
            </a:extLst>
          </p:cNvPr>
          <p:cNvSpPr>
            <a:spLocks xmlns:a="http://schemas.openxmlformats.org/drawingml/2006/main" noGrp="1"/>
          </p:cNvSpPr>
          <p:nvPr/>
        </p:nvSpPr>
        <p:spPr>
          <a:xfrm xmlns:a="http://schemas.openxmlformats.org/drawingml/2006/main">
            <a:off x="714375" y="2943225"/>
            <a:ext cx="10763250" cy="1876425"/>
          </a:xfrm>
          <a:prstGeom xmlns:a="http://schemas.openxmlformats.org/drawingml/2006/main" prst="rect">
            <a:avLst/>
          </a:prstGeom>
          <a:solidFill xmlns:a="http://schemas.openxmlformats.org/drawingml/2006/main">
            <a:srgbClr val="F2F5F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BDB91DCD-23BF-4B3A-92EF-CF82FEC335FF}"/>
              </a:ext>
            </a:extLst>
          </p:cNvPr>
          <p:cNvSpPr>
            <a:spLocks xmlns:a="http://schemas.openxmlformats.org/drawingml/2006/main" noGrp="1"/>
          </p:cNvSpPr>
          <p:nvPr/>
        </p:nvSpPr>
        <p:spPr>
          <a:xfrm xmlns:a="http://schemas.openxmlformats.org/drawingml/2006/main">
            <a:off x="1028700" y="3171825"/>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025" b="1">
                <a:solidFill>
                  <a:srgbClr val="11344E"/>
                </a:solidFill>
                <a:latin typeface="Arial"/>
                <a:ea typeface="Arial"/>
                <a:cs typeface="Arial"/>
              </a:defRPr>
            </a:pPr>
            <a:r>
              <a:rPr sz="2025" b="1">
                <a:solidFill>
                  <a:srgbClr val="11344E"/>
                </a:solidFill>
                <a:latin typeface="Arial"/>
                <a:ea typeface="Arial"/>
                <a:cs typeface="Arial"/>
              </a:rPr>
              <a:t>Through waypoint P = (4, 1), write a survey leg that is…</a:t>
            </a:r>
          </a:p>
        </p:txBody>
      </p:sp>
      <p:sp>
        <p:nvSpPr>
          <p:cNvPr id="12" name="Rectangle 11">
            <a:extLst xmlns:a="http://schemas.openxmlformats.org/drawingml/2006/main">
              <a:ext uri="{FF2B5EF4-FFF2-40B4-BE49-F238E27FC236}">
                <a16:creationId xmlns:a16="http://schemas.microsoft.com/office/drawing/2014/main" id="{B6083837-EC8D-4559-BB64-78D273CA4D82}"/>
              </a:ext>
            </a:extLst>
          </p:cNvPr>
          <p:cNvSpPr>
            <a:spLocks xmlns:a="http://schemas.openxmlformats.org/drawingml/2006/main" noGrp="1"/>
          </p:cNvSpPr>
          <p:nvPr/>
        </p:nvSpPr>
        <p:spPr>
          <a:xfrm xmlns:a="http://schemas.openxmlformats.org/drawingml/2006/main">
            <a:off x="1333500" y="3790950"/>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875" b="0">
                <a:solidFill>
                  <a:srgbClr val="18364D"/>
                </a:solidFill>
                <a:latin typeface="Arial"/>
                <a:ea typeface="Arial"/>
                <a:cs typeface="Arial"/>
              </a:defRPr>
            </a:pPr>
            <a:r>
              <a:rPr sz="1875" b="0">
                <a:solidFill>
                  <a:srgbClr val="18364D"/>
                </a:solidFill>
                <a:latin typeface="Arial"/>
                <a:ea typeface="Arial"/>
                <a:cs typeface="Arial"/>
              </a:rPr>
              <a:t>A.  parallel to the existing leg</a:t>
            </a:r>
          </a:p>
        </p:txBody>
      </p:sp>
      <p:sp>
        <p:nvSpPr>
          <p:cNvPr id="13" name="Rectangle 12">
            <a:extLst xmlns:a="http://schemas.openxmlformats.org/drawingml/2006/main">
              <a:ext uri="{FF2B5EF4-FFF2-40B4-BE49-F238E27FC236}">
                <a16:creationId xmlns:a16="http://schemas.microsoft.com/office/drawing/2014/main" id="{F594CD31-A31D-4F3D-9D9E-8A9C0D48AB06}"/>
              </a:ext>
            </a:extLst>
          </p:cNvPr>
          <p:cNvSpPr>
            <a:spLocks xmlns:a="http://schemas.openxmlformats.org/drawingml/2006/main" noGrp="1"/>
          </p:cNvSpPr>
          <p:nvPr/>
        </p:nvSpPr>
        <p:spPr>
          <a:xfrm xmlns:a="http://schemas.openxmlformats.org/drawingml/2006/main">
            <a:off x="1333500" y="43148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875" b="0">
                <a:solidFill>
                  <a:srgbClr val="18364D"/>
                </a:solidFill>
                <a:latin typeface="Arial"/>
                <a:ea typeface="Arial"/>
                <a:cs typeface="Arial"/>
              </a:defRPr>
            </a:pPr>
            <a:r>
              <a:rPr sz="1875" b="0">
                <a:solidFill>
                  <a:srgbClr val="18364D"/>
                </a:solidFill>
                <a:latin typeface="Arial"/>
                <a:ea typeface="Arial"/>
                <a:cs typeface="Arial"/>
              </a:rPr>
              <a:t>B.  perpendicular to the existing leg</a:t>
            </a:r>
          </a:p>
        </p:txBody>
      </p:sp>
      <p:sp>
        <p:nvSpPr>
          <p:cNvPr id="14" name="Rectangle 13">
            <a:extLst xmlns:a="http://schemas.openxmlformats.org/drawingml/2006/main">
              <a:ext uri="{FF2B5EF4-FFF2-40B4-BE49-F238E27FC236}">
                <a16:creationId xmlns:a16="http://schemas.microsoft.com/office/drawing/2014/main" id="{4CFD1E98-94A6-46A9-9A9E-9FE4F020B3C9}"/>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C48E6781-29F3-4A11-8BD2-F3CF637CE678}"/>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18364D"/>
                </a:solidFill>
                <a:latin typeface="Arial"/>
                <a:ea typeface="Arial"/>
                <a:cs typeface="Arial"/>
              </a:defRPr>
            </a:pPr>
            <a:r>
              <a:rPr sz="1500" b="1">
                <a:solidFill>
                  <a:srgbClr val="18364D"/>
                </a:solidFill>
                <a:latin typeface="Arial"/>
                <a:ea typeface="Arial"/>
                <a:cs typeface="Arial"/>
              </a:rPr>
              <a:t>Find each slope, use point–slope form, then check waypoint P.</a:t>
            </a:r>
          </a:p>
        </p:txBody>
      </p:sp>
    </p:spTree>
    <p:extLst>
      <p:ext uri="{BB962C8B-B14F-4D97-AF65-F5344CB8AC3E}">
        <p14:creationId xmlns:p14="http://schemas.microsoft.com/office/powerpoint/2010/main" val="13944777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AB378D98-9AFD-4C9A-8265-5AAEF0476BF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D165B8BA-CB83-483D-A03C-FE3A97F01C93}"/>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1">
                <a:solidFill>
                  <a:srgbClr val="11344E"/>
                </a:solidFill>
                <a:latin typeface="Arial"/>
                <a:ea typeface="Arial"/>
                <a:cs typeface="Arial"/>
              </a:defRPr>
            </a:pPr>
            <a:r>
              <a:rPr sz="2550" b="1">
                <a:solidFill>
                  <a:srgbClr val="11344E"/>
                </a:solidFill>
                <a:latin typeface="Arial"/>
                <a:ea typeface="Arial"/>
                <a:cs typeface="Arial"/>
              </a:rPr>
              <a:t>Survey-path equations</a:t>
            </a:r>
          </a:p>
        </p:txBody>
      </p:sp>
      <p:sp>
        <p:nvSpPr>
          <p:cNvPr id="3" name="Rectangle 2">
            <a:extLst xmlns:a="http://schemas.openxmlformats.org/drawingml/2006/main">
              <a:ext uri="{FF2B5EF4-FFF2-40B4-BE49-F238E27FC236}">
                <a16:creationId xmlns:a16="http://schemas.microsoft.com/office/drawing/2014/main" id="{236A3E71-49D0-4AD1-9B31-482A64CF4CFF}"/>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75" b="0">
                <a:solidFill>
                  <a:srgbClr val="687783"/>
                </a:solidFill>
                <a:latin typeface="Arial"/>
                <a:ea typeface="Arial"/>
                <a:cs typeface="Arial"/>
              </a:defRPr>
            </a:pPr>
            <a:r>
              <a:rPr sz="1275" b="0">
                <a:solidFill>
                  <a:srgbClr val="687783"/>
                </a:solidFill>
                <a:latin typeface="Arial"/>
                <a:ea typeface="Arial"/>
                <a:cs typeface="Arial"/>
              </a:rPr>
              <a:t>Existing leg y = 2x + 3 · waypoint P = (4, 1)</a:t>
            </a:r>
          </a:p>
        </p:txBody>
      </p:sp>
      <p:sp>
        <p:nvSpPr>
          <p:cNvPr id="4" name="Rectangle 3">
            <a:extLst xmlns:a="http://schemas.openxmlformats.org/drawingml/2006/main">
              <a:ext uri="{FF2B5EF4-FFF2-40B4-BE49-F238E27FC236}">
                <a16:creationId xmlns:a16="http://schemas.microsoft.com/office/drawing/2014/main" id="{2D61B4A9-1F3C-4770-9CE4-2301A6FC3EA8}"/>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825" b="1">
                <a:solidFill>
                  <a:srgbClr val="148A68"/>
                </a:solidFill>
                <a:latin typeface="Arial"/>
                <a:ea typeface="Arial"/>
                <a:cs typeface="Arial"/>
              </a:defRPr>
            </a:pPr>
            <a:r>
              <a:rPr sz="825" b="1">
                <a:solidFill>
                  <a:srgbClr val="148A68"/>
                </a:solidFill>
                <a:latin typeface="Arial"/>
                <a:ea typeface="Arial"/>
                <a:cs typeface="Arial"/>
              </a:rPr>
              <a:t>4:00–4:03</a:t>
            </a:r>
          </a:p>
        </p:txBody>
      </p:sp>
      <p:sp>
        <p:nvSpPr>
          <p:cNvPr id="5" name="Straight Connector 4">
            <a:extLst xmlns:a="http://schemas.openxmlformats.org/drawingml/2006/main">
              <a:ext uri="{FF2B5EF4-FFF2-40B4-BE49-F238E27FC236}">
                <a16:creationId xmlns:a16="http://schemas.microsoft.com/office/drawing/2014/main" id="{D8FB08CF-A1B1-4305-8053-F533D6400A4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9B0862E7-EA67-4C34-AD06-5371FAF86E9B}"/>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Rectangle 6">
            <a:extLst xmlns:a="http://schemas.openxmlformats.org/drawingml/2006/main">
              <a:ext uri="{FF2B5EF4-FFF2-40B4-BE49-F238E27FC236}">
                <a16:creationId xmlns:a16="http://schemas.microsoft.com/office/drawing/2014/main" id="{4F2DF29E-2652-4984-A4C6-82B9F45CEE28}"/>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750" b="0">
                <a:solidFill>
                  <a:srgbClr val="687783"/>
                </a:solidFill>
                <a:latin typeface="Arial"/>
                <a:ea typeface="Arial"/>
                <a:cs typeface="Arial"/>
              </a:defRPr>
            </a:pPr>
            <a:r>
              <a:rPr sz="750" b="0">
                <a:solidFill>
                  <a:srgbClr val="687783"/>
                </a:solidFill>
                <a:latin typeface="Arial"/>
                <a:ea typeface="Arial"/>
                <a:cs typeface="Arial"/>
              </a:rPr>
              <a:t>6  slide</a:t>
            </a:r>
          </a:p>
        </p:txBody>
      </p:sp>
      <p:sp>
        <p:nvSpPr>
          <p:cNvPr id="8" name="Rectangle 7">
            <a:extLst xmlns:a="http://schemas.openxmlformats.org/drawingml/2006/main">
              <a:ext uri="{FF2B5EF4-FFF2-40B4-BE49-F238E27FC236}">
                <a16:creationId xmlns:a16="http://schemas.microsoft.com/office/drawing/2014/main" id="{588850E7-1FCC-4FD4-A8A2-67E9537EF02C}"/>
              </a:ext>
            </a:extLst>
          </p:cNvPr>
          <p:cNvSpPr>
            <a:spLocks xmlns:a="http://schemas.openxmlformats.org/drawingml/2006/main" noGrp="1"/>
          </p:cNvSpPr>
          <p:nvPr/>
        </p:nvSpPr>
        <p:spPr>
          <a:xfrm xmlns:a="http://schemas.openxmlformats.org/drawingml/2006/main">
            <a:off x="714375" y="1428750"/>
            <a:ext cx="5143500" cy="3343275"/>
          </a:xfrm>
          <a:prstGeom xmlns:a="http://schemas.openxmlformats.org/drawingml/2006/main" prst="rect">
            <a:avLst/>
          </a:prstGeom>
          <a:solidFill xmlns:a="http://schemas.openxmlformats.org/drawingml/2006/main">
            <a:srgbClr val="E4F2F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8E1F863C-FA2A-4B60-AC1D-CCD52087CEA4}"/>
              </a:ext>
            </a:extLst>
          </p:cNvPr>
          <p:cNvSpPr>
            <a:spLocks xmlns:a="http://schemas.openxmlformats.org/drawingml/2006/main" noGrp="1"/>
          </p:cNvSpPr>
          <p:nvPr/>
        </p:nvSpPr>
        <p:spPr>
          <a:xfrm xmlns:a="http://schemas.openxmlformats.org/drawingml/2006/main">
            <a:off x="971550" y="1638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777B4"/>
                </a:solidFill>
                <a:latin typeface="Arial"/>
                <a:ea typeface="Arial"/>
                <a:cs typeface="Arial"/>
              </a:defRPr>
            </a:pPr>
            <a:r>
              <a:rPr sz="900" b="1">
                <a:solidFill>
                  <a:srgbClr val="1777B4"/>
                </a:solidFill>
                <a:latin typeface="Arial"/>
                <a:ea typeface="Arial"/>
                <a:cs typeface="Arial"/>
              </a:rPr>
              <a:t>PARALLEL SURVEY LEG</a:t>
            </a:r>
          </a:p>
        </p:txBody>
      </p:sp>
      <p:sp>
        <p:nvSpPr>
          <p:cNvPr id="10" name="Rectangle 9">
            <a:extLst xmlns:a="http://schemas.openxmlformats.org/drawingml/2006/main">
              <a:ext uri="{FF2B5EF4-FFF2-40B4-BE49-F238E27FC236}">
                <a16:creationId xmlns:a16="http://schemas.microsoft.com/office/drawing/2014/main" id="{6A8126E3-165C-4458-B283-8132E57A55C1}"/>
              </a:ext>
            </a:extLst>
          </p:cNvPr>
          <p:cNvSpPr>
            <a:spLocks xmlns:a="http://schemas.openxmlformats.org/drawingml/2006/main" noGrp="1"/>
          </p:cNvSpPr>
          <p:nvPr/>
        </p:nvSpPr>
        <p:spPr>
          <a:xfrm xmlns:a="http://schemas.openxmlformats.org/drawingml/2006/main">
            <a:off x="952500" y="2095500"/>
            <a:ext cx="462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475" b="1">
                <a:solidFill>
                  <a:srgbClr val="1777B4"/>
                </a:solidFill>
                <a:latin typeface="Cambria Math"/>
                <a:ea typeface="Cambria Math"/>
                <a:cs typeface="Cambria Math"/>
              </a:defRPr>
            </a:pPr>
            <a:r>
              <a:rPr sz="2475" b="1">
                <a:solidFill>
                  <a:srgbClr val="1777B4"/>
                </a:solidFill>
                <a:latin typeface="Cambria Math"/>
                <a:ea typeface="Cambria Math"/>
                <a:cs typeface="Cambria Math"/>
              </a:rPr>
              <a:t>m = 2</a:t>
            </a:r>
          </a:p>
        </p:txBody>
      </p:sp>
      <p:sp>
        <p:nvSpPr>
          <p:cNvPr id="11" name="Rectangle 10">
            <a:extLst xmlns:a="http://schemas.openxmlformats.org/drawingml/2006/main">
              <a:ext uri="{FF2B5EF4-FFF2-40B4-BE49-F238E27FC236}">
                <a16:creationId xmlns:a16="http://schemas.microsoft.com/office/drawing/2014/main" id="{1A7598E1-8308-4EA8-A438-FC8580F49326}"/>
              </a:ext>
            </a:extLst>
          </p:cNvPr>
          <p:cNvSpPr>
            <a:spLocks xmlns:a="http://schemas.openxmlformats.org/drawingml/2006/main" noGrp="1"/>
          </p:cNvSpPr>
          <p:nvPr/>
        </p:nvSpPr>
        <p:spPr>
          <a:xfrm xmlns:a="http://schemas.openxmlformats.org/drawingml/2006/main">
            <a:off x="952500" y="2771775"/>
            <a:ext cx="4629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y − 1 = 2(x − 4)</a:t>
            </a:r>
          </a:p>
        </p:txBody>
      </p:sp>
      <p:sp>
        <p:nvSpPr>
          <p:cNvPr id="12" name="Rectangle 11">
            <a:extLst xmlns:a="http://schemas.openxmlformats.org/drawingml/2006/main">
              <a:ext uri="{FF2B5EF4-FFF2-40B4-BE49-F238E27FC236}">
                <a16:creationId xmlns:a16="http://schemas.microsoft.com/office/drawing/2014/main" id="{4D8DDD88-32E3-49AD-8D85-3EFACBE43723}"/>
              </a:ext>
            </a:extLst>
          </p:cNvPr>
          <p:cNvSpPr>
            <a:spLocks xmlns:a="http://schemas.openxmlformats.org/drawingml/2006/main" noGrp="1"/>
          </p:cNvSpPr>
          <p:nvPr/>
        </p:nvSpPr>
        <p:spPr>
          <a:xfrm xmlns:a="http://schemas.openxmlformats.org/drawingml/2006/main">
            <a:off x="952500" y="3600450"/>
            <a:ext cx="462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850" b="1">
                <a:solidFill>
                  <a:srgbClr val="11344E"/>
                </a:solidFill>
                <a:latin typeface="Cambria Math"/>
                <a:ea typeface="Cambria Math"/>
                <a:cs typeface="Cambria Math"/>
              </a:defRPr>
            </a:pPr>
            <a:r>
              <a:rPr sz="2850" b="1">
                <a:solidFill>
                  <a:srgbClr val="11344E"/>
                </a:solidFill>
                <a:latin typeface="Cambria Math"/>
                <a:ea typeface="Cambria Math"/>
                <a:cs typeface="Cambria Math"/>
              </a:rPr>
              <a:t>y = 2x − 7</a:t>
            </a:r>
          </a:p>
        </p:txBody>
      </p:sp>
      <p:sp>
        <p:nvSpPr>
          <p:cNvPr id="13" name="Rectangle 12">
            <a:extLst xmlns:a="http://schemas.openxmlformats.org/drawingml/2006/main">
              <a:ext uri="{FF2B5EF4-FFF2-40B4-BE49-F238E27FC236}">
                <a16:creationId xmlns:a16="http://schemas.microsoft.com/office/drawing/2014/main" id="{AF3988D1-E175-46B4-8D61-7FFC2B8AED4E}"/>
              </a:ext>
            </a:extLst>
          </p:cNvPr>
          <p:cNvSpPr>
            <a:spLocks xmlns:a="http://schemas.openxmlformats.org/drawingml/2006/main" noGrp="1"/>
          </p:cNvSpPr>
          <p:nvPr/>
        </p:nvSpPr>
        <p:spPr>
          <a:xfrm xmlns:a="http://schemas.openxmlformats.org/drawingml/2006/main">
            <a:off x="6048375" y="1428750"/>
            <a:ext cx="5429250" cy="3343275"/>
          </a:xfrm>
          <a:prstGeom xmlns:a="http://schemas.openxmlformats.org/drawingml/2006/main" prst="rect">
            <a:avLst/>
          </a:prstGeom>
          <a:solidFill xmlns:a="http://schemas.openxmlformats.org/drawingml/2006/main">
            <a:srgbClr val="E3F3E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20AAD33C-3E4D-4726-A2C0-55F9F64CA529}"/>
              </a:ext>
            </a:extLst>
          </p:cNvPr>
          <p:cNvSpPr>
            <a:spLocks xmlns:a="http://schemas.openxmlformats.org/drawingml/2006/main" noGrp="1"/>
          </p:cNvSpPr>
          <p:nvPr/>
        </p:nvSpPr>
        <p:spPr>
          <a:xfrm xmlns:a="http://schemas.openxmlformats.org/drawingml/2006/main">
            <a:off x="6315075" y="163830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900" b="1">
                <a:solidFill>
                  <a:srgbClr val="148A68"/>
                </a:solidFill>
                <a:latin typeface="Arial"/>
                <a:ea typeface="Arial"/>
                <a:cs typeface="Arial"/>
              </a:defRPr>
            </a:pPr>
            <a:r>
              <a:rPr sz="900" b="1">
                <a:solidFill>
                  <a:srgbClr val="148A68"/>
                </a:solidFill>
                <a:latin typeface="Arial"/>
                <a:ea typeface="Arial"/>
                <a:cs typeface="Arial"/>
              </a:rPr>
              <a:t>PERPENDICULAR SURVEY LEG</a:t>
            </a:r>
          </a:p>
        </p:txBody>
      </p:sp>
      <p:sp>
        <p:nvSpPr>
          <p:cNvPr id="15" name="Rectangle 14">
            <a:extLst xmlns:a="http://schemas.openxmlformats.org/drawingml/2006/main">
              <a:ext uri="{FF2B5EF4-FFF2-40B4-BE49-F238E27FC236}">
                <a16:creationId xmlns:a16="http://schemas.microsoft.com/office/drawing/2014/main" id="{DAB9F064-1AED-464B-B2BA-0CF45779D14B}"/>
              </a:ext>
            </a:extLst>
          </p:cNvPr>
          <p:cNvSpPr>
            <a:spLocks xmlns:a="http://schemas.openxmlformats.org/drawingml/2006/main" noGrp="1"/>
          </p:cNvSpPr>
          <p:nvPr/>
        </p:nvSpPr>
        <p:spPr>
          <a:xfrm xmlns:a="http://schemas.openxmlformats.org/drawingml/2006/main">
            <a:off x="6296025" y="2095500"/>
            <a:ext cx="490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475" b="1">
                <a:solidFill>
                  <a:srgbClr val="148A68"/>
                </a:solidFill>
                <a:latin typeface="Cambria Math"/>
                <a:ea typeface="Cambria Math"/>
                <a:cs typeface="Cambria Math"/>
              </a:defRPr>
            </a:pPr>
            <a:r>
              <a:rPr sz="2475" b="1">
                <a:solidFill>
                  <a:srgbClr val="148A68"/>
                </a:solidFill>
                <a:latin typeface="Cambria Math"/>
                <a:ea typeface="Cambria Math"/>
                <a:cs typeface="Cambria Math"/>
              </a:rPr>
              <a:t>m = −½</a:t>
            </a:r>
          </a:p>
        </p:txBody>
      </p:sp>
      <p:sp>
        <p:nvSpPr>
          <p:cNvPr id="16" name="Rectangle 15">
            <a:extLst xmlns:a="http://schemas.openxmlformats.org/drawingml/2006/main">
              <a:ext uri="{FF2B5EF4-FFF2-40B4-BE49-F238E27FC236}">
                <a16:creationId xmlns:a16="http://schemas.microsoft.com/office/drawing/2014/main" id="{9B93DF7E-29BF-4E20-8529-5F9B14DC6964}"/>
              </a:ext>
            </a:extLst>
          </p:cNvPr>
          <p:cNvSpPr>
            <a:spLocks xmlns:a="http://schemas.openxmlformats.org/drawingml/2006/main" noGrp="1"/>
          </p:cNvSpPr>
          <p:nvPr/>
        </p:nvSpPr>
        <p:spPr>
          <a:xfrm xmlns:a="http://schemas.openxmlformats.org/drawingml/2006/main">
            <a:off x="6296025" y="2771775"/>
            <a:ext cx="4905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y − 1 = −½(x − 4)</a:t>
            </a:r>
          </a:p>
        </p:txBody>
      </p:sp>
      <p:sp>
        <p:nvSpPr>
          <p:cNvPr id="17" name="Rectangle 16">
            <a:extLst xmlns:a="http://schemas.openxmlformats.org/drawingml/2006/main">
              <a:ext uri="{FF2B5EF4-FFF2-40B4-BE49-F238E27FC236}">
                <a16:creationId xmlns:a16="http://schemas.microsoft.com/office/drawing/2014/main" id="{802426B7-E7A6-4FE8-8694-72E20BDAFE16}"/>
              </a:ext>
            </a:extLst>
          </p:cNvPr>
          <p:cNvSpPr>
            <a:spLocks xmlns:a="http://schemas.openxmlformats.org/drawingml/2006/main" noGrp="1"/>
          </p:cNvSpPr>
          <p:nvPr/>
        </p:nvSpPr>
        <p:spPr>
          <a:xfrm xmlns:a="http://schemas.openxmlformats.org/drawingml/2006/main">
            <a:off x="6296025" y="360045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850" b="1">
                <a:solidFill>
                  <a:srgbClr val="11344E"/>
                </a:solidFill>
                <a:latin typeface="Cambria Math"/>
                <a:ea typeface="Cambria Math"/>
                <a:cs typeface="Cambria Math"/>
              </a:defRPr>
            </a:pPr>
            <a:r>
              <a:rPr sz="2850" b="1">
                <a:solidFill>
                  <a:srgbClr val="11344E"/>
                </a:solidFill>
                <a:latin typeface="Cambria Math"/>
                <a:ea typeface="Cambria Math"/>
                <a:cs typeface="Cambria Math"/>
              </a:rPr>
              <a:t>y = −½x + 3</a:t>
            </a:r>
          </a:p>
        </p:txBody>
      </p:sp>
      <p:sp>
        <p:nvSpPr>
          <p:cNvPr id="18" name="Rectangle 17">
            <a:extLst xmlns:a="http://schemas.openxmlformats.org/drawingml/2006/main">
              <a:ext uri="{FF2B5EF4-FFF2-40B4-BE49-F238E27FC236}">
                <a16:creationId xmlns:a16="http://schemas.microsoft.com/office/drawing/2014/main" id="{13AE510C-F308-487F-859F-8369ABAA125E}"/>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F616D276-A1A7-41DB-A820-176ED007BC3B}"/>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18364D"/>
                </a:solidFill>
                <a:latin typeface="Arial"/>
                <a:ea typeface="Arial"/>
                <a:cs typeface="Arial"/>
              </a:defRPr>
            </a:pPr>
            <a:r>
              <a:rPr sz="1500" b="1">
                <a:solidFill>
                  <a:srgbClr val="18364D"/>
                </a:solidFill>
                <a:latin typeface="Arial"/>
                <a:ea typeface="Arial"/>
                <a:cs typeface="Arial"/>
              </a:rPr>
              <a:t>Waypoint check: 1 = 2(4) − 7, and 1 = −½(4) + 3.</a:t>
            </a:r>
          </a:p>
        </p:txBody>
      </p:sp>
    </p:spTree>
    <p:extLst>
      <p:ext uri="{BB962C8B-B14F-4D97-AF65-F5344CB8AC3E}">
        <p14:creationId xmlns:p14="http://schemas.microsoft.com/office/powerpoint/2010/main" val="9001794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848F0015-6E1B-4CC4-8F8E-27426F0D956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CE84DCBC-AB64-468D-8C05-39DE5A3D5B98}"/>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1">
                <a:solidFill>
                  <a:srgbClr val="11344E"/>
                </a:solidFill>
                <a:latin typeface="Arial"/>
                <a:ea typeface="Arial"/>
                <a:cs typeface="Arial"/>
              </a:defRPr>
            </a:pPr>
            <a:r>
              <a:rPr sz="2550" b="1">
                <a:solidFill>
                  <a:srgbClr val="11344E"/>
                </a:solidFill>
                <a:latin typeface="Arial"/>
                <a:ea typeface="Arial"/>
                <a:cs typeface="Arial"/>
              </a:rPr>
              <a:t>Before Friday</a:t>
            </a:r>
          </a:p>
        </p:txBody>
      </p:sp>
      <p:sp>
        <p:nvSpPr>
          <p:cNvPr id="3" name="Rectangle 2">
            <a:extLst xmlns:a="http://schemas.openxmlformats.org/drawingml/2006/main">
              <a:ext uri="{FF2B5EF4-FFF2-40B4-BE49-F238E27FC236}">
                <a16:creationId xmlns:a16="http://schemas.microsoft.com/office/drawing/2014/main" id="{C29E3677-B172-4F26-92D0-B80A1D9A9F43}"/>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75" b="0">
                <a:solidFill>
                  <a:srgbClr val="687783"/>
                </a:solidFill>
                <a:latin typeface="Arial"/>
                <a:ea typeface="Arial"/>
                <a:cs typeface="Arial"/>
              </a:defRPr>
            </a:pPr>
            <a:r>
              <a:rPr sz="1275" b="0">
                <a:solidFill>
                  <a:srgbClr val="687783"/>
                </a:solidFill>
                <a:latin typeface="Arial"/>
                <a:ea typeface="Arial"/>
                <a:cs typeface="Arial"/>
              </a:rPr>
              <a:t>Carry today’s line work into ALEKS, then prepare for quadratics</a:t>
            </a:r>
          </a:p>
        </p:txBody>
      </p:sp>
      <p:sp>
        <p:nvSpPr>
          <p:cNvPr id="4" name="Rectangle 3">
            <a:extLst xmlns:a="http://schemas.openxmlformats.org/drawingml/2006/main">
              <a:ext uri="{FF2B5EF4-FFF2-40B4-BE49-F238E27FC236}">
                <a16:creationId xmlns:a16="http://schemas.microsoft.com/office/drawing/2014/main" id="{9B0B53B2-9D0F-4556-996E-3A807FBD8DF9}"/>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825" b="1">
                <a:solidFill>
                  <a:srgbClr val="F2AD12"/>
                </a:solidFill>
                <a:latin typeface="Arial"/>
                <a:ea typeface="Arial"/>
                <a:cs typeface="Arial"/>
              </a:defRPr>
            </a:pPr>
            <a:r>
              <a:rPr sz="825" b="1">
                <a:solidFill>
                  <a:srgbClr val="F2AD12"/>
                </a:solidFill>
                <a:latin typeface="Arial"/>
                <a:ea typeface="Arial"/>
                <a:cs typeface="Arial"/>
              </a:rPr>
              <a:t>4:03–4:05</a:t>
            </a:r>
          </a:p>
        </p:txBody>
      </p:sp>
      <p:sp>
        <p:nvSpPr>
          <p:cNvPr id="5" name="Straight Connector 4">
            <a:extLst xmlns:a="http://schemas.openxmlformats.org/drawingml/2006/main">
              <a:ext uri="{FF2B5EF4-FFF2-40B4-BE49-F238E27FC236}">
                <a16:creationId xmlns:a16="http://schemas.microsoft.com/office/drawing/2014/main" id="{0F6B7B4D-A2DA-4DAA-AB61-6FC15CE1F5E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8394DE1F-645B-47D5-814E-169BC6E49D3B}"/>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Rectangle 6">
            <a:extLst xmlns:a="http://schemas.openxmlformats.org/drawingml/2006/main">
              <a:ext uri="{FF2B5EF4-FFF2-40B4-BE49-F238E27FC236}">
                <a16:creationId xmlns:a16="http://schemas.microsoft.com/office/drawing/2014/main" id="{70E86D1B-9CCF-450B-A0F0-87310B1FD02C}"/>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750" b="0">
                <a:solidFill>
                  <a:srgbClr val="687783"/>
                </a:solidFill>
                <a:latin typeface="Arial"/>
                <a:ea typeface="Arial"/>
                <a:cs typeface="Arial"/>
              </a:defRPr>
            </a:pPr>
            <a:r>
              <a:rPr sz="750" b="0">
                <a:solidFill>
                  <a:srgbClr val="687783"/>
                </a:solidFill>
                <a:latin typeface="Arial"/>
                <a:ea typeface="Arial"/>
                <a:cs typeface="Arial"/>
              </a:rPr>
              <a:t>7  slide</a:t>
            </a:r>
          </a:p>
        </p:txBody>
      </p:sp>
      <p:sp>
        <p:nvSpPr>
          <p:cNvPr id="8" name="Rectangle 7">
            <a:extLst xmlns:a="http://schemas.openxmlformats.org/drawingml/2006/main">
              <a:ext uri="{FF2B5EF4-FFF2-40B4-BE49-F238E27FC236}">
                <a16:creationId xmlns:a16="http://schemas.microsoft.com/office/drawing/2014/main" id="{FB6DCBB0-78EE-419C-868D-DCA0BAC9D22F}"/>
              </a:ext>
            </a:extLst>
          </p:cNvPr>
          <p:cNvSpPr>
            <a:spLocks xmlns:a="http://schemas.openxmlformats.org/drawingml/2006/main" noGrp="1"/>
          </p:cNvSpPr>
          <p:nvPr/>
        </p:nvSpPr>
        <p:spPr>
          <a:xfrm xmlns:a="http://schemas.openxmlformats.org/drawingml/2006/main">
            <a:off x="723900" y="1504950"/>
            <a:ext cx="10744200" cy="952500"/>
          </a:xfrm>
          <a:prstGeom xmlns:a="http://schemas.openxmlformats.org/drawingml/2006/main" prst="rect">
            <a:avLst/>
          </a:prstGeom>
          <a:solidFill xmlns:a="http://schemas.openxmlformats.org/drawingml/2006/main">
            <a:srgbClr val="E4F2F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6F2387A1-6A85-4C4B-8363-A918A4F4C459}"/>
              </a:ext>
            </a:extLst>
          </p:cNvPr>
          <p:cNvSpPr>
            <a:spLocks xmlns:a="http://schemas.openxmlformats.org/drawingml/2006/main" noGrp="1"/>
          </p:cNvSpPr>
          <p:nvPr/>
        </p:nvSpPr>
        <p:spPr>
          <a:xfrm xmlns:a="http://schemas.openxmlformats.org/drawingml/2006/main">
            <a:off x="723900" y="1504950"/>
            <a:ext cx="1695450" cy="952500"/>
          </a:xfrm>
          <a:prstGeom xmlns:a="http://schemas.openxmlformats.org/drawingml/2006/main" prst="rect">
            <a:avLst/>
          </a:prstGeom>
          <a:solidFill xmlns:a="http://schemas.openxmlformats.org/drawingml/2006/main">
            <a:srgbClr val="1777B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74D2D87-D050-48C3-AB32-71120FB1F9BE}"/>
              </a:ext>
            </a:extLst>
          </p:cNvPr>
          <p:cNvSpPr>
            <a:spLocks xmlns:a="http://schemas.openxmlformats.org/drawingml/2006/main" noGrp="1"/>
          </p:cNvSpPr>
          <p:nvPr/>
        </p:nvSpPr>
        <p:spPr>
          <a:xfrm xmlns:a="http://schemas.openxmlformats.org/drawingml/2006/main">
            <a:off x="819150" y="16954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TODAY</a:t>
            </a:r>
          </a:p>
        </p:txBody>
      </p:sp>
      <p:sp>
        <p:nvSpPr>
          <p:cNvPr id="11" name="Rectangle 10">
            <a:extLst xmlns:a="http://schemas.openxmlformats.org/drawingml/2006/main">
              <a:ext uri="{FF2B5EF4-FFF2-40B4-BE49-F238E27FC236}">
                <a16:creationId xmlns:a16="http://schemas.microsoft.com/office/drawing/2014/main" id="{09435DE6-54FC-4901-AE0B-A1E78F747DE1}"/>
              </a:ext>
            </a:extLst>
          </p:cNvPr>
          <p:cNvSpPr>
            <a:spLocks xmlns:a="http://schemas.openxmlformats.org/drawingml/2006/main" noGrp="1"/>
          </p:cNvSpPr>
          <p:nvPr/>
        </p:nvSpPr>
        <p:spPr>
          <a:xfrm xmlns:a="http://schemas.openxmlformats.org/drawingml/2006/main">
            <a:off x="2667000" y="165735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11344E"/>
                </a:solidFill>
                <a:latin typeface="Arial"/>
                <a:ea typeface="Arial"/>
                <a:cs typeface="Arial"/>
              </a:defRPr>
            </a:pPr>
            <a:r>
              <a:rPr sz="1725" b="1">
                <a:solidFill>
                  <a:srgbClr val="11344E"/>
                </a:solidFill>
                <a:latin typeface="Arial"/>
                <a:ea typeface="Arial"/>
                <a:cs typeface="Arial"/>
              </a:rPr>
              <a:t>Begin Section 2.5 in ALEKS: parallel/perpendicular slopes and equations.</a:t>
            </a:r>
          </a:p>
        </p:txBody>
      </p:sp>
      <p:sp>
        <p:nvSpPr>
          <p:cNvPr id="12" name="Rectangle 11">
            <a:extLst xmlns:a="http://schemas.openxmlformats.org/drawingml/2006/main">
              <a:ext uri="{FF2B5EF4-FFF2-40B4-BE49-F238E27FC236}">
                <a16:creationId xmlns:a16="http://schemas.microsoft.com/office/drawing/2014/main" id="{07229B95-B695-406B-BA2C-230653F2FD26}"/>
              </a:ext>
            </a:extLst>
          </p:cNvPr>
          <p:cNvSpPr>
            <a:spLocks xmlns:a="http://schemas.openxmlformats.org/drawingml/2006/main" noGrp="1"/>
          </p:cNvSpPr>
          <p:nvPr/>
        </p:nvSpPr>
        <p:spPr>
          <a:xfrm xmlns:a="http://schemas.openxmlformats.org/drawingml/2006/main">
            <a:off x="723900" y="2667000"/>
            <a:ext cx="10744200" cy="952500"/>
          </a:xfrm>
          <a:prstGeom xmlns:a="http://schemas.openxmlformats.org/drawingml/2006/main" prst="rect">
            <a:avLst/>
          </a:prstGeom>
          <a:solidFill xmlns:a="http://schemas.openxmlformats.org/drawingml/2006/main">
            <a:srgbClr val="E3F3E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E2CB9B7F-0E6F-4341-AB50-A1B9E56D547A}"/>
              </a:ext>
            </a:extLst>
          </p:cNvPr>
          <p:cNvSpPr>
            <a:spLocks xmlns:a="http://schemas.openxmlformats.org/drawingml/2006/main" noGrp="1"/>
          </p:cNvSpPr>
          <p:nvPr/>
        </p:nvSpPr>
        <p:spPr>
          <a:xfrm xmlns:a="http://schemas.openxmlformats.org/drawingml/2006/main">
            <a:off x="723900" y="2667000"/>
            <a:ext cx="1695450" cy="952500"/>
          </a:xfrm>
          <a:prstGeom xmlns:a="http://schemas.openxmlformats.org/drawingml/2006/main" prst="rect">
            <a:avLst/>
          </a:prstGeom>
          <a:solidFill xmlns:a="http://schemas.openxmlformats.org/drawingml/2006/main">
            <a:srgbClr val="148A6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879531B7-0658-4C4E-809B-75ACF3F13862}"/>
              </a:ext>
            </a:extLst>
          </p:cNvPr>
          <p:cNvSpPr>
            <a:spLocks xmlns:a="http://schemas.openxmlformats.org/drawingml/2006/main" noGrp="1"/>
          </p:cNvSpPr>
          <p:nvPr/>
        </p:nvSpPr>
        <p:spPr>
          <a:xfrm xmlns:a="http://schemas.openxmlformats.org/drawingml/2006/main">
            <a:off x="819150" y="285750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FRIDAY</a:t>
            </a:r>
          </a:p>
        </p:txBody>
      </p:sp>
      <p:sp>
        <p:nvSpPr>
          <p:cNvPr id="15" name="Rectangle 14">
            <a:extLst xmlns:a="http://schemas.openxmlformats.org/drawingml/2006/main">
              <a:ext uri="{FF2B5EF4-FFF2-40B4-BE49-F238E27FC236}">
                <a16:creationId xmlns:a16="http://schemas.microsoft.com/office/drawing/2014/main" id="{59732D89-E26D-4A3C-8B3E-B40355E941B3}"/>
              </a:ext>
            </a:extLst>
          </p:cNvPr>
          <p:cNvSpPr>
            <a:spLocks xmlns:a="http://schemas.openxmlformats.org/drawingml/2006/main" noGrp="1"/>
          </p:cNvSpPr>
          <p:nvPr/>
        </p:nvSpPr>
        <p:spPr>
          <a:xfrm xmlns:a="http://schemas.openxmlformats.org/drawingml/2006/main">
            <a:off x="2667000" y="281940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11344E"/>
                </a:solidFill>
                <a:latin typeface="Arial"/>
                <a:ea typeface="Arial"/>
                <a:cs typeface="Arial"/>
              </a:defRPr>
            </a:pPr>
            <a:r>
              <a:rPr sz="1725" b="1">
                <a:solidFill>
                  <a:srgbClr val="11344E"/>
                </a:solidFill>
                <a:latin typeface="Arial"/>
                <a:ea typeface="Arial"/>
                <a:cs typeface="Arial"/>
              </a:rPr>
              <a:t>Section 3.1: maximum and minimum of a quadratic.</a:t>
            </a:r>
          </a:p>
        </p:txBody>
      </p:sp>
      <p:sp>
        <p:nvSpPr>
          <p:cNvPr id="16" name="Rectangle 15">
            <a:extLst xmlns:a="http://schemas.openxmlformats.org/drawingml/2006/main">
              <a:ext uri="{FF2B5EF4-FFF2-40B4-BE49-F238E27FC236}">
                <a16:creationId xmlns:a16="http://schemas.microsoft.com/office/drawing/2014/main" id="{FA58D813-9697-45D3-8BB0-CDBF9B036FC1}"/>
              </a:ext>
            </a:extLst>
          </p:cNvPr>
          <p:cNvSpPr>
            <a:spLocks xmlns:a="http://schemas.openxmlformats.org/drawingml/2006/main" noGrp="1"/>
          </p:cNvSpPr>
          <p:nvPr/>
        </p:nvSpPr>
        <p:spPr>
          <a:xfrm xmlns:a="http://schemas.openxmlformats.org/drawingml/2006/main">
            <a:off x="723900" y="3829050"/>
            <a:ext cx="10744200" cy="952500"/>
          </a:xfrm>
          <a:prstGeom xmlns:a="http://schemas.openxmlformats.org/drawingml/2006/main" prst="rect">
            <a:avLst/>
          </a:prstGeom>
          <a:solidFill xmlns:a="http://schemas.openxmlformats.org/drawingml/2006/main">
            <a:srgbClr val="E4F2F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F6E2D89F-7607-45D9-87A7-2E95A0219024}"/>
              </a:ext>
            </a:extLst>
          </p:cNvPr>
          <p:cNvSpPr>
            <a:spLocks xmlns:a="http://schemas.openxmlformats.org/drawingml/2006/main" noGrp="1"/>
          </p:cNvSpPr>
          <p:nvPr/>
        </p:nvSpPr>
        <p:spPr>
          <a:xfrm xmlns:a="http://schemas.openxmlformats.org/drawingml/2006/main">
            <a:off x="723900" y="3829050"/>
            <a:ext cx="1695450" cy="952500"/>
          </a:xfrm>
          <a:prstGeom xmlns:a="http://schemas.openxmlformats.org/drawingml/2006/main" prst="rect">
            <a:avLst/>
          </a:prstGeom>
          <a:solidFill xmlns:a="http://schemas.openxmlformats.org/drawingml/2006/main">
            <a:srgbClr val="1777B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B6037C44-0BC1-4E80-92A5-B9081DE50CA2}"/>
              </a:ext>
            </a:extLst>
          </p:cNvPr>
          <p:cNvSpPr>
            <a:spLocks xmlns:a="http://schemas.openxmlformats.org/drawingml/2006/main" noGrp="1"/>
          </p:cNvSpPr>
          <p:nvPr/>
        </p:nvSpPr>
        <p:spPr>
          <a:xfrm xmlns:a="http://schemas.openxmlformats.org/drawingml/2006/main">
            <a:off x="819150" y="40195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WED 9/23</a:t>
            </a:r>
          </a:p>
        </p:txBody>
      </p:sp>
      <p:sp>
        <p:nvSpPr>
          <p:cNvPr id="19" name="Rectangle 18">
            <a:extLst xmlns:a="http://schemas.openxmlformats.org/drawingml/2006/main">
              <a:ext uri="{FF2B5EF4-FFF2-40B4-BE49-F238E27FC236}">
                <a16:creationId xmlns:a16="http://schemas.microsoft.com/office/drawing/2014/main" id="{6C104B7B-89F0-47FA-8B71-7D7AA497B053}"/>
              </a:ext>
            </a:extLst>
          </p:cNvPr>
          <p:cNvSpPr>
            <a:spLocks xmlns:a="http://schemas.openxmlformats.org/drawingml/2006/main" noGrp="1"/>
          </p:cNvSpPr>
          <p:nvPr/>
        </p:nvSpPr>
        <p:spPr>
          <a:xfrm xmlns:a="http://schemas.openxmlformats.org/drawingml/2006/main">
            <a:off x="2667000" y="398145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11344E"/>
                </a:solidFill>
                <a:latin typeface="Arial"/>
                <a:ea typeface="Arial"/>
                <a:cs typeface="Arial"/>
              </a:defRPr>
            </a:pPr>
            <a:r>
              <a:rPr sz="1725" b="1">
                <a:solidFill>
                  <a:srgbClr val="11344E"/>
                </a:solidFill>
                <a:latin typeface="Arial"/>
                <a:ea typeface="Arial"/>
                <a:cs typeface="Arial"/>
              </a:rPr>
              <a:t>ALEKS Sections 2.5/3.1 due at 2:10 PM; Test 1 on paper.</a:t>
            </a:r>
          </a:p>
        </p:txBody>
      </p:sp>
      <p:sp>
        <p:nvSpPr>
          <p:cNvPr id="20" name="Rectangle 19">
            <a:extLst xmlns:a="http://schemas.openxmlformats.org/drawingml/2006/main">
              <a:ext uri="{FF2B5EF4-FFF2-40B4-BE49-F238E27FC236}">
                <a16:creationId xmlns:a16="http://schemas.microsoft.com/office/drawing/2014/main" id="{9AC1FA8A-2B26-4B54-A10F-B68EAFC333BF}"/>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F0033BB5-3B97-4C2E-8BED-34FC32EF699D}"/>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500" b="1">
                <a:solidFill>
                  <a:srgbClr val="18364D"/>
                </a:solidFill>
                <a:latin typeface="Arial"/>
                <a:ea typeface="Arial"/>
                <a:cs typeface="Arial"/>
              </a:defRPr>
            </a:pPr>
            <a:r>
              <a:rPr sz="1500" b="1">
                <a:solidFill>
                  <a:srgbClr val="18364D"/>
                </a:solidFill>
                <a:latin typeface="Arial"/>
                <a:ea typeface="Arial"/>
                <a:cs typeface="Arial"/>
              </a:rPr>
              <a:t>Quiz 4 is planned for Monday, Sep 21; check Canvas for confirmed coverage.</a:t>
            </a:r>
          </a:p>
        </p:txBody>
      </p:sp>
    </p:spTree>
    <p:extLst>
      <p:ext uri="{BB962C8B-B14F-4D97-AF65-F5344CB8AC3E}">
        <p14:creationId xmlns:p14="http://schemas.microsoft.com/office/powerpoint/2010/main" val="624426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2026-09-30T04:08:29.5290000Z</dcterms:created>
  <dcterms:modified xsi:type="dcterms:W3CDTF">2026-09-30T04:08:29.5290000Z</dcterms:modified>
</coreProperties>
</file>