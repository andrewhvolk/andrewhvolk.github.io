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a3ff8dbf0b4970" /><Relationship Type="http://schemas.openxmlformats.org/officeDocument/2006/relationships/extended-properties" Target="/docProps/app.xml" Id="Re752fcf480ee4f3d" /><Relationship Type="http://schemas.openxmlformats.org/officeDocument/2006/relationships/officeDocument" Target="/ppt/presentation.xml" Id="Rdb05f0bfa8864b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f9f034349d47c2"/>
  </p:sldMasterIdLst>
  <p:notesMasterIdLst>
    <p:notesMasterId xmlns:r="http://schemas.openxmlformats.org/officeDocument/2006/relationships" r:id="Rf0e62f3c91d94903"/>
  </p:notesMasterIdLst>
  <p:sldIdLst>
    <p:sldId xmlns:r="http://schemas.openxmlformats.org/officeDocument/2006/relationships" id="256" r:id="Raa1fc00300d4418a"/>
    <p:sldId xmlns:r="http://schemas.openxmlformats.org/officeDocument/2006/relationships" id="257" r:id="Reac9609fb14d461f"/>
    <p:sldId xmlns:r="http://schemas.openxmlformats.org/officeDocument/2006/relationships" id="258" r:id="R488cd9e64cd74fca"/>
    <p:sldId xmlns:r="http://schemas.openxmlformats.org/officeDocument/2006/relationships" id="259" r:id="R071e031a5bb24e1f"/>
    <p:sldId xmlns:r="http://schemas.openxmlformats.org/officeDocument/2006/relationships" id="260" r:id="R34f39ada016844d8"/>
    <p:sldId xmlns:r="http://schemas.openxmlformats.org/officeDocument/2006/relationships" id="261" r:id="R5981bfab1ebd42a2"/>
    <p:sldId xmlns:r="http://schemas.openxmlformats.org/officeDocument/2006/relationships" id="262" r:id="Rc50e84527f0f459c"/>
    <p:sldId xmlns:r="http://schemas.openxmlformats.org/officeDocument/2006/relationships" id="263" r:id="Rb32fed3896bb4f4f"/>
    <p:sldId xmlns:r="http://schemas.openxmlformats.org/officeDocument/2006/relationships" id="264" r:id="R7de10806ab984df9"/>
    <p:sldId xmlns:r="http://schemas.openxmlformats.org/officeDocument/2006/relationships" id="265" r:id="R69d796dd98e14d9d"/>
    <p:sldId xmlns:r="http://schemas.openxmlformats.org/officeDocument/2006/relationships" id="266" r:id="Rfdc72e3a84164c4d"/>
    <p:sldId xmlns:r="http://schemas.openxmlformats.org/officeDocument/2006/relationships" id="267" r:id="R2390f7548caa4ef8"/>
    <p:sldId xmlns:r="http://schemas.openxmlformats.org/officeDocument/2006/relationships" id="268" r:id="R6cfe2f28867943ce"/>
    <p:sldId xmlns:r="http://schemas.openxmlformats.org/officeDocument/2006/relationships" id="269" r:id="R4e26d6f97f904642"/>
    <p:sldId xmlns:r="http://schemas.openxmlformats.org/officeDocument/2006/relationships" id="270" r:id="Ra54c927fa1674427"/>
    <p:sldId xmlns:r="http://schemas.openxmlformats.org/officeDocument/2006/relationships" id="271" r:id="R61466d65b22e464c"/>
    <p:sldId xmlns:r="http://schemas.openxmlformats.org/officeDocument/2006/relationships" id="272" r:id="Ra3b933bd1f3f4439"/>
    <p:sldId xmlns:r="http://schemas.openxmlformats.org/officeDocument/2006/relationships" id="273" r:id="R27c0cc899ae34fa5"/>
    <p:sldId xmlns:r="http://schemas.openxmlformats.org/officeDocument/2006/relationships" id="274" r:id="R61c5be96d1c3423b"/>
    <p:sldId xmlns:r="http://schemas.openxmlformats.org/officeDocument/2006/relationships" id="275" r:id="Re0103bd5f23a4f2f"/>
    <p:sldId xmlns:r="http://schemas.openxmlformats.org/officeDocument/2006/relationships" id="276" r:id="R037d74fe58774bd8"/>
    <p:sldId xmlns:r="http://schemas.openxmlformats.org/officeDocument/2006/relationships" id="277" r:id="R9d5c516d38af4d20"/>
    <p:sldId xmlns:r="http://schemas.openxmlformats.org/officeDocument/2006/relationships" id="278" r:id="R3847fa6203b84a8e"/>
    <p:sldId xmlns:r="http://schemas.openxmlformats.org/officeDocument/2006/relationships" id="279" r:id="Ra2b14aa16ea8435b"/>
    <p:sldId xmlns:r="http://schemas.openxmlformats.org/officeDocument/2006/relationships" id="280" r:id="Rbdcd4f70ab2e4df2"/>
    <p:sldId xmlns:r="http://schemas.openxmlformats.org/officeDocument/2006/relationships" id="281" r:id="Rf8b75fc37d3548ed"/>
    <p:sldId xmlns:r="http://schemas.openxmlformats.org/officeDocument/2006/relationships" id="282" r:id="R70043fe00b51441d"/>
    <p:sldId xmlns:r="http://schemas.openxmlformats.org/officeDocument/2006/relationships" id="283" r:id="Rf9220c4216a44759"/>
    <p:sldId xmlns:r="http://schemas.openxmlformats.org/officeDocument/2006/relationships" id="284" r:id="R6a272eecaf8b4c90"/>
    <p:sldId xmlns:r="http://schemas.openxmlformats.org/officeDocument/2006/relationships" id="285" r:id="R1fe50b059871453a"/>
    <p:sldId xmlns:r="http://schemas.openxmlformats.org/officeDocument/2006/relationships" id="286" r:id="R89c792fda63c48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64de0db3ba40d9" /><Relationship Type="http://schemas.openxmlformats.org/officeDocument/2006/relationships/slideMaster" Target="/ppt/slideMasters/slideMaster1.xml" Id="R1df9f034349d47c2" /><Relationship Type="http://schemas.openxmlformats.org/officeDocument/2006/relationships/notesMaster" Target="/ppt/notesMasters/notesMaster1.xml" Id="Rf0e62f3c91d94903" /><Relationship Type="http://schemas.openxmlformats.org/officeDocument/2006/relationships/presProps" Target="/ppt/presProps.xml" Id="R4605f46d36564eb2" /><Relationship Type="http://schemas.openxmlformats.org/officeDocument/2006/relationships/tableStyles" Target="/ppt/tableStyles.xml" Id="R2865cdc9dd934591" /><Relationship Type="http://schemas.openxmlformats.org/officeDocument/2006/relationships/slide" Target="/ppt/slides/slide1.xml" Id="Raa1fc00300d4418a" /><Relationship Type="http://schemas.openxmlformats.org/officeDocument/2006/relationships/slide" Target="/ppt/slides/slide2.xml" Id="Reac9609fb14d461f" /><Relationship Type="http://schemas.openxmlformats.org/officeDocument/2006/relationships/slide" Target="/ppt/slides/slide3.xml" Id="R488cd9e64cd74fca" /><Relationship Type="http://schemas.openxmlformats.org/officeDocument/2006/relationships/slide" Target="/ppt/slides/slide4.xml" Id="R071e031a5bb24e1f" /><Relationship Type="http://schemas.openxmlformats.org/officeDocument/2006/relationships/slide" Target="/ppt/slides/slide5.xml" Id="R34f39ada016844d8" /><Relationship Type="http://schemas.openxmlformats.org/officeDocument/2006/relationships/slide" Target="/ppt/slides/slide6.xml" Id="R5981bfab1ebd42a2" /><Relationship Type="http://schemas.openxmlformats.org/officeDocument/2006/relationships/slide" Target="/ppt/slides/slide7.xml" Id="Rc50e84527f0f459c" /><Relationship Type="http://schemas.openxmlformats.org/officeDocument/2006/relationships/slide" Target="/ppt/slides/slide8.xml" Id="Rb32fed3896bb4f4f" /><Relationship Type="http://schemas.openxmlformats.org/officeDocument/2006/relationships/slide" Target="/ppt/slides/slide9.xml" Id="R7de10806ab984df9" /><Relationship Type="http://schemas.openxmlformats.org/officeDocument/2006/relationships/slide" Target="/ppt/slides/slide10.xml" Id="R69d796dd98e14d9d" /><Relationship Type="http://schemas.openxmlformats.org/officeDocument/2006/relationships/slide" Target="/ppt/slides/slide11.xml" Id="Rfdc72e3a84164c4d" /><Relationship Type="http://schemas.openxmlformats.org/officeDocument/2006/relationships/slide" Target="/ppt/slides/slide12.xml" Id="R2390f7548caa4ef8" /><Relationship Type="http://schemas.openxmlformats.org/officeDocument/2006/relationships/slide" Target="/ppt/slides/slide13.xml" Id="R6cfe2f28867943ce" /><Relationship Type="http://schemas.openxmlformats.org/officeDocument/2006/relationships/slide" Target="/ppt/slides/slide14.xml" Id="R4e26d6f97f904642" /><Relationship Type="http://schemas.openxmlformats.org/officeDocument/2006/relationships/slide" Target="/ppt/slides/slide15.xml" Id="Ra54c927fa1674427" /><Relationship Type="http://schemas.openxmlformats.org/officeDocument/2006/relationships/slide" Target="/ppt/slides/slide16.xml" Id="R61466d65b22e464c" /><Relationship Type="http://schemas.openxmlformats.org/officeDocument/2006/relationships/slide" Target="/ppt/slides/slide17.xml" Id="Ra3b933bd1f3f4439" /><Relationship Type="http://schemas.openxmlformats.org/officeDocument/2006/relationships/slide" Target="/ppt/slides/slide18.xml" Id="R27c0cc899ae34fa5" /><Relationship Type="http://schemas.openxmlformats.org/officeDocument/2006/relationships/slide" Target="/ppt/slides/slide19.xml" Id="R61c5be96d1c3423b" /><Relationship Type="http://schemas.openxmlformats.org/officeDocument/2006/relationships/slide" Target="/ppt/slides/slide20.xml" Id="Re0103bd5f23a4f2f" /><Relationship Type="http://schemas.openxmlformats.org/officeDocument/2006/relationships/slide" Target="/ppt/slides/slide21.xml" Id="R037d74fe58774bd8" /><Relationship Type="http://schemas.openxmlformats.org/officeDocument/2006/relationships/slide" Target="/ppt/slides/slide22.xml" Id="R9d5c516d38af4d20" /><Relationship Type="http://schemas.openxmlformats.org/officeDocument/2006/relationships/slide" Target="/ppt/slides/slide23.xml" Id="R3847fa6203b84a8e" /><Relationship Type="http://schemas.openxmlformats.org/officeDocument/2006/relationships/slide" Target="/ppt/slides/slide24.xml" Id="Ra2b14aa16ea8435b" /><Relationship Type="http://schemas.openxmlformats.org/officeDocument/2006/relationships/slide" Target="/ppt/slides/slide25.xml" Id="Rbdcd4f70ab2e4df2" /><Relationship Type="http://schemas.openxmlformats.org/officeDocument/2006/relationships/slide" Target="/ppt/slides/slide26.xml" Id="Rf8b75fc37d3548ed" /><Relationship Type="http://schemas.openxmlformats.org/officeDocument/2006/relationships/slide" Target="/ppt/slides/slide27.xml" Id="R70043fe00b51441d" /><Relationship Type="http://schemas.openxmlformats.org/officeDocument/2006/relationships/slide" Target="/ppt/slides/slide28.xml" Id="Rf9220c4216a44759" /><Relationship Type="http://schemas.openxmlformats.org/officeDocument/2006/relationships/slide" Target="/ppt/slides/slide29.xml" Id="R6a272eecaf8b4c90" /><Relationship Type="http://schemas.openxmlformats.org/officeDocument/2006/relationships/slide" Target="/ppt/slides/slide30.xml" Id="R1fe50b059871453a" /><Relationship Type="http://schemas.openxmlformats.org/officeDocument/2006/relationships/slide" Target="/ppt/slides/slide31.xml" Id="R89c792fda63c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84783d8405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3ba3037b504263" /><Relationship Type="http://schemas.openxmlformats.org/officeDocument/2006/relationships/notesMaster" Target="/ppt/notesMasters/notesMaster1.xml" Id="Readf2fc5af55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cc544853b54896" /><Relationship Type="http://schemas.openxmlformats.org/officeDocument/2006/relationships/notesMaster" Target="/ppt/notesMasters/notesMaster1.xml" Id="R5290ab1da55f42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fd016a49fd4933" /><Relationship Type="http://schemas.openxmlformats.org/officeDocument/2006/relationships/notesMaster" Target="/ppt/notesMasters/notesMaster1.xml" Id="Rb1479bfd0b1a4e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7e9eb6fb554193" /><Relationship Type="http://schemas.openxmlformats.org/officeDocument/2006/relationships/notesMaster" Target="/ppt/notesMasters/notesMaster1.xml" Id="R22e69638a3e84f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d8f680d78c495f" /><Relationship Type="http://schemas.openxmlformats.org/officeDocument/2006/relationships/notesMaster" Target="/ppt/notesMasters/notesMaster1.xml" Id="R30d1db142a41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cb4713ade04cc5" /><Relationship Type="http://schemas.openxmlformats.org/officeDocument/2006/relationships/notesMaster" Target="/ppt/notesMasters/notesMaster1.xml" Id="R6555015cd53843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5f31709dc34aad" /><Relationship Type="http://schemas.openxmlformats.org/officeDocument/2006/relationships/notesMaster" Target="/ppt/notesMasters/notesMaster1.xml" Id="R25144bf6af1c46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d668d9270f4d0b" /><Relationship Type="http://schemas.openxmlformats.org/officeDocument/2006/relationships/notesMaster" Target="/ppt/notesMasters/notesMaster1.xml" Id="Rb7b487b949594f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87edfe60204a77" /><Relationship Type="http://schemas.openxmlformats.org/officeDocument/2006/relationships/notesMaster" Target="/ppt/notesMasters/notesMaster1.xml" Id="Re7e976d18b374e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107fd5c1c34a0e" /><Relationship Type="http://schemas.openxmlformats.org/officeDocument/2006/relationships/notesMaster" Target="/ppt/notesMasters/notesMaster1.xml" Id="R19c51755a2d847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072792b3654003" /><Relationship Type="http://schemas.openxmlformats.org/officeDocument/2006/relationships/notesMaster" Target="/ppt/notesMasters/notesMaster1.xml" Id="Rb90fc6c2a5d24a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2791e1853f4b85" /><Relationship Type="http://schemas.openxmlformats.org/officeDocument/2006/relationships/notesMaster" Target="/ppt/notesMasters/notesMaster1.xml" Id="R51d9bb6636a24c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589b6c5aae4a2d" /><Relationship Type="http://schemas.openxmlformats.org/officeDocument/2006/relationships/notesMaster" Target="/ppt/notesMasters/notesMaster1.xml" Id="R65fca386dd0446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bccf494bd14cbe" /><Relationship Type="http://schemas.openxmlformats.org/officeDocument/2006/relationships/notesMaster" Target="/ppt/notesMasters/notesMaster1.xml" Id="Rdef1e31f1d384d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791cb4d6624ccc" /><Relationship Type="http://schemas.openxmlformats.org/officeDocument/2006/relationships/notesMaster" Target="/ppt/notesMasters/notesMaster1.xml" Id="R492b9f39ab8b4d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661eea723f413b" /><Relationship Type="http://schemas.openxmlformats.org/officeDocument/2006/relationships/notesMaster" Target="/ppt/notesMasters/notesMaster1.xml" Id="Re5f65b4f0f264f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01b84c179314f70" /><Relationship Type="http://schemas.openxmlformats.org/officeDocument/2006/relationships/notesMaster" Target="/ppt/notesMasters/notesMaster1.xml" Id="Rb0773e5a1d0140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3241c33dd44b44" /><Relationship Type="http://schemas.openxmlformats.org/officeDocument/2006/relationships/notesMaster" Target="/ppt/notesMasters/notesMaster1.xml" Id="Rb30f8a950c7b450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007b51dfa34a3a" /><Relationship Type="http://schemas.openxmlformats.org/officeDocument/2006/relationships/notesMaster" Target="/ppt/notesMasters/notesMaster1.xml" Id="Ra3e0dec0437041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6834f3b7a04056" /><Relationship Type="http://schemas.openxmlformats.org/officeDocument/2006/relationships/notesMaster" Target="/ppt/notesMasters/notesMaster1.xml" Id="R4721991bc0584d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f97f8987984c3e" /><Relationship Type="http://schemas.openxmlformats.org/officeDocument/2006/relationships/notesMaster" Target="/ppt/notesMasters/notesMaster1.xml" Id="Rcf6989535c2f40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8799a78a2e4a10" /><Relationship Type="http://schemas.openxmlformats.org/officeDocument/2006/relationships/notesMaster" Target="/ppt/notesMasters/notesMaster1.xml" Id="Rd5582a6787334cf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79f4c47c37446b" /><Relationship Type="http://schemas.openxmlformats.org/officeDocument/2006/relationships/notesMaster" Target="/ppt/notesMasters/notesMaster1.xml" Id="Rce34d6a7447849f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e2cf8aff1b4109" /><Relationship Type="http://schemas.openxmlformats.org/officeDocument/2006/relationships/notesMaster" Target="/ppt/notesMasters/notesMaster1.xml" Id="Rfdfef5e9e71045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1dbb802741a417f" /><Relationship Type="http://schemas.openxmlformats.org/officeDocument/2006/relationships/notesMaster" Target="/ppt/notesMasters/notesMaster1.xml" Id="R843940120a40425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5dafc412e74fb2" /><Relationship Type="http://schemas.openxmlformats.org/officeDocument/2006/relationships/notesMaster" Target="/ppt/notesMasters/notesMaster1.xml" Id="R766ed7960c93438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a55684a22b146f3" /><Relationship Type="http://schemas.openxmlformats.org/officeDocument/2006/relationships/notesMaster" Target="/ppt/notesMasters/notesMaster1.xml" Id="R48d27d39265047b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14bd547e57b4781" /><Relationship Type="http://schemas.openxmlformats.org/officeDocument/2006/relationships/notesMaster" Target="/ppt/notesMasters/notesMaster1.xml" Id="Rbe776e890739477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40e09d006f449b" /><Relationship Type="http://schemas.openxmlformats.org/officeDocument/2006/relationships/notesMaster" Target="/ppt/notesMasters/notesMaster1.xml" Id="R90b5bacefdc944a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16ee3fc00e74b87" /><Relationship Type="http://schemas.openxmlformats.org/officeDocument/2006/relationships/notesMaster" Target="/ppt/notesMasters/notesMaster1.xml" Id="R6dc071333e6044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ffa3422a66c4ac4" /><Relationship Type="http://schemas.openxmlformats.org/officeDocument/2006/relationships/notesMaster" Target="/ppt/notesMasters/notesMaster1.xml" Id="Rd7608ef1dc934a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0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0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0.5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2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3 minutes.</a:t>
            </a:r>
          </a:p>
          <a:p xmlns:a="http://schemas.openxmlformats.org/drawingml/2006/main">
            <a:r>
              <a:t>Packet page 1. Collect an individual setup before discussion.</a:t>
            </a:r>
          </a:p>
          <a:p xmlns:a="http://schemas.openxmlformats.org/drawingml/2006/main">
            <a:r>
              <a:t>Practice feedback:</a:t>
            </a:r>
          </a:p>
          <a:p xmlns:a="http://schemas.openxmlformats.org/drawingml/2006/main">
            <a:r>
              <a:t>Arc AC is 2(66°)=132°.</a:t>
            </a:r>
          </a:p>
          <a:p xmlns:a="http://schemas.openxmlformats.org/drawingml/2006/main">
            <a:r>
              <a:t>Arc BC is 360°-78°-132°=150°.</a:t>
            </a:r>
          </a:p>
          <a:p xmlns:a="http://schemas.openxmlformats.org/drawingml/2006/main">
            <a:r>
              <a:t>Angle BAC is 150°/2=75°.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 minutes.</a:t>
            </a:r>
          </a:p>
          <a:p xmlns:a="http://schemas.openxmlformats.org/drawingml/2006/main">
            <a:r>
              <a:t>Annotate the same figure; do not introduce intersecting-chord arithmetic today.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0.5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0.5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2 minutes.</a:t>
            </a:r>
          </a:p>
          <a:p xmlns:a="http://schemas.openxmlformats.org/drawingml/2006/main">
            <a:r>
              <a:t>Keep all calculator digits until seconds. If rounding produces 60 seconds, carry one minute.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1.5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3 minutes.</a:t>
            </a:r>
          </a:p>
          <a:p xmlns:a="http://schemas.openxmlformats.org/drawingml/2006/main">
            <a:r>
              <a:t>Packet page 2. If time is short, students finish the second conversion immediately after class.</a:t>
            </a:r>
          </a:p>
          <a:p xmlns:a="http://schemas.openxmlformats.org/drawingml/2006/main">
            <a:r>
              <a:t>Practice feedback:</a:t>
            </a:r>
          </a:p>
          <a:p xmlns:a="http://schemas.openxmlformats.org/drawingml/2006/main">
            <a:r>
              <a:t>0.417862(60)=25.07172; 0.07172(60)=4.3032: 58°25′04″.</a:t>
            </a:r>
          </a:p>
          <a:p xmlns:a="http://schemas.openxmlformats.org/drawingml/2006/main">
            <a:r>
              <a:t>112+36/60+18.5/3600=112.6051388…: 112.6051°.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0.5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0.5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2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2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3 minutes.</a:t>
            </a:r>
          </a:p>
          <a:p xmlns:a="http://schemas.openxmlformats.org/drawingml/2006/main">
            <a:r>
              <a:t>Packet page 3. Model the first setup on the board; leave the second unrevealed for an individual attempt.</a:t>
            </a:r>
          </a:p>
          <a:p xmlns:a="http://schemas.openxmlformats.org/drawingml/2006/main">
            <a:r>
              <a:t>Practice feedback:</a:t>
            </a:r>
          </a:p>
          <a:p xmlns:a="http://schemas.openxmlformats.org/drawingml/2006/main">
            <a:r>
              <a:t>r=24/(80π/180)=54/π≈17.19 units.</a:t>
            </a:r>
          </a:p>
          <a:p xmlns:a="http://schemas.openxmlformats.org/drawingml/2006/main">
            <a:r>
              <a:t>r=21/(105π/180)=36/π≈11.46 units.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2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3 minutes.</a:t>
            </a:r>
          </a:p>
          <a:p xmlns:a="http://schemas.openxmlformats.org/drawingml/2006/main">
            <a:r>
              <a:t>This is a retrieval attempt on the same numbers, not a second new example. Use the packet space to check algebra and units.</a:t>
            </a:r>
          </a:p>
          <a:p xmlns:a="http://schemas.openxmlformats.org/drawingml/2006/main">
            <a:r>
              <a:t>Practice feedback:</a:t>
            </a:r>
          </a:p>
          <a:p xmlns:a="http://schemas.openxmlformats.org/drawingml/2006/main">
            <a:r>
              <a:t>35.4=½(4²)θ, so θ = 4.425 rad ≈ 253.53°.</a:t>
            </a:r>
          </a:p>
          <a:p xmlns:a="http://schemas.openxmlformats.org/drawingml/2006/main">
            <a:r>
              <a:t>A sector can cover more than half a circle while remaining below a full 360° turn.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3 minutes.</a:t>
            </a:r>
          </a:p>
          <a:p xmlns:a="http://schemas.openxmlformats.org/drawingml/2006/main">
            <a:r>
              <a:t>The final comparison corrects the legacy sprinkler example. Show the fraction-of-circle check: (150/360)π(20²). If behind, make this a quick oral check.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0.5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1.5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3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4 minutes.</a:t>
            </a:r>
          </a:p>
          <a:p xmlns:a="http://schemas.openxmlformats.org/drawingml/2006/main">
            <a:r>
              <a:t>Packet page 4. Protect an individual attempt even if earlier discussion runs long.</a:t>
            </a:r>
          </a:p>
          <a:p xmlns:a="http://schemas.openxmlformats.org/drawingml/2006/main">
            <a:r>
              <a:t>Practice feedback:</a:t>
            </a:r>
          </a:p>
          <a:p xmlns:a="http://schemas.openxmlformats.org/drawingml/2006/main">
            <a:r>
              <a:t>r=4 ft. Angular speed = 30(360)/60=180°/s.</a:t>
            </a:r>
          </a:p>
          <a:p xmlns:a="http://schemas.openxmlformats.org/drawingml/2006/main">
            <a:r>
              <a:t>ω=30(2π)/60=π rad/s.</a:t>
            </a:r>
          </a:p>
          <a:p xmlns:a="http://schemas.openxmlformats.org/drawingml/2006/main">
            <a:r>
              <a:t>v=4π≈12.57 ft/s.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2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1 minutes.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Planned time: 3 minutes.</a:t>
            </a:r>
          </a:p>
          <a:p xmlns:a="http://schemas.openxmlformats.org/drawingml/2006/main">
            <a:r>
              <a:t>Collect setups and exact answers. If either setup is missing, assign one targeted practice set before Wednesday.</a:t>
            </a:r>
          </a:p>
          <a:p xmlns:a="http://schemas.openxmlformats.org/drawingml/2006/main">
            <a:r>
              <a:t>Practice feedback:</a:t>
            </a:r>
          </a:p>
          <a:p xmlns:a="http://schemas.openxmlformats.org/drawingml/2006/main">
            <a:r>
              <a:t>r=8π/(2π/3)=12 ft.</a:t>
            </a:r>
          </a:p>
          <a:p xmlns:a="http://schemas.openxmlformats.org/drawingml/2006/main">
            <a:r>
              <a:t>r=3 ft; angular speed = 120°/s; v=2π ft/s.</a:t>
            </a:r>
          </a:p>
          <a:p xmlns:a="http://schemas.openxmlformats.org/drawingml/2006/main">
            <a:r>
              <a:t>Source: authored October 19 readiness session in slides/lectures/Math130Unit2D.json.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4596117f245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70d5f83f14d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3fc879a3b44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a55a7664c40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01040c69f4c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ef3e1f8ff4f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06F23B-1F4A-4AA0-A672-33F5C5347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17B783-0DAD-4B38-8601-0B1F3E2725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396A12-9C6B-4F11-9626-9952CFDD3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F16173-0EF6-465B-95EA-FF9320265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F4CE35-6B33-408A-8717-F036A77757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D90DEA-0B66-4060-ACA9-585098FF7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D9B7A8-8F18-4657-91BA-0DCE20FDD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0E5BA2-95CA-4E26-A3AF-95912795D9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3A863C-31E8-4F93-8A44-B0DA6C562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866101-8CC3-4ECA-A057-B8D46E6E93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d63afd771649e8" /><Relationship Type="http://schemas.openxmlformats.org/officeDocument/2006/relationships/slideLayout" Target="/ppt/slideLayouts/slideLayout1.xml" Id="R59e211e772a44394" /><Relationship Type="http://schemas.openxmlformats.org/officeDocument/2006/relationships/slideLayout" Target="/ppt/slideLayouts/slideLayout2.xml" Id="Re1c13ae3de9346ac" /><Relationship Type="http://schemas.openxmlformats.org/officeDocument/2006/relationships/slideLayout" Target="/ppt/slideLayouts/slideLayout3.xml" Id="R547f338fcbcb4800" /><Relationship Type="http://schemas.openxmlformats.org/officeDocument/2006/relationships/slideLayout" Target="/ppt/slideLayouts/slideLayout4.xml" Id="R282b3627fa624729" /><Relationship Type="http://schemas.openxmlformats.org/officeDocument/2006/relationships/slideLayout" Target="/ppt/slideLayouts/slideLayout5.xml" Id="R76494df9496d411d" /><Relationship Type="http://schemas.openxmlformats.org/officeDocument/2006/relationships/slideLayout" Target="/ppt/slideLayouts/slideLayout6.xml" Id="R19d36887876d4c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211e772a44394"/>
    <p:sldLayoutId xmlns:r="http://schemas.openxmlformats.org/officeDocument/2006/relationships" id="2147483650" r:id="Re1c13ae3de9346ac"/>
    <p:sldLayoutId xmlns:r="http://schemas.openxmlformats.org/officeDocument/2006/relationships" id="2147483651" r:id="R547f338fcbcb4800"/>
    <p:sldLayoutId xmlns:r="http://schemas.openxmlformats.org/officeDocument/2006/relationships" id="2147483652" r:id="R282b3627fa624729"/>
    <p:sldLayoutId xmlns:r="http://schemas.openxmlformats.org/officeDocument/2006/relationships" id="2147483653" r:id="R76494df9496d411d"/>
    <p:sldLayoutId xmlns:r="http://schemas.openxmlformats.org/officeDocument/2006/relationships" id="2147483654" r:id="R19d36887876d4c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66ccd7d754d93" /><Relationship Type="http://schemas.openxmlformats.org/officeDocument/2006/relationships/notesSlide" Target="/ppt/notesSlides/notesSlide1.xml" Id="R38c01c40f81d4b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77206130149fc" /><Relationship Type="http://schemas.openxmlformats.org/officeDocument/2006/relationships/notesSlide" Target="/ppt/notesSlides/notesSlide2.xml" Id="Re56f294238d74b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a202dfb554e54" /><Relationship Type="http://schemas.openxmlformats.org/officeDocument/2006/relationships/notesSlide" Target="/ppt/notesSlides/notesSlide3.xml" Id="R9f9394bf7cc349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851417c304371" /><Relationship Type="http://schemas.openxmlformats.org/officeDocument/2006/relationships/notesSlide" Target="/ppt/notesSlides/notesSlide4.xml" Id="R6dd639fc07ba47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f4e63318e44eb" /><Relationship Type="http://schemas.openxmlformats.org/officeDocument/2006/relationships/notesSlide" Target="/ppt/notesSlides/notesSlide5.xml" Id="Rf5ddaf813ae642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dca02a93e4978" /><Relationship Type="http://schemas.openxmlformats.org/officeDocument/2006/relationships/notesSlide" Target="/ppt/notesSlides/notesSlide6.xml" Id="R518b6a1c4105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bd4f1ef074ffc" /><Relationship Type="http://schemas.openxmlformats.org/officeDocument/2006/relationships/notesSlide" Target="/ppt/notesSlides/notesSlide7.xml" Id="Rf0302e0a00184b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81ac4d20b4dbf" /><Relationship Type="http://schemas.openxmlformats.org/officeDocument/2006/relationships/notesSlide" Target="/ppt/notesSlides/notesSlide8.xml" Id="R1e50b0859a9646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493671b934def" /><Relationship Type="http://schemas.openxmlformats.org/officeDocument/2006/relationships/notesSlide" Target="/ppt/notesSlides/notesSlide9.xml" Id="R35eba20459bd4f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65fc95bde4bb4" /><Relationship Type="http://schemas.openxmlformats.org/officeDocument/2006/relationships/notesSlide" Target="/ppt/notesSlides/notesSlide10.xml" Id="Raffb501418dd40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12994b0e2841c3" /><Relationship Type="http://schemas.openxmlformats.org/officeDocument/2006/relationships/notesSlide" Target="/ppt/notesSlides/notesSlide11.xml" Id="R1dabda0142d242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ffb7299dc42fd" /><Relationship Type="http://schemas.openxmlformats.org/officeDocument/2006/relationships/notesSlide" Target="/ppt/notesSlides/notesSlide12.xml" Id="Rc5e7f4dd7db24b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0e2a6430d84c32" /><Relationship Type="http://schemas.openxmlformats.org/officeDocument/2006/relationships/notesSlide" Target="/ppt/notesSlides/notesSlide13.xml" Id="Rd57f00f28f7c41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99593b0be408a" /><Relationship Type="http://schemas.openxmlformats.org/officeDocument/2006/relationships/notesSlide" Target="/ppt/notesSlides/notesSlide14.xml" Id="R672e3a69b2d440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99b813459d4cef" /><Relationship Type="http://schemas.openxmlformats.org/officeDocument/2006/relationships/notesSlide" Target="/ppt/notesSlides/notesSlide15.xml" Id="R983c06b866d041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008267b0b4a91" /><Relationship Type="http://schemas.openxmlformats.org/officeDocument/2006/relationships/notesSlide" Target="/ppt/notesSlides/notesSlide16.xml" Id="R72d95fcbe7b246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a41d23689d4ce3" /><Relationship Type="http://schemas.openxmlformats.org/officeDocument/2006/relationships/notesSlide" Target="/ppt/notesSlides/notesSlide17.xml" Id="R4fa9d60a595743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0270395804a58" /><Relationship Type="http://schemas.openxmlformats.org/officeDocument/2006/relationships/notesSlide" Target="/ppt/notesSlides/notesSlide18.xml" Id="R78f3fcbc327949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e1a1886a746f4" /><Relationship Type="http://schemas.openxmlformats.org/officeDocument/2006/relationships/notesSlide" Target="/ppt/notesSlides/notesSlide19.xml" Id="R43b033b008694d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ed8ca70ec497c" /><Relationship Type="http://schemas.openxmlformats.org/officeDocument/2006/relationships/notesSlide" Target="/ppt/notesSlides/notesSlide20.xml" Id="Rc7bf21acad71498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32aa138f74356" /><Relationship Type="http://schemas.openxmlformats.org/officeDocument/2006/relationships/notesSlide" Target="/ppt/notesSlides/notesSlide21.xml" Id="R09d4df9f777447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7701bd74044b2" /><Relationship Type="http://schemas.openxmlformats.org/officeDocument/2006/relationships/notesSlide" Target="/ppt/notesSlides/notesSlide22.xml" Id="Rf30fa7502e644e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52faa3aad4c6f" /><Relationship Type="http://schemas.openxmlformats.org/officeDocument/2006/relationships/notesSlide" Target="/ppt/notesSlides/notesSlide23.xml" Id="Rb0a71d01d24c43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aa354d5ca4269" /><Relationship Type="http://schemas.openxmlformats.org/officeDocument/2006/relationships/notesSlide" Target="/ppt/notesSlides/notesSlide24.xml" Id="R78931ea69d3c454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ffbe05095f41c1" /><Relationship Type="http://schemas.openxmlformats.org/officeDocument/2006/relationships/notesSlide" Target="/ppt/notesSlides/notesSlide25.xml" Id="R4209374babf14f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a8e7208394b06" /><Relationship Type="http://schemas.openxmlformats.org/officeDocument/2006/relationships/notesSlide" Target="/ppt/notesSlides/notesSlide26.xml" Id="Rdadfb05ab77141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f835a899341f4" /><Relationship Type="http://schemas.openxmlformats.org/officeDocument/2006/relationships/notesSlide" Target="/ppt/notesSlides/notesSlide27.xml" Id="Rb4ff27a8d4cb424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56a8b155046e4" /><Relationship Type="http://schemas.openxmlformats.org/officeDocument/2006/relationships/notesSlide" Target="/ppt/notesSlides/notesSlide28.xml" Id="R9f792db8315b470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093deae444509" /><Relationship Type="http://schemas.openxmlformats.org/officeDocument/2006/relationships/notesSlide" Target="/ppt/notesSlides/notesSlide29.xml" Id="R8060336f9d85400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832db4dba4e69" /><Relationship Type="http://schemas.openxmlformats.org/officeDocument/2006/relationships/notesSlide" Target="/ppt/notesSlides/notesSlide30.xml" Id="R3f3f2545bea24c5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f0f5727b548ea" /><Relationship Type="http://schemas.openxmlformats.org/officeDocument/2006/relationships/notesSlide" Target="/ppt/notesSlides/notesSlide31.xml" Id="R41728a6ebcab45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7F97B-BFE2-4C8B-B8FA-1A856DA1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7E1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E1ED"/>
                </a:solidFill>
                <a:latin typeface="Arial"/>
                <a:ea typeface="Arial"/>
                <a:cs typeface="Arial"/>
              </a:rPr>
              <a:t>MATH 130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5D3F3-26C7-41F8-B5A6-1A7FC881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Circles: Quiz 8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3ABF5-067D-4CE9-BBB2-BCDA28A1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Monday, October 19, 2026 · Angles, conversions, arcs, sectors, and speed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BD79E-0842-4D9A-ADFF-00C2A821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CF8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D3C5A-7C57-49A9-BC95-61E6C56A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8EC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CF8"/>
                </a:solidFill>
                <a:latin typeface="Arial"/>
                <a:ea typeface="Arial"/>
                <a:cs typeface="Arial"/>
              </a:rPr>
              <a:t>1 / 31</a:t>
            </a:r>
          </a:p>
        </p:txBody>
      </p:sp>
    </p:spTree>
    <p:extLst>
      <p:ext uri="{BB962C8B-B14F-4D97-AF65-F5344CB8AC3E}">
        <p14:creationId xmlns:p14="http://schemas.microsoft.com/office/powerpoint/2010/main" val="1655091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74E3C-5B8B-42E5-8501-3288E7ED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Today’s practice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D7E5B-EFB9-4384-BCF3-13935C4F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Read the circle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B0F6C-E638-4E07-B1EF-103AA4E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Convert the angle and keep precision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46953-1F12-4A17-A05B-3465876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Find the unknown in an arc or sector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ABEA1-A82B-4575-AB49-1D6FE346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Convert rpm and use the radius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826E7-AFE3-4533-B6B6-F24E8ADB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9ACEC-1386-445E-B990-C250E1ED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 / 31</a:t>
            </a:r>
          </a:p>
        </p:txBody>
      </p:sp>
    </p:spTree>
    <p:extLst>
      <p:ext uri="{BB962C8B-B14F-4D97-AF65-F5344CB8AC3E}">
        <p14:creationId xmlns:p14="http://schemas.microsoft.com/office/powerpoint/2010/main" val="1956649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0419C-5769-4EC7-8BE3-D696A7B9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Where is the vertex?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B728F-0DF1-4932-940A-8AF74FBB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Locate O and B. Which angle is central and which is inscribed?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CE9F6-2910-40C4-913F-4970790B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D460A-3C4D-482D-85F7-8357A67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0102396" y="239006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05762-E44D-4952-A7AB-D1DD8889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0448851" y="485522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41A67-5008-4BED-9489-8551ECC9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210550" y="3714750"/>
                </a:moveTo>
                <a:lnTo>
                  <a:pt x="10102396" y="239006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9807F-C952-4326-A3B3-E90AF6BA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210550" y="3714750"/>
                </a:moveTo>
                <a:lnTo>
                  <a:pt x="10448851" y="485522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87850-074E-4450-9F1A-3624543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796" y="210431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2CD89-9BAF-4B74-ABBA-70AD7124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351" y="4836171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AA107-9719-4A53-93A7-E35DB850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E9345-4B14-43C6-AF4F-5E0B0FD8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719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7A2A4-4175-447D-838F-A8DCC23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480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124°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86ED9-95C9-4151-B284-7CB7AFF5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E95E9-9181-4201-B34E-DBB0F0D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3 / 31</a:t>
            </a:r>
          </a:p>
        </p:txBody>
      </p:sp>
    </p:spTree>
    <p:extLst>
      <p:ext uri="{BB962C8B-B14F-4D97-AF65-F5344CB8AC3E}">
        <p14:creationId xmlns:p14="http://schemas.microsoft.com/office/powerpoint/2010/main" val="1948582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9152E-E882-4FE8-BA2D-2F2FB1EB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Angles and intercepted arcs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33710-BC92-4C8A-8604-5203919F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 central angle equals the measure of its intercepted arc.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006FB-2E32-487D-967B-B9EDCC9C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368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An inscribed angle is half its intercepted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08727-2CF5-48BA-B892-34D36200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476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All arcs around a circle total 360°.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8CE3D-62A4-47BE-A8CC-A1339A79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84F36-1D6F-4FE6-BBDF-756A0FB8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0102396" y="239006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E6AFF-B839-4ADF-ACF1-DDEAE955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0448851" y="485522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7411B-D9F0-4138-AF1B-B59F8EF5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210550" y="3714750"/>
                </a:moveTo>
                <a:lnTo>
                  <a:pt x="10102396" y="239006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45167-B377-4E99-A48A-B8E8B0F9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210550" y="3714750"/>
                </a:moveTo>
                <a:lnTo>
                  <a:pt x="10448851" y="485522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FA934-F2C4-476F-9AA8-E509001C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796" y="210431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E1795-683D-48BA-9C07-71F1173D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351" y="4836171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D8F44-270D-4833-8213-014AB307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0191F-7912-4856-963A-BD29CF1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719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64EB1-18CB-4905-B1C2-B36901D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480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124°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CD682-EC94-452E-B373-45F89830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A26F6-ED6A-44E7-A286-522002CC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4 / 31</a:t>
            </a:r>
          </a:p>
        </p:txBody>
      </p:sp>
    </p:spTree>
    <p:extLst>
      <p:ext uri="{BB962C8B-B14F-4D97-AF65-F5344CB8AC3E}">
        <p14:creationId xmlns:p14="http://schemas.microsoft.com/office/powerpoint/2010/main" val="482619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1EA9E-18BB-4FE7-927A-C79F59D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Central and inscribed angles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09ADE-22CE-4D92-A9CA-1D56858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EA8"/>
                </a:solidFill>
                <a:latin typeface="Arial"/>
                <a:ea typeface="Arial"/>
                <a:cs typeface="Arial"/>
              </a:rPr>
              <a:t>Find angle ABD and minor arc 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0842B-51DE-41DC-ADA1-63CD879A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The central angle AOD is 124°, so minor arc AD is 124°.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26A47-A1B9-4BFE-861E-9C79C9BB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043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Angle ABD intercepts that same arc: 124°/2=62°.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5B8CB-2657-4A96-B24D-48EAC4F3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6151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The vertex location determines the rule.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32CE2-A0E8-403B-85AC-628CF059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D8E99-58FE-4AEE-91B4-28CE74F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0102396" y="239006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14726-BF66-4AA2-8F05-EFD13AFD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0448851" y="485522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62F72-8970-4B17-8C64-2E482832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210550" y="3714750"/>
                </a:moveTo>
                <a:lnTo>
                  <a:pt x="10102396" y="239006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A19E0-5B7D-4C0A-8CB0-B9ABCEF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210550" y="3714750"/>
                </a:moveTo>
                <a:lnTo>
                  <a:pt x="10448851" y="485522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F7901-D65C-4ED1-A98A-0C7B325F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796" y="210431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B85E0-040D-497E-95D3-403E2B78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351" y="4836171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185AC-C62B-4F0A-B3D9-7E4C6D4E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BF333-E040-4BFA-86F0-1CF0DBE2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719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859F1-F9D0-483F-B9E0-236C8922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480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124°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775AF-08A1-4B50-8576-A00A7E58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6B191-309D-4C47-B375-C52036A1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5 / 31</a:t>
            </a:r>
          </a:p>
        </p:txBody>
      </p:sp>
    </p:spTree>
    <p:extLst>
      <p:ext uri="{BB962C8B-B14F-4D97-AF65-F5344CB8AC3E}">
        <p14:creationId xmlns:p14="http://schemas.microsoft.com/office/powerpoint/2010/main" val="1894288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8766A-C01B-42C4-A755-DF20B1A9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Triangle and arc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88EFB-6DD2-4A63-80C9-86022C9A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Find angle BAC and minor arc BC.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11EA4-D61F-4DFF-8C44-58C9DE47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Show the intermediate arc or triangle-angle calculation.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B27EF-4705-4741-B11B-5AFC1D30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2938D-8032-4DD4-9B42-47DB6739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279546" y="4150371"/>
                </a:moveTo>
                <a:lnTo>
                  <a:pt x="9767604" y="5116728"/>
                </a:lnTo>
                <a:lnTo>
                  <a:pt x="10193627" y="2426925"/>
                </a:lnTo>
                <a:lnTo>
                  <a:pt x="8279546" y="415037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EB2B8-AB45-45E4-A201-92CAAC02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396" y="4017021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368CF-6F87-4546-8F5A-0C7C22F4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004" y="5192928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BC531-F0AD-491F-B1CF-05D05F49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127" y="214117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26F06-D092-43B3-8593-BE92BC63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339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78°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8DE4F-AF0A-4DA3-9BC3-1FADCDFA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767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66°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3AE1B-28D6-48D3-8EC5-DCCB2E0C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FC0BD-2A37-40DC-A42D-EA84F5F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6 / 31</a:t>
            </a:r>
          </a:p>
        </p:txBody>
      </p:sp>
    </p:spTree>
    <p:extLst>
      <p:ext uri="{BB962C8B-B14F-4D97-AF65-F5344CB8AC3E}">
        <p14:creationId xmlns:p14="http://schemas.microsoft.com/office/powerpoint/2010/main" val="1328322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8E579-CC2B-4C78-B8D4-37AFDC5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Two routes to the same angle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B269C-A990-4793-AE36-5118B6B3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Arc route: double the inscribed angle, subtract known arcs from 360°, then halve the remaining arc.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81E9B-85AB-4223-BEEF-B9124D4E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368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Triangle route: angle ACB is 39°, so angle BAC is 180° − 66° − 39° = 75°.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377F3-3DFC-41A7-BB95-CAA556F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69A8C-587A-45AF-B2B9-8A90A262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7 / 31</a:t>
            </a:r>
          </a:p>
        </p:txBody>
      </p:sp>
    </p:spTree>
    <p:extLst>
      <p:ext uri="{BB962C8B-B14F-4D97-AF65-F5344CB8AC3E}">
        <p14:creationId xmlns:p14="http://schemas.microsoft.com/office/powerpoint/2010/main" val="20849230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1066E-E45E-4EBE-AA21-10DAEC4A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Circle-angle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A442A-796B-4778-A371-DAE1AD2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Name the vertex and intercepted arc before calculating.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A4514-40A0-4154-B394-874CFA36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Central angle = arc. Inscribed angle = half the arc.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8AE6F-FFC2-4D9A-9A16-40A7DD4F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23DC7-3D72-4514-9D4F-98E69A6A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8 / 31</a:t>
            </a:r>
          </a:p>
        </p:txBody>
      </p:sp>
    </p:spTree>
    <p:extLst>
      <p:ext uri="{BB962C8B-B14F-4D97-AF65-F5344CB8AC3E}">
        <p14:creationId xmlns:p14="http://schemas.microsoft.com/office/powerpoint/2010/main" val="275983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43030-BC1E-4705-989C-BD8B049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Which conversion is needed?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5EBFC-4571-48D9-B24C-75C88E42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What changes when an angle is written as DMS, decimal degrees, or radians?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C49BD-2ED3-4C96-B7C6-103C6D8A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Which form is required in s=rθ?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9FB0D-B9C1-4166-9191-185C3089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8EB3E-A0C8-4B1B-A8A4-4BFEB062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9 / 31</a:t>
            </a:r>
          </a:p>
        </p:txBody>
      </p:sp>
    </p:spTree>
    <p:extLst>
      <p:ext uri="{BB962C8B-B14F-4D97-AF65-F5344CB8AC3E}">
        <p14:creationId xmlns:p14="http://schemas.microsoft.com/office/powerpoint/2010/main" val="8687164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FDB88-BEDD-4CCC-866D-8221A268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Angle conversion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92B64-6B50-4FD2-9907-663437EE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1°=60′ and 1′=60′′.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7B1A6-387F-43FF-90A8-77DBFE8A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6782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DMS to decimal: D+M/60+S/3600.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CD05A-E890-43C7-95BA-7496FB73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0964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Degrees to radians: multiply by π/180.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DF091-DA26-4CFF-8F98-F0DEA121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5146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Radians to degrees: multiply by 180/π.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2690F-92F9-4631-9A96-0D679E1D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F4749-00DC-4961-8FD2-FE297FA9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10 / 31</a:t>
            </a:r>
          </a:p>
        </p:txBody>
      </p:sp>
    </p:spTree>
    <p:extLst>
      <p:ext uri="{BB962C8B-B14F-4D97-AF65-F5344CB8AC3E}">
        <p14:creationId xmlns:p14="http://schemas.microsoft.com/office/powerpoint/2010/main" val="1104000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AA3E8-DA81-4EF8-A8E5-12FEB6B1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Decimal degrees to DMS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BD27B-DFBA-4438-A7AB-53C2E6F0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EA8"/>
                </a:solidFill>
                <a:latin typeface="Arial"/>
                <a:ea typeface="Arial"/>
                <a:cs typeface="Arial"/>
              </a:rPr>
              <a:t>Convert 38.726145° to DMS, to the nearest second.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5A19D-D867-4DFC-9C49-BE5AA70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Degrees: 38°. Multiply the decimal part by 60: 0.726145(60)=43.5687.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E56FC-66C4-485E-A29D-587A28CC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Minutes: 43′. Multiply the remaining decimal by 60: 0.5687(60)=34.122.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7111D-B70D-4B48-A038-DADE70A3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Round once, at the end: 38°43′34″.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D2A5F-D6F3-426D-82FE-B101B122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1ABE9-9E90-438A-AE1C-0A4FC460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11 / 31</a:t>
            </a:r>
          </a:p>
        </p:txBody>
      </p:sp>
    </p:spTree>
    <p:extLst>
      <p:ext uri="{BB962C8B-B14F-4D97-AF65-F5344CB8AC3E}">
        <p14:creationId xmlns:p14="http://schemas.microsoft.com/office/powerpoint/2010/main" val="234123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21948-AEF9-440A-A292-A2E413D1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DMS to decimal degrees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13A95-9BFA-4F89-B34D-78ACEB11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EA8"/>
                </a:solidFill>
                <a:latin typeface="Arial"/>
                <a:ea typeface="Arial"/>
                <a:cs typeface="Arial"/>
              </a:rPr>
              <a:t>Convert 101°18′24.7″ to decimal degrees, to four decimal places.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B3D85-6461-45CA-A2E6-F7EB111A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101+18/60+24.7/3600=101.3068611…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C5E68-A8F2-4883-9B35-7B0D6CA3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Rounded to four decimal places: 101.3069°.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9BD5F-2C36-4A32-8268-5F3E0311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984BC-708C-4163-8C0F-B10B9EF4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12 / 31</a:t>
            </a:r>
          </a:p>
        </p:txBody>
      </p:sp>
    </p:spTree>
    <p:extLst>
      <p:ext uri="{BB962C8B-B14F-4D97-AF65-F5344CB8AC3E}">
        <p14:creationId xmlns:p14="http://schemas.microsoft.com/office/powerpoint/2010/main" val="20898444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36E7C-F5FC-453F-8D63-BC95EAED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Decimal degrees to radians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2620D-598A-4AC5-8CB8-2B41739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EA8"/>
                </a:solidFill>
                <a:latin typeface="Arial"/>
                <a:ea typeface="Arial"/>
                <a:cs typeface="Arial"/>
              </a:rPr>
              <a:t>Convert 137.6° to radians, to three decimal places.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4C47F-680B-4844-9604-D102628B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137.6(π/180)=2.401572…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BC859-8AC4-44ED-87C6-F4BBA321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Keep π in the calculator expression. Round the final answer: 2.402 rad.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1E5D5-C79B-4C89-960A-D2FB157F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85406-EBC1-4F82-986A-441A4AC2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13 / 31</a:t>
            </a:r>
          </a:p>
        </p:txBody>
      </p:sp>
    </p:spTree>
    <p:extLst>
      <p:ext uri="{BB962C8B-B14F-4D97-AF65-F5344CB8AC3E}">
        <p14:creationId xmlns:p14="http://schemas.microsoft.com/office/powerpoint/2010/main" val="13723469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17FEE-1261-46D3-A8F5-1F196F48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Conversion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9964F-B188-43F3-B1C3-FE7F1B8A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Convert 58.417862° to DMS, to the nearest second.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D96F6-1B61-43A6-939D-4012BA5B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Convert 112°36′18.5″ to decimal degrees, to four decimal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BF7CB-3EA6-4609-B73B-0004D605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6D368-6B05-4D39-B5E5-D7EECB0D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14 / 31</a:t>
            </a:r>
          </a:p>
        </p:txBody>
      </p:sp>
    </p:spTree>
    <p:extLst>
      <p:ext uri="{BB962C8B-B14F-4D97-AF65-F5344CB8AC3E}">
        <p14:creationId xmlns:p14="http://schemas.microsoft.com/office/powerpoint/2010/main" val="315271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A809F-CE03-4A6B-9A56-AD4DB06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Precision and notation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65852-5AB3-47C0-90FE-B78B0523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Minutes and seconds use base 60. A decimal degree is not DMS notation.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67178-4A5E-4C50-92EE-547F3B1F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Match the question’s requested decimal places. Round the final result once.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05B3C-B411-4F8C-B9C2-102DE3CB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DAD7A-5EA2-4568-AE24-071D6C75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15 / 31</a:t>
            </a:r>
          </a:p>
        </p:txBody>
      </p:sp>
    </p:spTree>
    <p:extLst>
      <p:ext uri="{BB962C8B-B14F-4D97-AF65-F5344CB8AC3E}">
        <p14:creationId xmlns:p14="http://schemas.microsoft.com/office/powerpoint/2010/main" val="8136621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B7DBC-2BD4-4BDB-9F5D-9A4567DD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Conversion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06161-9479-4CFF-A2A4-2C18FB36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DMS to decimal uses division by 60 and 3600.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DDEAF-7B78-4BFF-AB7F-9B6ED20B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Decimal to DMS uses the fractional part twice, multiplying by 60.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33C9-79B0-4E8B-A9F6-42D960B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5FE3F-BC84-4977-9C58-70712735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16 / 31</a:t>
            </a:r>
          </a:p>
        </p:txBody>
      </p:sp>
    </p:spTree>
    <p:extLst>
      <p:ext uri="{BB962C8B-B14F-4D97-AF65-F5344CB8AC3E}">
        <p14:creationId xmlns:p14="http://schemas.microsoft.com/office/powerpoint/2010/main" val="292794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4D123-A5C1-4D83-BBC8-ECE0B9E5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Length or area?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32D0D-A1B7-415D-96FA-6CAB8A85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The same radius and angle determine both a curved distance and a shaded area.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152C8-B537-4D63-B9B6-C4705125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368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Which quantity uses square units?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1464-903A-4E00-9F22-C7EC23C4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1D34A-260E-4C64-8AF0-7F985B4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1029950" y="3714750"/>
                </a:lnTo>
                <a:lnTo>
                  <a:pt x="11029668" y="3686558"/>
                </a:lnTo>
                <a:lnTo>
                  <a:pt x="11028822" y="3658377"/>
                </a:lnTo>
                <a:lnTo>
                  <a:pt x="11027413" y="3630219"/>
                </a:lnTo>
                <a:lnTo>
                  <a:pt x="11025441" y="3602094"/>
                </a:lnTo>
                <a:lnTo>
                  <a:pt x="11022907" y="3574015"/>
                </a:lnTo>
                <a:lnTo>
                  <a:pt x="11019812" y="3545992"/>
                </a:lnTo>
                <a:lnTo>
                  <a:pt x="11016157" y="3518036"/>
                </a:lnTo>
                <a:lnTo>
                  <a:pt x="11011944" y="3490159"/>
                </a:lnTo>
                <a:lnTo>
                  <a:pt x="11007174" y="3462372"/>
                </a:lnTo>
                <a:lnTo>
                  <a:pt x="11001850" y="3434686"/>
                </a:lnTo>
                <a:lnTo>
                  <a:pt x="10995973" y="3407112"/>
                </a:lnTo>
                <a:lnTo>
                  <a:pt x="10989545" y="3379661"/>
                </a:lnTo>
                <a:lnTo>
                  <a:pt x="10982570" y="3352344"/>
                </a:lnTo>
                <a:lnTo>
                  <a:pt x="10975050" y="3325171"/>
                </a:lnTo>
                <a:lnTo>
                  <a:pt x="10966988" y="3298155"/>
                </a:lnTo>
                <a:lnTo>
                  <a:pt x="10958387" y="3271306"/>
                </a:lnTo>
                <a:lnTo>
                  <a:pt x="10949251" y="3244633"/>
                </a:lnTo>
                <a:lnTo>
                  <a:pt x="10939584" y="3218149"/>
                </a:lnTo>
                <a:lnTo>
                  <a:pt x="10929389" y="3191863"/>
                </a:lnTo>
                <a:lnTo>
                  <a:pt x="10918670" y="3165787"/>
                </a:lnTo>
                <a:lnTo>
                  <a:pt x="10907431" y="3139930"/>
                </a:lnTo>
                <a:lnTo>
                  <a:pt x="10895678" y="3114303"/>
                </a:lnTo>
                <a:lnTo>
                  <a:pt x="10883415" y="3088916"/>
                </a:lnTo>
                <a:lnTo>
                  <a:pt x="10870647" y="3063780"/>
                </a:lnTo>
                <a:lnTo>
                  <a:pt x="10857378" y="3038904"/>
                </a:lnTo>
                <a:lnTo>
                  <a:pt x="10843615" y="3014298"/>
                </a:lnTo>
                <a:lnTo>
                  <a:pt x="10829362" y="2989972"/>
                </a:lnTo>
                <a:lnTo>
                  <a:pt x="10814626" y="2965937"/>
                </a:lnTo>
                <a:lnTo>
                  <a:pt x="10799411" y="2942201"/>
                </a:lnTo>
                <a:lnTo>
                  <a:pt x="10783726" y="2918774"/>
                </a:lnTo>
                <a:lnTo>
                  <a:pt x="10767574" y="2895665"/>
                </a:lnTo>
                <a:lnTo>
                  <a:pt x="10750964" y="2872884"/>
                </a:lnTo>
                <a:lnTo>
                  <a:pt x="10733902" y="2850439"/>
                </a:lnTo>
                <a:lnTo>
                  <a:pt x="10716394" y="2828340"/>
                </a:lnTo>
                <a:lnTo>
                  <a:pt x="10698448" y="2806596"/>
                </a:lnTo>
                <a:lnTo>
                  <a:pt x="10680071" y="2785215"/>
                </a:lnTo>
                <a:lnTo>
                  <a:pt x="10661269" y="2764206"/>
                </a:lnTo>
                <a:lnTo>
                  <a:pt x="10642051" y="2743577"/>
                </a:lnTo>
                <a:lnTo>
                  <a:pt x="10622425" y="2723337"/>
                </a:lnTo>
                <a:lnTo>
                  <a:pt x="10602397" y="2703493"/>
                </a:lnTo>
                <a:lnTo>
                  <a:pt x="10581977" y="2684054"/>
                </a:lnTo>
                <a:lnTo>
                  <a:pt x="10561172" y="2665027"/>
                </a:lnTo>
                <a:lnTo>
                  <a:pt x="10539991" y="2646419"/>
                </a:lnTo>
                <a:lnTo>
                  <a:pt x="10518442" y="2628239"/>
                </a:lnTo>
                <a:lnTo>
                  <a:pt x="10496534" y="2610494"/>
                </a:lnTo>
                <a:lnTo>
                  <a:pt x="10474275" y="2593190"/>
                </a:lnTo>
                <a:lnTo>
                  <a:pt x="10451674" y="2576335"/>
                </a:lnTo>
                <a:lnTo>
                  <a:pt x="10428741" y="2559936"/>
                </a:lnTo>
                <a:lnTo>
                  <a:pt x="10405485" y="2543998"/>
                </a:lnTo>
                <a:lnTo>
                  <a:pt x="10381914" y="2528528"/>
                </a:lnTo>
                <a:lnTo>
                  <a:pt x="10358039" y="2513533"/>
                </a:lnTo>
                <a:lnTo>
                  <a:pt x="10333869" y="2499019"/>
                </a:lnTo>
                <a:lnTo>
                  <a:pt x="10309413" y="2484990"/>
                </a:lnTo>
                <a:lnTo>
                  <a:pt x="10284682" y="2471454"/>
                </a:lnTo>
                <a:lnTo>
                  <a:pt x="10259684" y="2458415"/>
                </a:lnTo>
                <a:lnTo>
                  <a:pt x="10234432" y="2445878"/>
                </a:lnTo>
                <a:lnTo>
                  <a:pt x="10208933" y="2433849"/>
                </a:lnTo>
                <a:lnTo>
                  <a:pt x="10183199" y="2422333"/>
                </a:lnTo>
                <a:lnTo>
                  <a:pt x="10157240" y="2411333"/>
                </a:lnTo>
                <a:lnTo>
                  <a:pt x="10131066" y="2400855"/>
                </a:lnTo>
                <a:lnTo>
                  <a:pt x="10104687" y="2390902"/>
                </a:lnTo>
                <a:lnTo>
                  <a:pt x="10078115" y="2381478"/>
                </a:lnTo>
                <a:lnTo>
                  <a:pt x="10051360" y="2372588"/>
                </a:lnTo>
                <a:lnTo>
                  <a:pt x="10024432" y="2364235"/>
                </a:lnTo>
                <a:lnTo>
                  <a:pt x="9997343" y="2356422"/>
                </a:lnTo>
                <a:lnTo>
                  <a:pt x="9970103" y="2349152"/>
                </a:lnTo>
                <a:lnTo>
                  <a:pt x="9942723" y="2342429"/>
                </a:lnTo>
                <a:lnTo>
                  <a:pt x="9915214" y="2336254"/>
                </a:lnTo>
                <a:lnTo>
                  <a:pt x="9887587" y="2330631"/>
                </a:lnTo>
                <a:lnTo>
                  <a:pt x="9859853" y="2325562"/>
                </a:lnTo>
                <a:lnTo>
                  <a:pt x="9620250" y="3714750"/>
                </a:lnTo>
              </a:path>
            </a:pathLst>
          </a:custGeom>
          <a:solidFill xmlns:a="http://schemas.openxmlformats.org/drawingml/2006/main">
            <a:srgbClr val="DCEFF6"/>
          </a:solidFill>
          <a:ln xmlns:a="http://schemas.openxmlformats.org/drawingml/2006/main" w="23813">
            <a:solidFill>
              <a:srgbClr val="075EA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80DFD-2907-4CD1-B32F-1C8795BD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147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 =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2B612-16E3-47F3-8B51-C88FCF54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0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1.4 rad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8DCE0-4929-48E0-83C4-1373F8A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05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F1C0D-8A98-4DA3-BB1E-77E5CF97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DFF09-2D81-4956-A40A-3ECF4090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17 / 31</a:t>
            </a:r>
          </a:p>
        </p:txBody>
      </p:sp>
    </p:spTree>
    <p:extLst>
      <p:ext uri="{BB962C8B-B14F-4D97-AF65-F5344CB8AC3E}">
        <p14:creationId xmlns:p14="http://schemas.microsoft.com/office/powerpoint/2010/main" val="5208257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A24EE-8985-4818-B539-65AF871D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Arc and sector formulas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2686E-1C0D-4D91-A1B1-E7283576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Arc length: s=rθ. Sector area: A=½r²θ.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13461-439F-405F-A045-5702CC1D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6782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Both formulas require θ in radians.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DC46A-0ADA-4950-BB59-31CF5118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0964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Unknown radius: r=s/θ.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B2DED-0961-4507-9B08-604CCEE9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5146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Unknown sector angle: θ=2A/r², then convert to degrees if requested.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E6C02-0CA0-4060-9661-D20576FB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489C3-4971-4F66-9264-551C7E4B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18 / 31</a:t>
            </a:r>
          </a:p>
        </p:txBody>
      </p:sp>
    </p:spTree>
    <p:extLst>
      <p:ext uri="{BB962C8B-B14F-4D97-AF65-F5344CB8AC3E}">
        <p14:creationId xmlns:p14="http://schemas.microsoft.com/office/powerpoint/2010/main" val="19734376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4CF24-5D77-4DD1-906D-B79FCD27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One sector, two measurements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1FF7E-9CDE-4AEF-86FF-FC0F77C1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EA8"/>
                </a:solidFill>
                <a:latin typeface="Arial"/>
                <a:ea typeface="Arial"/>
                <a:cs typeface="Arial"/>
              </a:rPr>
              <a:t>Radius = 6 units and angle = 1.4 rad. Find arc length and sector area.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D2EDD-66C0-4FD6-8849-0A626EF4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368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s=6(1.4)=8.4 units.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68A39-54F8-4D07-B09D-6D15307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043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A=½(6²)(1.4)=25.2 square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4FC38-ABCF-4F2B-A1BF-A2236C62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718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The radius is squared only in the area formula.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13DBD-EC65-4D5A-875D-FEF587E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B6179-37AD-42FD-B75D-134A027B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1029950" y="3714750"/>
                </a:lnTo>
                <a:lnTo>
                  <a:pt x="11029668" y="3686558"/>
                </a:lnTo>
                <a:lnTo>
                  <a:pt x="11028822" y="3658377"/>
                </a:lnTo>
                <a:lnTo>
                  <a:pt x="11027413" y="3630219"/>
                </a:lnTo>
                <a:lnTo>
                  <a:pt x="11025441" y="3602094"/>
                </a:lnTo>
                <a:lnTo>
                  <a:pt x="11022907" y="3574015"/>
                </a:lnTo>
                <a:lnTo>
                  <a:pt x="11019812" y="3545992"/>
                </a:lnTo>
                <a:lnTo>
                  <a:pt x="11016157" y="3518036"/>
                </a:lnTo>
                <a:lnTo>
                  <a:pt x="11011944" y="3490159"/>
                </a:lnTo>
                <a:lnTo>
                  <a:pt x="11007174" y="3462372"/>
                </a:lnTo>
                <a:lnTo>
                  <a:pt x="11001850" y="3434686"/>
                </a:lnTo>
                <a:lnTo>
                  <a:pt x="10995973" y="3407112"/>
                </a:lnTo>
                <a:lnTo>
                  <a:pt x="10989545" y="3379661"/>
                </a:lnTo>
                <a:lnTo>
                  <a:pt x="10982570" y="3352344"/>
                </a:lnTo>
                <a:lnTo>
                  <a:pt x="10975050" y="3325171"/>
                </a:lnTo>
                <a:lnTo>
                  <a:pt x="10966988" y="3298155"/>
                </a:lnTo>
                <a:lnTo>
                  <a:pt x="10958387" y="3271306"/>
                </a:lnTo>
                <a:lnTo>
                  <a:pt x="10949251" y="3244633"/>
                </a:lnTo>
                <a:lnTo>
                  <a:pt x="10939584" y="3218149"/>
                </a:lnTo>
                <a:lnTo>
                  <a:pt x="10929389" y="3191863"/>
                </a:lnTo>
                <a:lnTo>
                  <a:pt x="10918670" y="3165787"/>
                </a:lnTo>
                <a:lnTo>
                  <a:pt x="10907431" y="3139930"/>
                </a:lnTo>
                <a:lnTo>
                  <a:pt x="10895678" y="3114303"/>
                </a:lnTo>
                <a:lnTo>
                  <a:pt x="10883415" y="3088916"/>
                </a:lnTo>
                <a:lnTo>
                  <a:pt x="10870647" y="3063780"/>
                </a:lnTo>
                <a:lnTo>
                  <a:pt x="10857378" y="3038904"/>
                </a:lnTo>
                <a:lnTo>
                  <a:pt x="10843615" y="3014298"/>
                </a:lnTo>
                <a:lnTo>
                  <a:pt x="10829362" y="2989972"/>
                </a:lnTo>
                <a:lnTo>
                  <a:pt x="10814626" y="2965937"/>
                </a:lnTo>
                <a:lnTo>
                  <a:pt x="10799411" y="2942201"/>
                </a:lnTo>
                <a:lnTo>
                  <a:pt x="10783726" y="2918774"/>
                </a:lnTo>
                <a:lnTo>
                  <a:pt x="10767574" y="2895665"/>
                </a:lnTo>
                <a:lnTo>
                  <a:pt x="10750964" y="2872884"/>
                </a:lnTo>
                <a:lnTo>
                  <a:pt x="10733902" y="2850439"/>
                </a:lnTo>
                <a:lnTo>
                  <a:pt x="10716394" y="2828340"/>
                </a:lnTo>
                <a:lnTo>
                  <a:pt x="10698448" y="2806596"/>
                </a:lnTo>
                <a:lnTo>
                  <a:pt x="10680071" y="2785215"/>
                </a:lnTo>
                <a:lnTo>
                  <a:pt x="10661269" y="2764206"/>
                </a:lnTo>
                <a:lnTo>
                  <a:pt x="10642051" y="2743577"/>
                </a:lnTo>
                <a:lnTo>
                  <a:pt x="10622425" y="2723337"/>
                </a:lnTo>
                <a:lnTo>
                  <a:pt x="10602397" y="2703493"/>
                </a:lnTo>
                <a:lnTo>
                  <a:pt x="10581977" y="2684054"/>
                </a:lnTo>
                <a:lnTo>
                  <a:pt x="10561172" y="2665027"/>
                </a:lnTo>
                <a:lnTo>
                  <a:pt x="10539991" y="2646419"/>
                </a:lnTo>
                <a:lnTo>
                  <a:pt x="10518442" y="2628239"/>
                </a:lnTo>
                <a:lnTo>
                  <a:pt x="10496534" y="2610494"/>
                </a:lnTo>
                <a:lnTo>
                  <a:pt x="10474275" y="2593190"/>
                </a:lnTo>
                <a:lnTo>
                  <a:pt x="10451674" y="2576335"/>
                </a:lnTo>
                <a:lnTo>
                  <a:pt x="10428741" y="2559936"/>
                </a:lnTo>
                <a:lnTo>
                  <a:pt x="10405485" y="2543998"/>
                </a:lnTo>
                <a:lnTo>
                  <a:pt x="10381914" y="2528528"/>
                </a:lnTo>
                <a:lnTo>
                  <a:pt x="10358039" y="2513533"/>
                </a:lnTo>
                <a:lnTo>
                  <a:pt x="10333869" y="2499019"/>
                </a:lnTo>
                <a:lnTo>
                  <a:pt x="10309413" y="2484990"/>
                </a:lnTo>
                <a:lnTo>
                  <a:pt x="10284682" y="2471454"/>
                </a:lnTo>
                <a:lnTo>
                  <a:pt x="10259684" y="2458415"/>
                </a:lnTo>
                <a:lnTo>
                  <a:pt x="10234432" y="2445878"/>
                </a:lnTo>
                <a:lnTo>
                  <a:pt x="10208933" y="2433849"/>
                </a:lnTo>
                <a:lnTo>
                  <a:pt x="10183199" y="2422333"/>
                </a:lnTo>
                <a:lnTo>
                  <a:pt x="10157240" y="2411333"/>
                </a:lnTo>
                <a:lnTo>
                  <a:pt x="10131066" y="2400855"/>
                </a:lnTo>
                <a:lnTo>
                  <a:pt x="10104687" y="2390902"/>
                </a:lnTo>
                <a:lnTo>
                  <a:pt x="10078115" y="2381478"/>
                </a:lnTo>
                <a:lnTo>
                  <a:pt x="10051360" y="2372588"/>
                </a:lnTo>
                <a:lnTo>
                  <a:pt x="10024432" y="2364235"/>
                </a:lnTo>
                <a:lnTo>
                  <a:pt x="9997343" y="2356422"/>
                </a:lnTo>
                <a:lnTo>
                  <a:pt x="9970103" y="2349152"/>
                </a:lnTo>
                <a:lnTo>
                  <a:pt x="9942723" y="2342429"/>
                </a:lnTo>
                <a:lnTo>
                  <a:pt x="9915214" y="2336254"/>
                </a:lnTo>
                <a:lnTo>
                  <a:pt x="9887587" y="2330631"/>
                </a:lnTo>
                <a:lnTo>
                  <a:pt x="9859853" y="2325562"/>
                </a:lnTo>
                <a:lnTo>
                  <a:pt x="9620250" y="3714750"/>
                </a:lnTo>
              </a:path>
            </a:pathLst>
          </a:custGeom>
          <a:solidFill xmlns:a="http://schemas.openxmlformats.org/drawingml/2006/main">
            <a:srgbClr val="DCEFF6"/>
          </a:solidFill>
          <a:ln xmlns:a="http://schemas.openxmlformats.org/drawingml/2006/main" w="23813">
            <a:solidFill>
              <a:srgbClr val="075E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9A27B-25BA-4E22-951A-0EEA3383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147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 =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BA97F-486C-48B5-A726-75175F09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0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1.4 rad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A70D3-FBD4-4567-8449-D128EF8B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051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7590E-3119-41DE-A3A9-37571CDF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649EB-0E78-4D2C-BDAD-D7E3FEB5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19 / 31</a:t>
            </a:r>
          </a:p>
        </p:txBody>
      </p:sp>
    </p:spTree>
    <p:extLst>
      <p:ext uri="{BB962C8B-B14F-4D97-AF65-F5344CB8AC3E}">
        <p14:creationId xmlns:p14="http://schemas.microsoft.com/office/powerpoint/2010/main" val="3047513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B394A-F0BA-4D95-875C-3BBC1BC3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Solve backwards for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0A252-E19D-448E-B291-03030843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Together: an arc is 24 units long with central angle 80°. Find the radius.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1778A-6827-4DA1-9651-5B47301D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Then independently: an arc is 21 units long with central angle 105°. Find the radius.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7EEAC-0131-4FF6-994E-FED8E498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711DD-39F8-456B-B4A1-6210198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20 / 31</a:t>
            </a:r>
          </a:p>
        </p:txBody>
      </p:sp>
    </p:spTree>
    <p:extLst>
      <p:ext uri="{BB962C8B-B14F-4D97-AF65-F5344CB8AC3E}">
        <p14:creationId xmlns:p14="http://schemas.microsoft.com/office/powerpoint/2010/main" val="14975630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72247-567D-410B-85E9-0E81B75A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Solve backwards for angle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A9884-0D6A-44A2-8982-0089279D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EA8"/>
                </a:solidFill>
                <a:latin typeface="Arial"/>
                <a:ea typeface="Arial"/>
                <a:cs typeface="Arial"/>
              </a:rPr>
              <a:t>A sector has area 35.4 square units and radius 4 units. Find θ in radians and degrees.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3C129-E269-4936-8FB4-895DEB46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368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θ=2A/r²=2(35.4)/4²=4.425 rad.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64AE6-F178-48DE-8F7A-240CBF7F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043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θ(deg)=4.425(180/π)≈253.53°.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CDAA7-31B6-49E9-B031-6F075017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718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The angle is between π and 2π radians, so a sector larger than a semicircle is reasonable.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5F477-3FDD-4D23-943D-C5D24F1E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60319-6097-4EEB-9D31-BE3F0067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1029950" y="3714750"/>
                </a:lnTo>
                <a:lnTo>
                  <a:pt x="11027134" y="3625696"/>
                </a:lnTo>
                <a:lnTo>
                  <a:pt x="11018699" y="3536998"/>
                </a:lnTo>
                <a:lnTo>
                  <a:pt x="11004676" y="3449010"/>
                </a:lnTo>
                <a:lnTo>
                  <a:pt x="10985124" y="3362084"/>
                </a:lnTo>
                <a:lnTo>
                  <a:pt x="10960119" y="3276566"/>
                </a:lnTo>
                <a:lnTo>
                  <a:pt x="10929762" y="3192799"/>
                </a:lnTo>
                <a:lnTo>
                  <a:pt x="10894173" y="3111116"/>
                </a:lnTo>
                <a:lnTo>
                  <a:pt x="10853496" y="3031846"/>
                </a:lnTo>
                <a:lnTo>
                  <a:pt x="10807892" y="2955303"/>
                </a:lnTo>
                <a:lnTo>
                  <a:pt x="10757544" y="2881794"/>
                </a:lnTo>
                <a:lnTo>
                  <a:pt x="10702653" y="2811612"/>
                </a:lnTo>
                <a:lnTo>
                  <a:pt x="10643438" y="2745038"/>
                </a:lnTo>
                <a:lnTo>
                  <a:pt x="10580135" y="2682338"/>
                </a:lnTo>
                <a:lnTo>
                  <a:pt x="10512998" y="2623762"/>
                </a:lnTo>
                <a:lnTo>
                  <a:pt x="10442295" y="2569544"/>
                </a:lnTo>
                <a:lnTo>
                  <a:pt x="10368308" y="2519901"/>
                </a:lnTo>
                <a:lnTo>
                  <a:pt x="10291333" y="2475031"/>
                </a:lnTo>
                <a:lnTo>
                  <a:pt x="10211676" y="2435114"/>
                </a:lnTo>
                <a:lnTo>
                  <a:pt x="10129658" y="2400308"/>
                </a:lnTo>
                <a:lnTo>
                  <a:pt x="10045604" y="2370753"/>
                </a:lnTo>
                <a:lnTo>
                  <a:pt x="9959851" y="2346567"/>
                </a:lnTo>
                <a:lnTo>
                  <a:pt x="9872742" y="2327846"/>
                </a:lnTo>
                <a:lnTo>
                  <a:pt x="9784624" y="2314666"/>
                </a:lnTo>
                <a:lnTo>
                  <a:pt x="9695849" y="2307079"/>
                </a:lnTo>
                <a:lnTo>
                  <a:pt x="9606772" y="2305114"/>
                </a:lnTo>
                <a:lnTo>
                  <a:pt x="9517749" y="2308781"/>
                </a:lnTo>
                <a:lnTo>
                  <a:pt x="9429136" y="2318065"/>
                </a:lnTo>
                <a:lnTo>
                  <a:pt x="9341286" y="2332928"/>
                </a:lnTo>
                <a:lnTo>
                  <a:pt x="9254551" y="2353310"/>
                </a:lnTo>
                <a:lnTo>
                  <a:pt x="9169276" y="2379132"/>
                </a:lnTo>
                <a:lnTo>
                  <a:pt x="9085803" y="2410288"/>
                </a:lnTo>
                <a:lnTo>
                  <a:pt x="9004464" y="2446656"/>
                </a:lnTo>
                <a:lnTo>
                  <a:pt x="8925586" y="2488089"/>
                </a:lnTo>
                <a:lnTo>
                  <a:pt x="8849483" y="2534423"/>
                </a:lnTo>
                <a:lnTo>
                  <a:pt x="8776458" y="2585472"/>
                </a:lnTo>
                <a:lnTo>
                  <a:pt x="8706805" y="2641031"/>
                </a:lnTo>
                <a:lnTo>
                  <a:pt x="8640800" y="2700880"/>
                </a:lnTo>
                <a:lnTo>
                  <a:pt x="8578708" y="2764779"/>
                </a:lnTo>
                <a:lnTo>
                  <a:pt x="8520777" y="2832473"/>
                </a:lnTo>
                <a:lnTo>
                  <a:pt x="8467237" y="2903692"/>
                </a:lnTo>
                <a:lnTo>
                  <a:pt x="8418304" y="2978150"/>
                </a:lnTo>
                <a:lnTo>
                  <a:pt x="8374172" y="3055551"/>
                </a:lnTo>
                <a:lnTo>
                  <a:pt x="8335018" y="3135585"/>
                </a:lnTo>
                <a:lnTo>
                  <a:pt x="8300998" y="3217933"/>
                </a:lnTo>
                <a:lnTo>
                  <a:pt x="8272248" y="3302265"/>
                </a:lnTo>
                <a:lnTo>
                  <a:pt x="8248883" y="3388245"/>
                </a:lnTo>
                <a:lnTo>
                  <a:pt x="8230996" y="3475529"/>
                </a:lnTo>
                <a:lnTo>
                  <a:pt x="8218658" y="3563770"/>
                </a:lnTo>
                <a:lnTo>
                  <a:pt x="8211920" y="3652613"/>
                </a:lnTo>
                <a:lnTo>
                  <a:pt x="8210808" y="3741704"/>
                </a:lnTo>
                <a:lnTo>
                  <a:pt x="8215326" y="3830688"/>
                </a:lnTo>
                <a:lnTo>
                  <a:pt x="8225456" y="3919208"/>
                </a:lnTo>
                <a:lnTo>
                  <a:pt x="8241158" y="4006912"/>
                </a:lnTo>
                <a:lnTo>
                  <a:pt x="8262369" y="4093449"/>
                </a:lnTo>
                <a:lnTo>
                  <a:pt x="8289004" y="4178473"/>
                </a:lnTo>
                <a:lnTo>
                  <a:pt x="8320958" y="4261644"/>
                </a:lnTo>
                <a:lnTo>
                  <a:pt x="8358101" y="4342631"/>
                </a:lnTo>
                <a:lnTo>
                  <a:pt x="8400287" y="4421110"/>
                </a:lnTo>
                <a:lnTo>
                  <a:pt x="8447346" y="4496767"/>
                </a:lnTo>
                <a:lnTo>
                  <a:pt x="8499090" y="4569300"/>
                </a:lnTo>
                <a:lnTo>
                  <a:pt x="8555313" y="4638419"/>
                </a:lnTo>
                <a:lnTo>
                  <a:pt x="8615791" y="4703848"/>
                </a:lnTo>
                <a:lnTo>
                  <a:pt x="8680281" y="4765327"/>
                </a:lnTo>
                <a:lnTo>
                  <a:pt x="8748525" y="4822608"/>
                </a:lnTo>
                <a:lnTo>
                  <a:pt x="8820252" y="4875464"/>
                </a:lnTo>
                <a:lnTo>
                  <a:pt x="8895175" y="4923684"/>
                </a:lnTo>
                <a:lnTo>
                  <a:pt x="8972994" y="4967073"/>
                </a:lnTo>
                <a:lnTo>
                  <a:pt x="9053399" y="5005461"/>
                </a:lnTo>
                <a:lnTo>
                  <a:pt x="9136068" y="5038692"/>
                </a:lnTo>
                <a:lnTo>
                  <a:pt x="9220672" y="5066634"/>
                </a:lnTo>
                <a:lnTo>
                  <a:pt x="9620250" y="3714750"/>
                </a:lnTo>
              </a:path>
            </a:pathLst>
          </a:custGeom>
          <a:solidFill xmlns:a="http://schemas.openxmlformats.org/drawingml/2006/main">
            <a:srgbClr val="DCEFF6"/>
          </a:solidFill>
          <a:ln xmlns:a="http://schemas.openxmlformats.org/drawingml/2006/main" w="23813">
            <a:solidFill>
              <a:srgbClr val="075EA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F1CF3-0C4B-44D1-A476-D03093BC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147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 =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E0808-AC85-49C4-A42A-A8D45E4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0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θ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27BF8-D54B-43D8-82B0-5709EC37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289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 = 35.4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EE696-C163-495A-AC1E-60DA4487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56C0E-112D-49AE-ACE2-C0CEC645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21 / 31</a:t>
            </a:r>
          </a:p>
        </p:txBody>
      </p:sp>
    </p:spTree>
    <p:extLst>
      <p:ext uri="{BB962C8B-B14F-4D97-AF65-F5344CB8AC3E}">
        <p14:creationId xmlns:p14="http://schemas.microsoft.com/office/powerpoint/2010/main" val="8810165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4773B-CA81-4E91-9280-3722500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Check an inverse-sector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A82C6-1CA2-40F2-8A28-0BFD6EE4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Without looking at the model, write an equation for a sector with area 35.4 and radius 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1026A-22B0-4B5C-8780-9AC3B86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368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Solve for the angle in radians and degrees.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93FDC-875D-4DA7-A5E4-F0757E98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043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Explain why an angle above 180° is allowed.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BEFE5-4904-40BD-9B44-92C22FE8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1C6AC-51DC-4480-A3D6-2584AD80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9620250" y="3714750"/>
                </a:moveTo>
                <a:lnTo>
                  <a:pt x="11029950" y="3714750"/>
                </a:lnTo>
                <a:lnTo>
                  <a:pt x="11027134" y="3625696"/>
                </a:lnTo>
                <a:lnTo>
                  <a:pt x="11018699" y="3536998"/>
                </a:lnTo>
                <a:lnTo>
                  <a:pt x="11004676" y="3449010"/>
                </a:lnTo>
                <a:lnTo>
                  <a:pt x="10985124" y="3362084"/>
                </a:lnTo>
                <a:lnTo>
                  <a:pt x="10960119" y="3276566"/>
                </a:lnTo>
                <a:lnTo>
                  <a:pt x="10929762" y="3192799"/>
                </a:lnTo>
                <a:lnTo>
                  <a:pt x="10894173" y="3111116"/>
                </a:lnTo>
                <a:lnTo>
                  <a:pt x="10853496" y="3031846"/>
                </a:lnTo>
                <a:lnTo>
                  <a:pt x="10807892" y="2955303"/>
                </a:lnTo>
                <a:lnTo>
                  <a:pt x="10757544" y="2881794"/>
                </a:lnTo>
                <a:lnTo>
                  <a:pt x="10702653" y="2811612"/>
                </a:lnTo>
                <a:lnTo>
                  <a:pt x="10643438" y="2745038"/>
                </a:lnTo>
                <a:lnTo>
                  <a:pt x="10580135" y="2682338"/>
                </a:lnTo>
                <a:lnTo>
                  <a:pt x="10512998" y="2623762"/>
                </a:lnTo>
                <a:lnTo>
                  <a:pt x="10442295" y="2569544"/>
                </a:lnTo>
                <a:lnTo>
                  <a:pt x="10368308" y="2519901"/>
                </a:lnTo>
                <a:lnTo>
                  <a:pt x="10291333" y="2475031"/>
                </a:lnTo>
                <a:lnTo>
                  <a:pt x="10211676" y="2435114"/>
                </a:lnTo>
                <a:lnTo>
                  <a:pt x="10129658" y="2400308"/>
                </a:lnTo>
                <a:lnTo>
                  <a:pt x="10045604" y="2370753"/>
                </a:lnTo>
                <a:lnTo>
                  <a:pt x="9959851" y="2346567"/>
                </a:lnTo>
                <a:lnTo>
                  <a:pt x="9872742" y="2327846"/>
                </a:lnTo>
                <a:lnTo>
                  <a:pt x="9784624" y="2314666"/>
                </a:lnTo>
                <a:lnTo>
                  <a:pt x="9695849" y="2307079"/>
                </a:lnTo>
                <a:lnTo>
                  <a:pt x="9606772" y="2305114"/>
                </a:lnTo>
                <a:lnTo>
                  <a:pt x="9517749" y="2308781"/>
                </a:lnTo>
                <a:lnTo>
                  <a:pt x="9429136" y="2318065"/>
                </a:lnTo>
                <a:lnTo>
                  <a:pt x="9341286" y="2332928"/>
                </a:lnTo>
                <a:lnTo>
                  <a:pt x="9254551" y="2353310"/>
                </a:lnTo>
                <a:lnTo>
                  <a:pt x="9169276" y="2379132"/>
                </a:lnTo>
                <a:lnTo>
                  <a:pt x="9085803" y="2410288"/>
                </a:lnTo>
                <a:lnTo>
                  <a:pt x="9004464" y="2446656"/>
                </a:lnTo>
                <a:lnTo>
                  <a:pt x="8925586" y="2488089"/>
                </a:lnTo>
                <a:lnTo>
                  <a:pt x="8849483" y="2534423"/>
                </a:lnTo>
                <a:lnTo>
                  <a:pt x="8776458" y="2585472"/>
                </a:lnTo>
                <a:lnTo>
                  <a:pt x="8706805" y="2641031"/>
                </a:lnTo>
                <a:lnTo>
                  <a:pt x="8640800" y="2700880"/>
                </a:lnTo>
                <a:lnTo>
                  <a:pt x="8578708" y="2764779"/>
                </a:lnTo>
                <a:lnTo>
                  <a:pt x="8520777" y="2832473"/>
                </a:lnTo>
                <a:lnTo>
                  <a:pt x="8467237" y="2903692"/>
                </a:lnTo>
                <a:lnTo>
                  <a:pt x="8418304" y="2978150"/>
                </a:lnTo>
                <a:lnTo>
                  <a:pt x="8374172" y="3055551"/>
                </a:lnTo>
                <a:lnTo>
                  <a:pt x="8335018" y="3135585"/>
                </a:lnTo>
                <a:lnTo>
                  <a:pt x="8300998" y="3217933"/>
                </a:lnTo>
                <a:lnTo>
                  <a:pt x="8272248" y="3302265"/>
                </a:lnTo>
                <a:lnTo>
                  <a:pt x="8248883" y="3388245"/>
                </a:lnTo>
                <a:lnTo>
                  <a:pt x="8230996" y="3475529"/>
                </a:lnTo>
                <a:lnTo>
                  <a:pt x="8218658" y="3563770"/>
                </a:lnTo>
                <a:lnTo>
                  <a:pt x="8211920" y="3652613"/>
                </a:lnTo>
                <a:lnTo>
                  <a:pt x="8210808" y="3741704"/>
                </a:lnTo>
                <a:lnTo>
                  <a:pt x="8215326" y="3830688"/>
                </a:lnTo>
                <a:lnTo>
                  <a:pt x="8225456" y="3919208"/>
                </a:lnTo>
                <a:lnTo>
                  <a:pt x="8241158" y="4006912"/>
                </a:lnTo>
                <a:lnTo>
                  <a:pt x="8262369" y="4093449"/>
                </a:lnTo>
                <a:lnTo>
                  <a:pt x="8289004" y="4178473"/>
                </a:lnTo>
                <a:lnTo>
                  <a:pt x="8320958" y="4261644"/>
                </a:lnTo>
                <a:lnTo>
                  <a:pt x="8358101" y="4342631"/>
                </a:lnTo>
                <a:lnTo>
                  <a:pt x="8400287" y="4421110"/>
                </a:lnTo>
                <a:lnTo>
                  <a:pt x="8447346" y="4496767"/>
                </a:lnTo>
                <a:lnTo>
                  <a:pt x="8499090" y="4569300"/>
                </a:lnTo>
                <a:lnTo>
                  <a:pt x="8555313" y="4638419"/>
                </a:lnTo>
                <a:lnTo>
                  <a:pt x="8615791" y="4703848"/>
                </a:lnTo>
                <a:lnTo>
                  <a:pt x="8680281" y="4765327"/>
                </a:lnTo>
                <a:lnTo>
                  <a:pt x="8748525" y="4822608"/>
                </a:lnTo>
                <a:lnTo>
                  <a:pt x="8820252" y="4875464"/>
                </a:lnTo>
                <a:lnTo>
                  <a:pt x="8895175" y="4923684"/>
                </a:lnTo>
                <a:lnTo>
                  <a:pt x="8972994" y="4967073"/>
                </a:lnTo>
                <a:lnTo>
                  <a:pt x="9053399" y="5005461"/>
                </a:lnTo>
                <a:lnTo>
                  <a:pt x="9136068" y="5038692"/>
                </a:lnTo>
                <a:lnTo>
                  <a:pt x="9220672" y="5066634"/>
                </a:lnTo>
                <a:lnTo>
                  <a:pt x="9620250" y="3714750"/>
                </a:lnTo>
              </a:path>
            </a:pathLst>
          </a:custGeom>
          <a:solidFill xmlns:a="http://schemas.openxmlformats.org/drawingml/2006/main">
            <a:srgbClr val="DCEFF6"/>
          </a:solidFill>
          <a:ln xmlns:a="http://schemas.openxmlformats.org/drawingml/2006/main" w="23813">
            <a:solidFill>
              <a:srgbClr val="075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B3BBE-0B51-46BE-885B-0A9B1F2A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147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 =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A9EF4-1073-40FF-9F64-E2A506F9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00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θ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5EC64-3FB2-43C5-98CB-10F08CE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289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 = 35.4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A9F88-33BB-4476-956D-89BB44AB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7E496-B4B3-4D74-8DBA-A123766D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22 / 31</a:t>
            </a:r>
          </a:p>
        </p:txBody>
      </p:sp>
    </p:spTree>
    <p:extLst>
      <p:ext uri="{BB962C8B-B14F-4D97-AF65-F5344CB8AC3E}">
        <p14:creationId xmlns:p14="http://schemas.microsoft.com/office/powerpoint/2010/main" val="19411208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A44E9-2F0E-4587-82C1-5CC614A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Check the setup before arithmetic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071AC-96D7-41F8-8D29-457C1C47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For radius, divide arc length by the angle in radians.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DC2BD-00E3-44BF-9009-14508A04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For angle, double the sector area and divide by the squared radius.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42176-FFC5-4047-B6F9-11EBFC45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 150° sector with radius 20 has area 500π/3≈523.60 square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68705-7D8A-4A0D-9177-D0B93B7B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C0C43-CFEB-4D46-8D0C-707639FA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23 / 31</a:t>
            </a:r>
          </a:p>
        </p:txBody>
      </p:sp>
    </p:spTree>
    <p:extLst>
      <p:ext uri="{BB962C8B-B14F-4D97-AF65-F5344CB8AC3E}">
        <p14:creationId xmlns:p14="http://schemas.microsoft.com/office/powerpoint/2010/main" val="7790412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5A158-3987-4561-A880-6735EC23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Arc and sector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B2208-29A2-4B57-817D-65DD1E02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Circle the requested unknown first.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41128-CE44-45F7-8EBB-E632AB0E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Convert degrees to radians before substitution.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5FC5B-03B3-43C0-843D-C2DE41EC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Check whether the answer is a length, an area, or an angle.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140EE-FF5B-4C81-92C0-17F026DF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F37F5-9B94-40EC-A02E-8AB3AC2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24 / 31</a:t>
            </a:r>
          </a:p>
        </p:txBody>
      </p:sp>
    </p:spTree>
    <p:extLst>
      <p:ext uri="{BB962C8B-B14F-4D97-AF65-F5344CB8AC3E}">
        <p14:creationId xmlns:p14="http://schemas.microsoft.com/office/powerpoint/2010/main" val="156162611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4F12C-9640-424F-8F0F-982AC071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Same rotation, different distance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F0A04-A3D3-4108-9EE6-6DA8F64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Do the center and the rim have the same angular speed?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3F2A9-2045-42E5-88CC-C85D5334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Does a point farther from the center travel farther per turn?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B9DB6-737B-4A33-BE43-1CDAEF18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94B76-0ACD-4162-A499-8B44E94F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25 / 31</a:t>
            </a:r>
          </a:p>
        </p:txBody>
      </p:sp>
    </p:spTree>
    <p:extLst>
      <p:ext uri="{BB962C8B-B14F-4D97-AF65-F5344CB8AC3E}">
        <p14:creationId xmlns:p14="http://schemas.microsoft.com/office/powerpoint/2010/main" val="14262347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A5295-D73D-44C4-A40D-FF225FB1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From rpm to speed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88F5D-17A2-46C7-89AC-932F40BA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Use radius = diameter ÷ 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F75D4-4889-4C52-944B-F921DAD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6782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Degrees per second: n·360/60.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86BCA-224A-4594-A160-DC18A30A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0964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Radians per second: ω=n·2π/60.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9A837-1ED7-4D03-9F8F-DCF648E9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5146"/>
            <a:ext cx="10858500" cy="522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Linear speed: v=rω in distance units per second.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12DB8-A1D6-4546-8819-89821A0B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EC32A-78EE-4BCF-B08A-527CE89C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26 / 31</a:t>
            </a:r>
          </a:p>
        </p:txBody>
      </p:sp>
    </p:spTree>
    <p:extLst>
      <p:ext uri="{BB962C8B-B14F-4D97-AF65-F5344CB8AC3E}">
        <p14:creationId xmlns:p14="http://schemas.microsoft.com/office/powerpoint/2010/main" val="2566853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B8C1A-2158-46F0-8DD3-AA7692A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A rotating wheel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178A1-12E8-4D2B-96D3-62D91961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57225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75EA8"/>
                </a:solidFill>
                <a:latin typeface="Arial"/>
                <a:ea typeface="Arial"/>
                <a:cs typeface="Arial"/>
              </a:rPr>
              <a:t>Diameter = 12 ft, rotation = 24 rpm. Find angular speed in degrees/s and rim speed in ft/s.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C8605-3852-400C-8F61-A12FB9C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368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r=12/2=6 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2FC54-0ED0-4807-920C-D2C48143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043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24(360)/60=144°/s.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5CE47-2A67-4AD1-9C57-3BDCA9A6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718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ω=24(2π)/60=4π/5 rad/s.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D0F81-76A2-4C28-B7C6-65BD4AF1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393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v=6(4π/5)=24π/5≈15.08 ft/s.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AB8FA-753D-4579-B8E1-868441FC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19400" cy="2819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6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F661D-1361-44F6-9080-B4507052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12192000" h="6858000">
                <a:moveTo>
                  <a:pt x="8210550" y="3714750"/>
                </a:moveTo>
                <a:lnTo>
                  <a:pt x="11029950" y="3714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75EA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AB217-536A-4A0F-98AE-5AABDF47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52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75EA8"/>
                </a:solidFill>
                <a:latin typeface="Arial"/>
                <a:ea typeface="Arial"/>
                <a:cs typeface="Arial"/>
              </a:rPr>
              <a:t>diameter = 12 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1655C-2D3E-4152-9F5A-578214B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28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75EA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75EA8"/>
                </a:solidFill>
                <a:latin typeface="Arial"/>
                <a:ea typeface="Arial"/>
                <a:cs typeface="Arial"/>
              </a:rPr>
              <a:t>24 revolutions/min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2E9FF-564A-4A25-8D94-F716DDC2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074E4-96A0-4CB3-935F-2762AD40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27 / 31</a:t>
            </a:r>
          </a:p>
        </p:txBody>
      </p:sp>
    </p:spTree>
    <p:extLst>
      <p:ext uri="{BB962C8B-B14F-4D97-AF65-F5344CB8AC3E}">
        <p14:creationId xmlns:p14="http://schemas.microsoft.com/office/powerpoint/2010/main" val="15991180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5B11F-F4A0-41EC-8FAD-AA1F6942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Rotation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FC8B3-9D78-4072-987D-B9453FF5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 wheel has diameter 8 ft and turns at 30 rpm.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8098A-A4E2-4C30-933E-04D5A9F1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Find angular speed in degrees/s and linear speed at the rim in ft/s.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4149E-9A88-49E4-B0C4-B68F023C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Write the diameter-to-radius step and both unit conversions.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0D083-9405-4A56-8EAB-4D3CCDAE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31D5A-F3E3-4F48-94F2-292BD27F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28 / 31</a:t>
            </a:r>
          </a:p>
        </p:txBody>
      </p:sp>
    </p:spTree>
    <p:extLst>
      <p:ext uri="{BB962C8B-B14F-4D97-AF65-F5344CB8AC3E}">
        <p14:creationId xmlns:p14="http://schemas.microsoft.com/office/powerpoint/2010/main" val="156663964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A1681-A0DC-404F-9666-70EBB7EC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Two common speed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B4CFC-93EF-4205-8FAA-521BA339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Using the diameter in v=rω doubles the speed.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A72D0-3758-4D7F-9490-10023522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Degrees/s cannot go directly into v=rω; use radians/s.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BCD5F-D5D9-40FF-B60D-CA3DB50F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Convert minutes to seconds once, and label the final units.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B7B43-073F-4ABB-A522-FA3F9C07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4561E-C3A0-4BD6-9323-BB2D7B3F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29 / 31</a:t>
            </a:r>
          </a:p>
        </p:txBody>
      </p:sp>
    </p:spTree>
    <p:extLst>
      <p:ext uri="{BB962C8B-B14F-4D97-AF65-F5344CB8AC3E}">
        <p14:creationId xmlns:p14="http://schemas.microsoft.com/office/powerpoint/2010/main" val="8660923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BCE8F-4CB4-4175-87C9-01A60368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Speed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159B1-129A-453F-8525-B002E1D7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Radius first. Convert rpm. Then multiply radius by radians per second.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73C39-C2FE-4BDB-BADF-01FC4505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 sensible answer includes a distance unit and a time unit.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2226E-A8EF-4572-8184-79CC1A9E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CCF3D-5F06-4102-AEE8-5EA98EB5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30 / 31</a:t>
            </a:r>
          </a:p>
        </p:txBody>
      </p:sp>
    </p:spTree>
    <p:extLst>
      <p:ext uri="{BB962C8B-B14F-4D97-AF65-F5344CB8AC3E}">
        <p14:creationId xmlns:p14="http://schemas.microsoft.com/office/powerpoint/2010/main" val="11309136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B7924-D93F-4EEC-B8EE-7038BCAC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Independent exit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EC6B8-5B2E-4533-A839-399E1E9B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An arc is 8π ft long and its central angle is 120°. Find the radius.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C15C9-421D-4114-88BE-BEAC2F8A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0858500" cy="849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5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53F"/>
                </a:solidFill>
                <a:latin typeface="Arial"/>
                <a:ea typeface="Arial"/>
                <a:cs typeface="Arial"/>
              </a:rPr>
              <a:t>A wheel has diameter 6 ft and turns at 20 rpm. Find angular speed in degrees/s and rim speed in ft/s.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84C45-D146-4B8A-A56E-03D11F1E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Math 130 · October 19,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BE49D-8915-4A78-9B9A-2277E937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31 / 31</a:t>
            </a:r>
          </a:p>
        </p:txBody>
      </p:sp>
    </p:spTree>
    <p:extLst>
      <p:ext uri="{BB962C8B-B14F-4D97-AF65-F5344CB8AC3E}">
        <p14:creationId xmlns:p14="http://schemas.microsoft.com/office/powerpoint/2010/main" val="1362014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2026-10-19T18:45:59.8160000Z</dcterms:created>
  <dcterms:modified xsi:type="dcterms:W3CDTF">2026-10-19T18:45:59.8160000Z</dcterms:modified>
</coreProperties>
</file>