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baae404a7e4851" /><Relationship Type="http://schemas.openxmlformats.org/officeDocument/2006/relationships/extended-properties" Target="/docProps/app.xml" Id="R9276e8a6657d4ce0" /><Relationship Type="http://schemas.openxmlformats.org/officeDocument/2006/relationships/officeDocument" Target="/ppt/presentation.xml" Id="R18392b08ec7f45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5b927660804b6b"/>
  </p:sldMasterIdLst>
  <p:notesMasterIdLst>
    <p:notesMasterId xmlns:r="http://schemas.openxmlformats.org/officeDocument/2006/relationships" r:id="R772cb91b19554314"/>
  </p:notesMasterIdLst>
  <p:sldIdLst>
    <p:sldId xmlns:r="http://schemas.openxmlformats.org/officeDocument/2006/relationships" id="256" r:id="R0000183b2dae4c4a"/>
    <p:sldId xmlns:r="http://schemas.openxmlformats.org/officeDocument/2006/relationships" id="257" r:id="R29282e22e55a491d"/>
    <p:sldId xmlns:r="http://schemas.openxmlformats.org/officeDocument/2006/relationships" id="258" r:id="R30fb1f0f132c43e4"/>
    <p:sldId xmlns:r="http://schemas.openxmlformats.org/officeDocument/2006/relationships" id="259" r:id="Rc240e55e667e47d5"/>
    <p:sldId xmlns:r="http://schemas.openxmlformats.org/officeDocument/2006/relationships" id="260" r:id="Re95a92c542e54a08"/>
    <p:sldId xmlns:r="http://schemas.openxmlformats.org/officeDocument/2006/relationships" id="261" r:id="R935c7fce993d4366"/>
    <p:sldId xmlns:r="http://schemas.openxmlformats.org/officeDocument/2006/relationships" id="262" r:id="R0aaa87425a144fdd"/>
    <p:sldId xmlns:r="http://schemas.openxmlformats.org/officeDocument/2006/relationships" id="263" r:id="R372c65666ab448bb"/>
    <p:sldId xmlns:r="http://schemas.openxmlformats.org/officeDocument/2006/relationships" id="264" r:id="R1bd04c8f5f26425b"/>
    <p:sldId xmlns:r="http://schemas.openxmlformats.org/officeDocument/2006/relationships" id="265" r:id="R9224b2248d2744b1"/>
    <p:sldId xmlns:r="http://schemas.openxmlformats.org/officeDocument/2006/relationships" id="266" r:id="R2d49751648c54143"/>
    <p:sldId xmlns:r="http://schemas.openxmlformats.org/officeDocument/2006/relationships" id="267" r:id="R468dc6b0bec04796"/>
    <p:sldId xmlns:r="http://schemas.openxmlformats.org/officeDocument/2006/relationships" id="268" r:id="R21d8ef8588a04f70"/>
    <p:sldId xmlns:r="http://schemas.openxmlformats.org/officeDocument/2006/relationships" id="269" r:id="Rc6bc728fbd114b5b"/>
    <p:sldId xmlns:r="http://schemas.openxmlformats.org/officeDocument/2006/relationships" id="270" r:id="R92839c6eb1e542b0"/>
    <p:sldId xmlns:r="http://schemas.openxmlformats.org/officeDocument/2006/relationships" id="271" r:id="Rbdc9d3462137465b"/>
    <p:sldId xmlns:r="http://schemas.openxmlformats.org/officeDocument/2006/relationships" id="272" r:id="Rf566f4e54c2f494e"/>
    <p:sldId xmlns:r="http://schemas.openxmlformats.org/officeDocument/2006/relationships" id="273" r:id="Ra99a9387f07c486b"/>
    <p:sldId xmlns:r="http://schemas.openxmlformats.org/officeDocument/2006/relationships" id="274" r:id="Rbb193534ea964a56"/>
    <p:sldId xmlns:r="http://schemas.openxmlformats.org/officeDocument/2006/relationships" id="275" r:id="R3bb6c76eab2a423b"/>
    <p:sldId xmlns:r="http://schemas.openxmlformats.org/officeDocument/2006/relationships" id="276" r:id="Ref15933bce0f4e2e"/>
    <p:sldId xmlns:r="http://schemas.openxmlformats.org/officeDocument/2006/relationships" id="277" r:id="Rc8395b12a36e41cb"/>
    <p:sldId xmlns:r="http://schemas.openxmlformats.org/officeDocument/2006/relationships" id="278" r:id="R5a914df80c574a83"/>
    <p:sldId xmlns:r="http://schemas.openxmlformats.org/officeDocument/2006/relationships" id="279" r:id="R3da0c01ed64d4844"/>
    <p:sldId xmlns:r="http://schemas.openxmlformats.org/officeDocument/2006/relationships" id="280" r:id="R56cb0ab4a70145c2"/>
    <p:sldId xmlns:r="http://schemas.openxmlformats.org/officeDocument/2006/relationships" id="281" r:id="R470930d941ea49f1"/>
    <p:sldId xmlns:r="http://schemas.openxmlformats.org/officeDocument/2006/relationships" id="282" r:id="Rd2b02df8a9b945db"/>
    <p:sldId xmlns:r="http://schemas.openxmlformats.org/officeDocument/2006/relationships" id="283" r:id="Rfb3df201fb17421c"/>
    <p:sldId xmlns:r="http://schemas.openxmlformats.org/officeDocument/2006/relationships" id="284" r:id="R162bfb05b0b24584"/>
    <p:sldId xmlns:r="http://schemas.openxmlformats.org/officeDocument/2006/relationships" id="285" r:id="R4e00149fd9274c0a"/>
    <p:sldId xmlns:r="http://schemas.openxmlformats.org/officeDocument/2006/relationships" id="286" r:id="Ra2c12947f42741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7edcdd12264f46" /><Relationship Type="http://schemas.openxmlformats.org/officeDocument/2006/relationships/slideMaster" Target="/ppt/slideMasters/slideMaster1.xml" Id="R7d5b927660804b6b" /><Relationship Type="http://schemas.openxmlformats.org/officeDocument/2006/relationships/notesMaster" Target="/ppt/notesMasters/notesMaster1.xml" Id="R772cb91b19554314" /><Relationship Type="http://schemas.openxmlformats.org/officeDocument/2006/relationships/presProps" Target="/ppt/presProps.xml" Id="Rf7c805797b384962" /><Relationship Type="http://schemas.openxmlformats.org/officeDocument/2006/relationships/tableStyles" Target="/ppt/tableStyles.xml" Id="Rc5029f16752a4291" /><Relationship Type="http://schemas.openxmlformats.org/officeDocument/2006/relationships/slide" Target="/ppt/slides/slide1.xml" Id="R0000183b2dae4c4a" /><Relationship Type="http://schemas.openxmlformats.org/officeDocument/2006/relationships/slide" Target="/ppt/slides/slide2.xml" Id="R29282e22e55a491d" /><Relationship Type="http://schemas.openxmlformats.org/officeDocument/2006/relationships/slide" Target="/ppt/slides/slide3.xml" Id="R30fb1f0f132c43e4" /><Relationship Type="http://schemas.openxmlformats.org/officeDocument/2006/relationships/slide" Target="/ppt/slides/slide4.xml" Id="Rc240e55e667e47d5" /><Relationship Type="http://schemas.openxmlformats.org/officeDocument/2006/relationships/slide" Target="/ppt/slides/slide5.xml" Id="Re95a92c542e54a08" /><Relationship Type="http://schemas.openxmlformats.org/officeDocument/2006/relationships/slide" Target="/ppt/slides/slide6.xml" Id="R935c7fce993d4366" /><Relationship Type="http://schemas.openxmlformats.org/officeDocument/2006/relationships/slide" Target="/ppt/slides/slide7.xml" Id="R0aaa87425a144fdd" /><Relationship Type="http://schemas.openxmlformats.org/officeDocument/2006/relationships/slide" Target="/ppt/slides/slide8.xml" Id="R372c65666ab448bb" /><Relationship Type="http://schemas.openxmlformats.org/officeDocument/2006/relationships/slide" Target="/ppt/slides/slide9.xml" Id="R1bd04c8f5f26425b" /><Relationship Type="http://schemas.openxmlformats.org/officeDocument/2006/relationships/slide" Target="/ppt/slides/slide10.xml" Id="R9224b2248d2744b1" /><Relationship Type="http://schemas.openxmlformats.org/officeDocument/2006/relationships/slide" Target="/ppt/slides/slide11.xml" Id="R2d49751648c54143" /><Relationship Type="http://schemas.openxmlformats.org/officeDocument/2006/relationships/slide" Target="/ppt/slides/slide12.xml" Id="R468dc6b0bec04796" /><Relationship Type="http://schemas.openxmlformats.org/officeDocument/2006/relationships/slide" Target="/ppt/slides/slide13.xml" Id="R21d8ef8588a04f70" /><Relationship Type="http://schemas.openxmlformats.org/officeDocument/2006/relationships/slide" Target="/ppt/slides/slide14.xml" Id="Rc6bc728fbd114b5b" /><Relationship Type="http://schemas.openxmlformats.org/officeDocument/2006/relationships/slide" Target="/ppt/slides/slide15.xml" Id="R92839c6eb1e542b0" /><Relationship Type="http://schemas.openxmlformats.org/officeDocument/2006/relationships/slide" Target="/ppt/slides/slide16.xml" Id="Rbdc9d3462137465b" /><Relationship Type="http://schemas.openxmlformats.org/officeDocument/2006/relationships/slide" Target="/ppt/slides/slide17.xml" Id="Rf566f4e54c2f494e" /><Relationship Type="http://schemas.openxmlformats.org/officeDocument/2006/relationships/slide" Target="/ppt/slides/slide18.xml" Id="Ra99a9387f07c486b" /><Relationship Type="http://schemas.openxmlformats.org/officeDocument/2006/relationships/slide" Target="/ppt/slides/slide19.xml" Id="Rbb193534ea964a56" /><Relationship Type="http://schemas.openxmlformats.org/officeDocument/2006/relationships/slide" Target="/ppt/slides/slide20.xml" Id="R3bb6c76eab2a423b" /><Relationship Type="http://schemas.openxmlformats.org/officeDocument/2006/relationships/slide" Target="/ppt/slides/slide21.xml" Id="Ref15933bce0f4e2e" /><Relationship Type="http://schemas.openxmlformats.org/officeDocument/2006/relationships/slide" Target="/ppt/slides/slide22.xml" Id="Rc8395b12a36e41cb" /><Relationship Type="http://schemas.openxmlformats.org/officeDocument/2006/relationships/slide" Target="/ppt/slides/slide23.xml" Id="R5a914df80c574a83" /><Relationship Type="http://schemas.openxmlformats.org/officeDocument/2006/relationships/slide" Target="/ppt/slides/slide24.xml" Id="R3da0c01ed64d4844" /><Relationship Type="http://schemas.openxmlformats.org/officeDocument/2006/relationships/slide" Target="/ppt/slides/slide25.xml" Id="R56cb0ab4a70145c2" /><Relationship Type="http://schemas.openxmlformats.org/officeDocument/2006/relationships/slide" Target="/ppt/slides/slide26.xml" Id="R470930d941ea49f1" /><Relationship Type="http://schemas.openxmlformats.org/officeDocument/2006/relationships/slide" Target="/ppt/slides/slide27.xml" Id="Rd2b02df8a9b945db" /><Relationship Type="http://schemas.openxmlformats.org/officeDocument/2006/relationships/slide" Target="/ppt/slides/slide28.xml" Id="Rfb3df201fb17421c" /><Relationship Type="http://schemas.openxmlformats.org/officeDocument/2006/relationships/slide" Target="/ppt/slides/slide29.xml" Id="R162bfb05b0b24584" /><Relationship Type="http://schemas.openxmlformats.org/officeDocument/2006/relationships/slide" Target="/ppt/slides/slide30.xml" Id="R4e00149fd9274c0a" /><Relationship Type="http://schemas.openxmlformats.org/officeDocument/2006/relationships/slide" Target="/ppt/slides/slide31.xml" Id="Ra2c12947f42741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ea7d1d36f44f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ed2ab5e5f8440d" /><Relationship Type="http://schemas.openxmlformats.org/officeDocument/2006/relationships/notesMaster" Target="/ppt/notesMasters/notesMaster1.xml" Id="Rec45415d5ffa4b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fe81988c174eab" /><Relationship Type="http://schemas.openxmlformats.org/officeDocument/2006/relationships/notesMaster" Target="/ppt/notesMasters/notesMaster1.xml" Id="R3b4fbbaf192749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6994e0ca284611" /><Relationship Type="http://schemas.openxmlformats.org/officeDocument/2006/relationships/notesMaster" Target="/ppt/notesMasters/notesMaster1.xml" Id="Rd212ad28222540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c36706be31438b" /><Relationship Type="http://schemas.openxmlformats.org/officeDocument/2006/relationships/notesMaster" Target="/ppt/notesMasters/notesMaster1.xml" Id="R7a4c553c6d5c4c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2d5c522c5043a1" /><Relationship Type="http://schemas.openxmlformats.org/officeDocument/2006/relationships/notesMaster" Target="/ppt/notesMasters/notesMaster1.xml" Id="R8fe766fdc17c43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a6c7b48e294e5e" /><Relationship Type="http://schemas.openxmlformats.org/officeDocument/2006/relationships/notesMaster" Target="/ppt/notesMasters/notesMaster1.xml" Id="R4135e854efeb49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9abc5fa58f411b" /><Relationship Type="http://schemas.openxmlformats.org/officeDocument/2006/relationships/notesMaster" Target="/ppt/notesMasters/notesMaster1.xml" Id="R5aae03e89f6544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a1146f06694a70" /><Relationship Type="http://schemas.openxmlformats.org/officeDocument/2006/relationships/notesMaster" Target="/ppt/notesMasters/notesMaster1.xml" Id="Rc5b0cf52bb164f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1119e1483642f8" /><Relationship Type="http://schemas.openxmlformats.org/officeDocument/2006/relationships/notesMaster" Target="/ppt/notesMasters/notesMaster1.xml" Id="Rde0deb36ee0249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62463548b04429" /><Relationship Type="http://schemas.openxmlformats.org/officeDocument/2006/relationships/notesMaster" Target="/ppt/notesMasters/notesMaster1.xml" Id="Rca5628682bde4f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e4007b93d640e2" /><Relationship Type="http://schemas.openxmlformats.org/officeDocument/2006/relationships/notesMaster" Target="/ppt/notesMasters/notesMaster1.xml" Id="R39224a3d75cd47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cbf9df4aa54139" /><Relationship Type="http://schemas.openxmlformats.org/officeDocument/2006/relationships/notesMaster" Target="/ppt/notesMasters/notesMaster1.xml" Id="R9e4f747016ca47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54ee392637c4dcd" /><Relationship Type="http://schemas.openxmlformats.org/officeDocument/2006/relationships/notesMaster" Target="/ppt/notesMasters/notesMaster1.xml" Id="R770e9a8ff4c6482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85672eaf8c44626" /><Relationship Type="http://schemas.openxmlformats.org/officeDocument/2006/relationships/notesMaster" Target="/ppt/notesMasters/notesMaster1.xml" Id="Rd48b8fa0aaf147f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e25843d35141ab" /><Relationship Type="http://schemas.openxmlformats.org/officeDocument/2006/relationships/notesMaster" Target="/ppt/notesMasters/notesMaster1.xml" Id="R09fcb07d811e4f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36bf6fd6754fb7" /><Relationship Type="http://schemas.openxmlformats.org/officeDocument/2006/relationships/notesMaster" Target="/ppt/notesMasters/notesMaster1.xml" Id="R216d2f36f6fe4df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966f54d461d47cd" /><Relationship Type="http://schemas.openxmlformats.org/officeDocument/2006/relationships/notesMaster" Target="/ppt/notesMasters/notesMaster1.xml" Id="Rf2b959bdb9bb403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edec55dcdbc4686" /><Relationship Type="http://schemas.openxmlformats.org/officeDocument/2006/relationships/notesMaster" Target="/ppt/notesMasters/notesMaster1.xml" Id="R0a0e0e3cee094e4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7b39068e9284e24" /><Relationship Type="http://schemas.openxmlformats.org/officeDocument/2006/relationships/notesMaster" Target="/ppt/notesMasters/notesMaster1.xml" Id="R0486e75970c64cc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405b470f28c41c2" /><Relationship Type="http://schemas.openxmlformats.org/officeDocument/2006/relationships/notesMaster" Target="/ppt/notesMasters/notesMaster1.xml" Id="R6da6ed20d2c4402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6e9fa7a27f54924" /><Relationship Type="http://schemas.openxmlformats.org/officeDocument/2006/relationships/notesMaster" Target="/ppt/notesMasters/notesMaster1.xml" Id="Rb8288aadc9624b8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9d9cd4eceb74e88" /><Relationship Type="http://schemas.openxmlformats.org/officeDocument/2006/relationships/notesMaster" Target="/ppt/notesMasters/notesMaster1.xml" Id="Rb17cf23a3a3c4ed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7aa5af7547b413e" /><Relationship Type="http://schemas.openxmlformats.org/officeDocument/2006/relationships/notesMaster" Target="/ppt/notesMasters/notesMaster1.xml" Id="R3a6ce8bab02e48a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ef15d99e5dc410a" /><Relationship Type="http://schemas.openxmlformats.org/officeDocument/2006/relationships/notesMaster" Target="/ppt/notesMasters/notesMaster1.xml" Id="Rf03a873a7bf0497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47ba8c5987f4780" /><Relationship Type="http://schemas.openxmlformats.org/officeDocument/2006/relationships/notesMaster" Target="/ppt/notesMasters/notesMaster1.xml" Id="R891395dd92e047e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11c53b5d5d44295" /><Relationship Type="http://schemas.openxmlformats.org/officeDocument/2006/relationships/notesMaster" Target="/ppt/notesMasters/notesMaster1.xml" Id="R299bb6d54d1949e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7b60a20afae492b" /><Relationship Type="http://schemas.openxmlformats.org/officeDocument/2006/relationships/notesMaster" Target="/ppt/notesMasters/notesMaster1.xml" Id="Raf02a39392064e2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b536d0aa26e4d6d" /><Relationship Type="http://schemas.openxmlformats.org/officeDocument/2006/relationships/notesMaster" Target="/ppt/notesMasters/notesMaster1.xml" Id="Rf359eb05c45c461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1260428f9eb4966" /><Relationship Type="http://schemas.openxmlformats.org/officeDocument/2006/relationships/notesMaster" Target="/ppt/notesMasters/notesMaster1.xml" Id="R3c3d04acb377476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11e7a56c8ec43e2" /><Relationship Type="http://schemas.openxmlformats.org/officeDocument/2006/relationships/notesMaster" Target="/ppt/notesMasters/notesMaster1.xml" Id="Rbded11248f384e4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32285caf89641d9" /><Relationship Type="http://schemas.openxmlformats.org/officeDocument/2006/relationships/notesMaster" Target="/ppt/notesMasters/notesMaster1.xml" Id="Rd68263c0318a41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0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0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0.5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2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3 minutes.</a:t>
            </a:r>
          </a:p>
          <a:p xmlns:a="http://schemas.openxmlformats.org/drawingml/2006/main">
            <a:r>
              <a:t>Packet page 1. Collect an individual setup before discussion.</a:t>
            </a:r>
          </a:p>
          <a:p xmlns:a="http://schemas.openxmlformats.org/drawingml/2006/main">
            <a:r>
              <a:t>Practice feedback:</a:t>
            </a:r>
          </a:p>
          <a:p xmlns:a="http://schemas.openxmlformats.org/drawingml/2006/main">
            <a:r>
              <a:t>Arc AC is 2(66°)=132°.</a:t>
            </a:r>
          </a:p>
          <a:p xmlns:a="http://schemas.openxmlformats.org/drawingml/2006/main">
            <a:r>
              <a:t>Arc BC is 360°-78°-132°=150°.</a:t>
            </a:r>
          </a:p>
          <a:p xmlns:a="http://schemas.openxmlformats.org/drawingml/2006/main">
            <a:r>
              <a:t>Angle BAC is 150°/2=75°.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 minutes.</a:t>
            </a:r>
          </a:p>
          <a:p xmlns:a="http://schemas.openxmlformats.org/drawingml/2006/main">
            <a:r>
              <a:t>Annotate the same figure; do not introduce intersecting-chord arithmetic today.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0.5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0.5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2 minutes.</a:t>
            </a:r>
          </a:p>
          <a:p xmlns:a="http://schemas.openxmlformats.org/drawingml/2006/main">
            <a:r>
              <a:t>Keep all calculator digits until seconds. If rounding produces 60 seconds, carry one minute.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1.5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3 minutes.</a:t>
            </a:r>
          </a:p>
          <a:p xmlns:a="http://schemas.openxmlformats.org/drawingml/2006/main">
            <a:r>
              <a:t>Packet page 2. If time is short, students finish the second conversion immediately after class.</a:t>
            </a:r>
          </a:p>
          <a:p xmlns:a="http://schemas.openxmlformats.org/drawingml/2006/main">
            <a:r>
              <a:t>Practice feedback:</a:t>
            </a:r>
          </a:p>
          <a:p xmlns:a="http://schemas.openxmlformats.org/drawingml/2006/main">
            <a:r>
              <a:t>0.417862(60)=25.07172; 0.07172(60)=4.3032: 58°25′04″.</a:t>
            </a:r>
          </a:p>
          <a:p xmlns:a="http://schemas.openxmlformats.org/drawingml/2006/main">
            <a:r>
              <a:t>112+36/60+18.5/3600=112.6051388…: 112.6051°.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0.5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0.5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2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2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3 minutes.</a:t>
            </a:r>
          </a:p>
          <a:p xmlns:a="http://schemas.openxmlformats.org/drawingml/2006/main">
            <a:r>
              <a:t>Packet page 3. Model the first setup on the board; leave the second unrevealed for an individual attempt.</a:t>
            </a:r>
          </a:p>
          <a:p xmlns:a="http://schemas.openxmlformats.org/drawingml/2006/main">
            <a:r>
              <a:t>Practice feedback:</a:t>
            </a:r>
          </a:p>
          <a:p xmlns:a="http://schemas.openxmlformats.org/drawingml/2006/main">
            <a:r>
              <a:t>r=24/(80π/180)=54/π≈17.19 units.</a:t>
            </a:r>
          </a:p>
          <a:p xmlns:a="http://schemas.openxmlformats.org/drawingml/2006/main">
            <a:r>
              <a:t>r=21/(105π/180)=36/π≈11.46 units.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2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3 minutes.</a:t>
            </a:r>
          </a:p>
          <a:p xmlns:a="http://schemas.openxmlformats.org/drawingml/2006/main">
            <a:r>
              <a:t>This is a retrieval attempt on the same numbers, not a second new example. Use the packet space to check algebra and units.</a:t>
            </a:r>
          </a:p>
          <a:p xmlns:a="http://schemas.openxmlformats.org/drawingml/2006/main">
            <a:r>
              <a:t>Practice feedback:</a:t>
            </a:r>
          </a:p>
          <a:p xmlns:a="http://schemas.openxmlformats.org/drawingml/2006/main">
            <a:r>
              <a:t>35.4=½(4²)θ, so θ = 4.425 rad ≈ 253.53°.</a:t>
            </a:r>
          </a:p>
          <a:p xmlns:a="http://schemas.openxmlformats.org/drawingml/2006/main">
            <a:r>
              <a:t>A sector can cover more than half a circle while remaining below a full 360° turn.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3 minutes.</a:t>
            </a:r>
          </a:p>
          <a:p xmlns:a="http://schemas.openxmlformats.org/drawingml/2006/main">
            <a:r>
              <a:t>The final comparison corrects the legacy sprinkler example. Show the fraction-of-circle check: (150/360)π(20²). If behind, make this a quick oral check.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0.5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1.5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3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4 minutes.</a:t>
            </a:r>
          </a:p>
          <a:p xmlns:a="http://schemas.openxmlformats.org/drawingml/2006/main">
            <a:r>
              <a:t>Packet page 4. Protect an individual attempt even if earlier discussion runs long.</a:t>
            </a:r>
          </a:p>
          <a:p xmlns:a="http://schemas.openxmlformats.org/drawingml/2006/main">
            <a:r>
              <a:t>Practice feedback:</a:t>
            </a:r>
          </a:p>
          <a:p xmlns:a="http://schemas.openxmlformats.org/drawingml/2006/main">
            <a:r>
              <a:t>r=4 ft. Angular speed = 30(360)/60=180°/s.</a:t>
            </a:r>
          </a:p>
          <a:p xmlns:a="http://schemas.openxmlformats.org/drawingml/2006/main">
            <a:r>
              <a:t>ω=30(2π)/60=π rad/s.</a:t>
            </a:r>
          </a:p>
          <a:p xmlns:a="http://schemas.openxmlformats.org/drawingml/2006/main">
            <a:r>
              <a:t>v=4π≈12.57 ft/s.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2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1 minutes.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time: 3 minutes.</a:t>
            </a:r>
          </a:p>
          <a:p xmlns:a="http://schemas.openxmlformats.org/drawingml/2006/main">
            <a:r>
              <a:t>Collect setups and exact answers. If either setup is missing, assign one targeted practice set before Wednesday.</a:t>
            </a:r>
          </a:p>
          <a:p xmlns:a="http://schemas.openxmlformats.org/drawingml/2006/main">
            <a:r>
              <a:t>Practice feedback:</a:t>
            </a:r>
          </a:p>
          <a:p xmlns:a="http://schemas.openxmlformats.org/drawingml/2006/main">
            <a:r>
              <a:t>r=8π/(2π/3)=12 ft.</a:t>
            </a:r>
          </a:p>
          <a:p xmlns:a="http://schemas.openxmlformats.org/drawingml/2006/main">
            <a:r>
              <a:t>r=3 ft; angular speed = 120°/s; v=2π ft/s.</a:t>
            </a:r>
          </a:p>
          <a:p xmlns:a="http://schemas.openxmlformats.org/drawingml/2006/main">
            <a:r>
              <a:t>Source: authored October 19 readiness session in slides/lectures/Math130Unit2D.json.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1da01882074ac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746c375c164b0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5e3297eb1442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2d807f30d74e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bd80d4aa91458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f9a0f7000a4e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D4C84B-F952-4040-A0BB-CEE4E33BD3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0577D5B-5934-47ED-ACAD-D2BBF73E1F3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313930D-E1B3-4E6B-ADCE-FBEE9E833D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4A9706-4F4E-4C23-87DC-1EE4BB549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FAD7C63-63DC-429A-8254-9DC52D3141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9752948-CF12-4995-99D7-2DC55F6F31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202F258-9D4E-44DC-9E2B-340FFC20A4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7222174-0855-4682-98E2-E247A5AC52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0D1E2C-FA8B-46C4-A1DB-8EAD0291AC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E64463F-6282-4AD8-9FFB-623F1C404F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b6e156b96e4c47" /><Relationship Type="http://schemas.openxmlformats.org/officeDocument/2006/relationships/slideLayout" Target="/ppt/slideLayouts/slideLayout1.xml" Id="R45f59769560540a2" /><Relationship Type="http://schemas.openxmlformats.org/officeDocument/2006/relationships/slideLayout" Target="/ppt/slideLayouts/slideLayout2.xml" Id="R5e82a2a566c645d8" /><Relationship Type="http://schemas.openxmlformats.org/officeDocument/2006/relationships/slideLayout" Target="/ppt/slideLayouts/slideLayout3.xml" Id="R68e0af92747f45ab" /><Relationship Type="http://schemas.openxmlformats.org/officeDocument/2006/relationships/slideLayout" Target="/ppt/slideLayouts/slideLayout4.xml" Id="R4118810e1a9a4b84" /><Relationship Type="http://schemas.openxmlformats.org/officeDocument/2006/relationships/slideLayout" Target="/ppt/slideLayouts/slideLayout5.xml" Id="R9c773a79dfcf4fcf" /><Relationship Type="http://schemas.openxmlformats.org/officeDocument/2006/relationships/slideLayout" Target="/ppt/slideLayouts/slideLayout6.xml" Id="R99d795ff319f45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f59769560540a2"/>
    <p:sldLayoutId xmlns:r="http://schemas.openxmlformats.org/officeDocument/2006/relationships" id="2147483650" r:id="R5e82a2a566c645d8"/>
    <p:sldLayoutId xmlns:r="http://schemas.openxmlformats.org/officeDocument/2006/relationships" id="2147483651" r:id="R68e0af92747f45ab"/>
    <p:sldLayoutId xmlns:r="http://schemas.openxmlformats.org/officeDocument/2006/relationships" id="2147483652" r:id="R4118810e1a9a4b84"/>
    <p:sldLayoutId xmlns:r="http://schemas.openxmlformats.org/officeDocument/2006/relationships" id="2147483653" r:id="R9c773a79dfcf4fcf"/>
    <p:sldLayoutId xmlns:r="http://schemas.openxmlformats.org/officeDocument/2006/relationships" id="2147483654" r:id="R99d795ff319f45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7c9287ac974b2b" /><Relationship Type="http://schemas.openxmlformats.org/officeDocument/2006/relationships/notesSlide" Target="/ppt/notesSlides/notesSlide1.xml" Id="R6bb0453c4b8e45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ee9414a6aa4933" /><Relationship Type="http://schemas.openxmlformats.org/officeDocument/2006/relationships/notesSlide" Target="/ppt/notesSlides/notesSlide2.xml" Id="Rcf82c0ad12214f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d5e084f2334936" /><Relationship Type="http://schemas.openxmlformats.org/officeDocument/2006/relationships/notesSlide" Target="/ppt/notesSlides/notesSlide3.xml" Id="Re614f8b3d2cb44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52dd2f0c0842b7" /><Relationship Type="http://schemas.openxmlformats.org/officeDocument/2006/relationships/notesSlide" Target="/ppt/notesSlides/notesSlide4.xml" Id="Rd6a1f955f08643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757683e32b4179" /><Relationship Type="http://schemas.openxmlformats.org/officeDocument/2006/relationships/notesSlide" Target="/ppt/notesSlides/notesSlide5.xml" Id="R08fb804cf83b44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13d9235d4c4e4a" /><Relationship Type="http://schemas.openxmlformats.org/officeDocument/2006/relationships/notesSlide" Target="/ppt/notesSlides/notesSlide6.xml" Id="R2c06546451b945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4f48b9acde4657" /><Relationship Type="http://schemas.openxmlformats.org/officeDocument/2006/relationships/notesSlide" Target="/ppt/notesSlides/notesSlide7.xml" Id="Raa1df9852bc643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1f46a7184148d7" /><Relationship Type="http://schemas.openxmlformats.org/officeDocument/2006/relationships/notesSlide" Target="/ppt/notesSlides/notesSlide8.xml" Id="Rc502185e275747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9d033287114b5f" /><Relationship Type="http://schemas.openxmlformats.org/officeDocument/2006/relationships/notesSlide" Target="/ppt/notesSlides/notesSlide9.xml" Id="R3a2106a4208f4d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c8a996088d4492" /><Relationship Type="http://schemas.openxmlformats.org/officeDocument/2006/relationships/notesSlide" Target="/ppt/notesSlides/notesSlide10.xml" Id="R7efdef4a90474d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e6e71d619145e5" /><Relationship Type="http://schemas.openxmlformats.org/officeDocument/2006/relationships/notesSlide" Target="/ppt/notesSlides/notesSlide11.xml" Id="Raa688ef041dc4a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5b139a97a94770" /><Relationship Type="http://schemas.openxmlformats.org/officeDocument/2006/relationships/notesSlide" Target="/ppt/notesSlides/notesSlide12.xml" Id="R3455617943684c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ae9368484a46ff" /><Relationship Type="http://schemas.openxmlformats.org/officeDocument/2006/relationships/notesSlide" Target="/ppt/notesSlides/notesSlide13.xml" Id="R883be701d5c540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242bd9eb46457c" /><Relationship Type="http://schemas.openxmlformats.org/officeDocument/2006/relationships/notesSlide" Target="/ppt/notesSlides/notesSlide14.xml" Id="R26420d9c51e14d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398098590f4fba" /><Relationship Type="http://schemas.openxmlformats.org/officeDocument/2006/relationships/notesSlide" Target="/ppt/notesSlides/notesSlide15.xml" Id="Rf007b7a1057043e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29c1cff2c646ea" /><Relationship Type="http://schemas.openxmlformats.org/officeDocument/2006/relationships/notesSlide" Target="/ppt/notesSlides/notesSlide16.xml" Id="Raa0a140f8a414c0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c303bd98024998" /><Relationship Type="http://schemas.openxmlformats.org/officeDocument/2006/relationships/notesSlide" Target="/ppt/notesSlides/notesSlide17.xml" Id="Raf21e7475fe046c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f16f0cf6b849d7" /><Relationship Type="http://schemas.openxmlformats.org/officeDocument/2006/relationships/notesSlide" Target="/ppt/notesSlides/notesSlide18.xml" Id="R2476b64457884b8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dc19fb4ff04c87" /><Relationship Type="http://schemas.openxmlformats.org/officeDocument/2006/relationships/notesSlide" Target="/ppt/notesSlides/notesSlide19.xml" Id="R75b112d5f505488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ce9db2f36c4792" /><Relationship Type="http://schemas.openxmlformats.org/officeDocument/2006/relationships/notesSlide" Target="/ppt/notesSlides/notesSlide20.xml" Id="Rc80b798fceca49e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37d8f40d7e48a6" /><Relationship Type="http://schemas.openxmlformats.org/officeDocument/2006/relationships/notesSlide" Target="/ppt/notesSlides/notesSlide21.xml" Id="R2aa8815035084ca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6f287ea11f4d71" /><Relationship Type="http://schemas.openxmlformats.org/officeDocument/2006/relationships/notesSlide" Target="/ppt/notesSlides/notesSlide22.xml" Id="Rb499ba60960a487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5e0552feb64178" /><Relationship Type="http://schemas.openxmlformats.org/officeDocument/2006/relationships/notesSlide" Target="/ppt/notesSlides/notesSlide23.xml" Id="R287281d6acf84fc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094acfa8e14861" /><Relationship Type="http://schemas.openxmlformats.org/officeDocument/2006/relationships/notesSlide" Target="/ppt/notesSlides/notesSlide24.xml" Id="Rc68dadf2365f4d6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f56b8be4284ede" /><Relationship Type="http://schemas.openxmlformats.org/officeDocument/2006/relationships/notesSlide" Target="/ppt/notesSlides/notesSlide25.xml" Id="Rd0cf18ce5edb445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78051240544abc" /><Relationship Type="http://schemas.openxmlformats.org/officeDocument/2006/relationships/notesSlide" Target="/ppt/notesSlides/notesSlide26.xml" Id="R797f6a00652446f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64f9a2e1ff4be0" /><Relationship Type="http://schemas.openxmlformats.org/officeDocument/2006/relationships/notesSlide" Target="/ppt/notesSlides/notesSlide27.xml" Id="R720f86ac371e43a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5bf94f0aaf4486" /><Relationship Type="http://schemas.openxmlformats.org/officeDocument/2006/relationships/notesSlide" Target="/ppt/notesSlides/notesSlide28.xml" Id="R781467a2bed94e7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37f2fc88f947aa" /><Relationship Type="http://schemas.openxmlformats.org/officeDocument/2006/relationships/notesSlide" Target="/ppt/notesSlides/notesSlide29.xml" Id="Rdb4a895aa8734d2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144cf3477849ee" /><Relationship Type="http://schemas.openxmlformats.org/officeDocument/2006/relationships/notesSlide" Target="/ppt/notesSlides/notesSlide30.xml" Id="Re96eeec89909481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855281022a4220" /><Relationship Type="http://schemas.openxmlformats.org/officeDocument/2006/relationships/notesSlide" Target="/ppt/notesSlides/notesSlide31.xml" Id="Rb2eb0e427dec4f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A5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309A5-4735-4072-99C4-46C49C22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B7E1E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7E1ED"/>
                </a:solidFill>
                <a:latin typeface="Arial"/>
                <a:ea typeface="Arial"/>
                <a:cs typeface="Arial"/>
              </a:rPr>
              <a:t>MATH 130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3B608-5ABC-4995-9444-2DB18406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Circles: Quiz 8 preparation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2F198-9C75-4E06-9EAC-2400ABB7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Monday, October 19, 2026 · Angles, conversions, arcs, sectors, and speed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47C95-C99B-4A6B-B622-E26264B5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CF8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A9483-87F3-4644-8750-994ADB8D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D8ECF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CF8"/>
                </a:solidFill>
                <a:latin typeface="Arial"/>
                <a:ea typeface="Arial"/>
                <a:cs typeface="Arial"/>
              </a:rPr>
              <a:t>1 / 31</a:t>
            </a:r>
          </a:p>
        </p:txBody>
      </p:sp>
    </p:spTree>
    <p:extLst>
      <p:ext uri="{BB962C8B-B14F-4D97-AF65-F5344CB8AC3E}">
        <p14:creationId xmlns:p14="http://schemas.microsoft.com/office/powerpoint/2010/main" val="20271736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9DBDE-CF96-4498-9BE1-2818490E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Today’s practice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058937-5DF8-40F6-8D5F-86C610EC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Read the circle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76236-4C32-4EE3-AEFC-1786BD9F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Convert the angle and keep precision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5415D-0245-4834-91EF-EA123F72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Find the unknown in an arc or sector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7771BF-B1E0-4710-A375-ACB32279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528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Convert rpm and use the radius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7D4E7-2F97-4587-891A-AD2EE70D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FE114-E5E6-4B3E-B4DE-EADA922D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 / 31</a:t>
            </a:r>
          </a:p>
        </p:txBody>
      </p:sp>
    </p:spTree>
    <p:extLst>
      <p:ext uri="{BB962C8B-B14F-4D97-AF65-F5344CB8AC3E}">
        <p14:creationId xmlns:p14="http://schemas.microsoft.com/office/powerpoint/2010/main" val="4081207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A18A2-D97C-480A-9DE0-B41D4DE3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Where is the vertex?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5DC7C-179E-4F7B-9448-9E5BE984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Locate O and B. Which angle is central and which is inscribed?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021072-C51D-48B2-9EC5-E4CF7020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1C230-9079-4858-900C-783482BD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0102396" y="239006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14916-5B9A-4B1F-BD5B-4B26527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0448851" y="4855221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46CC9-DF66-4048-AEBC-AE3E8FE5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8210550" y="3714750"/>
                </a:moveTo>
                <a:lnTo>
                  <a:pt x="10102396" y="239006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0C874-D59F-426A-9183-FB0422A9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8210550" y="3714750"/>
                </a:moveTo>
                <a:lnTo>
                  <a:pt x="10448851" y="4855221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F1EA06-C583-4448-91E7-3D3D1F88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3796" y="2104315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C2D7AD-782E-4ADE-9A57-7ED768A3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351" y="4836171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BA16E-9A9D-444A-A899-1093431E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4330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677E1B-974E-4B2E-A6D9-2B95A9C0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7190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C8770-004A-4D37-B663-9A387707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4805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124°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EB2F12-7565-442D-914C-B497F320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134C4E-C6F4-466A-A441-BB6D0791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3 / 31</a:t>
            </a:r>
          </a:p>
        </p:txBody>
      </p:sp>
    </p:spTree>
    <p:extLst>
      <p:ext uri="{BB962C8B-B14F-4D97-AF65-F5344CB8AC3E}">
        <p14:creationId xmlns:p14="http://schemas.microsoft.com/office/powerpoint/2010/main" val="17917194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EB0E42-2846-456B-8F2D-86BD8FEC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Angles and intercepted arcs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EF42AF-099E-4B9E-82D7-E1869CA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 central angle equals the measure of its intercepted arc.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D3B915-3F37-4645-BA8E-3C64D9D0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368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An inscribed angle is half its intercepted arc.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F1B78-2347-4089-A12F-3EC53BA3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476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All arcs around a circle total 360°.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93F738-2881-4BEC-B04A-9C2B48D4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DC19C-F018-4D55-9705-E035BB3F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0102396" y="239006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7CD71-9A09-4364-8CB8-B832DC66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0448851" y="4855221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6E34A9-4F80-4E28-8065-92389DC6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8210550" y="3714750"/>
                </a:moveTo>
                <a:lnTo>
                  <a:pt x="10102396" y="239006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07ACAE-EBE7-41DB-B409-5F551C35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8210550" y="3714750"/>
                </a:moveTo>
                <a:lnTo>
                  <a:pt x="10448851" y="4855221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F9B3F3-BFE9-4555-BB77-C27CDBEB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3796" y="2104315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DF9EF-1CEF-4964-9AB8-41D68182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351" y="4836171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2F3D15-3C0F-471E-9852-E75DBF63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4330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E8EAAE-7878-4581-8C88-A37E734A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7190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96331F-82F4-4838-851E-E9494AE0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4805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124°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927E96-D131-4451-812C-AD83187C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4EEC0A-28DE-4547-A116-93ED0422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4 / 31</a:t>
            </a:r>
          </a:p>
        </p:txBody>
      </p:sp>
    </p:spTree>
    <p:extLst>
      <p:ext uri="{BB962C8B-B14F-4D97-AF65-F5344CB8AC3E}">
        <p14:creationId xmlns:p14="http://schemas.microsoft.com/office/powerpoint/2010/main" val="12605525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113FDA-ADDC-40FF-A3B1-8F1FE8DC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Central and inscribed angles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28C89-ED37-4557-B7EB-0DDC9D42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EA8"/>
                </a:solidFill>
                <a:latin typeface="Arial"/>
                <a:ea typeface="Arial"/>
                <a:cs typeface="Arial"/>
              </a:rPr>
              <a:t>Find angle ABD and minor arc 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41221-5DA0-4DD4-AACC-31146765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The central angle AOD is 124°, so minor arc AD is 124°.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27FB7-FFEF-4E23-A850-5B018593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4043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Angle ABD intercepts that same arc: 124°/2=62°.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75EA6-C402-4FAC-9B2D-0675C52E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6151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The vertex location determines the rule.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2C1BD-75E9-4AD1-937C-D8D08840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3A3251-3D03-4350-B595-63F1A927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0102396" y="239006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611CC-6B0F-4219-90E3-D93F91A4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0448851" y="4855221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0C01B6-FA42-4028-AAA1-6863BD3F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8210550" y="3714750"/>
                </a:moveTo>
                <a:lnTo>
                  <a:pt x="10102396" y="239006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90E3B-8D7A-489C-BB46-47384109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8210550" y="3714750"/>
                </a:moveTo>
                <a:lnTo>
                  <a:pt x="10448851" y="4855221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DC2702-B62A-46BC-9395-76C58710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3796" y="2104315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22C513-877C-4A5A-BC16-A75DC422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351" y="4836171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0C0E2-0FCC-42E0-87F9-447C3BC2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54330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56B3AE-CAB2-49C3-AE01-3FB21CEB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7190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8E1742-BB97-45F4-8AAE-C0920B6A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4805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124°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83C37E-D9DF-491C-87B4-B4310D05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755655-5B8E-4633-9396-ABDDEC20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5 / 31</a:t>
            </a:r>
          </a:p>
        </p:txBody>
      </p:sp>
    </p:spTree>
    <p:extLst>
      <p:ext uri="{BB962C8B-B14F-4D97-AF65-F5344CB8AC3E}">
        <p14:creationId xmlns:p14="http://schemas.microsoft.com/office/powerpoint/2010/main" val="20397851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EB1B1D-8513-4181-B38A-04C5287C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Triangle and arc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75A73-B560-42B9-B169-31CCBEEE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Find angle BAC and minor arc BC.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5F7CC7-C12B-42B5-9A48-106A8E3C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Show the intermediate arc or triangle-angle calculation.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0FC50-32A8-4DE3-9BC1-1D51AF51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DD2FF-5EBF-46F0-8115-A5CAEE96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8279546" y="4150371"/>
                </a:moveTo>
                <a:lnTo>
                  <a:pt x="9767604" y="5116728"/>
                </a:lnTo>
                <a:lnTo>
                  <a:pt x="10193627" y="2426925"/>
                </a:lnTo>
                <a:lnTo>
                  <a:pt x="8279546" y="4150371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42160-D08E-4427-A95F-0ED88A8C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1396" y="4017021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E083F-9E3C-4FC5-B251-D356D67D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9004" y="5192928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B265B1-F67C-440B-89BF-FDF67C19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127" y="2141175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553C2-7A73-4FE5-96BA-E9633B4E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93395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78°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25793-44A7-406C-9764-B4A200CF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76750"/>
            <a:ext cx="809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66°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CEE92-B4BE-4FEF-8D2D-5F2B581B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161B7F-F2C6-43FF-8AAA-4E22D0BB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6 / 31</a:t>
            </a:r>
          </a:p>
        </p:txBody>
      </p:sp>
    </p:spTree>
    <p:extLst>
      <p:ext uri="{BB962C8B-B14F-4D97-AF65-F5344CB8AC3E}">
        <p14:creationId xmlns:p14="http://schemas.microsoft.com/office/powerpoint/2010/main" val="5472361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179D99-29F2-4765-BB2B-958E4E69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Two routes to the same angle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B63BA-C4E1-48F0-A480-3CBFF4B8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Arc route: double the inscribed angle, subtract known arcs from 360°, then halve the remaining arc.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F1115-87B2-4F8B-AC80-4CAFE3B7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368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Triangle route: angle ACB is 39°, so angle BAC is 180° − 66° − 39° = 75°.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A919F-E9A6-4710-A883-E0E8C799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390DA-F62A-485A-89C0-BF959006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7 / 31</a:t>
            </a:r>
          </a:p>
        </p:txBody>
      </p:sp>
    </p:spTree>
    <p:extLst>
      <p:ext uri="{BB962C8B-B14F-4D97-AF65-F5344CB8AC3E}">
        <p14:creationId xmlns:p14="http://schemas.microsoft.com/office/powerpoint/2010/main" val="9049274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1DF5C-0CF4-4502-B7BD-12F0B5F7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Circle-angle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CF0552-C92E-4845-AB8A-C262F83A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Name the vertex and intercepted arc before calculating.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B17CD-E925-4242-BCB5-E28A49A7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Central angle = arc. Inscribed angle = half the arc.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0B9030-22AD-48E2-9AA8-96E7631B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9048A7-47E3-4F8A-9604-02592D68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8 / 31</a:t>
            </a:r>
          </a:p>
        </p:txBody>
      </p:sp>
    </p:spTree>
    <p:extLst>
      <p:ext uri="{BB962C8B-B14F-4D97-AF65-F5344CB8AC3E}">
        <p14:creationId xmlns:p14="http://schemas.microsoft.com/office/powerpoint/2010/main" val="19258751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83C7E1-591F-4655-BCAF-DDB110B4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Which conversion is needed?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F8382-05AE-4AFD-9A12-673AA751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What changes when an angle is written as DMS, decimal degrees, or radians?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6F7F0-722F-4A8C-88DE-BD3BEA01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Which form is required in s=rθ?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D6EDF-D6AB-4C18-9B11-66C448B6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1B72B-C70D-41D0-905A-4B77D926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9 / 31</a:t>
            </a:r>
          </a:p>
        </p:txBody>
      </p:sp>
    </p:spTree>
    <p:extLst>
      <p:ext uri="{BB962C8B-B14F-4D97-AF65-F5344CB8AC3E}">
        <p14:creationId xmlns:p14="http://schemas.microsoft.com/office/powerpoint/2010/main" val="5039018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E9A13-20CF-492B-93A8-0918319E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Angle conversion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93E22-825B-4970-B8F9-BACF1CCD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1°=60′ and 1′=60′′.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04651-5520-4BC4-A7D1-35F9A9CE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6782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DMS to decimal: D+M/60+S/3600.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7F8FD-876D-4510-8C35-DD8F1636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0964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Degrees to radians: multiply by π/180.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6A282-C5D9-41ED-8CE0-BD2A354C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35146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Radians to degrees: multiply by 180/π.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1E717-7DF2-4BB2-97B9-A2418951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5C4A2-EF8B-4925-A7E4-9D565917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10 / 31</a:t>
            </a:r>
          </a:p>
        </p:txBody>
      </p:sp>
    </p:spTree>
    <p:extLst>
      <p:ext uri="{BB962C8B-B14F-4D97-AF65-F5344CB8AC3E}">
        <p14:creationId xmlns:p14="http://schemas.microsoft.com/office/powerpoint/2010/main" val="7521998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56DE26-39DC-4633-92C6-1430C2EB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Decimal degrees to DMS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38C7C-B8E3-4B6E-BEF7-29A3EA18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EA8"/>
                </a:solidFill>
                <a:latin typeface="Arial"/>
                <a:ea typeface="Arial"/>
                <a:cs typeface="Arial"/>
              </a:rPr>
              <a:t>Convert 38.726145° to DMS, to the nearest second.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3A5F4-7CA2-4A0D-AB28-35CFC7A7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Degrees: 38°. Multiply the decimal part by 60: 0.726145(60)=43.5687.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B3F91-3D21-45AD-9D7F-31480F39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Minutes: 43′. Multiply the remaining decimal by 60: 0.5687(60)=34.122.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0BFF3-8555-4FAE-9645-D7EF369A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528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Round once, at the end: 38°43′34″.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1B560-0903-4018-8E59-BD93CD45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4C9D74-A6CA-45F5-A09D-176B1232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11 / 31</a:t>
            </a:r>
          </a:p>
        </p:txBody>
      </p:sp>
    </p:spTree>
    <p:extLst>
      <p:ext uri="{BB962C8B-B14F-4D97-AF65-F5344CB8AC3E}">
        <p14:creationId xmlns:p14="http://schemas.microsoft.com/office/powerpoint/2010/main" val="8773862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BF581C-9B2F-4CE7-B7B1-56B8875A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DMS to decimal degrees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9B810-04D3-409A-830C-E692B100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EA8"/>
                </a:solidFill>
                <a:latin typeface="Arial"/>
                <a:ea typeface="Arial"/>
                <a:cs typeface="Arial"/>
              </a:rPr>
              <a:t>Convert 101°18′24.7″ to decimal degrees, to four decimal places.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F48C0-B66E-4EBB-B6F2-ED339680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101+18/60+24.7/3600=101.3068611…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C21BD-C77D-4D5A-990D-C2DE1A06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Rounded to four decimal places: 101.3069°.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93305-1077-4D83-8B7E-E772C187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4FCCC-50D0-42A9-86E5-50341A0B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12 / 31</a:t>
            </a:r>
          </a:p>
        </p:txBody>
      </p:sp>
    </p:spTree>
    <p:extLst>
      <p:ext uri="{BB962C8B-B14F-4D97-AF65-F5344CB8AC3E}">
        <p14:creationId xmlns:p14="http://schemas.microsoft.com/office/powerpoint/2010/main" val="15201747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BD8C6-31FE-4C63-877B-77B3AF40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Decimal degrees to radians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CD6BC-BDE5-4E8D-80C4-79B8E8A2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EA8"/>
                </a:solidFill>
                <a:latin typeface="Arial"/>
                <a:ea typeface="Arial"/>
                <a:cs typeface="Arial"/>
              </a:rPr>
              <a:t>Convert 137.6° to radians, to three decimal places.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3099D-4506-42F8-BD27-BC45DDB9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137.6(π/180)=2.401572…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9AB54-60F2-4285-95A7-79149342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Keep π in the calculator expression. Round the final answer: 2.402 rad.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C0DA9-822F-46D1-B679-8FA7BCBB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48F2AC-F9C0-4A10-8730-E9A47DED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13 / 31</a:t>
            </a:r>
          </a:p>
        </p:txBody>
      </p:sp>
    </p:spTree>
    <p:extLst>
      <p:ext uri="{BB962C8B-B14F-4D97-AF65-F5344CB8AC3E}">
        <p14:creationId xmlns:p14="http://schemas.microsoft.com/office/powerpoint/2010/main" val="20657958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CB0BE8-5A4D-4F80-805B-5DFD9FEB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Conversion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8B080-CEFB-4A34-BE79-75481A04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Convert 58.417862° to DMS, to the nearest second.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AB2FB-7FB8-421B-9B41-EDDC8456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Convert 112°36′18.5″ to decimal degrees, to four decimal places.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995BA-ACBE-4A4A-9633-06C024D8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3B836-5FC5-4CC6-8695-C03C1BD9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14 / 31</a:t>
            </a:r>
          </a:p>
        </p:txBody>
      </p:sp>
    </p:spTree>
    <p:extLst>
      <p:ext uri="{BB962C8B-B14F-4D97-AF65-F5344CB8AC3E}">
        <p14:creationId xmlns:p14="http://schemas.microsoft.com/office/powerpoint/2010/main" val="3265370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FE736-FE75-4118-B3E0-8CBDE69A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Precision and notation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BD2B9-6AE7-4C99-A75F-F6C98AE6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Minutes and seconds use base 60. A decimal degree is not DMS notation.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BA2DBB-D030-4827-A5C7-B2108862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Match the question’s requested decimal places. Round the final result once.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F965D-7657-48E7-9D4B-5B801C78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A463E0-EC0E-48F7-9BB8-78E697BA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15 / 31</a:t>
            </a:r>
          </a:p>
        </p:txBody>
      </p:sp>
    </p:spTree>
    <p:extLst>
      <p:ext uri="{BB962C8B-B14F-4D97-AF65-F5344CB8AC3E}">
        <p14:creationId xmlns:p14="http://schemas.microsoft.com/office/powerpoint/2010/main" val="16699010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4535E-BE67-4223-BDAC-F83D0E36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Conversion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5D028-25A2-4157-BE1E-ABE6E81B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DMS to decimal uses division by 60 and 3600.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CCF224-3E1E-4BF2-BFC3-B0CB8E42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Decimal to DMS uses the fractional part twice, multiplying by 60.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B5623-4162-483D-8940-49560270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202FA-BC5F-4231-8A69-1E71D860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16 / 31</a:t>
            </a:r>
          </a:p>
        </p:txBody>
      </p:sp>
    </p:spTree>
    <p:extLst>
      <p:ext uri="{BB962C8B-B14F-4D97-AF65-F5344CB8AC3E}">
        <p14:creationId xmlns:p14="http://schemas.microsoft.com/office/powerpoint/2010/main" val="23620113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BCFBD-4056-49B6-9708-424D8633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Length or area?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3C495-A9C2-42B0-8B9D-D6785F0A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The same radius and angle determine both a curved distance and a shaded area.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14348-AC49-4714-80C4-83D5BE55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368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Which quantity uses square units?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2AD9E-FA83-4DCD-BB02-66CE484F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FEC10F-F50C-4625-ADD3-476BE0E5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1029950" y="3714750"/>
                </a:lnTo>
                <a:lnTo>
                  <a:pt x="11029668" y="3686558"/>
                </a:lnTo>
                <a:lnTo>
                  <a:pt x="11028822" y="3658377"/>
                </a:lnTo>
                <a:lnTo>
                  <a:pt x="11027413" y="3630219"/>
                </a:lnTo>
                <a:lnTo>
                  <a:pt x="11025441" y="3602094"/>
                </a:lnTo>
                <a:lnTo>
                  <a:pt x="11022907" y="3574015"/>
                </a:lnTo>
                <a:lnTo>
                  <a:pt x="11019812" y="3545992"/>
                </a:lnTo>
                <a:lnTo>
                  <a:pt x="11016157" y="3518036"/>
                </a:lnTo>
                <a:lnTo>
                  <a:pt x="11011944" y="3490159"/>
                </a:lnTo>
                <a:lnTo>
                  <a:pt x="11007174" y="3462372"/>
                </a:lnTo>
                <a:lnTo>
                  <a:pt x="11001850" y="3434686"/>
                </a:lnTo>
                <a:lnTo>
                  <a:pt x="10995973" y="3407112"/>
                </a:lnTo>
                <a:lnTo>
                  <a:pt x="10989545" y="3379661"/>
                </a:lnTo>
                <a:lnTo>
                  <a:pt x="10982570" y="3352344"/>
                </a:lnTo>
                <a:lnTo>
                  <a:pt x="10975050" y="3325171"/>
                </a:lnTo>
                <a:lnTo>
                  <a:pt x="10966988" y="3298155"/>
                </a:lnTo>
                <a:lnTo>
                  <a:pt x="10958387" y="3271306"/>
                </a:lnTo>
                <a:lnTo>
                  <a:pt x="10949251" y="3244633"/>
                </a:lnTo>
                <a:lnTo>
                  <a:pt x="10939584" y="3218149"/>
                </a:lnTo>
                <a:lnTo>
                  <a:pt x="10929389" y="3191863"/>
                </a:lnTo>
                <a:lnTo>
                  <a:pt x="10918670" y="3165787"/>
                </a:lnTo>
                <a:lnTo>
                  <a:pt x="10907431" y="3139930"/>
                </a:lnTo>
                <a:lnTo>
                  <a:pt x="10895678" y="3114303"/>
                </a:lnTo>
                <a:lnTo>
                  <a:pt x="10883415" y="3088916"/>
                </a:lnTo>
                <a:lnTo>
                  <a:pt x="10870647" y="3063780"/>
                </a:lnTo>
                <a:lnTo>
                  <a:pt x="10857378" y="3038904"/>
                </a:lnTo>
                <a:lnTo>
                  <a:pt x="10843615" y="3014298"/>
                </a:lnTo>
                <a:lnTo>
                  <a:pt x="10829362" y="2989972"/>
                </a:lnTo>
                <a:lnTo>
                  <a:pt x="10814626" y="2965937"/>
                </a:lnTo>
                <a:lnTo>
                  <a:pt x="10799411" y="2942201"/>
                </a:lnTo>
                <a:lnTo>
                  <a:pt x="10783726" y="2918774"/>
                </a:lnTo>
                <a:lnTo>
                  <a:pt x="10767574" y="2895665"/>
                </a:lnTo>
                <a:lnTo>
                  <a:pt x="10750964" y="2872884"/>
                </a:lnTo>
                <a:lnTo>
                  <a:pt x="10733902" y="2850439"/>
                </a:lnTo>
                <a:lnTo>
                  <a:pt x="10716394" y="2828340"/>
                </a:lnTo>
                <a:lnTo>
                  <a:pt x="10698448" y="2806596"/>
                </a:lnTo>
                <a:lnTo>
                  <a:pt x="10680071" y="2785215"/>
                </a:lnTo>
                <a:lnTo>
                  <a:pt x="10661269" y="2764206"/>
                </a:lnTo>
                <a:lnTo>
                  <a:pt x="10642051" y="2743577"/>
                </a:lnTo>
                <a:lnTo>
                  <a:pt x="10622425" y="2723337"/>
                </a:lnTo>
                <a:lnTo>
                  <a:pt x="10602397" y="2703493"/>
                </a:lnTo>
                <a:lnTo>
                  <a:pt x="10581977" y="2684054"/>
                </a:lnTo>
                <a:lnTo>
                  <a:pt x="10561172" y="2665027"/>
                </a:lnTo>
                <a:lnTo>
                  <a:pt x="10539991" y="2646419"/>
                </a:lnTo>
                <a:lnTo>
                  <a:pt x="10518442" y="2628239"/>
                </a:lnTo>
                <a:lnTo>
                  <a:pt x="10496534" y="2610494"/>
                </a:lnTo>
                <a:lnTo>
                  <a:pt x="10474275" y="2593190"/>
                </a:lnTo>
                <a:lnTo>
                  <a:pt x="10451674" y="2576335"/>
                </a:lnTo>
                <a:lnTo>
                  <a:pt x="10428741" y="2559936"/>
                </a:lnTo>
                <a:lnTo>
                  <a:pt x="10405485" y="2543998"/>
                </a:lnTo>
                <a:lnTo>
                  <a:pt x="10381914" y="2528528"/>
                </a:lnTo>
                <a:lnTo>
                  <a:pt x="10358039" y="2513533"/>
                </a:lnTo>
                <a:lnTo>
                  <a:pt x="10333869" y="2499019"/>
                </a:lnTo>
                <a:lnTo>
                  <a:pt x="10309413" y="2484990"/>
                </a:lnTo>
                <a:lnTo>
                  <a:pt x="10284682" y="2471454"/>
                </a:lnTo>
                <a:lnTo>
                  <a:pt x="10259684" y="2458415"/>
                </a:lnTo>
                <a:lnTo>
                  <a:pt x="10234432" y="2445878"/>
                </a:lnTo>
                <a:lnTo>
                  <a:pt x="10208933" y="2433849"/>
                </a:lnTo>
                <a:lnTo>
                  <a:pt x="10183199" y="2422333"/>
                </a:lnTo>
                <a:lnTo>
                  <a:pt x="10157240" y="2411333"/>
                </a:lnTo>
                <a:lnTo>
                  <a:pt x="10131066" y="2400855"/>
                </a:lnTo>
                <a:lnTo>
                  <a:pt x="10104687" y="2390902"/>
                </a:lnTo>
                <a:lnTo>
                  <a:pt x="10078115" y="2381478"/>
                </a:lnTo>
                <a:lnTo>
                  <a:pt x="10051360" y="2372588"/>
                </a:lnTo>
                <a:lnTo>
                  <a:pt x="10024432" y="2364235"/>
                </a:lnTo>
                <a:lnTo>
                  <a:pt x="9997343" y="2356422"/>
                </a:lnTo>
                <a:lnTo>
                  <a:pt x="9970103" y="2349152"/>
                </a:lnTo>
                <a:lnTo>
                  <a:pt x="9942723" y="2342429"/>
                </a:lnTo>
                <a:lnTo>
                  <a:pt x="9915214" y="2336254"/>
                </a:lnTo>
                <a:lnTo>
                  <a:pt x="9887587" y="2330631"/>
                </a:lnTo>
                <a:lnTo>
                  <a:pt x="9859853" y="2325562"/>
                </a:lnTo>
                <a:lnTo>
                  <a:pt x="9620250" y="3714750"/>
                </a:lnTo>
              </a:path>
            </a:pathLst>
          </a:custGeom>
          <a:solidFill xmlns:a="http://schemas.openxmlformats.org/drawingml/2006/main">
            <a:srgbClr val="DCEFF6"/>
          </a:solidFill>
          <a:ln xmlns:a="http://schemas.openxmlformats.org/drawingml/2006/main" w="23813">
            <a:solidFill>
              <a:srgbClr val="075EA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E6189-03DB-40A4-A68B-A1B32CE2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1477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 = 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48C46-DEE8-41DD-B762-070B4780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004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1.4 rad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471CDB-E5D3-4C4B-BBB7-068CBDBB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28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B0F499-D6E0-4C86-A7C4-8633DA43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DD7BFC-DD03-4D3B-A893-8ECF819D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17 / 31</a:t>
            </a:r>
          </a:p>
        </p:txBody>
      </p:sp>
    </p:spTree>
    <p:extLst>
      <p:ext uri="{BB962C8B-B14F-4D97-AF65-F5344CB8AC3E}">
        <p14:creationId xmlns:p14="http://schemas.microsoft.com/office/powerpoint/2010/main" val="5576255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89A0F2-85B5-42E8-B7CB-CD5B23DC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Arc and sector formulas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706AF-7557-47B4-B97D-DDD7E5B9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Arc length: s=rθ. Sector area: A=½r²θ.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75353-2F63-40BD-BAC9-F17052DD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6782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Both formulas require θ in radians.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0D5E0F-BFA1-4039-A310-BFBF480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0964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Unknown radius: r=s/θ.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97FA1-7CB9-4D4A-8F5C-EE38B0D9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35146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Unknown sector angle: θ=2A/r², then convert to degrees if requested.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A4CA7-EDC2-477B-8136-470D04DE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3CD53-14FE-44B9-A9FF-F8CC0DF5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18 / 31</a:t>
            </a:r>
          </a:p>
        </p:txBody>
      </p:sp>
    </p:spTree>
    <p:extLst>
      <p:ext uri="{BB962C8B-B14F-4D97-AF65-F5344CB8AC3E}">
        <p14:creationId xmlns:p14="http://schemas.microsoft.com/office/powerpoint/2010/main" val="6902935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5FF00B-EB40-4510-9A87-1AECB604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One sector, two measurements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CCA025-C062-4CF2-B1D8-F5E750C9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EA8"/>
                </a:solidFill>
                <a:latin typeface="Arial"/>
                <a:ea typeface="Arial"/>
                <a:cs typeface="Arial"/>
              </a:rPr>
              <a:t>Radius = 6 units and angle = 1.4 rad. Find arc length and sector area.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C8828-F024-4C9E-B532-1E7C2EAC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368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s=6(1.4)=8.4 units.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4306D-E368-44FA-BC0A-DAD6D3B9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4043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A=½(6²)(1.4)=25.2 square units.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5072F-78A8-4900-877E-3FE2C76F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718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The radius is squared only in the area formula.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41D19-BD42-4CDC-8DF7-1C7C7231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8C962-08E3-49ED-912D-202B6F8F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1029950" y="3714750"/>
                </a:lnTo>
                <a:lnTo>
                  <a:pt x="11029668" y="3686558"/>
                </a:lnTo>
                <a:lnTo>
                  <a:pt x="11028822" y="3658377"/>
                </a:lnTo>
                <a:lnTo>
                  <a:pt x="11027413" y="3630219"/>
                </a:lnTo>
                <a:lnTo>
                  <a:pt x="11025441" y="3602094"/>
                </a:lnTo>
                <a:lnTo>
                  <a:pt x="11022907" y="3574015"/>
                </a:lnTo>
                <a:lnTo>
                  <a:pt x="11019812" y="3545992"/>
                </a:lnTo>
                <a:lnTo>
                  <a:pt x="11016157" y="3518036"/>
                </a:lnTo>
                <a:lnTo>
                  <a:pt x="11011944" y="3490159"/>
                </a:lnTo>
                <a:lnTo>
                  <a:pt x="11007174" y="3462372"/>
                </a:lnTo>
                <a:lnTo>
                  <a:pt x="11001850" y="3434686"/>
                </a:lnTo>
                <a:lnTo>
                  <a:pt x="10995973" y="3407112"/>
                </a:lnTo>
                <a:lnTo>
                  <a:pt x="10989545" y="3379661"/>
                </a:lnTo>
                <a:lnTo>
                  <a:pt x="10982570" y="3352344"/>
                </a:lnTo>
                <a:lnTo>
                  <a:pt x="10975050" y="3325171"/>
                </a:lnTo>
                <a:lnTo>
                  <a:pt x="10966988" y="3298155"/>
                </a:lnTo>
                <a:lnTo>
                  <a:pt x="10958387" y="3271306"/>
                </a:lnTo>
                <a:lnTo>
                  <a:pt x="10949251" y="3244633"/>
                </a:lnTo>
                <a:lnTo>
                  <a:pt x="10939584" y="3218149"/>
                </a:lnTo>
                <a:lnTo>
                  <a:pt x="10929389" y="3191863"/>
                </a:lnTo>
                <a:lnTo>
                  <a:pt x="10918670" y="3165787"/>
                </a:lnTo>
                <a:lnTo>
                  <a:pt x="10907431" y="3139930"/>
                </a:lnTo>
                <a:lnTo>
                  <a:pt x="10895678" y="3114303"/>
                </a:lnTo>
                <a:lnTo>
                  <a:pt x="10883415" y="3088916"/>
                </a:lnTo>
                <a:lnTo>
                  <a:pt x="10870647" y="3063780"/>
                </a:lnTo>
                <a:lnTo>
                  <a:pt x="10857378" y="3038904"/>
                </a:lnTo>
                <a:lnTo>
                  <a:pt x="10843615" y="3014298"/>
                </a:lnTo>
                <a:lnTo>
                  <a:pt x="10829362" y="2989972"/>
                </a:lnTo>
                <a:lnTo>
                  <a:pt x="10814626" y="2965937"/>
                </a:lnTo>
                <a:lnTo>
                  <a:pt x="10799411" y="2942201"/>
                </a:lnTo>
                <a:lnTo>
                  <a:pt x="10783726" y="2918774"/>
                </a:lnTo>
                <a:lnTo>
                  <a:pt x="10767574" y="2895665"/>
                </a:lnTo>
                <a:lnTo>
                  <a:pt x="10750964" y="2872884"/>
                </a:lnTo>
                <a:lnTo>
                  <a:pt x="10733902" y="2850439"/>
                </a:lnTo>
                <a:lnTo>
                  <a:pt x="10716394" y="2828340"/>
                </a:lnTo>
                <a:lnTo>
                  <a:pt x="10698448" y="2806596"/>
                </a:lnTo>
                <a:lnTo>
                  <a:pt x="10680071" y="2785215"/>
                </a:lnTo>
                <a:lnTo>
                  <a:pt x="10661269" y="2764206"/>
                </a:lnTo>
                <a:lnTo>
                  <a:pt x="10642051" y="2743577"/>
                </a:lnTo>
                <a:lnTo>
                  <a:pt x="10622425" y="2723337"/>
                </a:lnTo>
                <a:lnTo>
                  <a:pt x="10602397" y="2703493"/>
                </a:lnTo>
                <a:lnTo>
                  <a:pt x="10581977" y="2684054"/>
                </a:lnTo>
                <a:lnTo>
                  <a:pt x="10561172" y="2665027"/>
                </a:lnTo>
                <a:lnTo>
                  <a:pt x="10539991" y="2646419"/>
                </a:lnTo>
                <a:lnTo>
                  <a:pt x="10518442" y="2628239"/>
                </a:lnTo>
                <a:lnTo>
                  <a:pt x="10496534" y="2610494"/>
                </a:lnTo>
                <a:lnTo>
                  <a:pt x="10474275" y="2593190"/>
                </a:lnTo>
                <a:lnTo>
                  <a:pt x="10451674" y="2576335"/>
                </a:lnTo>
                <a:lnTo>
                  <a:pt x="10428741" y="2559936"/>
                </a:lnTo>
                <a:lnTo>
                  <a:pt x="10405485" y="2543998"/>
                </a:lnTo>
                <a:lnTo>
                  <a:pt x="10381914" y="2528528"/>
                </a:lnTo>
                <a:lnTo>
                  <a:pt x="10358039" y="2513533"/>
                </a:lnTo>
                <a:lnTo>
                  <a:pt x="10333869" y="2499019"/>
                </a:lnTo>
                <a:lnTo>
                  <a:pt x="10309413" y="2484990"/>
                </a:lnTo>
                <a:lnTo>
                  <a:pt x="10284682" y="2471454"/>
                </a:lnTo>
                <a:lnTo>
                  <a:pt x="10259684" y="2458415"/>
                </a:lnTo>
                <a:lnTo>
                  <a:pt x="10234432" y="2445878"/>
                </a:lnTo>
                <a:lnTo>
                  <a:pt x="10208933" y="2433849"/>
                </a:lnTo>
                <a:lnTo>
                  <a:pt x="10183199" y="2422333"/>
                </a:lnTo>
                <a:lnTo>
                  <a:pt x="10157240" y="2411333"/>
                </a:lnTo>
                <a:lnTo>
                  <a:pt x="10131066" y="2400855"/>
                </a:lnTo>
                <a:lnTo>
                  <a:pt x="10104687" y="2390902"/>
                </a:lnTo>
                <a:lnTo>
                  <a:pt x="10078115" y="2381478"/>
                </a:lnTo>
                <a:lnTo>
                  <a:pt x="10051360" y="2372588"/>
                </a:lnTo>
                <a:lnTo>
                  <a:pt x="10024432" y="2364235"/>
                </a:lnTo>
                <a:lnTo>
                  <a:pt x="9997343" y="2356422"/>
                </a:lnTo>
                <a:lnTo>
                  <a:pt x="9970103" y="2349152"/>
                </a:lnTo>
                <a:lnTo>
                  <a:pt x="9942723" y="2342429"/>
                </a:lnTo>
                <a:lnTo>
                  <a:pt x="9915214" y="2336254"/>
                </a:lnTo>
                <a:lnTo>
                  <a:pt x="9887587" y="2330631"/>
                </a:lnTo>
                <a:lnTo>
                  <a:pt x="9859853" y="2325562"/>
                </a:lnTo>
                <a:lnTo>
                  <a:pt x="9620250" y="3714750"/>
                </a:lnTo>
              </a:path>
            </a:pathLst>
          </a:custGeom>
          <a:solidFill xmlns:a="http://schemas.openxmlformats.org/drawingml/2006/main">
            <a:srgbClr val="DCEFF6"/>
          </a:solidFill>
          <a:ln xmlns:a="http://schemas.openxmlformats.org/drawingml/2006/main" w="23813">
            <a:solidFill>
              <a:srgbClr val="075EA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BA52C1-57B8-4482-9730-6D600C8E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1477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 = 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24B3E4-D347-4227-A8F0-F1181A7D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004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1.4 rad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16E073-0208-4582-A725-82D370C7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28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FCB178-5FEE-48DA-81BA-876EB9BE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AEE0E3-29BE-432B-BD6F-BF2550B9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19 / 31</a:t>
            </a:r>
          </a:p>
        </p:txBody>
      </p:sp>
    </p:spTree>
    <p:extLst>
      <p:ext uri="{BB962C8B-B14F-4D97-AF65-F5344CB8AC3E}">
        <p14:creationId xmlns:p14="http://schemas.microsoft.com/office/powerpoint/2010/main" val="58547438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7BEE4-9F8F-4821-A3B5-4FE9A3DC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Solve backwards for radius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03AFB-454F-4944-B584-86027E9E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Together: an arc is 24 units long with central angle 80°. Find the radius.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2EDF4-0F2D-4163-82C9-1DAC449C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Then independently: an arc is 21 units long with central angle 105°. Find the radius.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4B1F4-9700-4FBC-8FB0-EE318E62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94B2E-71B7-4281-AE86-4BC13569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20 / 31</a:t>
            </a:r>
          </a:p>
        </p:txBody>
      </p:sp>
    </p:spTree>
    <p:extLst>
      <p:ext uri="{BB962C8B-B14F-4D97-AF65-F5344CB8AC3E}">
        <p14:creationId xmlns:p14="http://schemas.microsoft.com/office/powerpoint/2010/main" val="144699436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52966-5463-4DE0-A35B-41A899E4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Solve backwards for angle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52B19A-A22F-4205-BA75-5DA675D4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EA8"/>
                </a:solidFill>
                <a:latin typeface="Arial"/>
                <a:ea typeface="Arial"/>
                <a:cs typeface="Arial"/>
              </a:rPr>
              <a:t>A sector has area 35.4 square units and radius 4 units. Find θ in radians and degrees.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5AE6F-C89B-4524-822E-2E0DB6BC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368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θ=2A/r²=2(35.4)/4²=4.425 rad.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BCEDB-18B0-4573-803D-4BAC378E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4043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θ(deg)=4.425(180/π)≈253.53°.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F886B-B3B3-45D0-ACF6-E00255A3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718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The angle is between π and 2π radians, so a sector larger than a semicircle is reasonable.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4B047-9EE8-4101-9E37-64A8E357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20ABB-BF28-45BA-9F05-0C64B55C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1029950" y="3714750"/>
                </a:lnTo>
                <a:lnTo>
                  <a:pt x="11027134" y="3625696"/>
                </a:lnTo>
                <a:lnTo>
                  <a:pt x="11018699" y="3536998"/>
                </a:lnTo>
                <a:lnTo>
                  <a:pt x="11004676" y="3449010"/>
                </a:lnTo>
                <a:lnTo>
                  <a:pt x="10985124" y="3362084"/>
                </a:lnTo>
                <a:lnTo>
                  <a:pt x="10960119" y="3276566"/>
                </a:lnTo>
                <a:lnTo>
                  <a:pt x="10929762" y="3192799"/>
                </a:lnTo>
                <a:lnTo>
                  <a:pt x="10894173" y="3111116"/>
                </a:lnTo>
                <a:lnTo>
                  <a:pt x="10853496" y="3031846"/>
                </a:lnTo>
                <a:lnTo>
                  <a:pt x="10807892" y="2955303"/>
                </a:lnTo>
                <a:lnTo>
                  <a:pt x="10757544" y="2881794"/>
                </a:lnTo>
                <a:lnTo>
                  <a:pt x="10702653" y="2811612"/>
                </a:lnTo>
                <a:lnTo>
                  <a:pt x="10643438" y="2745038"/>
                </a:lnTo>
                <a:lnTo>
                  <a:pt x="10580135" y="2682338"/>
                </a:lnTo>
                <a:lnTo>
                  <a:pt x="10512998" y="2623762"/>
                </a:lnTo>
                <a:lnTo>
                  <a:pt x="10442295" y="2569544"/>
                </a:lnTo>
                <a:lnTo>
                  <a:pt x="10368308" y="2519901"/>
                </a:lnTo>
                <a:lnTo>
                  <a:pt x="10291333" y="2475031"/>
                </a:lnTo>
                <a:lnTo>
                  <a:pt x="10211676" y="2435114"/>
                </a:lnTo>
                <a:lnTo>
                  <a:pt x="10129658" y="2400308"/>
                </a:lnTo>
                <a:lnTo>
                  <a:pt x="10045604" y="2370753"/>
                </a:lnTo>
                <a:lnTo>
                  <a:pt x="9959851" y="2346567"/>
                </a:lnTo>
                <a:lnTo>
                  <a:pt x="9872742" y="2327846"/>
                </a:lnTo>
                <a:lnTo>
                  <a:pt x="9784624" y="2314666"/>
                </a:lnTo>
                <a:lnTo>
                  <a:pt x="9695849" y="2307079"/>
                </a:lnTo>
                <a:lnTo>
                  <a:pt x="9606772" y="2305114"/>
                </a:lnTo>
                <a:lnTo>
                  <a:pt x="9517749" y="2308781"/>
                </a:lnTo>
                <a:lnTo>
                  <a:pt x="9429136" y="2318065"/>
                </a:lnTo>
                <a:lnTo>
                  <a:pt x="9341286" y="2332928"/>
                </a:lnTo>
                <a:lnTo>
                  <a:pt x="9254551" y="2353310"/>
                </a:lnTo>
                <a:lnTo>
                  <a:pt x="9169276" y="2379132"/>
                </a:lnTo>
                <a:lnTo>
                  <a:pt x="9085803" y="2410288"/>
                </a:lnTo>
                <a:lnTo>
                  <a:pt x="9004464" y="2446656"/>
                </a:lnTo>
                <a:lnTo>
                  <a:pt x="8925586" y="2488089"/>
                </a:lnTo>
                <a:lnTo>
                  <a:pt x="8849483" y="2534423"/>
                </a:lnTo>
                <a:lnTo>
                  <a:pt x="8776458" y="2585472"/>
                </a:lnTo>
                <a:lnTo>
                  <a:pt x="8706805" y="2641031"/>
                </a:lnTo>
                <a:lnTo>
                  <a:pt x="8640800" y="2700880"/>
                </a:lnTo>
                <a:lnTo>
                  <a:pt x="8578708" y="2764779"/>
                </a:lnTo>
                <a:lnTo>
                  <a:pt x="8520777" y="2832473"/>
                </a:lnTo>
                <a:lnTo>
                  <a:pt x="8467237" y="2903692"/>
                </a:lnTo>
                <a:lnTo>
                  <a:pt x="8418304" y="2978150"/>
                </a:lnTo>
                <a:lnTo>
                  <a:pt x="8374172" y="3055551"/>
                </a:lnTo>
                <a:lnTo>
                  <a:pt x="8335018" y="3135585"/>
                </a:lnTo>
                <a:lnTo>
                  <a:pt x="8300998" y="3217933"/>
                </a:lnTo>
                <a:lnTo>
                  <a:pt x="8272248" y="3302265"/>
                </a:lnTo>
                <a:lnTo>
                  <a:pt x="8248883" y="3388245"/>
                </a:lnTo>
                <a:lnTo>
                  <a:pt x="8230996" y="3475529"/>
                </a:lnTo>
                <a:lnTo>
                  <a:pt x="8218658" y="3563770"/>
                </a:lnTo>
                <a:lnTo>
                  <a:pt x="8211920" y="3652613"/>
                </a:lnTo>
                <a:lnTo>
                  <a:pt x="8210808" y="3741704"/>
                </a:lnTo>
                <a:lnTo>
                  <a:pt x="8215326" y="3830688"/>
                </a:lnTo>
                <a:lnTo>
                  <a:pt x="8225456" y="3919208"/>
                </a:lnTo>
                <a:lnTo>
                  <a:pt x="8241158" y="4006912"/>
                </a:lnTo>
                <a:lnTo>
                  <a:pt x="8262369" y="4093449"/>
                </a:lnTo>
                <a:lnTo>
                  <a:pt x="8289004" y="4178473"/>
                </a:lnTo>
                <a:lnTo>
                  <a:pt x="8320958" y="4261644"/>
                </a:lnTo>
                <a:lnTo>
                  <a:pt x="8358101" y="4342631"/>
                </a:lnTo>
                <a:lnTo>
                  <a:pt x="8400287" y="4421110"/>
                </a:lnTo>
                <a:lnTo>
                  <a:pt x="8447346" y="4496767"/>
                </a:lnTo>
                <a:lnTo>
                  <a:pt x="8499090" y="4569300"/>
                </a:lnTo>
                <a:lnTo>
                  <a:pt x="8555313" y="4638419"/>
                </a:lnTo>
                <a:lnTo>
                  <a:pt x="8615791" y="4703848"/>
                </a:lnTo>
                <a:lnTo>
                  <a:pt x="8680281" y="4765327"/>
                </a:lnTo>
                <a:lnTo>
                  <a:pt x="8748525" y="4822608"/>
                </a:lnTo>
                <a:lnTo>
                  <a:pt x="8820252" y="4875464"/>
                </a:lnTo>
                <a:lnTo>
                  <a:pt x="8895175" y="4923684"/>
                </a:lnTo>
                <a:lnTo>
                  <a:pt x="8972994" y="4967073"/>
                </a:lnTo>
                <a:lnTo>
                  <a:pt x="9053399" y="5005461"/>
                </a:lnTo>
                <a:lnTo>
                  <a:pt x="9136068" y="5038692"/>
                </a:lnTo>
                <a:lnTo>
                  <a:pt x="9220672" y="5066634"/>
                </a:lnTo>
                <a:lnTo>
                  <a:pt x="9620250" y="3714750"/>
                </a:lnTo>
              </a:path>
            </a:pathLst>
          </a:custGeom>
          <a:solidFill xmlns:a="http://schemas.openxmlformats.org/drawingml/2006/main">
            <a:srgbClr val="DCEFF6"/>
          </a:solidFill>
          <a:ln xmlns:a="http://schemas.openxmlformats.org/drawingml/2006/main" w="23813">
            <a:solidFill>
              <a:srgbClr val="075EA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293B9-8665-4952-80AF-46AB3E1B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1477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 =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13FA7B-F5CF-4150-8234-901A19CC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004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θ 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011CBC-EC69-41EF-86A6-C21EB2C7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28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 = 35.4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4F452-521E-43F6-97EB-7160C3B9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8F8C58-0E89-4EDD-B3F0-4C9F1B53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21 / 31</a:t>
            </a:r>
          </a:p>
        </p:txBody>
      </p:sp>
    </p:spTree>
    <p:extLst>
      <p:ext uri="{BB962C8B-B14F-4D97-AF65-F5344CB8AC3E}">
        <p14:creationId xmlns:p14="http://schemas.microsoft.com/office/powerpoint/2010/main" val="66443767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66FA2B-2AC6-4820-A932-F420FA94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Check an inverse-sector setup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EB442-840E-4C0E-92E6-125126D9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Without looking at the model, write an equation for a sector with area 35.4 and radius 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88ECAA-233C-4600-A1F6-5195F2FC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368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Solve for the angle in radians and degrees.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9DD95-2041-4FBE-A97B-CE86E126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4043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Explain why an angle above 180° is allowed.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49109-CC70-42AE-9B84-6DA5CCCA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88A85-7037-4FAC-B83B-87766A04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9620250" y="3714750"/>
                </a:moveTo>
                <a:lnTo>
                  <a:pt x="11029950" y="3714750"/>
                </a:lnTo>
                <a:lnTo>
                  <a:pt x="11027134" y="3625696"/>
                </a:lnTo>
                <a:lnTo>
                  <a:pt x="11018699" y="3536998"/>
                </a:lnTo>
                <a:lnTo>
                  <a:pt x="11004676" y="3449010"/>
                </a:lnTo>
                <a:lnTo>
                  <a:pt x="10985124" y="3362084"/>
                </a:lnTo>
                <a:lnTo>
                  <a:pt x="10960119" y="3276566"/>
                </a:lnTo>
                <a:lnTo>
                  <a:pt x="10929762" y="3192799"/>
                </a:lnTo>
                <a:lnTo>
                  <a:pt x="10894173" y="3111116"/>
                </a:lnTo>
                <a:lnTo>
                  <a:pt x="10853496" y="3031846"/>
                </a:lnTo>
                <a:lnTo>
                  <a:pt x="10807892" y="2955303"/>
                </a:lnTo>
                <a:lnTo>
                  <a:pt x="10757544" y="2881794"/>
                </a:lnTo>
                <a:lnTo>
                  <a:pt x="10702653" y="2811612"/>
                </a:lnTo>
                <a:lnTo>
                  <a:pt x="10643438" y="2745038"/>
                </a:lnTo>
                <a:lnTo>
                  <a:pt x="10580135" y="2682338"/>
                </a:lnTo>
                <a:lnTo>
                  <a:pt x="10512998" y="2623762"/>
                </a:lnTo>
                <a:lnTo>
                  <a:pt x="10442295" y="2569544"/>
                </a:lnTo>
                <a:lnTo>
                  <a:pt x="10368308" y="2519901"/>
                </a:lnTo>
                <a:lnTo>
                  <a:pt x="10291333" y="2475031"/>
                </a:lnTo>
                <a:lnTo>
                  <a:pt x="10211676" y="2435114"/>
                </a:lnTo>
                <a:lnTo>
                  <a:pt x="10129658" y="2400308"/>
                </a:lnTo>
                <a:lnTo>
                  <a:pt x="10045604" y="2370753"/>
                </a:lnTo>
                <a:lnTo>
                  <a:pt x="9959851" y="2346567"/>
                </a:lnTo>
                <a:lnTo>
                  <a:pt x="9872742" y="2327846"/>
                </a:lnTo>
                <a:lnTo>
                  <a:pt x="9784624" y="2314666"/>
                </a:lnTo>
                <a:lnTo>
                  <a:pt x="9695849" y="2307079"/>
                </a:lnTo>
                <a:lnTo>
                  <a:pt x="9606772" y="2305114"/>
                </a:lnTo>
                <a:lnTo>
                  <a:pt x="9517749" y="2308781"/>
                </a:lnTo>
                <a:lnTo>
                  <a:pt x="9429136" y="2318065"/>
                </a:lnTo>
                <a:lnTo>
                  <a:pt x="9341286" y="2332928"/>
                </a:lnTo>
                <a:lnTo>
                  <a:pt x="9254551" y="2353310"/>
                </a:lnTo>
                <a:lnTo>
                  <a:pt x="9169276" y="2379132"/>
                </a:lnTo>
                <a:lnTo>
                  <a:pt x="9085803" y="2410288"/>
                </a:lnTo>
                <a:lnTo>
                  <a:pt x="9004464" y="2446656"/>
                </a:lnTo>
                <a:lnTo>
                  <a:pt x="8925586" y="2488089"/>
                </a:lnTo>
                <a:lnTo>
                  <a:pt x="8849483" y="2534423"/>
                </a:lnTo>
                <a:lnTo>
                  <a:pt x="8776458" y="2585472"/>
                </a:lnTo>
                <a:lnTo>
                  <a:pt x="8706805" y="2641031"/>
                </a:lnTo>
                <a:lnTo>
                  <a:pt x="8640800" y="2700880"/>
                </a:lnTo>
                <a:lnTo>
                  <a:pt x="8578708" y="2764779"/>
                </a:lnTo>
                <a:lnTo>
                  <a:pt x="8520777" y="2832473"/>
                </a:lnTo>
                <a:lnTo>
                  <a:pt x="8467237" y="2903692"/>
                </a:lnTo>
                <a:lnTo>
                  <a:pt x="8418304" y="2978150"/>
                </a:lnTo>
                <a:lnTo>
                  <a:pt x="8374172" y="3055551"/>
                </a:lnTo>
                <a:lnTo>
                  <a:pt x="8335018" y="3135585"/>
                </a:lnTo>
                <a:lnTo>
                  <a:pt x="8300998" y="3217933"/>
                </a:lnTo>
                <a:lnTo>
                  <a:pt x="8272248" y="3302265"/>
                </a:lnTo>
                <a:lnTo>
                  <a:pt x="8248883" y="3388245"/>
                </a:lnTo>
                <a:lnTo>
                  <a:pt x="8230996" y="3475529"/>
                </a:lnTo>
                <a:lnTo>
                  <a:pt x="8218658" y="3563770"/>
                </a:lnTo>
                <a:lnTo>
                  <a:pt x="8211920" y="3652613"/>
                </a:lnTo>
                <a:lnTo>
                  <a:pt x="8210808" y="3741704"/>
                </a:lnTo>
                <a:lnTo>
                  <a:pt x="8215326" y="3830688"/>
                </a:lnTo>
                <a:lnTo>
                  <a:pt x="8225456" y="3919208"/>
                </a:lnTo>
                <a:lnTo>
                  <a:pt x="8241158" y="4006912"/>
                </a:lnTo>
                <a:lnTo>
                  <a:pt x="8262369" y="4093449"/>
                </a:lnTo>
                <a:lnTo>
                  <a:pt x="8289004" y="4178473"/>
                </a:lnTo>
                <a:lnTo>
                  <a:pt x="8320958" y="4261644"/>
                </a:lnTo>
                <a:lnTo>
                  <a:pt x="8358101" y="4342631"/>
                </a:lnTo>
                <a:lnTo>
                  <a:pt x="8400287" y="4421110"/>
                </a:lnTo>
                <a:lnTo>
                  <a:pt x="8447346" y="4496767"/>
                </a:lnTo>
                <a:lnTo>
                  <a:pt x="8499090" y="4569300"/>
                </a:lnTo>
                <a:lnTo>
                  <a:pt x="8555313" y="4638419"/>
                </a:lnTo>
                <a:lnTo>
                  <a:pt x="8615791" y="4703848"/>
                </a:lnTo>
                <a:lnTo>
                  <a:pt x="8680281" y="4765327"/>
                </a:lnTo>
                <a:lnTo>
                  <a:pt x="8748525" y="4822608"/>
                </a:lnTo>
                <a:lnTo>
                  <a:pt x="8820252" y="4875464"/>
                </a:lnTo>
                <a:lnTo>
                  <a:pt x="8895175" y="4923684"/>
                </a:lnTo>
                <a:lnTo>
                  <a:pt x="8972994" y="4967073"/>
                </a:lnTo>
                <a:lnTo>
                  <a:pt x="9053399" y="5005461"/>
                </a:lnTo>
                <a:lnTo>
                  <a:pt x="9136068" y="5038692"/>
                </a:lnTo>
                <a:lnTo>
                  <a:pt x="9220672" y="5066634"/>
                </a:lnTo>
                <a:lnTo>
                  <a:pt x="9620250" y="3714750"/>
                </a:lnTo>
              </a:path>
            </a:pathLst>
          </a:custGeom>
          <a:solidFill xmlns:a="http://schemas.openxmlformats.org/drawingml/2006/main">
            <a:srgbClr val="DCEFF6"/>
          </a:solidFill>
          <a:ln xmlns:a="http://schemas.openxmlformats.org/drawingml/2006/main" w="23813">
            <a:solidFill>
              <a:srgbClr val="075EA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4ACB52-D1B6-4940-9A99-B1498A6F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1477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 =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035F16-0FD8-48F9-9193-A5161E04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004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θ 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D25B2-5CAB-4A78-92F6-44A0FDA6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28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 = 35.4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F6822-198A-474D-AFCC-AB30AB84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C39B06-C8E8-48FF-BF8A-E6192041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22 / 31</a:t>
            </a:r>
          </a:p>
        </p:txBody>
      </p:sp>
    </p:spTree>
    <p:extLst>
      <p:ext uri="{BB962C8B-B14F-4D97-AF65-F5344CB8AC3E}">
        <p14:creationId xmlns:p14="http://schemas.microsoft.com/office/powerpoint/2010/main" val="206581250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CADD09-9A8C-42BB-86D7-7DEECAC8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Check the setup before arithmetic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1A297F-3BA8-4EDF-82F8-468195E2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For radius, divide arc length by the angle in radians.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6F4483-1D0D-4C0C-A8CC-BE6757C7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For angle, double the sector area and divide by the squared radius.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8C374F-D4F1-4403-8193-CA45A10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 150° sector with radius 20 has area 500π/3≈523.60 square units.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7C16C-FD3A-40C6-AB1F-5C3CE749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B19ED7-282D-4AA1-BA2D-E8358799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23 / 31</a:t>
            </a:r>
          </a:p>
        </p:txBody>
      </p:sp>
    </p:spTree>
    <p:extLst>
      <p:ext uri="{BB962C8B-B14F-4D97-AF65-F5344CB8AC3E}">
        <p14:creationId xmlns:p14="http://schemas.microsoft.com/office/powerpoint/2010/main" val="1697330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075E4-60CB-4D5D-B2A4-82BC2DEF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Arc and sector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469DB-5F3D-4C45-AF79-2BCA7F8D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Circle the requested unknown first.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F38FD-2F10-40A1-BC81-9AD1966C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Convert degrees to radians before substitution.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8EBF6-D2F5-4A9F-A1B7-9602E1B9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Check whether the answer is a length, an area, or an angle.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89E450-A94C-43D6-9ABD-6CD49828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45A04-45DD-44CD-90B4-D5C8020B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24 / 31</a:t>
            </a:r>
          </a:p>
        </p:txBody>
      </p:sp>
    </p:spTree>
    <p:extLst>
      <p:ext uri="{BB962C8B-B14F-4D97-AF65-F5344CB8AC3E}">
        <p14:creationId xmlns:p14="http://schemas.microsoft.com/office/powerpoint/2010/main" val="12300900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002A9-ACB8-4BF2-AFDA-03F36B1C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Same rotation, different distance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527BE-2468-41E7-8E48-7BFD0A5E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Do the center and the rim have the same angular speed?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5FD36-4E32-43C3-8FF0-C8AAE4F9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Does a point farther from the center travel farther per turn?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7199D9-0585-480E-8180-72D945FE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A864D-13EF-4DAE-9377-4CCECB6B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25 / 31</a:t>
            </a:r>
          </a:p>
        </p:txBody>
      </p:sp>
    </p:spTree>
    <p:extLst>
      <p:ext uri="{BB962C8B-B14F-4D97-AF65-F5344CB8AC3E}">
        <p14:creationId xmlns:p14="http://schemas.microsoft.com/office/powerpoint/2010/main" val="140350252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DD47C-DB9E-4082-B3C8-17ECAE38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From rpm to speed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AAC3C-1AB6-47A9-BB68-6AE0EC99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Use radius = diameter ÷ 2.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7CBD3E-892A-42EA-8C02-D628D068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6782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Degrees per second: n·360/60.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49E290-389B-4277-BC4F-7307A726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0964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Radians per second: ω=n·2π/60.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54AB2-380E-45A1-A701-86E48A5C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35146"/>
            <a:ext cx="10858500" cy="5227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Linear speed: v=rω in distance units per second.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28A3F-7416-4C7C-AE0D-4BB5DA60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76022-EC74-4BB9-B236-72BF952E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26 / 31</a:t>
            </a:r>
          </a:p>
        </p:txBody>
      </p:sp>
    </p:spTree>
    <p:extLst>
      <p:ext uri="{BB962C8B-B14F-4D97-AF65-F5344CB8AC3E}">
        <p14:creationId xmlns:p14="http://schemas.microsoft.com/office/powerpoint/2010/main" val="19301148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EF1FE-45CB-49F7-A88F-50B5E7C8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A rotating wheel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42F6B6-0B1F-4EF1-83B1-60593425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57225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EA8"/>
                </a:solidFill>
                <a:latin typeface="Arial"/>
                <a:ea typeface="Arial"/>
                <a:cs typeface="Arial"/>
              </a:rPr>
              <a:t>Diameter = 12 ft, rotation = 24 rpm. Find angular speed in degrees/s and rim speed in ft/s.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2B8D8-3AAE-436E-B423-40F3C47F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368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r=12/2=6 ft.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7CB9A-8F49-4949-B5B7-4B98837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4043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24(360)/60=144°/s.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A9A75-56DA-4281-B69B-062B0673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718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ω=24(2π)/60=4π/5 rad/s.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A79F6-5756-4424-A9BD-E4EC632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7393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v=6(4π/5)=24π/5≈15.08 ft/s.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753F26-C8B6-4D51-BAE2-6359721F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2819400" cy="2819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163A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1D351-48A2-451C-A1F8-B0F6AEE9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pathLst>
              <a:path w="12192000" h="6858000">
                <a:moveTo>
                  <a:pt x="8210550" y="3714750"/>
                </a:moveTo>
                <a:lnTo>
                  <a:pt x="11029950" y="37147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EA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E1B6D-1BCD-4CA1-A5AD-84B3B3A7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9528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75EA8"/>
                </a:solidFill>
                <a:latin typeface="Arial"/>
                <a:ea typeface="Arial"/>
                <a:cs typeface="Arial"/>
              </a:rPr>
              <a:t>diameter = 12 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9B138B-0E01-42A8-BFA6-B72A7451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288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075EA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75EA8"/>
                </a:solidFill>
                <a:latin typeface="Arial"/>
                <a:ea typeface="Arial"/>
                <a:cs typeface="Arial"/>
              </a:rPr>
              <a:t>24 revolutions/min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B02D3D-E32A-412D-9306-37997D29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8FD5F-B834-4379-A623-0AC6DF9C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27 / 31</a:t>
            </a:r>
          </a:p>
        </p:txBody>
      </p:sp>
    </p:spTree>
    <p:extLst>
      <p:ext uri="{BB962C8B-B14F-4D97-AF65-F5344CB8AC3E}">
        <p14:creationId xmlns:p14="http://schemas.microsoft.com/office/powerpoint/2010/main" val="15430459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236EB0-CA91-4F90-8AB0-EF1E04E0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Rotation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BE860-7A11-4507-B1D4-EA8DECE6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 wheel has diameter 8 ft and turns at 30 rpm.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BB2363-8517-4CD8-A185-CBA7DED2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Find angular speed in degrees/s and linear speed at the rim in ft/s.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7F618-C6E6-463A-B86E-F84A69CB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Write the diameter-to-radius step and both unit conversions.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98EB2-3CF0-495F-AE5B-5EA6BEDD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1453DD-F7E8-4774-843F-59FAAF5F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28 / 31</a:t>
            </a:r>
          </a:p>
        </p:txBody>
      </p:sp>
    </p:spTree>
    <p:extLst>
      <p:ext uri="{BB962C8B-B14F-4D97-AF65-F5344CB8AC3E}">
        <p14:creationId xmlns:p14="http://schemas.microsoft.com/office/powerpoint/2010/main" val="20564108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A83C67-3CD4-45B3-9987-3C357365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Two common speed errors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AF3BF4-8CE2-45DB-820C-632CA8F9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Using the diameter in v=rω doubles the speed.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D04C3-B083-4FA6-B1F8-2E20948E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Degrees/s cannot go directly into v=rω; use radians/s.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28B61-B346-4CF0-B0BD-23440FDA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Convert minutes to seconds once, and label the final units.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338E1-2630-4128-8D47-50543600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2E442-5B51-4BF8-82B7-D122F0C7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29 / 31</a:t>
            </a:r>
          </a:p>
        </p:txBody>
      </p:sp>
    </p:spTree>
    <p:extLst>
      <p:ext uri="{BB962C8B-B14F-4D97-AF65-F5344CB8AC3E}">
        <p14:creationId xmlns:p14="http://schemas.microsoft.com/office/powerpoint/2010/main" val="7825834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A36078-DFA2-4D80-B3B0-217BD289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Speed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06D5B-065C-48B5-A10E-E1B741C0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Radius first. Convert rpm. Then multiply radius by radians per second.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C5AC3B-85A9-4CEB-9872-18AA579A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 sensible answer includes a distance unit and a time unit.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4582A-0992-499F-9BBE-D6594B39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B05D9-3F3E-4ADF-8512-A0417717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30 / 31</a:t>
            </a:r>
          </a:p>
        </p:txBody>
      </p:sp>
    </p:spTree>
    <p:extLst>
      <p:ext uri="{BB962C8B-B14F-4D97-AF65-F5344CB8AC3E}">
        <p14:creationId xmlns:p14="http://schemas.microsoft.com/office/powerpoint/2010/main" val="36901184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B7649-DCB7-411B-85DD-5CF6C42D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A5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A5F"/>
                </a:solidFill>
                <a:latin typeface="Arial"/>
                <a:ea typeface="Arial"/>
                <a:cs typeface="Arial"/>
              </a:rPr>
              <a:t>Independent exit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EADD2-800A-4535-9FF1-0F51BB6B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An arc is 8π ft long and its central angle is 120°. Find the radius.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8E1AF-0B14-4D21-AE5A-06820C3B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10858500" cy="849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5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53F"/>
                </a:solidFill>
                <a:latin typeface="Arial"/>
                <a:ea typeface="Arial"/>
                <a:cs typeface="Arial"/>
              </a:rPr>
              <a:t>A wheel has diameter 6 ft and turns at 20 rpm. Find angular speed in degrees/s and rim speed in ft/s.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1CF962-65C3-480D-A06C-8BB38F79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Math 130 · October 19,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3338B-5A94-4F69-BC6A-B2E8E2AF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579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5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579"/>
                </a:solidFill>
                <a:latin typeface="Arial"/>
                <a:ea typeface="Arial"/>
                <a:cs typeface="Arial"/>
              </a:rPr>
              <a:t>31 / 31</a:t>
            </a:r>
          </a:p>
        </p:txBody>
      </p:sp>
    </p:spTree>
    <p:extLst>
      <p:ext uri="{BB962C8B-B14F-4D97-AF65-F5344CB8AC3E}">
        <p14:creationId xmlns:p14="http://schemas.microsoft.com/office/powerpoint/2010/main" val="5250317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2026-10-19T18:33:53.4530000Z</dcterms:created>
  <dcterms:modified xsi:type="dcterms:W3CDTF">2026-10-19T18:33:53.4530000Z</dcterms:modified>
</coreProperties>
</file>