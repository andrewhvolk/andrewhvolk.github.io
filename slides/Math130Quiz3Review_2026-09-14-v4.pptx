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e44713aefa84310" /><Relationship Type="http://schemas.openxmlformats.org/officeDocument/2006/relationships/extended-properties" Target="/docProps/app.xml" Id="R467757a561704896" /><Relationship Type="http://schemas.openxmlformats.org/officeDocument/2006/relationships/officeDocument" Target="/ppt/presentation.xml" Id="R927ba65639364eda" /></Relationships>
</file>

<file path=ppt/presentation.xml><?xml version="1.0" encoding="utf-8"?>
<p:presentation xmlns:p="http://schemas.openxmlformats.org/presentationml/2006/main">
  <p:sldMasterIdLst>
    <p:sldMasterId xmlns:r="http://schemas.openxmlformats.org/officeDocument/2006/relationships" id="2147483648" r:id="R7760623038f94b67"/>
  </p:sldMasterIdLst>
  <p:notesMasterIdLst>
    <p:notesMasterId xmlns:r="http://schemas.openxmlformats.org/officeDocument/2006/relationships" r:id="R7e2eb9cdb0aa457f"/>
  </p:notesMasterIdLst>
  <p:sldIdLst>
    <p:sldId xmlns:r="http://schemas.openxmlformats.org/officeDocument/2006/relationships" id="256" r:id="R6f58923e0230416f"/>
    <p:sldId xmlns:r="http://schemas.openxmlformats.org/officeDocument/2006/relationships" id="257" r:id="Ra6b52a3bf39a4d99"/>
    <p:sldId xmlns:r="http://schemas.openxmlformats.org/officeDocument/2006/relationships" id="258" r:id="Rde6171be107f489b"/>
    <p:sldId xmlns:r="http://schemas.openxmlformats.org/officeDocument/2006/relationships" id="259" r:id="Rbde1ac584a984eb3"/>
    <p:sldId xmlns:r="http://schemas.openxmlformats.org/officeDocument/2006/relationships" id="260" r:id="Ra579bbef16434d9a"/>
    <p:sldId xmlns:r="http://schemas.openxmlformats.org/officeDocument/2006/relationships" id="261" r:id="R8dcbc736d7774264"/>
    <p:sldId xmlns:r="http://schemas.openxmlformats.org/officeDocument/2006/relationships" id="262" r:id="Rd85dcb3514af4a18"/>
    <p:sldId xmlns:r="http://schemas.openxmlformats.org/officeDocument/2006/relationships" id="263" r:id="R3539e4799e3649c7"/>
    <p:sldId xmlns:r="http://schemas.openxmlformats.org/officeDocument/2006/relationships" id="264" r:id="Rc2ef6d358aa649ce"/>
    <p:sldId xmlns:r="http://schemas.openxmlformats.org/officeDocument/2006/relationships" id="265" r:id="R57c4282aa86640e9"/>
    <p:sldId xmlns:r="http://schemas.openxmlformats.org/officeDocument/2006/relationships" id="266" r:id="R1e1400116aba40b8"/>
    <p:sldId xmlns:r="http://schemas.openxmlformats.org/officeDocument/2006/relationships" id="267" r:id="Ra4d3ea6b98b44ef7"/>
    <p:sldId xmlns:r="http://schemas.openxmlformats.org/officeDocument/2006/relationships" id="268" r:id="R45b6591d6066436e"/>
    <p:sldId xmlns:r="http://schemas.openxmlformats.org/officeDocument/2006/relationships" id="269" r:id="R80dce823e2e64920"/>
    <p:sldId xmlns:r="http://schemas.openxmlformats.org/officeDocument/2006/relationships" id="270" r:id="R61a0c30e0605471d"/>
    <p:sldId xmlns:r="http://schemas.openxmlformats.org/officeDocument/2006/relationships" id="271" r:id="Re4fc223b9d81434a"/>
    <p:sldId xmlns:r="http://schemas.openxmlformats.org/officeDocument/2006/relationships" id="272" r:id="R0a0ed895c6394640"/>
    <p:sldId xmlns:r="http://schemas.openxmlformats.org/officeDocument/2006/relationships" id="273" r:id="Rbb02cb0a01ef45ff"/>
    <p:sldId xmlns:r="http://schemas.openxmlformats.org/officeDocument/2006/relationships" id="274" r:id="Rcd8343ea42bb4615"/>
    <p:sldId xmlns:r="http://schemas.openxmlformats.org/officeDocument/2006/relationships" id="275" r:id="Rac1fc2090c604fb3"/>
    <p:sldId xmlns:r="http://schemas.openxmlformats.org/officeDocument/2006/relationships" id="276" r:id="R4bd6cfbfc1a5417e"/>
    <p:sldId xmlns:r="http://schemas.openxmlformats.org/officeDocument/2006/relationships" id="277" r:id="R3e8a1f2d42da44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177d85cd8b40b6" /><Relationship Type="http://schemas.openxmlformats.org/officeDocument/2006/relationships/slideMaster" Target="/ppt/slideMasters/slideMaster1.xml" Id="R7760623038f94b67" /><Relationship Type="http://schemas.openxmlformats.org/officeDocument/2006/relationships/notesMaster" Target="/ppt/notesMasters/notesMaster1.xml" Id="R7e2eb9cdb0aa457f" /><Relationship Type="http://schemas.openxmlformats.org/officeDocument/2006/relationships/presProps" Target="/ppt/presProps.xml" Id="R1867250171454c71" /><Relationship Type="http://schemas.openxmlformats.org/officeDocument/2006/relationships/tableStyles" Target="/ppt/tableStyles.xml" Id="R7d0570566a6942f4" /><Relationship Type="http://schemas.openxmlformats.org/officeDocument/2006/relationships/slide" Target="/ppt/slides/slide1.xml" Id="R6f58923e0230416f" /><Relationship Type="http://schemas.openxmlformats.org/officeDocument/2006/relationships/slide" Target="/ppt/slides/slide2.xml" Id="Ra6b52a3bf39a4d99" /><Relationship Type="http://schemas.openxmlformats.org/officeDocument/2006/relationships/slide" Target="/ppt/slides/slide3.xml" Id="Rde6171be107f489b" /><Relationship Type="http://schemas.openxmlformats.org/officeDocument/2006/relationships/slide" Target="/ppt/slides/slide4.xml" Id="Rbde1ac584a984eb3" /><Relationship Type="http://schemas.openxmlformats.org/officeDocument/2006/relationships/slide" Target="/ppt/slides/slide5.xml" Id="Ra579bbef16434d9a" /><Relationship Type="http://schemas.openxmlformats.org/officeDocument/2006/relationships/slide" Target="/ppt/slides/slide6.xml" Id="R8dcbc736d7774264" /><Relationship Type="http://schemas.openxmlformats.org/officeDocument/2006/relationships/slide" Target="/ppt/slides/slide7.xml" Id="Rd85dcb3514af4a18" /><Relationship Type="http://schemas.openxmlformats.org/officeDocument/2006/relationships/slide" Target="/ppt/slides/slide8.xml" Id="R3539e4799e3649c7" /><Relationship Type="http://schemas.openxmlformats.org/officeDocument/2006/relationships/slide" Target="/ppt/slides/slide9.xml" Id="Rc2ef6d358aa649ce" /><Relationship Type="http://schemas.openxmlformats.org/officeDocument/2006/relationships/slide" Target="/ppt/slides/slide10.xml" Id="R57c4282aa86640e9" /><Relationship Type="http://schemas.openxmlformats.org/officeDocument/2006/relationships/slide" Target="/ppt/slides/slide11.xml" Id="R1e1400116aba40b8" /><Relationship Type="http://schemas.openxmlformats.org/officeDocument/2006/relationships/slide" Target="/ppt/slides/slide12.xml" Id="Ra4d3ea6b98b44ef7" /><Relationship Type="http://schemas.openxmlformats.org/officeDocument/2006/relationships/slide" Target="/ppt/slides/slide13.xml" Id="R45b6591d6066436e" /><Relationship Type="http://schemas.openxmlformats.org/officeDocument/2006/relationships/slide" Target="/ppt/slides/slide14.xml" Id="R80dce823e2e64920" /><Relationship Type="http://schemas.openxmlformats.org/officeDocument/2006/relationships/slide" Target="/ppt/slides/slide15.xml" Id="R61a0c30e0605471d" /><Relationship Type="http://schemas.openxmlformats.org/officeDocument/2006/relationships/slide" Target="/ppt/slides/slide16.xml" Id="Re4fc223b9d81434a" /><Relationship Type="http://schemas.openxmlformats.org/officeDocument/2006/relationships/slide" Target="/ppt/slides/slide17.xml" Id="R0a0ed895c6394640" /><Relationship Type="http://schemas.openxmlformats.org/officeDocument/2006/relationships/slide" Target="/ppt/slides/slide18.xml" Id="Rbb02cb0a01ef45ff" /><Relationship Type="http://schemas.openxmlformats.org/officeDocument/2006/relationships/slide" Target="/ppt/slides/slide19.xml" Id="Rcd8343ea42bb4615" /><Relationship Type="http://schemas.openxmlformats.org/officeDocument/2006/relationships/slide" Target="/ppt/slides/slide20.xml" Id="Rac1fc2090c604fb3" /><Relationship Type="http://schemas.openxmlformats.org/officeDocument/2006/relationships/slide" Target="/ppt/slides/slide21.xml" Id="R4bd6cfbfc1a5417e" /><Relationship Type="http://schemas.openxmlformats.org/officeDocument/2006/relationships/slide" Target="/ppt/slides/slide22.xml" Id="R3e8a1f2d42da44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4f40a1c48c147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fef045692b4212" /><Relationship Type="http://schemas.openxmlformats.org/officeDocument/2006/relationships/notesMaster" Target="/ppt/notesMasters/notesMaster1.xml" Id="Rd98240e44126480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7286f56cba4f52" /><Relationship Type="http://schemas.openxmlformats.org/officeDocument/2006/relationships/notesMaster" Target="/ppt/notesMasters/notesMaster1.xml" Id="R5d644ef52dda4c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fdab69fea6400f" /><Relationship Type="http://schemas.openxmlformats.org/officeDocument/2006/relationships/notesMaster" Target="/ppt/notesMasters/notesMaster1.xml" Id="Rc2c436b0c6d34e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55cd80763e4fcb" /><Relationship Type="http://schemas.openxmlformats.org/officeDocument/2006/relationships/notesMaster" Target="/ppt/notesMasters/notesMaster1.xml" Id="R2ccf13d682d84b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86b543fe064834" /><Relationship Type="http://schemas.openxmlformats.org/officeDocument/2006/relationships/notesMaster" Target="/ppt/notesMasters/notesMaster1.xml" Id="R99a95d1adc88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364b0ff0a74fd2" /><Relationship Type="http://schemas.openxmlformats.org/officeDocument/2006/relationships/notesMaster" Target="/ppt/notesMasters/notesMaster1.xml" Id="R03f6d0b9113941b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7de1e223054090" /><Relationship Type="http://schemas.openxmlformats.org/officeDocument/2006/relationships/notesMaster" Target="/ppt/notesMasters/notesMaster1.xml" Id="Rc2d62d5159cf4b3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799eabadea4862" /><Relationship Type="http://schemas.openxmlformats.org/officeDocument/2006/relationships/notesMaster" Target="/ppt/notesMasters/notesMaster1.xml" Id="R63fb555f3cde4f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fd010d76364e68" /><Relationship Type="http://schemas.openxmlformats.org/officeDocument/2006/relationships/notesMaster" Target="/ppt/notesMasters/notesMaster1.xml" Id="Rae2a87a79ad5442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e7db0b557104bc4" /><Relationship Type="http://schemas.openxmlformats.org/officeDocument/2006/relationships/notesMaster" Target="/ppt/notesMasters/notesMaster1.xml" Id="R68c7162fc3844e6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900239f93b4471" /><Relationship Type="http://schemas.openxmlformats.org/officeDocument/2006/relationships/notesMaster" Target="/ppt/notesMasters/notesMaster1.xml" Id="Rb1913db8d4814e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9226c1f57864159" /><Relationship Type="http://schemas.openxmlformats.org/officeDocument/2006/relationships/notesMaster" Target="/ppt/notesMasters/notesMaster1.xml" Id="R285c41f50ed84ca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fcb119046e4670" /><Relationship Type="http://schemas.openxmlformats.org/officeDocument/2006/relationships/notesMaster" Target="/ppt/notesMasters/notesMaster1.xml" Id="Rc995016438694e9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a5ed77652f4c04" /><Relationship Type="http://schemas.openxmlformats.org/officeDocument/2006/relationships/notesMaster" Target="/ppt/notesMasters/notesMaster1.xml" Id="R61e60f0d19e449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b39218d102446a" /><Relationship Type="http://schemas.openxmlformats.org/officeDocument/2006/relationships/notesMaster" Target="/ppt/notesMasters/notesMaster1.xml" Id="R6ef7103b31e9498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c48d9dc7194f6d" /><Relationship Type="http://schemas.openxmlformats.org/officeDocument/2006/relationships/notesMaster" Target="/ppt/notesMasters/notesMaster1.xml" Id="Re1dc62379f04463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ceab5685944df9" /><Relationship Type="http://schemas.openxmlformats.org/officeDocument/2006/relationships/notesMaster" Target="/ppt/notesMasters/notesMaster1.xml" Id="R73d62cc39c054ea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796fd67d5f4235" /><Relationship Type="http://schemas.openxmlformats.org/officeDocument/2006/relationships/notesMaster" Target="/ppt/notesMasters/notesMaster1.xml" Id="R4d1273fd62da43b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b7e321560d4d58" /><Relationship Type="http://schemas.openxmlformats.org/officeDocument/2006/relationships/notesMaster" Target="/ppt/notesMasters/notesMaster1.xml" Id="R06e799b78ab6484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c75665db0cb4bcc" /><Relationship Type="http://schemas.openxmlformats.org/officeDocument/2006/relationships/notesMaster" Target="/ppt/notesMasters/notesMaster1.xml" Id="Ref286aa9636d44b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cf2b8c365404fb5" /><Relationship Type="http://schemas.openxmlformats.org/officeDocument/2006/relationships/notesMaster" Target="/ppt/notesMasters/notesMaster1.xml" Id="R07780ba7dd0b45c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8dcd8e5588546ed" /><Relationship Type="http://schemas.openxmlformats.org/officeDocument/2006/relationships/notesMaster" Target="/ppt/notesMasters/notesMaster1.xml" Id="R8ffbd66bea0e4e2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 Open with the purpose of the class: clarify Quiz 3 coverage, interpret the class activity snapshot, and practice the two major skill families. Canvas remains the source of truth for the exact quiz time and any coverage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3:15–3:16. Preview the pacing. Protect the mixed-practice and exit time. Students need a clear distinction between current ALEKS work and the narrower Quiz 3 coverage.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3:16–3:19. Keep this aggregate and supportive. Average current-module progress is 44.0%, median 47.8%. Twenty-two students are below 50%, twelve are at 50–79%, and five are at 80% or higher, including three who are complete. Source: C:/Users/andre/Downloads/report.xlsx, current-learning report, active roster matched by student ID. John Garrett and Kathryn Brown were excluded as withdrawn.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3:19–3:22. Recent activity covers September 8–14. Thirty students recorded some activity and nine recorded none. Nineteen students recorded less than 30 minutes. The class logged 59.9 hours. Activity is deadline-clustered: September 8–9 accounts for 59.5% of September 5–11 hours. Time alone has a weak relationship with current progress, Pearson r = 0.118. Source: C:/Users/andre/Downloads/Time_and_Topic (2).xlsx, class_progress A1:FC43. Do not identify individual students from this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3:22–3:23. State the boundary clearly. Quiz 3 has six task types: distance and midpoint, polynomial intercepts, slope and a line equation, a coordinate table with ordered-pair checks, two circle tasks, and a quadratic rectangle application. Function evaluation, domain, and parallel or perpendicular lines are deferred. ALEKS still requires completion of Sections 2.1, 2.2, and 2.4. Canvas controls the official deadline and any late coverage adjustment.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3:23–3:28. Give uninterrupted work time. Do not reteach yet. Scan for coordinate order, incomplete factoring, confusion between a table value and an ordered-pair check, and failure to reject a negative dimension.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3:28–3:30. Check quickly. Ask students to identify the first divergent step rather than copy answers. Use the error pattern to emphasize the next review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3:30–3:33. Ask students to name what each formula measures. Midpoint averages. Distance is a length. Slope is a signed ratio. The signs inside a circle equation are opposite the center coordinates.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3:33–3:36. Model consistent coordinate order. Ask why the distance simplifies to 10 and how the midpoint can be checked visually.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3:36–3:39. Answers: Δx = 6, Δy = −8. Midpoint (−1, 3). Distance √100 = 10. Give the full three minutes before discussing.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3:39–3:43. Build the line from the two points. Keep the slope calculation and point-slope substitution visible. For intercepts, set the other variable to zero. Check both original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3:43–3:46. Answers: m = 2, y = 2x − 4, x-intercept (2, 0), y-intercept (0, −4). Ask students to verify one original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3:46–3:49. This task form did not receive enough attention Friday. Model all three x-intercepts and the y-intercept. Emphasize complete factoring and a list of distinct ordered pairs. This example matches the quiz structure without using either quiz version's constants.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3:49–3:52. The quiz separates two actions: completing missing coordinates and testing supplied ordered pairs. Work one table column at a time. For a point, substitute both x and y and compare the two sides. Table answers: y = −6, y = 0, x = 6. The first point is a solution and the second is not.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3:52–3:55. Cover both circle task forms on the quiz. From an equation, reverse the signs and take the positive square root. From a stated diameter, divide by 2 to get the radius before writing standard form.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3:49–3:53. Emphasize the modeling chain: define dimensions, write the area equation, solve, then interpret. A negative number can solve the equation without solving the physical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3:55–3:58. Give three minutes. Require setup even if a student cannot finish. These prompts cover quiz questions 1–3 without using either quiz version's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3:58–4:00. Give two minutes to set up each task, then finish the task students found hardest. These prompts cover quiz questions 4–6 without using either quiz version's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4:00–4:01. Reveal the first three answers. Ask for one verification: recompute the coordinate changes, substitute an original point, or multiply the factors.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4:01–4:02. Reveal the final three answers. Ask students to substitute the point, identify r², or multiply the dimensions.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4:02–4:04. Use this as a verbal checklist. Ask students to choose the one error they are most likely to make.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4:04–4:05. Collect the response or check it at the door. Midpoint (−1, 2), slope −4/3. Remind students that all three ALEKS sections remain due Wednesday at 2:10 PM and that Canvas is the official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0027b3c200458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9e75a7e42c24199" /><Relationship Type="http://schemas.openxmlformats.org/officeDocument/2006/relationships/slideLayout" Target="/ppt/slideLayouts/slideLayout1.xml" Id="R055ca55b094044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5ca55b094044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6ffc32fd16c4e6e" /><Relationship Type="http://schemas.openxmlformats.org/officeDocument/2006/relationships/notesSlide" Target="/ppt/notesSlides/notesSlide1.xml" Id="R2585e0ec5f374a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45bfa1c5eaf4f6f" /><Relationship Type="http://schemas.openxmlformats.org/officeDocument/2006/relationships/notesSlide" Target="/ppt/notesSlides/notesSlide2.xml" Id="R5d1ecf30bb0440e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c105e0282f42f2" /><Relationship Type="http://schemas.openxmlformats.org/officeDocument/2006/relationships/chart" Target="/ppt/slides/charts/chart1.xml" Id="R4d3e41b418ea4d03" /><Relationship Type="http://schemas.openxmlformats.org/officeDocument/2006/relationships/notesSlide" Target="/ppt/notesSlides/notesSlide3.xml" Id="Rf05c02e8cb9845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6797e08fee642a3" /><Relationship Type="http://schemas.openxmlformats.org/officeDocument/2006/relationships/chart" Target="/ppt/slides/charts/chart2.xml" Id="R347a4fa140fb4e57" /><Relationship Type="http://schemas.openxmlformats.org/officeDocument/2006/relationships/notesSlide" Target="/ppt/notesSlides/notesSlide4.xml" Id="Re2ed1bf8e3ce499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befa96841c44c4" /><Relationship Type="http://schemas.openxmlformats.org/officeDocument/2006/relationships/notesSlide" Target="/ppt/notesSlides/notesSlide5.xml" Id="R9a0971438b3d43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7f248c700464923" /><Relationship Type="http://schemas.openxmlformats.org/officeDocument/2006/relationships/notesSlide" Target="/ppt/notesSlides/notesSlide6.xml" Id="R4b953bfabf0243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f68b6bf9454d20" /><Relationship Type="http://schemas.openxmlformats.org/officeDocument/2006/relationships/notesSlide" Target="/ppt/notesSlides/notesSlide7.xml" Id="Rebc20b9489b340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196d5f572fb4945" /><Relationship Type="http://schemas.openxmlformats.org/officeDocument/2006/relationships/notesSlide" Target="/ppt/notesSlides/notesSlide8.xml" Id="Rca0fce37182b4b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5f99755c9c49c2" /><Relationship Type="http://schemas.openxmlformats.org/officeDocument/2006/relationships/notesSlide" Target="/ppt/notesSlides/notesSlide9.xml" Id="R63cc0c02966747b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00a5e81057427c" /><Relationship Type="http://schemas.openxmlformats.org/officeDocument/2006/relationships/notesSlide" Target="/ppt/notesSlides/notesSlide10.xml" Id="Rae832f0383ed4e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51998af4c44eba" /><Relationship Type="http://schemas.openxmlformats.org/officeDocument/2006/relationships/notesSlide" Target="/ppt/notesSlides/notesSlide11.xml" Id="R254f85035f584e1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9fbe5e8b38e43c2" /><Relationship Type="http://schemas.openxmlformats.org/officeDocument/2006/relationships/notesSlide" Target="/ppt/notesSlides/notesSlide12.xml" Id="R84035b5ae25a41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4379cf7b3f49eb" /><Relationship Type="http://schemas.openxmlformats.org/officeDocument/2006/relationships/notesSlide" Target="/ppt/notesSlides/notesSlide13.xml" Id="R2d06b21ffd3d437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b86f90de0348d7" /><Relationship Type="http://schemas.openxmlformats.org/officeDocument/2006/relationships/notesSlide" Target="/ppt/notesSlides/notesSlide14.xml" Id="Rad9aa413f20641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99989ba142f4ca0" /><Relationship Type="http://schemas.openxmlformats.org/officeDocument/2006/relationships/notesSlide" Target="/ppt/notesSlides/notesSlide15.xml" Id="R5204ff4d8bbf4f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272446b94f42bf" /><Relationship Type="http://schemas.openxmlformats.org/officeDocument/2006/relationships/notesSlide" Target="/ppt/notesSlides/notesSlide16.xml" Id="R636017b9860c46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506b349a1624c56" /><Relationship Type="http://schemas.openxmlformats.org/officeDocument/2006/relationships/notesSlide" Target="/ppt/notesSlides/notesSlide17.xml" Id="Re74dc5858ad24e6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551546f505b48fb" /><Relationship Type="http://schemas.openxmlformats.org/officeDocument/2006/relationships/notesSlide" Target="/ppt/notesSlides/notesSlide18.xml" Id="R05e5100588684e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8d32bb137b4448" /><Relationship Type="http://schemas.openxmlformats.org/officeDocument/2006/relationships/notesSlide" Target="/ppt/notesSlides/notesSlide19.xml" Id="R7b051f329fa342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c5a87c197fc84a02" /><Relationship Type="http://schemas.openxmlformats.org/officeDocument/2006/relationships/notesSlide" Target="/ppt/notesSlides/notesSlide20.xml" Id="R4616a6d6523449c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78bebcea254962" /><Relationship Type="http://schemas.openxmlformats.org/officeDocument/2006/relationships/notesSlide" Target="/ppt/notesSlides/notesSlide21.xml" Id="Rbb1da5818f7942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5a50a5480383460f" /><Relationship Type="http://schemas.openxmlformats.org/officeDocument/2006/relationships/notesSlide" Target="/ppt/notesSlides/notesSlide22.xml" Id="Racb10babe2fa49e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Students</c:v>
          </c:tx>
          <c:spPr>
            <a:solidFill xmlns:a="http://schemas.openxmlformats.org/drawingml/2006/main">
              <a:srgbClr val="1777B4"/>
            </a:solidFill>
          </c:spPr>
          <c:cat>
            <c:strRef>
              <c:f>'Chart Data'!$A$2:$A$4</c:f>
              <c:strCache>
                <c:ptCount val="3"/>
                <c:pt idx="0">
                  <c:v>Below 50%</c:v>
                </c:pt>
                <c:pt idx="1">
                  <c:v>50–79%</c:v>
                </c:pt>
                <c:pt idx="2">
                  <c:v>80% or higher</c:v>
                </c:pt>
              </c:strCache>
            </c:strRef>
          </c:cat>
          <c:val>
            <c:numRef>
              <c:f>'Chart Data'!$B$2:$B$4</c:f>
              <c:numCache>
                <c:formatCode>General</c:formatCode>
                <c:ptCount val="3"/>
                <c:pt idx="0">
                  <c:v>22</c:v>
                </c:pt>
                <c:pt idx="1">
                  <c:v>12</c:v>
                </c:pt>
                <c:pt idx="2">
                  <c:v>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1344E"/>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DE5EA"/>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783"/>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125">
                <a:solidFill>
                  <a:srgbClr val="18364D"/>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Students</c:v>
          </c:tx>
          <c:spPr>
            <a:solidFill xmlns:a="http://schemas.openxmlformats.org/drawingml/2006/main">
              <a:srgbClr val="148A68"/>
            </a:solidFill>
          </c:spPr>
          <c:cat>
            <c:strRef>
              <c:f>'Chart Data'!$A$2:$A$5</c:f>
              <c:strCache>
                <c:ptCount val="4"/>
                <c:pt idx="0">
                  <c:v>No recorded time</c:v>
                </c:pt>
                <c:pt idx="1">
                  <c:v>1–29 minutes</c:v>
                </c:pt>
                <c:pt idx="2">
                  <c:v>30–119 minutes</c:v>
                </c:pt>
                <c:pt idx="3">
                  <c:v>2+ hours</c:v>
                </c:pt>
              </c:strCache>
            </c:strRef>
          </c:cat>
          <c:val>
            <c:numRef>
              <c:f>'Chart Data'!$B$2:$B$5</c:f>
              <c:numCache>
                <c:formatCode>General</c:formatCode>
                <c:ptCount val="4"/>
                <c:pt idx="0">
                  <c:v>9</c:v>
                </c:pt>
                <c:pt idx="1">
                  <c:v>10</c:v>
                </c:pt>
                <c:pt idx="2">
                  <c:v>9</c:v>
                </c:pt>
                <c:pt idx="3">
                  <c:v>11</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11344E"/>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majorGridlines>
          <c:spPr>
            <a:ln xmlns:a="http://schemas.openxmlformats.org/drawingml/2006/main" w="9525">
              <a:solidFill>
                <a:srgbClr val="DDE5EA"/>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87783"/>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18364D"/>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1344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408E8E3-40D1-40ED-A8C8-95CD06D4810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5E19AA0-5ED6-4249-86C0-020AE8979492}"/>
              </a:ext>
            </a:extLst>
          </p:cNvPr>
          <p:cNvSpPr>
            <a:spLocks xmlns:a="http://schemas.openxmlformats.org/drawingml/2006/main" noGrp="1"/>
          </p:cNvSpPr>
          <p:nvPr/>
        </p:nvSpPr>
        <p:spPr>
          <a:xfrm xmlns:a="http://schemas.openxmlformats.org/drawingml/2006/main">
            <a:off x="666750" y="514350"/>
            <a:ext cx="228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48A68"/>
                </a:solidFill>
                <a:latin typeface="Arial"/>
                <a:ea typeface="Arial"/>
                <a:cs typeface="Arial"/>
              </a:defRPr>
            </a:pPr>
            <a:r>
              <a:rPr sz="1050" b="1">
                <a:solidFill>
                  <a:srgbClr val="148A68"/>
                </a:solidFill>
                <a:latin typeface="Arial"/>
                <a:ea typeface="Arial"/>
                <a:cs typeface="Arial"/>
              </a:rPr>
              <a:t>MATH 130</a:t>
            </a:r>
          </a:p>
        </p:txBody>
      </p:sp>
      <p:sp>
        <p:nvSpPr>
          <p:cNvPr id="3" name="">
            <a:extLst xmlns:a="http://schemas.openxmlformats.org/drawingml/2006/main">
              <a:ext uri="{FF2B5EF4-FFF2-40B4-BE49-F238E27FC236}">
                <a16:creationId xmlns:a16="http://schemas.microsoft.com/office/drawing/2014/main" id="{B53C78C2-F615-476A-9B44-1D4A1ED11B7E}"/>
              </a:ext>
            </a:extLst>
          </p:cNvPr>
          <p:cNvSpPr>
            <a:spLocks xmlns:a="http://schemas.openxmlformats.org/drawingml/2006/main" noGrp="1"/>
          </p:cNvSpPr>
          <p:nvPr/>
        </p:nvSpPr>
        <p:spPr>
          <a:xfrm xmlns:a="http://schemas.openxmlformats.org/drawingml/2006/main">
            <a:off x="666750" y="1352550"/>
            <a:ext cx="790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Quiz 3 readiness</a:t>
            </a:r>
          </a:p>
        </p:txBody>
      </p:sp>
      <p:sp>
        <p:nvSpPr>
          <p:cNvPr id="4" name="">
            <a:extLst xmlns:a="http://schemas.openxmlformats.org/drawingml/2006/main">
              <a:ext uri="{FF2B5EF4-FFF2-40B4-BE49-F238E27FC236}">
                <a16:creationId xmlns:a16="http://schemas.microsoft.com/office/drawing/2014/main" id="{77E00E18-EECE-4879-B3C6-FCA8B1F5F88D}"/>
              </a:ext>
            </a:extLst>
          </p:cNvPr>
          <p:cNvSpPr>
            <a:spLocks xmlns:a="http://schemas.openxmlformats.org/drawingml/2006/main" noGrp="1"/>
          </p:cNvSpPr>
          <p:nvPr/>
        </p:nvSpPr>
        <p:spPr>
          <a:xfrm xmlns:a="http://schemas.openxmlformats.org/drawingml/2006/main">
            <a:off x="666750" y="211455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D7E6EF"/>
                </a:solidFill>
                <a:latin typeface="Arial"/>
                <a:ea typeface="Arial"/>
                <a:cs typeface="Arial"/>
              </a:defRPr>
            </a:pPr>
            <a:r>
              <a:rPr sz="1800" b="0">
                <a:solidFill>
                  <a:srgbClr val="D7E6EF"/>
                </a:solidFill>
                <a:latin typeface="Arial"/>
                <a:ea typeface="Arial"/>
                <a:cs typeface="Arial"/>
              </a:rPr>
              <a:t>Coordinate geometry and quadratic applications</a:t>
            </a:r>
          </a:p>
        </p:txBody>
      </p:sp>
      <p:sp>
        <p:nvSpPr>
          <p:cNvPr id="5" name="">
            <a:extLst xmlns:a="http://schemas.openxmlformats.org/drawingml/2006/main">
              <a:ext uri="{FF2B5EF4-FFF2-40B4-BE49-F238E27FC236}">
                <a16:creationId xmlns:a16="http://schemas.microsoft.com/office/drawing/2014/main" id="{1729AA33-38E6-4F26-9030-A59FC9FE1299}"/>
              </a:ext>
            </a:extLst>
          </p:cNvPr>
          <p:cNvSpPr>
            <a:spLocks xmlns:a="http://schemas.openxmlformats.org/drawingml/2006/main" noGrp="1"/>
          </p:cNvSpPr>
          <p:nvPr/>
        </p:nvSpPr>
        <p:spPr>
          <a:xfrm xmlns:a="http://schemas.openxmlformats.org/drawingml/2006/main">
            <a:off x="666750" y="2952750"/>
            <a:ext cx="6667500" cy="0"/>
          </a:xfrm>
          <a:prstGeom xmlns:a="http://schemas.openxmlformats.org/drawingml/2006/main" prst="line">
            <a:avLst/>
          </a:prstGeom>
          <a:noFill xmlns:a="http://schemas.openxmlformats.org/drawingml/2006/main"/>
          <a:ln xmlns:a="http://schemas.openxmlformats.org/drawingml/2006/main" w="19050">
            <a:solidFill>
              <a:srgbClr val="2C5772"/>
            </a:solidFill>
            <a:prstDash val="solid"/>
          </a:ln>
        </p:spPr>
      </p:sp>
      <p:sp>
        <p:nvSpPr>
          <p:cNvPr id="6" name="">
            <a:extLst xmlns:a="http://schemas.openxmlformats.org/drawingml/2006/main">
              <a:ext uri="{FF2B5EF4-FFF2-40B4-BE49-F238E27FC236}">
                <a16:creationId xmlns:a16="http://schemas.microsoft.com/office/drawing/2014/main" id="{41F03282-E614-4106-B3B0-43F81C430221}"/>
              </a:ext>
            </a:extLst>
          </p:cNvPr>
          <p:cNvSpPr>
            <a:spLocks xmlns:a="http://schemas.openxmlformats.org/drawingml/2006/main" noGrp="1"/>
          </p:cNvSpPr>
          <p:nvPr/>
        </p:nvSpPr>
        <p:spPr>
          <a:xfrm xmlns:a="http://schemas.openxmlformats.org/drawingml/2006/main">
            <a:off x="666750" y="3314700"/>
            <a:ext cx="4953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Monday, September 14, 2026</a:t>
            </a:r>
          </a:p>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3:15–4:05 PM</a:t>
            </a:r>
          </a:p>
        </p:txBody>
      </p:sp>
      <p:sp>
        <p:nvSpPr>
          <p:cNvPr id="7" name="">
            <a:extLst xmlns:a="http://schemas.openxmlformats.org/drawingml/2006/main">
              <a:ext uri="{FF2B5EF4-FFF2-40B4-BE49-F238E27FC236}">
                <a16:creationId xmlns:a16="http://schemas.microsoft.com/office/drawing/2014/main" id="{C21558AA-5EA7-414B-945D-AB14492B3D7E}"/>
              </a:ext>
            </a:extLst>
          </p:cNvPr>
          <p:cNvSpPr>
            <a:spLocks xmlns:a="http://schemas.openxmlformats.org/drawingml/2006/main" noGrp="1"/>
          </p:cNvSpPr>
          <p:nvPr/>
        </p:nvSpPr>
        <p:spPr>
          <a:xfrm xmlns:a="http://schemas.openxmlformats.org/drawingml/2006/main">
            <a:off x="9525000" y="1447800"/>
            <a:ext cx="152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750" b="1">
                <a:solidFill>
                  <a:srgbClr val="148A68"/>
                </a:solidFill>
                <a:latin typeface="Arial"/>
                <a:ea typeface="Arial"/>
                <a:cs typeface="Arial"/>
              </a:defRPr>
            </a:pPr>
            <a:r>
              <a:rPr sz="3750" b="1">
                <a:solidFill>
                  <a:srgbClr val="148A68"/>
                </a:solidFill>
                <a:latin typeface="Arial"/>
                <a:ea typeface="Arial"/>
                <a:cs typeface="Arial"/>
              </a:rPr>
              <a:t>2.1</a:t>
            </a:r>
          </a:p>
        </p:txBody>
      </p:sp>
      <p:sp>
        <p:nvSpPr>
          <p:cNvPr id="8" name="">
            <a:extLst xmlns:a="http://schemas.openxmlformats.org/drawingml/2006/main">
              <a:ext uri="{FF2B5EF4-FFF2-40B4-BE49-F238E27FC236}">
                <a16:creationId xmlns:a16="http://schemas.microsoft.com/office/drawing/2014/main" id="{F810F888-6EB7-49D6-9DCA-FF80F1CAEE27}"/>
              </a:ext>
            </a:extLst>
          </p:cNvPr>
          <p:cNvSpPr>
            <a:spLocks xmlns:a="http://schemas.openxmlformats.org/drawingml/2006/main" noGrp="1"/>
          </p:cNvSpPr>
          <p:nvPr/>
        </p:nvSpPr>
        <p:spPr>
          <a:xfrm xmlns:a="http://schemas.openxmlformats.org/drawingml/2006/main">
            <a:off x="9429750" y="215265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F2AD12"/>
                </a:solidFill>
                <a:latin typeface="Arial"/>
                <a:ea typeface="Arial"/>
                <a:cs typeface="Arial"/>
              </a:defRPr>
            </a:pPr>
            <a:r>
              <a:rPr sz="1725" b="1">
                <a:solidFill>
                  <a:srgbClr val="F2AD12"/>
                </a:solidFill>
                <a:latin typeface="Arial"/>
                <a:ea typeface="Arial"/>
                <a:cs typeface="Arial"/>
              </a:rPr>
              <a:t>2.2   2.4</a:t>
            </a:r>
          </a:p>
        </p:txBody>
      </p:sp>
      <p:sp>
        <p:nvSpPr>
          <p:cNvPr id="9" name="">
            <a:extLst xmlns:a="http://schemas.openxmlformats.org/drawingml/2006/main">
              <a:ext uri="{FF2B5EF4-FFF2-40B4-BE49-F238E27FC236}">
                <a16:creationId xmlns:a16="http://schemas.microsoft.com/office/drawing/2014/main" id="{D9E5F4F4-BD4B-4D38-9556-E408703E2DAF}"/>
              </a:ext>
            </a:extLst>
          </p:cNvPr>
          <p:cNvSpPr>
            <a:spLocks xmlns:a="http://schemas.openxmlformats.org/drawingml/2006/main" noGrp="1"/>
          </p:cNvSpPr>
          <p:nvPr/>
        </p:nvSpPr>
        <p:spPr>
          <a:xfrm xmlns:a="http://schemas.openxmlformats.org/drawingml/2006/main">
            <a:off x="9239250" y="25908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750" b="1">
                <a:solidFill>
                  <a:srgbClr val="C7D7E2"/>
                </a:solidFill>
                <a:latin typeface="Arial"/>
                <a:ea typeface="Arial"/>
                <a:cs typeface="Arial"/>
              </a:defRPr>
            </a:pPr>
            <a:r>
              <a:rPr sz="750" b="1">
                <a:solidFill>
                  <a:srgbClr val="C7D7E2"/>
                </a:solidFill>
                <a:latin typeface="Arial"/>
                <a:ea typeface="Arial"/>
                <a:cs typeface="Arial"/>
              </a:rPr>
              <a:t>CURRENT ALEKS MODULE</a:t>
            </a:r>
          </a:p>
        </p:txBody>
      </p:sp>
      <p:sp>
        <p:nvSpPr>
          <p:cNvPr id="10" name="">
            <a:extLst xmlns:a="http://schemas.openxmlformats.org/drawingml/2006/main">
              <a:ext uri="{FF2B5EF4-FFF2-40B4-BE49-F238E27FC236}">
                <a16:creationId xmlns:a16="http://schemas.microsoft.com/office/drawing/2014/main" id="{0D9400F1-6AD6-4E30-955B-7C2C54CD3448}"/>
              </a:ext>
            </a:extLst>
          </p:cNvPr>
          <p:cNvSpPr>
            <a:spLocks xmlns:a="http://schemas.openxmlformats.org/drawingml/2006/main" noGrp="1"/>
          </p:cNvSpPr>
          <p:nvPr/>
        </p:nvSpPr>
        <p:spPr>
          <a:xfrm xmlns:a="http://schemas.openxmlformats.org/drawingml/2006/main">
            <a:off x="666750" y="5676900"/>
            <a:ext cx="619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2AD12"/>
                </a:solidFill>
                <a:latin typeface="Arial"/>
                <a:ea typeface="Arial"/>
                <a:cs typeface="Arial"/>
              </a:defRPr>
            </a:pPr>
            <a:r>
              <a:rPr sz="1125" b="1">
                <a:solidFill>
                  <a:srgbClr val="F2AD12"/>
                </a:solidFill>
                <a:latin typeface="Arial"/>
                <a:ea typeface="Arial"/>
                <a:cs typeface="Arial"/>
              </a:rPr>
              <a:t>Quiz 3 · Wednesday, Sep 16 at 2:10 PM</a:t>
            </a:r>
          </a:p>
        </p:txBody>
      </p:sp>
      <p:sp>
        <p:nvSpPr>
          <p:cNvPr id="11" name="">
            <a:extLst xmlns:a="http://schemas.openxmlformats.org/drawingml/2006/main">
              <a:ext uri="{FF2B5EF4-FFF2-40B4-BE49-F238E27FC236}">
                <a16:creationId xmlns:a16="http://schemas.microsoft.com/office/drawing/2014/main" id="{40DD4571-3791-4B1D-927C-AFFA43329A64}"/>
              </a:ext>
            </a:extLst>
          </p:cNvPr>
          <p:cNvSpPr>
            <a:spLocks xmlns:a="http://schemas.openxmlformats.org/drawingml/2006/main" noGrp="1"/>
          </p:cNvSpPr>
          <p:nvPr/>
        </p:nvSpPr>
        <p:spPr>
          <a:xfrm xmlns:a="http://schemas.openxmlformats.org/drawingml/2006/main">
            <a:off x="10477500" y="6400800"/>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9BB0BE"/>
                </a:solidFill>
                <a:latin typeface="Arial"/>
                <a:ea typeface="Arial"/>
                <a:cs typeface="Arial"/>
              </a:defRPr>
            </a:pPr>
            <a:r>
              <a:rPr sz="750" b="0">
                <a:solidFill>
                  <a:srgbClr val="9BB0BE"/>
                </a:solidFill>
                <a:latin typeface="Arial"/>
                <a:ea typeface="Arial"/>
                <a:cs typeface="Arial"/>
              </a:rPr>
              <a:t>1  slide</a:t>
            </a:r>
          </a:p>
        </p:txBody>
      </p:sp>
    </p:spTree>
    <p:extLst>
      <p:ext uri="{BB962C8B-B14F-4D97-AF65-F5344CB8AC3E}">
        <p14:creationId xmlns:p14="http://schemas.microsoft.com/office/powerpoint/2010/main" val="179045594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5689708-8DB5-465B-957A-22075FA48AE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F1223C-7B2F-486C-84C7-31ABB6F5929D}"/>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Monday’s 50 minutes</a:t>
            </a:r>
          </a:p>
        </p:txBody>
      </p:sp>
      <p:sp>
        <p:nvSpPr>
          <p:cNvPr id="3" name="">
            <a:extLst xmlns:a="http://schemas.openxmlformats.org/drawingml/2006/main">
              <a:ext uri="{FF2B5EF4-FFF2-40B4-BE49-F238E27FC236}">
                <a16:creationId xmlns:a16="http://schemas.microsoft.com/office/drawing/2014/main" id="{E3ED1A19-61EC-4317-AB0B-28DBC59D9C1D}"/>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Quiz 3 coverage, focused review, and an ALEKS plan</a:t>
            </a:r>
          </a:p>
        </p:txBody>
      </p:sp>
      <p:sp>
        <p:nvSpPr>
          <p:cNvPr id="4" name="">
            <a:extLst xmlns:a="http://schemas.openxmlformats.org/drawingml/2006/main">
              <a:ext uri="{FF2B5EF4-FFF2-40B4-BE49-F238E27FC236}">
                <a16:creationId xmlns:a16="http://schemas.microsoft.com/office/drawing/2014/main" id="{2133F1EB-BF0F-4F15-8E76-19BA53279175}"/>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PLAN</a:t>
            </a:r>
          </a:p>
        </p:txBody>
      </p:sp>
      <p:sp>
        <p:nvSpPr>
          <p:cNvPr id="5" name="">
            <a:extLst xmlns:a="http://schemas.openxmlformats.org/drawingml/2006/main">
              <a:ext uri="{FF2B5EF4-FFF2-40B4-BE49-F238E27FC236}">
                <a16:creationId xmlns:a16="http://schemas.microsoft.com/office/drawing/2014/main" id="{425EE6A0-DB53-4FAC-9EC4-E888FA2E5F28}"/>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3845A0B2-429C-4594-A6B2-6653600D7F40}"/>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6E8F6595-D8FF-47C9-A4EF-72D27DA52823}"/>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2  slide</a:t>
            </a:r>
          </a:p>
        </p:txBody>
      </p:sp>
      <p:sp>
        <p:nvSpPr>
          <p:cNvPr id="8" name="">
            <a:extLst xmlns:a="http://schemas.openxmlformats.org/drawingml/2006/main">
              <a:ext uri="{FF2B5EF4-FFF2-40B4-BE49-F238E27FC236}">
                <a16:creationId xmlns:a16="http://schemas.microsoft.com/office/drawing/2014/main" id="{857FFA58-A7E2-4B09-85E9-536FE7F97474}"/>
              </a:ext>
            </a:extLst>
          </p:cNvPr>
          <p:cNvSpPr>
            <a:spLocks xmlns:a="http://schemas.openxmlformats.org/drawingml/2006/main" noGrp="1"/>
          </p:cNvSpPr>
          <p:nvPr/>
        </p:nvSpPr>
        <p:spPr>
          <a:xfrm xmlns:a="http://schemas.openxmlformats.org/drawingml/2006/main">
            <a:off x="666750" y="1809750"/>
            <a:ext cx="1524000" cy="857250"/>
          </a:xfrm>
          <a:prstGeom xmlns:a="http://schemas.openxmlformats.org/drawingml/2006/main" prst="roundRect">
            <a:avLst>
              <a:gd name="adj" fmla="val 4444"/>
            </a:avLst>
          </a:prstGeom>
          <a:solidFill xmlns:a="http://schemas.openxmlformats.org/drawingml/2006/main">
            <a:srgbClr val="1777B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E9E262-A819-4CD6-B3D5-D57EAC0E17E3}"/>
              </a:ext>
            </a:extLst>
          </p:cNvPr>
          <p:cNvSpPr>
            <a:spLocks xmlns:a="http://schemas.openxmlformats.org/drawingml/2006/main" noGrp="1"/>
          </p:cNvSpPr>
          <p:nvPr/>
        </p:nvSpPr>
        <p:spPr>
          <a:xfrm xmlns:a="http://schemas.openxmlformats.org/drawingml/2006/main">
            <a:off x="723900" y="1914525"/>
            <a:ext cx="140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7 min</a:t>
            </a:r>
          </a:p>
        </p:txBody>
      </p:sp>
      <p:sp>
        <p:nvSpPr>
          <p:cNvPr id="10" name="">
            <a:extLst xmlns:a="http://schemas.openxmlformats.org/drawingml/2006/main">
              <a:ext uri="{FF2B5EF4-FFF2-40B4-BE49-F238E27FC236}">
                <a16:creationId xmlns:a16="http://schemas.microsoft.com/office/drawing/2014/main" id="{B0A2B755-42C2-451E-A81F-57E4947368E7}"/>
              </a:ext>
            </a:extLst>
          </p:cNvPr>
          <p:cNvSpPr>
            <a:spLocks xmlns:a="http://schemas.openxmlformats.org/drawingml/2006/main" noGrp="1"/>
          </p:cNvSpPr>
          <p:nvPr/>
        </p:nvSpPr>
        <p:spPr>
          <a:xfrm xmlns:a="http://schemas.openxmlformats.org/drawingml/2006/main">
            <a:off x="723900" y="2257425"/>
            <a:ext cx="140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FFFFFF"/>
                </a:solidFill>
                <a:latin typeface="Arial"/>
                <a:ea typeface="Arial"/>
                <a:cs typeface="Arial"/>
              </a:defRPr>
            </a:pPr>
            <a:r>
              <a:rPr sz="825" b="0">
                <a:solidFill>
                  <a:srgbClr val="FFFFFF"/>
                </a:solidFill>
                <a:latin typeface="Arial"/>
                <a:ea typeface="Arial"/>
                <a:cs typeface="Arial"/>
              </a:rPr>
              <a:t>3:15–3:22</a:t>
            </a:r>
          </a:p>
        </p:txBody>
      </p:sp>
      <p:sp>
        <p:nvSpPr>
          <p:cNvPr id="11" name="">
            <a:extLst xmlns:a="http://schemas.openxmlformats.org/drawingml/2006/main">
              <a:ext uri="{FF2B5EF4-FFF2-40B4-BE49-F238E27FC236}">
                <a16:creationId xmlns:a16="http://schemas.microsoft.com/office/drawing/2014/main" id="{82BF3FEB-49E8-4F17-8103-AB0E1BEF4295}"/>
              </a:ext>
            </a:extLst>
          </p:cNvPr>
          <p:cNvSpPr>
            <a:spLocks xmlns:a="http://schemas.openxmlformats.org/drawingml/2006/main" noGrp="1"/>
          </p:cNvSpPr>
          <p:nvPr/>
        </p:nvSpPr>
        <p:spPr>
          <a:xfrm xmlns:a="http://schemas.openxmlformats.org/drawingml/2006/main">
            <a:off x="647700" y="2819400"/>
            <a:ext cx="1562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8364D"/>
                </a:solidFill>
                <a:latin typeface="Arial"/>
                <a:ea typeface="Arial"/>
                <a:cs typeface="Arial"/>
              </a:defRPr>
            </a:pPr>
            <a:r>
              <a:rPr sz="1125" b="1">
                <a:solidFill>
                  <a:srgbClr val="18364D"/>
                </a:solidFill>
                <a:latin typeface="Arial"/>
                <a:ea typeface="Arial"/>
                <a:cs typeface="Arial"/>
              </a:rPr>
              <a:t>Class picture</a:t>
            </a:r>
          </a:p>
        </p:txBody>
      </p:sp>
      <p:sp>
        <p:nvSpPr>
          <p:cNvPr id="12" name="">
            <a:extLst xmlns:a="http://schemas.openxmlformats.org/drawingml/2006/main">
              <a:ext uri="{FF2B5EF4-FFF2-40B4-BE49-F238E27FC236}">
                <a16:creationId xmlns:a16="http://schemas.microsoft.com/office/drawing/2014/main" id="{86106D58-D768-430F-943C-06E7C3022BCF}"/>
              </a:ext>
            </a:extLst>
          </p:cNvPr>
          <p:cNvSpPr>
            <a:spLocks xmlns:a="http://schemas.openxmlformats.org/drawingml/2006/main" noGrp="1"/>
          </p:cNvSpPr>
          <p:nvPr/>
        </p:nvSpPr>
        <p:spPr>
          <a:xfrm xmlns:a="http://schemas.openxmlformats.org/drawingml/2006/main">
            <a:off x="2247900" y="1809750"/>
            <a:ext cx="1476375" cy="857250"/>
          </a:xfrm>
          <a:prstGeom xmlns:a="http://schemas.openxmlformats.org/drawingml/2006/main" prst="roundRect">
            <a:avLst>
              <a:gd name="adj" fmla="val 4444"/>
            </a:avLst>
          </a:prstGeom>
          <a:solidFill xmlns:a="http://schemas.openxmlformats.org/drawingml/2006/main">
            <a:srgbClr val="F2AD1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8F85F9-791D-450E-A3E1-C491AF1E5311}"/>
              </a:ext>
            </a:extLst>
          </p:cNvPr>
          <p:cNvSpPr>
            <a:spLocks xmlns:a="http://schemas.openxmlformats.org/drawingml/2006/main" noGrp="1"/>
          </p:cNvSpPr>
          <p:nvPr/>
        </p:nvSpPr>
        <p:spPr>
          <a:xfrm xmlns:a="http://schemas.openxmlformats.org/drawingml/2006/main">
            <a:off x="2305050" y="1914525"/>
            <a:ext cx="1362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7 min</a:t>
            </a:r>
          </a:p>
        </p:txBody>
      </p:sp>
      <p:sp>
        <p:nvSpPr>
          <p:cNvPr id="14" name="">
            <a:extLst xmlns:a="http://schemas.openxmlformats.org/drawingml/2006/main">
              <a:ext uri="{FF2B5EF4-FFF2-40B4-BE49-F238E27FC236}">
                <a16:creationId xmlns:a16="http://schemas.microsoft.com/office/drawing/2014/main" id="{EC73343B-E33A-4405-92AB-6203BC888303}"/>
              </a:ext>
            </a:extLst>
          </p:cNvPr>
          <p:cNvSpPr>
            <a:spLocks xmlns:a="http://schemas.openxmlformats.org/drawingml/2006/main" noGrp="1"/>
          </p:cNvSpPr>
          <p:nvPr/>
        </p:nvSpPr>
        <p:spPr>
          <a:xfrm xmlns:a="http://schemas.openxmlformats.org/drawingml/2006/main">
            <a:off x="2305050" y="2257425"/>
            <a:ext cx="13620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FFFFFF"/>
                </a:solidFill>
                <a:latin typeface="Arial"/>
                <a:ea typeface="Arial"/>
                <a:cs typeface="Arial"/>
              </a:defRPr>
            </a:pPr>
            <a:r>
              <a:rPr sz="825" b="0">
                <a:solidFill>
                  <a:srgbClr val="FFFFFF"/>
                </a:solidFill>
                <a:latin typeface="Arial"/>
                <a:ea typeface="Arial"/>
                <a:cs typeface="Arial"/>
              </a:rPr>
              <a:t>3:22–3:29</a:t>
            </a:r>
          </a:p>
        </p:txBody>
      </p:sp>
      <p:sp>
        <p:nvSpPr>
          <p:cNvPr id="15" name="">
            <a:extLst xmlns:a="http://schemas.openxmlformats.org/drawingml/2006/main">
              <a:ext uri="{FF2B5EF4-FFF2-40B4-BE49-F238E27FC236}">
                <a16:creationId xmlns:a16="http://schemas.microsoft.com/office/drawing/2014/main" id="{DCB8B40C-E24A-4E53-BC93-43AD7B04B276}"/>
              </a:ext>
            </a:extLst>
          </p:cNvPr>
          <p:cNvSpPr>
            <a:spLocks xmlns:a="http://schemas.openxmlformats.org/drawingml/2006/main" noGrp="1"/>
          </p:cNvSpPr>
          <p:nvPr/>
        </p:nvSpPr>
        <p:spPr>
          <a:xfrm xmlns:a="http://schemas.openxmlformats.org/drawingml/2006/main">
            <a:off x="2228850" y="2819400"/>
            <a:ext cx="15144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8364D"/>
                </a:solidFill>
                <a:latin typeface="Arial"/>
                <a:ea typeface="Arial"/>
                <a:cs typeface="Arial"/>
              </a:defRPr>
            </a:pPr>
            <a:r>
              <a:rPr sz="1125" b="1">
                <a:solidFill>
                  <a:srgbClr val="18364D"/>
                </a:solidFill>
                <a:latin typeface="Arial"/>
                <a:ea typeface="Arial"/>
                <a:cs typeface="Arial"/>
              </a:rPr>
              <a:t>Retrieval</a:t>
            </a:r>
          </a:p>
        </p:txBody>
      </p:sp>
      <p:sp>
        <p:nvSpPr>
          <p:cNvPr id="16" name="">
            <a:extLst xmlns:a="http://schemas.openxmlformats.org/drawingml/2006/main">
              <a:ext uri="{FF2B5EF4-FFF2-40B4-BE49-F238E27FC236}">
                <a16:creationId xmlns:a16="http://schemas.microsoft.com/office/drawing/2014/main" id="{97440977-1FC0-4C86-B568-CC22B005841E}"/>
              </a:ext>
            </a:extLst>
          </p:cNvPr>
          <p:cNvSpPr>
            <a:spLocks xmlns:a="http://schemas.openxmlformats.org/drawingml/2006/main" noGrp="1"/>
          </p:cNvSpPr>
          <p:nvPr/>
        </p:nvSpPr>
        <p:spPr>
          <a:xfrm xmlns:a="http://schemas.openxmlformats.org/drawingml/2006/main">
            <a:off x="3781425" y="1809750"/>
            <a:ext cx="4229100" cy="857250"/>
          </a:xfrm>
          <a:prstGeom xmlns:a="http://schemas.openxmlformats.org/drawingml/2006/main" prst="roundRect">
            <a:avLst>
              <a:gd name="adj" fmla="val 4444"/>
            </a:avLst>
          </a:prstGeom>
          <a:solidFill xmlns:a="http://schemas.openxmlformats.org/drawingml/2006/main">
            <a:srgbClr val="148A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B86C9AB-4313-4AF6-9414-9ACD5ADEA272}"/>
              </a:ext>
            </a:extLst>
          </p:cNvPr>
          <p:cNvSpPr>
            <a:spLocks xmlns:a="http://schemas.openxmlformats.org/drawingml/2006/main" noGrp="1"/>
          </p:cNvSpPr>
          <p:nvPr/>
        </p:nvSpPr>
        <p:spPr>
          <a:xfrm xmlns:a="http://schemas.openxmlformats.org/drawingml/2006/main">
            <a:off x="3838575" y="1914525"/>
            <a:ext cx="4114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20 min</a:t>
            </a:r>
          </a:p>
        </p:txBody>
      </p:sp>
      <p:sp>
        <p:nvSpPr>
          <p:cNvPr id="18" name="">
            <a:extLst xmlns:a="http://schemas.openxmlformats.org/drawingml/2006/main">
              <a:ext uri="{FF2B5EF4-FFF2-40B4-BE49-F238E27FC236}">
                <a16:creationId xmlns:a16="http://schemas.microsoft.com/office/drawing/2014/main" id="{4440218C-D755-445B-B1FC-FF713CF8A842}"/>
              </a:ext>
            </a:extLst>
          </p:cNvPr>
          <p:cNvSpPr>
            <a:spLocks xmlns:a="http://schemas.openxmlformats.org/drawingml/2006/main" noGrp="1"/>
          </p:cNvSpPr>
          <p:nvPr/>
        </p:nvSpPr>
        <p:spPr>
          <a:xfrm xmlns:a="http://schemas.openxmlformats.org/drawingml/2006/main">
            <a:off x="3838575" y="2257425"/>
            <a:ext cx="4114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FFFFFF"/>
                </a:solidFill>
                <a:latin typeface="Arial"/>
                <a:ea typeface="Arial"/>
                <a:cs typeface="Arial"/>
              </a:defRPr>
            </a:pPr>
            <a:r>
              <a:rPr sz="825" b="0">
                <a:solidFill>
                  <a:srgbClr val="FFFFFF"/>
                </a:solidFill>
                <a:latin typeface="Arial"/>
                <a:ea typeface="Arial"/>
                <a:cs typeface="Arial"/>
              </a:rPr>
              <a:t>3:29–3:49</a:t>
            </a:r>
          </a:p>
        </p:txBody>
      </p:sp>
      <p:sp>
        <p:nvSpPr>
          <p:cNvPr id="19" name="">
            <a:extLst xmlns:a="http://schemas.openxmlformats.org/drawingml/2006/main">
              <a:ext uri="{FF2B5EF4-FFF2-40B4-BE49-F238E27FC236}">
                <a16:creationId xmlns:a16="http://schemas.microsoft.com/office/drawing/2014/main" id="{2490F452-108E-4F08-8995-5A652D22FFF8}"/>
              </a:ext>
            </a:extLst>
          </p:cNvPr>
          <p:cNvSpPr>
            <a:spLocks xmlns:a="http://schemas.openxmlformats.org/drawingml/2006/main" noGrp="1"/>
          </p:cNvSpPr>
          <p:nvPr/>
        </p:nvSpPr>
        <p:spPr>
          <a:xfrm xmlns:a="http://schemas.openxmlformats.org/drawingml/2006/main">
            <a:off x="3762375" y="2819400"/>
            <a:ext cx="4267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8364D"/>
                </a:solidFill>
                <a:latin typeface="Arial"/>
                <a:ea typeface="Arial"/>
                <a:cs typeface="Arial"/>
              </a:defRPr>
            </a:pPr>
            <a:r>
              <a:rPr sz="1125" b="1">
                <a:solidFill>
                  <a:srgbClr val="18364D"/>
                </a:solidFill>
                <a:latin typeface="Arial"/>
                <a:ea typeface="Arial"/>
                <a:cs typeface="Arial"/>
              </a:rPr>
              <a:t>Coordinate review</a:t>
            </a:r>
          </a:p>
        </p:txBody>
      </p:sp>
      <p:sp>
        <p:nvSpPr>
          <p:cNvPr id="20" name="">
            <a:extLst xmlns:a="http://schemas.openxmlformats.org/drawingml/2006/main">
              <a:ext uri="{FF2B5EF4-FFF2-40B4-BE49-F238E27FC236}">
                <a16:creationId xmlns:a16="http://schemas.microsoft.com/office/drawing/2014/main" id="{A84D0650-3A69-4ACA-9643-2CB6A9013B12}"/>
              </a:ext>
            </a:extLst>
          </p:cNvPr>
          <p:cNvSpPr>
            <a:spLocks xmlns:a="http://schemas.openxmlformats.org/drawingml/2006/main" noGrp="1"/>
          </p:cNvSpPr>
          <p:nvPr/>
        </p:nvSpPr>
        <p:spPr>
          <a:xfrm xmlns:a="http://schemas.openxmlformats.org/drawingml/2006/main">
            <a:off x="8067675" y="1809750"/>
            <a:ext cx="2114550" cy="857250"/>
          </a:xfrm>
          <a:prstGeom xmlns:a="http://schemas.openxmlformats.org/drawingml/2006/main" prst="roundRect">
            <a:avLst>
              <a:gd name="adj" fmla="val 4444"/>
            </a:avLst>
          </a:prstGeom>
          <a:solidFill xmlns:a="http://schemas.openxmlformats.org/drawingml/2006/main">
            <a:srgbClr val="1777B4"/>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FEFDDD8-BFA2-4D99-901F-BFC772661B0D}"/>
              </a:ext>
            </a:extLst>
          </p:cNvPr>
          <p:cNvSpPr>
            <a:spLocks xmlns:a="http://schemas.openxmlformats.org/drawingml/2006/main" noGrp="1"/>
          </p:cNvSpPr>
          <p:nvPr/>
        </p:nvSpPr>
        <p:spPr>
          <a:xfrm xmlns:a="http://schemas.openxmlformats.org/drawingml/2006/main">
            <a:off x="8124825" y="191452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10 min</a:t>
            </a:r>
          </a:p>
        </p:txBody>
      </p:sp>
      <p:sp>
        <p:nvSpPr>
          <p:cNvPr id="22" name="">
            <a:extLst xmlns:a="http://schemas.openxmlformats.org/drawingml/2006/main">
              <a:ext uri="{FF2B5EF4-FFF2-40B4-BE49-F238E27FC236}">
                <a16:creationId xmlns:a16="http://schemas.microsoft.com/office/drawing/2014/main" id="{7880D843-52EB-4A53-A268-1FB34B17A3BA}"/>
              </a:ext>
            </a:extLst>
          </p:cNvPr>
          <p:cNvSpPr>
            <a:spLocks xmlns:a="http://schemas.openxmlformats.org/drawingml/2006/main" noGrp="1"/>
          </p:cNvSpPr>
          <p:nvPr/>
        </p:nvSpPr>
        <p:spPr>
          <a:xfrm xmlns:a="http://schemas.openxmlformats.org/drawingml/2006/main">
            <a:off x="8124825" y="2257425"/>
            <a:ext cx="2000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FFFFFF"/>
                </a:solidFill>
                <a:latin typeface="Arial"/>
                <a:ea typeface="Arial"/>
                <a:cs typeface="Arial"/>
              </a:defRPr>
            </a:pPr>
            <a:r>
              <a:rPr sz="825" b="0">
                <a:solidFill>
                  <a:srgbClr val="FFFFFF"/>
                </a:solidFill>
                <a:latin typeface="Arial"/>
                <a:ea typeface="Arial"/>
                <a:cs typeface="Arial"/>
              </a:rPr>
              <a:t>3:49–3:59</a:t>
            </a:r>
          </a:p>
        </p:txBody>
      </p:sp>
      <p:sp>
        <p:nvSpPr>
          <p:cNvPr id="23" name="">
            <a:extLst xmlns:a="http://schemas.openxmlformats.org/drawingml/2006/main">
              <a:ext uri="{FF2B5EF4-FFF2-40B4-BE49-F238E27FC236}">
                <a16:creationId xmlns:a16="http://schemas.microsoft.com/office/drawing/2014/main" id="{7071F67E-33A0-43B7-80E1-553D26EFCF52}"/>
              </a:ext>
            </a:extLst>
          </p:cNvPr>
          <p:cNvSpPr>
            <a:spLocks xmlns:a="http://schemas.openxmlformats.org/drawingml/2006/main" noGrp="1"/>
          </p:cNvSpPr>
          <p:nvPr/>
        </p:nvSpPr>
        <p:spPr>
          <a:xfrm xmlns:a="http://schemas.openxmlformats.org/drawingml/2006/main">
            <a:off x="8048625" y="2819400"/>
            <a:ext cx="21526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8364D"/>
                </a:solidFill>
                <a:latin typeface="Arial"/>
                <a:ea typeface="Arial"/>
                <a:cs typeface="Arial"/>
              </a:defRPr>
            </a:pPr>
            <a:r>
              <a:rPr sz="1125" b="1">
                <a:solidFill>
                  <a:srgbClr val="18364D"/>
                </a:solidFill>
                <a:latin typeface="Arial"/>
                <a:ea typeface="Arial"/>
                <a:cs typeface="Arial"/>
              </a:rPr>
              <a:t>Quadratic uses</a:t>
            </a:r>
          </a:p>
        </p:txBody>
      </p:sp>
      <p:sp>
        <p:nvSpPr>
          <p:cNvPr id="24" name="">
            <a:extLst xmlns:a="http://schemas.openxmlformats.org/drawingml/2006/main">
              <a:ext uri="{FF2B5EF4-FFF2-40B4-BE49-F238E27FC236}">
                <a16:creationId xmlns:a16="http://schemas.microsoft.com/office/drawing/2014/main" id="{4667B286-B4EA-4B49-BEAC-D52CFDE7D490}"/>
              </a:ext>
            </a:extLst>
          </p:cNvPr>
          <p:cNvSpPr>
            <a:spLocks xmlns:a="http://schemas.openxmlformats.org/drawingml/2006/main" noGrp="1"/>
          </p:cNvSpPr>
          <p:nvPr/>
        </p:nvSpPr>
        <p:spPr>
          <a:xfrm xmlns:a="http://schemas.openxmlformats.org/drawingml/2006/main">
            <a:off x="10239375" y="1809750"/>
            <a:ext cx="1228725" cy="857250"/>
          </a:xfrm>
          <a:prstGeom xmlns:a="http://schemas.openxmlformats.org/drawingml/2006/main" prst="roundRect">
            <a:avLst>
              <a:gd name="adj" fmla="val 4444"/>
            </a:avLst>
          </a:prstGeom>
          <a:solidFill xmlns:a="http://schemas.openxmlformats.org/drawingml/2006/main">
            <a:srgbClr val="D85B5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12549ED-C106-4665-BE90-C6B948389C91}"/>
              </a:ext>
            </a:extLst>
          </p:cNvPr>
          <p:cNvSpPr>
            <a:spLocks xmlns:a="http://schemas.openxmlformats.org/drawingml/2006/main" noGrp="1"/>
          </p:cNvSpPr>
          <p:nvPr/>
        </p:nvSpPr>
        <p:spPr>
          <a:xfrm xmlns:a="http://schemas.openxmlformats.org/drawingml/2006/main">
            <a:off x="10296525" y="1914525"/>
            <a:ext cx="11144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6 min</a:t>
            </a:r>
          </a:p>
        </p:txBody>
      </p:sp>
      <p:sp>
        <p:nvSpPr>
          <p:cNvPr id="26" name="">
            <a:extLst xmlns:a="http://schemas.openxmlformats.org/drawingml/2006/main">
              <a:ext uri="{FF2B5EF4-FFF2-40B4-BE49-F238E27FC236}">
                <a16:creationId xmlns:a16="http://schemas.microsoft.com/office/drawing/2014/main" id="{0E08AC57-41D8-40A2-A057-5D3348727E34}"/>
              </a:ext>
            </a:extLst>
          </p:cNvPr>
          <p:cNvSpPr>
            <a:spLocks xmlns:a="http://schemas.openxmlformats.org/drawingml/2006/main" noGrp="1"/>
          </p:cNvSpPr>
          <p:nvPr/>
        </p:nvSpPr>
        <p:spPr>
          <a:xfrm xmlns:a="http://schemas.openxmlformats.org/drawingml/2006/main">
            <a:off x="10296525" y="2257425"/>
            <a:ext cx="11144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0">
                <a:solidFill>
                  <a:srgbClr val="FFFFFF"/>
                </a:solidFill>
                <a:latin typeface="Arial"/>
                <a:ea typeface="Arial"/>
                <a:cs typeface="Arial"/>
              </a:defRPr>
            </a:pPr>
            <a:r>
              <a:rPr sz="825" b="0">
                <a:solidFill>
                  <a:srgbClr val="FFFFFF"/>
                </a:solidFill>
                <a:latin typeface="Arial"/>
                <a:ea typeface="Arial"/>
                <a:cs typeface="Arial"/>
              </a:rPr>
              <a:t>3:59–4:05</a:t>
            </a:r>
          </a:p>
        </p:txBody>
      </p:sp>
      <p:sp>
        <p:nvSpPr>
          <p:cNvPr id="27" name="">
            <a:extLst xmlns:a="http://schemas.openxmlformats.org/drawingml/2006/main">
              <a:ext uri="{FF2B5EF4-FFF2-40B4-BE49-F238E27FC236}">
                <a16:creationId xmlns:a16="http://schemas.microsoft.com/office/drawing/2014/main" id="{AD4C11F9-12C4-44CE-9449-E852138E8C72}"/>
              </a:ext>
            </a:extLst>
          </p:cNvPr>
          <p:cNvSpPr>
            <a:spLocks xmlns:a="http://schemas.openxmlformats.org/drawingml/2006/main" noGrp="1"/>
          </p:cNvSpPr>
          <p:nvPr/>
        </p:nvSpPr>
        <p:spPr>
          <a:xfrm xmlns:a="http://schemas.openxmlformats.org/drawingml/2006/main">
            <a:off x="10220325" y="2819400"/>
            <a:ext cx="1266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125" b="1">
                <a:solidFill>
                  <a:srgbClr val="18364D"/>
                </a:solidFill>
                <a:latin typeface="Arial"/>
                <a:ea typeface="Arial"/>
                <a:cs typeface="Arial"/>
              </a:defRPr>
            </a:pPr>
            <a:r>
              <a:rPr sz="1125" b="1">
                <a:solidFill>
                  <a:srgbClr val="18364D"/>
                </a:solidFill>
                <a:latin typeface="Arial"/>
                <a:ea typeface="Arial"/>
                <a:cs typeface="Arial"/>
              </a:rPr>
              <a:t>Mixed check</a:t>
            </a:r>
          </a:p>
        </p:txBody>
      </p:sp>
      <p:sp>
        <p:nvSpPr>
          <p:cNvPr id="28" name="">
            <a:extLst xmlns:a="http://schemas.openxmlformats.org/drawingml/2006/main">
              <a:ext uri="{FF2B5EF4-FFF2-40B4-BE49-F238E27FC236}">
                <a16:creationId xmlns:a16="http://schemas.microsoft.com/office/drawing/2014/main" id="{899DC975-810E-409D-858A-2ED858AF6945}"/>
              </a:ext>
            </a:extLst>
          </p:cNvPr>
          <p:cNvSpPr>
            <a:spLocks xmlns:a="http://schemas.openxmlformats.org/drawingml/2006/main" noGrp="1"/>
          </p:cNvSpPr>
          <p:nvPr/>
        </p:nvSpPr>
        <p:spPr>
          <a:xfrm xmlns:a="http://schemas.openxmlformats.org/drawingml/2006/main">
            <a:off x="666750" y="4095750"/>
            <a:ext cx="10801350" cy="1104900"/>
          </a:xfrm>
          <a:prstGeom xmlns:a="http://schemas.openxmlformats.org/drawingml/2006/main" prst="roundRect">
            <a:avLst>
              <a:gd name="adj" fmla="val 3448"/>
            </a:avLst>
          </a:prstGeom>
          <a:solidFill xmlns:a="http://schemas.openxmlformats.org/drawingml/2006/main">
            <a:srgbClr val="F2F5F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02C513F-6A1E-4827-ACC7-86C68EDC8184}"/>
              </a:ext>
            </a:extLst>
          </p:cNvPr>
          <p:cNvSpPr>
            <a:spLocks xmlns:a="http://schemas.openxmlformats.org/drawingml/2006/main" noGrp="1"/>
          </p:cNvSpPr>
          <p:nvPr/>
        </p:nvSpPr>
        <p:spPr>
          <a:xfrm xmlns:a="http://schemas.openxmlformats.org/drawingml/2006/main">
            <a:off x="952500" y="42767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23"/>
          </a:bodyPr>
          <a:lstStyle xmlns:a="http://schemas.openxmlformats.org/drawingml/2006/main"/>
          <a:p xmlns:a="http://schemas.openxmlformats.org/drawingml/2006/main">
            <a:pPr algn="l">
              <a:defRPr sz="1800" b="1">
                <a:solidFill>
                  <a:srgbClr val="11344E"/>
                </a:solidFill>
                <a:latin typeface="Arial"/>
                <a:ea typeface="Arial"/>
                <a:cs typeface="Arial"/>
              </a:defRPr>
            </a:pPr>
            <a:r>
              <a:rPr sz="1800" b="1">
                <a:solidFill>
                  <a:srgbClr val="11344E"/>
                </a:solidFill>
                <a:latin typeface="Arial"/>
                <a:ea typeface="Arial"/>
                <a:cs typeface="Arial"/>
              </a:rPr>
              <a:t>Every practice block includes a check</a:t>
            </a:r>
          </a:p>
        </p:txBody>
      </p:sp>
      <p:sp>
        <p:nvSpPr>
          <p:cNvPr id="30" name="">
            <a:extLst xmlns:a="http://schemas.openxmlformats.org/drawingml/2006/main">
              <a:ext uri="{FF2B5EF4-FFF2-40B4-BE49-F238E27FC236}">
                <a16:creationId xmlns:a16="http://schemas.microsoft.com/office/drawing/2014/main" id="{C0D65A9F-D141-48DB-9472-DA006D6BA9C7}"/>
              </a:ext>
            </a:extLst>
          </p:cNvPr>
          <p:cNvSpPr>
            <a:spLocks xmlns:a="http://schemas.openxmlformats.org/drawingml/2006/main" noGrp="1"/>
          </p:cNvSpPr>
          <p:nvPr/>
        </p:nvSpPr>
        <p:spPr>
          <a:xfrm xmlns:a="http://schemas.openxmlformats.org/drawingml/2006/main">
            <a:off x="4933950" y="42767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687783"/>
                </a:solidFill>
                <a:latin typeface="Arial"/>
                <a:ea typeface="Arial"/>
                <a:cs typeface="Arial"/>
              </a:defRPr>
            </a:pPr>
            <a:r>
              <a:rPr sz="1350" b="0">
                <a:solidFill>
                  <a:srgbClr val="687783"/>
                </a:solidFill>
                <a:latin typeface="Arial"/>
                <a:ea typeface="Arial"/>
                <a:cs typeface="Arial"/>
              </a:rPr>
              <a:t>Exact form first. Decimal only when requested. Use the context to reject impossible answers.</a:t>
            </a:r>
          </a:p>
        </p:txBody>
      </p:sp>
    </p:spTree>
    <p:extLst>
      <p:ext uri="{BB962C8B-B14F-4D97-AF65-F5344CB8AC3E}">
        <p14:creationId xmlns:p14="http://schemas.microsoft.com/office/powerpoint/2010/main" val="83254658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2AE7E7E-0FCD-493D-9B9E-1EF0C423EEC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C901E6-28CE-4C62-AA0E-5D88BEF7C0DB}"/>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Current-module progress</a:t>
            </a:r>
          </a:p>
        </p:txBody>
      </p:sp>
      <p:sp>
        <p:nvSpPr>
          <p:cNvPr id="3" name="">
            <a:extLst xmlns:a="http://schemas.openxmlformats.org/drawingml/2006/main">
              <a:ext uri="{FF2B5EF4-FFF2-40B4-BE49-F238E27FC236}">
                <a16:creationId xmlns:a16="http://schemas.microsoft.com/office/drawing/2014/main" id="{8FC8C3C3-0002-4A0D-B1A8-173A9929B392}"/>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Sections 2.1, 2.2, and 2.4 · 39 active students · September 14 snapshot</a:t>
            </a:r>
          </a:p>
        </p:txBody>
      </p:sp>
      <p:sp>
        <p:nvSpPr>
          <p:cNvPr id="4" name="">
            <a:extLst xmlns:a="http://schemas.openxmlformats.org/drawingml/2006/main">
              <a:ext uri="{FF2B5EF4-FFF2-40B4-BE49-F238E27FC236}">
                <a16:creationId xmlns:a16="http://schemas.microsoft.com/office/drawing/2014/main" id="{07E913AD-A035-415F-A52A-DEFACBC2B5E2}"/>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CLASS</a:t>
            </a:r>
          </a:p>
        </p:txBody>
      </p:sp>
      <p:sp>
        <p:nvSpPr>
          <p:cNvPr id="5" name="">
            <a:extLst xmlns:a="http://schemas.openxmlformats.org/drawingml/2006/main">
              <a:ext uri="{FF2B5EF4-FFF2-40B4-BE49-F238E27FC236}">
                <a16:creationId xmlns:a16="http://schemas.microsoft.com/office/drawing/2014/main" id="{F4D9BD9C-A0CE-4829-8CC8-010765B6E49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86FB2438-236E-473B-B9AC-11293110718A}"/>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273073DE-8AA8-43FA-AE13-F71690A7F6BF}"/>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3  slide</a:t>
            </a:r>
          </a:p>
        </p:txBody>
      </p:sp>
      <p:graphicFrame>
        <p:nvGraphicFramePr>
          <p:cNvPr id="27" name="Chart"/>
          <p:cNvGraphicFramePr/>
          <p:nvPr/>
        </p:nvGraphicFramePr>
        <p:xfrm>
          <a:off xmlns:a="http://schemas.openxmlformats.org/drawingml/2006/main" x="590550" y="1504950"/>
          <a:ext xmlns:a="http://schemas.openxmlformats.org/drawingml/2006/main" cx="6953250" cy="4095750"/>
        </p:xfrm>
        <a:graphic xmlns:a="http://schemas.openxmlformats.org/drawingml/2006/main">
          <a:graphicData uri="http://schemas.openxmlformats.org/drawingml/2006/chart">
            <c:chart xmlns:r="http://schemas.openxmlformats.org/officeDocument/2006/relationships" xmlns:c="http://schemas.openxmlformats.org/drawingml/2006/chart" r:id="R4d3e41b418ea4d03"/>
          </a:graphicData>
        </a:graphic>
      </p:graphicFrame>
      <p:sp>
        <p:nvSpPr>
          <p:cNvPr id="9" name="">
            <a:extLst xmlns:a="http://schemas.openxmlformats.org/drawingml/2006/main">
              <a:ext uri="{FF2B5EF4-FFF2-40B4-BE49-F238E27FC236}">
                <a16:creationId xmlns:a16="http://schemas.microsoft.com/office/drawing/2014/main" id="{2A77F810-F880-4BD2-8DE1-632C363A8F57}"/>
              </a:ext>
            </a:extLst>
          </p:cNvPr>
          <p:cNvSpPr>
            <a:spLocks xmlns:a="http://schemas.openxmlformats.org/drawingml/2006/main" noGrp="1"/>
          </p:cNvSpPr>
          <p:nvPr/>
        </p:nvSpPr>
        <p:spPr>
          <a:xfrm xmlns:a="http://schemas.openxmlformats.org/drawingml/2006/main">
            <a:off x="7962900" y="1524000"/>
            <a:ext cx="3505200" cy="1219200"/>
          </a:xfrm>
          <a:prstGeom xmlns:a="http://schemas.openxmlformats.org/drawingml/2006/main" prst="roundRect">
            <a:avLst>
              <a:gd name="adj" fmla="val 3125"/>
            </a:avLst>
          </a:prstGeom>
          <a:solidFill xmlns:a="http://schemas.openxmlformats.org/drawingml/2006/main">
            <a:srgbClr val="11344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6261EF4-9F35-4346-B3B8-9FF352397550}"/>
              </a:ext>
            </a:extLst>
          </p:cNvPr>
          <p:cNvSpPr>
            <a:spLocks xmlns:a="http://schemas.openxmlformats.org/drawingml/2006/main" noGrp="1"/>
          </p:cNvSpPr>
          <p:nvPr/>
        </p:nvSpPr>
        <p:spPr>
          <a:xfrm xmlns:a="http://schemas.openxmlformats.org/drawingml/2006/main">
            <a:off x="8229600" y="1638300"/>
            <a:ext cx="2971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3150" b="1">
                <a:solidFill>
                  <a:srgbClr val="F2AD12"/>
                </a:solidFill>
                <a:latin typeface="Arial"/>
                <a:ea typeface="Arial"/>
                <a:cs typeface="Arial"/>
              </a:defRPr>
            </a:pPr>
            <a:r>
              <a:rPr sz="3150" b="1">
                <a:solidFill>
                  <a:srgbClr val="F2AD12"/>
                </a:solidFill>
                <a:latin typeface="Arial"/>
                <a:ea typeface="Arial"/>
                <a:cs typeface="Arial"/>
              </a:rPr>
              <a:t>44.0%</a:t>
            </a:r>
          </a:p>
        </p:txBody>
      </p:sp>
      <p:sp>
        <p:nvSpPr>
          <p:cNvPr id="11" name="">
            <a:extLst xmlns:a="http://schemas.openxmlformats.org/drawingml/2006/main">
              <a:ext uri="{FF2B5EF4-FFF2-40B4-BE49-F238E27FC236}">
                <a16:creationId xmlns:a16="http://schemas.microsoft.com/office/drawing/2014/main" id="{C1880801-1CCE-4D57-B8B6-D05069AA1DCE}"/>
              </a:ext>
            </a:extLst>
          </p:cNvPr>
          <p:cNvSpPr>
            <a:spLocks xmlns:a="http://schemas.openxmlformats.org/drawingml/2006/main" noGrp="1"/>
          </p:cNvSpPr>
          <p:nvPr/>
        </p:nvSpPr>
        <p:spPr>
          <a:xfrm xmlns:a="http://schemas.openxmlformats.org/drawingml/2006/main">
            <a:off x="8229600" y="2247900"/>
            <a:ext cx="2971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FFFFFF"/>
                </a:solidFill>
                <a:latin typeface="Arial"/>
                <a:ea typeface="Arial"/>
                <a:cs typeface="Arial"/>
              </a:defRPr>
            </a:pPr>
            <a:r>
              <a:rPr sz="1050" b="1">
                <a:solidFill>
                  <a:srgbClr val="FFFFFF"/>
                </a:solidFill>
                <a:latin typeface="Arial"/>
                <a:ea typeface="Arial"/>
                <a:cs typeface="Arial"/>
              </a:rPr>
              <a:t>class average</a:t>
            </a:r>
          </a:p>
        </p:txBody>
      </p:sp>
      <p:sp>
        <p:nvSpPr>
          <p:cNvPr id="12" name="">
            <a:extLst xmlns:a="http://schemas.openxmlformats.org/drawingml/2006/main">
              <a:ext uri="{FF2B5EF4-FFF2-40B4-BE49-F238E27FC236}">
                <a16:creationId xmlns:a16="http://schemas.microsoft.com/office/drawing/2014/main" id="{25DAEE76-78D0-482D-B2C7-9069A2B64296}"/>
              </a:ext>
            </a:extLst>
          </p:cNvPr>
          <p:cNvSpPr>
            <a:spLocks xmlns:a="http://schemas.openxmlformats.org/drawingml/2006/main" noGrp="1"/>
          </p:cNvSpPr>
          <p:nvPr/>
        </p:nvSpPr>
        <p:spPr>
          <a:xfrm xmlns:a="http://schemas.openxmlformats.org/drawingml/2006/main">
            <a:off x="7962900" y="2971800"/>
            <a:ext cx="3505200" cy="1066800"/>
          </a:xfrm>
          <a:prstGeom xmlns:a="http://schemas.openxmlformats.org/drawingml/2006/main" prst="roundRect">
            <a:avLst>
              <a:gd name="adj" fmla="val 3571"/>
            </a:avLst>
          </a:prstGeom>
          <a:solidFill xmlns:a="http://schemas.openxmlformats.org/drawingml/2006/main">
            <a:srgbClr val="E4F2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C06932-6AFE-4A62-973B-83E8B606AEB0}"/>
              </a:ext>
            </a:extLst>
          </p:cNvPr>
          <p:cNvSpPr>
            <a:spLocks xmlns:a="http://schemas.openxmlformats.org/drawingml/2006/main" noGrp="1"/>
          </p:cNvSpPr>
          <p:nvPr/>
        </p:nvSpPr>
        <p:spPr>
          <a:xfrm xmlns:a="http://schemas.openxmlformats.org/drawingml/2006/main">
            <a:off x="8191500" y="30861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777B4"/>
                </a:solidFill>
                <a:latin typeface="Arial"/>
                <a:ea typeface="Arial"/>
                <a:cs typeface="Arial"/>
              </a:defRPr>
            </a:pPr>
            <a:r>
              <a:rPr sz="2400" b="1">
                <a:solidFill>
                  <a:srgbClr val="1777B4"/>
                </a:solidFill>
                <a:latin typeface="Arial"/>
                <a:ea typeface="Arial"/>
                <a:cs typeface="Arial"/>
              </a:rPr>
              <a:t>47.8%</a:t>
            </a:r>
          </a:p>
        </p:txBody>
      </p:sp>
      <p:sp>
        <p:nvSpPr>
          <p:cNvPr id="14" name="">
            <a:extLst xmlns:a="http://schemas.openxmlformats.org/drawingml/2006/main">
              <a:ext uri="{FF2B5EF4-FFF2-40B4-BE49-F238E27FC236}">
                <a16:creationId xmlns:a16="http://schemas.microsoft.com/office/drawing/2014/main" id="{09C62809-4DB4-4C62-BA35-151CEA027B56}"/>
              </a:ext>
            </a:extLst>
          </p:cNvPr>
          <p:cNvSpPr>
            <a:spLocks xmlns:a="http://schemas.openxmlformats.org/drawingml/2006/main" noGrp="1"/>
          </p:cNvSpPr>
          <p:nvPr/>
        </p:nvSpPr>
        <p:spPr>
          <a:xfrm xmlns:a="http://schemas.openxmlformats.org/drawingml/2006/main">
            <a:off x="8191500" y="36004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687783"/>
                </a:solidFill>
                <a:latin typeface="Arial"/>
                <a:ea typeface="Arial"/>
                <a:cs typeface="Arial"/>
              </a:defRPr>
            </a:pPr>
            <a:r>
              <a:rPr sz="975" b="1">
                <a:solidFill>
                  <a:srgbClr val="687783"/>
                </a:solidFill>
                <a:latin typeface="Arial"/>
                <a:ea typeface="Arial"/>
                <a:cs typeface="Arial"/>
              </a:rPr>
              <a:t>median</a:t>
            </a:r>
          </a:p>
        </p:txBody>
      </p:sp>
      <p:sp>
        <p:nvSpPr>
          <p:cNvPr id="15" name="">
            <a:extLst xmlns:a="http://schemas.openxmlformats.org/drawingml/2006/main">
              <a:ext uri="{FF2B5EF4-FFF2-40B4-BE49-F238E27FC236}">
                <a16:creationId xmlns:a16="http://schemas.microsoft.com/office/drawing/2014/main" id="{4B57FB1C-B1E9-4D6F-B6D4-1CA18CDAF2CB}"/>
              </a:ext>
            </a:extLst>
          </p:cNvPr>
          <p:cNvSpPr>
            <a:spLocks xmlns:a="http://schemas.openxmlformats.org/drawingml/2006/main" noGrp="1"/>
          </p:cNvSpPr>
          <p:nvPr/>
        </p:nvSpPr>
        <p:spPr>
          <a:xfrm xmlns:a="http://schemas.openxmlformats.org/drawingml/2006/main">
            <a:off x="9772650" y="3086100"/>
            <a:ext cx="142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400" b="1">
                <a:solidFill>
                  <a:srgbClr val="148A68"/>
                </a:solidFill>
                <a:latin typeface="Arial"/>
                <a:ea typeface="Arial"/>
                <a:cs typeface="Arial"/>
              </a:defRPr>
            </a:pPr>
            <a:r>
              <a:rPr sz="2400" b="1">
                <a:solidFill>
                  <a:srgbClr val="148A68"/>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114A690F-15D7-40C8-B33C-0D74807BACF9}"/>
              </a:ext>
            </a:extLst>
          </p:cNvPr>
          <p:cNvSpPr>
            <a:spLocks xmlns:a="http://schemas.openxmlformats.org/drawingml/2006/main" noGrp="1"/>
          </p:cNvSpPr>
          <p:nvPr/>
        </p:nvSpPr>
        <p:spPr>
          <a:xfrm xmlns:a="http://schemas.openxmlformats.org/drawingml/2006/main">
            <a:off x="9772650" y="36004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687783"/>
                </a:solidFill>
                <a:latin typeface="Arial"/>
                <a:ea typeface="Arial"/>
                <a:cs typeface="Arial"/>
              </a:defRPr>
            </a:pPr>
            <a:r>
              <a:rPr sz="975" b="1">
                <a:solidFill>
                  <a:srgbClr val="687783"/>
                </a:solidFill>
                <a:latin typeface="Arial"/>
                <a:ea typeface="Arial"/>
                <a:cs typeface="Arial"/>
              </a:rPr>
              <a:t>complete</a:t>
            </a:r>
          </a:p>
        </p:txBody>
      </p:sp>
      <p:sp>
        <p:nvSpPr>
          <p:cNvPr id="17" name="">
            <a:extLst xmlns:a="http://schemas.openxmlformats.org/drawingml/2006/main">
              <a:ext uri="{FF2B5EF4-FFF2-40B4-BE49-F238E27FC236}">
                <a16:creationId xmlns:a16="http://schemas.microsoft.com/office/drawing/2014/main" id="{333265BE-9C95-4419-A79B-8D1B91B866CD}"/>
              </a:ext>
            </a:extLst>
          </p:cNvPr>
          <p:cNvSpPr>
            <a:spLocks xmlns:a="http://schemas.openxmlformats.org/drawingml/2006/main" noGrp="1"/>
          </p:cNvSpPr>
          <p:nvPr/>
        </p:nvSpPr>
        <p:spPr>
          <a:xfrm xmlns:a="http://schemas.openxmlformats.org/drawingml/2006/main">
            <a:off x="7962900" y="4267200"/>
            <a:ext cx="3505200" cy="1333500"/>
          </a:xfrm>
          <a:prstGeom xmlns:a="http://schemas.openxmlformats.org/drawingml/2006/main" prst="roundRect">
            <a:avLst>
              <a:gd name="adj" fmla="val 2857"/>
            </a:avLst>
          </a:prstGeom>
          <a:solidFill xmlns:a="http://schemas.openxmlformats.org/drawingml/2006/main">
            <a:srgbClr val="E3F3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B65ECF3-DDB9-4909-B485-46CE90D8051A}"/>
              </a:ext>
            </a:extLst>
          </p:cNvPr>
          <p:cNvSpPr>
            <a:spLocks xmlns:a="http://schemas.openxmlformats.org/drawingml/2006/main" noGrp="1"/>
          </p:cNvSpPr>
          <p:nvPr/>
        </p:nvSpPr>
        <p:spPr>
          <a:xfrm xmlns:a="http://schemas.openxmlformats.org/drawingml/2006/main">
            <a:off x="8229600" y="4438650"/>
            <a:ext cx="297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48A68"/>
                </a:solidFill>
                <a:latin typeface="Arial"/>
                <a:ea typeface="Arial"/>
                <a:cs typeface="Arial"/>
              </a:defRPr>
            </a:pPr>
            <a:r>
              <a:rPr sz="1500" b="1">
                <a:solidFill>
                  <a:srgbClr val="148A68"/>
                </a:solidFill>
                <a:latin typeface="Arial"/>
                <a:ea typeface="Arial"/>
                <a:cs typeface="Arial"/>
              </a:rPr>
              <a:t>22 students are below halfway</a:t>
            </a:r>
          </a:p>
        </p:txBody>
      </p:sp>
      <p:sp>
        <p:nvSpPr>
          <p:cNvPr id="19" name="">
            <a:extLst xmlns:a="http://schemas.openxmlformats.org/drawingml/2006/main">
              <a:ext uri="{FF2B5EF4-FFF2-40B4-BE49-F238E27FC236}">
                <a16:creationId xmlns:a16="http://schemas.microsoft.com/office/drawing/2014/main" id="{E65FEFD8-26AC-4C55-B356-23F0FAF7C378}"/>
              </a:ext>
            </a:extLst>
          </p:cNvPr>
          <p:cNvSpPr>
            <a:spLocks xmlns:a="http://schemas.openxmlformats.org/drawingml/2006/main" noGrp="1"/>
          </p:cNvSpPr>
          <p:nvPr/>
        </p:nvSpPr>
        <p:spPr>
          <a:xfrm xmlns:a="http://schemas.openxmlformats.org/drawingml/2006/main">
            <a:off x="8229600" y="4895850"/>
            <a:ext cx="2971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18364D"/>
                </a:solidFill>
                <a:latin typeface="Arial"/>
                <a:ea typeface="Arial"/>
                <a:cs typeface="Arial"/>
              </a:defRPr>
            </a:pPr>
            <a:r>
              <a:rPr sz="1125" b="0">
                <a:solidFill>
                  <a:srgbClr val="18364D"/>
                </a:solidFill>
                <a:latin typeface="Arial"/>
                <a:ea typeface="Arial"/>
                <a:cs typeface="Arial"/>
              </a:rPr>
              <a:t>That group includes students with little recent activity and students who have worked but still need help.</a:t>
            </a:r>
          </a:p>
        </p:txBody>
      </p:sp>
    </p:spTree>
    <p:extLst>
      <p:ext uri="{BB962C8B-B14F-4D97-AF65-F5344CB8AC3E}">
        <p14:creationId xmlns:p14="http://schemas.microsoft.com/office/powerpoint/2010/main" val="9889939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2562834-3EFB-44AC-A790-6B2A9DD45E0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B8F5D7-A623-467B-960C-FE735BEB3F85}"/>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Recent ALEKS activity</a:t>
            </a:r>
          </a:p>
        </p:txBody>
      </p:sp>
      <p:sp>
        <p:nvSpPr>
          <p:cNvPr id="3" name="">
            <a:extLst xmlns:a="http://schemas.openxmlformats.org/drawingml/2006/main">
              <a:ext uri="{FF2B5EF4-FFF2-40B4-BE49-F238E27FC236}">
                <a16:creationId xmlns:a16="http://schemas.microsoft.com/office/drawing/2014/main" id="{B658AF2B-32D8-4DC8-8F3B-406C4F3F1226}"/>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September 8–14 · activity describes participation, not mastery</a:t>
            </a:r>
          </a:p>
        </p:txBody>
      </p:sp>
      <p:sp>
        <p:nvSpPr>
          <p:cNvPr id="4" name="">
            <a:extLst xmlns:a="http://schemas.openxmlformats.org/drawingml/2006/main">
              <a:ext uri="{FF2B5EF4-FFF2-40B4-BE49-F238E27FC236}">
                <a16:creationId xmlns:a16="http://schemas.microsoft.com/office/drawing/2014/main" id="{C9011278-CD5F-4CAC-A852-1D332BA03913}"/>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CLASS</a:t>
            </a:r>
          </a:p>
        </p:txBody>
      </p:sp>
      <p:sp>
        <p:nvSpPr>
          <p:cNvPr id="5" name="">
            <a:extLst xmlns:a="http://schemas.openxmlformats.org/drawingml/2006/main">
              <a:ext uri="{FF2B5EF4-FFF2-40B4-BE49-F238E27FC236}">
                <a16:creationId xmlns:a16="http://schemas.microsoft.com/office/drawing/2014/main" id="{25DB887D-0A62-4525-BF7F-6A22A7EFC6CC}"/>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0D2EC658-2053-473A-8851-95268639FD46}"/>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CBC64C5D-2065-463B-ADE5-04B0370B9DC5}"/>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4  slide</a:t>
            </a:r>
          </a:p>
        </p:txBody>
      </p:sp>
      <p:graphicFrame>
        <p:nvGraphicFramePr>
          <p:cNvPr id="25" name="Chart"/>
          <p:cNvGraphicFramePr/>
          <p:nvPr/>
        </p:nvGraphicFramePr>
        <p:xfrm>
          <a:off xmlns:a="http://schemas.openxmlformats.org/drawingml/2006/main" x="590550" y="1504950"/>
          <a:ext xmlns:a="http://schemas.openxmlformats.org/drawingml/2006/main" cx="6953250" cy="4095750"/>
        </p:xfrm>
        <a:graphic xmlns:a="http://schemas.openxmlformats.org/drawingml/2006/main">
          <a:graphicData uri="http://schemas.openxmlformats.org/drawingml/2006/chart">
            <c:chart xmlns:r="http://schemas.openxmlformats.org/officeDocument/2006/relationships" xmlns:c="http://schemas.openxmlformats.org/drawingml/2006/chart" r:id="R347a4fa140fb4e57"/>
          </a:graphicData>
        </a:graphic>
      </p:graphicFrame>
      <p:sp>
        <p:nvSpPr>
          <p:cNvPr id="9" name="">
            <a:extLst xmlns:a="http://schemas.openxmlformats.org/drawingml/2006/main">
              <a:ext uri="{FF2B5EF4-FFF2-40B4-BE49-F238E27FC236}">
                <a16:creationId xmlns:a16="http://schemas.microsoft.com/office/drawing/2014/main" id="{D09B3D77-CF01-4B99-99DA-4DA89F8BC7C3}"/>
              </a:ext>
            </a:extLst>
          </p:cNvPr>
          <p:cNvSpPr>
            <a:spLocks xmlns:a="http://schemas.openxmlformats.org/drawingml/2006/main" noGrp="1"/>
          </p:cNvSpPr>
          <p:nvPr/>
        </p:nvSpPr>
        <p:spPr>
          <a:xfrm xmlns:a="http://schemas.openxmlformats.org/drawingml/2006/main">
            <a:off x="7962900" y="1524000"/>
            <a:ext cx="3505200" cy="1123950"/>
          </a:xfrm>
          <a:prstGeom xmlns:a="http://schemas.openxmlformats.org/drawingml/2006/main" prst="roundRect">
            <a:avLst>
              <a:gd name="adj" fmla="val 3390"/>
            </a:avLst>
          </a:prstGeom>
          <a:solidFill xmlns:a="http://schemas.openxmlformats.org/drawingml/2006/main">
            <a:srgbClr val="11344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1AA168F-E9AF-4124-B0B4-F45669CC75A7}"/>
              </a:ext>
            </a:extLst>
          </p:cNvPr>
          <p:cNvSpPr>
            <a:spLocks xmlns:a="http://schemas.openxmlformats.org/drawingml/2006/main" noGrp="1"/>
          </p:cNvSpPr>
          <p:nvPr/>
        </p:nvSpPr>
        <p:spPr>
          <a:xfrm xmlns:a="http://schemas.openxmlformats.org/drawingml/2006/main">
            <a:off x="8191500" y="1676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625" b="1">
                <a:solidFill>
                  <a:srgbClr val="F2AD12"/>
                </a:solidFill>
                <a:latin typeface="Arial"/>
                <a:ea typeface="Arial"/>
                <a:cs typeface="Arial"/>
              </a:defRPr>
            </a:pPr>
            <a:r>
              <a:rPr sz="2625" b="1">
                <a:solidFill>
                  <a:srgbClr val="F2AD12"/>
                </a:solidFill>
                <a:latin typeface="Arial"/>
                <a:ea typeface="Arial"/>
                <a:cs typeface="Arial"/>
              </a:rPr>
              <a:t>59.9 hours</a:t>
            </a:r>
          </a:p>
        </p:txBody>
      </p:sp>
      <p:sp>
        <p:nvSpPr>
          <p:cNvPr id="11" name="">
            <a:extLst xmlns:a="http://schemas.openxmlformats.org/drawingml/2006/main">
              <a:ext uri="{FF2B5EF4-FFF2-40B4-BE49-F238E27FC236}">
                <a16:creationId xmlns:a16="http://schemas.microsoft.com/office/drawing/2014/main" id="{7E0DD00F-5904-467B-BC47-F648AA468418}"/>
              </a:ext>
            </a:extLst>
          </p:cNvPr>
          <p:cNvSpPr>
            <a:spLocks xmlns:a="http://schemas.openxmlformats.org/drawingml/2006/main" noGrp="1"/>
          </p:cNvSpPr>
          <p:nvPr/>
        </p:nvSpPr>
        <p:spPr>
          <a:xfrm xmlns:a="http://schemas.openxmlformats.org/drawingml/2006/main">
            <a:off x="8191500" y="21907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FFFFFF"/>
                </a:solidFill>
                <a:latin typeface="Arial"/>
                <a:ea typeface="Arial"/>
                <a:cs typeface="Arial"/>
              </a:defRPr>
            </a:pPr>
            <a:r>
              <a:rPr sz="1050" b="0">
                <a:solidFill>
                  <a:srgbClr val="FFFFFF"/>
                </a:solidFill>
                <a:latin typeface="Arial"/>
                <a:ea typeface="Arial"/>
                <a:cs typeface="Arial"/>
              </a:rPr>
              <a:t>class total in the last 7 days</a:t>
            </a:r>
          </a:p>
        </p:txBody>
      </p:sp>
      <p:sp>
        <p:nvSpPr>
          <p:cNvPr id="12" name="">
            <a:extLst xmlns:a="http://schemas.openxmlformats.org/drawingml/2006/main">
              <a:ext uri="{FF2B5EF4-FFF2-40B4-BE49-F238E27FC236}">
                <a16:creationId xmlns:a16="http://schemas.microsoft.com/office/drawing/2014/main" id="{5B4AF5FF-C257-4199-9812-CD3AA4CDB444}"/>
              </a:ext>
            </a:extLst>
          </p:cNvPr>
          <p:cNvSpPr>
            <a:spLocks xmlns:a="http://schemas.openxmlformats.org/drawingml/2006/main" noGrp="1"/>
          </p:cNvSpPr>
          <p:nvPr/>
        </p:nvSpPr>
        <p:spPr>
          <a:xfrm xmlns:a="http://schemas.openxmlformats.org/drawingml/2006/main">
            <a:off x="7962900" y="2876550"/>
            <a:ext cx="3505200" cy="1047750"/>
          </a:xfrm>
          <a:prstGeom xmlns:a="http://schemas.openxmlformats.org/drawingml/2006/main" prst="roundRect">
            <a:avLst>
              <a:gd name="adj" fmla="val 3636"/>
            </a:avLst>
          </a:prstGeom>
          <a:solidFill xmlns:a="http://schemas.openxmlformats.org/drawingml/2006/main">
            <a:srgbClr val="E3F3EE"/>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56F522-E175-46E7-83C0-F98A9338F77C}"/>
              </a:ext>
            </a:extLst>
          </p:cNvPr>
          <p:cNvSpPr>
            <a:spLocks xmlns:a="http://schemas.openxmlformats.org/drawingml/2006/main" noGrp="1"/>
          </p:cNvSpPr>
          <p:nvPr/>
        </p:nvSpPr>
        <p:spPr>
          <a:xfrm xmlns:a="http://schemas.openxmlformats.org/drawingml/2006/main">
            <a:off x="8191500" y="303847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650" b="1">
                <a:solidFill>
                  <a:srgbClr val="148A68"/>
                </a:solidFill>
                <a:latin typeface="Arial"/>
                <a:ea typeface="Arial"/>
                <a:cs typeface="Arial"/>
              </a:defRPr>
            </a:pPr>
            <a:r>
              <a:rPr sz="1650" b="1">
                <a:solidFill>
                  <a:srgbClr val="148A68"/>
                </a:solidFill>
                <a:latin typeface="Arial"/>
                <a:ea typeface="Arial"/>
                <a:cs typeface="Arial"/>
              </a:rPr>
              <a:t>30 active · 9 with no time</a:t>
            </a:r>
          </a:p>
        </p:txBody>
      </p:sp>
      <p:sp>
        <p:nvSpPr>
          <p:cNvPr id="14" name="">
            <a:extLst xmlns:a="http://schemas.openxmlformats.org/drawingml/2006/main">
              <a:ext uri="{FF2B5EF4-FFF2-40B4-BE49-F238E27FC236}">
                <a16:creationId xmlns:a16="http://schemas.microsoft.com/office/drawing/2014/main" id="{5ACA4075-0B39-47CA-99E0-EACBDC19674F}"/>
              </a:ext>
            </a:extLst>
          </p:cNvPr>
          <p:cNvSpPr>
            <a:spLocks xmlns:a="http://schemas.openxmlformats.org/drawingml/2006/main" noGrp="1"/>
          </p:cNvSpPr>
          <p:nvPr/>
        </p:nvSpPr>
        <p:spPr>
          <a:xfrm xmlns:a="http://schemas.openxmlformats.org/drawingml/2006/main">
            <a:off x="8191500" y="34671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18364D"/>
                </a:solidFill>
                <a:latin typeface="Arial"/>
                <a:ea typeface="Arial"/>
                <a:cs typeface="Arial"/>
              </a:defRPr>
            </a:pPr>
            <a:r>
              <a:rPr sz="1125" b="0">
                <a:solidFill>
                  <a:srgbClr val="18364D"/>
                </a:solidFill>
                <a:latin typeface="Arial"/>
                <a:ea typeface="Arial"/>
                <a:cs typeface="Arial"/>
              </a:rPr>
              <a:t>19 students recorded under 30 minutes</a:t>
            </a:r>
          </a:p>
        </p:txBody>
      </p:sp>
      <p:sp>
        <p:nvSpPr>
          <p:cNvPr id="15" name="">
            <a:extLst xmlns:a="http://schemas.openxmlformats.org/drawingml/2006/main">
              <a:ext uri="{FF2B5EF4-FFF2-40B4-BE49-F238E27FC236}">
                <a16:creationId xmlns:a16="http://schemas.microsoft.com/office/drawing/2014/main" id="{A90B8D6A-5248-4511-B39E-5D5563AD6154}"/>
              </a:ext>
            </a:extLst>
          </p:cNvPr>
          <p:cNvSpPr>
            <a:spLocks xmlns:a="http://schemas.openxmlformats.org/drawingml/2006/main" noGrp="1"/>
          </p:cNvSpPr>
          <p:nvPr/>
        </p:nvSpPr>
        <p:spPr>
          <a:xfrm xmlns:a="http://schemas.openxmlformats.org/drawingml/2006/main">
            <a:off x="7962900" y="4152900"/>
            <a:ext cx="3505200" cy="1447800"/>
          </a:xfrm>
          <a:prstGeom xmlns:a="http://schemas.openxmlformats.org/drawingml/2006/main" prst="roundRect">
            <a:avLst>
              <a:gd name="adj" fmla="val 2632"/>
            </a:avLst>
          </a:prstGeom>
          <a:solidFill xmlns:a="http://schemas.openxmlformats.org/drawingml/2006/main">
            <a:srgbClr val="FFF2D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EC5BA9F-86FD-4F32-BA9F-E2C44FCE233C}"/>
              </a:ext>
            </a:extLst>
          </p:cNvPr>
          <p:cNvSpPr>
            <a:spLocks xmlns:a="http://schemas.openxmlformats.org/drawingml/2006/main" noGrp="1"/>
          </p:cNvSpPr>
          <p:nvPr/>
        </p:nvSpPr>
        <p:spPr>
          <a:xfrm xmlns:a="http://schemas.openxmlformats.org/drawingml/2006/main">
            <a:off x="8191500" y="4267200"/>
            <a:ext cx="304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850" b="1">
                <a:solidFill>
                  <a:srgbClr val="F2AD12"/>
                </a:solidFill>
                <a:latin typeface="Arial"/>
                <a:ea typeface="Arial"/>
                <a:cs typeface="Arial"/>
              </a:defRPr>
            </a:pPr>
            <a:r>
              <a:rPr sz="2850" b="1">
                <a:solidFill>
                  <a:srgbClr val="F2AD12"/>
                </a:solidFill>
                <a:latin typeface="Arial"/>
                <a:ea typeface="Arial"/>
                <a:cs typeface="Arial"/>
              </a:rPr>
              <a:t>59.5%</a:t>
            </a:r>
          </a:p>
        </p:txBody>
      </p:sp>
      <p:sp>
        <p:nvSpPr>
          <p:cNvPr id="17" name="">
            <a:extLst xmlns:a="http://schemas.openxmlformats.org/drawingml/2006/main">
              <a:ext uri="{FF2B5EF4-FFF2-40B4-BE49-F238E27FC236}">
                <a16:creationId xmlns:a16="http://schemas.microsoft.com/office/drawing/2014/main" id="{F0D46941-391F-43CC-89DB-DFD2DAD33AEE}"/>
              </a:ext>
            </a:extLst>
          </p:cNvPr>
          <p:cNvSpPr>
            <a:spLocks xmlns:a="http://schemas.openxmlformats.org/drawingml/2006/main" noGrp="1"/>
          </p:cNvSpPr>
          <p:nvPr/>
        </p:nvSpPr>
        <p:spPr>
          <a:xfrm xmlns:a="http://schemas.openxmlformats.org/drawingml/2006/main">
            <a:off x="8286750" y="48387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18364D"/>
                </a:solidFill>
                <a:latin typeface="Arial"/>
                <a:ea typeface="Arial"/>
                <a:cs typeface="Arial"/>
              </a:defRPr>
            </a:pPr>
            <a:r>
              <a:rPr sz="1275" b="1">
                <a:solidFill>
                  <a:srgbClr val="18364D"/>
                </a:solidFill>
                <a:latin typeface="Arial"/>
                <a:ea typeface="Arial"/>
                <a:cs typeface="Arial"/>
              </a:rPr>
              <a:t>of Sep 5–11 activity occurred on Sep 8–9</a:t>
            </a:r>
          </a:p>
        </p:txBody>
      </p:sp>
    </p:spTree>
    <p:extLst>
      <p:ext uri="{BB962C8B-B14F-4D97-AF65-F5344CB8AC3E}">
        <p14:creationId xmlns:p14="http://schemas.microsoft.com/office/powerpoint/2010/main" val="15689258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D561036-8B52-4B1C-9541-80245C73E40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5B5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18FDBA-45D2-462C-A9DD-36E4731C985D}"/>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Quiz 3 coverage</a:t>
            </a:r>
          </a:p>
        </p:txBody>
      </p:sp>
      <p:sp>
        <p:nvSpPr>
          <p:cNvPr id="3" name="">
            <a:extLst xmlns:a="http://schemas.openxmlformats.org/drawingml/2006/main">
              <a:ext uri="{FF2B5EF4-FFF2-40B4-BE49-F238E27FC236}">
                <a16:creationId xmlns:a16="http://schemas.microsoft.com/office/drawing/2014/main" id="{5FC6B142-06F4-4446-95B3-49C0B04EBB55}"/>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The quiz uses current coordinate skills plus retained quadratic applications</a:t>
            </a:r>
          </a:p>
        </p:txBody>
      </p:sp>
      <p:sp>
        <p:nvSpPr>
          <p:cNvPr id="4" name="">
            <a:extLst xmlns:a="http://schemas.openxmlformats.org/drawingml/2006/main">
              <a:ext uri="{FF2B5EF4-FFF2-40B4-BE49-F238E27FC236}">
                <a16:creationId xmlns:a16="http://schemas.microsoft.com/office/drawing/2014/main" id="{9C6CD931-5769-4458-822A-D174C207B02C}"/>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D85B50"/>
                </a:solidFill>
                <a:latin typeface="Arial"/>
                <a:ea typeface="Arial"/>
                <a:cs typeface="Arial"/>
              </a:defRPr>
            </a:pPr>
            <a:r>
              <a:rPr sz="825" b="1">
                <a:solidFill>
                  <a:srgbClr val="D85B50"/>
                </a:solidFill>
                <a:latin typeface="Arial"/>
                <a:ea typeface="Arial"/>
                <a:cs typeface="Arial"/>
              </a:rPr>
              <a:t>COVERAGE</a:t>
            </a:r>
          </a:p>
        </p:txBody>
      </p:sp>
      <p:sp>
        <p:nvSpPr>
          <p:cNvPr id="5" name="">
            <a:extLst xmlns:a="http://schemas.openxmlformats.org/drawingml/2006/main">
              <a:ext uri="{FF2B5EF4-FFF2-40B4-BE49-F238E27FC236}">
                <a16:creationId xmlns:a16="http://schemas.microsoft.com/office/drawing/2014/main" id="{BF68D86C-D0CB-40D7-96EC-17F7ED64B049}"/>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40B73409-0A84-4913-AA50-A21B57E3FCED}"/>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B8B5862D-3997-49E0-A63E-9107EC0FC0DE}"/>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5  slide</a:t>
            </a:r>
          </a:p>
        </p:txBody>
      </p:sp>
      <p:sp>
        <p:nvSpPr>
          <p:cNvPr id="8" name="">
            <a:extLst xmlns:a="http://schemas.openxmlformats.org/drawingml/2006/main">
              <a:ext uri="{FF2B5EF4-FFF2-40B4-BE49-F238E27FC236}">
                <a16:creationId xmlns:a16="http://schemas.microsoft.com/office/drawing/2014/main" id="{955F6B95-5C42-4C2B-B7E4-19895E1D53B5}"/>
              </a:ext>
            </a:extLst>
          </p:cNvPr>
          <p:cNvSpPr>
            <a:spLocks xmlns:a="http://schemas.openxmlformats.org/drawingml/2006/main" noGrp="1"/>
          </p:cNvSpPr>
          <p:nvPr/>
        </p:nvSpPr>
        <p:spPr>
          <a:xfrm xmlns:a="http://schemas.openxmlformats.org/drawingml/2006/main">
            <a:off x="781050" y="14097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48A68"/>
                </a:solidFill>
                <a:latin typeface="Arial"/>
                <a:ea typeface="Arial"/>
                <a:cs typeface="Arial"/>
              </a:defRPr>
            </a:pPr>
            <a:r>
              <a:rPr sz="825" b="1">
                <a:solidFill>
                  <a:srgbClr val="148A68"/>
                </a:solidFill>
                <a:latin typeface="Arial"/>
                <a:ea typeface="Arial"/>
                <a:cs typeface="Arial"/>
              </a:rPr>
              <a:t>ON QUIZ 3</a:t>
            </a:r>
          </a:p>
        </p:txBody>
      </p:sp>
      <p:sp>
        <p:nvSpPr>
          <p:cNvPr id="9" name="">
            <a:extLst xmlns:a="http://schemas.openxmlformats.org/drawingml/2006/main">
              <a:ext uri="{FF2B5EF4-FFF2-40B4-BE49-F238E27FC236}">
                <a16:creationId xmlns:a16="http://schemas.microsoft.com/office/drawing/2014/main" id="{ABA9196F-631D-4AD2-B6EF-2D32E1A8AEF0}"/>
              </a:ext>
            </a:extLst>
          </p:cNvPr>
          <p:cNvSpPr>
            <a:spLocks xmlns:a="http://schemas.openxmlformats.org/drawingml/2006/main" noGrp="1"/>
          </p:cNvSpPr>
          <p:nvPr/>
        </p:nvSpPr>
        <p:spPr>
          <a:xfrm xmlns:a="http://schemas.openxmlformats.org/drawingml/2006/main">
            <a:off x="781050" y="1695450"/>
            <a:ext cx="4762500" cy="0"/>
          </a:xfrm>
          <a:prstGeom xmlns:a="http://schemas.openxmlformats.org/drawingml/2006/main" prst="line">
            <a:avLst/>
          </a:prstGeom>
          <a:noFill xmlns:a="http://schemas.openxmlformats.org/drawingml/2006/main"/>
          <a:ln xmlns:a="http://schemas.openxmlformats.org/drawingml/2006/main" w="28575">
            <a:solidFill>
              <a:srgbClr val="148A68"/>
            </a:solidFill>
            <a:prstDash val="solid"/>
          </a:ln>
        </p:spPr>
      </p:sp>
      <p:sp>
        <p:nvSpPr>
          <p:cNvPr id="10" name="">
            <a:extLst xmlns:a="http://schemas.openxmlformats.org/drawingml/2006/main">
              <a:ext uri="{FF2B5EF4-FFF2-40B4-BE49-F238E27FC236}">
                <a16:creationId xmlns:a16="http://schemas.microsoft.com/office/drawing/2014/main" id="{F307FBAE-3B3B-4062-8D40-D8344FD6B697}"/>
              </a:ext>
            </a:extLst>
          </p:cNvPr>
          <p:cNvSpPr>
            <a:spLocks xmlns:a="http://schemas.openxmlformats.org/drawingml/2006/main" noGrp="1"/>
          </p:cNvSpPr>
          <p:nvPr/>
        </p:nvSpPr>
        <p:spPr>
          <a:xfrm xmlns:a="http://schemas.openxmlformats.org/drawingml/2006/main">
            <a:off x="781050" y="1885950"/>
            <a:ext cx="4762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8364D"/>
                </a:solidFill>
                <a:latin typeface="Arial"/>
                <a:ea typeface="Arial"/>
                <a:cs typeface="Arial"/>
              </a:defRPr>
            </a:pPr>
            <a:r>
              <a:rPr sz="1650" b="1">
                <a:solidFill>
                  <a:srgbClr val="18364D"/>
                </a:solidFill>
                <a:latin typeface="Arial"/>
                <a:ea typeface="Arial"/>
                <a:cs typeface="Arial"/>
              </a:rPr>
              <a:t>Distance and midpoint</a:t>
            </a:r>
          </a:p>
          <a:p xmlns:a="http://schemas.openxmlformats.org/drawingml/2006/main">
            <a:pPr algn="l">
              <a:defRPr sz="1650" b="1">
                <a:solidFill>
                  <a:srgbClr val="18364D"/>
                </a:solidFill>
                <a:latin typeface="Arial"/>
                <a:ea typeface="Arial"/>
                <a:cs typeface="Arial"/>
              </a:defRPr>
            </a:pPr>
            <a:r>
              <a:rPr sz="1650" b="1">
                <a:solidFill>
                  <a:srgbClr val="18364D"/>
                </a:solidFill>
                <a:latin typeface="Arial"/>
                <a:ea typeface="Arial"/>
                <a:cs typeface="Arial"/>
              </a:rPr>
              <a:t>All intercepts, including factored polynomials</a:t>
            </a:r>
          </a:p>
          <a:p xmlns:a="http://schemas.openxmlformats.org/drawingml/2006/main">
            <a:pPr algn="l">
              <a:defRPr sz="1650" b="1">
                <a:solidFill>
                  <a:srgbClr val="18364D"/>
                </a:solidFill>
                <a:latin typeface="Arial"/>
                <a:ea typeface="Arial"/>
                <a:cs typeface="Arial"/>
              </a:defRPr>
            </a:pPr>
            <a:r>
              <a:rPr sz="1650" b="1">
                <a:solidFill>
                  <a:srgbClr val="18364D"/>
                </a:solidFill>
                <a:latin typeface="Arial"/>
                <a:ea typeface="Arial"/>
                <a:cs typeface="Arial"/>
              </a:rPr>
              <a:t>Slope and a line equation</a:t>
            </a:r>
          </a:p>
          <a:p xmlns:a="http://schemas.openxmlformats.org/drawingml/2006/main">
            <a:pPr algn="l">
              <a:defRPr sz="1650" b="1">
                <a:solidFill>
                  <a:srgbClr val="18364D"/>
                </a:solidFill>
                <a:latin typeface="Arial"/>
                <a:ea typeface="Arial"/>
                <a:cs typeface="Arial"/>
              </a:defRPr>
            </a:pPr>
            <a:r>
              <a:rPr sz="1650" b="1">
                <a:solidFill>
                  <a:srgbClr val="18364D"/>
                </a:solidFill>
                <a:latin typeface="Arial"/>
                <a:ea typeface="Arial"/>
                <a:cs typeface="Arial"/>
              </a:rPr>
              <a:t>Coordinate tables and solution checks</a:t>
            </a:r>
          </a:p>
          <a:p xmlns:a="http://schemas.openxmlformats.org/drawingml/2006/main">
            <a:pPr algn="l">
              <a:defRPr sz="1650" b="1">
                <a:solidFill>
                  <a:srgbClr val="18364D"/>
                </a:solidFill>
                <a:latin typeface="Arial"/>
                <a:ea typeface="Arial"/>
                <a:cs typeface="Arial"/>
              </a:defRPr>
            </a:pPr>
            <a:r>
              <a:rPr sz="1650" b="1">
                <a:solidFill>
                  <a:srgbClr val="18364D"/>
                </a:solidFill>
                <a:latin typeface="Arial"/>
                <a:ea typeface="Arial"/>
                <a:cs typeface="Arial"/>
              </a:rPr>
              <a:t>Circle form, center, radius, and diameter</a:t>
            </a:r>
          </a:p>
          <a:p xmlns:a="http://schemas.openxmlformats.org/drawingml/2006/main">
            <a:pPr algn="l">
              <a:defRPr sz="1650" b="1">
                <a:solidFill>
                  <a:srgbClr val="18364D"/>
                </a:solidFill>
                <a:latin typeface="Arial"/>
                <a:ea typeface="Arial"/>
                <a:cs typeface="Arial"/>
              </a:defRPr>
            </a:pPr>
            <a:r>
              <a:rPr sz="1650" b="1">
                <a:solidFill>
                  <a:srgbClr val="18364D"/>
                </a:solidFill>
                <a:latin typeface="Arial"/>
                <a:ea typeface="Arial"/>
                <a:cs typeface="Arial"/>
              </a:rPr>
              <a:t>A quadratic rectangle application</a:t>
            </a:r>
          </a:p>
        </p:txBody>
      </p:sp>
      <p:sp>
        <p:nvSpPr>
          <p:cNvPr id="11" name="">
            <a:extLst xmlns:a="http://schemas.openxmlformats.org/drawingml/2006/main">
              <a:ext uri="{FF2B5EF4-FFF2-40B4-BE49-F238E27FC236}">
                <a16:creationId xmlns:a16="http://schemas.microsoft.com/office/drawing/2014/main" id="{3A99985C-1A13-4904-88D6-D197B1DEE73E}"/>
              </a:ext>
            </a:extLst>
          </p:cNvPr>
          <p:cNvSpPr>
            <a:spLocks xmlns:a="http://schemas.openxmlformats.org/drawingml/2006/main" noGrp="1"/>
          </p:cNvSpPr>
          <p:nvPr/>
        </p:nvSpPr>
        <p:spPr>
          <a:xfrm xmlns:a="http://schemas.openxmlformats.org/drawingml/2006/main">
            <a:off x="6572250" y="14097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D85B50"/>
                </a:solidFill>
                <a:latin typeface="Arial"/>
                <a:ea typeface="Arial"/>
                <a:cs typeface="Arial"/>
              </a:defRPr>
            </a:pPr>
            <a:r>
              <a:rPr sz="825" b="1">
                <a:solidFill>
                  <a:srgbClr val="D85B50"/>
                </a:solidFill>
                <a:latin typeface="Arial"/>
                <a:ea typeface="Arial"/>
                <a:cs typeface="Arial"/>
              </a:rPr>
              <a:t>AFTER QUIZ 3</a:t>
            </a:r>
          </a:p>
        </p:txBody>
      </p:sp>
      <p:sp>
        <p:nvSpPr>
          <p:cNvPr id="12" name="">
            <a:extLst xmlns:a="http://schemas.openxmlformats.org/drawingml/2006/main">
              <a:ext uri="{FF2B5EF4-FFF2-40B4-BE49-F238E27FC236}">
                <a16:creationId xmlns:a16="http://schemas.microsoft.com/office/drawing/2014/main" id="{E11FD714-3EF3-41BA-A483-52AE3EE668BC}"/>
              </a:ext>
            </a:extLst>
          </p:cNvPr>
          <p:cNvSpPr>
            <a:spLocks xmlns:a="http://schemas.openxmlformats.org/drawingml/2006/main" noGrp="1"/>
          </p:cNvSpPr>
          <p:nvPr/>
        </p:nvSpPr>
        <p:spPr>
          <a:xfrm xmlns:a="http://schemas.openxmlformats.org/drawingml/2006/main">
            <a:off x="6572250" y="1695450"/>
            <a:ext cx="4762500" cy="0"/>
          </a:xfrm>
          <a:prstGeom xmlns:a="http://schemas.openxmlformats.org/drawingml/2006/main" prst="line">
            <a:avLst/>
          </a:prstGeom>
          <a:noFill xmlns:a="http://schemas.openxmlformats.org/drawingml/2006/main"/>
          <a:ln xmlns:a="http://schemas.openxmlformats.org/drawingml/2006/main" w="28575">
            <a:solidFill>
              <a:srgbClr val="D85B50"/>
            </a:solidFill>
            <a:prstDash val="solid"/>
          </a:ln>
        </p:spPr>
      </p:sp>
      <p:sp>
        <p:nvSpPr>
          <p:cNvPr id="13" name="">
            <a:extLst xmlns:a="http://schemas.openxmlformats.org/drawingml/2006/main">
              <a:ext uri="{FF2B5EF4-FFF2-40B4-BE49-F238E27FC236}">
                <a16:creationId xmlns:a16="http://schemas.microsoft.com/office/drawing/2014/main" id="{18E10063-B9A2-4189-9431-A9D31BB42ACD}"/>
              </a:ext>
            </a:extLst>
          </p:cNvPr>
          <p:cNvSpPr>
            <a:spLocks xmlns:a="http://schemas.openxmlformats.org/drawingml/2006/main" noGrp="1"/>
          </p:cNvSpPr>
          <p:nvPr/>
        </p:nvSpPr>
        <p:spPr>
          <a:xfrm xmlns:a="http://schemas.openxmlformats.org/drawingml/2006/main">
            <a:off x="6572250" y="188595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687783"/>
                </a:solidFill>
                <a:latin typeface="Arial"/>
                <a:ea typeface="Arial"/>
                <a:cs typeface="Arial"/>
              </a:defRPr>
            </a:pPr>
            <a:r>
              <a:rPr sz="1800" b="1">
                <a:solidFill>
                  <a:srgbClr val="687783"/>
                </a:solidFill>
                <a:latin typeface="Arial"/>
                <a:ea typeface="Arial"/>
                <a:cs typeface="Arial"/>
              </a:rPr>
              <a:t>Function notation and evaluation</a:t>
            </a:r>
          </a:p>
          <a:p xmlns:a="http://schemas.openxmlformats.org/drawingml/2006/main">
            <a:pPr algn="l">
              <a:defRPr sz="1800" b="1">
                <a:solidFill>
                  <a:srgbClr val="687783"/>
                </a:solidFill>
                <a:latin typeface="Arial"/>
                <a:ea typeface="Arial"/>
                <a:cs typeface="Arial"/>
              </a:defRPr>
            </a:pPr>
            <a:r>
              <a:rPr sz="1800" b="1">
                <a:solidFill>
                  <a:srgbClr val="687783"/>
                </a:solidFill>
                <a:latin typeface="Arial"/>
                <a:ea typeface="Arial"/>
                <a:cs typeface="Arial"/>
              </a:rPr>
              <a:t>Domain</a:t>
            </a:r>
          </a:p>
          <a:p xmlns:a="http://schemas.openxmlformats.org/drawingml/2006/main">
            <a:pPr algn="l">
              <a:defRPr sz="1800" b="1">
                <a:solidFill>
                  <a:srgbClr val="687783"/>
                </a:solidFill>
                <a:latin typeface="Arial"/>
                <a:ea typeface="Arial"/>
                <a:cs typeface="Arial"/>
              </a:defRPr>
            </a:pPr>
            <a:r>
              <a:rPr sz="1800" b="1">
                <a:solidFill>
                  <a:srgbClr val="687783"/>
                </a:solidFill>
                <a:latin typeface="Arial"/>
                <a:ea typeface="Arial"/>
                <a:cs typeface="Arial"/>
              </a:rPr>
              <a:t>Parallel and perpendicular lines</a:t>
            </a:r>
          </a:p>
        </p:txBody>
      </p:sp>
      <p:sp>
        <p:nvSpPr>
          <p:cNvPr id="14" name="">
            <a:extLst xmlns:a="http://schemas.openxmlformats.org/drawingml/2006/main">
              <a:ext uri="{FF2B5EF4-FFF2-40B4-BE49-F238E27FC236}">
                <a16:creationId xmlns:a16="http://schemas.microsoft.com/office/drawing/2014/main" id="{50FFF652-68E8-4173-BCC7-2CB56E5F31B3}"/>
              </a:ext>
            </a:extLst>
          </p:cNvPr>
          <p:cNvSpPr>
            <a:spLocks xmlns:a="http://schemas.openxmlformats.org/drawingml/2006/main" noGrp="1"/>
          </p:cNvSpPr>
          <p:nvPr/>
        </p:nvSpPr>
        <p:spPr>
          <a:xfrm xmlns:a="http://schemas.openxmlformats.org/drawingml/2006/main">
            <a:off x="6572250" y="3905250"/>
            <a:ext cx="4762500" cy="876300"/>
          </a:xfrm>
          <a:prstGeom xmlns:a="http://schemas.openxmlformats.org/drawingml/2006/main" prst="roundRect">
            <a:avLst>
              <a:gd name="adj" fmla="val 4348"/>
            </a:avLst>
          </a:prstGeom>
          <a:solidFill xmlns:a="http://schemas.openxmlformats.org/drawingml/2006/main">
            <a:srgbClr val="FBE7E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0CA4D9F-93C6-4ED7-B10A-8281E6B02CEE}"/>
              </a:ext>
            </a:extLst>
          </p:cNvPr>
          <p:cNvSpPr>
            <a:spLocks xmlns:a="http://schemas.openxmlformats.org/drawingml/2006/main" noGrp="1"/>
          </p:cNvSpPr>
          <p:nvPr/>
        </p:nvSpPr>
        <p:spPr>
          <a:xfrm xmlns:a="http://schemas.openxmlformats.org/drawingml/2006/main">
            <a:off x="6819900" y="4067175"/>
            <a:ext cx="4267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1">
                <a:solidFill>
                  <a:srgbClr val="D85B50"/>
                </a:solidFill>
                <a:latin typeface="Arial"/>
                <a:ea typeface="Arial"/>
                <a:cs typeface="Arial"/>
              </a:defRPr>
            </a:pPr>
            <a:r>
              <a:rPr sz="1350" b="1">
                <a:solidFill>
                  <a:srgbClr val="D85B50"/>
                </a:solidFill>
                <a:latin typeface="Arial"/>
                <a:ea typeface="Arial"/>
                <a:cs typeface="Arial"/>
              </a:rPr>
              <a:t>These topics remain in the course. They are not part of this Quiz 3 review.</a:t>
            </a:r>
          </a:p>
        </p:txBody>
      </p:sp>
      <p:sp>
        <p:nvSpPr>
          <p:cNvPr id="16" name="">
            <a:extLst xmlns:a="http://schemas.openxmlformats.org/drawingml/2006/main">
              <a:ext uri="{FF2B5EF4-FFF2-40B4-BE49-F238E27FC236}">
                <a16:creationId xmlns:a16="http://schemas.microsoft.com/office/drawing/2014/main" id="{9B9C5CED-F451-410F-B8CF-6D4C7A738092}"/>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F9419F-08A6-4D00-9F7F-9280FF9B5C42}"/>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ALEKS Sections 2.1, 2.2, and 2.4 remain due Sep 16 at 2:10 PM. Canvas is the source of truth.</a:t>
            </a:r>
          </a:p>
        </p:txBody>
      </p:sp>
    </p:spTree>
    <p:extLst>
      <p:ext uri="{BB962C8B-B14F-4D97-AF65-F5344CB8AC3E}">
        <p14:creationId xmlns:p14="http://schemas.microsoft.com/office/powerpoint/2010/main" val="9414163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9E92060-F8F0-4A09-AFA7-02D91DD61DB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4C30ED-A209-4573-A3C1-DD119042AEE7}"/>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Quiz 3 retrieval</a:t>
            </a:r>
          </a:p>
        </p:txBody>
      </p:sp>
      <p:sp>
        <p:nvSpPr>
          <p:cNvPr id="3" name="">
            <a:extLst xmlns:a="http://schemas.openxmlformats.org/drawingml/2006/main">
              <a:ext uri="{FF2B5EF4-FFF2-40B4-BE49-F238E27FC236}">
                <a16:creationId xmlns:a16="http://schemas.microsoft.com/office/drawing/2014/main" id="{EF69F4B3-D5C7-4D3F-8F1D-D2F2892E0F5D}"/>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Work independently for five minutes · show enough work to diagnose an error</a:t>
            </a:r>
          </a:p>
        </p:txBody>
      </p:sp>
      <p:sp>
        <p:nvSpPr>
          <p:cNvPr id="4" name="">
            <a:extLst xmlns:a="http://schemas.openxmlformats.org/drawingml/2006/main">
              <a:ext uri="{FF2B5EF4-FFF2-40B4-BE49-F238E27FC236}">
                <a16:creationId xmlns:a16="http://schemas.microsoft.com/office/drawing/2014/main" id="{B66BAA1D-EA8E-42A2-A0ED-F89E019D8F35}"/>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RETRIEVAL</a:t>
            </a:r>
          </a:p>
        </p:txBody>
      </p:sp>
      <p:sp>
        <p:nvSpPr>
          <p:cNvPr id="5" name="">
            <a:extLst xmlns:a="http://schemas.openxmlformats.org/drawingml/2006/main">
              <a:ext uri="{FF2B5EF4-FFF2-40B4-BE49-F238E27FC236}">
                <a16:creationId xmlns:a16="http://schemas.microsoft.com/office/drawing/2014/main" id="{7747EAE2-061F-41B4-B75C-30BB083843E8}"/>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D8402BEF-5C83-43E2-B464-10B2111CEE6E}"/>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1B049EC7-80B0-42FD-A1C8-A63381887E92}"/>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6  slide</a:t>
            </a:r>
          </a:p>
        </p:txBody>
      </p:sp>
      <p:sp>
        <p:nvSpPr>
          <p:cNvPr id="8" name="">
            <a:extLst xmlns:a="http://schemas.openxmlformats.org/drawingml/2006/main">
              <a:ext uri="{FF2B5EF4-FFF2-40B4-BE49-F238E27FC236}">
                <a16:creationId xmlns:a16="http://schemas.microsoft.com/office/drawing/2014/main" id="{C9B36090-A3B0-4543-A6D2-851453B9DFDA}"/>
              </a:ext>
            </a:extLst>
          </p:cNvPr>
          <p:cNvSpPr>
            <a:spLocks xmlns:a="http://schemas.openxmlformats.org/drawingml/2006/main" noGrp="1"/>
          </p:cNvSpPr>
          <p:nvPr/>
        </p:nvSpPr>
        <p:spPr>
          <a:xfrm xmlns:a="http://schemas.openxmlformats.org/drawingml/2006/main">
            <a:off x="781050" y="14001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4A4B260-1F11-4C0E-A92A-0B2135807711}"/>
              </a:ext>
            </a:extLst>
          </p:cNvPr>
          <p:cNvSpPr>
            <a:spLocks xmlns:a="http://schemas.openxmlformats.org/drawingml/2006/main" noGrp="1"/>
          </p:cNvSpPr>
          <p:nvPr/>
        </p:nvSpPr>
        <p:spPr>
          <a:xfrm xmlns:a="http://schemas.openxmlformats.org/drawingml/2006/main">
            <a:off x="781050" y="1400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4C0BCC8A-C80A-4712-B5DC-7CA1CA731957}"/>
              </a:ext>
            </a:extLst>
          </p:cNvPr>
          <p:cNvSpPr>
            <a:spLocks xmlns:a="http://schemas.openxmlformats.org/drawingml/2006/main" noGrp="1"/>
          </p:cNvSpPr>
          <p:nvPr/>
        </p:nvSpPr>
        <p:spPr>
          <a:xfrm xmlns:a="http://schemas.openxmlformats.org/drawingml/2006/main">
            <a:off x="1409700" y="13525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For A(−2, 5) and B(4, −7), find the midpoint and exact distance.</a:t>
            </a:r>
          </a:p>
        </p:txBody>
      </p:sp>
      <p:sp>
        <p:nvSpPr>
          <p:cNvPr id="11" name="">
            <a:extLst xmlns:a="http://schemas.openxmlformats.org/drawingml/2006/main">
              <a:ext uri="{FF2B5EF4-FFF2-40B4-BE49-F238E27FC236}">
                <a16:creationId xmlns:a16="http://schemas.microsoft.com/office/drawing/2014/main" id="{0DDE7DE2-EF63-4229-A7ED-8C535FFF506C}"/>
              </a:ext>
            </a:extLst>
          </p:cNvPr>
          <p:cNvSpPr>
            <a:spLocks xmlns:a="http://schemas.openxmlformats.org/drawingml/2006/main" noGrp="1"/>
          </p:cNvSpPr>
          <p:nvPr/>
        </p:nvSpPr>
        <p:spPr>
          <a:xfrm xmlns:a="http://schemas.openxmlformats.org/drawingml/2006/main">
            <a:off x="781050" y="23526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1109CC5-B888-47BF-B891-B6E5326404C4}"/>
              </a:ext>
            </a:extLst>
          </p:cNvPr>
          <p:cNvSpPr>
            <a:spLocks xmlns:a="http://schemas.openxmlformats.org/drawingml/2006/main" noGrp="1"/>
          </p:cNvSpPr>
          <p:nvPr/>
        </p:nvSpPr>
        <p:spPr>
          <a:xfrm xmlns:a="http://schemas.openxmlformats.org/drawingml/2006/main">
            <a:off x="781050" y="23526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AA3775C-20B0-474D-80B4-4EC75C63662E}"/>
              </a:ext>
            </a:extLst>
          </p:cNvPr>
          <p:cNvSpPr>
            <a:spLocks xmlns:a="http://schemas.openxmlformats.org/drawingml/2006/main" noGrp="1"/>
          </p:cNvSpPr>
          <p:nvPr/>
        </p:nvSpPr>
        <p:spPr>
          <a:xfrm xmlns:a="http://schemas.openxmlformats.org/drawingml/2006/main">
            <a:off x="1409700" y="23050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Find all intercepts of 𝑦 = 𝑥³ − 16𝑥. Factor completely.</a:t>
            </a:r>
          </a:p>
        </p:txBody>
      </p:sp>
      <p:sp>
        <p:nvSpPr>
          <p:cNvPr id="14" name="">
            <a:extLst xmlns:a="http://schemas.openxmlformats.org/drawingml/2006/main">
              <a:ext uri="{FF2B5EF4-FFF2-40B4-BE49-F238E27FC236}">
                <a16:creationId xmlns:a16="http://schemas.microsoft.com/office/drawing/2014/main" id="{EF4C8978-4B05-447F-B92E-66E9DEA6ED39}"/>
              </a:ext>
            </a:extLst>
          </p:cNvPr>
          <p:cNvSpPr>
            <a:spLocks xmlns:a="http://schemas.openxmlformats.org/drawingml/2006/main" noGrp="1"/>
          </p:cNvSpPr>
          <p:nvPr/>
        </p:nvSpPr>
        <p:spPr>
          <a:xfrm xmlns:a="http://schemas.openxmlformats.org/drawingml/2006/main">
            <a:off x="781050" y="33051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650D94-20BB-4C79-8B7E-578DAD1659F1}"/>
              </a:ext>
            </a:extLst>
          </p:cNvPr>
          <p:cNvSpPr>
            <a:spLocks xmlns:a="http://schemas.openxmlformats.org/drawingml/2006/main" noGrp="1"/>
          </p:cNvSpPr>
          <p:nvPr/>
        </p:nvSpPr>
        <p:spPr>
          <a:xfrm xmlns:a="http://schemas.openxmlformats.org/drawingml/2006/main">
            <a:off x="781050" y="3305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EA0FFB54-FBA3-4EC9-B54C-B8747FA41501}"/>
              </a:ext>
            </a:extLst>
          </p:cNvPr>
          <p:cNvSpPr>
            <a:spLocks xmlns:a="http://schemas.openxmlformats.org/drawingml/2006/main" noGrp="1"/>
          </p:cNvSpPr>
          <p:nvPr/>
        </p:nvSpPr>
        <p:spPr>
          <a:xfrm xmlns:a="http://schemas.openxmlformats.org/drawingml/2006/main">
            <a:off x="1409700" y="32575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For 3𝑥 − 2𝑦 = 12, find 𝑦 when 𝑥 = 0 and test whether (−2, −9) is a solution.</a:t>
            </a:r>
          </a:p>
        </p:txBody>
      </p:sp>
      <p:sp>
        <p:nvSpPr>
          <p:cNvPr id="17" name="">
            <a:extLst xmlns:a="http://schemas.openxmlformats.org/drawingml/2006/main">
              <a:ext uri="{FF2B5EF4-FFF2-40B4-BE49-F238E27FC236}">
                <a16:creationId xmlns:a16="http://schemas.microsoft.com/office/drawing/2014/main" id="{BF79581C-21F4-43C4-A866-B6EC75A3BE3B}"/>
              </a:ext>
            </a:extLst>
          </p:cNvPr>
          <p:cNvSpPr>
            <a:spLocks xmlns:a="http://schemas.openxmlformats.org/drawingml/2006/main" noGrp="1"/>
          </p:cNvSpPr>
          <p:nvPr/>
        </p:nvSpPr>
        <p:spPr>
          <a:xfrm xmlns:a="http://schemas.openxmlformats.org/drawingml/2006/main">
            <a:off x="781050" y="42576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4A85D2D-A79B-4FFE-AC32-047D85586E5E}"/>
              </a:ext>
            </a:extLst>
          </p:cNvPr>
          <p:cNvSpPr>
            <a:spLocks xmlns:a="http://schemas.openxmlformats.org/drawingml/2006/main" noGrp="1"/>
          </p:cNvSpPr>
          <p:nvPr/>
        </p:nvSpPr>
        <p:spPr>
          <a:xfrm xmlns:a="http://schemas.openxmlformats.org/drawingml/2006/main">
            <a:off x="781050" y="42576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2DFC27A4-C09C-4BCD-9D92-CC2E3DCBC5D8}"/>
              </a:ext>
            </a:extLst>
          </p:cNvPr>
          <p:cNvSpPr>
            <a:spLocks xmlns:a="http://schemas.openxmlformats.org/drawingml/2006/main" noGrp="1"/>
          </p:cNvSpPr>
          <p:nvPr/>
        </p:nvSpPr>
        <p:spPr>
          <a:xfrm xmlns:a="http://schemas.openxmlformats.org/drawingml/2006/main">
            <a:off x="1409700" y="42100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A rectangle has area 54 ft². Its length is 3 ft more than its width. Find both dimensions.</a:t>
            </a:r>
          </a:p>
        </p:txBody>
      </p:sp>
      <p:sp>
        <p:nvSpPr>
          <p:cNvPr id="20" name="">
            <a:extLst xmlns:a="http://schemas.openxmlformats.org/drawingml/2006/main">
              <a:ext uri="{FF2B5EF4-FFF2-40B4-BE49-F238E27FC236}">
                <a16:creationId xmlns:a16="http://schemas.microsoft.com/office/drawing/2014/main" id="{76161555-7321-4E90-A1FD-396A35B0B01F}"/>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79C7B8B-5E8E-4A91-90D9-9D536F4F94D7}"/>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Show the setup. Quiz 3 awards credit for the method, not a bare answer.</a:t>
            </a:r>
          </a:p>
        </p:txBody>
      </p:sp>
    </p:spTree>
    <p:extLst>
      <p:ext uri="{BB962C8B-B14F-4D97-AF65-F5344CB8AC3E}">
        <p14:creationId xmlns:p14="http://schemas.microsoft.com/office/powerpoint/2010/main" val="21148559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12DC3DB-AAF4-484F-8D91-C66CAA81920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42EC124-A506-4DE0-B482-7603919197D5}"/>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Retrieval check</a:t>
            </a:r>
          </a:p>
        </p:txBody>
      </p:sp>
      <p:sp>
        <p:nvSpPr>
          <p:cNvPr id="3" name="">
            <a:extLst xmlns:a="http://schemas.openxmlformats.org/drawingml/2006/main">
              <a:ext uri="{FF2B5EF4-FFF2-40B4-BE49-F238E27FC236}">
                <a16:creationId xmlns:a16="http://schemas.microsoft.com/office/drawing/2014/main" id="{F87D9632-A707-43E4-9008-51299ADD2FCA}"/>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Compare methods, then mark the first step where your work changed</a:t>
            </a:r>
          </a:p>
        </p:txBody>
      </p:sp>
      <p:sp>
        <p:nvSpPr>
          <p:cNvPr id="4" name="">
            <a:extLst xmlns:a="http://schemas.openxmlformats.org/drawingml/2006/main">
              <a:ext uri="{FF2B5EF4-FFF2-40B4-BE49-F238E27FC236}">
                <a16:creationId xmlns:a16="http://schemas.microsoft.com/office/drawing/2014/main" id="{BBE3A4B9-ADEE-4E0A-8B3E-69DFFE039F22}"/>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CHECK</a:t>
            </a:r>
          </a:p>
        </p:txBody>
      </p:sp>
      <p:sp>
        <p:nvSpPr>
          <p:cNvPr id="5" name="">
            <a:extLst xmlns:a="http://schemas.openxmlformats.org/drawingml/2006/main">
              <a:ext uri="{FF2B5EF4-FFF2-40B4-BE49-F238E27FC236}">
                <a16:creationId xmlns:a16="http://schemas.microsoft.com/office/drawing/2014/main" id="{17C3DDAF-BD20-47DE-8635-D5BF8E2F58DB}"/>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6B5629AA-6A55-46AD-909C-8B41A4B0361A}"/>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99806B57-14E8-43B1-8FB5-F76DA43450E9}"/>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7  slide</a:t>
            </a:r>
          </a:p>
        </p:txBody>
      </p:sp>
      <p:sp>
        <p:nvSpPr>
          <p:cNvPr id="8" name="">
            <a:extLst xmlns:a="http://schemas.openxmlformats.org/drawingml/2006/main">
              <a:ext uri="{FF2B5EF4-FFF2-40B4-BE49-F238E27FC236}">
                <a16:creationId xmlns:a16="http://schemas.microsoft.com/office/drawing/2014/main" id="{B8A79B1E-CC86-4B8A-A6AA-F5C8C486B060}"/>
              </a:ext>
            </a:extLst>
          </p:cNvPr>
          <p:cNvSpPr>
            <a:spLocks xmlns:a="http://schemas.openxmlformats.org/drawingml/2006/main" noGrp="1"/>
          </p:cNvSpPr>
          <p:nvPr/>
        </p:nvSpPr>
        <p:spPr>
          <a:xfrm xmlns:a="http://schemas.openxmlformats.org/drawingml/2006/main">
            <a:off x="781050" y="14001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DF0BBAE-458E-4C0B-AA88-131DF5225470}"/>
              </a:ext>
            </a:extLst>
          </p:cNvPr>
          <p:cNvSpPr>
            <a:spLocks xmlns:a="http://schemas.openxmlformats.org/drawingml/2006/main" noGrp="1"/>
          </p:cNvSpPr>
          <p:nvPr/>
        </p:nvSpPr>
        <p:spPr>
          <a:xfrm xmlns:a="http://schemas.openxmlformats.org/drawingml/2006/main">
            <a:off x="781050" y="1400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DF7EF1D2-C46D-489A-B4BE-CE8149D9D7BC}"/>
              </a:ext>
            </a:extLst>
          </p:cNvPr>
          <p:cNvSpPr>
            <a:spLocks xmlns:a="http://schemas.openxmlformats.org/drawingml/2006/main" noGrp="1"/>
          </p:cNvSpPr>
          <p:nvPr/>
        </p:nvSpPr>
        <p:spPr>
          <a:xfrm xmlns:a="http://schemas.openxmlformats.org/drawingml/2006/main">
            <a:off x="1409700" y="13525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Midpoint (1, −1). Distance √180 = 6√5.</a:t>
            </a:r>
          </a:p>
        </p:txBody>
      </p:sp>
      <p:sp>
        <p:nvSpPr>
          <p:cNvPr id="11" name="">
            <a:extLst xmlns:a="http://schemas.openxmlformats.org/drawingml/2006/main">
              <a:ext uri="{FF2B5EF4-FFF2-40B4-BE49-F238E27FC236}">
                <a16:creationId xmlns:a16="http://schemas.microsoft.com/office/drawing/2014/main" id="{1A2B81DD-9C0C-48AF-80FA-C03438CC5350}"/>
              </a:ext>
            </a:extLst>
          </p:cNvPr>
          <p:cNvSpPr>
            <a:spLocks xmlns:a="http://schemas.openxmlformats.org/drawingml/2006/main" noGrp="1"/>
          </p:cNvSpPr>
          <p:nvPr/>
        </p:nvSpPr>
        <p:spPr>
          <a:xfrm xmlns:a="http://schemas.openxmlformats.org/drawingml/2006/main">
            <a:off x="781050" y="23526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3F9A30C-BA9C-4EF3-B57E-8D18B99E7171}"/>
              </a:ext>
            </a:extLst>
          </p:cNvPr>
          <p:cNvSpPr>
            <a:spLocks xmlns:a="http://schemas.openxmlformats.org/drawingml/2006/main" noGrp="1"/>
          </p:cNvSpPr>
          <p:nvPr/>
        </p:nvSpPr>
        <p:spPr>
          <a:xfrm xmlns:a="http://schemas.openxmlformats.org/drawingml/2006/main">
            <a:off x="781050" y="23526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4472435-C361-429F-9E39-01BD35DC8D84}"/>
              </a:ext>
            </a:extLst>
          </p:cNvPr>
          <p:cNvSpPr>
            <a:spLocks xmlns:a="http://schemas.openxmlformats.org/drawingml/2006/main" noGrp="1"/>
          </p:cNvSpPr>
          <p:nvPr/>
        </p:nvSpPr>
        <p:spPr>
          <a:xfrm xmlns:a="http://schemas.openxmlformats.org/drawingml/2006/main">
            <a:off x="1409700" y="23050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𝑥(𝑥² − 16) = 𝑥(𝑥 − 4)(𝑥 + 4). Intercepts (−4, 0), (0, 0), and (4, 0).</a:t>
            </a:r>
          </a:p>
        </p:txBody>
      </p:sp>
      <p:sp>
        <p:nvSpPr>
          <p:cNvPr id="14" name="">
            <a:extLst xmlns:a="http://schemas.openxmlformats.org/drawingml/2006/main">
              <a:ext uri="{FF2B5EF4-FFF2-40B4-BE49-F238E27FC236}">
                <a16:creationId xmlns:a16="http://schemas.microsoft.com/office/drawing/2014/main" id="{63CB6869-0F25-4742-BD13-A35F39793534}"/>
              </a:ext>
            </a:extLst>
          </p:cNvPr>
          <p:cNvSpPr>
            <a:spLocks xmlns:a="http://schemas.openxmlformats.org/drawingml/2006/main" noGrp="1"/>
          </p:cNvSpPr>
          <p:nvPr/>
        </p:nvSpPr>
        <p:spPr>
          <a:xfrm xmlns:a="http://schemas.openxmlformats.org/drawingml/2006/main">
            <a:off x="781050" y="33051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2A10F68-F533-4EB4-AEFC-6B3EE2C7FA20}"/>
              </a:ext>
            </a:extLst>
          </p:cNvPr>
          <p:cNvSpPr>
            <a:spLocks xmlns:a="http://schemas.openxmlformats.org/drawingml/2006/main" noGrp="1"/>
          </p:cNvSpPr>
          <p:nvPr/>
        </p:nvSpPr>
        <p:spPr>
          <a:xfrm xmlns:a="http://schemas.openxmlformats.org/drawingml/2006/main">
            <a:off x="781050" y="33051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43505E57-4CAD-41BF-960C-5A690B55C0DB}"/>
              </a:ext>
            </a:extLst>
          </p:cNvPr>
          <p:cNvSpPr>
            <a:spLocks xmlns:a="http://schemas.openxmlformats.org/drawingml/2006/main" noGrp="1"/>
          </p:cNvSpPr>
          <p:nvPr/>
        </p:nvSpPr>
        <p:spPr>
          <a:xfrm xmlns:a="http://schemas.openxmlformats.org/drawingml/2006/main">
            <a:off x="1409700" y="32575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𝑥 = 0 gives 𝑦 = −6. The point (−2, −9) works because −6 + 18 = 12.</a:t>
            </a:r>
          </a:p>
        </p:txBody>
      </p:sp>
      <p:sp>
        <p:nvSpPr>
          <p:cNvPr id="17" name="">
            <a:extLst xmlns:a="http://schemas.openxmlformats.org/drawingml/2006/main">
              <a:ext uri="{FF2B5EF4-FFF2-40B4-BE49-F238E27FC236}">
                <a16:creationId xmlns:a16="http://schemas.microsoft.com/office/drawing/2014/main" id="{E7E1ADA1-ACC6-456A-BE39-3D77837CEAF8}"/>
              </a:ext>
            </a:extLst>
          </p:cNvPr>
          <p:cNvSpPr>
            <a:spLocks xmlns:a="http://schemas.openxmlformats.org/drawingml/2006/main" noGrp="1"/>
          </p:cNvSpPr>
          <p:nvPr/>
        </p:nvSpPr>
        <p:spPr>
          <a:xfrm xmlns:a="http://schemas.openxmlformats.org/drawingml/2006/main">
            <a:off x="781050" y="42576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3A5F1C0-BA06-447C-8A81-916A2E209D08}"/>
              </a:ext>
            </a:extLst>
          </p:cNvPr>
          <p:cNvSpPr>
            <a:spLocks xmlns:a="http://schemas.openxmlformats.org/drawingml/2006/main" noGrp="1"/>
          </p:cNvSpPr>
          <p:nvPr/>
        </p:nvSpPr>
        <p:spPr>
          <a:xfrm xmlns:a="http://schemas.openxmlformats.org/drawingml/2006/main">
            <a:off x="781050" y="42576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627179E3-EBFF-4683-8451-84B04B2F17AA}"/>
              </a:ext>
            </a:extLst>
          </p:cNvPr>
          <p:cNvSpPr>
            <a:spLocks xmlns:a="http://schemas.openxmlformats.org/drawingml/2006/main" noGrp="1"/>
          </p:cNvSpPr>
          <p:nvPr/>
        </p:nvSpPr>
        <p:spPr>
          <a:xfrm xmlns:a="http://schemas.openxmlformats.org/drawingml/2006/main">
            <a:off x="1409700" y="42100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𝑥(𝑥 + 3) = 54. The positive solution gives 6 ft by 9 ft.</a:t>
            </a:r>
          </a:p>
        </p:txBody>
      </p:sp>
      <p:sp>
        <p:nvSpPr>
          <p:cNvPr id="20" name="">
            <a:extLst xmlns:a="http://schemas.openxmlformats.org/drawingml/2006/main">
              <a:ext uri="{FF2B5EF4-FFF2-40B4-BE49-F238E27FC236}">
                <a16:creationId xmlns:a16="http://schemas.microsoft.com/office/drawing/2014/main" id="{858E9359-DF77-4D66-BB25-9AA779E0BBF3}"/>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3F3E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C907166-6147-4081-A1FC-767C3B6EA0E9}"/>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48A68"/>
                </a:solidFill>
                <a:latin typeface="Arial"/>
                <a:ea typeface="Arial"/>
                <a:cs typeface="Arial"/>
              </a:defRPr>
            </a:pPr>
            <a:r>
              <a:rPr sz="1200" b="1">
                <a:solidFill>
                  <a:srgbClr val="148A68"/>
                </a:solidFill>
                <a:latin typeface="Arial"/>
                <a:ea typeface="Arial"/>
                <a:cs typeface="Arial"/>
              </a:rPr>
              <a:t>A wrong final answer often begins with one sign or substitution error.</a:t>
            </a:r>
          </a:p>
        </p:txBody>
      </p:sp>
    </p:spTree>
    <p:extLst>
      <p:ext uri="{BB962C8B-B14F-4D97-AF65-F5344CB8AC3E}">
        <p14:creationId xmlns:p14="http://schemas.microsoft.com/office/powerpoint/2010/main" val="17004234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3D2E97A-3DC1-4080-8A10-D77F5C8DDF3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04F5F7-7D26-4E84-87E7-CF5F0A919BE8}"/>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Coordinate formula map</a:t>
            </a:r>
          </a:p>
        </p:txBody>
      </p:sp>
      <p:sp>
        <p:nvSpPr>
          <p:cNvPr id="3" name="">
            <a:extLst xmlns:a="http://schemas.openxmlformats.org/drawingml/2006/main">
              <a:ext uri="{FF2B5EF4-FFF2-40B4-BE49-F238E27FC236}">
                <a16:creationId xmlns:a16="http://schemas.microsoft.com/office/drawing/2014/main" id="{87E9D7E5-4E51-427B-9CB8-89EE2A64081C}"/>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Name the quantity before choosing the formula</a:t>
            </a:r>
          </a:p>
        </p:txBody>
      </p:sp>
      <p:sp>
        <p:nvSpPr>
          <p:cNvPr id="4" name="">
            <a:extLst xmlns:a="http://schemas.openxmlformats.org/drawingml/2006/main">
              <a:ext uri="{FF2B5EF4-FFF2-40B4-BE49-F238E27FC236}">
                <a16:creationId xmlns:a16="http://schemas.microsoft.com/office/drawing/2014/main" id="{E1857AC6-49E0-4F90-BD4D-B85F34AF53B7}"/>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REFERENCE</a:t>
            </a:r>
          </a:p>
        </p:txBody>
      </p:sp>
      <p:sp>
        <p:nvSpPr>
          <p:cNvPr id="5" name="">
            <a:extLst xmlns:a="http://schemas.openxmlformats.org/drawingml/2006/main">
              <a:ext uri="{FF2B5EF4-FFF2-40B4-BE49-F238E27FC236}">
                <a16:creationId xmlns:a16="http://schemas.microsoft.com/office/drawing/2014/main" id="{863CFBA5-06B4-41AF-9A98-238522AEC81B}"/>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53BE69C9-8D2C-494C-AEED-FB90B050AF01}"/>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9813F182-4394-4D62-A8A3-7D9E11D8C0A8}"/>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8  slide</a:t>
            </a:r>
          </a:p>
        </p:txBody>
      </p:sp>
      <p:sp>
        <p:nvSpPr>
          <p:cNvPr id="8" name="">
            <a:extLst xmlns:a="http://schemas.openxmlformats.org/drawingml/2006/main">
              <a:ext uri="{FF2B5EF4-FFF2-40B4-BE49-F238E27FC236}">
                <a16:creationId xmlns:a16="http://schemas.microsoft.com/office/drawing/2014/main" id="{9B918027-3BFE-4716-8C48-18577F5364B7}"/>
              </a:ext>
            </a:extLst>
          </p:cNvPr>
          <p:cNvSpPr>
            <a:spLocks xmlns:a="http://schemas.openxmlformats.org/drawingml/2006/main" noGrp="1"/>
          </p:cNvSpPr>
          <p:nvPr/>
        </p:nvSpPr>
        <p:spPr>
          <a:xfrm xmlns:a="http://schemas.openxmlformats.org/drawingml/2006/main">
            <a:off x="666750" y="1390650"/>
            <a:ext cx="5257800" cy="1714500"/>
          </a:xfrm>
          <a:prstGeom xmlns:a="http://schemas.openxmlformats.org/drawingml/2006/main" prst="roundRect">
            <a:avLst>
              <a:gd name="adj" fmla="val 3333"/>
            </a:avLst>
          </a:prstGeom>
          <a:solidFill xmlns:a="http://schemas.openxmlformats.org/drawingml/2006/main">
            <a:srgbClr val="E3F3E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98BF674-4887-444C-B5FE-76F38B85DC38}"/>
              </a:ext>
            </a:extLst>
          </p:cNvPr>
          <p:cNvSpPr>
            <a:spLocks xmlns:a="http://schemas.openxmlformats.org/drawingml/2006/main" noGrp="1"/>
          </p:cNvSpPr>
          <p:nvPr/>
        </p:nvSpPr>
        <p:spPr>
          <a:xfrm xmlns:a="http://schemas.openxmlformats.org/drawingml/2006/main">
            <a:off x="895350" y="156210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48A68"/>
                </a:solidFill>
                <a:latin typeface="Arial"/>
                <a:ea typeface="Arial"/>
                <a:cs typeface="Arial"/>
              </a:defRPr>
            </a:pPr>
            <a:r>
              <a:rPr sz="825" b="1">
                <a:solidFill>
                  <a:srgbClr val="148A68"/>
                </a:solidFill>
                <a:latin typeface="Arial"/>
                <a:ea typeface="Arial"/>
                <a:cs typeface="Arial"/>
              </a:rPr>
              <a:t>MIDPOINT</a:t>
            </a:r>
          </a:p>
        </p:txBody>
      </p:sp>
      <p:sp>
        <p:nvSpPr>
          <p:cNvPr id="10" name="">
            <a:extLst xmlns:a="http://schemas.openxmlformats.org/drawingml/2006/main">
              <a:ext uri="{FF2B5EF4-FFF2-40B4-BE49-F238E27FC236}">
                <a16:creationId xmlns:a16="http://schemas.microsoft.com/office/drawing/2014/main" id="{3328F898-8BF4-435D-BDC1-B5D026566FD8}"/>
              </a:ext>
            </a:extLst>
          </p:cNvPr>
          <p:cNvSpPr>
            <a:spLocks xmlns:a="http://schemas.openxmlformats.org/drawingml/2006/main" noGrp="1"/>
          </p:cNvSpPr>
          <p:nvPr/>
        </p:nvSpPr>
        <p:spPr>
          <a:xfrm xmlns:a="http://schemas.openxmlformats.org/drawingml/2006/main">
            <a:off x="895350" y="2590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Average x-values and y-values separately.</a:t>
            </a:r>
          </a:p>
        </p:txBody>
      </p:sp>
      <p:sp>
        <p:nvSpPr>
          <p:cNvPr id="11" name="">
            <a:extLst xmlns:a="http://schemas.openxmlformats.org/drawingml/2006/main">
              <a:ext uri="{FF2B5EF4-FFF2-40B4-BE49-F238E27FC236}">
                <a16:creationId xmlns:a16="http://schemas.microsoft.com/office/drawing/2014/main" id="{F8C6377F-29BF-48DC-932A-7A6B7CE90404}"/>
              </a:ext>
            </a:extLst>
          </p:cNvPr>
          <p:cNvSpPr>
            <a:spLocks xmlns:a="http://schemas.openxmlformats.org/drawingml/2006/main" noGrp="1"/>
          </p:cNvSpPr>
          <p:nvPr/>
        </p:nvSpPr>
        <p:spPr>
          <a:xfrm xmlns:a="http://schemas.openxmlformats.org/drawingml/2006/main">
            <a:off x="1466850" y="1847850"/>
            <a:ext cx="80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𝑀 = (</a:t>
            </a:r>
          </a:p>
        </p:txBody>
      </p:sp>
      <p:sp>
        <p:nvSpPr>
          <p:cNvPr id="12" name="">
            <a:extLst xmlns:a="http://schemas.openxmlformats.org/drawingml/2006/main">
              <a:ext uri="{FF2B5EF4-FFF2-40B4-BE49-F238E27FC236}">
                <a16:creationId xmlns:a16="http://schemas.microsoft.com/office/drawing/2014/main" id="{DDDDC570-6B4D-40E7-AD6B-552FCE823741}"/>
              </a:ext>
            </a:extLst>
          </p:cNvPr>
          <p:cNvSpPr>
            <a:spLocks xmlns:a="http://schemas.openxmlformats.org/drawingml/2006/main" noGrp="1"/>
          </p:cNvSpPr>
          <p:nvPr/>
        </p:nvSpPr>
        <p:spPr>
          <a:xfrm xmlns:a="http://schemas.openxmlformats.org/drawingml/2006/main">
            <a:off x="2276475" y="18097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500" b="1">
                <a:solidFill>
                  <a:srgbClr val="11344E"/>
                </a:solidFill>
                <a:latin typeface="Cambria Math"/>
                <a:ea typeface="Cambria Math"/>
                <a:cs typeface="Cambria Math"/>
              </a:defRPr>
            </a:pPr>
            <a:r>
              <a:rPr sz="1500" b="1">
                <a:solidFill>
                  <a:srgbClr val="11344E"/>
                </a:solidFill>
                <a:latin typeface="Cambria Math"/>
                <a:ea typeface="Cambria Math"/>
                <a:cs typeface="Cambria Math"/>
              </a:rPr>
              <a:t>𝑥₁ + 𝑥₂</a:t>
            </a:r>
          </a:p>
        </p:txBody>
      </p:sp>
      <p:sp>
        <p:nvSpPr>
          <p:cNvPr id="13" name="">
            <a:extLst xmlns:a="http://schemas.openxmlformats.org/drawingml/2006/main">
              <a:ext uri="{FF2B5EF4-FFF2-40B4-BE49-F238E27FC236}">
                <a16:creationId xmlns:a16="http://schemas.microsoft.com/office/drawing/2014/main" id="{F859BEEA-C7B2-4935-BAF3-0CB677CAAC8B}"/>
              </a:ext>
            </a:extLst>
          </p:cNvPr>
          <p:cNvSpPr>
            <a:spLocks xmlns:a="http://schemas.openxmlformats.org/drawingml/2006/main" noGrp="1"/>
          </p:cNvSpPr>
          <p:nvPr/>
        </p:nvSpPr>
        <p:spPr>
          <a:xfrm xmlns:a="http://schemas.openxmlformats.org/drawingml/2006/main">
            <a:off x="2305050" y="2133600"/>
            <a:ext cx="1181100"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14" name="">
            <a:extLst xmlns:a="http://schemas.openxmlformats.org/drawingml/2006/main">
              <a:ext uri="{FF2B5EF4-FFF2-40B4-BE49-F238E27FC236}">
                <a16:creationId xmlns:a16="http://schemas.microsoft.com/office/drawing/2014/main" id="{36A85AE4-F1BE-475A-875B-090BAE105076}"/>
              </a:ext>
            </a:extLst>
          </p:cNvPr>
          <p:cNvSpPr>
            <a:spLocks xmlns:a="http://schemas.openxmlformats.org/drawingml/2006/main" noGrp="1"/>
          </p:cNvSpPr>
          <p:nvPr/>
        </p:nvSpPr>
        <p:spPr>
          <a:xfrm xmlns:a="http://schemas.openxmlformats.org/drawingml/2006/main">
            <a:off x="2276475" y="2152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11344E"/>
                </a:solidFill>
                <a:latin typeface="Cambria Math"/>
                <a:ea typeface="Cambria Math"/>
                <a:cs typeface="Cambria Math"/>
              </a:defRPr>
            </a:pPr>
            <a:r>
              <a:rPr sz="1500" b="1">
                <a:solidFill>
                  <a:srgbClr val="11344E"/>
                </a:solidFill>
                <a:latin typeface="Cambria Math"/>
                <a:ea typeface="Cambria Math"/>
                <a:cs typeface="Cambria Math"/>
              </a:rPr>
              <a:t>2</a:t>
            </a:r>
          </a:p>
        </p:txBody>
      </p:sp>
      <p:sp>
        <p:nvSpPr>
          <p:cNvPr id="15" name="">
            <a:extLst xmlns:a="http://schemas.openxmlformats.org/drawingml/2006/main">
              <a:ext uri="{FF2B5EF4-FFF2-40B4-BE49-F238E27FC236}">
                <a16:creationId xmlns:a16="http://schemas.microsoft.com/office/drawing/2014/main" id="{6D76920F-5015-4A65-9B7F-6E542D0EA550}"/>
              </a:ext>
            </a:extLst>
          </p:cNvPr>
          <p:cNvSpPr>
            <a:spLocks xmlns:a="http://schemas.openxmlformats.org/drawingml/2006/main" noGrp="1"/>
          </p:cNvSpPr>
          <p:nvPr/>
        </p:nvSpPr>
        <p:spPr>
          <a:xfrm xmlns:a="http://schemas.openxmlformats.org/drawingml/2006/main">
            <a:off x="3514725" y="1847850"/>
            <a:ext cx="171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a:t>
            </a:r>
          </a:p>
        </p:txBody>
      </p:sp>
      <p:sp>
        <p:nvSpPr>
          <p:cNvPr id="16" name="">
            <a:extLst xmlns:a="http://schemas.openxmlformats.org/drawingml/2006/main">
              <a:ext uri="{FF2B5EF4-FFF2-40B4-BE49-F238E27FC236}">
                <a16:creationId xmlns:a16="http://schemas.microsoft.com/office/drawing/2014/main" id="{9B7A745C-98A2-4F2B-A680-65996D08311A}"/>
              </a:ext>
            </a:extLst>
          </p:cNvPr>
          <p:cNvSpPr>
            <a:spLocks xmlns:a="http://schemas.openxmlformats.org/drawingml/2006/main" noGrp="1"/>
          </p:cNvSpPr>
          <p:nvPr/>
        </p:nvSpPr>
        <p:spPr>
          <a:xfrm xmlns:a="http://schemas.openxmlformats.org/drawingml/2006/main">
            <a:off x="3686175" y="18097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500" b="1">
                <a:solidFill>
                  <a:srgbClr val="11344E"/>
                </a:solidFill>
                <a:latin typeface="Cambria Math"/>
                <a:ea typeface="Cambria Math"/>
                <a:cs typeface="Cambria Math"/>
              </a:defRPr>
            </a:pPr>
            <a:r>
              <a:rPr sz="1500" b="1">
                <a:solidFill>
                  <a:srgbClr val="11344E"/>
                </a:solidFill>
                <a:latin typeface="Cambria Math"/>
                <a:ea typeface="Cambria Math"/>
                <a:cs typeface="Cambria Math"/>
              </a:rPr>
              <a:t>𝑦₁ + 𝑦₂</a:t>
            </a:r>
          </a:p>
        </p:txBody>
      </p:sp>
      <p:sp>
        <p:nvSpPr>
          <p:cNvPr id="17" name="">
            <a:extLst xmlns:a="http://schemas.openxmlformats.org/drawingml/2006/main">
              <a:ext uri="{FF2B5EF4-FFF2-40B4-BE49-F238E27FC236}">
                <a16:creationId xmlns:a16="http://schemas.microsoft.com/office/drawing/2014/main" id="{5B9F7399-2D4D-41F5-B0EB-18EAFD8412D6}"/>
              </a:ext>
            </a:extLst>
          </p:cNvPr>
          <p:cNvSpPr>
            <a:spLocks xmlns:a="http://schemas.openxmlformats.org/drawingml/2006/main" noGrp="1"/>
          </p:cNvSpPr>
          <p:nvPr/>
        </p:nvSpPr>
        <p:spPr>
          <a:xfrm xmlns:a="http://schemas.openxmlformats.org/drawingml/2006/main">
            <a:off x="3714750" y="2133600"/>
            <a:ext cx="1181100"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18" name="">
            <a:extLst xmlns:a="http://schemas.openxmlformats.org/drawingml/2006/main">
              <a:ext uri="{FF2B5EF4-FFF2-40B4-BE49-F238E27FC236}">
                <a16:creationId xmlns:a16="http://schemas.microsoft.com/office/drawing/2014/main" id="{B0B19BEA-04CE-4934-B35E-31BB7A80DF71}"/>
              </a:ext>
            </a:extLst>
          </p:cNvPr>
          <p:cNvSpPr>
            <a:spLocks xmlns:a="http://schemas.openxmlformats.org/drawingml/2006/main" noGrp="1"/>
          </p:cNvSpPr>
          <p:nvPr/>
        </p:nvSpPr>
        <p:spPr>
          <a:xfrm xmlns:a="http://schemas.openxmlformats.org/drawingml/2006/main">
            <a:off x="3686175" y="21526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00" b="1">
                <a:solidFill>
                  <a:srgbClr val="11344E"/>
                </a:solidFill>
                <a:latin typeface="Cambria Math"/>
                <a:ea typeface="Cambria Math"/>
                <a:cs typeface="Cambria Math"/>
              </a:defRPr>
            </a:pPr>
            <a:r>
              <a:rPr sz="1500" b="1">
                <a:solidFill>
                  <a:srgbClr val="11344E"/>
                </a:solidFill>
                <a:latin typeface="Cambria Math"/>
                <a:ea typeface="Cambria Math"/>
                <a:cs typeface="Cambria Math"/>
              </a:rPr>
              <a:t>2</a:t>
            </a:r>
          </a:p>
        </p:txBody>
      </p:sp>
      <p:sp>
        <p:nvSpPr>
          <p:cNvPr id="19" name="">
            <a:extLst xmlns:a="http://schemas.openxmlformats.org/drawingml/2006/main">
              <a:ext uri="{FF2B5EF4-FFF2-40B4-BE49-F238E27FC236}">
                <a16:creationId xmlns:a16="http://schemas.microsoft.com/office/drawing/2014/main" id="{404C646C-0B19-4F1F-9BAA-A27E72841E59}"/>
              </a:ext>
            </a:extLst>
          </p:cNvPr>
          <p:cNvSpPr>
            <a:spLocks xmlns:a="http://schemas.openxmlformats.org/drawingml/2006/main" noGrp="1"/>
          </p:cNvSpPr>
          <p:nvPr/>
        </p:nvSpPr>
        <p:spPr>
          <a:xfrm xmlns:a="http://schemas.openxmlformats.org/drawingml/2006/main">
            <a:off x="4924425" y="1847850"/>
            <a:ext cx="171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a:t>
            </a:r>
          </a:p>
        </p:txBody>
      </p:sp>
      <p:sp>
        <p:nvSpPr>
          <p:cNvPr id="20" name="">
            <a:extLst xmlns:a="http://schemas.openxmlformats.org/drawingml/2006/main">
              <a:ext uri="{FF2B5EF4-FFF2-40B4-BE49-F238E27FC236}">
                <a16:creationId xmlns:a16="http://schemas.microsoft.com/office/drawing/2014/main" id="{986A702B-09D1-490B-BE7F-188624E80B6A}"/>
              </a:ext>
            </a:extLst>
          </p:cNvPr>
          <p:cNvSpPr>
            <a:spLocks xmlns:a="http://schemas.openxmlformats.org/drawingml/2006/main" noGrp="1"/>
          </p:cNvSpPr>
          <p:nvPr/>
        </p:nvSpPr>
        <p:spPr>
          <a:xfrm xmlns:a="http://schemas.openxmlformats.org/drawingml/2006/main">
            <a:off x="6267450" y="1390650"/>
            <a:ext cx="5257800" cy="1714500"/>
          </a:xfrm>
          <a:prstGeom xmlns:a="http://schemas.openxmlformats.org/drawingml/2006/main" prst="roundRect">
            <a:avLst>
              <a:gd name="adj" fmla="val 3333"/>
            </a:avLst>
          </a:prstGeom>
          <a:solidFill xmlns:a="http://schemas.openxmlformats.org/drawingml/2006/main">
            <a:srgbClr val="E4F2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B2C3CB-8AC0-4B0F-96AA-A4CBC61F4CA1}"/>
              </a:ext>
            </a:extLst>
          </p:cNvPr>
          <p:cNvSpPr>
            <a:spLocks xmlns:a="http://schemas.openxmlformats.org/drawingml/2006/main" noGrp="1"/>
          </p:cNvSpPr>
          <p:nvPr/>
        </p:nvSpPr>
        <p:spPr>
          <a:xfrm xmlns:a="http://schemas.openxmlformats.org/drawingml/2006/main">
            <a:off x="6496050" y="156210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777B4"/>
                </a:solidFill>
                <a:latin typeface="Arial"/>
                <a:ea typeface="Arial"/>
                <a:cs typeface="Arial"/>
              </a:defRPr>
            </a:pPr>
            <a:r>
              <a:rPr sz="825" b="1">
                <a:solidFill>
                  <a:srgbClr val="1777B4"/>
                </a:solidFill>
                <a:latin typeface="Arial"/>
                <a:ea typeface="Arial"/>
                <a:cs typeface="Arial"/>
              </a:rPr>
              <a:t>DISTANCE</a:t>
            </a:r>
          </a:p>
        </p:txBody>
      </p:sp>
      <p:sp>
        <p:nvSpPr>
          <p:cNvPr id="22" name="">
            <a:extLst xmlns:a="http://schemas.openxmlformats.org/drawingml/2006/main">
              <a:ext uri="{FF2B5EF4-FFF2-40B4-BE49-F238E27FC236}">
                <a16:creationId xmlns:a16="http://schemas.microsoft.com/office/drawing/2014/main" id="{1BBC19D6-47EC-4186-8FA3-C8C1A41EEB18}"/>
              </a:ext>
            </a:extLst>
          </p:cNvPr>
          <p:cNvSpPr>
            <a:spLocks xmlns:a="http://schemas.openxmlformats.org/drawingml/2006/main" noGrp="1"/>
          </p:cNvSpPr>
          <p:nvPr/>
        </p:nvSpPr>
        <p:spPr>
          <a:xfrm xmlns:a="http://schemas.openxmlformats.org/drawingml/2006/main">
            <a:off x="6496050" y="25908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Subtract, square, add, then take the square root.</a:t>
            </a:r>
          </a:p>
        </p:txBody>
      </p:sp>
      <p:sp>
        <p:nvSpPr>
          <p:cNvPr id="23" name="">
            <a:extLst xmlns:a="http://schemas.openxmlformats.org/drawingml/2006/main">
              <a:ext uri="{FF2B5EF4-FFF2-40B4-BE49-F238E27FC236}">
                <a16:creationId xmlns:a16="http://schemas.microsoft.com/office/drawing/2014/main" id="{0E06DD05-CAF1-485B-903B-7A5690780F44}"/>
              </a:ext>
            </a:extLst>
          </p:cNvPr>
          <p:cNvSpPr>
            <a:spLocks xmlns:a="http://schemas.openxmlformats.org/drawingml/2006/main" noGrp="1"/>
          </p:cNvSpPr>
          <p:nvPr/>
        </p:nvSpPr>
        <p:spPr>
          <a:xfrm xmlns:a="http://schemas.openxmlformats.org/drawingml/2006/main">
            <a:off x="6915150" y="1885950"/>
            <a:ext cx="5905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𝑑 =</a:t>
            </a:r>
          </a:p>
        </p:txBody>
      </p:sp>
      <p:sp>
        <p:nvSpPr>
          <p:cNvPr id="24" name="">
            <a:extLst xmlns:a="http://schemas.openxmlformats.org/drawingml/2006/main">
              <a:ext uri="{FF2B5EF4-FFF2-40B4-BE49-F238E27FC236}">
                <a16:creationId xmlns:a16="http://schemas.microsoft.com/office/drawing/2014/main" id="{FC183D81-55EC-4293-8AA9-3557B8A3FB0B}"/>
              </a:ext>
            </a:extLst>
          </p:cNvPr>
          <p:cNvSpPr>
            <a:spLocks xmlns:a="http://schemas.openxmlformats.org/drawingml/2006/main" noGrp="1"/>
          </p:cNvSpPr>
          <p:nvPr/>
        </p:nvSpPr>
        <p:spPr>
          <a:xfrm xmlns:a="http://schemas.openxmlformats.org/drawingml/2006/main">
            <a:off x="7505700" y="1857375"/>
            <a:ext cx="266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2250" b="1">
                <a:solidFill>
                  <a:srgbClr val="11344E"/>
                </a:solidFill>
                <a:latin typeface="Cambria Math"/>
                <a:ea typeface="Cambria Math"/>
                <a:cs typeface="Cambria Math"/>
              </a:defRPr>
            </a:pPr>
            <a:r>
              <a:rPr sz="2250" b="1">
                <a:solidFill>
                  <a:srgbClr val="11344E"/>
                </a:solidFill>
                <a:latin typeface="Cambria Math"/>
                <a:ea typeface="Cambria Math"/>
                <a:cs typeface="Cambria Math"/>
              </a:rPr>
              <a:t>√</a:t>
            </a:r>
          </a:p>
        </p:txBody>
      </p:sp>
      <p:sp>
        <p:nvSpPr>
          <p:cNvPr id="25" name="">
            <a:extLst xmlns:a="http://schemas.openxmlformats.org/drawingml/2006/main">
              <a:ext uri="{FF2B5EF4-FFF2-40B4-BE49-F238E27FC236}">
                <a16:creationId xmlns:a16="http://schemas.microsoft.com/office/drawing/2014/main" id="{B4528900-9A89-4E21-9EB3-CA2D4FE3598F}"/>
              </a:ext>
            </a:extLst>
          </p:cNvPr>
          <p:cNvSpPr>
            <a:spLocks xmlns:a="http://schemas.openxmlformats.org/drawingml/2006/main" noGrp="1"/>
          </p:cNvSpPr>
          <p:nvPr/>
        </p:nvSpPr>
        <p:spPr>
          <a:xfrm xmlns:a="http://schemas.openxmlformats.org/drawingml/2006/main">
            <a:off x="7743825" y="1914525"/>
            <a:ext cx="3076575" cy="0"/>
          </a:xfrm>
          <a:prstGeom xmlns:a="http://schemas.openxmlformats.org/drawingml/2006/main" prst="line">
            <a:avLst/>
          </a:prstGeom>
          <a:noFill xmlns:a="http://schemas.openxmlformats.org/drawingml/2006/main"/>
          <a:ln xmlns:a="http://schemas.openxmlformats.org/drawingml/2006/main" w="14288">
            <a:solidFill>
              <a:srgbClr val="11344E"/>
            </a:solidFill>
            <a:prstDash val="solid"/>
          </a:ln>
        </p:spPr>
      </p:sp>
      <p:sp>
        <p:nvSpPr>
          <p:cNvPr id="26" name="">
            <a:extLst xmlns:a="http://schemas.openxmlformats.org/drawingml/2006/main">
              <a:ext uri="{FF2B5EF4-FFF2-40B4-BE49-F238E27FC236}">
                <a16:creationId xmlns:a16="http://schemas.microsoft.com/office/drawing/2014/main" id="{DD41D155-AFA3-4274-8E66-8BAED3A53452}"/>
              </a:ext>
            </a:extLst>
          </p:cNvPr>
          <p:cNvSpPr>
            <a:spLocks xmlns:a="http://schemas.openxmlformats.org/drawingml/2006/main" noGrp="1"/>
          </p:cNvSpPr>
          <p:nvPr/>
        </p:nvSpPr>
        <p:spPr>
          <a:xfrm xmlns:a="http://schemas.openxmlformats.org/drawingml/2006/main">
            <a:off x="7772400" y="1876425"/>
            <a:ext cx="306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11344E"/>
                </a:solidFill>
                <a:latin typeface="Cambria Math"/>
                <a:ea typeface="Cambria Math"/>
                <a:cs typeface="Cambria Math"/>
              </a:defRPr>
            </a:pPr>
            <a:r>
              <a:rPr sz="1725" b="1">
                <a:solidFill>
                  <a:srgbClr val="11344E"/>
                </a:solidFill>
                <a:latin typeface="Cambria Math"/>
                <a:ea typeface="Cambria Math"/>
                <a:cs typeface="Cambria Math"/>
              </a:rPr>
              <a:t>(𝑥₂ − 𝑥₁)² + (𝑦₂ − 𝑦₁)²</a:t>
            </a:r>
          </a:p>
        </p:txBody>
      </p:sp>
      <p:sp>
        <p:nvSpPr>
          <p:cNvPr id="27" name="">
            <a:extLst xmlns:a="http://schemas.openxmlformats.org/drawingml/2006/main">
              <a:ext uri="{FF2B5EF4-FFF2-40B4-BE49-F238E27FC236}">
                <a16:creationId xmlns:a16="http://schemas.microsoft.com/office/drawing/2014/main" id="{5D79AF71-655C-4031-8CC4-13BFD4492845}"/>
              </a:ext>
            </a:extLst>
          </p:cNvPr>
          <p:cNvSpPr>
            <a:spLocks xmlns:a="http://schemas.openxmlformats.org/drawingml/2006/main" noGrp="1"/>
          </p:cNvSpPr>
          <p:nvPr/>
        </p:nvSpPr>
        <p:spPr>
          <a:xfrm xmlns:a="http://schemas.openxmlformats.org/drawingml/2006/main">
            <a:off x="666750" y="3333750"/>
            <a:ext cx="5257800" cy="1714500"/>
          </a:xfrm>
          <a:prstGeom xmlns:a="http://schemas.openxmlformats.org/drawingml/2006/main" prst="roundRect">
            <a:avLst>
              <a:gd name="adj" fmla="val 3333"/>
            </a:avLst>
          </a:prstGeom>
          <a:solidFill xmlns:a="http://schemas.openxmlformats.org/drawingml/2006/main">
            <a:srgbClr val="FFF2D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A18FCBDD-01A8-4E7F-A485-CF846917A3DC}"/>
              </a:ext>
            </a:extLst>
          </p:cNvPr>
          <p:cNvSpPr>
            <a:spLocks xmlns:a="http://schemas.openxmlformats.org/drawingml/2006/main" noGrp="1"/>
          </p:cNvSpPr>
          <p:nvPr/>
        </p:nvSpPr>
        <p:spPr>
          <a:xfrm xmlns:a="http://schemas.openxmlformats.org/drawingml/2006/main">
            <a:off x="895350" y="350520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2AD12"/>
                </a:solidFill>
                <a:latin typeface="Arial"/>
                <a:ea typeface="Arial"/>
                <a:cs typeface="Arial"/>
              </a:defRPr>
            </a:pPr>
            <a:r>
              <a:rPr sz="825" b="1">
                <a:solidFill>
                  <a:srgbClr val="F2AD12"/>
                </a:solidFill>
                <a:latin typeface="Arial"/>
                <a:ea typeface="Arial"/>
                <a:cs typeface="Arial"/>
              </a:rPr>
              <a:t>SLOPE AND LINE</a:t>
            </a:r>
          </a:p>
        </p:txBody>
      </p:sp>
      <p:sp>
        <p:nvSpPr>
          <p:cNvPr id="29" name="">
            <a:extLst xmlns:a="http://schemas.openxmlformats.org/drawingml/2006/main">
              <a:ext uri="{FF2B5EF4-FFF2-40B4-BE49-F238E27FC236}">
                <a16:creationId xmlns:a16="http://schemas.microsoft.com/office/drawing/2014/main" id="{10036885-1D0F-43B0-9F7D-2E0456075FB6}"/>
              </a:ext>
            </a:extLst>
          </p:cNvPr>
          <p:cNvSpPr>
            <a:spLocks xmlns:a="http://schemas.openxmlformats.org/drawingml/2006/main" noGrp="1"/>
          </p:cNvSpPr>
          <p:nvPr/>
        </p:nvSpPr>
        <p:spPr>
          <a:xfrm xmlns:a="http://schemas.openxmlformats.org/drawingml/2006/main">
            <a:off x="895350" y="45339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Then use 𝑦 − 𝑦₁ = 𝑚(𝑥 − 𝑥₁).</a:t>
            </a:r>
          </a:p>
        </p:txBody>
      </p:sp>
      <p:sp>
        <p:nvSpPr>
          <p:cNvPr id="30" name="">
            <a:extLst xmlns:a="http://schemas.openxmlformats.org/drawingml/2006/main">
              <a:ext uri="{FF2B5EF4-FFF2-40B4-BE49-F238E27FC236}">
                <a16:creationId xmlns:a16="http://schemas.microsoft.com/office/drawing/2014/main" id="{FF32D11F-A58C-49EB-9068-8D56D0E4DD7A}"/>
              </a:ext>
            </a:extLst>
          </p:cNvPr>
          <p:cNvSpPr>
            <a:spLocks xmlns:a="http://schemas.openxmlformats.org/drawingml/2006/main" noGrp="1"/>
          </p:cNvSpPr>
          <p:nvPr/>
        </p:nvSpPr>
        <p:spPr>
          <a:xfrm xmlns:a="http://schemas.openxmlformats.org/drawingml/2006/main">
            <a:off x="2000250" y="3819525"/>
            <a:ext cx="59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1344E"/>
                </a:solidFill>
                <a:latin typeface="Cambria Math"/>
                <a:ea typeface="Cambria Math"/>
                <a:cs typeface="Cambria Math"/>
              </a:defRPr>
            </a:pPr>
            <a:r>
              <a:rPr sz="2100" b="1">
                <a:solidFill>
                  <a:srgbClr val="11344E"/>
                </a:solidFill>
                <a:latin typeface="Cambria Math"/>
                <a:ea typeface="Cambria Math"/>
                <a:cs typeface="Cambria Math"/>
              </a:rPr>
              <a:t>𝑚 =</a:t>
            </a:r>
          </a:p>
        </p:txBody>
      </p:sp>
      <p:sp>
        <p:nvSpPr>
          <p:cNvPr id="31" name="">
            <a:extLst xmlns:a="http://schemas.openxmlformats.org/drawingml/2006/main">
              <a:ext uri="{FF2B5EF4-FFF2-40B4-BE49-F238E27FC236}">
                <a16:creationId xmlns:a16="http://schemas.microsoft.com/office/drawing/2014/main" id="{7B265656-F2A7-4B5D-BB3F-6A1434680346}"/>
              </a:ext>
            </a:extLst>
          </p:cNvPr>
          <p:cNvSpPr>
            <a:spLocks xmlns:a="http://schemas.openxmlformats.org/drawingml/2006/main" noGrp="1"/>
          </p:cNvSpPr>
          <p:nvPr/>
        </p:nvSpPr>
        <p:spPr>
          <a:xfrm xmlns:a="http://schemas.openxmlformats.org/drawingml/2006/main">
            <a:off x="2590800" y="37338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𝑦₂ − 𝑦₁</a:t>
            </a:r>
          </a:p>
        </p:txBody>
      </p:sp>
      <p:sp>
        <p:nvSpPr>
          <p:cNvPr id="32" name="">
            <a:extLst xmlns:a="http://schemas.openxmlformats.org/drawingml/2006/main">
              <a:ext uri="{FF2B5EF4-FFF2-40B4-BE49-F238E27FC236}">
                <a16:creationId xmlns:a16="http://schemas.microsoft.com/office/drawing/2014/main" id="{62155882-FA4E-482D-B542-37A89531E08C}"/>
              </a:ext>
            </a:extLst>
          </p:cNvPr>
          <p:cNvSpPr>
            <a:spLocks xmlns:a="http://schemas.openxmlformats.org/drawingml/2006/main" noGrp="1"/>
          </p:cNvSpPr>
          <p:nvPr/>
        </p:nvSpPr>
        <p:spPr>
          <a:xfrm xmlns:a="http://schemas.openxmlformats.org/drawingml/2006/main">
            <a:off x="2619375" y="4095750"/>
            <a:ext cx="1943100"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33" name="">
            <a:extLst xmlns:a="http://schemas.openxmlformats.org/drawingml/2006/main">
              <a:ext uri="{FF2B5EF4-FFF2-40B4-BE49-F238E27FC236}">
                <a16:creationId xmlns:a16="http://schemas.microsoft.com/office/drawing/2014/main" id="{46BFCE43-36AA-4580-B3EF-6D35B46ED643}"/>
              </a:ext>
            </a:extLst>
          </p:cNvPr>
          <p:cNvSpPr>
            <a:spLocks xmlns:a="http://schemas.openxmlformats.org/drawingml/2006/main" noGrp="1"/>
          </p:cNvSpPr>
          <p:nvPr/>
        </p:nvSpPr>
        <p:spPr>
          <a:xfrm xmlns:a="http://schemas.openxmlformats.org/drawingml/2006/main">
            <a:off x="2590800" y="4114800"/>
            <a:ext cx="2000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𝑥₂ − 𝑥₁</a:t>
            </a:r>
          </a:p>
        </p:txBody>
      </p:sp>
      <p:sp>
        <p:nvSpPr>
          <p:cNvPr id="34" name="">
            <a:extLst xmlns:a="http://schemas.openxmlformats.org/drawingml/2006/main">
              <a:ext uri="{FF2B5EF4-FFF2-40B4-BE49-F238E27FC236}">
                <a16:creationId xmlns:a16="http://schemas.microsoft.com/office/drawing/2014/main" id="{DC6873B5-A20B-4DF1-A7F7-EAD3A8488BB5}"/>
              </a:ext>
            </a:extLst>
          </p:cNvPr>
          <p:cNvSpPr>
            <a:spLocks xmlns:a="http://schemas.openxmlformats.org/drawingml/2006/main" noGrp="1"/>
          </p:cNvSpPr>
          <p:nvPr/>
        </p:nvSpPr>
        <p:spPr>
          <a:xfrm xmlns:a="http://schemas.openxmlformats.org/drawingml/2006/main">
            <a:off x="6267450" y="3333750"/>
            <a:ext cx="5257800" cy="1714500"/>
          </a:xfrm>
          <a:prstGeom xmlns:a="http://schemas.openxmlformats.org/drawingml/2006/main" prst="roundRect">
            <a:avLst>
              <a:gd name="adj" fmla="val 3333"/>
            </a:avLst>
          </a:prstGeom>
          <a:solidFill xmlns:a="http://schemas.openxmlformats.org/drawingml/2006/main">
            <a:srgbClr val="FBE7E4"/>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E9671021-AB4B-4A9C-B406-12C74755C013}"/>
              </a:ext>
            </a:extLst>
          </p:cNvPr>
          <p:cNvSpPr>
            <a:spLocks xmlns:a="http://schemas.openxmlformats.org/drawingml/2006/main" noGrp="1"/>
          </p:cNvSpPr>
          <p:nvPr/>
        </p:nvSpPr>
        <p:spPr>
          <a:xfrm xmlns:a="http://schemas.openxmlformats.org/drawingml/2006/main">
            <a:off x="6496050" y="350520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D85B50"/>
                </a:solidFill>
                <a:latin typeface="Arial"/>
                <a:ea typeface="Arial"/>
                <a:cs typeface="Arial"/>
              </a:defRPr>
            </a:pPr>
            <a:r>
              <a:rPr sz="825" b="1">
                <a:solidFill>
                  <a:srgbClr val="D85B50"/>
                </a:solidFill>
                <a:latin typeface="Arial"/>
                <a:ea typeface="Arial"/>
                <a:cs typeface="Arial"/>
              </a:rPr>
              <a:t>CIRCLE</a:t>
            </a:r>
          </a:p>
        </p:txBody>
      </p:sp>
      <p:sp>
        <p:nvSpPr>
          <p:cNvPr id="36" name="">
            <a:extLst xmlns:a="http://schemas.openxmlformats.org/drawingml/2006/main">
              <a:ext uri="{FF2B5EF4-FFF2-40B4-BE49-F238E27FC236}">
                <a16:creationId xmlns:a16="http://schemas.microsoft.com/office/drawing/2014/main" id="{770F2021-7FB7-49B9-9F42-17AC4ACF8D8D}"/>
              </a:ext>
            </a:extLst>
          </p:cNvPr>
          <p:cNvSpPr>
            <a:spLocks xmlns:a="http://schemas.openxmlformats.org/drawingml/2006/main" noGrp="1"/>
          </p:cNvSpPr>
          <p:nvPr/>
        </p:nvSpPr>
        <p:spPr>
          <a:xfrm xmlns:a="http://schemas.openxmlformats.org/drawingml/2006/main">
            <a:off x="6496050" y="3867150"/>
            <a:ext cx="4800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(𝑥 − ℎ)² + (𝑦 − 𝑘)² = 𝑟²</a:t>
            </a:r>
          </a:p>
        </p:txBody>
      </p:sp>
      <p:sp>
        <p:nvSpPr>
          <p:cNvPr id="37" name="">
            <a:extLst xmlns:a="http://schemas.openxmlformats.org/drawingml/2006/main">
              <a:ext uri="{FF2B5EF4-FFF2-40B4-BE49-F238E27FC236}">
                <a16:creationId xmlns:a16="http://schemas.microsoft.com/office/drawing/2014/main" id="{D0C8AA22-3C49-4632-BFEA-45C8C64002DC}"/>
              </a:ext>
            </a:extLst>
          </p:cNvPr>
          <p:cNvSpPr>
            <a:spLocks xmlns:a="http://schemas.openxmlformats.org/drawingml/2006/main" noGrp="1"/>
          </p:cNvSpPr>
          <p:nvPr/>
        </p:nvSpPr>
        <p:spPr>
          <a:xfrm xmlns:a="http://schemas.openxmlformats.org/drawingml/2006/main">
            <a:off x="6496050" y="45339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Center (ℎ, 𝑘). Radius 𝑟.</a:t>
            </a:r>
          </a:p>
        </p:txBody>
      </p:sp>
      <p:sp>
        <p:nvSpPr>
          <p:cNvPr id="38" name="">
            <a:extLst xmlns:a="http://schemas.openxmlformats.org/drawingml/2006/main">
              <a:ext uri="{FF2B5EF4-FFF2-40B4-BE49-F238E27FC236}">
                <a16:creationId xmlns:a16="http://schemas.microsoft.com/office/drawing/2014/main" id="{3F980594-303D-4C08-87DD-F05391F20256}"/>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2F5F7"/>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9339322-6823-4DA5-8220-D89B802F5268}"/>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For intercepts: set 𝑦 = 0 for the x-intercept and set 𝑥 = 0 for the y-intercept.</a:t>
            </a:r>
          </a:p>
        </p:txBody>
      </p:sp>
    </p:spTree>
    <p:extLst>
      <p:ext uri="{BB962C8B-B14F-4D97-AF65-F5344CB8AC3E}">
        <p14:creationId xmlns:p14="http://schemas.microsoft.com/office/powerpoint/2010/main" val="12095028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033B0AF-2D42-443A-A2D7-6ABA506581C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1279B0C-4AB5-42BD-8203-F573ED7B7B87}"/>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Midpoint and distance</a:t>
            </a:r>
          </a:p>
        </p:txBody>
      </p:sp>
      <p:sp>
        <p:nvSpPr>
          <p:cNvPr id="3" name="">
            <a:extLst xmlns:a="http://schemas.openxmlformats.org/drawingml/2006/main">
              <a:ext uri="{FF2B5EF4-FFF2-40B4-BE49-F238E27FC236}">
                <a16:creationId xmlns:a16="http://schemas.microsoft.com/office/drawing/2014/main" id="{56466C1F-3179-4D1C-A725-13FA7AEDA345}"/>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Find the midpoint and exact distance</a:t>
            </a:r>
          </a:p>
        </p:txBody>
      </p:sp>
      <p:sp>
        <p:nvSpPr>
          <p:cNvPr id="4" name="">
            <a:extLst xmlns:a="http://schemas.openxmlformats.org/drawingml/2006/main">
              <a:ext uri="{FF2B5EF4-FFF2-40B4-BE49-F238E27FC236}">
                <a16:creationId xmlns:a16="http://schemas.microsoft.com/office/drawing/2014/main" id="{0FF24603-0FCD-432E-8352-2AC66993278D}"/>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5A396D31-AA30-4A9B-A8CD-E19A2D6278C5}"/>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788E42E6-13FB-4BFE-9E65-964CB1614590}"/>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FC417E22-38E7-4764-A1EA-1A675AD7D4B9}"/>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9  slide</a:t>
            </a:r>
          </a:p>
        </p:txBody>
      </p:sp>
      <p:sp>
        <p:nvSpPr>
          <p:cNvPr id="8" name="">
            <a:extLst xmlns:a="http://schemas.openxmlformats.org/drawingml/2006/main">
              <a:ext uri="{FF2B5EF4-FFF2-40B4-BE49-F238E27FC236}">
                <a16:creationId xmlns:a16="http://schemas.microsoft.com/office/drawing/2014/main" id="{4FF721CA-B5F5-465E-8336-60A812A854D3}"/>
              </a:ext>
            </a:extLst>
          </p:cNvPr>
          <p:cNvSpPr>
            <a:spLocks xmlns:a="http://schemas.openxmlformats.org/drawingml/2006/main" noGrp="1"/>
          </p:cNvSpPr>
          <p:nvPr/>
        </p:nvSpPr>
        <p:spPr>
          <a:xfrm xmlns:a="http://schemas.openxmlformats.org/drawingml/2006/main">
            <a:off x="666750" y="1295400"/>
            <a:ext cx="10858500" cy="990600"/>
          </a:xfrm>
          <a:prstGeom xmlns:a="http://schemas.openxmlformats.org/drawingml/2006/main" prst="roundRect">
            <a:avLst>
              <a:gd name="adj" fmla="val 3846"/>
            </a:avLst>
          </a:prstGeom>
          <a:solidFill xmlns:a="http://schemas.openxmlformats.org/drawingml/2006/main">
            <a:srgbClr val="E4F2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53D9E1-68A3-473D-8E96-E42FA799BA61}"/>
              </a:ext>
            </a:extLst>
          </p:cNvPr>
          <p:cNvSpPr>
            <a:spLocks xmlns:a="http://schemas.openxmlformats.org/drawingml/2006/main" noGrp="1"/>
          </p:cNvSpPr>
          <p:nvPr/>
        </p:nvSpPr>
        <p:spPr>
          <a:xfrm xmlns:a="http://schemas.openxmlformats.org/drawingml/2006/main">
            <a:off x="895350" y="1390650"/>
            <a:ext cx="10401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a:solidFill>
                  <a:srgbClr val="11344E"/>
                </a:solidFill>
                <a:latin typeface="Cambria Math"/>
                <a:ea typeface="Cambria Math"/>
                <a:cs typeface="Cambria Math"/>
              </a:defRPr>
            </a:pPr>
            <a:r>
              <a:rPr sz="2400" b="1">
                <a:solidFill>
                  <a:srgbClr val="11344E"/>
                </a:solidFill>
                <a:latin typeface="Cambria Math"/>
                <a:ea typeface="Cambria Math"/>
                <a:cs typeface="Cambria Math"/>
              </a:rPr>
              <a:t>C(−3, −2) and D(5, 4)</a:t>
            </a:r>
          </a:p>
        </p:txBody>
      </p:sp>
      <p:sp>
        <p:nvSpPr>
          <p:cNvPr id="10" name="">
            <a:extLst xmlns:a="http://schemas.openxmlformats.org/drawingml/2006/main">
              <a:ext uri="{FF2B5EF4-FFF2-40B4-BE49-F238E27FC236}">
                <a16:creationId xmlns:a16="http://schemas.microsoft.com/office/drawing/2014/main" id="{9B4CFE52-5F72-4495-9B67-737B19E97395}"/>
              </a:ext>
            </a:extLst>
          </p:cNvPr>
          <p:cNvSpPr>
            <a:spLocks xmlns:a="http://schemas.openxmlformats.org/drawingml/2006/main" noGrp="1"/>
          </p:cNvSpPr>
          <p:nvPr/>
        </p:nvSpPr>
        <p:spPr>
          <a:xfrm xmlns:a="http://schemas.openxmlformats.org/drawingml/2006/main">
            <a:off x="895350" y="1847850"/>
            <a:ext cx="1040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1344E"/>
                </a:solidFill>
                <a:latin typeface="Cambria Math"/>
                <a:ea typeface="Cambria Math"/>
                <a:cs typeface="Cambria Math"/>
              </a:defRPr>
            </a:pPr>
            <a:r>
              <a:rPr sz="1650" b="1">
                <a:solidFill>
                  <a:srgbClr val="11344E"/>
                </a:solidFill>
                <a:latin typeface="Cambria Math"/>
                <a:ea typeface="Cambria Math"/>
                <a:cs typeface="Cambria Math"/>
              </a:rPr>
              <a:t>Δ𝑥 = 5 − (−3) = 8      Δ𝑦 = 4 − (−2) = 6</a:t>
            </a:r>
          </a:p>
        </p:txBody>
      </p:sp>
      <p:sp>
        <p:nvSpPr>
          <p:cNvPr id="11" name="">
            <a:extLst xmlns:a="http://schemas.openxmlformats.org/drawingml/2006/main">
              <a:ext uri="{FF2B5EF4-FFF2-40B4-BE49-F238E27FC236}">
                <a16:creationId xmlns:a16="http://schemas.microsoft.com/office/drawing/2014/main" id="{85BE391A-B655-4FCF-90EA-C8291CC4EF32}"/>
              </a:ext>
            </a:extLst>
          </p:cNvPr>
          <p:cNvSpPr>
            <a:spLocks xmlns:a="http://schemas.openxmlformats.org/drawingml/2006/main" noGrp="1"/>
          </p:cNvSpPr>
          <p:nvPr/>
        </p:nvSpPr>
        <p:spPr>
          <a:xfrm xmlns:a="http://schemas.openxmlformats.org/drawingml/2006/main">
            <a:off x="666750" y="2514600"/>
            <a:ext cx="5257800" cy="2457450"/>
          </a:xfrm>
          <a:prstGeom xmlns:a="http://schemas.openxmlformats.org/drawingml/2006/main" prst="roundRect">
            <a:avLst>
              <a:gd name="adj" fmla="val 2326"/>
            </a:avLst>
          </a:prstGeom>
          <a:solidFill xmlns:a="http://schemas.openxmlformats.org/drawingml/2006/main">
            <a:srgbClr val="F2F5F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FF8E68F-F8A2-459B-85E7-943093F39B25}"/>
              </a:ext>
            </a:extLst>
          </p:cNvPr>
          <p:cNvSpPr>
            <a:spLocks xmlns:a="http://schemas.openxmlformats.org/drawingml/2006/main" noGrp="1"/>
          </p:cNvSpPr>
          <p:nvPr/>
        </p:nvSpPr>
        <p:spPr>
          <a:xfrm xmlns:a="http://schemas.openxmlformats.org/drawingml/2006/main">
            <a:off x="895350" y="268605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777B4"/>
                </a:solidFill>
                <a:latin typeface="Arial"/>
                <a:ea typeface="Arial"/>
                <a:cs typeface="Arial"/>
              </a:defRPr>
            </a:pPr>
            <a:r>
              <a:rPr sz="825" b="1">
                <a:solidFill>
                  <a:srgbClr val="1777B4"/>
                </a:solidFill>
                <a:latin typeface="Arial"/>
                <a:ea typeface="Arial"/>
                <a:cs typeface="Arial"/>
              </a:rPr>
              <a:t>DISTANCE</a:t>
            </a:r>
          </a:p>
        </p:txBody>
      </p:sp>
      <p:sp>
        <p:nvSpPr>
          <p:cNvPr id="13" name="">
            <a:extLst xmlns:a="http://schemas.openxmlformats.org/drawingml/2006/main">
              <a:ext uri="{FF2B5EF4-FFF2-40B4-BE49-F238E27FC236}">
                <a16:creationId xmlns:a16="http://schemas.microsoft.com/office/drawing/2014/main" id="{ECB27676-58C9-48FF-A6F9-E0E98C980988}"/>
              </a:ext>
            </a:extLst>
          </p:cNvPr>
          <p:cNvSpPr>
            <a:spLocks xmlns:a="http://schemas.openxmlformats.org/drawingml/2006/main" noGrp="1"/>
          </p:cNvSpPr>
          <p:nvPr/>
        </p:nvSpPr>
        <p:spPr>
          <a:xfrm xmlns:a="http://schemas.openxmlformats.org/drawingml/2006/main">
            <a:off x="895350" y="44577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Distance must be positive.</a:t>
            </a:r>
          </a:p>
        </p:txBody>
      </p:sp>
      <p:sp>
        <p:nvSpPr>
          <p:cNvPr id="14" name="">
            <a:extLst xmlns:a="http://schemas.openxmlformats.org/drawingml/2006/main">
              <a:ext uri="{FF2B5EF4-FFF2-40B4-BE49-F238E27FC236}">
                <a16:creationId xmlns:a16="http://schemas.microsoft.com/office/drawing/2014/main" id="{313BB776-00BA-40B7-BE30-B554BE40B7EC}"/>
              </a:ext>
            </a:extLst>
          </p:cNvPr>
          <p:cNvSpPr>
            <a:spLocks xmlns:a="http://schemas.openxmlformats.org/drawingml/2006/main" noGrp="1"/>
          </p:cNvSpPr>
          <p:nvPr/>
        </p:nvSpPr>
        <p:spPr>
          <a:xfrm xmlns:a="http://schemas.openxmlformats.org/drawingml/2006/main">
            <a:off x="2114550" y="3105150"/>
            <a:ext cx="552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1344E"/>
                </a:solidFill>
                <a:latin typeface="Cambria Math"/>
                <a:ea typeface="Cambria Math"/>
                <a:cs typeface="Cambria Math"/>
              </a:defRPr>
            </a:pPr>
            <a:r>
              <a:rPr sz="2100" b="1">
                <a:solidFill>
                  <a:srgbClr val="11344E"/>
                </a:solidFill>
                <a:latin typeface="Cambria Math"/>
                <a:ea typeface="Cambria Math"/>
                <a:cs typeface="Cambria Math"/>
              </a:rPr>
              <a:t>𝑑 =</a:t>
            </a:r>
          </a:p>
        </p:txBody>
      </p:sp>
      <p:sp>
        <p:nvSpPr>
          <p:cNvPr id="15" name="">
            <a:extLst xmlns:a="http://schemas.openxmlformats.org/drawingml/2006/main">
              <a:ext uri="{FF2B5EF4-FFF2-40B4-BE49-F238E27FC236}">
                <a16:creationId xmlns:a16="http://schemas.microsoft.com/office/drawing/2014/main" id="{09B91576-68BB-4041-B8CE-88912E0C798D}"/>
              </a:ext>
            </a:extLst>
          </p:cNvPr>
          <p:cNvSpPr>
            <a:spLocks xmlns:a="http://schemas.openxmlformats.org/drawingml/2006/main" noGrp="1"/>
          </p:cNvSpPr>
          <p:nvPr/>
        </p:nvSpPr>
        <p:spPr>
          <a:xfrm xmlns:a="http://schemas.openxmlformats.org/drawingml/2006/main">
            <a:off x="2667000" y="3076575"/>
            <a:ext cx="276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2400" b="1">
                <a:solidFill>
                  <a:srgbClr val="11344E"/>
                </a:solidFill>
                <a:latin typeface="Cambria Math"/>
                <a:ea typeface="Cambria Math"/>
                <a:cs typeface="Cambria Math"/>
              </a:defRPr>
            </a:pPr>
            <a:r>
              <a:rPr sz="2400" b="1">
                <a:solidFill>
                  <a:srgbClr val="11344E"/>
                </a:solidFill>
                <a:latin typeface="Cambria Math"/>
                <a:ea typeface="Cambria Math"/>
                <a:cs typeface="Cambria Math"/>
              </a:rPr>
              <a:t>√</a:t>
            </a:r>
          </a:p>
        </p:txBody>
      </p:sp>
      <p:sp>
        <p:nvSpPr>
          <p:cNvPr id="16" name="">
            <a:extLst xmlns:a="http://schemas.openxmlformats.org/drawingml/2006/main">
              <a:ext uri="{FF2B5EF4-FFF2-40B4-BE49-F238E27FC236}">
                <a16:creationId xmlns:a16="http://schemas.microsoft.com/office/drawing/2014/main" id="{9C6AB359-E5F4-4252-A63A-6CF29896EDFF}"/>
              </a:ext>
            </a:extLst>
          </p:cNvPr>
          <p:cNvSpPr>
            <a:spLocks xmlns:a="http://schemas.openxmlformats.org/drawingml/2006/main" noGrp="1"/>
          </p:cNvSpPr>
          <p:nvPr/>
        </p:nvSpPr>
        <p:spPr>
          <a:xfrm xmlns:a="http://schemas.openxmlformats.org/drawingml/2006/main">
            <a:off x="2914650" y="3133725"/>
            <a:ext cx="1543050" cy="0"/>
          </a:xfrm>
          <a:prstGeom xmlns:a="http://schemas.openxmlformats.org/drawingml/2006/main" prst="line">
            <a:avLst/>
          </a:prstGeom>
          <a:noFill xmlns:a="http://schemas.openxmlformats.org/drawingml/2006/main"/>
          <a:ln xmlns:a="http://schemas.openxmlformats.org/drawingml/2006/main" w="14288">
            <a:solidFill>
              <a:srgbClr val="11344E"/>
            </a:solidFill>
            <a:prstDash val="solid"/>
          </a:ln>
        </p:spPr>
      </p:sp>
      <p:sp>
        <p:nvSpPr>
          <p:cNvPr id="17" name="">
            <a:extLst xmlns:a="http://schemas.openxmlformats.org/drawingml/2006/main">
              <a:ext uri="{FF2B5EF4-FFF2-40B4-BE49-F238E27FC236}">
                <a16:creationId xmlns:a16="http://schemas.microsoft.com/office/drawing/2014/main" id="{4C56F3AE-8A88-4869-AE37-B2795751A5A5}"/>
              </a:ext>
            </a:extLst>
          </p:cNvPr>
          <p:cNvSpPr>
            <a:spLocks xmlns:a="http://schemas.openxmlformats.org/drawingml/2006/main" noGrp="1"/>
          </p:cNvSpPr>
          <p:nvPr/>
        </p:nvSpPr>
        <p:spPr>
          <a:xfrm xmlns:a="http://schemas.openxmlformats.org/drawingml/2006/main">
            <a:off x="2943225" y="3095625"/>
            <a:ext cx="1533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1344E"/>
                </a:solidFill>
                <a:latin typeface="Cambria Math"/>
                <a:ea typeface="Cambria Math"/>
                <a:cs typeface="Cambria Math"/>
              </a:defRPr>
            </a:pPr>
            <a:r>
              <a:rPr sz="1875" b="1">
                <a:solidFill>
                  <a:srgbClr val="11344E"/>
                </a:solidFill>
                <a:latin typeface="Cambria Math"/>
                <a:ea typeface="Cambria Math"/>
                <a:cs typeface="Cambria Math"/>
              </a:rPr>
              <a:t>8² + 6²</a:t>
            </a:r>
          </a:p>
        </p:txBody>
      </p:sp>
      <p:sp>
        <p:nvSpPr>
          <p:cNvPr id="18" name="">
            <a:extLst xmlns:a="http://schemas.openxmlformats.org/drawingml/2006/main">
              <a:ext uri="{FF2B5EF4-FFF2-40B4-BE49-F238E27FC236}">
                <a16:creationId xmlns:a16="http://schemas.microsoft.com/office/drawing/2014/main" id="{85124CDF-E8DB-4AD8-9F5B-3F73E2E30B28}"/>
              </a:ext>
            </a:extLst>
          </p:cNvPr>
          <p:cNvSpPr>
            <a:spLocks xmlns:a="http://schemas.openxmlformats.org/drawingml/2006/main" noGrp="1"/>
          </p:cNvSpPr>
          <p:nvPr/>
        </p:nvSpPr>
        <p:spPr>
          <a:xfrm xmlns:a="http://schemas.openxmlformats.org/drawingml/2006/main">
            <a:off x="2343150" y="3752850"/>
            <a:ext cx="323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1344E"/>
                </a:solidFill>
                <a:latin typeface="Cambria Math"/>
                <a:ea typeface="Cambria Math"/>
                <a:cs typeface="Cambria Math"/>
              </a:defRPr>
            </a:pPr>
            <a:r>
              <a:rPr sz="2100" b="1">
                <a:solidFill>
                  <a:srgbClr val="11344E"/>
                </a:solidFill>
                <a:latin typeface="Cambria Math"/>
                <a:ea typeface="Cambria Math"/>
                <a:cs typeface="Cambria Math"/>
              </a:rPr>
              <a:t>=</a:t>
            </a:r>
          </a:p>
        </p:txBody>
      </p:sp>
      <p:sp>
        <p:nvSpPr>
          <p:cNvPr id="19" name="">
            <a:extLst xmlns:a="http://schemas.openxmlformats.org/drawingml/2006/main">
              <a:ext uri="{FF2B5EF4-FFF2-40B4-BE49-F238E27FC236}">
                <a16:creationId xmlns:a16="http://schemas.microsoft.com/office/drawing/2014/main" id="{ABED6B5C-BEA6-4B7E-AADB-207233C4A3C9}"/>
              </a:ext>
            </a:extLst>
          </p:cNvPr>
          <p:cNvSpPr>
            <a:spLocks xmlns:a="http://schemas.openxmlformats.org/drawingml/2006/main" noGrp="1"/>
          </p:cNvSpPr>
          <p:nvPr/>
        </p:nvSpPr>
        <p:spPr>
          <a:xfrm xmlns:a="http://schemas.openxmlformats.org/drawingml/2006/main">
            <a:off x="2667000" y="3724275"/>
            <a:ext cx="2762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2400" b="1">
                <a:solidFill>
                  <a:srgbClr val="11344E"/>
                </a:solidFill>
                <a:latin typeface="Cambria Math"/>
                <a:ea typeface="Cambria Math"/>
                <a:cs typeface="Cambria Math"/>
              </a:defRPr>
            </a:pPr>
            <a:r>
              <a:rPr sz="2400" b="1">
                <a:solidFill>
                  <a:srgbClr val="11344E"/>
                </a:solidFill>
                <a:latin typeface="Cambria Math"/>
                <a:ea typeface="Cambria Math"/>
                <a:cs typeface="Cambria Math"/>
              </a:rPr>
              <a:t>√</a:t>
            </a:r>
          </a:p>
        </p:txBody>
      </p:sp>
      <p:sp>
        <p:nvSpPr>
          <p:cNvPr id="20" name="">
            <a:extLst xmlns:a="http://schemas.openxmlformats.org/drawingml/2006/main">
              <a:ext uri="{FF2B5EF4-FFF2-40B4-BE49-F238E27FC236}">
                <a16:creationId xmlns:a16="http://schemas.microsoft.com/office/drawing/2014/main" id="{E3DB25C4-2312-4CEE-8397-972C2078948E}"/>
              </a:ext>
            </a:extLst>
          </p:cNvPr>
          <p:cNvSpPr>
            <a:spLocks xmlns:a="http://schemas.openxmlformats.org/drawingml/2006/main" noGrp="1"/>
          </p:cNvSpPr>
          <p:nvPr/>
        </p:nvSpPr>
        <p:spPr>
          <a:xfrm xmlns:a="http://schemas.openxmlformats.org/drawingml/2006/main">
            <a:off x="2914650" y="3781425"/>
            <a:ext cx="781050" cy="0"/>
          </a:xfrm>
          <a:prstGeom xmlns:a="http://schemas.openxmlformats.org/drawingml/2006/main" prst="line">
            <a:avLst/>
          </a:prstGeom>
          <a:noFill xmlns:a="http://schemas.openxmlformats.org/drawingml/2006/main"/>
          <a:ln xmlns:a="http://schemas.openxmlformats.org/drawingml/2006/main" w="14288">
            <a:solidFill>
              <a:srgbClr val="11344E"/>
            </a:solidFill>
            <a:prstDash val="solid"/>
          </a:ln>
        </p:spPr>
      </p:sp>
      <p:sp>
        <p:nvSpPr>
          <p:cNvPr id="21" name="">
            <a:extLst xmlns:a="http://schemas.openxmlformats.org/drawingml/2006/main">
              <a:ext uri="{FF2B5EF4-FFF2-40B4-BE49-F238E27FC236}">
                <a16:creationId xmlns:a16="http://schemas.microsoft.com/office/drawing/2014/main" id="{0CD2544B-705B-4F29-81C3-7A80BEBFCD60}"/>
              </a:ext>
            </a:extLst>
          </p:cNvPr>
          <p:cNvSpPr>
            <a:spLocks xmlns:a="http://schemas.openxmlformats.org/drawingml/2006/main" noGrp="1"/>
          </p:cNvSpPr>
          <p:nvPr/>
        </p:nvSpPr>
        <p:spPr>
          <a:xfrm xmlns:a="http://schemas.openxmlformats.org/drawingml/2006/main">
            <a:off x="2943225" y="3743325"/>
            <a:ext cx="7715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875" b="1">
                <a:solidFill>
                  <a:srgbClr val="11344E"/>
                </a:solidFill>
                <a:latin typeface="Cambria Math"/>
                <a:ea typeface="Cambria Math"/>
                <a:cs typeface="Cambria Math"/>
              </a:defRPr>
            </a:pPr>
            <a:r>
              <a:rPr sz="1875" b="1">
                <a:solidFill>
                  <a:srgbClr val="11344E"/>
                </a:solidFill>
                <a:latin typeface="Cambria Math"/>
                <a:ea typeface="Cambria Math"/>
                <a:cs typeface="Cambria Math"/>
              </a:rPr>
              <a:t>100</a:t>
            </a:r>
          </a:p>
        </p:txBody>
      </p:sp>
      <p:sp>
        <p:nvSpPr>
          <p:cNvPr id="22" name="">
            <a:extLst xmlns:a="http://schemas.openxmlformats.org/drawingml/2006/main">
              <a:ext uri="{FF2B5EF4-FFF2-40B4-BE49-F238E27FC236}">
                <a16:creationId xmlns:a16="http://schemas.microsoft.com/office/drawing/2014/main" id="{F4459D10-36F8-4B9B-AC48-A29AA591ED09}"/>
              </a:ext>
            </a:extLst>
          </p:cNvPr>
          <p:cNvSpPr>
            <a:spLocks xmlns:a="http://schemas.openxmlformats.org/drawingml/2006/main" noGrp="1"/>
          </p:cNvSpPr>
          <p:nvPr/>
        </p:nvSpPr>
        <p:spPr>
          <a:xfrm xmlns:a="http://schemas.openxmlformats.org/drawingml/2006/main">
            <a:off x="3733800" y="3752850"/>
            <a:ext cx="7239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1344E"/>
                </a:solidFill>
                <a:latin typeface="Cambria Math"/>
                <a:ea typeface="Cambria Math"/>
                <a:cs typeface="Cambria Math"/>
              </a:defRPr>
            </a:pPr>
            <a:r>
              <a:rPr sz="2100" b="1">
                <a:solidFill>
                  <a:srgbClr val="11344E"/>
                </a:solidFill>
                <a:latin typeface="Cambria Math"/>
                <a:ea typeface="Cambria Math"/>
                <a:cs typeface="Cambria Math"/>
              </a:rPr>
              <a:t>= 10</a:t>
            </a:r>
          </a:p>
        </p:txBody>
      </p:sp>
      <p:sp>
        <p:nvSpPr>
          <p:cNvPr id="23" name="">
            <a:extLst xmlns:a="http://schemas.openxmlformats.org/drawingml/2006/main">
              <a:ext uri="{FF2B5EF4-FFF2-40B4-BE49-F238E27FC236}">
                <a16:creationId xmlns:a16="http://schemas.microsoft.com/office/drawing/2014/main" id="{6A5BD46D-BE8F-4EAA-BA1F-72E8BA96B53F}"/>
              </a:ext>
            </a:extLst>
          </p:cNvPr>
          <p:cNvSpPr>
            <a:spLocks xmlns:a="http://schemas.openxmlformats.org/drawingml/2006/main" noGrp="1"/>
          </p:cNvSpPr>
          <p:nvPr/>
        </p:nvSpPr>
        <p:spPr>
          <a:xfrm xmlns:a="http://schemas.openxmlformats.org/drawingml/2006/main">
            <a:off x="6267450" y="2514600"/>
            <a:ext cx="5257800" cy="2457450"/>
          </a:xfrm>
          <a:prstGeom xmlns:a="http://schemas.openxmlformats.org/drawingml/2006/main" prst="roundRect">
            <a:avLst>
              <a:gd name="adj" fmla="val 2326"/>
            </a:avLst>
          </a:prstGeom>
          <a:solidFill xmlns:a="http://schemas.openxmlformats.org/drawingml/2006/main">
            <a:srgbClr val="E3F3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AA33209-DCB0-4734-838B-72122AAEFA09}"/>
              </a:ext>
            </a:extLst>
          </p:cNvPr>
          <p:cNvSpPr>
            <a:spLocks xmlns:a="http://schemas.openxmlformats.org/drawingml/2006/main" noGrp="1"/>
          </p:cNvSpPr>
          <p:nvPr/>
        </p:nvSpPr>
        <p:spPr>
          <a:xfrm xmlns:a="http://schemas.openxmlformats.org/drawingml/2006/main">
            <a:off x="6496050" y="268605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48A68"/>
                </a:solidFill>
                <a:latin typeface="Arial"/>
                <a:ea typeface="Arial"/>
                <a:cs typeface="Arial"/>
              </a:defRPr>
            </a:pPr>
            <a:r>
              <a:rPr sz="825" b="1">
                <a:solidFill>
                  <a:srgbClr val="148A68"/>
                </a:solidFill>
                <a:latin typeface="Arial"/>
                <a:ea typeface="Arial"/>
                <a:cs typeface="Arial"/>
              </a:rPr>
              <a:t>MIDPOINT</a:t>
            </a:r>
          </a:p>
        </p:txBody>
      </p:sp>
      <p:sp>
        <p:nvSpPr>
          <p:cNvPr id="25" name="">
            <a:extLst xmlns:a="http://schemas.openxmlformats.org/drawingml/2006/main">
              <a:ext uri="{FF2B5EF4-FFF2-40B4-BE49-F238E27FC236}">
                <a16:creationId xmlns:a16="http://schemas.microsoft.com/office/drawing/2014/main" id="{15F73447-B389-43F5-9762-AA793E002070}"/>
              </a:ext>
            </a:extLst>
          </p:cNvPr>
          <p:cNvSpPr>
            <a:spLocks xmlns:a="http://schemas.openxmlformats.org/drawingml/2006/main" noGrp="1"/>
          </p:cNvSpPr>
          <p:nvPr/>
        </p:nvSpPr>
        <p:spPr>
          <a:xfrm xmlns:a="http://schemas.openxmlformats.org/drawingml/2006/main">
            <a:off x="6496050" y="445770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The midpoint lies between the endpoints.</a:t>
            </a:r>
          </a:p>
        </p:txBody>
      </p:sp>
      <p:sp>
        <p:nvSpPr>
          <p:cNvPr id="26" name="">
            <a:extLst xmlns:a="http://schemas.openxmlformats.org/drawingml/2006/main">
              <a:ext uri="{FF2B5EF4-FFF2-40B4-BE49-F238E27FC236}">
                <a16:creationId xmlns:a16="http://schemas.microsoft.com/office/drawing/2014/main" id="{00E7A11E-5B9C-49CD-A80F-A13CFBE0E1BD}"/>
              </a:ext>
            </a:extLst>
          </p:cNvPr>
          <p:cNvSpPr>
            <a:spLocks xmlns:a="http://schemas.openxmlformats.org/drawingml/2006/main" noGrp="1"/>
          </p:cNvSpPr>
          <p:nvPr/>
        </p:nvSpPr>
        <p:spPr>
          <a:xfrm xmlns:a="http://schemas.openxmlformats.org/drawingml/2006/main">
            <a:off x="6800850" y="3095625"/>
            <a:ext cx="80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11344E"/>
                </a:solidFill>
                <a:latin typeface="Cambria Math"/>
                <a:ea typeface="Cambria Math"/>
                <a:cs typeface="Cambria Math"/>
              </a:defRPr>
            </a:pPr>
            <a:r>
              <a:rPr sz="1950" b="1">
                <a:solidFill>
                  <a:srgbClr val="11344E"/>
                </a:solidFill>
                <a:latin typeface="Cambria Math"/>
                <a:ea typeface="Cambria Math"/>
                <a:cs typeface="Cambria Math"/>
              </a:rPr>
              <a:t>𝑀 = (</a:t>
            </a:r>
          </a:p>
        </p:txBody>
      </p:sp>
      <p:sp>
        <p:nvSpPr>
          <p:cNvPr id="27" name="">
            <a:extLst xmlns:a="http://schemas.openxmlformats.org/drawingml/2006/main">
              <a:ext uri="{FF2B5EF4-FFF2-40B4-BE49-F238E27FC236}">
                <a16:creationId xmlns:a16="http://schemas.microsoft.com/office/drawing/2014/main" id="{3044326E-20A9-4328-8474-7C4374935DE3}"/>
              </a:ext>
            </a:extLst>
          </p:cNvPr>
          <p:cNvSpPr>
            <a:spLocks xmlns:a="http://schemas.openxmlformats.org/drawingml/2006/main" noGrp="1"/>
          </p:cNvSpPr>
          <p:nvPr/>
        </p:nvSpPr>
        <p:spPr>
          <a:xfrm xmlns:a="http://schemas.openxmlformats.org/drawingml/2006/main">
            <a:off x="7610475" y="3028950"/>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−3 + 5</a:t>
            </a:r>
          </a:p>
        </p:txBody>
      </p:sp>
      <p:sp>
        <p:nvSpPr>
          <p:cNvPr id="28" name="">
            <a:extLst xmlns:a="http://schemas.openxmlformats.org/drawingml/2006/main">
              <a:ext uri="{FF2B5EF4-FFF2-40B4-BE49-F238E27FC236}">
                <a16:creationId xmlns:a16="http://schemas.microsoft.com/office/drawing/2014/main" id="{B0BA65AB-91CC-4E4E-89DB-14597478DFF3}"/>
              </a:ext>
            </a:extLst>
          </p:cNvPr>
          <p:cNvSpPr>
            <a:spLocks xmlns:a="http://schemas.openxmlformats.org/drawingml/2006/main" noGrp="1"/>
          </p:cNvSpPr>
          <p:nvPr/>
        </p:nvSpPr>
        <p:spPr>
          <a:xfrm xmlns:a="http://schemas.openxmlformats.org/drawingml/2006/main">
            <a:off x="7639050" y="3390900"/>
            <a:ext cx="1228725"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29" name="">
            <a:extLst xmlns:a="http://schemas.openxmlformats.org/drawingml/2006/main">
              <a:ext uri="{FF2B5EF4-FFF2-40B4-BE49-F238E27FC236}">
                <a16:creationId xmlns:a16="http://schemas.microsoft.com/office/drawing/2014/main" id="{624E0A29-9597-4F8B-A471-F157D01CE13A}"/>
              </a:ext>
            </a:extLst>
          </p:cNvPr>
          <p:cNvSpPr>
            <a:spLocks xmlns:a="http://schemas.openxmlformats.org/drawingml/2006/main" noGrp="1"/>
          </p:cNvSpPr>
          <p:nvPr/>
        </p:nvSpPr>
        <p:spPr>
          <a:xfrm xmlns:a="http://schemas.openxmlformats.org/drawingml/2006/main">
            <a:off x="7610475" y="3409950"/>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2</a:t>
            </a:r>
          </a:p>
        </p:txBody>
      </p:sp>
      <p:sp>
        <p:nvSpPr>
          <p:cNvPr id="30" name="">
            <a:extLst xmlns:a="http://schemas.openxmlformats.org/drawingml/2006/main">
              <a:ext uri="{FF2B5EF4-FFF2-40B4-BE49-F238E27FC236}">
                <a16:creationId xmlns:a16="http://schemas.microsoft.com/office/drawing/2014/main" id="{C0383EF6-8433-4A68-99C3-5C737C84B533}"/>
              </a:ext>
            </a:extLst>
          </p:cNvPr>
          <p:cNvSpPr>
            <a:spLocks xmlns:a="http://schemas.openxmlformats.org/drawingml/2006/main" noGrp="1"/>
          </p:cNvSpPr>
          <p:nvPr/>
        </p:nvSpPr>
        <p:spPr>
          <a:xfrm xmlns:a="http://schemas.openxmlformats.org/drawingml/2006/main">
            <a:off x="8896350" y="3095625"/>
            <a:ext cx="171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11344E"/>
                </a:solidFill>
                <a:latin typeface="Cambria Math"/>
                <a:ea typeface="Cambria Math"/>
                <a:cs typeface="Cambria Math"/>
              </a:defRPr>
            </a:pPr>
            <a:r>
              <a:rPr sz="1950" b="1">
                <a:solidFill>
                  <a:srgbClr val="11344E"/>
                </a:solidFill>
                <a:latin typeface="Cambria Math"/>
                <a:ea typeface="Cambria Math"/>
                <a:cs typeface="Cambria Math"/>
              </a:rPr>
              <a:t>,</a:t>
            </a:r>
          </a:p>
        </p:txBody>
      </p:sp>
      <p:sp>
        <p:nvSpPr>
          <p:cNvPr id="31" name="">
            <a:extLst xmlns:a="http://schemas.openxmlformats.org/drawingml/2006/main">
              <a:ext uri="{FF2B5EF4-FFF2-40B4-BE49-F238E27FC236}">
                <a16:creationId xmlns:a16="http://schemas.microsoft.com/office/drawing/2014/main" id="{7102D7DD-1249-4170-A056-CB9304F00B07}"/>
              </a:ext>
            </a:extLst>
          </p:cNvPr>
          <p:cNvSpPr>
            <a:spLocks xmlns:a="http://schemas.openxmlformats.org/drawingml/2006/main" noGrp="1"/>
          </p:cNvSpPr>
          <p:nvPr/>
        </p:nvSpPr>
        <p:spPr>
          <a:xfrm xmlns:a="http://schemas.openxmlformats.org/drawingml/2006/main">
            <a:off x="9067800" y="3028950"/>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−2 + 4</a:t>
            </a:r>
          </a:p>
        </p:txBody>
      </p:sp>
      <p:sp>
        <p:nvSpPr>
          <p:cNvPr id="32" name="">
            <a:extLst xmlns:a="http://schemas.openxmlformats.org/drawingml/2006/main">
              <a:ext uri="{FF2B5EF4-FFF2-40B4-BE49-F238E27FC236}">
                <a16:creationId xmlns:a16="http://schemas.microsoft.com/office/drawing/2014/main" id="{D10B4C2A-E176-41AD-97AE-9030D7D8B7B2}"/>
              </a:ext>
            </a:extLst>
          </p:cNvPr>
          <p:cNvSpPr>
            <a:spLocks xmlns:a="http://schemas.openxmlformats.org/drawingml/2006/main" noGrp="1"/>
          </p:cNvSpPr>
          <p:nvPr/>
        </p:nvSpPr>
        <p:spPr>
          <a:xfrm xmlns:a="http://schemas.openxmlformats.org/drawingml/2006/main">
            <a:off x="9096375" y="3390900"/>
            <a:ext cx="1228725"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33" name="">
            <a:extLst xmlns:a="http://schemas.openxmlformats.org/drawingml/2006/main">
              <a:ext uri="{FF2B5EF4-FFF2-40B4-BE49-F238E27FC236}">
                <a16:creationId xmlns:a16="http://schemas.microsoft.com/office/drawing/2014/main" id="{14339328-D622-46B9-B1C9-B8276FBD7464}"/>
              </a:ext>
            </a:extLst>
          </p:cNvPr>
          <p:cNvSpPr>
            <a:spLocks xmlns:a="http://schemas.openxmlformats.org/drawingml/2006/main" noGrp="1"/>
          </p:cNvSpPr>
          <p:nvPr/>
        </p:nvSpPr>
        <p:spPr>
          <a:xfrm xmlns:a="http://schemas.openxmlformats.org/drawingml/2006/main">
            <a:off x="9067800" y="3409950"/>
            <a:ext cx="1285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2</a:t>
            </a:r>
          </a:p>
        </p:txBody>
      </p:sp>
      <p:sp>
        <p:nvSpPr>
          <p:cNvPr id="34" name="">
            <a:extLst xmlns:a="http://schemas.openxmlformats.org/drawingml/2006/main">
              <a:ext uri="{FF2B5EF4-FFF2-40B4-BE49-F238E27FC236}">
                <a16:creationId xmlns:a16="http://schemas.microsoft.com/office/drawing/2014/main" id="{78F36CAD-29BD-4E76-AB31-426CDFCF01D4}"/>
              </a:ext>
            </a:extLst>
          </p:cNvPr>
          <p:cNvSpPr>
            <a:spLocks xmlns:a="http://schemas.openxmlformats.org/drawingml/2006/main" noGrp="1"/>
          </p:cNvSpPr>
          <p:nvPr/>
        </p:nvSpPr>
        <p:spPr>
          <a:xfrm xmlns:a="http://schemas.openxmlformats.org/drawingml/2006/main">
            <a:off x="10353675" y="3095625"/>
            <a:ext cx="171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11344E"/>
                </a:solidFill>
                <a:latin typeface="Cambria Math"/>
                <a:ea typeface="Cambria Math"/>
                <a:cs typeface="Cambria Math"/>
              </a:defRPr>
            </a:pPr>
            <a:r>
              <a:rPr sz="1950" b="1">
                <a:solidFill>
                  <a:srgbClr val="11344E"/>
                </a:solidFill>
                <a:latin typeface="Cambria Math"/>
                <a:ea typeface="Cambria Math"/>
                <a:cs typeface="Cambria Math"/>
              </a:rPr>
              <a:t>)</a:t>
            </a:r>
          </a:p>
        </p:txBody>
      </p:sp>
      <p:sp>
        <p:nvSpPr>
          <p:cNvPr id="35" name="">
            <a:extLst xmlns:a="http://schemas.openxmlformats.org/drawingml/2006/main">
              <a:ext uri="{FF2B5EF4-FFF2-40B4-BE49-F238E27FC236}">
                <a16:creationId xmlns:a16="http://schemas.microsoft.com/office/drawing/2014/main" id="{3AB93001-248A-4801-A2BD-4F6AF120AA8B}"/>
              </a:ext>
            </a:extLst>
          </p:cNvPr>
          <p:cNvSpPr>
            <a:spLocks xmlns:a="http://schemas.openxmlformats.org/drawingml/2006/main" noGrp="1"/>
          </p:cNvSpPr>
          <p:nvPr/>
        </p:nvSpPr>
        <p:spPr>
          <a:xfrm xmlns:a="http://schemas.openxmlformats.org/drawingml/2006/main">
            <a:off x="7810500" y="3838575"/>
            <a:ext cx="2190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 (1, 1)</a:t>
            </a:r>
          </a:p>
        </p:txBody>
      </p:sp>
      <p:sp>
        <p:nvSpPr>
          <p:cNvPr id="36" name="">
            <a:extLst xmlns:a="http://schemas.openxmlformats.org/drawingml/2006/main">
              <a:ext uri="{FF2B5EF4-FFF2-40B4-BE49-F238E27FC236}">
                <a16:creationId xmlns:a16="http://schemas.microsoft.com/office/drawing/2014/main" id="{273BC4F3-F3BC-422B-9DE0-AB9B33BD3771}"/>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2AB91E7-9155-48C5-8651-D3D9E49D9255}"/>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Reasonableness: 6–8–10 confirms the distance without a calculator.</a:t>
            </a:r>
          </a:p>
        </p:txBody>
      </p:sp>
    </p:spTree>
    <p:extLst>
      <p:ext uri="{BB962C8B-B14F-4D97-AF65-F5344CB8AC3E}">
        <p14:creationId xmlns:p14="http://schemas.microsoft.com/office/powerpoint/2010/main" val="2351442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E6E7845-7C36-4087-8458-1162EF4F9A4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BECF97-3F4F-487B-B437-8D502BA320B7}"/>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Distance and midpoint practice</a:t>
            </a:r>
          </a:p>
        </p:txBody>
      </p:sp>
      <p:sp>
        <p:nvSpPr>
          <p:cNvPr id="3" name="">
            <a:extLst xmlns:a="http://schemas.openxmlformats.org/drawingml/2006/main">
              <a:ext uri="{FF2B5EF4-FFF2-40B4-BE49-F238E27FC236}">
                <a16:creationId xmlns:a16="http://schemas.microsoft.com/office/drawing/2014/main" id="{ABB90603-6941-40ED-BF62-81BA2748F972}"/>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A(−4, 7) and B(2, −1) · work for three minutes</a:t>
            </a:r>
          </a:p>
        </p:txBody>
      </p:sp>
      <p:sp>
        <p:nvSpPr>
          <p:cNvPr id="4" name="">
            <a:extLst xmlns:a="http://schemas.openxmlformats.org/drawingml/2006/main">
              <a:ext uri="{FF2B5EF4-FFF2-40B4-BE49-F238E27FC236}">
                <a16:creationId xmlns:a16="http://schemas.microsoft.com/office/drawing/2014/main" id="{B450D8DD-9B42-45A0-A7C1-13BF3F810C20}"/>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PRACTICE</a:t>
            </a:r>
          </a:p>
        </p:txBody>
      </p:sp>
      <p:sp>
        <p:nvSpPr>
          <p:cNvPr id="5" name="">
            <a:extLst xmlns:a="http://schemas.openxmlformats.org/drawingml/2006/main">
              <a:ext uri="{FF2B5EF4-FFF2-40B4-BE49-F238E27FC236}">
                <a16:creationId xmlns:a16="http://schemas.microsoft.com/office/drawing/2014/main" id="{0ABF89DD-2BC1-4027-8EB4-173F4A4F83AB}"/>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D98A5FC8-C2D0-484A-AC4A-6CB8BDCAC68B}"/>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1304338F-5A8B-4429-94F4-9ACCE591B15A}"/>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10  slide</a:t>
            </a:r>
          </a:p>
        </p:txBody>
      </p:sp>
      <p:sp>
        <p:nvSpPr>
          <p:cNvPr id="8" name="">
            <a:extLst xmlns:a="http://schemas.openxmlformats.org/drawingml/2006/main">
              <a:ext uri="{FF2B5EF4-FFF2-40B4-BE49-F238E27FC236}">
                <a16:creationId xmlns:a16="http://schemas.microsoft.com/office/drawing/2014/main" id="{3C2F9A8E-7224-420D-96C0-C664A842E30A}"/>
              </a:ext>
            </a:extLst>
          </p:cNvPr>
          <p:cNvSpPr>
            <a:spLocks xmlns:a="http://schemas.openxmlformats.org/drawingml/2006/main" noGrp="1"/>
          </p:cNvSpPr>
          <p:nvPr/>
        </p:nvSpPr>
        <p:spPr>
          <a:xfrm xmlns:a="http://schemas.openxmlformats.org/drawingml/2006/main">
            <a:off x="819150" y="1485900"/>
            <a:ext cx="10553700" cy="914400"/>
          </a:xfrm>
          <a:prstGeom xmlns:a="http://schemas.openxmlformats.org/drawingml/2006/main" prst="roundRect">
            <a:avLst>
              <a:gd name="adj" fmla="val 4167"/>
            </a:avLst>
          </a:prstGeom>
          <a:solidFill xmlns:a="http://schemas.openxmlformats.org/drawingml/2006/main">
            <a:srgbClr val="FFF2D6"/>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1344E"/>
                </a:solidFill>
                <a:latin typeface="Cambria Math"/>
                <a:ea typeface="Cambria Math"/>
                <a:cs typeface="Cambria Math"/>
              </a:defRPr>
            </a:pPr>
            <a:r>
              <a:rPr sz="2550" b="1">
                <a:solidFill>
                  <a:srgbClr val="11344E"/>
                </a:solidFill>
                <a:latin typeface="Cambria Math"/>
                <a:ea typeface="Cambria Math"/>
                <a:cs typeface="Cambria Math"/>
              </a:rPr>
              <a:t>A(−4, 7) and B(2, −1)</a:t>
            </a:r>
          </a:p>
        </p:txBody>
      </p:sp>
      <p:sp>
        <p:nvSpPr>
          <p:cNvPr id="9" name="">
            <a:extLst xmlns:a="http://schemas.openxmlformats.org/drawingml/2006/main">
              <a:ext uri="{FF2B5EF4-FFF2-40B4-BE49-F238E27FC236}">
                <a16:creationId xmlns:a16="http://schemas.microsoft.com/office/drawing/2014/main" id="{D1F6FFD2-7912-4738-AF4E-59313C62FD27}"/>
              </a:ext>
            </a:extLst>
          </p:cNvPr>
          <p:cNvSpPr>
            <a:spLocks xmlns:a="http://schemas.openxmlformats.org/drawingml/2006/main" noGrp="1"/>
          </p:cNvSpPr>
          <p:nvPr/>
        </p:nvSpPr>
        <p:spPr>
          <a:xfrm xmlns:a="http://schemas.openxmlformats.org/drawingml/2006/main">
            <a:off x="781050" y="28479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D8545F7-785B-41D2-B7E6-A13F73B22F2C}"/>
              </a:ext>
            </a:extLst>
          </p:cNvPr>
          <p:cNvSpPr>
            <a:spLocks xmlns:a="http://schemas.openxmlformats.org/drawingml/2006/main" noGrp="1"/>
          </p:cNvSpPr>
          <p:nvPr/>
        </p:nvSpPr>
        <p:spPr>
          <a:xfrm xmlns:a="http://schemas.openxmlformats.org/drawingml/2006/main">
            <a:off x="781050" y="28479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1F894942-2A5C-4C72-ADFC-DE69E3959955}"/>
              </a:ext>
            </a:extLst>
          </p:cNvPr>
          <p:cNvSpPr>
            <a:spLocks xmlns:a="http://schemas.openxmlformats.org/drawingml/2006/main" noGrp="1"/>
          </p:cNvSpPr>
          <p:nvPr/>
        </p:nvSpPr>
        <p:spPr>
          <a:xfrm xmlns:a="http://schemas.openxmlformats.org/drawingml/2006/main">
            <a:off x="1409700" y="28003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Find Δ𝑥 and Δ𝑦 using one consistent endpoint order.</a:t>
            </a:r>
          </a:p>
        </p:txBody>
      </p:sp>
      <p:sp>
        <p:nvSpPr>
          <p:cNvPr id="12" name="">
            <a:extLst xmlns:a="http://schemas.openxmlformats.org/drawingml/2006/main">
              <a:ext uri="{FF2B5EF4-FFF2-40B4-BE49-F238E27FC236}">
                <a16:creationId xmlns:a16="http://schemas.microsoft.com/office/drawing/2014/main" id="{9E6CDC86-55B7-4109-AF26-80C3448C091D}"/>
              </a:ext>
            </a:extLst>
          </p:cNvPr>
          <p:cNvSpPr>
            <a:spLocks xmlns:a="http://schemas.openxmlformats.org/drawingml/2006/main" noGrp="1"/>
          </p:cNvSpPr>
          <p:nvPr/>
        </p:nvSpPr>
        <p:spPr>
          <a:xfrm xmlns:a="http://schemas.openxmlformats.org/drawingml/2006/main">
            <a:off x="781050" y="35718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3CF0F5-FAE9-4701-BAE6-6A74FCADB26A}"/>
              </a:ext>
            </a:extLst>
          </p:cNvPr>
          <p:cNvSpPr>
            <a:spLocks xmlns:a="http://schemas.openxmlformats.org/drawingml/2006/main" noGrp="1"/>
          </p:cNvSpPr>
          <p:nvPr/>
        </p:nvSpPr>
        <p:spPr>
          <a:xfrm xmlns:a="http://schemas.openxmlformats.org/drawingml/2006/main">
            <a:off x="781050" y="3571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91A6B899-5BB6-4D9C-A57E-4AA8E83C2F4E}"/>
              </a:ext>
            </a:extLst>
          </p:cNvPr>
          <p:cNvSpPr>
            <a:spLocks xmlns:a="http://schemas.openxmlformats.org/drawingml/2006/main" noGrp="1"/>
          </p:cNvSpPr>
          <p:nvPr/>
        </p:nvSpPr>
        <p:spPr>
          <a:xfrm xmlns:a="http://schemas.openxmlformats.org/drawingml/2006/main">
            <a:off x="1409700" y="35242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Find the midpoint.</a:t>
            </a:r>
          </a:p>
        </p:txBody>
      </p:sp>
      <p:sp>
        <p:nvSpPr>
          <p:cNvPr id="15" name="">
            <a:extLst xmlns:a="http://schemas.openxmlformats.org/drawingml/2006/main">
              <a:ext uri="{FF2B5EF4-FFF2-40B4-BE49-F238E27FC236}">
                <a16:creationId xmlns:a16="http://schemas.microsoft.com/office/drawing/2014/main" id="{FA67FEA9-BFC6-40F1-B624-0D365775D340}"/>
              </a:ext>
            </a:extLst>
          </p:cNvPr>
          <p:cNvSpPr>
            <a:spLocks xmlns:a="http://schemas.openxmlformats.org/drawingml/2006/main" noGrp="1"/>
          </p:cNvSpPr>
          <p:nvPr/>
        </p:nvSpPr>
        <p:spPr>
          <a:xfrm xmlns:a="http://schemas.openxmlformats.org/drawingml/2006/main">
            <a:off x="781050" y="42957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8521963-0B0B-4B98-9D90-2716BB1B34E6}"/>
              </a:ext>
            </a:extLst>
          </p:cNvPr>
          <p:cNvSpPr>
            <a:spLocks xmlns:a="http://schemas.openxmlformats.org/drawingml/2006/main" noGrp="1"/>
          </p:cNvSpPr>
          <p:nvPr/>
        </p:nvSpPr>
        <p:spPr>
          <a:xfrm xmlns:a="http://schemas.openxmlformats.org/drawingml/2006/main">
            <a:off x="781050" y="42957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2AB15A6D-2D52-4230-BFE2-94CA18E613EA}"/>
              </a:ext>
            </a:extLst>
          </p:cNvPr>
          <p:cNvSpPr>
            <a:spLocks xmlns:a="http://schemas.openxmlformats.org/drawingml/2006/main" noGrp="1"/>
          </p:cNvSpPr>
          <p:nvPr/>
        </p:nvSpPr>
        <p:spPr>
          <a:xfrm xmlns:a="http://schemas.openxmlformats.org/drawingml/2006/main">
            <a:off x="1409700" y="42481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Find the exact distance. Give a decimal only if needed.</a:t>
            </a:r>
          </a:p>
        </p:txBody>
      </p:sp>
      <p:sp>
        <p:nvSpPr>
          <p:cNvPr id="18" name="">
            <a:extLst xmlns:a="http://schemas.openxmlformats.org/drawingml/2006/main">
              <a:ext uri="{FF2B5EF4-FFF2-40B4-BE49-F238E27FC236}">
                <a16:creationId xmlns:a16="http://schemas.microsoft.com/office/drawing/2014/main" id="{F7997606-B094-434D-8367-B88D0C8209D3}"/>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2F5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E7D987D-E2A4-459C-A35B-1CB0393B167D}"/>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Check that the midpoint lies between the endpoints and the distance is positive.</a:t>
            </a:r>
          </a:p>
        </p:txBody>
      </p:sp>
    </p:spTree>
    <p:extLst>
      <p:ext uri="{BB962C8B-B14F-4D97-AF65-F5344CB8AC3E}">
        <p14:creationId xmlns:p14="http://schemas.microsoft.com/office/powerpoint/2010/main" val="7281318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4775305B-BA07-41BB-9416-0283A364908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586E8A-6E5D-435B-B4A3-339D5124F4DC}"/>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A line through two points</a:t>
            </a:r>
          </a:p>
        </p:txBody>
      </p:sp>
      <p:sp>
        <p:nvSpPr>
          <p:cNvPr id="3" name="">
            <a:extLst xmlns:a="http://schemas.openxmlformats.org/drawingml/2006/main">
              <a:ext uri="{FF2B5EF4-FFF2-40B4-BE49-F238E27FC236}">
                <a16:creationId xmlns:a16="http://schemas.microsoft.com/office/drawing/2014/main" id="{14F93165-ACB4-4D48-AFFB-17294AC7B89E}"/>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Find the slope and line equation, then both intercepts</a:t>
            </a:r>
          </a:p>
        </p:txBody>
      </p:sp>
      <p:sp>
        <p:nvSpPr>
          <p:cNvPr id="4" name="">
            <a:extLst xmlns:a="http://schemas.openxmlformats.org/drawingml/2006/main">
              <a:ext uri="{FF2B5EF4-FFF2-40B4-BE49-F238E27FC236}">
                <a16:creationId xmlns:a16="http://schemas.microsoft.com/office/drawing/2014/main" id="{D2FED2AD-32D4-4777-8FA9-53E1573EF550}"/>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286FE5C6-5EEA-4FED-9959-A537353B05B5}"/>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8B3CA6F8-A850-49BA-9FD9-7728AEB3A73C}"/>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E1E2DB51-A9A4-4510-8DF4-F1EEF77179C0}"/>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11  slide</a:t>
            </a:r>
          </a:p>
        </p:txBody>
      </p:sp>
      <p:sp>
        <p:nvSpPr>
          <p:cNvPr id="8" name="">
            <a:extLst xmlns:a="http://schemas.openxmlformats.org/drawingml/2006/main">
              <a:ext uri="{FF2B5EF4-FFF2-40B4-BE49-F238E27FC236}">
                <a16:creationId xmlns:a16="http://schemas.microsoft.com/office/drawing/2014/main" id="{7A12F26B-3CBE-40D8-BB1C-F5E64D5F9017}"/>
              </a:ext>
            </a:extLst>
          </p:cNvPr>
          <p:cNvSpPr>
            <a:spLocks xmlns:a="http://schemas.openxmlformats.org/drawingml/2006/main" noGrp="1"/>
          </p:cNvSpPr>
          <p:nvPr/>
        </p:nvSpPr>
        <p:spPr>
          <a:xfrm xmlns:a="http://schemas.openxmlformats.org/drawingml/2006/main">
            <a:off x="781050" y="1314450"/>
            <a:ext cx="10629900" cy="723900"/>
          </a:xfrm>
          <a:prstGeom xmlns:a="http://schemas.openxmlformats.org/drawingml/2006/main" prst="roundRect">
            <a:avLst>
              <a:gd name="adj" fmla="val 5263"/>
            </a:avLst>
          </a:prstGeom>
          <a:solidFill xmlns:a="http://schemas.openxmlformats.org/drawingml/2006/main">
            <a:srgbClr val="E4F2F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400" b="1">
                <a:solidFill>
                  <a:srgbClr val="11344E"/>
                </a:solidFill>
                <a:latin typeface="Cambria Math"/>
                <a:ea typeface="Cambria Math"/>
                <a:cs typeface="Cambria Math"/>
              </a:defRPr>
            </a:pPr>
            <a:r>
              <a:rPr sz="2400" b="1">
                <a:solidFill>
                  <a:srgbClr val="11344E"/>
                </a:solidFill>
                <a:latin typeface="Cambria Math"/>
                <a:ea typeface="Cambria Math"/>
                <a:cs typeface="Cambria Math"/>
              </a:rPr>
              <a:t>Through (−2, 5) and (4, −1)</a:t>
            </a:r>
          </a:p>
        </p:txBody>
      </p:sp>
      <p:sp>
        <p:nvSpPr>
          <p:cNvPr id="9" name="">
            <a:extLst xmlns:a="http://schemas.openxmlformats.org/drawingml/2006/main">
              <a:ext uri="{FF2B5EF4-FFF2-40B4-BE49-F238E27FC236}">
                <a16:creationId xmlns:a16="http://schemas.microsoft.com/office/drawing/2014/main" id="{F8AA8473-C919-47C8-9C8D-8E9355511BB8}"/>
              </a:ext>
            </a:extLst>
          </p:cNvPr>
          <p:cNvSpPr>
            <a:spLocks xmlns:a="http://schemas.openxmlformats.org/drawingml/2006/main" noGrp="1"/>
          </p:cNvSpPr>
          <p:nvPr/>
        </p:nvSpPr>
        <p:spPr>
          <a:xfrm xmlns:a="http://schemas.openxmlformats.org/drawingml/2006/main">
            <a:off x="781050" y="231457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6DA3AFB-FEA2-4A48-A9B0-FAE38E578366}"/>
              </a:ext>
            </a:extLst>
          </p:cNvPr>
          <p:cNvSpPr>
            <a:spLocks xmlns:a="http://schemas.openxmlformats.org/drawingml/2006/main" noGrp="1"/>
          </p:cNvSpPr>
          <p:nvPr/>
        </p:nvSpPr>
        <p:spPr>
          <a:xfrm xmlns:a="http://schemas.openxmlformats.org/drawingml/2006/main">
            <a:off x="781050" y="2314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9BD432DB-7B05-4490-BDC4-06F3D19CEBE0}"/>
              </a:ext>
            </a:extLst>
          </p:cNvPr>
          <p:cNvSpPr>
            <a:spLocks xmlns:a="http://schemas.openxmlformats.org/drawingml/2006/main" noGrp="1"/>
          </p:cNvSpPr>
          <p:nvPr/>
        </p:nvSpPr>
        <p:spPr>
          <a:xfrm xmlns:a="http://schemas.openxmlformats.org/drawingml/2006/main">
            <a:off x="1409700" y="22669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a:bodyPr>
          <a:lstStyle xmlns:a="http://schemas.openxmlformats.org/drawingml/2006/main"/>
          <a:p xmlns:a="http://schemas.openxmlformats.org/drawingml/2006/main">
            <a:r>
              <a:t/>
            </a:r>
          </a:p>
        </p:txBody>
      </p:sp>
      <p:sp>
        <p:nvSpPr>
          <p:cNvPr id="12" name="">
            <a:extLst xmlns:a="http://schemas.openxmlformats.org/drawingml/2006/main">
              <a:ext uri="{FF2B5EF4-FFF2-40B4-BE49-F238E27FC236}">
                <a16:creationId xmlns:a16="http://schemas.microsoft.com/office/drawing/2014/main" id="{453E6DAD-18FB-48E6-9B00-751990683C52}"/>
              </a:ext>
            </a:extLst>
          </p:cNvPr>
          <p:cNvSpPr>
            <a:spLocks xmlns:a="http://schemas.openxmlformats.org/drawingml/2006/main" noGrp="1"/>
          </p:cNvSpPr>
          <p:nvPr/>
        </p:nvSpPr>
        <p:spPr>
          <a:xfrm xmlns:a="http://schemas.openxmlformats.org/drawingml/2006/main">
            <a:off x="781050" y="305752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98092D-9AE6-4EAC-8533-D591E3C45C64}"/>
              </a:ext>
            </a:extLst>
          </p:cNvPr>
          <p:cNvSpPr>
            <a:spLocks xmlns:a="http://schemas.openxmlformats.org/drawingml/2006/main" noGrp="1"/>
          </p:cNvSpPr>
          <p:nvPr/>
        </p:nvSpPr>
        <p:spPr>
          <a:xfrm xmlns:a="http://schemas.openxmlformats.org/drawingml/2006/main">
            <a:off x="781050" y="30575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5FB669D3-2553-4A9C-9076-9B0566D081D8}"/>
              </a:ext>
            </a:extLst>
          </p:cNvPr>
          <p:cNvSpPr>
            <a:spLocks xmlns:a="http://schemas.openxmlformats.org/drawingml/2006/main" noGrp="1"/>
          </p:cNvSpPr>
          <p:nvPr/>
        </p:nvSpPr>
        <p:spPr>
          <a:xfrm xmlns:a="http://schemas.openxmlformats.org/drawingml/2006/main">
            <a:off x="1409700" y="30099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Point-slope form: 𝑦 − 5 = −1(𝑥 + 2)</a:t>
            </a:r>
          </a:p>
        </p:txBody>
      </p:sp>
      <p:sp>
        <p:nvSpPr>
          <p:cNvPr id="15" name="">
            <a:extLst xmlns:a="http://schemas.openxmlformats.org/drawingml/2006/main">
              <a:ext uri="{FF2B5EF4-FFF2-40B4-BE49-F238E27FC236}">
                <a16:creationId xmlns:a16="http://schemas.microsoft.com/office/drawing/2014/main" id="{32F47ED6-D11D-4970-8D9F-E285A6882418}"/>
              </a:ext>
            </a:extLst>
          </p:cNvPr>
          <p:cNvSpPr>
            <a:spLocks xmlns:a="http://schemas.openxmlformats.org/drawingml/2006/main" noGrp="1"/>
          </p:cNvSpPr>
          <p:nvPr/>
        </p:nvSpPr>
        <p:spPr>
          <a:xfrm xmlns:a="http://schemas.openxmlformats.org/drawingml/2006/main">
            <a:off x="781050" y="380047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7AEDB12-F0EC-4B48-90A7-8B56CCC27A81}"/>
              </a:ext>
            </a:extLst>
          </p:cNvPr>
          <p:cNvSpPr>
            <a:spLocks xmlns:a="http://schemas.openxmlformats.org/drawingml/2006/main" noGrp="1"/>
          </p:cNvSpPr>
          <p:nvPr/>
        </p:nvSpPr>
        <p:spPr>
          <a:xfrm xmlns:a="http://schemas.openxmlformats.org/drawingml/2006/main">
            <a:off x="781050" y="3800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30F13094-EA72-4710-831A-556697D38417}"/>
              </a:ext>
            </a:extLst>
          </p:cNvPr>
          <p:cNvSpPr>
            <a:spLocks xmlns:a="http://schemas.openxmlformats.org/drawingml/2006/main" noGrp="1"/>
          </p:cNvSpPr>
          <p:nvPr/>
        </p:nvSpPr>
        <p:spPr>
          <a:xfrm xmlns:a="http://schemas.openxmlformats.org/drawingml/2006/main">
            <a:off x="1409700" y="37528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Slope-intercept form: 𝑦 = −𝑥 + 3</a:t>
            </a:r>
          </a:p>
        </p:txBody>
      </p:sp>
      <p:sp>
        <p:nvSpPr>
          <p:cNvPr id="18" name="">
            <a:extLst xmlns:a="http://schemas.openxmlformats.org/drawingml/2006/main">
              <a:ext uri="{FF2B5EF4-FFF2-40B4-BE49-F238E27FC236}">
                <a16:creationId xmlns:a16="http://schemas.microsoft.com/office/drawing/2014/main" id="{B6E0A72E-18CC-4646-ACBA-A76FBDB81C36}"/>
              </a:ext>
            </a:extLst>
          </p:cNvPr>
          <p:cNvSpPr>
            <a:spLocks xmlns:a="http://schemas.openxmlformats.org/drawingml/2006/main" noGrp="1"/>
          </p:cNvSpPr>
          <p:nvPr/>
        </p:nvSpPr>
        <p:spPr>
          <a:xfrm xmlns:a="http://schemas.openxmlformats.org/drawingml/2006/main">
            <a:off x="781050" y="454342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96A64CB-C121-42CD-A2E2-85A125A1DB75}"/>
              </a:ext>
            </a:extLst>
          </p:cNvPr>
          <p:cNvSpPr>
            <a:spLocks xmlns:a="http://schemas.openxmlformats.org/drawingml/2006/main" noGrp="1"/>
          </p:cNvSpPr>
          <p:nvPr/>
        </p:nvSpPr>
        <p:spPr>
          <a:xfrm xmlns:a="http://schemas.openxmlformats.org/drawingml/2006/main">
            <a:off x="781050" y="4543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0" name="">
            <a:extLst xmlns:a="http://schemas.openxmlformats.org/drawingml/2006/main">
              <a:ext uri="{FF2B5EF4-FFF2-40B4-BE49-F238E27FC236}">
                <a16:creationId xmlns:a16="http://schemas.microsoft.com/office/drawing/2014/main" id="{C14DCC4B-C6E5-4E5F-9B95-5412A460D901}"/>
              </a:ext>
            </a:extLst>
          </p:cNvPr>
          <p:cNvSpPr>
            <a:spLocks xmlns:a="http://schemas.openxmlformats.org/drawingml/2006/main" noGrp="1"/>
          </p:cNvSpPr>
          <p:nvPr/>
        </p:nvSpPr>
        <p:spPr>
          <a:xfrm xmlns:a="http://schemas.openxmlformats.org/drawingml/2006/main">
            <a:off x="1409700" y="44958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Intercepts: (3, 0) and (0, 3)</a:t>
            </a:r>
          </a:p>
        </p:txBody>
      </p:sp>
      <p:sp>
        <p:nvSpPr>
          <p:cNvPr id="21" name="">
            <a:extLst xmlns:a="http://schemas.openxmlformats.org/drawingml/2006/main">
              <a:ext uri="{FF2B5EF4-FFF2-40B4-BE49-F238E27FC236}">
                <a16:creationId xmlns:a16="http://schemas.microsoft.com/office/drawing/2014/main" id="{89415037-8EFA-42B7-A3DA-767FBBC89822}"/>
              </a:ext>
            </a:extLst>
          </p:cNvPr>
          <p:cNvSpPr>
            <a:spLocks xmlns:a="http://schemas.openxmlformats.org/drawingml/2006/main" noGrp="1"/>
          </p:cNvSpPr>
          <p:nvPr/>
        </p:nvSpPr>
        <p:spPr>
          <a:xfrm xmlns:a="http://schemas.openxmlformats.org/drawingml/2006/main">
            <a:off x="1409700" y="2266950"/>
            <a:ext cx="12573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1344E"/>
                </a:solidFill>
                <a:latin typeface="Cambria Math"/>
                <a:ea typeface="Cambria Math"/>
                <a:cs typeface="Cambria Math"/>
              </a:defRPr>
            </a:pPr>
            <a:r>
              <a:rPr sz="1725" b="0">
                <a:solidFill>
                  <a:srgbClr val="11344E"/>
                </a:solidFill>
                <a:latin typeface="Cambria Math"/>
                <a:ea typeface="Cambria Math"/>
                <a:cs typeface="Cambria Math"/>
              </a:rPr>
              <a:t>Slope: 𝑚 =</a:t>
            </a:r>
          </a:p>
        </p:txBody>
      </p:sp>
      <p:sp>
        <p:nvSpPr>
          <p:cNvPr id="22" name="">
            <a:extLst xmlns:a="http://schemas.openxmlformats.org/drawingml/2006/main">
              <a:ext uri="{FF2B5EF4-FFF2-40B4-BE49-F238E27FC236}">
                <a16:creationId xmlns:a16="http://schemas.microsoft.com/office/drawing/2014/main" id="{9A30123D-61A8-49F1-87E9-C1780F821FE5}"/>
              </a:ext>
            </a:extLst>
          </p:cNvPr>
          <p:cNvSpPr>
            <a:spLocks xmlns:a="http://schemas.openxmlformats.org/drawingml/2006/main" noGrp="1"/>
          </p:cNvSpPr>
          <p:nvPr/>
        </p:nvSpPr>
        <p:spPr>
          <a:xfrm xmlns:a="http://schemas.openxmlformats.org/drawingml/2006/main">
            <a:off x="2667000" y="22288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350" b="0">
                <a:solidFill>
                  <a:srgbClr val="11344E"/>
                </a:solidFill>
                <a:latin typeface="Cambria Math"/>
                <a:ea typeface="Cambria Math"/>
                <a:cs typeface="Cambria Math"/>
              </a:defRPr>
            </a:pPr>
            <a:r>
              <a:rPr sz="1350" b="0">
                <a:solidFill>
                  <a:srgbClr val="11344E"/>
                </a:solidFill>
                <a:latin typeface="Cambria Math"/>
                <a:ea typeface="Cambria Math"/>
                <a:cs typeface="Cambria Math"/>
              </a:rPr>
              <a:t>−1 − 5</a:t>
            </a:r>
          </a:p>
        </p:txBody>
      </p:sp>
      <p:sp>
        <p:nvSpPr>
          <p:cNvPr id="23" name="">
            <a:extLst xmlns:a="http://schemas.openxmlformats.org/drawingml/2006/main">
              <a:ext uri="{FF2B5EF4-FFF2-40B4-BE49-F238E27FC236}">
                <a16:creationId xmlns:a16="http://schemas.microsoft.com/office/drawing/2014/main" id="{74467D65-84C9-43A6-8D28-864747F08FC1}"/>
              </a:ext>
            </a:extLst>
          </p:cNvPr>
          <p:cNvSpPr>
            <a:spLocks xmlns:a="http://schemas.openxmlformats.org/drawingml/2006/main" noGrp="1"/>
          </p:cNvSpPr>
          <p:nvPr/>
        </p:nvSpPr>
        <p:spPr>
          <a:xfrm xmlns:a="http://schemas.openxmlformats.org/drawingml/2006/main">
            <a:off x="2695575" y="2571750"/>
            <a:ext cx="1371600"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24" name="">
            <a:extLst xmlns:a="http://schemas.openxmlformats.org/drawingml/2006/main">
              <a:ext uri="{FF2B5EF4-FFF2-40B4-BE49-F238E27FC236}">
                <a16:creationId xmlns:a16="http://schemas.microsoft.com/office/drawing/2014/main" id="{4B8F33C0-4CC3-46FF-89B3-D3CE1C59687F}"/>
              </a:ext>
            </a:extLst>
          </p:cNvPr>
          <p:cNvSpPr>
            <a:spLocks xmlns:a="http://schemas.openxmlformats.org/drawingml/2006/main" noGrp="1"/>
          </p:cNvSpPr>
          <p:nvPr/>
        </p:nvSpPr>
        <p:spPr>
          <a:xfrm xmlns:a="http://schemas.openxmlformats.org/drawingml/2006/main">
            <a:off x="2667000" y="25908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11344E"/>
                </a:solidFill>
                <a:latin typeface="Cambria Math"/>
                <a:ea typeface="Cambria Math"/>
                <a:cs typeface="Cambria Math"/>
              </a:defRPr>
            </a:pPr>
            <a:r>
              <a:rPr sz="1350" b="0">
                <a:solidFill>
                  <a:srgbClr val="11344E"/>
                </a:solidFill>
                <a:latin typeface="Cambria Math"/>
                <a:ea typeface="Cambria Math"/>
                <a:cs typeface="Cambria Math"/>
              </a:rPr>
              <a:t>4 − (−2)</a:t>
            </a:r>
          </a:p>
        </p:txBody>
      </p:sp>
      <p:sp>
        <p:nvSpPr>
          <p:cNvPr id="25" name="">
            <a:extLst xmlns:a="http://schemas.openxmlformats.org/drawingml/2006/main">
              <a:ext uri="{FF2B5EF4-FFF2-40B4-BE49-F238E27FC236}">
                <a16:creationId xmlns:a16="http://schemas.microsoft.com/office/drawing/2014/main" id="{F52C2C87-8CBD-4491-927C-5142EE7B793A}"/>
              </a:ext>
            </a:extLst>
          </p:cNvPr>
          <p:cNvSpPr>
            <a:spLocks xmlns:a="http://schemas.openxmlformats.org/drawingml/2006/main" noGrp="1"/>
          </p:cNvSpPr>
          <p:nvPr/>
        </p:nvSpPr>
        <p:spPr>
          <a:xfrm xmlns:a="http://schemas.openxmlformats.org/drawingml/2006/main">
            <a:off x="4152900" y="2266950"/>
            <a:ext cx="285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0">
                <a:solidFill>
                  <a:srgbClr val="11344E"/>
                </a:solidFill>
                <a:latin typeface="Cambria Math"/>
                <a:ea typeface="Cambria Math"/>
                <a:cs typeface="Cambria Math"/>
              </a:defRPr>
            </a:pPr>
            <a:r>
              <a:rPr sz="1725" b="0">
                <a:solidFill>
                  <a:srgbClr val="11344E"/>
                </a:solidFill>
                <a:latin typeface="Cambria Math"/>
                <a:ea typeface="Cambria Math"/>
                <a:cs typeface="Cambria Math"/>
              </a:rPr>
              <a:t>=</a:t>
            </a:r>
          </a:p>
        </p:txBody>
      </p:sp>
      <p:sp>
        <p:nvSpPr>
          <p:cNvPr id="26" name="">
            <a:extLst xmlns:a="http://schemas.openxmlformats.org/drawingml/2006/main">
              <a:ext uri="{FF2B5EF4-FFF2-40B4-BE49-F238E27FC236}">
                <a16:creationId xmlns:a16="http://schemas.microsoft.com/office/drawing/2014/main" id="{B8C66826-899A-4790-9049-A5D34A852372}"/>
              </a:ext>
            </a:extLst>
          </p:cNvPr>
          <p:cNvSpPr>
            <a:spLocks xmlns:a="http://schemas.openxmlformats.org/drawingml/2006/main" noGrp="1"/>
          </p:cNvSpPr>
          <p:nvPr/>
        </p:nvSpPr>
        <p:spPr>
          <a:xfrm xmlns:a="http://schemas.openxmlformats.org/drawingml/2006/main">
            <a:off x="4476750" y="222885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350" b="0">
                <a:solidFill>
                  <a:srgbClr val="11344E"/>
                </a:solidFill>
                <a:latin typeface="Cambria Math"/>
                <a:ea typeface="Cambria Math"/>
                <a:cs typeface="Cambria Math"/>
              </a:defRPr>
            </a:pPr>
            <a:r>
              <a:rPr sz="1350" b="0">
                <a:solidFill>
                  <a:srgbClr val="11344E"/>
                </a:solidFill>
                <a:latin typeface="Cambria Math"/>
                <a:ea typeface="Cambria Math"/>
                <a:cs typeface="Cambria Math"/>
              </a:rPr>
              <a:t>−6</a:t>
            </a:r>
          </a:p>
        </p:txBody>
      </p:sp>
      <p:sp>
        <p:nvSpPr>
          <p:cNvPr id="27" name="">
            <a:extLst xmlns:a="http://schemas.openxmlformats.org/drawingml/2006/main">
              <a:ext uri="{FF2B5EF4-FFF2-40B4-BE49-F238E27FC236}">
                <a16:creationId xmlns:a16="http://schemas.microsoft.com/office/drawing/2014/main" id="{8A41016D-0B90-44E7-A05F-9747F8365010}"/>
              </a:ext>
            </a:extLst>
          </p:cNvPr>
          <p:cNvSpPr>
            <a:spLocks xmlns:a="http://schemas.openxmlformats.org/drawingml/2006/main" noGrp="1"/>
          </p:cNvSpPr>
          <p:nvPr/>
        </p:nvSpPr>
        <p:spPr>
          <a:xfrm xmlns:a="http://schemas.openxmlformats.org/drawingml/2006/main">
            <a:off x="4505325" y="2571750"/>
            <a:ext cx="628650"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28" name="">
            <a:extLst xmlns:a="http://schemas.openxmlformats.org/drawingml/2006/main">
              <a:ext uri="{FF2B5EF4-FFF2-40B4-BE49-F238E27FC236}">
                <a16:creationId xmlns:a16="http://schemas.microsoft.com/office/drawing/2014/main" id="{75DC71E6-DC70-445F-AFE8-AD45B91C9780}"/>
              </a:ext>
            </a:extLst>
          </p:cNvPr>
          <p:cNvSpPr>
            <a:spLocks xmlns:a="http://schemas.openxmlformats.org/drawingml/2006/main" noGrp="1"/>
          </p:cNvSpPr>
          <p:nvPr/>
        </p:nvSpPr>
        <p:spPr>
          <a:xfrm xmlns:a="http://schemas.openxmlformats.org/drawingml/2006/main">
            <a:off x="4476750" y="2590800"/>
            <a:ext cx="68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0">
                <a:solidFill>
                  <a:srgbClr val="11344E"/>
                </a:solidFill>
                <a:latin typeface="Cambria Math"/>
                <a:ea typeface="Cambria Math"/>
                <a:cs typeface="Cambria Math"/>
              </a:defRPr>
            </a:pPr>
            <a:r>
              <a:rPr sz="1350" b="0">
                <a:solidFill>
                  <a:srgbClr val="11344E"/>
                </a:solidFill>
                <a:latin typeface="Cambria Math"/>
                <a:ea typeface="Cambria Math"/>
                <a:cs typeface="Cambria Math"/>
              </a:rPr>
              <a:t>6</a:t>
            </a:r>
          </a:p>
        </p:txBody>
      </p:sp>
      <p:sp>
        <p:nvSpPr>
          <p:cNvPr id="29" name="">
            <a:extLst xmlns:a="http://schemas.openxmlformats.org/drawingml/2006/main">
              <a:ext uri="{FF2B5EF4-FFF2-40B4-BE49-F238E27FC236}">
                <a16:creationId xmlns:a16="http://schemas.microsoft.com/office/drawing/2014/main" id="{9A915E76-B94B-4F8A-8E9A-6CC83F1FD706}"/>
              </a:ext>
            </a:extLst>
          </p:cNvPr>
          <p:cNvSpPr>
            <a:spLocks xmlns:a="http://schemas.openxmlformats.org/drawingml/2006/main" noGrp="1"/>
          </p:cNvSpPr>
          <p:nvPr/>
        </p:nvSpPr>
        <p:spPr>
          <a:xfrm xmlns:a="http://schemas.openxmlformats.org/drawingml/2006/main">
            <a:off x="5219700" y="2266950"/>
            <a:ext cx="742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0">
                <a:solidFill>
                  <a:srgbClr val="11344E"/>
                </a:solidFill>
                <a:latin typeface="Cambria Math"/>
                <a:ea typeface="Cambria Math"/>
                <a:cs typeface="Cambria Math"/>
              </a:defRPr>
            </a:pPr>
            <a:r>
              <a:rPr sz="1725" b="0">
                <a:solidFill>
                  <a:srgbClr val="11344E"/>
                </a:solidFill>
                <a:latin typeface="Cambria Math"/>
                <a:ea typeface="Cambria Math"/>
                <a:cs typeface="Cambria Math"/>
              </a:rPr>
              <a:t>= −1</a:t>
            </a:r>
          </a:p>
        </p:txBody>
      </p:sp>
      <p:sp>
        <p:nvSpPr>
          <p:cNvPr id="30" name="">
            <a:extLst xmlns:a="http://schemas.openxmlformats.org/drawingml/2006/main">
              <a:ext uri="{FF2B5EF4-FFF2-40B4-BE49-F238E27FC236}">
                <a16:creationId xmlns:a16="http://schemas.microsoft.com/office/drawing/2014/main" id="{C09F65AA-42A3-4857-8D00-7EE59FCCDFC0}"/>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4F2F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DD78C95-EE2C-45F2-9388-44ADF361151D}"/>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777B4"/>
                </a:solidFill>
                <a:latin typeface="Arial"/>
                <a:ea typeface="Arial"/>
                <a:cs typeface="Arial"/>
              </a:defRPr>
            </a:pPr>
            <a:r>
              <a:rPr sz="1200" b="1">
                <a:solidFill>
                  <a:srgbClr val="1777B4"/>
                </a:solidFill>
                <a:latin typeface="Arial"/>
                <a:ea typeface="Arial"/>
                <a:cs typeface="Arial"/>
              </a:rPr>
              <a:t>Check both original points in 𝑦 = −𝑥 + 3.</a:t>
            </a:r>
          </a:p>
        </p:txBody>
      </p:sp>
    </p:spTree>
    <p:extLst>
      <p:ext uri="{BB962C8B-B14F-4D97-AF65-F5344CB8AC3E}">
        <p14:creationId xmlns:p14="http://schemas.microsoft.com/office/powerpoint/2010/main" val="9451541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1655368-4E06-47CE-819C-7408B20782B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1EED30-E498-421A-9B60-1F5469D1C277}"/>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Line practice</a:t>
            </a:r>
          </a:p>
        </p:txBody>
      </p:sp>
      <p:sp>
        <p:nvSpPr>
          <p:cNvPr id="3" name="">
            <a:extLst xmlns:a="http://schemas.openxmlformats.org/drawingml/2006/main">
              <a:ext uri="{FF2B5EF4-FFF2-40B4-BE49-F238E27FC236}">
                <a16:creationId xmlns:a16="http://schemas.microsoft.com/office/drawing/2014/main" id="{C35D6AF8-E6CD-42B3-9C0E-A84F9303FA19}"/>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Through (1, −2) and (5, 6) · work for three minutes</a:t>
            </a:r>
          </a:p>
        </p:txBody>
      </p:sp>
      <p:sp>
        <p:nvSpPr>
          <p:cNvPr id="4" name="">
            <a:extLst xmlns:a="http://schemas.openxmlformats.org/drawingml/2006/main">
              <a:ext uri="{FF2B5EF4-FFF2-40B4-BE49-F238E27FC236}">
                <a16:creationId xmlns:a16="http://schemas.microsoft.com/office/drawing/2014/main" id="{FA4777A2-A2A2-4E70-A249-457D7655219C}"/>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PRACTICE</a:t>
            </a:r>
          </a:p>
        </p:txBody>
      </p:sp>
      <p:sp>
        <p:nvSpPr>
          <p:cNvPr id="5" name="">
            <a:extLst xmlns:a="http://schemas.openxmlformats.org/drawingml/2006/main">
              <a:ext uri="{FF2B5EF4-FFF2-40B4-BE49-F238E27FC236}">
                <a16:creationId xmlns:a16="http://schemas.microsoft.com/office/drawing/2014/main" id="{5228112C-C379-45FD-AF45-F949033087E0}"/>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13C9D6FB-A3F2-49A5-965B-5D5438171252}"/>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2E476E3B-AE51-4AFD-81DE-81690226B503}"/>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12  slide</a:t>
            </a:r>
          </a:p>
        </p:txBody>
      </p:sp>
      <p:sp>
        <p:nvSpPr>
          <p:cNvPr id="8" name="">
            <a:extLst xmlns:a="http://schemas.openxmlformats.org/drawingml/2006/main">
              <a:ext uri="{FF2B5EF4-FFF2-40B4-BE49-F238E27FC236}">
                <a16:creationId xmlns:a16="http://schemas.microsoft.com/office/drawing/2014/main" id="{7CD8820E-FBA7-4332-A6F3-B31F059D1CEB}"/>
              </a:ext>
            </a:extLst>
          </p:cNvPr>
          <p:cNvSpPr>
            <a:spLocks xmlns:a="http://schemas.openxmlformats.org/drawingml/2006/main" noGrp="1"/>
          </p:cNvSpPr>
          <p:nvPr/>
        </p:nvSpPr>
        <p:spPr>
          <a:xfrm xmlns:a="http://schemas.openxmlformats.org/drawingml/2006/main">
            <a:off x="819150" y="1466850"/>
            <a:ext cx="10553700" cy="895350"/>
          </a:xfrm>
          <a:prstGeom xmlns:a="http://schemas.openxmlformats.org/drawingml/2006/main" prst="roundRect">
            <a:avLst>
              <a:gd name="adj" fmla="val 4255"/>
            </a:avLst>
          </a:prstGeom>
          <a:solidFill xmlns:a="http://schemas.openxmlformats.org/drawingml/2006/main">
            <a:srgbClr val="FFF2D6"/>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1344E"/>
                </a:solidFill>
                <a:latin typeface="Cambria Math"/>
                <a:ea typeface="Cambria Math"/>
                <a:cs typeface="Cambria Math"/>
              </a:defRPr>
            </a:pPr>
            <a:r>
              <a:rPr sz="2550" b="1">
                <a:solidFill>
                  <a:srgbClr val="11344E"/>
                </a:solidFill>
                <a:latin typeface="Cambria Math"/>
                <a:ea typeface="Cambria Math"/>
                <a:cs typeface="Cambria Math"/>
              </a:rPr>
              <a:t>Through (1, −2) and (5, 6)</a:t>
            </a:r>
          </a:p>
        </p:txBody>
      </p:sp>
      <p:sp>
        <p:nvSpPr>
          <p:cNvPr id="9" name="">
            <a:extLst xmlns:a="http://schemas.openxmlformats.org/drawingml/2006/main">
              <a:ext uri="{FF2B5EF4-FFF2-40B4-BE49-F238E27FC236}">
                <a16:creationId xmlns:a16="http://schemas.microsoft.com/office/drawing/2014/main" id="{2D56774B-7880-4DBE-88FE-326DA5DA4900}"/>
              </a:ext>
            </a:extLst>
          </p:cNvPr>
          <p:cNvSpPr>
            <a:spLocks xmlns:a="http://schemas.openxmlformats.org/drawingml/2006/main" noGrp="1"/>
          </p:cNvSpPr>
          <p:nvPr/>
        </p:nvSpPr>
        <p:spPr>
          <a:xfrm xmlns:a="http://schemas.openxmlformats.org/drawingml/2006/main">
            <a:off x="781050" y="27717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C23E887-4595-4BB9-B632-1049ED67FE16}"/>
              </a:ext>
            </a:extLst>
          </p:cNvPr>
          <p:cNvSpPr>
            <a:spLocks xmlns:a="http://schemas.openxmlformats.org/drawingml/2006/main" noGrp="1"/>
          </p:cNvSpPr>
          <p:nvPr/>
        </p:nvSpPr>
        <p:spPr>
          <a:xfrm xmlns:a="http://schemas.openxmlformats.org/drawingml/2006/main">
            <a:off x="781050" y="27717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C614BE96-B8CC-4D29-8834-B41F8DE867C5}"/>
              </a:ext>
            </a:extLst>
          </p:cNvPr>
          <p:cNvSpPr>
            <a:spLocks xmlns:a="http://schemas.openxmlformats.org/drawingml/2006/main" noGrp="1"/>
          </p:cNvSpPr>
          <p:nvPr/>
        </p:nvSpPr>
        <p:spPr>
          <a:xfrm xmlns:a="http://schemas.openxmlformats.org/drawingml/2006/main">
            <a:off x="1409700" y="27241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Find the slope.</a:t>
            </a:r>
          </a:p>
        </p:txBody>
      </p:sp>
      <p:sp>
        <p:nvSpPr>
          <p:cNvPr id="12" name="">
            <a:extLst xmlns:a="http://schemas.openxmlformats.org/drawingml/2006/main">
              <a:ext uri="{FF2B5EF4-FFF2-40B4-BE49-F238E27FC236}">
                <a16:creationId xmlns:a16="http://schemas.microsoft.com/office/drawing/2014/main" id="{89720C97-79F4-497B-BEA0-828EE25ED0B4}"/>
              </a:ext>
            </a:extLst>
          </p:cNvPr>
          <p:cNvSpPr>
            <a:spLocks xmlns:a="http://schemas.openxmlformats.org/drawingml/2006/main" noGrp="1"/>
          </p:cNvSpPr>
          <p:nvPr/>
        </p:nvSpPr>
        <p:spPr>
          <a:xfrm xmlns:a="http://schemas.openxmlformats.org/drawingml/2006/main">
            <a:off x="781050" y="355282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686AFB2-18A0-4626-B9EE-EF64B1AB9EB7}"/>
              </a:ext>
            </a:extLst>
          </p:cNvPr>
          <p:cNvSpPr>
            <a:spLocks xmlns:a="http://schemas.openxmlformats.org/drawingml/2006/main" noGrp="1"/>
          </p:cNvSpPr>
          <p:nvPr/>
        </p:nvSpPr>
        <p:spPr>
          <a:xfrm xmlns:a="http://schemas.openxmlformats.org/drawingml/2006/main">
            <a:off x="781050" y="3552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B36B94D2-D4DE-45E1-960A-52F25080469C}"/>
              </a:ext>
            </a:extLst>
          </p:cNvPr>
          <p:cNvSpPr>
            <a:spLocks xmlns:a="http://schemas.openxmlformats.org/drawingml/2006/main" noGrp="1"/>
          </p:cNvSpPr>
          <p:nvPr/>
        </p:nvSpPr>
        <p:spPr>
          <a:xfrm xmlns:a="http://schemas.openxmlformats.org/drawingml/2006/main">
            <a:off x="1409700" y="35052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Write the equation in slope-intercept form.</a:t>
            </a:r>
          </a:p>
        </p:txBody>
      </p:sp>
      <p:sp>
        <p:nvSpPr>
          <p:cNvPr id="15" name="">
            <a:extLst xmlns:a="http://schemas.openxmlformats.org/drawingml/2006/main">
              <a:ext uri="{FF2B5EF4-FFF2-40B4-BE49-F238E27FC236}">
                <a16:creationId xmlns:a16="http://schemas.microsoft.com/office/drawing/2014/main" id="{FEE8D1BC-5F4A-4C5A-954B-8BF7A88BBC6D}"/>
              </a:ext>
            </a:extLst>
          </p:cNvPr>
          <p:cNvSpPr>
            <a:spLocks xmlns:a="http://schemas.openxmlformats.org/drawingml/2006/main" noGrp="1"/>
          </p:cNvSpPr>
          <p:nvPr/>
        </p:nvSpPr>
        <p:spPr>
          <a:xfrm xmlns:a="http://schemas.openxmlformats.org/drawingml/2006/main">
            <a:off x="781050" y="43338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11DCCDC-6B6B-4E32-A917-3394CC932C9F}"/>
              </a:ext>
            </a:extLst>
          </p:cNvPr>
          <p:cNvSpPr>
            <a:spLocks xmlns:a="http://schemas.openxmlformats.org/drawingml/2006/main" noGrp="1"/>
          </p:cNvSpPr>
          <p:nvPr/>
        </p:nvSpPr>
        <p:spPr>
          <a:xfrm xmlns:a="http://schemas.openxmlformats.org/drawingml/2006/main">
            <a:off x="781050" y="43338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2EBBE23C-B827-423B-8248-1A42018CB4CD}"/>
              </a:ext>
            </a:extLst>
          </p:cNvPr>
          <p:cNvSpPr>
            <a:spLocks xmlns:a="http://schemas.openxmlformats.org/drawingml/2006/main" noGrp="1"/>
          </p:cNvSpPr>
          <p:nvPr/>
        </p:nvSpPr>
        <p:spPr>
          <a:xfrm xmlns:a="http://schemas.openxmlformats.org/drawingml/2006/main">
            <a:off x="1409700" y="42862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Find the x-intercept and y-intercept.</a:t>
            </a:r>
          </a:p>
        </p:txBody>
      </p:sp>
      <p:sp>
        <p:nvSpPr>
          <p:cNvPr id="18" name="">
            <a:extLst xmlns:a="http://schemas.openxmlformats.org/drawingml/2006/main">
              <a:ext uri="{FF2B5EF4-FFF2-40B4-BE49-F238E27FC236}">
                <a16:creationId xmlns:a16="http://schemas.microsoft.com/office/drawing/2014/main" id="{8C93B289-F151-465B-A9DD-6EE53CB97D7E}"/>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2F5F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6A11B43-EA46-4F35-82ED-F948D163BC01}"/>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Self-check: both given points must satisfy the final equation.</a:t>
            </a:r>
          </a:p>
        </p:txBody>
      </p:sp>
    </p:spTree>
    <p:extLst>
      <p:ext uri="{BB962C8B-B14F-4D97-AF65-F5344CB8AC3E}">
        <p14:creationId xmlns:p14="http://schemas.microsoft.com/office/powerpoint/2010/main" val="108027724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68DA160-19B2-40EA-B07A-3B620C802F5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D49DAB-46CD-466B-8516-8409532DB580}"/>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All intercepts of a polynomial graph</a:t>
            </a:r>
          </a:p>
        </p:txBody>
      </p:sp>
      <p:sp>
        <p:nvSpPr>
          <p:cNvPr id="3" name="">
            <a:extLst xmlns:a="http://schemas.openxmlformats.org/drawingml/2006/main">
              <a:ext uri="{FF2B5EF4-FFF2-40B4-BE49-F238E27FC236}">
                <a16:creationId xmlns:a16="http://schemas.microsoft.com/office/drawing/2014/main" id="{69E9B3E8-975D-41E8-9791-7244771DA0AF}"/>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Factor completely before listing ordered pairs</a:t>
            </a:r>
          </a:p>
        </p:txBody>
      </p:sp>
      <p:sp>
        <p:nvSpPr>
          <p:cNvPr id="4" name="">
            <a:extLst xmlns:a="http://schemas.openxmlformats.org/drawingml/2006/main">
              <a:ext uri="{FF2B5EF4-FFF2-40B4-BE49-F238E27FC236}">
                <a16:creationId xmlns:a16="http://schemas.microsoft.com/office/drawing/2014/main" id="{A756BB47-8AC9-4D3D-9381-9E691E966E55}"/>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887A3604-F62B-48E5-BC19-34D27AB7CA82}"/>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9E60F5D4-26E8-4D43-B120-92123ABAD4A9}"/>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FD9A8D1C-4270-452E-8B23-FB67FC6887A7}"/>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13  slide</a:t>
            </a:r>
          </a:p>
        </p:txBody>
      </p:sp>
      <p:sp>
        <p:nvSpPr>
          <p:cNvPr id="8" name="">
            <a:extLst xmlns:a="http://schemas.openxmlformats.org/drawingml/2006/main">
              <a:ext uri="{FF2B5EF4-FFF2-40B4-BE49-F238E27FC236}">
                <a16:creationId xmlns:a16="http://schemas.microsoft.com/office/drawing/2014/main" id="{C6399976-82A7-495D-9C49-3736B82605C3}"/>
              </a:ext>
            </a:extLst>
          </p:cNvPr>
          <p:cNvSpPr>
            <a:spLocks xmlns:a="http://schemas.openxmlformats.org/drawingml/2006/main" noGrp="1"/>
          </p:cNvSpPr>
          <p:nvPr/>
        </p:nvSpPr>
        <p:spPr>
          <a:xfrm xmlns:a="http://schemas.openxmlformats.org/drawingml/2006/main">
            <a:off x="781050" y="1295400"/>
            <a:ext cx="10629900" cy="666750"/>
          </a:xfrm>
          <a:prstGeom xmlns:a="http://schemas.openxmlformats.org/drawingml/2006/main" prst="roundRect">
            <a:avLst>
              <a:gd name="adj" fmla="val 5714"/>
            </a:avLst>
          </a:prstGeom>
          <a:solidFill xmlns:a="http://schemas.openxmlformats.org/drawingml/2006/main">
            <a:srgbClr val="E4F2F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250" b="1">
                <a:solidFill>
                  <a:srgbClr val="11344E"/>
                </a:solidFill>
                <a:latin typeface="Cambria Math"/>
                <a:ea typeface="Cambria Math"/>
                <a:cs typeface="Cambria Math"/>
              </a:defRPr>
            </a:pPr>
            <a:r>
              <a:rPr sz="2250" b="1">
                <a:solidFill>
                  <a:srgbClr val="11344E"/>
                </a:solidFill>
                <a:latin typeface="Cambria Math"/>
                <a:ea typeface="Cambria Math"/>
                <a:cs typeface="Cambria Math"/>
              </a:rPr>
              <a:t>Find all intercepts of 𝑦 = 𝑥³ − 16𝑥</a:t>
            </a:r>
          </a:p>
        </p:txBody>
      </p:sp>
      <p:sp>
        <p:nvSpPr>
          <p:cNvPr id="9" name="">
            <a:extLst xmlns:a="http://schemas.openxmlformats.org/drawingml/2006/main">
              <a:ext uri="{FF2B5EF4-FFF2-40B4-BE49-F238E27FC236}">
                <a16:creationId xmlns:a16="http://schemas.microsoft.com/office/drawing/2014/main" id="{3B3550FB-0F22-4D81-A582-46334EE70C1F}"/>
              </a:ext>
            </a:extLst>
          </p:cNvPr>
          <p:cNvSpPr>
            <a:spLocks xmlns:a="http://schemas.openxmlformats.org/drawingml/2006/main" noGrp="1"/>
          </p:cNvSpPr>
          <p:nvPr/>
        </p:nvSpPr>
        <p:spPr>
          <a:xfrm xmlns:a="http://schemas.openxmlformats.org/drawingml/2006/main">
            <a:off x="666750" y="20955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777B4"/>
                </a:solidFill>
                <a:latin typeface="Arial"/>
                <a:ea typeface="Arial"/>
                <a:cs typeface="Arial"/>
              </a:defRPr>
            </a:pPr>
            <a:r>
              <a:rPr sz="825" b="1">
                <a:solidFill>
                  <a:srgbClr val="1777B4"/>
                </a:solidFill>
                <a:latin typeface="Arial"/>
                <a:ea typeface="Arial"/>
                <a:cs typeface="Arial"/>
              </a:rPr>
              <a:t>X-INTERCEPTS</a:t>
            </a:r>
          </a:p>
        </p:txBody>
      </p:sp>
      <p:sp>
        <p:nvSpPr>
          <p:cNvPr id="10" name="">
            <a:extLst xmlns:a="http://schemas.openxmlformats.org/drawingml/2006/main">
              <a:ext uri="{FF2B5EF4-FFF2-40B4-BE49-F238E27FC236}">
                <a16:creationId xmlns:a16="http://schemas.microsoft.com/office/drawing/2014/main" id="{4A76F08C-EE03-4860-9277-F086B9195912}"/>
              </a:ext>
            </a:extLst>
          </p:cNvPr>
          <p:cNvSpPr>
            <a:spLocks xmlns:a="http://schemas.openxmlformats.org/drawingml/2006/main" noGrp="1"/>
          </p:cNvSpPr>
          <p:nvPr/>
        </p:nvSpPr>
        <p:spPr>
          <a:xfrm xmlns:a="http://schemas.openxmlformats.org/drawingml/2006/main">
            <a:off x="666750" y="23812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344E"/>
                </a:solidFill>
                <a:latin typeface="Arial"/>
                <a:ea typeface="Arial"/>
                <a:cs typeface="Arial"/>
              </a:defRPr>
            </a:pPr>
            <a:r>
              <a:rPr sz="1650" b="1">
                <a:solidFill>
                  <a:srgbClr val="11344E"/>
                </a:solidFill>
                <a:latin typeface="Arial"/>
                <a:ea typeface="Arial"/>
                <a:cs typeface="Arial"/>
              </a:rPr>
              <a:t>Set 𝑦 = 0</a:t>
            </a:r>
          </a:p>
        </p:txBody>
      </p:sp>
      <p:sp>
        <p:nvSpPr>
          <p:cNvPr id="11" name="">
            <a:extLst xmlns:a="http://schemas.openxmlformats.org/drawingml/2006/main">
              <a:ext uri="{FF2B5EF4-FFF2-40B4-BE49-F238E27FC236}">
                <a16:creationId xmlns:a16="http://schemas.microsoft.com/office/drawing/2014/main" id="{A09317CD-9801-4A8D-BC17-E6F19FF0CE9C}"/>
              </a:ext>
            </a:extLst>
          </p:cNvPr>
          <p:cNvSpPr>
            <a:spLocks xmlns:a="http://schemas.openxmlformats.org/drawingml/2006/main" noGrp="1"/>
          </p:cNvSpPr>
          <p:nvPr/>
        </p:nvSpPr>
        <p:spPr>
          <a:xfrm xmlns:a="http://schemas.openxmlformats.org/drawingml/2006/main">
            <a:off x="666750" y="2819400"/>
            <a:ext cx="5143500" cy="1447800"/>
          </a:xfrm>
          <a:prstGeom xmlns:a="http://schemas.openxmlformats.org/drawingml/2006/main" prst="roundRect">
            <a:avLst>
              <a:gd name="adj" fmla="val 2632"/>
            </a:avLst>
          </a:prstGeom>
          <a:solidFill xmlns:a="http://schemas.openxmlformats.org/drawingml/2006/main">
            <a:srgbClr val="E4F2F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11344E"/>
                </a:solidFill>
                <a:latin typeface="Cambria Math"/>
                <a:ea typeface="Cambria Math"/>
                <a:cs typeface="Cambria Math"/>
              </a:defRPr>
            </a:pPr>
            <a:r>
              <a:rPr sz="1950" b="1">
                <a:solidFill>
                  <a:srgbClr val="11344E"/>
                </a:solidFill>
                <a:latin typeface="Cambria Math"/>
                <a:ea typeface="Cambria Math"/>
                <a:cs typeface="Cambria Math"/>
              </a:rPr>
              <a:t>0 = 𝑥³ − 16𝑥</a:t>
            </a:r>
          </a:p>
          <a:p xmlns:a="http://schemas.openxmlformats.org/drawingml/2006/main">
            <a:pPr algn="ctr">
              <a:defRPr sz="1950" b="1">
                <a:solidFill>
                  <a:srgbClr val="11344E"/>
                </a:solidFill>
                <a:latin typeface="Cambria Math"/>
                <a:ea typeface="Cambria Math"/>
                <a:cs typeface="Cambria Math"/>
              </a:defRPr>
            </a:pPr>
            <a:r>
              <a:rPr sz="1950" b="1">
                <a:solidFill>
                  <a:srgbClr val="11344E"/>
                </a:solidFill>
                <a:latin typeface="Cambria Math"/>
                <a:ea typeface="Cambria Math"/>
                <a:cs typeface="Cambria Math"/>
              </a:rPr>
              <a:t>0 = 𝑥(𝑥² − 16)</a:t>
            </a:r>
          </a:p>
          <a:p xmlns:a="http://schemas.openxmlformats.org/drawingml/2006/main">
            <a:pPr algn="ctr">
              <a:defRPr sz="1950" b="1">
                <a:solidFill>
                  <a:srgbClr val="11344E"/>
                </a:solidFill>
                <a:latin typeface="Cambria Math"/>
                <a:ea typeface="Cambria Math"/>
                <a:cs typeface="Cambria Math"/>
              </a:defRPr>
            </a:pPr>
            <a:r>
              <a:rPr sz="1950" b="1">
                <a:solidFill>
                  <a:srgbClr val="11344E"/>
                </a:solidFill>
                <a:latin typeface="Cambria Math"/>
                <a:ea typeface="Cambria Math"/>
                <a:cs typeface="Cambria Math"/>
              </a:rPr>
              <a:t>0 = 𝑥(𝑥 − 4)(𝑥 + 4)</a:t>
            </a:r>
          </a:p>
        </p:txBody>
      </p:sp>
      <p:sp>
        <p:nvSpPr>
          <p:cNvPr id="12" name="">
            <a:extLst xmlns:a="http://schemas.openxmlformats.org/drawingml/2006/main">
              <a:ext uri="{FF2B5EF4-FFF2-40B4-BE49-F238E27FC236}">
                <a16:creationId xmlns:a16="http://schemas.microsoft.com/office/drawing/2014/main" id="{C8AE998E-2FC3-4269-B18D-E56565634D55}"/>
              </a:ext>
            </a:extLst>
          </p:cNvPr>
          <p:cNvSpPr>
            <a:spLocks xmlns:a="http://schemas.openxmlformats.org/drawingml/2006/main" noGrp="1"/>
          </p:cNvSpPr>
          <p:nvPr/>
        </p:nvSpPr>
        <p:spPr>
          <a:xfrm xmlns:a="http://schemas.openxmlformats.org/drawingml/2006/main">
            <a:off x="666750" y="436245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875" b="1">
                <a:solidFill>
                  <a:srgbClr val="1777B4"/>
                </a:solidFill>
                <a:latin typeface="Cambria Math"/>
                <a:ea typeface="Cambria Math"/>
                <a:cs typeface="Cambria Math"/>
              </a:defRPr>
            </a:pPr>
            <a:r>
              <a:rPr sz="1875" b="1">
                <a:solidFill>
                  <a:srgbClr val="1777B4"/>
                </a:solidFill>
                <a:latin typeface="Cambria Math"/>
                <a:ea typeface="Cambria Math"/>
                <a:cs typeface="Cambria Math"/>
              </a:rPr>
              <a:t>𝑥 = −4, 0, 4</a:t>
            </a:r>
          </a:p>
        </p:txBody>
      </p:sp>
      <p:sp>
        <p:nvSpPr>
          <p:cNvPr id="13" name="">
            <a:extLst xmlns:a="http://schemas.openxmlformats.org/drawingml/2006/main">
              <a:ext uri="{FF2B5EF4-FFF2-40B4-BE49-F238E27FC236}">
                <a16:creationId xmlns:a16="http://schemas.microsoft.com/office/drawing/2014/main" id="{979BEDA5-CBA5-4D1F-8E88-99CB421FC8A4}"/>
              </a:ext>
            </a:extLst>
          </p:cNvPr>
          <p:cNvSpPr>
            <a:spLocks xmlns:a="http://schemas.openxmlformats.org/drawingml/2006/main" noGrp="1"/>
          </p:cNvSpPr>
          <p:nvPr/>
        </p:nvSpPr>
        <p:spPr>
          <a:xfrm xmlns:a="http://schemas.openxmlformats.org/drawingml/2006/main">
            <a:off x="6096000" y="2095500"/>
            <a:ext cx="0" cy="3009900"/>
          </a:xfrm>
          <a:prstGeom xmlns:a="http://schemas.openxmlformats.org/drawingml/2006/main" prst="line">
            <a:avLst/>
          </a:prstGeom>
          <a:noFill xmlns:a="http://schemas.openxmlformats.org/drawingml/2006/main"/>
          <a:ln xmlns:a="http://schemas.openxmlformats.org/drawingml/2006/main" w="19050">
            <a:solidFill>
              <a:srgbClr val="DDE5EA"/>
            </a:solidFill>
            <a:prstDash val="solid"/>
          </a:ln>
        </p:spPr>
      </p:sp>
      <p:sp>
        <p:nvSpPr>
          <p:cNvPr id="14" name="">
            <a:extLst xmlns:a="http://schemas.openxmlformats.org/drawingml/2006/main">
              <a:ext uri="{FF2B5EF4-FFF2-40B4-BE49-F238E27FC236}">
                <a16:creationId xmlns:a16="http://schemas.microsoft.com/office/drawing/2014/main" id="{5A713696-7809-43B4-A4F8-CC12ABCD45C9}"/>
              </a:ext>
            </a:extLst>
          </p:cNvPr>
          <p:cNvSpPr>
            <a:spLocks xmlns:a="http://schemas.openxmlformats.org/drawingml/2006/main" noGrp="1"/>
          </p:cNvSpPr>
          <p:nvPr/>
        </p:nvSpPr>
        <p:spPr>
          <a:xfrm xmlns:a="http://schemas.openxmlformats.org/drawingml/2006/main">
            <a:off x="6572250" y="20955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48A68"/>
                </a:solidFill>
                <a:latin typeface="Arial"/>
                <a:ea typeface="Arial"/>
                <a:cs typeface="Arial"/>
              </a:defRPr>
            </a:pPr>
            <a:r>
              <a:rPr sz="825" b="1">
                <a:solidFill>
                  <a:srgbClr val="148A68"/>
                </a:solidFill>
                <a:latin typeface="Arial"/>
                <a:ea typeface="Arial"/>
                <a:cs typeface="Arial"/>
              </a:rPr>
              <a:t>Y-INTERCEPT</a:t>
            </a:r>
          </a:p>
        </p:txBody>
      </p:sp>
      <p:sp>
        <p:nvSpPr>
          <p:cNvPr id="15" name="">
            <a:extLst xmlns:a="http://schemas.openxmlformats.org/drawingml/2006/main">
              <a:ext uri="{FF2B5EF4-FFF2-40B4-BE49-F238E27FC236}">
                <a16:creationId xmlns:a16="http://schemas.microsoft.com/office/drawing/2014/main" id="{353D6674-E184-4499-A2AF-E4A3D9BF64EE}"/>
              </a:ext>
            </a:extLst>
          </p:cNvPr>
          <p:cNvSpPr>
            <a:spLocks xmlns:a="http://schemas.openxmlformats.org/drawingml/2006/main" noGrp="1"/>
          </p:cNvSpPr>
          <p:nvPr/>
        </p:nvSpPr>
        <p:spPr>
          <a:xfrm xmlns:a="http://schemas.openxmlformats.org/drawingml/2006/main">
            <a:off x="6572250" y="23812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1344E"/>
                </a:solidFill>
                <a:latin typeface="Arial"/>
                <a:ea typeface="Arial"/>
                <a:cs typeface="Arial"/>
              </a:defRPr>
            </a:pPr>
            <a:r>
              <a:rPr sz="1650" b="1">
                <a:solidFill>
                  <a:srgbClr val="11344E"/>
                </a:solidFill>
                <a:latin typeface="Arial"/>
                <a:ea typeface="Arial"/>
                <a:cs typeface="Arial"/>
              </a:rPr>
              <a:t>Set 𝑥 = 0</a:t>
            </a:r>
          </a:p>
        </p:txBody>
      </p:sp>
      <p:sp>
        <p:nvSpPr>
          <p:cNvPr id="16" name="">
            <a:extLst xmlns:a="http://schemas.openxmlformats.org/drawingml/2006/main">
              <a:ext uri="{FF2B5EF4-FFF2-40B4-BE49-F238E27FC236}">
                <a16:creationId xmlns:a16="http://schemas.microsoft.com/office/drawing/2014/main" id="{C3DF3E9B-C722-4463-B1FD-25C9797C1A25}"/>
              </a:ext>
            </a:extLst>
          </p:cNvPr>
          <p:cNvSpPr>
            <a:spLocks xmlns:a="http://schemas.openxmlformats.org/drawingml/2006/main" noGrp="1"/>
          </p:cNvSpPr>
          <p:nvPr/>
        </p:nvSpPr>
        <p:spPr>
          <a:xfrm xmlns:a="http://schemas.openxmlformats.org/drawingml/2006/main">
            <a:off x="6572250" y="2819400"/>
            <a:ext cx="4762500" cy="838200"/>
          </a:xfrm>
          <a:prstGeom xmlns:a="http://schemas.openxmlformats.org/drawingml/2006/main" prst="roundRect">
            <a:avLst>
              <a:gd name="adj" fmla="val 4545"/>
            </a:avLst>
          </a:prstGeom>
          <a:solidFill xmlns:a="http://schemas.openxmlformats.org/drawingml/2006/main">
            <a:srgbClr val="E3F3EE"/>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𝑦 = 0³ − 16(0) = 0</a:t>
            </a:r>
          </a:p>
        </p:txBody>
      </p:sp>
      <p:sp>
        <p:nvSpPr>
          <p:cNvPr id="17" name="">
            <a:extLst xmlns:a="http://schemas.openxmlformats.org/drawingml/2006/main">
              <a:ext uri="{FF2B5EF4-FFF2-40B4-BE49-F238E27FC236}">
                <a16:creationId xmlns:a16="http://schemas.microsoft.com/office/drawing/2014/main" id="{4CC1B223-6944-4E7E-AF60-EA253C756F90}"/>
              </a:ext>
            </a:extLst>
          </p:cNvPr>
          <p:cNvSpPr>
            <a:spLocks xmlns:a="http://schemas.openxmlformats.org/drawingml/2006/main" noGrp="1"/>
          </p:cNvSpPr>
          <p:nvPr/>
        </p:nvSpPr>
        <p:spPr>
          <a:xfrm xmlns:a="http://schemas.openxmlformats.org/drawingml/2006/main">
            <a:off x="6572250" y="37528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a:solidFill>
                  <a:srgbClr val="18364D"/>
                </a:solidFill>
                <a:latin typeface="Arial"/>
                <a:ea typeface="Arial"/>
                <a:cs typeface="Arial"/>
              </a:defRPr>
            </a:pPr>
            <a:r>
              <a:rPr sz="1350" b="0">
                <a:solidFill>
                  <a:srgbClr val="18364D"/>
                </a:solidFill>
                <a:latin typeface="Arial"/>
                <a:ea typeface="Arial"/>
                <a:cs typeface="Arial"/>
              </a:rPr>
              <a:t>The y-intercept (0, 0) is already in the x-intercept list.</a:t>
            </a:r>
          </a:p>
        </p:txBody>
      </p:sp>
      <p:sp>
        <p:nvSpPr>
          <p:cNvPr id="18" name="">
            <a:extLst xmlns:a="http://schemas.openxmlformats.org/drawingml/2006/main">
              <a:ext uri="{FF2B5EF4-FFF2-40B4-BE49-F238E27FC236}">
                <a16:creationId xmlns:a16="http://schemas.microsoft.com/office/drawing/2014/main" id="{50F8E338-9D6F-4398-B4DF-D01B05A69321}"/>
              </a:ext>
            </a:extLst>
          </p:cNvPr>
          <p:cNvSpPr>
            <a:spLocks xmlns:a="http://schemas.openxmlformats.org/drawingml/2006/main" noGrp="1"/>
          </p:cNvSpPr>
          <p:nvPr/>
        </p:nvSpPr>
        <p:spPr>
          <a:xfrm xmlns:a="http://schemas.openxmlformats.org/drawingml/2006/main">
            <a:off x="6572250" y="440055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148A68"/>
                </a:solidFill>
                <a:latin typeface="Cambria Math"/>
                <a:ea typeface="Cambria Math"/>
                <a:cs typeface="Cambria Math"/>
              </a:defRPr>
            </a:pPr>
            <a:r>
              <a:rPr sz="1725" b="1">
                <a:solidFill>
                  <a:srgbClr val="148A68"/>
                </a:solidFill>
                <a:latin typeface="Cambria Math"/>
                <a:ea typeface="Cambria Math"/>
                <a:cs typeface="Cambria Math"/>
              </a:rPr>
              <a:t>All distinct intercepts</a:t>
            </a:r>
          </a:p>
          <a:p xmlns:a="http://schemas.openxmlformats.org/drawingml/2006/main">
            <a:pPr algn="ctr">
              <a:defRPr sz="1725" b="1">
                <a:solidFill>
                  <a:srgbClr val="148A68"/>
                </a:solidFill>
                <a:latin typeface="Cambria Math"/>
                <a:ea typeface="Cambria Math"/>
                <a:cs typeface="Cambria Math"/>
              </a:defRPr>
            </a:pPr>
            <a:r>
              <a:rPr sz="1725" b="1">
                <a:solidFill>
                  <a:srgbClr val="148A68"/>
                </a:solidFill>
                <a:latin typeface="Cambria Math"/>
                <a:ea typeface="Cambria Math"/>
                <a:cs typeface="Cambria Math"/>
              </a:rPr>
              <a:t>(−4, 0), (0, 0), (4, 0)</a:t>
            </a:r>
          </a:p>
        </p:txBody>
      </p:sp>
      <p:sp>
        <p:nvSpPr>
          <p:cNvPr id="19" name="">
            <a:extLst xmlns:a="http://schemas.openxmlformats.org/drawingml/2006/main">
              <a:ext uri="{FF2B5EF4-FFF2-40B4-BE49-F238E27FC236}">
                <a16:creationId xmlns:a16="http://schemas.microsoft.com/office/drawing/2014/main" id="{B2BF03C0-2154-403E-A0D9-7301E35039CC}"/>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7FE1D44-272F-4D4D-919C-FF4BEB31DDB8}"/>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Set the appropriate variable to zero, factor completely, and write ordered pairs.</a:t>
            </a:r>
          </a:p>
        </p:txBody>
      </p:sp>
    </p:spTree>
    <p:extLst>
      <p:ext uri="{BB962C8B-B14F-4D97-AF65-F5344CB8AC3E}">
        <p14:creationId xmlns:p14="http://schemas.microsoft.com/office/powerpoint/2010/main" val="2119992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05A7BB0-BEF2-4A80-84C1-859053A7FC2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6A7F20-9D15-4130-853F-B70B1B7AF8C1}"/>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Coordinate tables and solution checks</a:t>
            </a:r>
          </a:p>
        </p:txBody>
      </p:sp>
      <p:sp>
        <p:nvSpPr>
          <p:cNvPr id="3" name="">
            <a:extLst xmlns:a="http://schemas.openxmlformats.org/drawingml/2006/main">
              <a:ext uri="{FF2B5EF4-FFF2-40B4-BE49-F238E27FC236}">
                <a16:creationId xmlns:a16="http://schemas.microsoft.com/office/drawing/2014/main" id="{ED5D38F9-59EE-4E20-8E43-54E33F5EAA33}"/>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Complete the table, then test both ordered pairs</a:t>
            </a:r>
          </a:p>
        </p:txBody>
      </p:sp>
      <p:sp>
        <p:nvSpPr>
          <p:cNvPr id="4" name="">
            <a:extLst xmlns:a="http://schemas.openxmlformats.org/drawingml/2006/main">
              <a:ext uri="{FF2B5EF4-FFF2-40B4-BE49-F238E27FC236}">
                <a16:creationId xmlns:a16="http://schemas.microsoft.com/office/drawing/2014/main" id="{0419E5AC-226E-4F31-9E9E-EA565A3F5D76}"/>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53E50FCD-BA92-402E-81CA-B551ED851ABF}"/>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4CDE7553-84C6-4790-A1E2-6001BBF3C998}"/>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704F6AEF-AA80-404D-9B3A-3FB5D037544E}"/>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14  slide</a:t>
            </a:r>
          </a:p>
        </p:txBody>
      </p:sp>
      <p:sp>
        <p:nvSpPr>
          <p:cNvPr id="8" name="">
            <a:extLst xmlns:a="http://schemas.openxmlformats.org/drawingml/2006/main">
              <a:ext uri="{FF2B5EF4-FFF2-40B4-BE49-F238E27FC236}">
                <a16:creationId xmlns:a16="http://schemas.microsoft.com/office/drawing/2014/main" id="{F5F32E58-48E7-4E6B-A6D8-A7C83C19582F}"/>
              </a:ext>
            </a:extLst>
          </p:cNvPr>
          <p:cNvSpPr>
            <a:spLocks xmlns:a="http://schemas.openxmlformats.org/drawingml/2006/main" noGrp="1"/>
          </p:cNvSpPr>
          <p:nvPr/>
        </p:nvSpPr>
        <p:spPr>
          <a:xfrm xmlns:a="http://schemas.openxmlformats.org/drawingml/2006/main">
            <a:off x="666750" y="1295400"/>
            <a:ext cx="10858500" cy="647700"/>
          </a:xfrm>
          <a:prstGeom xmlns:a="http://schemas.openxmlformats.org/drawingml/2006/main" prst="roundRect">
            <a:avLst>
              <a:gd name="adj" fmla="val 5882"/>
            </a:avLst>
          </a:prstGeom>
          <a:solidFill xmlns:a="http://schemas.openxmlformats.org/drawingml/2006/main">
            <a:srgbClr val="E4F2F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550" b="1">
                <a:solidFill>
                  <a:srgbClr val="11344E"/>
                </a:solidFill>
                <a:latin typeface="Cambria Math"/>
                <a:ea typeface="Cambria Math"/>
                <a:cs typeface="Cambria Math"/>
              </a:defRPr>
            </a:pPr>
            <a:r>
              <a:rPr sz="2550" b="1">
                <a:solidFill>
                  <a:srgbClr val="11344E"/>
                </a:solidFill>
                <a:latin typeface="Cambria Math"/>
                <a:ea typeface="Cambria Math"/>
                <a:cs typeface="Cambria Math"/>
              </a:rPr>
              <a:t>3𝑥 − 2𝑦 = 12</a:t>
            </a:r>
          </a:p>
        </p:txBody>
      </p:sp>
      <p:sp>
        <p:nvSpPr>
          <p:cNvPr id="9" name="">
            <a:extLst xmlns:a="http://schemas.openxmlformats.org/drawingml/2006/main">
              <a:ext uri="{FF2B5EF4-FFF2-40B4-BE49-F238E27FC236}">
                <a16:creationId xmlns:a16="http://schemas.microsoft.com/office/drawing/2014/main" id="{2D4D6F6F-C374-4096-B92D-E100BCCBDAF7}"/>
              </a:ext>
            </a:extLst>
          </p:cNvPr>
          <p:cNvSpPr>
            <a:spLocks xmlns:a="http://schemas.openxmlformats.org/drawingml/2006/main" noGrp="1"/>
          </p:cNvSpPr>
          <p:nvPr/>
        </p:nvSpPr>
        <p:spPr>
          <a:xfrm xmlns:a="http://schemas.openxmlformats.org/drawingml/2006/main">
            <a:off x="666750" y="2095500"/>
            <a:ext cx="504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777B4"/>
                </a:solidFill>
                <a:latin typeface="Arial"/>
                <a:ea typeface="Arial"/>
                <a:cs typeface="Arial"/>
              </a:defRPr>
            </a:pPr>
            <a:r>
              <a:rPr sz="825" b="1">
                <a:solidFill>
                  <a:srgbClr val="1777B4"/>
                </a:solidFill>
                <a:latin typeface="Arial"/>
                <a:ea typeface="Arial"/>
                <a:cs typeface="Arial"/>
              </a:rPr>
              <a:t>COMPLETE THE TABLE</a:t>
            </a:r>
          </a:p>
        </p:txBody>
      </p:sp>
      <p:graphicFrame>
        <p:nvGraphicFramePr>
          <p:cNvPr id="28" name=""/>
          <p:cNvGraphicFramePr/>
          <p:nvPr/>
        </p:nvGraphicFramePr>
        <p:xfrm>
          <a:off xmlns:a="http://schemas.openxmlformats.org/drawingml/2006/main" x="666750" y="2457450"/>
          <a:ext xmlns:a="http://schemas.openxmlformats.org/drawingml/2006/main" cx="5048250" cy="1428750"/>
        </p:xfrm>
        <a:graphic xmlns:a="http://schemas.openxmlformats.org/drawingml/2006/main">
          <a:graphicData uri="http://schemas.openxmlformats.org/drawingml/2006/table">
            <a:tbl>
              <a:tblPr/>
              <a:tblGrid>
                <a:gridCol w="1047750"/>
                <a:gridCol w="1333500"/>
                <a:gridCol w="1333500"/>
                <a:gridCol w="1333500"/>
              </a:tblGrid>
              <a:tr h="714375">
                <a:tc>
                  <a:txBody>
                    <a:bodyPr anchor="ctr"/>
                    <a:lstStyle/>
                    <a:p>
                      <a:pPr algn="ctr"/>
                      <a:r>
                        <a:rPr sz="1800" b="1">
                          <a:solidFill>
                            <a:srgbClr val="FFFFFF"/>
                          </a:solidFill>
                          <a:latin typeface="Arial"/>
                          <a:ea typeface="Arial"/>
                          <a:cs typeface="Arial"/>
                        </a:rPr>
                        <a:t>𝑥</a:t>
                      </a:r>
                    </a:p>
                  </a:txBody>
                  <a:tcPr marL="76200" marR="76200" marT="76200" marB="76200" anchor="ctr">
                    <a:solidFill>
                      <a:srgbClr val="11344E"/>
                    </a:solidFill>
                  </a:tcPr>
                </a:tc>
                <a:tc>
                  <a:txBody>
                    <a:bodyPr anchor="ctr"/>
                    <a:lstStyle/>
                    <a:p>
                      <a:pPr algn="ctr"/>
                      <a:r>
                        <a:rPr sz="1800" b="1">
                          <a:solidFill>
                            <a:srgbClr val="11344E"/>
                          </a:solidFill>
                          <a:latin typeface="Cambria Math"/>
                          <a:ea typeface="Cambria Math"/>
                          <a:cs typeface="Cambria Math"/>
                        </a:rPr>
                        <a:t>0</a:t>
                      </a:r>
                    </a:p>
                  </a:txBody>
                  <a:tcPr marL="76200" marR="76200" marT="76200" marB="76200" anchor="ctr">
                    <a:solidFill>
                      <a:srgbClr val="E4F2F8"/>
                    </a:solidFill>
                  </a:tcPr>
                </a:tc>
                <a:tc>
                  <a:txBody>
                    <a:bodyPr anchor="ctr"/>
                    <a:lstStyle/>
                    <a:p>
                      <a:pPr algn="ctr"/>
                      <a:r>
                        <a:rPr sz="1800" b="1">
                          <a:solidFill>
                            <a:srgbClr val="11344E"/>
                          </a:solidFill>
                          <a:latin typeface="Cambria Math"/>
                          <a:ea typeface="Cambria Math"/>
                          <a:cs typeface="Cambria Math"/>
                        </a:rPr>
                        <a:t>4</a:t>
                      </a:r>
                    </a:p>
                  </a:txBody>
                  <a:tcPr marL="76200" marR="76200" marT="76200" marB="76200" anchor="ctr">
                    <a:solidFill>
                      <a:srgbClr val="E4F2F8"/>
                    </a:solidFill>
                  </a:tcPr>
                </a:tc>
                <a:tc>
                  <a:txBody>
                    <a:bodyPr anchor="ctr"/>
                    <a:lstStyle/>
                    <a:p>
                      <a:pPr algn="ctr"/>
                      <a:r>
                        <a:rPr sz="1800" b="1">
                          <a:solidFill>
                            <a:srgbClr val="11344E"/>
                          </a:solidFill>
                          <a:latin typeface="Cambria Math"/>
                          <a:ea typeface="Cambria Math"/>
                          <a:cs typeface="Cambria Math"/>
                        </a:rPr>
                        <a:t>_____</a:t>
                      </a:r>
                    </a:p>
                  </a:txBody>
                  <a:tcPr marL="76200" marR="76200" marT="76200" marB="76200" anchor="ctr">
                    <a:solidFill>
                      <a:srgbClr val="E4F2F8"/>
                    </a:solidFill>
                  </a:tcPr>
                </a:tc>
              </a:tr>
              <a:tr h="714375">
                <a:tc>
                  <a:txBody>
                    <a:bodyPr anchor="ctr"/>
                    <a:lstStyle/>
                    <a:p>
                      <a:pPr algn="ctr"/>
                      <a:r>
                        <a:rPr sz="1800" b="1">
                          <a:solidFill>
                            <a:srgbClr val="FFFFFF"/>
                          </a:solidFill>
                          <a:latin typeface="Arial"/>
                          <a:ea typeface="Arial"/>
                          <a:cs typeface="Arial"/>
                        </a:rPr>
                        <a:t>𝑦</a:t>
                      </a:r>
                    </a:p>
                  </a:txBody>
                  <a:tcPr marL="76200" marR="76200" marT="76200" marB="76200" anchor="ctr">
                    <a:solidFill>
                      <a:srgbClr val="11344E"/>
                    </a:solidFill>
                  </a:tcPr>
                </a:tc>
                <a:tc>
                  <a:txBody>
                    <a:bodyPr anchor="ctr"/>
                    <a:lstStyle/>
                    <a:p>
                      <a:pPr algn="ctr"/>
                      <a:r>
                        <a:rPr sz="1800" b="1">
                          <a:solidFill>
                            <a:srgbClr val="11344E"/>
                          </a:solidFill>
                          <a:latin typeface="Cambria Math"/>
                          <a:ea typeface="Cambria Math"/>
                          <a:cs typeface="Cambria Math"/>
                        </a:rPr>
                        <a:t>_____</a:t>
                      </a:r>
                    </a:p>
                  </a:txBody>
                  <a:tcPr marL="76200" marR="76200" marT="76200" marB="76200" anchor="ctr">
                    <a:solidFill>
                      <a:srgbClr val="E4F2F8"/>
                    </a:solidFill>
                  </a:tcPr>
                </a:tc>
                <a:tc>
                  <a:txBody>
                    <a:bodyPr anchor="ctr"/>
                    <a:lstStyle/>
                    <a:p>
                      <a:pPr algn="ctr"/>
                      <a:r>
                        <a:rPr sz="1800" b="1">
                          <a:solidFill>
                            <a:srgbClr val="11344E"/>
                          </a:solidFill>
                          <a:latin typeface="Cambria Math"/>
                          <a:ea typeface="Cambria Math"/>
                          <a:cs typeface="Cambria Math"/>
                        </a:rPr>
                        <a:t>_____</a:t>
                      </a:r>
                    </a:p>
                  </a:txBody>
                  <a:tcPr marL="76200" marR="76200" marT="76200" marB="76200" anchor="ctr">
                    <a:solidFill>
                      <a:srgbClr val="E4F2F8"/>
                    </a:solidFill>
                  </a:tcPr>
                </a:tc>
                <a:tc>
                  <a:txBody>
                    <a:bodyPr anchor="ctr"/>
                    <a:lstStyle/>
                    <a:p>
                      <a:pPr algn="ctr"/>
                      <a:r>
                        <a:rPr sz="1800" b="1">
                          <a:solidFill>
                            <a:srgbClr val="11344E"/>
                          </a:solidFill>
                          <a:latin typeface="Cambria Math"/>
                          <a:ea typeface="Cambria Math"/>
                          <a:cs typeface="Cambria Math"/>
                        </a:rPr>
                        <a:t>3</a:t>
                      </a:r>
                    </a:p>
                  </a:txBody>
                  <a:tcPr marL="76200" marR="76200" marT="76200" marB="76200" anchor="ctr">
                    <a:solidFill>
                      <a:srgbClr val="E4F2F8"/>
                    </a:solidFill>
                  </a:tcPr>
                </a:tc>
              </a:tr>
            </a:tbl>
          </a:graphicData>
        </a:graphic>
      </p:graphicFrame>
      <p:sp>
        <p:nvSpPr>
          <p:cNvPr id="11" name="">
            <a:extLst xmlns:a="http://schemas.openxmlformats.org/drawingml/2006/main">
              <a:ext uri="{FF2B5EF4-FFF2-40B4-BE49-F238E27FC236}">
                <a16:creationId xmlns:a16="http://schemas.microsoft.com/office/drawing/2014/main" id="{C68281D3-C79E-4E61-A133-26E48D630B78}"/>
              </a:ext>
            </a:extLst>
          </p:cNvPr>
          <p:cNvSpPr>
            <a:spLocks xmlns:a="http://schemas.openxmlformats.org/drawingml/2006/main" noGrp="1"/>
          </p:cNvSpPr>
          <p:nvPr/>
        </p:nvSpPr>
        <p:spPr>
          <a:xfrm xmlns:a="http://schemas.openxmlformats.org/drawingml/2006/main">
            <a:off x="666750" y="4057650"/>
            <a:ext cx="5048250" cy="1123950"/>
          </a:xfrm>
          <a:prstGeom xmlns:a="http://schemas.openxmlformats.org/drawingml/2006/main" prst="roundRect">
            <a:avLst>
              <a:gd name="adj" fmla="val 3390"/>
            </a:avLst>
          </a:prstGeom>
          <a:solidFill xmlns:a="http://schemas.openxmlformats.org/drawingml/2006/main">
            <a:srgbClr val="F2F5F7"/>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𝑥 = 0 gives 𝑦 = −6</a:t>
            </a:r>
          </a:p>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𝑥 = 4 gives 𝑦 = 0</a:t>
            </a:r>
          </a:p>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𝑦 = 3 gives 𝑥 = 6</a:t>
            </a:r>
          </a:p>
        </p:txBody>
      </p:sp>
      <p:sp>
        <p:nvSpPr>
          <p:cNvPr id="12" name="">
            <a:extLst xmlns:a="http://schemas.openxmlformats.org/drawingml/2006/main">
              <a:ext uri="{FF2B5EF4-FFF2-40B4-BE49-F238E27FC236}">
                <a16:creationId xmlns:a16="http://schemas.microsoft.com/office/drawing/2014/main" id="{3AB3BCE0-62C7-4BBA-8D12-00F43DDDE30A}"/>
              </a:ext>
            </a:extLst>
          </p:cNvPr>
          <p:cNvSpPr>
            <a:spLocks xmlns:a="http://schemas.openxmlformats.org/drawingml/2006/main" noGrp="1"/>
          </p:cNvSpPr>
          <p:nvPr/>
        </p:nvSpPr>
        <p:spPr>
          <a:xfrm xmlns:a="http://schemas.openxmlformats.org/drawingml/2006/main">
            <a:off x="6096000" y="2095500"/>
            <a:ext cx="0" cy="3086100"/>
          </a:xfrm>
          <a:prstGeom xmlns:a="http://schemas.openxmlformats.org/drawingml/2006/main" prst="line">
            <a:avLst/>
          </a:prstGeom>
          <a:noFill xmlns:a="http://schemas.openxmlformats.org/drawingml/2006/main"/>
          <a:ln xmlns:a="http://schemas.openxmlformats.org/drawingml/2006/main" w="19050">
            <a:solidFill>
              <a:srgbClr val="DDE5EA"/>
            </a:solidFill>
            <a:prstDash val="solid"/>
          </a:ln>
        </p:spPr>
      </p:sp>
      <p:sp>
        <p:nvSpPr>
          <p:cNvPr id="13" name="">
            <a:extLst xmlns:a="http://schemas.openxmlformats.org/drawingml/2006/main">
              <a:ext uri="{FF2B5EF4-FFF2-40B4-BE49-F238E27FC236}">
                <a16:creationId xmlns:a16="http://schemas.microsoft.com/office/drawing/2014/main" id="{EBA009EB-6120-43C2-A74B-8D95940E380A}"/>
              </a:ext>
            </a:extLst>
          </p:cNvPr>
          <p:cNvSpPr>
            <a:spLocks xmlns:a="http://schemas.openxmlformats.org/drawingml/2006/main" noGrp="1"/>
          </p:cNvSpPr>
          <p:nvPr/>
        </p:nvSpPr>
        <p:spPr>
          <a:xfrm xmlns:a="http://schemas.openxmlformats.org/drawingml/2006/main">
            <a:off x="6572250" y="20955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48A68"/>
                </a:solidFill>
                <a:latin typeface="Arial"/>
                <a:ea typeface="Arial"/>
                <a:cs typeface="Arial"/>
              </a:defRPr>
            </a:pPr>
            <a:r>
              <a:rPr sz="825" b="1">
                <a:solidFill>
                  <a:srgbClr val="148A68"/>
                </a:solidFill>
                <a:latin typeface="Arial"/>
                <a:ea typeface="Arial"/>
                <a:cs typeface="Arial"/>
              </a:rPr>
              <a:t>TEST ORDERED PAIRS</a:t>
            </a:r>
          </a:p>
        </p:txBody>
      </p:sp>
      <p:sp>
        <p:nvSpPr>
          <p:cNvPr id="14" name="">
            <a:extLst xmlns:a="http://schemas.openxmlformats.org/drawingml/2006/main">
              <a:ext uri="{FF2B5EF4-FFF2-40B4-BE49-F238E27FC236}">
                <a16:creationId xmlns:a16="http://schemas.microsoft.com/office/drawing/2014/main" id="{9D9196C8-B350-4D57-8995-2A4BF624EFF8}"/>
              </a:ext>
            </a:extLst>
          </p:cNvPr>
          <p:cNvSpPr>
            <a:spLocks xmlns:a="http://schemas.openxmlformats.org/drawingml/2006/main" noGrp="1"/>
          </p:cNvSpPr>
          <p:nvPr/>
        </p:nvSpPr>
        <p:spPr>
          <a:xfrm xmlns:a="http://schemas.openxmlformats.org/drawingml/2006/main">
            <a:off x="6572250" y="240030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1344E"/>
                </a:solidFill>
                <a:latin typeface="Arial"/>
                <a:ea typeface="Arial"/>
                <a:cs typeface="Arial"/>
              </a:defRPr>
            </a:pPr>
            <a:r>
              <a:rPr sz="1575" b="1">
                <a:solidFill>
                  <a:srgbClr val="11344E"/>
                </a:solidFill>
                <a:latin typeface="Arial"/>
                <a:ea typeface="Arial"/>
                <a:cs typeface="Arial"/>
              </a:rPr>
              <a:t>Substitute both coordinates</a:t>
            </a:r>
          </a:p>
        </p:txBody>
      </p:sp>
      <p:sp>
        <p:nvSpPr>
          <p:cNvPr id="15" name="">
            <a:extLst xmlns:a="http://schemas.openxmlformats.org/drawingml/2006/main">
              <a:ext uri="{FF2B5EF4-FFF2-40B4-BE49-F238E27FC236}">
                <a16:creationId xmlns:a16="http://schemas.microsoft.com/office/drawing/2014/main" id="{4FFD1B97-7686-4E23-A0A5-8A0E42AEDB26}"/>
              </a:ext>
            </a:extLst>
          </p:cNvPr>
          <p:cNvSpPr>
            <a:spLocks xmlns:a="http://schemas.openxmlformats.org/drawingml/2006/main" noGrp="1"/>
          </p:cNvSpPr>
          <p:nvPr/>
        </p:nvSpPr>
        <p:spPr>
          <a:xfrm xmlns:a="http://schemas.openxmlformats.org/drawingml/2006/main">
            <a:off x="6572250" y="2838450"/>
            <a:ext cx="4762500" cy="1066800"/>
          </a:xfrm>
          <a:prstGeom xmlns:a="http://schemas.openxmlformats.org/drawingml/2006/main" prst="roundRect">
            <a:avLst>
              <a:gd name="adj" fmla="val 3571"/>
            </a:avLst>
          </a:prstGeom>
          <a:solidFill xmlns:a="http://schemas.openxmlformats.org/drawingml/2006/main">
            <a:srgbClr val="E3F3EE"/>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148A68"/>
                </a:solidFill>
                <a:latin typeface="Cambria Math"/>
                <a:ea typeface="Cambria Math"/>
                <a:cs typeface="Cambria Math"/>
              </a:defRPr>
            </a:pPr>
            <a:r>
              <a:rPr sz="1650" b="1">
                <a:solidFill>
                  <a:srgbClr val="148A68"/>
                </a:solidFill>
                <a:latin typeface="Cambria Math"/>
                <a:ea typeface="Cambria Math"/>
                <a:cs typeface="Cambria Math"/>
              </a:rPr>
              <a:t>(−2, −9)</a:t>
            </a:r>
          </a:p>
          <a:p xmlns:a="http://schemas.openxmlformats.org/drawingml/2006/main">
            <a:pPr algn="ctr">
              <a:defRPr sz="1650" b="1">
                <a:solidFill>
                  <a:srgbClr val="148A68"/>
                </a:solidFill>
                <a:latin typeface="Cambria Math"/>
                <a:ea typeface="Cambria Math"/>
                <a:cs typeface="Cambria Math"/>
              </a:defRPr>
            </a:pPr>
            <a:r>
              <a:rPr sz="1650" b="1">
                <a:solidFill>
                  <a:srgbClr val="148A68"/>
                </a:solidFill>
                <a:latin typeface="Cambria Math"/>
                <a:ea typeface="Cambria Math"/>
                <a:cs typeface="Cambria Math"/>
              </a:rPr>
              <a:t>3(−2) − 2(−9) = 12</a:t>
            </a:r>
          </a:p>
          <a:p xmlns:a="http://schemas.openxmlformats.org/drawingml/2006/main">
            <a:pPr algn="ctr">
              <a:defRPr sz="1650" b="1">
                <a:solidFill>
                  <a:srgbClr val="148A68"/>
                </a:solidFill>
                <a:latin typeface="Cambria Math"/>
                <a:ea typeface="Cambria Math"/>
                <a:cs typeface="Cambria Math"/>
              </a:defRPr>
            </a:pPr>
            <a:r>
              <a:rPr sz="1650" b="1">
                <a:solidFill>
                  <a:srgbClr val="148A68"/>
                </a:solidFill>
                <a:latin typeface="Cambria Math"/>
                <a:ea typeface="Cambria Math"/>
                <a:cs typeface="Cambria Math"/>
              </a:rPr>
              <a:t>−6 + 18 = 12  ✓</a:t>
            </a:r>
          </a:p>
        </p:txBody>
      </p:sp>
      <p:sp>
        <p:nvSpPr>
          <p:cNvPr id="16" name="">
            <a:extLst xmlns:a="http://schemas.openxmlformats.org/drawingml/2006/main">
              <a:ext uri="{FF2B5EF4-FFF2-40B4-BE49-F238E27FC236}">
                <a16:creationId xmlns:a16="http://schemas.microsoft.com/office/drawing/2014/main" id="{5746B49E-5E2A-41A4-8AEA-A0FC45CC10B6}"/>
              </a:ext>
            </a:extLst>
          </p:cNvPr>
          <p:cNvSpPr>
            <a:spLocks xmlns:a="http://schemas.openxmlformats.org/drawingml/2006/main" noGrp="1"/>
          </p:cNvSpPr>
          <p:nvPr/>
        </p:nvSpPr>
        <p:spPr>
          <a:xfrm xmlns:a="http://schemas.openxmlformats.org/drawingml/2006/main">
            <a:off x="6572250" y="4095750"/>
            <a:ext cx="4762500" cy="1066800"/>
          </a:xfrm>
          <a:prstGeom xmlns:a="http://schemas.openxmlformats.org/drawingml/2006/main" prst="roundRect">
            <a:avLst>
              <a:gd name="adj" fmla="val 3571"/>
            </a:avLst>
          </a:prstGeom>
          <a:solidFill xmlns:a="http://schemas.openxmlformats.org/drawingml/2006/main">
            <a:srgbClr val="FBE7E4"/>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650" b="1">
                <a:solidFill>
                  <a:srgbClr val="D85B50"/>
                </a:solidFill>
                <a:latin typeface="Cambria Math"/>
                <a:ea typeface="Cambria Math"/>
                <a:cs typeface="Cambria Math"/>
              </a:defRPr>
            </a:pPr>
            <a:r>
              <a:rPr sz="1650" b="1">
                <a:solidFill>
                  <a:srgbClr val="D85B50"/>
                </a:solidFill>
                <a:latin typeface="Cambria Math"/>
                <a:ea typeface="Cambria Math"/>
                <a:cs typeface="Cambria Math"/>
              </a:rPr>
              <a:t>(1, −4)</a:t>
            </a:r>
          </a:p>
          <a:p xmlns:a="http://schemas.openxmlformats.org/drawingml/2006/main">
            <a:pPr algn="ctr">
              <a:defRPr sz="1650" b="1">
                <a:solidFill>
                  <a:srgbClr val="D85B50"/>
                </a:solidFill>
                <a:latin typeface="Cambria Math"/>
                <a:ea typeface="Cambria Math"/>
                <a:cs typeface="Cambria Math"/>
              </a:defRPr>
            </a:pPr>
            <a:r>
              <a:rPr sz="1650" b="1">
                <a:solidFill>
                  <a:srgbClr val="D85B50"/>
                </a:solidFill>
                <a:latin typeface="Cambria Math"/>
                <a:ea typeface="Cambria Math"/>
                <a:cs typeface="Cambria Math"/>
              </a:rPr>
              <a:t>3(1) − 2(−4) = 11</a:t>
            </a:r>
          </a:p>
          <a:p xmlns:a="http://schemas.openxmlformats.org/drawingml/2006/main">
            <a:pPr algn="ctr">
              <a:defRPr sz="1650" b="1">
                <a:solidFill>
                  <a:srgbClr val="D85B50"/>
                </a:solidFill>
                <a:latin typeface="Cambria Math"/>
                <a:ea typeface="Cambria Math"/>
                <a:cs typeface="Cambria Math"/>
              </a:defRPr>
            </a:pPr>
            <a:r>
              <a:rPr sz="1650" b="1">
                <a:solidFill>
                  <a:srgbClr val="D85B50"/>
                </a:solidFill>
                <a:latin typeface="Cambria Math"/>
                <a:ea typeface="Cambria Math"/>
                <a:cs typeface="Cambria Math"/>
              </a:rPr>
              <a:t>11 ≠ 12  ✗</a:t>
            </a:r>
          </a:p>
        </p:txBody>
      </p:sp>
      <p:sp>
        <p:nvSpPr>
          <p:cNvPr id="17" name="">
            <a:extLst xmlns:a="http://schemas.openxmlformats.org/drawingml/2006/main">
              <a:ext uri="{FF2B5EF4-FFF2-40B4-BE49-F238E27FC236}">
                <a16:creationId xmlns:a16="http://schemas.microsoft.com/office/drawing/2014/main" id="{5D5D327D-A4D3-4023-BE03-B06CC7F3FC5C}"/>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E31C82-9FBF-4AAF-A3E0-67F3B379FBC4}"/>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A table entry solves for one missing coordinate. A solution check substitutes a complete ordered pair.</a:t>
            </a:r>
          </a:p>
        </p:txBody>
      </p:sp>
    </p:spTree>
    <p:extLst>
      <p:ext uri="{BB962C8B-B14F-4D97-AF65-F5344CB8AC3E}">
        <p14:creationId xmlns:p14="http://schemas.microsoft.com/office/powerpoint/2010/main" val="32799583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C21B713-A190-4C42-9966-F6550A5F8C8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85B5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8F1A56-0DE6-4FE9-A2DE-26B7924AB7ED}"/>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Circle form</a:t>
            </a:r>
          </a:p>
        </p:txBody>
      </p:sp>
      <p:sp>
        <p:nvSpPr>
          <p:cNvPr id="3" name="">
            <a:extLst xmlns:a="http://schemas.openxmlformats.org/drawingml/2006/main">
              <a:ext uri="{FF2B5EF4-FFF2-40B4-BE49-F238E27FC236}">
                <a16:creationId xmlns:a16="http://schemas.microsoft.com/office/drawing/2014/main" id="{2A4D377C-482D-4995-A1A6-A155632A3A45}"/>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The signs inside the parentheses reverse the center coordinates</a:t>
            </a:r>
          </a:p>
        </p:txBody>
      </p:sp>
      <p:sp>
        <p:nvSpPr>
          <p:cNvPr id="4" name="">
            <a:extLst xmlns:a="http://schemas.openxmlformats.org/drawingml/2006/main">
              <a:ext uri="{FF2B5EF4-FFF2-40B4-BE49-F238E27FC236}">
                <a16:creationId xmlns:a16="http://schemas.microsoft.com/office/drawing/2014/main" id="{1DE6D400-E0D7-4EB4-BC3D-A6084012D396}"/>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D85B50"/>
                </a:solidFill>
                <a:latin typeface="Arial"/>
                <a:ea typeface="Arial"/>
                <a:cs typeface="Arial"/>
              </a:defRPr>
            </a:pPr>
            <a:r>
              <a:rPr sz="825" b="1">
                <a:solidFill>
                  <a:srgbClr val="D85B50"/>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B43C2E8C-92DE-4496-9470-9141EDC1B84F}"/>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92F987EF-5785-4CBB-B34C-8C29F8AD153C}"/>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3F0E4DC2-296F-46D6-9EED-04F417DAE472}"/>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15  slide</a:t>
            </a:r>
          </a:p>
        </p:txBody>
      </p:sp>
      <p:sp>
        <p:nvSpPr>
          <p:cNvPr id="8" name="">
            <a:extLst xmlns:a="http://schemas.openxmlformats.org/drawingml/2006/main">
              <a:ext uri="{FF2B5EF4-FFF2-40B4-BE49-F238E27FC236}">
                <a16:creationId xmlns:a16="http://schemas.microsoft.com/office/drawing/2014/main" id="{3D15C295-1822-4704-B17C-7CD6E047275B}"/>
              </a:ext>
            </a:extLst>
          </p:cNvPr>
          <p:cNvSpPr>
            <a:spLocks xmlns:a="http://schemas.openxmlformats.org/drawingml/2006/main" noGrp="1"/>
          </p:cNvSpPr>
          <p:nvPr/>
        </p:nvSpPr>
        <p:spPr>
          <a:xfrm xmlns:a="http://schemas.openxmlformats.org/drawingml/2006/main">
            <a:off x="666750" y="1333500"/>
            <a:ext cx="10858500" cy="723900"/>
          </a:xfrm>
          <a:prstGeom xmlns:a="http://schemas.openxmlformats.org/drawingml/2006/main" prst="roundRect">
            <a:avLst>
              <a:gd name="adj" fmla="val 5263"/>
            </a:avLst>
          </a:prstGeom>
          <a:solidFill xmlns:a="http://schemas.openxmlformats.org/drawingml/2006/main">
            <a:srgbClr val="11344E"/>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850" b="1">
                <a:solidFill>
                  <a:srgbClr val="FFFFFF"/>
                </a:solidFill>
                <a:latin typeface="Cambria Math"/>
                <a:ea typeface="Cambria Math"/>
                <a:cs typeface="Cambria Math"/>
              </a:defRPr>
            </a:pPr>
            <a:r>
              <a:rPr sz="2850" b="1">
                <a:solidFill>
                  <a:srgbClr val="FFFFFF"/>
                </a:solidFill>
                <a:latin typeface="Cambria Math"/>
                <a:ea typeface="Cambria Math"/>
                <a:cs typeface="Cambria Math"/>
              </a:rPr>
              <a:t>(𝑥 − ℎ)² + (𝑦 − 𝑘)² = 𝑟²</a:t>
            </a:r>
          </a:p>
        </p:txBody>
      </p:sp>
      <p:sp>
        <p:nvSpPr>
          <p:cNvPr id="9" name="">
            <a:extLst xmlns:a="http://schemas.openxmlformats.org/drawingml/2006/main">
              <a:ext uri="{FF2B5EF4-FFF2-40B4-BE49-F238E27FC236}">
                <a16:creationId xmlns:a16="http://schemas.microsoft.com/office/drawing/2014/main" id="{01E9DC6D-F591-4232-8026-ECD86A255D47}"/>
              </a:ext>
            </a:extLst>
          </p:cNvPr>
          <p:cNvSpPr>
            <a:spLocks xmlns:a="http://schemas.openxmlformats.org/drawingml/2006/main" noGrp="1"/>
          </p:cNvSpPr>
          <p:nvPr/>
        </p:nvSpPr>
        <p:spPr>
          <a:xfrm xmlns:a="http://schemas.openxmlformats.org/drawingml/2006/main">
            <a:off x="666750" y="2381250"/>
            <a:ext cx="5257800" cy="2647950"/>
          </a:xfrm>
          <a:prstGeom xmlns:a="http://schemas.openxmlformats.org/drawingml/2006/main" prst="roundRect">
            <a:avLst>
              <a:gd name="adj" fmla="val 2158"/>
            </a:avLst>
          </a:prstGeom>
          <a:solidFill xmlns:a="http://schemas.openxmlformats.org/drawingml/2006/main">
            <a:srgbClr val="FBE7E4"/>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0A69525-81B5-4BCC-B308-CA25626912C8}"/>
              </a:ext>
            </a:extLst>
          </p:cNvPr>
          <p:cNvSpPr>
            <a:spLocks xmlns:a="http://schemas.openxmlformats.org/drawingml/2006/main" noGrp="1"/>
          </p:cNvSpPr>
          <p:nvPr/>
        </p:nvSpPr>
        <p:spPr>
          <a:xfrm xmlns:a="http://schemas.openxmlformats.org/drawingml/2006/main">
            <a:off x="895350" y="255270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D85B50"/>
                </a:solidFill>
                <a:latin typeface="Arial"/>
                <a:ea typeface="Arial"/>
                <a:cs typeface="Arial"/>
              </a:defRPr>
            </a:pPr>
            <a:r>
              <a:rPr sz="825" b="1">
                <a:solidFill>
                  <a:srgbClr val="D85B50"/>
                </a:solidFill>
                <a:latin typeface="Arial"/>
                <a:ea typeface="Arial"/>
                <a:cs typeface="Arial"/>
              </a:rPr>
              <a:t>READ AN EQUATION</a:t>
            </a:r>
          </a:p>
        </p:txBody>
      </p:sp>
      <p:sp>
        <p:nvSpPr>
          <p:cNvPr id="11" name="">
            <a:extLst xmlns:a="http://schemas.openxmlformats.org/drawingml/2006/main">
              <a:ext uri="{FF2B5EF4-FFF2-40B4-BE49-F238E27FC236}">
                <a16:creationId xmlns:a16="http://schemas.microsoft.com/office/drawing/2014/main" id="{11BFA6FB-9A93-4DBF-A232-D74790EC81C7}"/>
              </a:ext>
            </a:extLst>
          </p:cNvPr>
          <p:cNvSpPr>
            <a:spLocks xmlns:a="http://schemas.openxmlformats.org/drawingml/2006/main" noGrp="1"/>
          </p:cNvSpPr>
          <p:nvPr/>
        </p:nvSpPr>
        <p:spPr>
          <a:xfrm xmlns:a="http://schemas.openxmlformats.org/drawingml/2006/main">
            <a:off x="895350" y="451485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The radius is the positive square root of 9.</a:t>
            </a:r>
          </a:p>
        </p:txBody>
      </p:sp>
      <p:sp>
        <p:nvSpPr>
          <p:cNvPr id="12" name="">
            <a:extLst xmlns:a="http://schemas.openxmlformats.org/drawingml/2006/main">
              <a:ext uri="{FF2B5EF4-FFF2-40B4-BE49-F238E27FC236}">
                <a16:creationId xmlns:a16="http://schemas.microsoft.com/office/drawing/2014/main" id="{399236B4-6AB7-4D20-A035-D38486358E53}"/>
              </a:ext>
            </a:extLst>
          </p:cNvPr>
          <p:cNvSpPr>
            <a:spLocks xmlns:a="http://schemas.openxmlformats.org/drawingml/2006/main" noGrp="1"/>
          </p:cNvSpPr>
          <p:nvPr/>
        </p:nvSpPr>
        <p:spPr>
          <a:xfrm xmlns:a="http://schemas.openxmlformats.org/drawingml/2006/main">
            <a:off x="895350" y="3048000"/>
            <a:ext cx="4800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025" b="1">
                <a:solidFill>
                  <a:srgbClr val="11344E"/>
                </a:solidFill>
                <a:latin typeface="Cambria Math"/>
                <a:ea typeface="Cambria Math"/>
                <a:cs typeface="Cambria Math"/>
              </a:defRPr>
            </a:pPr>
            <a:r>
              <a:rPr sz="2025" b="1">
                <a:solidFill>
                  <a:srgbClr val="11344E"/>
                </a:solidFill>
                <a:latin typeface="Cambria Math"/>
                <a:ea typeface="Cambria Math"/>
                <a:cs typeface="Cambria Math"/>
              </a:rPr>
              <a:t>(𝑥 + 4)² + (𝑦 − 1)² = 9</a:t>
            </a:r>
          </a:p>
        </p:txBody>
      </p:sp>
      <p:sp>
        <p:nvSpPr>
          <p:cNvPr id="13" name="">
            <a:extLst xmlns:a="http://schemas.openxmlformats.org/drawingml/2006/main">
              <a:ext uri="{FF2B5EF4-FFF2-40B4-BE49-F238E27FC236}">
                <a16:creationId xmlns:a16="http://schemas.microsoft.com/office/drawing/2014/main" id="{9DF8BEA7-BD76-4AA8-B966-CFB6A7C50113}"/>
              </a:ext>
            </a:extLst>
          </p:cNvPr>
          <p:cNvSpPr>
            <a:spLocks xmlns:a="http://schemas.openxmlformats.org/drawingml/2006/main" noGrp="1"/>
          </p:cNvSpPr>
          <p:nvPr/>
        </p:nvSpPr>
        <p:spPr>
          <a:xfrm xmlns:a="http://schemas.openxmlformats.org/drawingml/2006/main">
            <a:off x="895350" y="3619500"/>
            <a:ext cx="4800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1344E"/>
                </a:solidFill>
                <a:latin typeface="Cambria Math"/>
                <a:ea typeface="Cambria Math"/>
                <a:cs typeface="Cambria Math"/>
              </a:defRPr>
            </a:pPr>
            <a:r>
              <a:rPr sz="1800" b="1">
                <a:solidFill>
                  <a:srgbClr val="11344E"/>
                </a:solidFill>
                <a:latin typeface="Cambria Math"/>
                <a:ea typeface="Cambria Math"/>
                <a:cs typeface="Cambria Math"/>
              </a:rPr>
              <a:t>Center (−4, 1), 𝑟 = 3</a:t>
            </a:r>
          </a:p>
        </p:txBody>
      </p:sp>
      <p:sp>
        <p:nvSpPr>
          <p:cNvPr id="14" name="">
            <a:extLst xmlns:a="http://schemas.openxmlformats.org/drawingml/2006/main">
              <a:ext uri="{FF2B5EF4-FFF2-40B4-BE49-F238E27FC236}">
                <a16:creationId xmlns:a16="http://schemas.microsoft.com/office/drawing/2014/main" id="{DC5DF35C-AB9C-4206-B7B0-16E17E7035DD}"/>
              </a:ext>
            </a:extLst>
          </p:cNvPr>
          <p:cNvSpPr>
            <a:spLocks xmlns:a="http://schemas.openxmlformats.org/drawingml/2006/main" noGrp="1"/>
          </p:cNvSpPr>
          <p:nvPr/>
        </p:nvSpPr>
        <p:spPr>
          <a:xfrm xmlns:a="http://schemas.openxmlformats.org/drawingml/2006/main">
            <a:off x="6267450" y="2381250"/>
            <a:ext cx="5257800" cy="2647950"/>
          </a:xfrm>
          <a:prstGeom xmlns:a="http://schemas.openxmlformats.org/drawingml/2006/main" prst="roundRect">
            <a:avLst>
              <a:gd name="adj" fmla="val 2158"/>
            </a:avLst>
          </a:prstGeom>
          <a:solidFill xmlns:a="http://schemas.openxmlformats.org/drawingml/2006/main">
            <a:srgbClr val="FFF2D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1662D06-F863-418B-9573-9573C53D1723}"/>
              </a:ext>
            </a:extLst>
          </p:cNvPr>
          <p:cNvSpPr>
            <a:spLocks xmlns:a="http://schemas.openxmlformats.org/drawingml/2006/main" noGrp="1"/>
          </p:cNvSpPr>
          <p:nvPr/>
        </p:nvSpPr>
        <p:spPr>
          <a:xfrm xmlns:a="http://schemas.openxmlformats.org/drawingml/2006/main">
            <a:off x="6496050" y="2552700"/>
            <a:ext cx="4800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2AD12"/>
                </a:solidFill>
                <a:latin typeface="Arial"/>
                <a:ea typeface="Arial"/>
                <a:cs typeface="Arial"/>
              </a:defRPr>
            </a:pPr>
            <a:r>
              <a:rPr sz="825" b="1">
                <a:solidFill>
                  <a:srgbClr val="F2AD12"/>
                </a:solidFill>
                <a:latin typeface="Arial"/>
                <a:ea typeface="Arial"/>
                <a:cs typeface="Arial"/>
              </a:rPr>
              <a:t>WRITE FROM A DIAMETER</a:t>
            </a:r>
          </a:p>
        </p:txBody>
      </p:sp>
      <p:sp>
        <p:nvSpPr>
          <p:cNvPr id="16" name="">
            <a:extLst xmlns:a="http://schemas.openxmlformats.org/drawingml/2006/main">
              <a:ext uri="{FF2B5EF4-FFF2-40B4-BE49-F238E27FC236}">
                <a16:creationId xmlns:a16="http://schemas.microsoft.com/office/drawing/2014/main" id="{8BFD8416-FEA5-4DD8-AB4C-692B0387ED32}"/>
              </a:ext>
            </a:extLst>
          </p:cNvPr>
          <p:cNvSpPr>
            <a:spLocks xmlns:a="http://schemas.openxmlformats.org/drawingml/2006/main" noGrp="1"/>
          </p:cNvSpPr>
          <p:nvPr/>
        </p:nvSpPr>
        <p:spPr>
          <a:xfrm xmlns:a="http://schemas.openxmlformats.org/drawingml/2006/main">
            <a:off x="6496050" y="4514850"/>
            <a:ext cx="4800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050" b="0">
                <a:solidFill>
                  <a:srgbClr val="687783"/>
                </a:solidFill>
                <a:latin typeface="Arial"/>
                <a:ea typeface="Arial"/>
                <a:cs typeface="Arial"/>
              </a:defRPr>
            </a:pPr>
            <a:r>
              <a:rPr sz="1050" b="0">
                <a:solidFill>
                  <a:srgbClr val="687783"/>
                </a:solidFill>
                <a:latin typeface="Arial"/>
                <a:ea typeface="Arial"/>
                <a:cs typeface="Arial"/>
              </a:rPr>
              <a:t>Divide the diameter by 2 before squaring.</a:t>
            </a:r>
          </a:p>
        </p:txBody>
      </p:sp>
      <p:sp>
        <p:nvSpPr>
          <p:cNvPr id="17" name="">
            <a:extLst xmlns:a="http://schemas.openxmlformats.org/drawingml/2006/main">
              <a:ext uri="{FF2B5EF4-FFF2-40B4-BE49-F238E27FC236}">
                <a16:creationId xmlns:a16="http://schemas.microsoft.com/office/drawing/2014/main" id="{7205D2E2-6692-4B28-8AD3-11ABD8B2AE66}"/>
              </a:ext>
            </a:extLst>
          </p:cNvPr>
          <p:cNvSpPr>
            <a:spLocks xmlns:a="http://schemas.openxmlformats.org/drawingml/2006/main" noGrp="1"/>
          </p:cNvSpPr>
          <p:nvPr/>
        </p:nvSpPr>
        <p:spPr>
          <a:xfrm xmlns:a="http://schemas.openxmlformats.org/drawingml/2006/main">
            <a:off x="6496050" y="2933700"/>
            <a:ext cx="480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1">
                <a:solidFill>
                  <a:srgbClr val="11344E"/>
                </a:solidFill>
                <a:latin typeface="Cambria Math"/>
                <a:ea typeface="Cambria Math"/>
                <a:cs typeface="Cambria Math"/>
              </a:defRPr>
            </a:pPr>
            <a:r>
              <a:rPr sz="1575" b="1">
                <a:solidFill>
                  <a:srgbClr val="11344E"/>
                </a:solidFill>
                <a:latin typeface="Cambria Math"/>
                <a:ea typeface="Cambria Math"/>
                <a:cs typeface="Cambria Math"/>
              </a:rPr>
              <a:t>Center (3, −2), diameter = 10</a:t>
            </a:r>
          </a:p>
        </p:txBody>
      </p:sp>
      <p:sp>
        <p:nvSpPr>
          <p:cNvPr id="18" name="">
            <a:extLst xmlns:a="http://schemas.openxmlformats.org/drawingml/2006/main">
              <a:ext uri="{FF2B5EF4-FFF2-40B4-BE49-F238E27FC236}">
                <a16:creationId xmlns:a16="http://schemas.microsoft.com/office/drawing/2014/main" id="{09AB21B1-69F3-4FD5-BF2F-6FEC0E61F150}"/>
              </a:ext>
            </a:extLst>
          </p:cNvPr>
          <p:cNvSpPr>
            <a:spLocks xmlns:a="http://schemas.openxmlformats.org/drawingml/2006/main" noGrp="1"/>
          </p:cNvSpPr>
          <p:nvPr/>
        </p:nvSpPr>
        <p:spPr>
          <a:xfrm xmlns:a="http://schemas.openxmlformats.org/drawingml/2006/main">
            <a:off x="7486650" y="3371850"/>
            <a:ext cx="5143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1344E"/>
                </a:solidFill>
                <a:latin typeface="Cambria Math"/>
                <a:ea typeface="Cambria Math"/>
                <a:cs typeface="Cambria Math"/>
              </a:defRPr>
            </a:pPr>
            <a:r>
              <a:rPr sz="1800" b="1">
                <a:solidFill>
                  <a:srgbClr val="11344E"/>
                </a:solidFill>
                <a:latin typeface="Cambria Math"/>
                <a:ea typeface="Cambria Math"/>
                <a:cs typeface="Cambria Math"/>
              </a:rPr>
              <a:t>𝑟 =</a:t>
            </a:r>
          </a:p>
        </p:txBody>
      </p:sp>
      <p:sp>
        <p:nvSpPr>
          <p:cNvPr id="19" name="">
            <a:extLst xmlns:a="http://schemas.openxmlformats.org/drawingml/2006/main">
              <a:ext uri="{FF2B5EF4-FFF2-40B4-BE49-F238E27FC236}">
                <a16:creationId xmlns:a16="http://schemas.microsoft.com/office/drawing/2014/main" id="{493933E9-B3EB-4BD3-9911-274AE9AACB67}"/>
              </a:ext>
            </a:extLst>
          </p:cNvPr>
          <p:cNvSpPr>
            <a:spLocks xmlns:a="http://schemas.openxmlformats.org/drawingml/2006/main" noGrp="1"/>
          </p:cNvSpPr>
          <p:nvPr/>
        </p:nvSpPr>
        <p:spPr>
          <a:xfrm xmlns:a="http://schemas.openxmlformats.org/drawingml/2006/main">
            <a:off x="8020050" y="333375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275" b="1">
                <a:solidFill>
                  <a:srgbClr val="11344E"/>
                </a:solidFill>
                <a:latin typeface="Cambria Math"/>
                <a:ea typeface="Cambria Math"/>
                <a:cs typeface="Cambria Math"/>
              </a:defRPr>
            </a:pPr>
            <a:r>
              <a:rPr sz="1275" b="1">
                <a:solidFill>
                  <a:srgbClr val="11344E"/>
                </a:solidFill>
                <a:latin typeface="Cambria Math"/>
                <a:ea typeface="Cambria Math"/>
                <a:cs typeface="Cambria Math"/>
              </a:rPr>
              <a:t>10</a:t>
            </a:r>
          </a:p>
        </p:txBody>
      </p:sp>
      <p:sp>
        <p:nvSpPr>
          <p:cNvPr id="20" name="">
            <a:extLst xmlns:a="http://schemas.openxmlformats.org/drawingml/2006/main">
              <a:ext uri="{FF2B5EF4-FFF2-40B4-BE49-F238E27FC236}">
                <a16:creationId xmlns:a16="http://schemas.microsoft.com/office/drawing/2014/main" id="{251A1110-1062-4891-8846-4116793F24A5}"/>
              </a:ext>
            </a:extLst>
          </p:cNvPr>
          <p:cNvSpPr>
            <a:spLocks xmlns:a="http://schemas.openxmlformats.org/drawingml/2006/main" noGrp="1"/>
          </p:cNvSpPr>
          <p:nvPr/>
        </p:nvSpPr>
        <p:spPr>
          <a:xfrm xmlns:a="http://schemas.openxmlformats.org/drawingml/2006/main">
            <a:off x="8048625" y="3638550"/>
            <a:ext cx="571500" cy="0"/>
          </a:xfrm>
          <a:prstGeom xmlns:a="http://schemas.openxmlformats.org/drawingml/2006/main" prst="line">
            <a:avLst/>
          </a:prstGeom>
          <a:noFill xmlns:a="http://schemas.openxmlformats.org/drawingml/2006/main"/>
          <a:ln xmlns:a="http://schemas.openxmlformats.org/drawingml/2006/main" w="15240">
            <a:solidFill>
              <a:srgbClr val="11344E"/>
            </a:solidFill>
            <a:prstDash val="solid"/>
          </a:ln>
        </p:spPr>
      </p:sp>
      <p:sp>
        <p:nvSpPr>
          <p:cNvPr id="21" name="">
            <a:extLst xmlns:a="http://schemas.openxmlformats.org/drawingml/2006/main">
              <a:ext uri="{FF2B5EF4-FFF2-40B4-BE49-F238E27FC236}">
                <a16:creationId xmlns:a16="http://schemas.microsoft.com/office/drawing/2014/main" id="{7B9C2BB7-99A8-4EFD-A6B2-149BB49DB713}"/>
              </a:ext>
            </a:extLst>
          </p:cNvPr>
          <p:cNvSpPr>
            <a:spLocks xmlns:a="http://schemas.openxmlformats.org/drawingml/2006/main" noGrp="1"/>
          </p:cNvSpPr>
          <p:nvPr/>
        </p:nvSpPr>
        <p:spPr>
          <a:xfrm xmlns:a="http://schemas.openxmlformats.org/drawingml/2006/main">
            <a:off x="8020050" y="3657600"/>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11344E"/>
                </a:solidFill>
                <a:latin typeface="Cambria Math"/>
                <a:ea typeface="Cambria Math"/>
                <a:cs typeface="Cambria Math"/>
              </a:defRPr>
            </a:pPr>
            <a:r>
              <a:rPr sz="1275" b="1">
                <a:solidFill>
                  <a:srgbClr val="11344E"/>
                </a:solidFill>
                <a:latin typeface="Cambria Math"/>
                <a:ea typeface="Cambria Math"/>
                <a:cs typeface="Cambria Math"/>
              </a:rPr>
              <a:t>2</a:t>
            </a:r>
          </a:p>
        </p:txBody>
      </p:sp>
      <p:sp>
        <p:nvSpPr>
          <p:cNvPr id="22" name="">
            <a:extLst xmlns:a="http://schemas.openxmlformats.org/drawingml/2006/main">
              <a:ext uri="{FF2B5EF4-FFF2-40B4-BE49-F238E27FC236}">
                <a16:creationId xmlns:a16="http://schemas.microsoft.com/office/drawing/2014/main" id="{A4C768F3-972C-4D87-8453-4AA5271A0169}"/>
              </a:ext>
            </a:extLst>
          </p:cNvPr>
          <p:cNvSpPr>
            <a:spLocks xmlns:a="http://schemas.openxmlformats.org/drawingml/2006/main" noGrp="1"/>
          </p:cNvSpPr>
          <p:nvPr/>
        </p:nvSpPr>
        <p:spPr>
          <a:xfrm xmlns:a="http://schemas.openxmlformats.org/drawingml/2006/main">
            <a:off x="8686800" y="3371850"/>
            <a:ext cx="59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1344E"/>
                </a:solidFill>
                <a:latin typeface="Cambria Math"/>
                <a:ea typeface="Cambria Math"/>
                <a:cs typeface="Cambria Math"/>
              </a:defRPr>
            </a:pPr>
            <a:r>
              <a:rPr sz="1800" b="1">
                <a:solidFill>
                  <a:srgbClr val="11344E"/>
                </a:solidFill>
                <a:latin typeface="Cambria Math"/>
                <a:ea typeface="Cambria Math"/>
                <a:cs typeface="Cambria Math"/>
              </a:rPr>
              <a:t>= 5</a:t>
            </a:r>
          </a:p>
        </p:txBody>
      </p:sp>
      <p:sp>
        <p:nvSpPr>
          <p:cNvPr id="23" name="">
            <a:extLst xmlns:a="http://schemas.openxmlformats.org/drawingml/2006/main">
              <a:ext uri="{FF2B5EF4-FFF2-40B4-BE49-F238E27FC236}">
                <a16:creationId xmlns:a16="http://schemas.microsoft.com/office/drawing/2014/main" id="{1A7C73F0-F2AC-4937-ADBF-33FD059C5944}"/>
              </a:ext>
            </a:extLst>
          </p:cNvPr>
          <p:cNvSpPr>
            <a:spLocks xmlns:a="http://schemas.openxmlformats.org/drawingml/2006/main" noGrp="1"/>
          </p:cNvSpPr>
          <p:nvPr/>
        </p:nvSpPr>
        <p:spPr>
          <a:xfrm xmlns:a="http://schemas.openxmlformats.org/drawingml/2006/main">
            <a:off x="6496050" y="4000500"/>
            <a:ext cx="4800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75" b="1">
                <a:solidFill>
                  <a:srgbClr val="11344E"/>
                </a:solidFill>
                <a:latin typeface="Cambria Math"/>
                <a:ea typeface="Cambria Math"/>
                <a:cs typeface="Cambria Math"/>
              </a:defRPr>
            </a:pPr>
            <a:r>
              <a:rPr sz="1875" b="1">
                <a:solidFill>
                  <a:srgbClr val="11344E"/>
                </a:solidFill>
                <a:latin typeface="Cambria Math"/>
                <a:ea typeface="Cambria Math"/>
                <a:cs typeface="Cambria Math"/>
              </a:rPr>
              <a:t>(𝑥 − 3)² + (𝑦 + 2)² = 25</a:t>
            </a:r>
          </a:p>
        </p:txBody>
      </p:sp>
      <p:sp>
        <p:nvSpPr>
          <p:cNvPr id="24" name="">
            <a:extLst xmlns:a="http://schemas.openxmlformats.org/drawingml/2006/main">
              <a:ext uri="{FF2B5EF4-FFF2-40B4-BE49-F238E27FC236}">
                <a16:creationId xmlns:a16="http://schemas.microsoft.com/office/drawing/2014/main" id="{21AD9AAD-1212-4901-963B-CFE5CE78A7D0}"/>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3F3E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6968636-ED73-47C9-9971-2317361B05FA}"/>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48A68"/>
                </a:solidFill>
                <a:latin typeface="Arial"/>
                <a:ea typeface="Arial"/>
                <a:cs typeface="Arial"/>
              </a:defRPr>
            </a:pPr>
            <a:r>
              <a:rPr sz="1200" b="1">
                <a:solidFill>
                  <a:srgbClr val="148A68"/>
                </a:solidFill>
                <a:latin typeface="Arial"/>
                <a:ea typeface="Arial"/>
                <a:cs typeface="Arial"/>
              </a:rPr>
              <a:t>Center signs reverse inside the factors. Diameter ÷ 2 = radius.</a:t>
            </a:r>
          </a:p>
        </p:txBody>
      </p:sp>
    </p:spTree>
    <p:extLst>
      <p:ext uri="{BB962C8B-B14F-4D97-AF65-F5344CB8AC3E}">
        <p14:creationId xmlns:p14="http://schemas.microsoft.com/office/powerpoint/2010/main" val="9000343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1D68716-C6F9-4380-A63B-A0CCDFEA344F}"/>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777B4"/>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1BBF27-66F4-4A52-9EBD-9507A59914CB}"/>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Quadratic application: rectangle</a:t>
            </a:r>
          </a:p>
        </p:txBody>
      </p:sp>
      <p:sp>
        <p:nvSpPr>
          <p:cNvPr id="3" name="">
            <a:extLst xmlns:a="http://schemas.openxmlformats.org/drawingml/2006/main">
              <a:ext uri="{FF2B5EF4-FFF2-40B4-BE49-F238E27FC236}">
                <a16:creationId xmlns:a16="http://schemas.microsoft.com/office/drawing/2014/main" id="{B0F08D75-E601-49B0-ADFC-8FBEF7D5B8AA}"/>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Define the width, write the area equation, and interpret the solutions</a:t>
            </a:r>
          </a:p>
        </p:txBody>
      </p:sp>
      <p:sp>
        <p:nvSpPr>
          <p:cNvPr id="4" name="">
            <a:extLst xmlns:a="http://schemas.openxmlformats.org/drawingml/2006/main">
              <a:ext uri="{FF2B5EF4-FFF2-40B4-BE49-F238E27FC236}">
                <a16:creationId xmlns:a16="http://schemas.microsoft.com/office/drawing/2014/main" id="{A47EB0A9-F8A3-4C98-8F3C-A1A088E4465A}"/>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777B4"/>
                </a:solidFill>
                <a:latin typeface="Arial"/>
                <a:ea typeface="Arial"/>
                <a:cs typeface="Arial"/>
              </a:defRPr>
            </a:pPr>
            <a:r>
              <a:rPr sz="825" b="1">
                <a:solidFill>
                  <a:srgbClr val="1777B4"/>
                </a:solidFill>
                <a:latin typeface="Arial"/>
                <a:ea typeface="Arial"/>
                <a:cs typeface="Arial"/>
              </a:rPr>
              <a:t>MODEL</a:t>
            </a:r>
          </a:p>
        </p:txBody>
      </p:sp>
      <p:sp>
        <p:nvSpPr>
          <p:cNvPr id="5" name="">
            <a:extLst xmlns:a="http://schemas.openxmlformats.org/drawingml/2006/main">
              <a:ext uri="{FF2B5EF4-FFF2-40B4-BE49-F238E27FC236}">
                <a16:creationId xmlns:a16="http://schemas.microsoft.com/office/drawing/2014/main" id="{3ADAFCCC-F9D1-4FD5-AA38-1DF792E1C520}"/>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B2950FED-10FF-417F-BEF0-051A3228DA6C}"/>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BF1DDB7E-6DF5-4E30-A35C-DE36105BCF41}"/>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16  slide</a:t>
            </a:r>
          </a:p>
        </p:txBody>
      </p:sp>
      <p:sp>
        <p:nvSpPr>
          <p:cNvPr id="8" name="">
            <a:extLst xmlns:a="http://schemas.openxmlformats.org/drawingml/2006/main">
              <a:ext uri="{FF2B5EF4-FFF2-40B4-BE49-F238E27FC236}">
                <a16:creationId xmlns:a16="http://schemas.microsoft.com/office/drawing/2014/main" id="{89225EF0-F53F-4D0D-B762-408DCDF5E890}"/>
              </a:ext>
            </a:extLst>
          </p:cNvPr>
          <p:cNvSpPr>
            <a:spLocks xmlns:a="http://schemas.openxmlformats.org/drawingml/2006/main" noGrp="1"/>
          </p:cNvSpPr>
          <p:nvPr/>
        </p:nvSpPr>
        <p:spPr>
          <a:xfrm xmlns:a="http://schemas.openxmlformats.org/drawingml/2006/main">
            <a:off x="666750" y="1295400"/>
            <a:ext cx="10858500" cy="781050"/>
          </a:xfrm>
          <a:prstGeom xmlns:a="http://schemas.openxmlformats.org/drawingml/2006/main" prst="roundRect">
            <a:avLst>
              <a:gd name="adj" fmla="val 4878"/>
            </a:avLst>
          </a:prstGeom>
          <a:solidFill xmlns:a="http://schemas.openxmlformats.org/drawingml/2006/main">
            <a:srgbClr val="FFF2D6"/>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1">
                <a:solidFill>
                  <a:srgbClr val="11344E"/>
                </a:solidFill>
                <a:latin typeface="Arial"/>
                <a:ea typeface="Arial"/>
                <a:cs typeface="Arial"/>
              </a:defRPr>
            </a:pPr>
            <a:r>
              <a:rPr sz="1800" b="1">
                <a:solidFill>
                  <a:srgbClr val="11344E"/>
                </a:solidFill>
                <a:latin typeface="Arial"/>
                <a:ea typeface="Arial"/>
                <a:cs typeface="Arial"/>
              </a:rPr>
              <a:t>A rectangle has area 54 ft². Its length is 3 ft more than its width.</a:t>
            </a:r>
          </a:p>
        </p:txBody>
      </p:sp>
      <p:sp>
        <p:nvSpPr>
          <p:cNvPr id="9" name="">
            <a:extLst xmlns:a="http://schemas.openxmlformats.org/drawingml/2006/main">
              <a:ext uri="{FF2B5EF4-FFF2-40B4-BE49-F238E27FC236}">
                <a16:creationId xmlns:a16="http://schemas.microsoft.com/office/drawing/2014/main" id="{5BADF058-477A-4544-8065-66275218A106}"/>
              </a:ext>
            </a:extLst>
          </p:cNvPr>
          <p:cNvSpPr>
            <a:spLocks xmlns:a="http://schemas.openxmlformats.org/drawingml/2006/main" noGrp="1"/>
          </p:cNvSpPr>
          <p:nvPr/>
        </p:nvSpPr>
        <p:spPr>
          <a:xfrm xmlns:a="http://schemas.openxmlformats.org/drawingml/2006/main">
            <a:off x="666750" y="2190750"/>
            <a:ext cx="10858500" cy="552450"/>
          </a:xfrm>
          <a:prstGeom xmlns:a="http://schemas.openxmlformats.org/drawingml/2006/main" prst="roundRect">
            <a:avLst>
              <a:gd name="adj" fmla="val 6897"/>
            </a:avLst>
          </a:prstGeom>
          <a:solidFill xmlns:a="http://schemas.openxmlformats.org/drawingml/2006/main">
            <a:srgbClr val="E4F2F8"/>
          </a:solidFill>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2100" b="1">
                <a:solidFill>
                  <a:srgbClr val="11344E"/>
                </a:solidFill>
                <a:latin typeface="Cambria Math"/>
                <a:ea typeface="Cambria Math"/>
                <a:cs typeface="Cambria Math"/>
              </a:defRPr>
            </a:pPr>
            <a:r>
              <a:rPr sz="2100" b="1">
                <a:solidFill>
                  <a:srgbClr val="11344E"/>
                </a:solidFill>
                <a:latin typeface="Cambria Math"/>
                <a:ea typeface="Cambria Math"/>
                <a:cs typeface="Cambria Math"/>
              </a:rPr>
              <a:t>width = 𝑥     length = 𝑥 + 3</a:t>
            </a:r>
          </a:p>
        </p:txBody>
      </p:sp>
      <p:sp>
        <p:nvSpPr>
          <p:cNvPr id="10" name="">
            <a:extLst xmlns:a="http://schemas.openxmlformats.org/drawingml/2006/main">
              <a:ext uri="{FF2B5EF4-FFF2-40B4-BE49-F238E27FC236}">
                <a16:creationId xmlns:a16="http://schemas.microsoft.com/office/drawing/2014/main" id="{48A93673-5F36-4AB8-A85E-9E5E41EC699F}"/>
              </a:ext>
            </a:extLst>
          </p:cNvPr>
          <p:cNvSpPr>
            <a:spLocks xmlns:a="http://schemas.openxmlformats.org/drawingml/2006/main" noGrp="1"/>
          </p:cNvSpPr>
          <p:nvPr/>
        </p:nvSpPr>
        <p:spPr>
          <a:xfrm xmlns:a="http://schemas.openxmlformats.org/drawingml/2006/main">
            <a:off x="781050" y="294322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694ACF3-D465-4A0F-B05D-2A270AF2B6CD}"/>
              </a:ext>
            </a:extLst>
          </p:cNvPr>
          <p:cNvSpPr>
            <a:spLocks xmlns:a="http://schemas.openxmlformats.org/drawingml/2006/main" noGrp="1"/>
          </p:cNvSpPr>
          <p:nvPr/>
        </p:nvSpPr>
        <p:spPr>
          <a:xfrm xmlns:a="http://schemas.openxmlformats.org/drawingml/2006/main">
            <a:off x="781050" y="29432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7E488AA3-EE40-4363-8EED-5F67BC05A05E}"/>
              </a:ext>
            </a:extLst>
          </p:cNvPr>
          <p:cNvSpPr>
            <a:spLocks xmlns:a="http://schemas.openxmlformats.org/drawingml/2006/main" noGrp="1"/>
          </p:cNvSpPr>
          <p:nvPr/>
        </p:nvSpPr>
        <p:spPr>
          <a:xfrm xmlns:a="http://schemas.openxmlformats.org/drawingml/2006/main">
            <a:off x="1409700" y="28956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Area equation: 𝑥(𝑥 + 3) = 54</a:t>
            </a:r>
          </a:p>
        </p:txBody>
      </p:sp>
      <p:sp>
        <p:nvSpPr>
          <p:cNvPr id="13" name="">
            <a:extLst xmlns:a="http://schemas.openxmlformats.org/drawingml/2006/main">
              <a:ext uri="{FF2B5EF4-FFF2-40B4-BE49-F238E27FC236}">
                <a16:creationId xmlns:a16="http://schemas.microsoft.com/office/drawing/2014/main" id="{5B169599-E9D2-41C9-B462-DF1F0DEEB95A}"/>
              </a:ext>
            </a:extLst>
          </p:cNvPr>
          <p:cNvSpPr>
            <a:spLocks xmlns:a="http://schemas.openxmlformats.org/drawingml/2006/main" noGrp="1"/>
          </p:cNvSpPr>
          <p:nvPr/>
        </p:nvSpPr>
        <p:spPr>
          <a:xfrm xmlns:a="http://schemas.openxmlformats.org/drawingml/2006/main">
            <a:off x="781050" y="355282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6BADF1E-9525-494E-B96C-5BC25F0ED0C1}"/>
              </a:ext>
            </a:extLst>
          </p:cNvPr>
          <p:cNvSpPr>
            <a:spLocks xmlns:a="http://schemas.openxmlformats.org/drawingml/2006/main" noGrp="1"/>
          </p:cNvSpPr>
          <p:nvPr/>
        </p:nvSpPr>
        <p:spPr>
          <a:xfrm xmlns:a="http://schemas.openxmlformats.org/drawingml/2006/main">
            <a:off x="781050" y="35528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5" name="">
            <a:extLst xmlns:a="http://schemas.openxmlformats.org/drawingml/2006/main">
              <a:ext uri="{FF2B5EF4-FFF2-40B4-BE49-F238E27FC236}">
                <a16:creationId xmlns:a16="http://schemas.microsoft.com/office/drawing/2014/main" id="{C5BFEF2A-E305-44F8-887B-B63F0E9C63B0}"/>
              </a:ext>
            </a:extLst>
          </p:cNvPr>
          <p:cNvSpPr>
            <a:spLocks xmlns:a="http://schemas.openxmlformats.org/drawingml/2006/main" noGrp="1"/>
          </p:cNvSpPr>
          <p:nvPr/>
        </p:nvSpPr>
        <p:spPr>
          <a:xfrm xmlns:a="http://schemas.openxmlformats.org/drawingml/2006/main">
            <a:off x="1409700" y="35052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Standard form: 𝑥² + 3𝑥 − 54 = 0</a:t>
            </a:r>
          </a:p>
        </p:txBody>
      </p:sp>
      <p:sp>
        <p:nvSpPr>
          <p:cNvPr id="16" name="">
            <a:extLst xmlns:a="http://schemas.openxmlformats.org/drawingml/2006/main">
              <a:ext uri="{FF2B5EF4-FFF2-40B4-BE49-F238E27FC236}">
                <a16:creationId xmlns:a16="http://schemas.microsoft.com/office/drawing/2014/main" id="{4BE4254A-7015-445E-B1DE-53B70384AF5C}"/>
              </a:ext>
            </a:extLst>
          </p:cNvPr>
          <p:cNvSpPr>
            <a:spLocks xmlns:a="http://schemas.openxmlformats.org/drawingml/2006/main" noGrp="1"/>
          </p:cNvSpPr>
          <p:nvPr/>
        </p:nvSpPr>
        <p:spPr>
          <a:xfrm xmlns:a="http://schemas.openxmlformats.org/drawingml/2006/main">
            <a:off x="781050" y="416242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4CD88B-B36B-4234-A6E7-D8554828B996}"/>
              </a:ext>
            </a:extLst>
          </p:cNvPr>
          <p:cNvSpPr>
            <a:spLocks xmlns:a="http://schemas.openxmlformats.org/drawingml/2006/main" noGrp="1"/>
          </p:cNvSpPr>
          <p:nvPr/>
        </p:nvSpPr>
        <p:spPr>
          <a:xfrm xmlns:a="http://schemas.openxmlformats.org/drawingml/2006/main">
            <a:off x="781050" y="4162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8" name="">
            <a:extLst xmlns:a="http://schemas.openxmlformats.org/drawingml/2006/main">
              <a:ext uri="{FF2B5EF4-FFF2-40B4-BE49-F238E27FC236}">
                <a16:creationId xmlns:a16="http://schemas.microsoft.com/office/drawing/2014/main" id="{973FE7BD-63CE-4BDA-A357-EB83624594F7}"/>
              </a:ext>
            </a:extLst>
          </p:cNvPr>
          <p:cNvSpPr>
            <a:spLocks xmlns:a="http://schemas.openxmlformats.org/drawingml/2006/main" noGrp="1"/>
          </p:cNvSpPr>
          <p:nvPr/>
        </p:nvSpPr>
        <p:spPr>
          <a:xfrm xmlns:a="http://schemas.openxmlformats.org/drawingml/2006/main">
            <a:off x="1409700" y="41148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Factor: (𝑥 + 9)(𝑥 − 6) = 0</a:t>
            </a:r>
          </a:p>
        </p:txBody>
      </p:sp>
      <p:sp>
        <p:nvSpPr>
          <p:cNvPr id="19" name="">
            <a:extLst xmlns:a="http://schemas.openxmlformats.org/drawingml/2006/main">
              <a:ext uri="{FF2B5EF4-FFF2-40B4-BE49-F238E27FC236}">
                <a16:creationId xmlns:a16="http://schemas.microsoft.com/office/drawing/2014/main" id="{7E791BC2-8B39-4730-8ABD-7106C1B90E59}"/>
              </a:ext>
            </a:extLst>
          </p:cNvPr>
          <p:cNvSpPr>
            <a:spLocks xmlns:a="http://schemas.openxmlformats.org/drawingml/2006/main" noGrp="1"/>
          </p:cNvSpPr>
          <p:nvPr/>
        </p:nvSpPr>
        <p:spPr>
          <a:xfrm xmlns:a="http://schemas.openxmlformats.org/drawingml/2006/main">
            <a:off x="781050" y="4772025"/>
            <a:ext cx="400050" cy="400050"/>
          </a:xfrm>
          <a:prstGeom xmlns:a="http://schemas.openxmlformats.org/drawingml/2006/main" prst="roundRect">
            <a:avLst>
              <a:gd name="adj" fmla="val 9524"/>
            </a:avLst>
          </a:prstGeom>
          <a:solidFill xmlns:a="http://schemas.openxmlformats.org/drawingml/2006/main">
            <a:srgbClr val="1777B4"/>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5187B7C-1573-4458-B1C5-F626922FDD0F}"/>
              </a:ext>
            </a:extLst>
          </p:cNvPr>
          <p:cNvSpPr>
            <a:spLocks xmlns:a="http://schemas.openxmlformats.org/drawingml/2006/main" noGrp="1"/>
          </p:cNvSpPr>
          <p:nvPr/>
        </p:nvSpPr>
        <p:spPr>
          <a:xfrm xmlns:a="http://schemas.openxmlformats.org/drawingml/2006/main">
            <a:off x="781050" y="47720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5BE62A02-7349-487F-896B-6A97718C741D}"/>
              </a:ext>
            </a:extLst>
          </p:cNvPr>
          <p:cNvSpPr>
            <a:spLocks xmlns:a="http://schemas.openxmlformats.org/drawingml/2006/main" noGrp="1"/>
          </p:cNvSpPr>
          <p:nvPr/>
        </p:nvSpPr>
        <p:spPr>
          <a:xfrm xmlns:a="http://schemas.openxmlformats.org/drawingml/2006/main">
            <a:off x="1409700" y="47244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18364D"/>
                </a:solidFill>
                <a:latin typeface="Arial"/>
                <a:ea typeface="Arial"/>
                <a:cs typeface="Arial"/>
              </a:defRPr>
            </a:pPr>
            <a:r>
              <a:rPr sz="1500" b="0">
                <a:solidFill>
                  <a:srgbClr val="18364D"/>
                </a:solidFill>
                <a:latin typeface="Arial"/>
                <a:ea typeface="Arial"/>
                <a:cs typeface="Arial"/>
              </a:rPr>
              <a:t>Solutions: 𝑥 = −9 or 𝑥 = 6. Reject −9 as a length.</a:t>
            </a:r>
          </a:p>
        </p:txBody>
      </p:sp>
      <p:sp>
        <p:nvSpPr>
          <p:cNvPr id="22" name="">
            <a:extLst xmlns:a="http://schemas.openxmlformats.org/drawingml/2006/main">
              <a:ext uri="{FF2B5EF4-FFF2-40B4-BE49-F238E27FC236}">
                <a16:creationId xmlns:a16="http://schemas.microsoft.com/office/drawing/2014/main" id="{135AF214-3E1F-42F6-9902-063160DDAAE7}"/>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3F3EE"/>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A74EF7C-3E63-4665-BE1F-0FFF6C388357}"/>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48A68"/>
                </a:solidFill>
                <a:latin typeface="Arial"/>
                <a:ea typeface="Arial"/>
                <a:cs typeface="Arial"/>
              </a:defRPr>
            </a:pPr>
            <a:r>
              <a:rPr sz="1200" b="1">
                <a:solidFill>
                  <a:srgbClr val="148A68"/>
                </a:solidFill>
                <a:latin typeface="Arial"/>
                <a:ea typeface="Arial"/>
                <a:cs typeface="Arial"/>
              </a:rPr>
              <a:t>The rectangle is 6 ft by 9 ft. The context decides which algebraic solution is valid.</a:t>
            </a:r>
          </a:p>
        </p:txBody>
      </p:sp>
    </p:spTree>
    <p:extLst>
      <p:ext uri="{BB962C8B-B14F-4D97-AF65-F5344CB8AC3E}">
        <p14:creationId xmlns:p14="http://schemas.microsoft.com/office/powerpoint/2010/main" val="188102709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3279F4-4166-44B7-8FD2-1FC812595E6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94D036-B165-44B5-8417-787DA071CCEE}"/>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Quiz 3 mixed practice A</a:t>
            </a:r>
          </a:p>
        </p:txBody>
      </p:sp>
      <p:sp>
        <p:nvSpPr>
          <p:cNvPr id="3" name="">
            <a:extLst xmlns:a="http://schemas.openxmlformats.org/drawingml/2006/main">
              <a:ext uri="{FF2B5EF4-FFF2-40B4-BE49-F238E27FC236}">
                <a16:creationId xmlns:a16="http://schemas.microsoft.com/office/drawing/2014/main" id="{38B7B19C-F07F-429B-8022-5916B13D5658}"/>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Set up all three problems before choosing one to finish</a:t>
            </a:r>
          </a:p>
        </p:txBody>
      </p:sp>
      <p:sp>
        <p:nvSpPr>
          <p:cNvPr id="4" name="">
            <a:extLst xmlns:a="http://schemas.openxmlformats.org/drawingml/2006/main">
              <a:ext uri="{FF2B5EF4-FFF2-40B4-BE49-F238E27FC236}">
                <a16:creationId xmlns:a16="http://schemas.microsoft.com/office/drawing/2014/main" id="{9AE89AC9-B82B-4D9B-8CFB-CDB0A5AD269A}"/>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PRACTICE</a:t>
            </a:r>
          </a:p>
        </p:txBody>
      </p:sp>
      <p:sp>
        <p:nvSpPr>
          <p:cNvPr id="5" name="">
            <a:extLst xmlns:a="http://schemas.openxmlformats.org/drawingml/2006/main">
              <a:ext uri="{FF2B5EF4-FFF2-40B4-BE49-F238E27FC236}">
                <a16:creationId xmlns:a16="http://schemas.microsoft.com/office/drawing/2014/main" id="{19674592-24B1-4F1A-B4DA-CB7B3BD0C13C}"/>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6BB0E37C-DF26-43F1-AA96-A45CC9284101}"/>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895F1CA7-BD1C-4186-8540-154168521AF6}"/>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17  slide</a:t>
            </a:r>
          </a:p>
        </p:txBody>
      </p:sp>
      <p:sp>
        <p:nvSpPr>
          <p:cNvPr id="8" name="">
            <a:extLst xmlns:a="http://schemas.openxmlformats.org/drawingml/2006/main">
              <a:ext uri="{FF2B5EF4-FFF2-40B4-BE49-F238E27FC236}">
                <a16:creationId xmlns:a16="http://schemas.microsoft.com/office/drawing/2014/main" id="{C1D8B8B4-72C7-436E-BAC2-60F0DB23E5CA}"/>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7377AC-1089-4A75-887F-A6F3DA483602}"/>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0ED17B61-7AC5-4392-A93B-7FC8041D3B94}"/>
              </a:ext>
            </a:extLst>
          </p:cNvPr>
          <p:cNvSpPr>
            <a:spLocks xmlns:a="http://schemas.openxmlformats.org/drawingml/2006/main" noGrp="1"/>
          </p:cNvSpPr>
          <p:nvPr/>
        </p:nvSpPr>
        <p:spPr>
          <a:xfrm xmlns:a="http://schemas.openxmlformats.org/drawingml/2006/main">
            <a:off x="1409700" y="14668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For (−1, 4) and (5, −4), find midpoint and exact distance.</a:t>
            </a:r>
          </a:p>
        </p:txBody>
      </p:sp>
      <p:sp>
        <p:nvSpPr>
          <p:cNvPr id="11" name="">
            <a:extLst xmlns:a="http://schemas.openxmlformats.org/drawingml/2006/main">
              <a:ext uri="{FF2B5EF4-FFF2-40B4-BE49-F238E27FC236}">
                <a16:creationId xmlns:a16="http://schemas.microsoft.com/office/drawing/2014/main" id="{743B1964-AC87-485F-9AE8-E50BB5FF7672}"/>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A5321D6-C748-44EA-8B6E-2A439137D7CF}"/>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5551C64-5A2B-48B9-A609-2A2F7EFDBFFD}"/>
              </a:ext>
            </a:extLst>
          </p:cNvPr>
          <p:cNvSpPr>
            <a:spLocks xmlns:a="http://schemas.openxmlformats.org/drawingml/2006/main" noGrp="1"/>
          </p:cNvSpPr>
          <p:nvPr/>
        </p:nvSpPr>
        <p:spPr>
          <a:xfrm xmlns:a="http://schemas.openxmlformats.org/drawingml/2006/main">
            <a:off x="1409700" y="25908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Find the slope and equation of the line through (−3, 2) and (1, 10).</a:t>
            </a:r>
          </a:p>
        </p:txBody>
      </p:sp>
      <p:sp>
        <p:nvSpPr>
          <p:cNvPr id="14" name="">
            <a:extLst xmlns:a="http://schemas.openxmlformats.org/drawingml/2006/main">
              <a:ext uri="{FF2B5EF4-FFF2-40B4-BE49-F238E27FC236}">
                <a16:creationId xmlns:a16="http://schemas.microsoft.com/office/drawing/2014/main" id="{FBFBAD99-9A4B-490B-9987-905402C88C72}"/>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3E4AAE8-31E8-4138-8790-98C6253A3865}"/>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56E7916D-E651-4754-B5BB-EA3145291058}"/>
              </a:ext>
            </a:extLst>
          </p:cNvPr>
          <p:cNvSpPr>
            <a:spLocks xmlns:a="http://schemas.openxmlformats.org/drawingml/2006/main" noGrp="1"/>
          </p:cNvSpPr>
          <p:nvPr/>
        </p:nvSpPr>
        <p:spPr>
          <a:xfrm xmlns:a="http://schemas.openxmlformats.org/drawingml/2006/main">
            <a:off x="1409700" y="37147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Find all intercepts of 𝑦 = 𝑥³ − 25𝑥. Factor completely.</a:t>
            </a:r>
          </a:p>
        </p:txBody>
      </p:sp>
      <p:sp>
        <p:nvSpPr>
          <p:cNvPr id="17" name="">
            <a:extLst xmlns:a="http://schemas.openxmlformats.org/drawingml/2006/main">
              <a:ext uri="{FF2B5EF4-FFF2-40B4-BE49-F238E27FC236}">
                <a16:creationId xmlns:a16="http://schemas.microsoft.com/office/drawing/2014/main" id="{EEAB7527-3600-47CC-9EB8-9BD8033200A4}"/>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C93051F-67AB-4A0A-B7FC-BE53E9563251}"/>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If you are stuck, write the relevant formula or define the unknown first.</a:t>
            </a:r>
          </a:p>
        </p:txBody>
      </p:sp>
    </p:spTree>
    <p:extLst>
      <p:ext uri="{BB962C8B-B14F-4D97-AF65-F5344CB8AC3E}">
        <p14:creationId xmlns:p14="http://schemas.microsoft.com/office/powerpoint/2010/main" val="17357091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E4D9FA5-3F6A-4272-AF08-8775E1A6E610}"/>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E9C117-43CF-41F9-BA7F-C9AED9519EB0}"/>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Quiz 3 mixed practice B</a:t>
            </a:r>
          </a:p>
        </p:txBody>
      </p:sp>
      <p:sp>
        <p:nvSpPr>
          <p:cNvPr id="3" name="">
            <a:extLst xmlns:a="http://schemas.openxmlformats.org/drawingml/2006/main">
              <a:ext uri="{FF2B5EF4-FFF2-40B4-BE49-F238E27FC236}">
                <a16:creationId xmlns:a16="http://schemas.microsoft.com/office/drawing/2014/main" id="{0996B087-A514-4EFD-8FC6-B05B8813DD08}"/>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Set up all three problems before choosing one to finish</a:t>
            </a:r>
          </a:p>
        </p:txBody>
      </p:sp>
      <p:sp>
        <p:nvSpPr>
          <p:cNvPr id="4" name="">
            <a:extLst xmlns:a="http://schemas.openxmlformats.org/drawingml/2006/main">
              <a:ext uri="{FF2B5EF4-FFF2-40B4-BE49-F238E27FC236}">
                <a16:creationId xmlns:a16="http://schemas.microsoft.com/office/drawing/2014/main" id="{4D5D494A-35FE-4352-9C50-073C1AA5D398}"/>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PRACTICE</a:t>
            </a:r>
          </a:p>
        </p:txBody>
      </p:sp>
      <p:sp>
        <p:nvSpPr>
          <p:cNvPr id="5" name="">
            <a:extLst xmlns:a="http://schemas.openxmlformats.org/drawingml/2006/main">
              <a:ext uri="{FF2B5EF4-FFF2-40B4-BE49-F238E27FC236}">
                <a16:creationId xmlns:a16="http://schemas.microsoft.com/office/drawing/2014/main" id="{F79D01C2-8837-4042-9C63-1699EA9FA38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87F01071-CF13-4E8B-9C55-984AB06D8853}"/>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B318DD10-A028-4EB8-AA6F-2223F9FE392F}"/>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18  slide</a:t>
            </a:r>
          </a:p>
        </p:txBody>
      </p:sp>
      <p:sp>
        <p:nvSpPr>
          <p:cNvPr id="8" name="">
            <a:extLst xmlns:a="http://schemas.openxmlformats.org/drawingml/2006/main">
              <a:ext uri="{FF2B5EF4-FFF2-40B4-BE49-F238E27FC236}">
                <a16:creationId xmlns:a16="http://schemas.microsoft.com/office/drawing/2014/main" id="{321E5B8C-B090-4C57-A956-F8009064DC18}"/>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6A1D61-147B-4670-A72D-716F427D6CB8}"/>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BD7D0C6F-21F3-484B-BF60-05604869933A}"/>
              </a:ext>
            </a:extLst>
          </p:cNvPr>
          <p:cNvSpPr>
            <a:spLocks xmlns:a="http://schemas.openxmlformats.org/drawingml/2006/main" noGrp="1"/>
          </p:cNvSpPr>
          <p:nvPr/>
        </p:nvSpPr>
        <p:spPr>
          <a:xfrm xmlns:a="http://schemas.openxmlformats.org/drawingml/2006/main">
            <a:off x="1409700" y="14668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For 2𝑥 − 𝑦 = 4, find 𝑦 when 𝑥 = 0. Test whether (3, 2) is a solution.</a:t>
            </a:r>
          </a:p>
        </p:txBody>
      </p:sp>
      <p:sp>
        <p:nvSpPr>
          <p:cNvPr id="11" name="">
            <a:extLst xmlns:a="http://schemas.openxmlformats.org/drawingml/2006/main">
              <a:ext uri="{FF2B5EF4-FFF2-40B4-BE49-F238E27FC236}">
                <a16:creationId xmlns:a16="http://schemas.microsoft.com/office/drawing/2014/main" id="{9C0FA521-1D56-406F-9EFA-7E13E2055B0E}"/>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29E88DD-F810-4E48-878A-A91EFB639C7C}"/>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40B2CC20-4AA3-41A9-90C1-A3CEDDBDAF31}"/>
              </a:ext>
            </a:extLst>
          </p:cNvPr>
          <p:cNvSpPr>
            <a:spLocks xmlns:a="http://schemas.openxmlformats.org/drawingml/2006/main" noGrp="1"/>
          </p:cNvSpPr>
          <p:nvPr/>
        </p:nvSpPr>
        <p:spPr>
          <a:xfrm xmlns:a="http://schemas.openxmlformats.org/drawingml/2006/main">
            <a:off x="1409700" y="25908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For (𝑥 − 2)² + (𝑦 + 3)² = 49, state center and radius. Then use center (−4, 1) and diameter 12 to write another circle.</a:t>
            </a:r>
          </a:p>
        </p:txBody>
      </p:sp>
      <p:sp>
        <p:nvSpPr>
          <p:cNvPr id="14" name="">
            <a:extLst xmlns:a="http://schemas.openxmlformats.org/drawingml/2006/main">
              <a:ext uri="{FF2B5EF4-FFF2-40B4-BE49-F238E27FC236}">
                <a16:creationId xmlns:a16="http://schemas.microsoft.com/office/drawing/2014/main" id="{01C2E579-EBC6-4927-8DCF-325F18B58E9A}"/>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B76778A-178C-41BE-9BFF-A673A437D46E}"/>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D112C3F0-DA1C-4AEC-9F3C-D5C47A9EE22A}"/>
              </a:ext>
            </a:extLst>
          </p:cNvPr>
          <p:cNvSpPr>
            <a:spLocks xmlns:a="http://schemas.openxmlformats.org/drawingml/2006/main" noGrp="1"/>
          </p:cNvSpPr>
          <p:nvPr/>
        </p:nvSpPr>
        <p:spPr>
          <a:xfrm xmlns:a="http://schemas.openxmlformats.org/drawingml/2006/main">
            <a:off x="1409700" y="37147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A rectangle has area 88 ft². Its length is 3 ft more than its width. Find both dimensions.</a:t>
            </a:r>
          </a:p>
        </p:txBody>
      </p:sp>
      <p:sp>
        <p:nvSpPr>
          <p:cNvPr id="17" name="">
            <a:extLst xmlns:a="http://schemas.openxmlformats.org/drawingml/2006/main">
              <a:ext uri="{FF2B5EF4-FFF2-40B4-BE49-F238E27FC236}">
                <a16:creationId xmlns:a16="http://schemas.microsoft.com/office/drawing/2014/main" id="{4022762E-0851-452C-BFF0-6166CC49DBF5}"/>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582AD44-B88D-45EA-9F64-AF7D3E1ED13E}"/>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Write units on the rectangle variable and final dimensions.</a:t>
            </a:r>
          </a:p>
        </p:txBody>
      </p:sp>
    </p:spTree>
    <p:extLst>
      <p:ext uri="{BB962C8B-B14F-4D97-AF65-F5344CB8AC3E}">
        <p14:creationId xmlns:p14="http://schemas.microsoft.com/office/powerpoint/2010/main" val="12979124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D7C6F7A-8CD2-421B-B4CD-07F5EBEFF7E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BA9A7D-BFAA-44B6-BB60-302713872638}"/>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Mixed-practice check A</a:t>
            </a:r>
          </a:p>
        </p:txBody>
      </p:sp>
      <p:sp>
        <p:nvSpPr>
          <p:cNvPr id="3" name="">
            <a:extLst xmlns:a="http://schemas.openxmlformats.org/drawingml/2006/main">
              <a:ext uri="{FF2B5EF4-FFF2-40B4-BE49-F238E27FC236}">
                <a16:creationId xmlns:a16="http://schemas.microsoft.com/office/drawing/2014/main" id="{962AA7E4-FDF4-434E-BE5F-CC82367B4D9D}"/>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Mark one item for another attempt before Wednesday</a:t>
            </a:r>
          </a:p>
        </p:txBody>
      </p:sp>
      <p:sp>
        <p:nvSpPr>
          <p:cNvPr id="4" name="">
            <a:extLst xmlns:a="http://schemas.openxmlformats.org/drawingml/2006/main">
              <a:ext uri="{FF2B5EF4-FFF2-40B4-BE49-F238E27FC236}">
                <a16:creationId xmlns:a16="http://schemas.microsoft.com/office/drawing/2014/main" id="{7CB997F6-480A-47DE-A94B-7B3D886C9634}"/>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CHECK</a:t>
            </a:r>
          </a:p>
        </p:txBody>
      </p:sp>
      <p:sp>
        <p:nvSpPr>
          <p:cNvPr id="5" name="">
            <a:extLst xmlns:a="http://schemas.openxmlformats.org/drawingml/2006/main">
              <a:ext uri="{FF2B5EF4-FFF2-40B4-BE49-F238E27FC236}">
                <a16:creationId xmlns:a16="http://schemas.microsoft.com/office/drawing/2014/main" id="{2A2162E5-CF44-45E7-B651-F81DD7D5E8AD}"/>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635090D6-D6C4-4C5B-AC70-F0D0C5284CE2}"/>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8E96B07D-DAD2-47EA-8DD2-5BBA01EB2BC9}"/>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19  slide</a:t>
            </a:r>
          </a:p>
        </p:txBody>
      </p:sp>
      <p:sp>
        <p:nvSpPr>
          <p:cNvPr id="8" name="">
            <a:extLst xmlns:a="http://schemas.openxmlformats.org/drawingml/2006/main">
              <a:ext uri="{FF2B5EF4-FFF2-40B4-BE49-F238E27FC236}">
                <a16:creationId xmlns:a16="http://schemas.microsoft.com/office/drawing/2014/main" id="{3CB90B8A-2904-4FC1-9112-E48B02A0F73C}"/>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AA0E7A3-8739-4BB1-92B1-5659614B64D2}"/>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7A242FB1-6C8D-41D7-BCA3-9B6FC8BE4895}"/>
              </a:ext>
            </a:extLst>
          </p:cNvPr>
          <p:cNvSpPr>
            <a:spLocks xmlns:a="http://schemas.openxmlformats.org/drawingml/2006/main" noGrp="1"/>
          </p:cNvSpPr>
          <p:nvPr/>
        </p:nvSpPr>
        <p:spPr>
          <a:xfrm xmlns:a="http://schemas.openxmlformats.org/drawingml/2006/main">
            <a:off x="1409700" y="14668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Midpoint (2, 0). Distance 10.</a:t>
            </a:r>
          </a:p>
        </p:txBody>
      </p:sp>
      <p:sp>
        <p:nvSpPr>
          <p:cNvPr id="11" name="">
            <a:extLst xmlns:a="http://schemas.openxmlformats.org/drawingml/2006/main">
              <a:ext uri="{FF2B5EF4-FFF2-40B4-BE49-F238E27FC236}">
                <a16:creationId xmlns:a16="http://schemas.microsoft.com/office/drawing/2014/main" id="{E49E3E65-F0AD-4FD2-816B-996589E66E23}"/>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32CDF94-4F9B-4063-9AA9-DA9E048BEF98}"/>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EE1DB870-49FC-423F-AA8A-5EF15728E70D}"/>
              </a:ext>
            </a:extLst>
          </p:cNvPr>
          <p:cNvSpPr>
            <a:spLocks xmlns:a="http://schemas.openxmlformats.org/drawingml/2006/main" noGrp="1"/>
          </p:cNvSpPr>
          <p:nvPr/>
        </p:nvSpPr>
        <p:spPr>
          <a:xfrm xmlns:a="http://schemas.openxmlformats.org/drawingml/2006/main">
            <a:off x="1409700" y="25908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𝑚 = 2 and 𝑦 = 2𝑥 + 8.</a:t>
            </a:r>
          </a:p>
        </p:txBody>
      </p:sp>
      <p:sp>
        <p:nvSpPr>
          <p:cNvPr id="14" name="">
            <a:extLst xmlns:a="http://schemas.openxmlformats.org/drawingml/2006/main">
              <a:ext uri="{FF2B5EF4-FFF2-40B4-BE49-F238E27FC236}">
                <a16:creationId xmlns:a16="http://schemas.microsoft.com/office/drawing/2014/main" id="{C1D215DA-5A34-434B-80D9-AFA9766A4CC9}"/>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494FE37-91F8-4B97-8CBF-17F524BFE009}"/>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E15FDEC4-E519-46C7-A82C-F993E7A7821B}"/>
              </a:ext>
            </a:extLst>
          </p:cNvPr>
          <p:cNvSpPr>
            <a:spLocks xmlns:a="http://schemas.openxmlformats.org/drawingml/2006/main" noGrp="1"/>
          </p:cNvSpPr>
          <p:nvPr/>
        </p:nvSpPr>
        <p:spPr>
          <a:xfrm xmlns:a="http://schemas.openxmlformats.org/drawingml/2006/main">
            <a:off x="1409700" y="37147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0">
                <a:solidFill>
                  <a:srgbClr val="18364D"/>
                </a:solidFill>
                <a:latin typeface="Arial"/>
                <a:ea typeface="Arial"/>
                <a:cs typeface="Arial"/>
              </a:defRPr>
            </a:pPr>
            <a:r>
              <a:rPr sz="1725" b="0">
                <a:solidFill>
                  <a:srgbClr val="18364D"/>
                </a:solidFill>
                <a:latin typeface="Arial"/>
                <a:ea typeface="Arial"/>
                <a:cs typeface="Arial"/>
              </a:rPr>
              <a:t>𝑥(𝑥 − 5)(𝑥 + 5) = 0. Intercepts (−5, 0), (0, 0), and (5, 0).</a:t>
            </a:r>
          </a:p>
        </p:txBody>
      </p:sp>
      <p:sp>
        <p:nvSpPr>
          <p:cNvPr id="17" name="">
            <a:extLst xmlns:a="http://schemas.openxmlformats.org/drawingml/2006/main">
              <a:ext uri="{FF2B5EF4-FFF2-40B4-BE49-F238E27FC236}">
                <a16:creationId xmlns:a16="http://schemas.microsoft.com/office/drawing/2014/main" id="{DDA1637C-79C2-48C6-96BD-34385CA0CB82}"/>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3F3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2CF174B-C374-42A3-903F-7B3EF46D5D9B}"/>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48A68"/>
                </a:solidFill>
                <a:latin typeface="Arial"/>
                <a:ea typeface="Arial"/>
                <a:cs typeface="Arial"/>
              </a:defRPr>
            </a:pPr>
            <a:r>
              <a:rPr sz="1200" b="1">
                <a:solidFill>
                  <a:srgbClr val="148A68"/>
                </a:solidFill>
                <a:latin typeface="Arial"/>
                <a:ea typeface="Arial"/>
                <a:cs typeface="Arial"/>
              </a:rPr>
              <a:t>A complete check uses the original points, equation, or physical context.</a:t>
            </a:r>
          </a:p>
        </p:txBody>
      </p:sp>
    </p:spTree>
    <p:extLst>
      <p:ext uri="{BB962C8B-B14F-4D97-AF65-F5344CB8AC3E}">
        <p14:creationId xmlns:p14="http://schemas.microsoft.com/office/powerpoint/2010/main" val="88867641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C1B8BD4-9681-4C57-AB88-5D017370731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9652EF-1804-4082-82D8-BF1A1AA8AB11}"/>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Mixed-practice check B</a:t>
            </a:r>
          </a:p>
        </p:txBody>
      </p:sp>
      <p:sp>
        <p:nvSpPr>
          <p:cNvPr id="3" name="">
            <a:extLst xmlns:a="http://schemas.openxmlformats.org/drawingml/2006/main">
              <a:ext uri="{FF2B5EF4-FFF2-40B4-BE49-F238E27FC236}">
                <a16:creationId xmlns:a16="http://schemas.microsoft.com/office/drawing/2014/main" id="{B9B8164E-4517-4043-981F-69CB64D48733}"/>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Mark one item for another attempt before Wednesday</a:t>
            </a:r>
          </a:p>
        </p:txBody>
      </p:sp>
      <p:sp>
        <p:nvSpPr>
          <p:cNvPr id="4" name="">
            <a:extLst xmlns:a="http://schemas.openxmlformats.org/drawingml/2006/main">
              <a:ext uri="{FF2B5EF4-FFF2-40B4-BE49-F238E27FC236}">
                <a16:creationId xmlns:a16="http://schemas.microsoft.com/office/drawing/2014/main" id="{71BD8E51-6F48-4955-8F98-2B132518D415}"/>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CHECK</a:t>
            </a:r>
          </a:p>
        </p:txBody>
      </p:sp>
      <p:sp>
        <p:nvSpPr>
          <p:cNvPr id="5" name="">
            <a:extLst xmlns:a="http://schemas.openxmlformats.org/drawingml/2006/main">
              <a:ext uri="{FF2B5EF4-FFF2-40B4-BE49-F238E27FC236}">
                <a16:creationId xmlns:a16="http://schemas.microsoft.com/office/drawing/2014/main" id="{22CAF453-78B7-4618-BDE4-54EAF68726C7}"/>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4E1669D9-BD0B-484A-BA00-1402AA9E6A91}"/>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B2DB31D4-17E5-4F57-BED1-53FF07F4C96E}"/>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20  slide</a:t>
            </a:r>
          </a:p>
        </p:txBody>
      </p:sp>
      <p:sp>
        <p:nvSpPr>
          <p:cNvPr id="8" name="">
            <a:extLst xmlns:a="http://schemas.openxmlformats.org/drawingml/2006/main">
              <a:ext uri="{FF2B5EF4-FFF2-40B4-BE49-F238E27FC236}">
                <a16:creationId xmlns:a16="http://schemas.microsoft.com/office/drawing/2014/main" id="{4F75B919-187F-4AD7-AC36-400808B8480B}"/>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0572B1-A1F0-469F-B603-44E41233099F}"/>
              </a:ext>
            </a:extLst>
          </p:cNvPr>
          <p:cNvSpPr>
            <a:spLocks xmlns:a="http://schemas.openxmlformats.org/drawingml/2006/main" noGrp="1"/>
          </p:cNvSpPr>
          <p:nvPr/>
        </p:nvSpPr>
        <p:spPr>
          <a:xfrm xmlns:a="http://schemas.openxmlformats.org/drawingml/2006/main">
            <a:off x="781050" y="1514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63E913DC-E7A8-47F1-B92B-BB56B784AE04}"/>
              </a:ext>
            </a:extLst>
          </p:cNvPr>
          <p:cNvSpPr>
            <a:spLocks xmlns:a="http://schemas.openxmlformats.org/drawingml/2006/main" noGrp="1"/>
          </p:cNvSpPr>
          <p:nvPr/>
        </p:nvSpPr>
        <p:spPr>
          <a:xfrm xmlns:a="http://schemas.openxmlformats.org/drawingml/2006/main">
            <a:off x="1409700" y="14668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𝑥 = 0 gives 𝑦 = −4. The point (3, 2) works because 6 − 2 = 4.</a:t>
            </a:r>
          </a:p>
        </p:txBody>
      </p:sp>
      <p:sp>
        <p:nvSpPr>
          <p:cNvPr id="11" name="">
            <a:extLst xmlns:a="http://schemas.openxmlformats.org/drawingml/2006/main">
              <a:ext uri="{FF2B5EF4-FFF2-40B4-BE49-F238E27FC236}">
                <a16:creationId xmlns:a16="http://schemas.microsoft.com/office/drawing/2014/main" id="{132B4FA0-0F39-4A9D-A8CD-2787C4CA5356}"/>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8913D62-4081-4336-873C-FE1E0B0C5E0B}"/>
              </a:ext>
            </a:extLst>
          </p:cNvPr>
          <p:cNvSpPr>
            <a:spLocks xmlns:a="http://schemas.openxmlformats.org/drawingml/2006/main" noGrp="1"/>
          </p:cNvSpPr>
          <p:nvPr/>
        </p:nvSpPr>
        <p:spPr>
          <a:xfrm xmlns:a="http://schemas.openxmlformats.org/drawingml/2006/main">
            <a:off x="781050" y="263842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FBFCC226-B968-4C31-B6FC-6050D1DFD237}"/>
              </a:ext>
            </a:extLst>
          </p:cNvPr>
          <p:cNvSpPr>
            <a:spLocks xmlns:a="http://schemas.openxmlformats.org/drawingml/2006/main" noGrp="1"/>
          </p:cNvSpPr>
          <p:nvPr/>
        </p:nvSpPr>
        <p:spPr>
          <a:xfrm xmlns:a="http://schemas.openxmlformats.org/drawingml/2006/main">
            <a:off x="1409700" y="259080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Center (2, −3), radius 7. The second circle is (𝑥 + 4)² + (𝑦 − 1)² = 36.</a:t>
            </a:r>
          </a:p>
        </p:txBody>
      </p:sp>
      <p:sp>
        <p:nvSpPr>
          <p:cNvPr id="14" name="">
            <a:extLst xmlns:a="http://schemas.openxmlformats.org/drawingml/2006/main">
              <a:ext uri="{FF2B5EF4-FFF2-40B4-BE49-F238E27FC236}">
                <a16:creationId xmlns:a16="http://schemas.microsoft.com/office/drawing/2014/main" id="{FE69DD40-C571-4844-B4EC-C0CA3BFF1813}"/>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oundRect">
            <a:avLst>
              <a:gd name="adj" fmla="val 9524"/>
            </a:avLst>
          </a:prstGeom>
          <a:solidFill xmlns:a="http://schemas.openxmlformats.org/drawingml/2006/main">
            <a:srgbClr val="148A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8CEA691-98F5-4684-ACD2-2F4885A5960B}"/>
              </a:ext>
            </a:extLst>
          </p:cNvPr>
          <p:cNvSpPr>
            <a:spLocks xmlns:a="http://schemas.openxmlformats.org/drawingml/2006/main" noGrp="1"/>
          </p:cNvSpPr>
          <p:nvPr/>
        </p:nvSpPr>
        <p:spPr>
          <a:xfrm xmlns:a="http://schemas.openxmlformats.org/drawingml/2006/main">
            <a:off x="781050" y="3762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5DDF97B5-0FDB-473B-ABD0-BFF38C5B267E}"/>
              </a:ext>
            </a:extLst>
          </p:cNvPr>
          <p:cNvSpPr>
            <a:spLocks xmlns:a="http://schemas.openxmlformats.org/drawingml/2006/main" noGrp="1"/>
          </p:cNvSpPr>
          <p:nvPr/>
        </p:nvSpPr>
        <p:spPr>
          <a:xfrm xmlns:a="http://schemas.openxmlformats.org/drawingml/2006/main">
            <a:off x="1409700" y="37147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𝑥(𝑥 + 3) = 88 gives 𝑥 = 8. Dimensions 8 ft by 11 ft.</a:t>
            </a:r>
          </a:p>
        </p:txBody>
      </p:sp>
      <p:sp>
        <p:nvSpPr>
          <p:cNvPr id="17" name="">
            <a:extLst xmlns:a="http://schemas.openxmlformats.org/drawingml/2006/main">
              <a:ext uri="{FF2B5EF4-FFF2-40B4-BE49-F238E27FC236}">
                <a16:creationId xmlns:a16="http://schemas.microsoft.com/office/drawing/2014/main" id="{12B87B4E-CE10-4B3B-8E13-712376C78CB4}"/>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3F3EE"/>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EB20165-37E5-4928-A79F-7AD768F380D3}"/>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48A68"/>
                </a:solidFill>
                <a:latin typeface="Arial"/>
                <a:ea typeface="Arial"/>
                <a:cs typeface="Arial"/>
              </a:defRPr>
            </a:pPr>
            <a:r>
              <a:rPr sz="1200" b="1">
                <a:solidFill>
                  <a:srgbClr val="148A68"/>
                </a:solidFill>
                <a:latin typeface="Arial"/>
                <a:ea typeface="Arial"/>
                <a:cs typeface="Arial"/>
              </a:rPr>
              <a:t>A complete check uses the original points, equation, or physical context.</a:t>
            </a:r>
          </a:p>
        </p:txBody>
      </p:sp>
    </p:spTree>
    <p:extLst>
      <p:ext uri="{BB962C8B-B14F-4D97-AF65-F5344CB8AC3E}">
        <p14:creationId xmlns:p14="http://schemas.microsoft.com/office/powerpoint/2010/main" val="110463883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667667A-5F70-4C1E-A035-67C0748204B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8A6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9730B5-A1EF-4842-9DC0-A7959D80E384}"/>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Quiz 3 error checklist</a:t>
            </a:r>
          </a:p>
        </p:txBody>
      </p:sp>
      <p:sp>
        <p:nvSpPr>
          <p:cNvPr id="3" name="">
            <a:extLst xmlns:a="http://schemas.openxmlformats.org/drawingml/2006/main">
              <a:ext uri="{FF2B5EF4-FFF2-40B4-BE49-F238E27FC236}">
                <a16:creationId xmlns:a16="http://schemas.microsoft.com/office/drawing/2014/main" id="{F4B8D339-DD9B-49B9-A711-C487110B78F4}"/>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Most lost points come from setup and interpretation</a:t>
            </a:r>
          </a:p>
        </p:txBody>
      </p:sp>
      <p:sp>
        <p:nvSpPr>
          <p:cNvPr id="4" name="">
            <a:extLst xmlns:a="http://schemas.openxmlformats.org/drawingml/2006/main">
              <a:ext uri="{FF2B5EF4-FFF2-40B4-BE49-F238E27FC236}">
                <a16:creationId xmlns:a16="http://schemas.microsoft.com/office/drawing/2014/main" id="{D9071E22-A1B7-42DE-B83B-0F96F5DAE8E6}"/>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48A68"/>
                </a:solidFill>
                <a:latin typeface="Arial"/>
                <a:ea typeface="Arial"/>
                <a:cs typeface="Arial"/>
              </a:defRPr>
            </a:pPr>
            <a:r>
              <a:rPr sz="825" b="1">
                <a:solidFill>
                  <a:srgbClr val="148A68"/>
                </a:solidFill>
                <a:latin typeface="Arial"/>
                <a:ea typeface="Arial"/>
                <a:cs typeface="Arial"/>
              </a:rPr>
              <a:t>CHECK</a:t>
            </a:r>
          </a:p>
        </p:txBody>
      </p:sp>
      <p:sp>
        <p:nvSpPr>
          <p:cNvPr id="5" name="">
            <a:extLst xmlns:a="http://schemas.openxmlformats.org/drawingml/2006/main">
              <a:ext uri="{FF2B5EF4-FFF2-40B4-BE49-F238E27FC236}">
                <a16:creationId xmlns:a16="http://schemas.microsoft.com/office/drawing/2014/main" id="{C8FCF12C-4B41-44AC-AADF-AB324E2A5A71}"/>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CF086E0C-F342-41C4-89A5-A07AB6CB8C70}"/>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4955DC02-F94F-45E0-98C6-DDC30E3ABB35}"/>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21  slide</a:t>
            </a:r>
          </a:p>
        </p:txBody>
      </p:sp>
      <p:sp>
        <p:nvSpPr>
          <p:cNvPr id="8" name="">
            <a:extLst xmlns:a="http://schemas.openxmlformats.org/drawingml/2006/main">
              <a:ext uri="{FF2B5EF4-FFF2-40B4-BE49-F238E27FC236}">
                <a16:creationId xmlns:a16="http://schemas.microsoft.com/office/drawing/2014/main" id="{B1A56B2D-0EAE-4751-B25A-E77E6E993F93}"/>
              </a:ext>
            </a:extLst>
          </p:cNvPr>
          <p:cNvSpPr>
            <a:spLocks xmlns:a="http://schemas.openxmlformats.org/drawingml/2006/main" noGrp="1"/>
          </p:cNvSpPr>
          <p:nvPr/>
        </p:nvSpPr>
        <p:spPr>
          <a:xfrm xmlns:a="http://schemas.openxmlformats.org/drawingml/2006/main">
            <a:off x="781050" y="14478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777B4"/>
                </a:solidFill>
                <a:latin typeface="Arial"/>
                <a:ea typeface="Arial"/>
                <a:cs typeface="Arial"/>
              </a:defRPr>
            </a:pPr>
            <a:r>
              <a:rPr sz="825" b="1">
                <a:solidFill>
                  <a:srgbClr val="1777B4"/>
                </a:solidFill>
                <a:latin typeface="Arial"/>
                <a:ea typeface="Arial"/>
                <a:cs typeface="Arial"/>
              </a:rPr>
              <a:t>COORDINATE GEOMETRY</a:t>
            </a:r>
          </a:p>
        </p:txBody>
      </p:sp>
      <p:sp>
        <p:nvSpPr>
          <p:cNvPr id="9" name="">
            <a:extLst xmlns:a="http://schemas.openxmlformats.org/drawingml/2006/main">
              <a:ext uri="{FF2B5EF4-FFF2-40B4-BE49-F238E27FC236}">
                <a16:creationId xmlns:a16="http://schemas.microsoft.com/office/drawing/2014/main" id="{9D3D5523-805B-4EDD-82A0-EDCB87C54F04}"/>
              </a:ext>
            </a:extLst>
          </p:cNvPr>
          <p:cNvSpPr>
            <a:spLocks xmlns:a="http://schemas.openxmlformats.org/drawingml/2006/main" noGrp="1"/>
          </p:cNvSpPr>
          <p:nvPr/>
        </p:nvSpPr>
        <p:spPr>
          <a:xfrm xmlns:a="http://schemas.openxmlformats.org/drawingml/2006/main">
            <a:off x="781050" y="18478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Use the same endpoint order in Δ𝑥 and Δ𝑦</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Keep an exact radical unless a decimal is requested</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Factor completely before listing polynomial intercepts</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Solve one missing coordinate at a time in a table</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Substitute both coordinates when testing a point</a:t>
            </a:r>
          </a:p>
        </p:txBody>
      </p:sp>
      <p:sp>
        <p:nvSpPr>
          <p:cNvPr id="10" name="">
            <a:extLst xmlns:a="http://schemas.openxmlformats.org/drawingml/2006/main">
              <a:ext uri="{FF2B5EF4-FFF2-40B4-BE49-F238E27FC236}">
                <a16:creationId xmlns:a16="http://schemas.microsoft.com/office/drawing/2014/main" id="{1A94BB3C-EC86-42E2-96DE-3DF0F004811A}"/>
              </a:ext>
            </a:extLst>
          </p:cNvPr>
          <p:cNvSpPr>
            <a:spLocks xmlns:a="http://schemas.openxmlformats.org/drawingml/2006/main" noGrp="1"/>
          </p:cNvSpPr>
          <p:nvPr/>
        </p:nvSpPr>
        <p:spPr>
          <a:xfrm xmlns:a="http://schemas.openxmlformats.org/drawingml/2006/main">
            <a:off x="6096000" y="1428750"/>
            <a:ext cx="0" cy="3429000"/>
          </a:xfrm>
          <a:prstGeom xmlns:a="http://schemas.openxmlformats.org/drawingml/2006/main" prst="line">
            <a:avLst/>
          </a:prstGeom>
          <a:noFill xmlns:a="http://schemas.openxmlformats.org/drawingml/2006/main"/>
          <a:ln xmlns:a="http://schemas.openxmlformats.org/drawingml/2006/main" w="19050">
            <a:solidFill>
              <a:srgbClr val="DDE5EA"/>
            </a:solidFill>
            <a:prstDash val="solid"/>
          </a:ln>
        </p:spPr>
      </p:sp>
      <p:sp>
        <p:nvSpPr>
          <p:cNvPr id="11" name="">
            <a:extLst xmlns:a="http://schemas.openxmlformats.org/drawingml/2006/main">
              <a:ext uri="{FF2B5EF4-FFF2-40B4-BE49-F238E27FC236}">
                <a16:creationId xmlns:a16="http://schemas.microsoft.com/office/drawing/2014/main" id="{E25D2F57-2D04-40BD-A88A-93774BD1BF5B}"/>
              </a:ext>
            </a:extLst>
          </p:cNvPr>
          <p:cNvSpPr>
            <a:spLocks xmlns:a="http://schemas.openxmlformats.org/drawingml/2006/main" noGrp="1"/>
          </p:cNvSpPr>
          <p:nvPr/>
        </p:nvSpPr>
        <p:spPr>
          <a:xfrm xmlns:a="http://schemas.openxmlformats.org/drawingml/2006/main">
            <a:off x="6572250" y="14478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D85B50"/>
                </a:solidFill>
                <a:latin typeface="Arial"/>
                <a:ea typeface="Arial"/>
                <a:cs typeface="Arial"/>
              </a:defRPr>
            </a:pPr>
            <a:r>
              <a:rPr sz="825" b="1">
                <a:solidFill>
                  <a:srgbClr val="D85B50"/>
                </a:solidFill>
                <a:latin typeface="Arial"/>
                <a:ea typeface="Arial"/>
                <a:cs typeface="Arial"/>
              </a:rPr>
              <a:t>QUADRATIC APPLICATIONS</a:t>
            </a:r>
          </a:p>
        </p:txBody>
      </p:sp>
      <p:sp>
        <p:nvSpPr>
          <p:cNvPr id="12" name="">
            <a:extLst xmlns:a="http://schemas.openxmlformats.org/drawingml/2006/main">
              <a:ext uri="{FF2B5EF4-FFF2-40B4-BE49-F238E27FC236}">
                <a16:creationId xmlns:a16="http://schemas.microsoft.com/office/drawing/2014/main" id="{C3EEA95F-BDCA-4CE9-800D-DBE4072B9476}"/>
              </a:ext>
            </a:extLst>
          </p:cNvPr>
          <p:cNvSpPr>
            <a:spLocks xmlns:a="http://schemas.openxmlformats.org/drawingml/2006/main" noGrp="1"/>
          </p:cNvSpPr>
          <p:nvPr/>
        </p:nvSpPr>
        <p:spPr>
          <a:xfrm xmlns:a="http://schemas.openxmlformats.org/drawingml/2006/main">
            <a:off x="6572250" y="1847850"/>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Reverse the signs when reading a circle center</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Divide a diameter by 2 before squaring the radius</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Define the rectangle width with units</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Write the quadratic in standard form</a:t>
            </a:r>
          </a:p>
          <a:p xmlns:a="http://schemas.openxmlformats.org/drawingml/2006/main">
            <a:pPr algn="l">
              <a:defRPr sz="1650" b="0">
                <a:solidFill>
                  <a:srgbClr val="18364D"/>
                </a:solidFill>
                <a:latin typeface="Arial"/>
                <a:ea typeface="Arial"/>
                <a:cs typeface="Arial"/>
              </a:defRPr>
            </a:pPr>
            <a:r>
              <a:rPr sz="1650" b="0">
                <a:solidFill>
                  <a:srgbClr val="18364D"/>
                </a:solidFill>
                <a:latin typeface="Arial"/>
                <a:ea typeface="Arial"/>
                <a:cs typeface="Arial"/>
              </a:rPr>
              <a:t>Reject a negative length</a:t>
            </a:r>
          </a:p>
        </p:txBody>
      </p:sp>
      <p:sp>
        <p:nvSpPr>
          <p:cNvPr id="13" name="">
            <a:extLst xmlns:a="http://schemas.openxmlformats.org/drawingml/2006/main">
              <a:ext uri="{FF2B5EF4-FFF2-40B4-BE49-F238E27FC236}">
                <a16:creationId xmlns:a16="http://schemas.microsoft.com/office/drawing/2014/main" id="{0B9C393A-F2E4-4E50-A016-F1ED1A455A0A}"/>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FFF2D6"/>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3A52059-15C1-4D49-9AA5-98B0424E8702}"/>
              </a:ext>
            </a:extLst>
          </p:cNvPr>
          <p:cNvSpPr>
            <a:spLocks xmlns:a="http://schemas.openxmlformats.org/drawingml/2006/main" noGrp="1"/>
          </p:cNvSpPr>
          <p:nvPr/>
        </p:nvSpPr>
        <p:spPr>
          <a:xfrm xmlns:a="http://schemas.openxmlformats.org/drawingml/2006/main">
            <a:off x="971550" y="5524500"/>
            <a:ext cx="1024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64D"/>
                </a:solidFill>
                <a:latin typeface="Arial"/>
                <a:ea typeface="Arial"/>
                <a:cs typeface="Arial"/>
              </a:defRPr>
            </a:pPr>
            <a:r>
              <a:rPr sz="1200" b="1">
                <a:solidFill>
                  <a:srgbClr val="18364D"/>
                </a:solidFill>
                <a:latin typeface="Arial"/>
                <a:ea typeface="Arial"/>
                <a:cs typeface="Arial"/>
              </a:rPr>
              <a:t>Write enough work to earn method credit and to find your own error.</a:t>
            </a:r>
          </a:p>
        </p:txBody>
      </p:sp>
    </p:spTree>
    <p:extLst>
      <p:ext uri="{BB962C8B-B14F-4D97-AF65-F5344CB8AC3E}">
        <p14:creationId xmlns:p14="http://schemas.microsoft.com/office/powerpoint/2010/main" val="209765121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8C99376-B8AF-49FB-8F86-0F52B35FD6A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F2AD1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09EE8F-ADE5-4F63-8ECA-BDEF8AA85E59}"/>
              </a:ext>
            </a:extLst>
          </p:cNvPr>
          <p:cNvSpPr>
            <a:spLocks xmlns:a="http://schemas.openxmlformats.org/drawingml/2006/main" noGrp="1"/>
          </p:cNvSpPr>
          <p:nvPr/>
        </p:nvSpPr>
        <p:spPr>
          <a:xfrm xmlns:a="http://schemas.openxmlformats.org/drawingml/2006/main">
            <a:off x="571500" y="3238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11344E"/>
                </a:solidFill>
                <a:latin typeface="Arial"/>
                <a:ea typeface="Arial"/>
                <a:cs typeface="Arial"/>
              </a:defRPr>
            </a:pPr>
            <a:r>
              <a:rPr sz="2400" b="1">
                <a:solidFill>
                  <a:srgbClr val="11344E"/>
                </a:solidFill>
                <a:latin typeface="Arial"/>
                <a:ea typeface="Arial"/>
                <a:cs typeface="Arial"/>
              </a:rPr>
              <a:t>Exit ticket and ALEKS</a:t>
            </a:r>
          </a:p>
        </p:txBody>
      </p:sp>
      <p:sp>
        <p:nvSpPr>
          <p:cNvPr id="3" name="">
            <a:extLst xmlns:a="http://schemas.openxmlformats.org/drawingml/2006/main">
              <a:ext uri="{FF2B5EF4-FFF2-40B4-BE49-F238E27FC236}">
                <a16:creationId xmlns:a16="http://schemas.microsoft.com/office/drawing/2014/main" id="{7AA0A16E-1B37-4AF1-82F0-E64B08833DC5}"/>
              </a:ext>
            </a:extLst>
          </p:cNvPr>
          <p:cNvSpPr>
            <a:spLocks xmlns:a="http://schemas.openxmlformats.org/drawingml/2006/main" noGrp="1"/>
          </p:cNvSpPr>
          <p:nvPr/>
        </p:nvSpPr>
        <p:spPr>
          <a:xfrm xmlns:a="http://schemas.openxmlformats.org/drawingml/2006/main">
            <a:off x="571500" y="838200"/>
            <a:ext cx="990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87783"/>
                </a:solidFill>
                <a:latin typeface="Arial"/>
                <a:ea typeface="Arial"/>
                <a:cs typeface="Arial"/>
              </a:defRPr>
            </a:pPr>
            <a:r>
              <a:rPr sz="1200" b="0">
                <a:solidFill>
                  <a:srgbClr val="687783"/>
                </a:solidFill>
                <a:latin typeface="Arial"/>
                <a:ea typeface="Arial"/>
                <a:cs typeface="Arial"/>
              </a:rPr>
              <a:t>Complete the response, then schedule the next short practice session</a:t>
            </a:r>
          </a:p>
        </p:txBody>
      </p:sp>
      <p:sp>
        <p:nvSpPr>
          <p:cNvPr id="4" name="">
            <a:extLst xmlns:a="http://schemas.openxmlformats.org/drawingml/2006/main">
              <a:ext uri="{FF2B5EF4-FFF2-40B4-BE49-F238E27FC236}">
                <a16:creationId xmlns:a16="http://schemas.microsoft.com/office/drawing/2014/main" id="{B1ADB1B1-C2CF-45F4-B069-A861714B5442}"/>
              </a:ext>
            </a:extLst>
          </p:cNvPr>
          <p:cNvSpPr>
            <a:spLocks xmlns:a="http://schemas.openxmlformats.org/drawingml/2006/main" noGrp="1"/>
          </p:cNvSpPr>
          <p:nvPr/>
        </p:nvSpPr>
        <p:spPr>
          <a:xfrm xmlns:a="http://schemas.openxmlformats.org/drawingml/2006/main">
            <a:off x="10382250" y="4000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2AD12"/>
                </a:solidFill>
                <a:latin typeface="Arial"/>
                <a:ea typeface="Arial"/>
                <a:cs typeface="Arial"/>
              </a:defRPr>
            </a:pPr>
            <a:r>
              <a:rPr sz="825" b="1">
                <a:solidFill>
                  <a:srgbClr val="F2AD12"/>
                </a:solidFill>
                <a:latin typeface="Arial"/>
                <a:ea typeface="Arial"/>
                <a:cs typeface="Arial"/>
              </a:rPr>
              <a:t>CLOSE</a:t>
            </a:r>
          </a:p>
        </p:txBody>
      </p:sp>
      <p:sp>
        <p:nvSpPr>
          <p:cNvPr id="5" name="">
            <a:extLst xmlns:a="http://schemas.openxmlformats.org/drawingml/2006/main">
              <a:ext uri="{FF2B5EF4-FFF2-40B4-BE49-F238E27FC236}">
                <a16:creationId xmlns:a16="http://schemas.microsoft.com/office/drawing/2014/main" id="{28301693-E961-4759-8A57-9B98E385C0C4}"/>
              </a:ext>
            </a:extLst>
          </p:cNvPr>
          <p:cNvSpPr>
            <a:spLocks xmlns:a="http://schemas.openxmlformats.org/drawingml/2006/main" noGrp="1"/>
          </p:cNvSpPr>
          <p:nvPr/>
        </p:nvSpPr>
        <p:spPr>
          <a:xfrm xmlns:a="http://schemas.openxmlformats.org/drawingml/2006/main">
            <a:off x="571500" y="6334125"/>
            <a:ext cx="11049000" cy="0"/>
          </a:xfrm>
          <a:prstGeom xmlns:a="http://schemas.openxmlformats.org/drawingml/2006/main" prst="line">
            <a:avLst/>
          </a:prstGeom>
          <a:noFill xmlns:a="http://schemas.openxmlformats.org/drawingml/2006/main"/>
          <a:ln xmlns:a="http://schemas.openxmlformats.org/drawingml/2006/main" w="9525">
            <a:solidFill>
              <a:srgbClr val="DDE5EA"/>
            </a:solidFill>
            <a:prstDash val="solid"/>
          </a:ln>
        </p:spPr>
      </p:sp>
      <p:sp>
        <p:nvSpPr>
          <p:cNvPr id="6" name="">
            <a:extLst xmlns:a="http://schemas.openxmlformats.org/drawingml/2006/main">
              <a:ext uri="{FF2B5EF4-FFF2-40B4-BE49-F238E27FC236}">
                <a16:creationId xmlns:a16="http://schemas.microsoft.com/office/drawing/2014/main" id="{28DE4B45-4E5B-420A-94FC-E8CFDC4CFF40}"/>
              </a:ext>
            </a:extLst>
          </p:cNvPr>
          <p:cNvSpPr>
            <a:spLocks xmlns:a="http://schemas.openxmlformats.org/drawingml/2006/main" noGrp="1"/>
          </p:cNvSpPr>
          <p:nvPr/>
        </p:nvSpPr>
        <p:spPr>
          <a:xfrm xmlns:a="http://schemas.openxmlformats.org/drawingml/2006/main">
            <a:off x="571500" y="641032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87783"/>
                </a:solidFill>
                <a:latin typeface="Arial"/>
                <a:ea typeface="Arial"/>
                <a:cs typeface="Arial"/>
              </a:defRPr>
            </a:pPr>
            <a:r>
              <a:rPr sz="750" b="0">
                <a:solidFill>
                  <a:srgbClr val="687783"/>
                </a:solidFill>
                <a:latin typeface="Arial"/>
                <a:ea typeface="Arial"/>
                <a:cs typeface="Arial"/>
              </a:rPr>
              <a:t>MATH 130  ·  SEPT 14</a:t>
            </a:r>
          </a:p>
        </p:txBody>
      </p:sp>
      <p:sp>
        <p:nvSpPr>
          <p:cNvPr id="7" name="">
            <a:extLst xmlns:a="http://schemas.openxmlformats.org/drawingml/2006/main">
              <a:ext uri="{FF2B5EF4-FFF2-40B4-BE49-F238E27FC236}">
                <a16:creationId xmlns:a16="http://schemas.microsoft.com/office/drawing/2014/main" id="{FE8D0B24-C6CC-4E7B-B7FF-338C6BC53D54}"/>
              </a:ext>
            </a:extLst>
          </p:cNvPr>
          <p:cNvSpPr>
            <a:spLocks xmlns:a="http://schemas.openxmlformats.org/drawingml/2006/main" noGrp="1"/>
          </p:cNvSpPr>
          <p:nvPr/>
        </p:nvSpPr>
        <p:spPr>
          <a:xfrm xmlns:a="http://schemas.openxmlformats.org/drawingml/2006/main">
            <a:off x="10572750" y="6410325"/>
            <a:ext cx="1047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750" b="0">
                <a:solidFill>
                  <a:srgbClr val="687783"/>
                </a:solidFill>
                <a:latin typeface="Arial"/>
                <a:ea typeface="Arial"/>
                <a:cs typeface="Arial"/>
              </a:defRPr>
            </a:pPr>
            <a:r>
              <a:rPr sz="750" b="0">
                <a:solidFill>
                  <a:srgbClr val="687783"/>
                </a:solidFill>
                <a:latin typeface="Arial"/>
                <a:ea typeface="Arial"/>
                <a:cs typeface="Arial"/>
              </a:rPr>
              <a:t>22  slide</a:t>
            </a:r>
          </a:p>
        </p:txBody>
      </p:sp>
      <p:sp>
        <p:nvSpPr>
          <p:cNvPr id="8" name="">
            <a:extLst xmlns:a="http://schemas.openxmlformats.org/drawingml/2006/main">
              <a:ext uri="{FF2B5EF4-FFF2-40B4-BE49-F238E27FC236}">
                <a16:creationId xmlns:a16="http://schemas.microsoft.com/office/drawing/2014/main" id="{3E6F06E1-1C6A-4A54-8A31-D24BE3176CE2}"/>
              </a:ext>
            </a:extLst>
          </p:cNvPr>
          <p:cNvSpPr>
            <a:spLocks xmlns:a="http://schemas.openxmlformats.org/drawingml/2006/main" noGrp="1"/>
          </p:cNvSpPr>
          <p:nvPr/>
        </p:nvSpPr>
        <p:spPr>
          <a:xfrm xmlns:a="http://schemas.openxmlformats.org/drawingml/2006/main">
            <a:off x="666750" y="1390650"/>
            <a:ext cx="10858500" cy="1238250"/>
          </a:xfrm>
          <a:prstGeom xmlns:a="http://schemas.openxmlformats.org/drawingml/2006/main" prst="roundRect">
            <a:avLst>
              <a:gd name="adj" fmla="val 3077"/>
            </a:avLst>
          </a:prstGeom>
          <a:solidFill xmlns:a="http://schemas.openxmlformats.org/drawingml/2006/main">
            <a:srgbClr val="11344E"/>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050B37-43E0-4D15-AAD9-F9EC1A036C67}"/>
              </a:ext>
            </a:extLst>
          </p:cNvPr>
          <p:cNvSpPr>
            <a:spLocks xmlns:a="http://schemas.openxmlformats.org/drawingml/2006/main" noGrp="1"/>
          </p:cNvSpPr>
          <p:nvPr/>
        </p:nvSpPr>
        <p:spPr>
          <a:xfrm xmlns:a="http://schemas.openxmlformats.org/drawingml/2006/main">
            <a:off x="914400" y="15621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2AD12"/>
                </a:solidFill>
                <a:latin typeface="Arial"/>
                <a:ea typeface="Arial"/>
                <a:cs typeface="Arial"/>
              </a:defRPr>
            </a:pPr>
            <a:r>
              <a:rPr sz="825" b="1">
                <a:solidFill>
                  <a:srgbClr val="F2AD12"/>
                </a:solidFill>
                <a:latin typeface="Arial"/>
                <a:ea typeface="Arial"/>
                <a:cs typeface="Arial"/>
              </a:rPr>
              <a:t>EXIT TICKET</a:t>
            </a:r>
          </a:p>
        </p:txBody>
      </p:sp>
      <p:sp>
        <p:nvSpPr>
          <p:cNvPr id="10" name="">
            <a:extLst xmlns:a="http://schemas.openxmlformats.org/drawingml/2006/main">
              <a:ext uri="{FF2B5EF4-FFF2-40B4-BE49-F238E27FC236}">
                <a16:creationId xmlns:a16="http://schemas.microsoft.com/office/drawing/2014/main" id="{6B156491-1D58-4866-A9C2-DA93D17E36DD}"/>
              </a:ext>
            </a:extLst>
          </p:cNvPr>
          <p:cNvSpPr>
            <a:spLocks xmlns:a="http://schemas.openxmlformats.org/drawingml/2006/main" noGrp="1"/>
          </p:cNvSpPr>
          <p:nvPr/>
        </p:nvSpPr>
        <p:spPr>
          <a:xfrm xmlns:a="http://schemas.openxmlformats.org/drawingml/2006/main">
            <a:off x="914400" y="1924050"/>
            <a:ext cx="10363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025" b="1">
                <a:solidFill>
                  <a:srgbClr val="FFFFFF"/>
                </a:solidFill>
                <a:latin typeface="Cambria Math"/>
                <a:ea typeface="Cambria Math"/>
                <a:cs typeface="Cambria Math"/>
              </a:defRPr>
            </a:pPr>
            <a:r>
              <a:rPr sz="2025" b="1">
                <a:solidFill>
                  <a:srgbClr val="FFFFFF"/>
                </a:solidFill>
                <a:latin typeface="Cambria Math"/>
                <a:ea typeface="Cambria Math"/>
                <a:cs typeface="Cambria Math"/>
              </a:rPr>
              <a:t>For T(−4, 6) and U(2, −2), find the midpoint and slope.</a:t>
            </a:r>
          </a:p>
        </p:txBody>
      </p:sp>
      <p:sp>
        <p:nvSpPr>
          <p:cNvPr id="11" name="">
            <a:extLst xmlns:a="http://schemas.openxmlformats.org/drawingml/2006/main">
              <a:ext uri="{FF2B5EF4-FFF2-40B4-BE49-F238E27FC236}">
                <a16:creationId xmlns:a16="http://schemas.microsoft.com/office/drawing/2014/main" id="{19147D27-9154-4DF6-9A16-7DC9C6D5B509}"/>
              </a:ext>
            </a:extLst>
          </p:cNvPr>
          <p:cNvSpPr>
            <a:spLocks xmlns:a="http://schemas.openxmlformats.org/drawingml/2006/main" noGrp="1"/>
          </p:cNvSpPr>
          <p:nvPr/>
        </p:nvSpPr>
        <p:spPr>
          <a:xfrm xmlns:a="http://schemas.openxmlformats.org/drawingml/2006/main">
            <a:off x="781050" y="30765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03988F-F848-4679-8208-2741A7A874B3}"/>
              </a:ext>
            </a:extLst>
          </p:cNvPr>
          <p:cNvSpPr>
            <a:spLocks xmlns:a="http://schemas.openxmlformats.org/drawingml/2006/main" noGrp="1"/>
          </p:cNvSpPr>
          <p:nvPr/>
        </p:nvSpPr>
        <p:spPr>
          <a:xfrm xmlns:a="http://schemas.openxmlformats.org/drawingml/2006/main">
            <a:off x="781050" y="30765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1</a:t>
            </a:r>
          </a:p>
        </p:txBody>
      </p:sp>
      <p:sp>
        <p:nvSpPr>
          <p:cNvPr id="13" name="">
            <a:extLst xmlns:a="http://schemas.openxmlformats.org/drawingml/2006/main">
              <a:ext uri="{FF2B5EF4-FFF2-40B4-BE49-F238E27FC236}">
                <a16:creationId xmlns:a16="http://schemas.microsoft.com/office/drawing/2014/main" id="{3427ECD3-80ED-4696-B462-D8A87DD76808}"/>
              </a:ext>
            </a:extLst>
          </p:cNvPr>
          <p:cNvSpPr>
            <a:spLocks xmlns:a="http://schemas.openxmlformats.org/drawingml/2006/main" noGrp="1"/>
          </p:cNvSpPr>
          <p:nvPr/>
        </p:nvSpPr>
        <p:spPr>
          <a:xfrm xmlns:a="http://schemas.openxmlformats.org/drawingml/2006/main">
            <a:off x="1409700" y="30289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Finish ALEKS Sections 2.1, 2.2, and 2.4 by Sep 16 at 2:10 PM.</a:t>
            </a:r>
          </a:p>
        </p:txBody>
      </p:sp>
      <p:sp>
        <p:nvSpPr>
          <p:cNvPr id="14" name="">
            <a:extLst xmlns:a="http://schemas.openxmlformats.org/drawingml/2006/main">
              <a:ext uri="{FF2B5EF4-FFF2-40B4-BE49-F238E27FC236}">
                <a16:creationId xmlns:a16="http://schemas.microsoft.com/office/drawing/2014/main" id="{F129933A-D439-41B2-82F0-AFD6D12B0298}"/>
              </a:ext>
            </a:extLst>
          </p:cNvPr>
          <p:cNvSpPr>
            <a:spLocks xmlns:a="http://schemas.openxmlformats.org/drawingml/2006/main" noGrp="1"/>
          </p:cNvSpPr>
          <p:nvPr/>
        </p:nvSpPr>
        <p:spPr>
          <a:xfrm xmlns:a="http://schemas.openxmlformats.org/drawingml/2006/main">
            <a:off x="781050" y="38004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FA2D901-D692-41AC-9162-71FC0F68580A}"/>
              </a:ext>
            </a:extLst>
          </p:cNvPr>
          <p:cNvSpPr>
            <a:spLocks xmlns:a="http://schemas.openxmlformats.org/drawingml/2006/main" noGrp="1"/>
          </p:cNvSpPr>
          <p:nvPr/>
        </p:nvSpPr>
        <p:spPr>
          <a:xfrm xmlns:a="http://schemas.openxmlformats.org/drawingml/2006/main">
            <a:off x="781050" y="38004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A886A4E2-8CD0-4765-B5DF-48BF3D6176B0}"/>
              </a:ext>
            </a:extLst>
          </p:cNvPr>
          <p:cNvSpPr>
            <a:spLocks xmlns:a="http://schemas.openxmlformats.org/drawingml/2006/main" noGrp="1"/>
          </p:cNvSpPr>
          <p:nvPr/>
        </p:nvSpPr>
        <p:spPr>
          <a:xfrm xmlns:a="http://schemas.openxmlformats.org/drawingml/2006/main">
            <a:off x="1409700" y="37528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Use the course site’s Quiz 3 practice for another mixed attempt.</a:t>
            </a:r>
          </a:p>
        </p:txBody>
      </p:sp>
      <p:sp>
        <p:nvSpPr>
          <p:cNvPr id="17" name="">
            <a:extLst xmlns:a="http://schemas.openxmlformats.org/drawingml/2006/main">
              <a:ext uri="{FF2B5EF4-FFF2-40B4-BE49-F238E27FC236}">
                <a16:creationId xmlns:a16="http://schemas.microsoft.com/office/drawing/2014/main" id="{6715E962-757B-46EF-8A9F-A7CCEC3BA23A}"/>
              </a:ext>
            </a:extLst>
          </p:cNvPr>
          <p:cNvSpPr>
            <a:spLocks xmlns:a="http://schemas.openxmlformats.org/drawingml/2006/main" noGrp="1"/>
          </p:cNvSpPr>
          <p:nvPr/>
        </p:nvSpPr>
        <p:spPr>
          <a:xfrm xmlns:a="http://schemas.openxmlformats.org/drawingml/2006/main">
            <a:off x="781050" y="4524375"/>
            <a:ext cx="400050" cy="400050"/>
          </a:xfrm>
          <a:prstGeom xmlns:a="http://schemas.openxmlformats.org/drawingml/2006/main" prst="roundRect">
            <a:avLst>
              <a:gd name="adj" fmla="val 9524"/>
            </a:avLst>
          </a:prstGeom>
          <a:solidFill xmlns:a="http://schemas.openxmlformats.org/drawingml/2006/main">
            <a:srgbClr val="F2AD1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DE94F4-E7B6-40F8-907E-96BB48B06B37}"/>
              </a:ext>
            </a:extLst>
          </p:cNvPr>
          <p:cNvSpPr>
            <a:spLocks xmlns:a="http://schemas.openxmlformats.org/drawingml/2006/main" noGrp="1"/>
          </p:cNvSpPr>
          <p:nvPr/>
        </p:nvSpPr>
        <p:spPr>
          <a:xfrm xmlns:a="http://schemas.openxmlformats.org/drawingml/2006/main">
            <a:off x="781050" y="4524375"/>
            <a:ext cx="400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0A73A027-2563-4F90-BF6B-219EC2C04163}"/>
              </a:ext>
            </a:extLst>
          </p:cNvPr>
          <p:cNvSpPr>
            <a:spLocks xmlns:a="http://schemas.openxmlformats.org/drawingml/2006/main" noGrp="1"/>
          </p:cNvSpPr>
          <p:nvPr/>
        </p:nvSpPr>
        <p:spPr>
          <a:xfrm xmlns:a="http://schemas.openxmlformats.org/drawingml/2006/main">
            <a:off x="1409700" y="4476750"/>
            <a:ext cx="99441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75" b="0">
                <a:solidFill>
                  <a:srgbClr val="18364D"/>
                </a:solidFill>
                <a:latin typeface="Arial"/>
                <a:ea typeface="Arial"/>
                <a:cs typeface="Arial"/>
              </a:defRPr>
            </a:pPr>
            <a:r>
              <a:rPr sz="1575" b="0">
                <a:solidFill>
                  <a:srgbClr val="18364D"/>
                </a:solidFill>
                <a:latin typeface="Arial"/>
                <a:ea typeface="Arial"/>
                <a:cs typeface="Arial"/>
              </a:rPr>
              <a:t>Check Canvas for the official deadline and any final announcement.</a:t>
            </a:r>
          </a:p>
        </p:txBody>
      </p:sp>
      <p:sp>
        <p:nvSpPr>
          <p:cNvPr id="20" name="">
            <a:extLst xmlns:a="http://schemas.openxmlformats.org/drawingml/2006/main">
              <a:ext uri="{FF2B5EF4-FFF2-40B4-BE49-F238E27FC236}">
                <a16:creationId xmlns:a16="http://schemas.microsoft.com/office/drawing/2014/main" id="{2CF45C25-6D51-44DE-BC27-6EFBBF2DB8BB}"/>
              </a:ext>
            </a:extLst>
          </p:cNvPr>
          <p:cNvSpPr>
            <a:spLocks xmlns:a="http://schemas.openxmlformats.org/drawingml/2006/main" noGrp="1"/>
          </p:cNvSpPr>
          <p:nvPr/>
        </p:nvSpPr>
        <p:spPr>
          <a:xfrm xmlns:a="http://schemas.openxmlformats.org/drawingml/2006/main">
            <a:off x="781050" y="5429250"/>
            <a:ext cx="10629900" cy="495300"/>
          </a:xfrm>
          <a:prstGeom xmlns:a="http://schemas.openxmlformats.org/drawingml/2006/main" prst="roundRect">
            <a:avLst>
              <a:gd name="adj" fmla="val 7692"/>
            </a:avLst>
          </a:prstGeom>
          <a:solidFill xmlns:a="http://schemas.openxmlformats.org/drawingml/2006/main">
            <a:srgbClr val="E3F3E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8D7FC16-C707-4720-BD3B-2ECCC2D91B7A}"/>
              </a:ext>
            </a:extLst>
          </p:cNvPr>
          <p:cNvSpPr>
            <a:spLocks xmlns:a="http://schemas.openxmlformats.org/drawingml/2006/main" noGrp="1"/>
          </p:cNvSpPr>
          <p:nvPr/>
        </p:nvSpPr>
        <p:spPr>
          <a:xfrm xmlns:a="http://schemas.openxmlformats.org/drawingml/2006/main">
            <a:off x="3143250" y="55245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200" b="1">
                <a:solidFill>
                  <a:srgbClr val="148A68"/>
                </a:solidFill>
                <a:latin typeface="Arial"/>
                <a:ea typeface="Arial"/>
                <a:cs typeface="Arial"/>
              </a:defRPr>
            </a:pPr>
            <a:r>
              <a:rPr sz="1200" b="1">
                <a:solidFill>
                  <a:srgbClr val="148A68"/>
                </a:solidFill>
                <a:latin typeface="Arial"/>
                <a:ea typeface="Arial"/>
                <a:cs typeface="Arial"/>
              </a:rPr>
              <a:t>Exit key: midpoint (−1, 2), slope =</a:t>
            </a:r>
          </a:p>
        </p:txBody>
      </p:sp>
      <p:sp>
        <p:nvSpPr>
          <p:cNvPr id="22" name="">
            <a:extLst xmlns:a="http://schemas.openxmlformats.org/drawingml/2006/main">
              <a:ext uri="{FF2B5EF4-FFF2-40B4-BE49-F238E27FC236}">
                <a16:creationId xmlns:a16="http://schemas.microsoft.com/office/drawing/2014/main" id="{7FC35159-FACD-4F23-82E5-8C6B08FFA20A}"/>
              </a:ext>
            </a:extLst>
          </p:cNvPr>
          <p:cNvSpPr>
            <a:spLocks xmlns:a="http://schemas.openxmlformats.org/drawingml/2006/main" noGrp="1"/>
          </p:cNvSpPr>
          <p:nvPr/>
        </p:nvSpPr>
        <p:spPr>
          <a:xfrm xmlns:a="http://schemas.openxmlformats.org/drawingml/2006/main">
            <a:off x="7677150" y="545782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975" b="1">
                <a:solidFill>
                  <a:srgbClr val="148A68"/>
                </a:solidFill>
                <a:latin typeface="Cambria Math"/>
                <a:ea typeface="Cambria Math"/>
                <a:cs typeface="Cambria Math"/>
              </a:defRPr>
            </a:pPr>
            <a:r>
              <a:rPr sz="975" b="1">
                <a:solidFill>
                  <a:srgbClr val="148A68"/>
                </a:solidFill>
                <a:latin typeface="Cambria Math"/>
                <a:ea typeface="Cambria Math"/>
                <a:cs typeface="Cambria Math"/>
              </a:rPr>
              <a:t>−4</a:t>
            </a:r>
          </a:p>
        </p:txBody>
      </p:sp>
      <p:sp>
        <p:nvSpPr>
          <p:cNvPr id="23" name="">
            <a:extLst xmlns:a="http://schemas.openxmlformats.org/drawingml/2006/main">
              <a:ext uri="{FF2B5EF4-FFF2-40B4-BE49-F238E27FC236}">
                <a16:creationId xmlns:a16="http://schemas.microsoft.com/office/drawing/2014/main" id="{9D8CD8F8-0A0D-4A5A-BDF2-382135EBABA4}"/>
              </a:ext>
            </a:extLst>
          </p:cNvPr>
          <p:cNvSpPr>
            <a:spLocks xmlns:a="http://schemas.openxmlformats.org/drawingml/2006/main" noGrp="1"/>
          </p:cNvSpPr>
          <p:nvPr/>
        </p:nvSpPr>
        <p:spPr>
          <a:xfrm xmlns:a="http://schemas.openxmlformats.org/drawingml/2006/main">
            <a:off x="7705725" y="5667375"/>
            <a:ext cx="419100" cy="0"/>
          </a:xfrm>
          <a:prstGeom xmlns:a="http://schemas.openxmlformats.org/drawingml/2006/main" prst="line">
            <a:avLst/>
          </a:prstGeom>
          <a:noFill xmlns:a="http://schemas.openxmlformats.org/drawingml/2006/main"/>
          <a:ln xmlns:a="http://schemas.openxmlformats.org/drawingml/2006/main" w="15240">
            <a:solidFill>
              <a:srgbClr val="148A68"/>
            </a:solidFill>
            <a:prstDash val="solid"/>
          </a:ln>
        </p:spPr>
      </p:sp>
      <p:sp>
        <p:nvSpPr>
          <p:cNvPr id="24" name="">
            <a:extLst xmlns:a="http://schemas.openxmlformats.org/drawingml/2006/main">
              <a:ext uri="{FF2B5EF4-FFF2-40B4-BE49-F238E27FC236}">
                <a16:creationId xmlns:a16="http://schemas.microsoft.com/office/drawing/2014/main" id="{D7805F06-6580-4D7D-913E-D016E60BA2DF}"/>
              </a:ext>
            </a:extLst>
          </p:cNvPr>
          <p:cNvSpPr>
            <a:spLocks xmlns:a="http://schemas.openxmlformats.org/drawingml/2006/main" noGrp="1"/>
          </p:cNvSpPr>
          <p:nvPr/>
        </p:nvSpPr>
        <p:spPr>
          <a:xfrm xmlns:a="http://schemas.openxmlformats.org/drawingml/2006/main">
            <a:off x="7677150" y="5686425"/>
            <a:ext cx="47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48A68"/>
                </a:solidFill>
                <a:latin typeface="Cambria Math"/>
                <a:ea typeface="Cambria Math"/>
                <a:cs typeface="Cambria Math"/>
              </a:defRPr>
            </a:pPr>
            <a:r>
              <a:rPr sz="975" b="1">
                <a:solidFill>
                  <a:srgbClr val="148A68"/>
                </a:solidFill>
                <a:latin typeface="Cambria Math"/>
                <a:ea typeface="Cambria Math"/>
                <a:cs typeface="Cambria Math"/>
              </a:rPr>
              <a:t>3</a:t>
            </a:r>
          </a:p>
        </p:txBody>
      </p:sp>
    </p:spTree>
    <p:extLst>
      <p:ext uri="{BB962C8B-B14F-4D97-AF65-F5344CB8AC3E}">
        <p14:creationId xmlns:p14="http://schemas.microsoft.com/office/powerpoint/2010/main" val="1503621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2026-09-14T19:06:45.0130000Z</dcterms:created>
  <dcterms:modified xsi:type="dcterms:W3CDTF">2026-09-14T19:06:45.0130000Z</dcterms:modified>
</coreProperties>
</file>