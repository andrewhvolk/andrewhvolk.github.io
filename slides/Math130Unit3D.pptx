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3.xml" ContentType="application/vnd.openxmlformats-officedocument.presentationml.tag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8"/>
  </p:notesMasterIdLst>
  <p:sldIdLst>
    <p:sldId id="287" r:id="rId2"/>
    <p:sldId id="345" r:id="rId3"/>
    <p:sldId id="346" r:id="rId4"/>
    <p:sldId id="381" r:id="rId5"/>
    <p:sldId id="380" r:id="rId6"/>
    <p:sldId id="424" r:id="rId7"/>
    <p:sldId id="382" r:id="rId8"/>
    <p:sldId id="386" r:id="rId9"/>
    <p:sldId id="383" r:id="rId10"/>
    <p:sldId id="385" r:id="rId11"/>
    <p:sldId id="390" r:id="rId12"/>
    <p:sldId id="426" r:id="rId13"/>
    <p:sldId id="389" r:id="rId14"/>
    <p:sldId id="425" r:id="rId15"/>
    <p:sldId id="391" r:id="rId16"/>
    <p:sldId id="392" r:id="rId17"/>
    <p:sldId id="427" r:id="rId18"/>
    <p:sldId id="393" r:id="rId19"/>
    <p:sldId id="387" r:id="rId20"/>
    <p:sldId id="428" r:id="rId21"/>
    <p:sldId id="429" r:id="rId22"/>
    <p:sldId id="400" r:id="rId23"/>
    <p:sldId id="401" r:id="rId24"/>
    <p:sldId id="433" r:id="rId25"/>
    <p:sldId id="402" r:id="rId26"/>
    <p:sldId id="434" r:id="rId27"/>
    <p:sldId id="394" r:id="rId28"/>
    <p:sldId id="396" r:id="rId29"/>
    <p:sldId id="403" r:id="rId30"/>
    <p:sldId id="435" r:id="rId31"/>
    <p:sldId id="436" r:id="rId32"/>
    <p:sldId id="407" r:id="rId33"/>
    <p:sldId id="397" r:id="rId34"/>
    <p:sldId id="404" r:id="rId35"/>
    <p:sldId id="405" r:id="rId36"/>
    <p:sldId id="406" r:id="rId37"/>
  </p:sldIdLst>
  <p:sldSz cx="12192000" cy="6858000"/>
  <p:notesSz cx="7315200" cy="9601200"/>
  <p:custDataLst>
    <p:tags r:id="rId3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CC"/>
    <a:srgbClr val="000066"/>
    <a:srgbClr val="660066"/>
    <a:srgbClr val="3891A7"/>
    <a:srgbClr val="006600"/>
    <a:srgbClr val="FFFF00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856" autoAdjust="0"/>
    <p:restoredTop sz="89136" autoAdjust="0"/>
  </p:normalViewPr>
  <p:slideViewPr>
    <p:cSldViewPr>
      <p:cViewPr varScale="1">
        <p:scale>
          <a:sx n="73" d="100"/>
          <a:sy n="73" d="100"/>
        </p:scale>
        <p:origin x="163" y="7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1302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gs" Target="tags/tag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obert Young" userId="592361140_tp_dropbox_plus" providerId="OAuth2" clId="{8EE17695-FE1D-456B-9031-7DCF6B6E3780}"/>
    <pc:docChg chg="modSld">
      <pc:chgData name="Robert Young" userId="592361140_tp_dropbox_plus" providerId="OAuth2" clId="{8EE17695-FE1D-456B-9031-7DCF6B6E3780}" dt="2025-12-01T18:03:02.932" v="20" actId="20577"/>
      <pc:docMkLst>
        <pc:docMk/>
      </pc:docMkLst>
      <pc:sldChg chg="modSp modAnim">
        <pc:chgData name="Robert Young" userId="592361140_tp_dropbox_plus" providerId="OAuth2" clId="{8EE17695-FE1D-456B-9031-7DCF6B6E3780}" dt="2025-12-01T18:03:02.932" v="20" actId="20577"/>
        <pc:sldMkLst>
          <pc:docMk/>
          <pc:sldMk cId="1190843095" sldId="436"/>
        </pc:sldMkLst>
        <pc:spChg chg="mod">
          <ac:chgData name="Robert Young" userId="592361140_tp_dropbox_plus" providerId="OAuth2" clId="{8EE17695-FE1D-456B-9031-7DCF6B6E3780}" dt="2025-12-01T18:03:02.932" v="20" actId="20577"/>
          <ac:spMkLst>
            <pc:docMk/>
            <pc:sldMk cId="1190843095" sldId="436"/>
            <ac:spMk id="3" creationId="{64BE88B4-1FD0-28D1-AA36-A7349AB7CC7C}"/>
          </ac:spMkLst>
        </pc:spChg>
      </pc:sldChg>
    </pc:docChg>
  </pc:docChgLst>
  <pc:docChgLst>
    <pc:chgData name="Robert Young" userId="592361140_tp_dropbox_plus" providerId="OAuth2" clId="{5589B3AD-82BA-4136-9C9E-1C0378E9FE5D}"/>
    <pc:docChg chg="modSld sldOrd">
      <pc:chgData name="Robert Young" userId="592361140_tp_dropbox_plus" providerId="OAuth2" clId="{5589B3AD-82BA-4136-9C9E-1C0378E9FE5D}" dt="2025-11-19T19:16:01.605" v="14"/>
      <pc:docMkLst>
        <pc:docMk/>
      </pc:docMkLst>
      <pc:sldChg chg="modSp ord">
        <pc:chgData name="Robert Young" userId="592361140_tp_dropbox_plus" providerId="OAuth2" clId="{5589B3AD-82BA-4136-9C9E-1C0378E9FE5D}" dt="2025-11-19T19:16:01.605" v="14"/>
        <pc:sldMkLst>
          <pc:docMk/>
          <pc:sldMk cId="3253642882" sldId="386"/>
        </pc:sldMkLst>
        <pc:spChg chg="mod">
          <ac:chgData name="Robert Young" userId="592361140_tp_dropbox_plus" providerId="OAuth2" clId="{5589B3AD-82BA-4136-9C9E-1C0378E9FE5D}" dt="2025-11-19T19:15:51.434" v="13" actId="6549"/>
          <ac:spMkLst>
            <pc:docMk/>
            <pc:sldMk cId="3253642882" sldId="386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391C066D-3AF1-4B4F-9031-B75B3FD2C054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57200" y="720725"/>
            <a:ext cx="64008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A4D49327-9843-45D3-98E9-241379F73BE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112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Last slide on 17 Nov 2025</a:t>
            </a:r>
          </a:p>
          <a:p>
            <a:r>
              <a:rPr lang="en-US" dirty="0"/>
              <a:t>Last slide on 15 Nov 2023</a:t>
            </a:r>
          </a:p>
          <a:p>
            <a:r>
              <a:rPr lang="en-US" dirty="0"/>
              <a:t>Last slide on 17 Apr 2020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5127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slide on 19 Nov 2025.  </a:t>
            </a:r>
            <a:r>
              <a:rPr lang="en-US"/>
              <a:t>Give worksheet on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204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slide but covered quickly on 14 Apr 2025.  Quiz over 5.3 and 7.1 on Wednesday.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24445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slide on 28 Nov 2022.  Skipped Law of Cosines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63471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3548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3826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slide on 18 Nov 2024.  Did not show any slides on 20 Nov.  Did quiz and overview </a:t>
            </a:r>
            <a:r>
              <a:rPr lang="en-US"/>
              <a:t>of worksheet.</a:t>
            </a:r>
            <a:endParaRPr lang="en-US" dirty="0"/>
          </a:p>
          <a:p>
            <a:r>
              <a:rPr lang="en-US" dirty="0"/>
              <a:t>No slides on 17 Apr 2024.  Just gave quiz and demonstrated how to answer 3 questions on the worksheet.</a:t>
            </a:r>
          </a:p>
          <a:p>
            <a:r>
              <a:rPr lang="en-US" dirty="0"/>
              <a:t>Last slide on 15 Apr 2024.  Solved on the board but did not show the resulting slide. BRING WORKSHEET FOR NEXT CLASS AFTER QUIZ on 7.1.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2192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Last slide on 13 Nov 2017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07531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Last slide on 13 Apr 2022</a:t>
            </a:r>
          </a:p>
          <a:p>
            <a:r>
              <a:rPr lang="en-US" dirty="0"/>
              <a:t>Last slide on 10 Nov 2017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57572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slide on 21 Nov 2025.  Gave worksheet and showed how </a:t>
            </a:r>
            <a:r>
              <a:rPr lang="en-US"/>
              <a:t>to solve it.</a:t>
            </a:r>
          </a:p>
          <a:p>
            <a:r>
              <a:rPr lang="en-US" dirty="0"/>
              <a:t>Last slide on 10 Nov 2017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2577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Last slide on 18 Apr 2025 but just gave them </a:t>
            </a:r>
            <a:r>
              <a:rPr lang="en-US"/>
              <a:t>the answer.</a:t>
            </a:r>
          </a:p>
          <a:p>
            <a:r>
              <a:rPr lang="en-US" dirty="0"/>
              <a:t>Last slide on 10 Nov 2017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99525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Last slide on 15 Nov 2017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1886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DA820-608A-9242-AA08-0AD50E9812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9B8DC5-8945-CC88-8AC4-1CE3FA59AA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8EFA3D-FA48-B9F7-8F50-164AD1E148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Last slide on 15 Nov 2017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265800-3DC7-EACE-3BE6-AA6C35B873B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3081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3135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C19388-4B7D-EAE5-F203-F52AC7351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8B5B65-264B-8A7A-FFE7-859BD02E82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0FA3ECFF-6FC2-3ACF-78B0-E63EEA4427C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30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:1.15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45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:1.41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60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80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:5.76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:11.47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   737Max</a:t>
                </a:r>
                <a:r>
                  <a:rPr lang="en-US" baseline="0" dirty="0"/>
                  <a:t> max landing weight </a:t>
                </a:r>
                <a14:m>
                  <m:oMath xmlns:m="http://schemas.openxmlformats.org/officeDocument/2006/math">
                    <m:r>
                      <a:rPr lang="en-US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150,000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𝑙𝑏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0FA3ECFF-6FC2-3ACF-78B0-E63EEA4427C6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30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:1.15𝑔</a:t>
                </a:r>
                <a:r>
                  <a:rPr lang="en-US" dirty="0"/>
                  <a:t>;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45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:1.41𝑔</a:t>
                </a:r>
                <a:r>
                  <a:rPr lang="en-US" dirty="0"/>
                  <a:t>;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60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:2𝑔</a:t>
                </a:r>
                <a:r>
                  <a:rPr lang="en-US" dirty="0"/>
                  <a:t>;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80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:5.76𝑔</a:t>
                </a:r>
                <a:r>
                  <a:rPr lang="en-US" dirty="0"/>
                  <a:t>;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85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:11.47𝑔</a:t>
                </a:r>
                <a:r>
                  <a:rPr lang="en-US" dirty="0"/>
                  <a:t>;   737Max</a:t>
                </a:r>
                <a:r>
                  <a:rPr lang="en-US" baseline="0" dirty="0"/>
                  <a:t> max landing weight </a:t>
                </a:r>
                <a:r>
                  <a:rPr lang="en-US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150,000𝑙𝑏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495BEF-D920-F2C3-4E01-B9FD809D7A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889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CEC96-C10D-B531-2F20-B47EFA312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A5C169-FF3D-61B7-EF8D-BF4B368B93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16111F6-ACEA-3E51-ED2F-E27A7E74A5F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30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:1.15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45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:1.41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60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:2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80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:5.76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:11.47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/>
                  <a:t>;   737Max</a:t>
                </a:r>
                <a:r>
                  <a:rPr lang="en-US" baseline="0" dirty="0"/>
                  <a:t> max landing weight </a:t>
                </a:r>
                <a14:m>
                  <m:oMath xmlns:m="http://schemas.openxmlformats.org/officeDocument/2006/math">
                    <m:r>
                      <a:rPr lang="en-US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150,000</m:t>
                    </m:r>
                    <m:r>
                      <a:rPr lang="en-US" b="0" i="1" baseline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𝑙𝑏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Notes Placeholder 2">
                <a:extLst>
                  <a:ext uri="{FF2B5EF4-FFF2-40B4-BE49-F238E27FC236}">
                    <a16:creationId xmlns:a16="http://schemas.microsoft.com/office/drawing/2014/main" id="{E16111F6-ACEA-3E51-ED2F-E27A7E74A5F1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30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:1.15𝑔</a:t>
                </a:r>
                <a:r>
                  <a:rPr lang="en-US" dirty="0"/>
                  <a:t>;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45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:1.41𝑔</a:t>
                </a:r>
                <a:r>
                  <a:rPr lang="en-US" dirty="0"/>
                  <a:t>;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60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:2𝑔</a:t>
                </a:r>
                <a:r>
                  <a:rPr lang="en-US" dirty="0"/>
                  <a:t>;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80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:5.76𝑔</a:t>
                </a:r>
                <a:r>
                  <a:rPr lang="en-US" dirty="0"/>
                  <a:t>;</a:t>
                </a:r>
                <a:r>
                  <a:rPr lang="en-US" b="0" dirty="0">
                    <a:ea typeface="Cambria Math" panose="02040503050406030204" pitchFamily="18" charset="0"/>
                  </a:rPr>
                  <a:t> 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85</a:t>
                </a:r>
                <a:r>
                  <a:rPr lang="en-US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°</a:t>
                </a:r>
                <a:r>
                  <a:rPr lang="en-US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:11.47𝑔</a:t>
                </a:r>
                <a:r>
                  <a:rPr lang="en-US" dirty="0"/>
                  <a:t>;   737Max</a:t>
                </a:r>
                <a:r>
                  <a:rPr lang="en-US" baseline="0" dirty="0"/>
                  <a:t> max landing weight </a:t>
                </a:r>
                <a:r>
                  <a:rPr lang="en-US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≈</a:t>
                </a:r>
                <a:r>
                  <a:rPr lang="en-US" b="0" i="0" baseline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150,000𝑙𝑏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887588-69B3-4CB5-3DA7-D3E9E02685D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7093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43681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Last slide on 22 Nov 2024</a:t>
            </a:r>
          </a:p>
          <a:p>
            <a:r>
              <a:rPr lang="en-US" dirty="0"/>
              <a:t>Last slide on 22 Apr 2024.  Showed lift vs. gravity at different angles of bank as last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46440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57200" y="720725"/>
            <a:ext cx="6400800" cy="36004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3172 </a:t>
            </a:r>
            <a:r>
              <a:rPr lang="en-US" dirty="0" err="1"/>
              <a:t>lb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4D49327-9843-45D3-98E9-241379F73BEB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513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3"/>
          <p:cNvSpPr>
            <a:spLocks noGrp="1"/>
          </p:cNvSpPr>
          <p:nvPr>
            <p:ph type="ctrTitle"/>
          </p:nvPr>
        </p:nvSpPr>
        <p:spPr>
          <a:xfrm>
            <a:off x="1910080" y="359898"/>
            <a:ext cx="9875520" cy="1472184"/>
          </a:xfrm>
        </p:spPr>
        <p:txBody>
          <a:bodyPr anchor="b"/>
          <a:lstStyle>
            <a:lvl1pPr algn="l">
              <a:defRPr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22" name="Subtitle 21"/>
          <p:cNvSpPr>
            <a:spLocks noGrp="1"/>
          </p:cNvSpPr>
          <p:nvPr>
            <p:ph type="subTitle" idx="1"/>
          </p:nvPr>
        </p:nvSpPr>
        <p:spPr>
          <a:xfrm>
            <a:off x="1910080" y="1850064"/>
            <a:ext cx="9875520" cy="1752600"/>
          </a:xfrm>
        </p:spPr>
        <p:txBody>
          <a:bodyPr tIns="0"/>
          <a:lstStyle>
            <a:lvl1pPr marL="27432" indent="0" algn="l">
              <a:buNone/>
              <a:defRPr sz="26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/>
              <a:t>Click to edit Master subtitle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20" name="Footer Placeholder 1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Oval 7"/>
          <p:cNvSpPr/>
          <p:nvPr/>
        </p:nvSpPr>
        <p:spPr>
          <a:xfrm>
            <a:off x="1228577" y="1413802"/>
            <a:ext cx="280416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Oval 8"/>
          <p:cNvSpPr/>
          <p:nvPr/>
        </p:nvSpPr>
        <p:spPr>
          <a:xfrm>
            <a:off x="1542901" y="1345016"/>
            <a:ext cx="85344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16000" y="76200"/>
            <a:ext cx="9997440" cy="114300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kumimoji="0"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6000" y="1219200"/>
            <a:ext cx="9997440" cy="4800600"/>
          </a:xfrm>
        </p:spPr>
        <p:txBody>
          <a:bodyPr>
            <a:normAutofit/>
          </a:bodyPr>
          <a:lstStyle>
            <a:lvl1pPr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1pPr>
            <a:lvl2pPr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2pPr>
            <a:lvl3pPr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3pPr>
            <a:lvl4pPr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4pPr>
            <a:lvl5pPr>
              <a:defRPr sz="2400">
                <a:latin typeface="Cambria" panose="02040503050406030204" pitchFamily="18" charset="0"/>
                <a:ea typeface="Cambria" panose="02040503050406030204" pitchFamily="18" charset="0"/>
              </a:defRPr>
            </a:lvl5pPr>
          </a:lstStyle>
          <a:p>
            <a:pPr lvl="0" eaLnBrk="1" latinLnBrk="0" hangingPunct="1"/>
            <a:r>
              <a:rPr lang="en-US" dirty="0"/>
              <a:t>Click to edit Master text styles</a:t>
            </a:r>
          </a:p>
          <a:p>
            <a:pPr lvl="1" eaLnBrk="1" latinLnBrk="0" hangingPunct="1"/>
            <a:r>
              <a:rPr lang="en-US" dirty="0"/>
              <a:t>Second level</a:t>
            </a:r>
          </a:p>
          <a:p>
            <a:pPr lvl="2" eaLnBrk="1" latinLnBrk="0" hangingPunct="1"/>
            <a:r>
              <a:rPr lang="en-US" dirty="0"/>
              <a:t>Third level</a:t>
            </a:r>
          </a:p>
          <a:p>
            <a:pPr lvl="3" eaLnBrk="1" latinLnBrk="0" hangingPunct="1"/>
            <a:r>
              <a:rPr lang="en-US" dirty="0"/>
              <a:t>Fourth level</a:t>
            </a:r>
          </a:p>
          <a:p>
            <a:pPr lvl="4" eaLnBrk="1" latinLnBrk="0" hangingPunct="1"/>
            <a:r>
              <a:rPr lang="en-US" dirty="0"/>
              <a:t>Fifth level</a:t>
            </a:r>
            <a:endParaRPr kumimoji="0"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043853" y="-54"/>
            <a:ext cx="91440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37856" y="2600325"/>
            <a:ext cx="8534400" cy="2286000"/>
          </a:xfrm>
        </p:spPr>
        <p:txBody>
          <a:bodyPr anchor="t"/>
          <a:lstStyle>
            <a:lvl1pPr algn="l">
              <a:lnSpc>
                <a:spcPts val="4500"/>
              </a:lnSpc>
              <a:buNone/>
              <a:defRPr sz="4000" b="1" cap="all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37856" y="1066800"/>
            <a:ext cx="8534400" cy="1509712"/>
          </a:xfrm>
        </p:spPr>
        <p:txBody>
          <a:bodyPr anchor="b"/>
          <a:lstStyle>
            <a:lvl1pPr marL="18288" indent="0">
              <a:lnSpc>
                <a:spcPts val="2300"/>
              </a:lnSpc>
              <a:spcBef>
                <a:spcPts val="0"/>
              </a:spcBef>
              <a:buNone/>
              <a:defRPr sz="2000">
                <a:solidFill>
                  <a:schemeClr val="tx2">
                    <a:shade val="30000"/>
                    <a:satMod val="150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10" name="Rectangle 9"/>
          <p:cNvSpPr/>
          <p:nvPr/>
        </p:nvSpPr>
        <p:spPr bwMode="invGray">
          <a:xfrm>
            <a:off x="3048000" y="0"/>
            <a:ext cx="101600" cy="6858054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>
            <a:outerShdw blurRad="38550" dist="38000" dir="10800000" algn="tl" rotWithShape="0">
              <a:schemeClr val="bg2">
                <a:shade val="20000"/>
                <a:satMod val="110000"/>
                <a:alpha val="25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8" name="Oval 7"/>
          <p:cNvSpPr/>
          <p:nvPr/>
        </p:nvSpPr>
        <p:spPr>
          <a:xfrm>
            <a:off x="2896428" y="2814656"/>
            <a:ext cx="280416" cy="210312"/>
          </a:xfrm>
          <a:prstGeom prst="ellipse">
            <a:avLst/>
          </a:prstGeom>
          <a:gradFill rotWithShape="1">
            <a:gsLst>
              <a:gs pos="0">
                <a:schemeClr val="accent1">
                  <a:tint val="20000"/>
                  <a:satMod val="450000"/>
                  <a:alpha val="95000"/>
                </a:schemeClr>
              </a:gs>
              <a:gs pos="50000">
                <a:schemeClr val="accent1">
                  <a:tint val="38000"/>
                  <a:satMod val="250000"/>
                  <a:alpha val="90000"/>
                </a:schemeClr>
              </a:gs>
              <a:gs pos="95000">
                <a:schemeClr val="accent1">
                  <a:tint val="75000"/>
                  <a:satMod val="255000"/>
                  <a:alpha val="88000"/>
                </a:schemeClr>
              </a:gs>
              <a:gs pos="100000">
                <a:schemeClr val="accent1">
                  <a:tint val="100000"/>
                  <a:shade val="90000"/>
                  <a:satMod val="255000"/>
                  <a:alpha val="85000"/>
                </a:schemeClr>
              </a:gs>
            </a:gsLst>
            <a:path path="circle">
              <a:fillToRect l="25000" t="12500" r="75000" b="87500"/>
            </a:path>
          </a:gradFill>
          <a:ln w="2000" cap="rnd" cmpd="sng" algn="ctr">
            <a:solidFill>
              <a:schemeClr val="accent1">
                <a:shade val="90000"/>
                <a:satMod val="110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9" name="Oval 8"/>
          <p:cNvSpPr/>
          <p:nvPr/>
        </p:nvSpPr>
        <p:spPr>
          <a:xfrm>
            <a:off x="3210752" y="2745870"/>
            <a:ext cx="85344" cy="64008"/>
          </a:xfrm>
          <a:prstGeom prst="ellipse">
            <a:avLst/>
          </a:prstGeom>
          <a:noFill/>
          <a:ln w="12700" cap="rnd" cmpd="sng" algn="ctr">
            <a:solidFill>
              <a:schemeClr val="accent1">
                <a:shade val="75000"/>
                <a:alpha val="6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4144" y="274320"/>
            <a:ext cx="9997440" cy="1143000"/>
          </a:xfrm>
        </p:spPr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914144" y="1524000"/>
            <a:ext cx="48768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034784" y="1524000"/>
            <a:ext cx="4876800" cy="466344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5160336"/>
            <a:ext cx="10972800" cy="1143000"/>
          </a:xfrm>
        </p:spPr>
        <p:txBody>
          <a:bodyPr anchor="ctr"/>
          <a:lstStyle>
            <a:lvl1pPr algn="ctr">
              <a:defRPr sz="4500" b="1" cap="none" baseline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328278"/>
            <a:ext cx="536448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6217920" y="328278"/>
            <a:ext cx="5364480" cy="640080"/>
          </a:xfrm>
          <a:solidFill>
            <a:schemeClr val="bg1"/>
          </a:solidFill>
          <a:ln w="10795">
            <a:solidFill>
              <a:schemeClr val="bg1"/>
            </a:solidFill>
            <a:miter lim="800000"/>
          </a:ln>
        </p:spPr>
        <p:txBody>
          <a:bodyPr anchor="ctr"/>
          <a:lstStyle>
            <a:lvl1pPr marL="64008" indent="0" algn="l">
              <a:lnSpc>
                <a:spcPct val="100000"/>
              </a:lnSpc>
              <a:spcBef>
                <a:spcPts val="100"/>
              </a:spcBef>
              <a:buNone/>
              <a:defRPr sz="1900" b="0">
                <a:solidFill>
                  <a:schemeClr val="tx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609600" y="969336"/>
            <a:ext cx="536448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969336"/>
            <a:ext cx="5364480" cy="4114800"/>
          </a:xfrm>
          <a:ln w="10795">
            <a:solidFill>
              <a:schemeClr val="bg1"/>
            </a:solidFill>
            <a:prstDash val="dash"/>
            <a:miter lim="800000"/>
          </a:ln>
        </p:spPr>
        <p:txBody>
          <a:bodyPr/>
          <a:lstStyle>
            <a:lvl1pPr marL="393192" indent="-274320">
              <a:lnSpc>
                <a:spcPct val="100000"/>
              </a:lnSpc>
              <a:spcBef>
                <a:spcPts val="700"/>
              </a:spcBef>
              <a:defRPr sz="2400"/>
            </a:lvl1pPr>
            <a:lvl2pPr>
              <a:lnSpc>
                <a:spcPct val="100000"/>
              </a:lnSpc>
              <a:spcBef>
                <a:spcPts val="700"/>
              </a:spcBef>
              <a:defRPr sz="2000"/>
            </a:lvl2pPr>
            <a:lvl3pPr>
              <a:lnSpc>
                <a:spcPct val="100000"/>
              </a:lnSpc>
              <a:spcBef>
                <a:spcPts val="700"/>
              </a:spcBef>
              <a:defRPr sz="1800"/>
            </a:lvl3pPr>
            <a:lvl4pPr>
              <a:lnSpc>
                <a:spcPct val="100000"/>
              </a:lnSpc>
              <a:spcBef>
                <a:spcPts val="700"/>
              </a:spcBef>
              <a:defRPr sz="1600"/>
            </a:lvl4pPr>
            <a:lvl5pPr>
              <a:lnSpc>
                <a:spcPct val="100000"/>
              </a:lnSpc>
              <a:spcBef>
                <a:spcPts val="700"/>
              </a:spcBef>
              <a:defRPr sz="16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4144" y="274320"/>
            <a:ext cx="9997440" cy="1143000"/>
          </a:xfrm>
        </p:spPr>
        <p:txBody>
          <a:bodyPr anchor="ctr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353312" y="0"/>
            <a:ext cx="10838688" cy="6858000"/>
          </a:xfrm>
          <a:prstGeom prst="rect">
            <a:avLst/>
          </a:prstGeom>
          <a:solidFill>
            <a:schemeClr val="bg1"/>
          </a:solidFill>
          <a:ln w="25400" cap="rnd" cmpd="sng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216778"/>
            <a:ext cx="5080000" cy="1162050"/>
          </a:xfrm>
          <a:ln>
            <a:noFill/>
          </a:ln>
        </p:spPr>
        <p:txBody>
          <a:bodyPr anchor="b"/>
          <a:lstStyle>
            <a:lvl1pPr algn="l">
              <a:lnSpc>
                <a:spcPts val="2000"/>
              </a:lnSpc>
              <a:buNone/>
              <a:defRPr sz="2200" b="1" cap="all" baseline="0"/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1320800" y="1406964"/>
            <a:ext cx="5080000" cy="698500"/>
          </a:xfrm>
        </p:spPr>
        <p:txBody>
          <a:bodyPr/>
          <a:lstStyle>
            <a:lvl1pPr marL="45720" indent="0">
              <a:lnSpc>
                <a:spcPct val="100000"/>
              </a:lnSpc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1320800" y="2133601"/>
            <a:ext cx="10871200" cy="39925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49195" y="1066800"/>
            <a:ext cx="3657600" cy="1981200"/>
          </a:xfrm>
        </p:spPr>
        <p:txBody>
          <a:bodyPr anchor="b">
            <a:noAutofit/>
          </a:bodyPr>
          <a:lstStyle>
            <a:lvl1pPr algn="l">
              <a:buNone/>
              <a:defRPr sz="2100" b="1">
                <a:effectLst/>
              </a:defRPr>
            </a:lvl1pPr>
            <a:extLst/>
          </a:lstStyle>
          <a:p>
            <a:r>
              <a:rPr kumimoji="0" lang="en-US"/>
              <a:t>Click to edit Master title style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  <p:sp>
        <p:nvSpPr>
          <p:cNvPr id="8" name="Rectangle 7"/>
          <p:cNvSpPr/>
          <p:nvPr/>
        </p:nvSpPr>
        <p:spPr>
          <a:xfrm>
            <a:off x="1016000" y="1066800"/>
            <a:ext cx="6096000" cy="4572000"/>
          </a:xfrm>
          <a:prstGeom prst="rect">
            <a:avLst/>
          </a:prstGeom>
          <a:solidFill>
            <a:srgbClr val="FFFFFF"/>
          </a:solidFill>
          <a:ln w="88900" cap="sq">
            <a:solidFill>
              <a:srgbClr val="FFFFFF"/>
            </a:solidFill>
            <a:miter lim="800000"/>
          </a:ln>
          <a:effectLst>
            <a:outerShdw blurRad="55500" dist="18500" dir="5400000" algn="tl" rotWithShape="0">
              <a:srgbClr val="000000">
                <a:alpha val="3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 contourW="635">
            <a:bevelT w="25400" h="19050"/>
            <a:contourClr>
              <a:srgbClr val="969696"/>
            </a:contourClr>
          </a:sp3d>
        </p:spPr>
        <p:txBody>
          <a:bodyPr lIns="91440" tIns="274320" rtlCol="0" anchor="t">
            <a:normAutofit/>
          </a:bodyPr>
          <a:lstStyle/>
          <a:p>
            <a:pPr marL="0" indent="-283464" algn="l" rtl="0" eaLnBrk="1" latinLnBrk="0" hangingPunct="1">
              <a:lnSpc>
                <a:spcPts val="3000"/>
              </a:lnSpc>
              <a:spcBef>
                <a:spcPts val="600"/>
              </a:spcBef>
              <a:buClr>
                <a:schemeClr val="accent1"/>
              </a:buClr>
              <a:buSzPct val="80000"/>
              <a:buFont typeface="Wingdings 2"/>
              <a:buNone/>
            </a:pPr>
            <a:endParaRPr kumimoji="0" lang="en-US" sz="32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17600" y="1143004"/>
            <a:ext cx="5892800" cy="3514531"/>
          </a:xfrm>
          <a:prstGeom prst="roundRect">
            <a:avLst>
              <a:gd name="adj" fmla="val 783"/>
            </a:avLst>
          </a:prstGeom>
          <a:solidFill>
            <a:schemeClr val="bg2"/>
          </a:solidFill>
          <a:ln w="127000">
            <a:noFill/>
            <a:miter lim="800000"/>
          </a:ln>
          <a:effectLst/>
        </p:spPr>
        <p:txBody>
          <a:bodyPr lIns="91440" tIns="274320" anchor="t"/>
          <a:lstStyle>
            <a:lvl1pPr marL="0" indent="0" algn="l" eaLnBrk="1" latinLnBrk="0" hangingPunct="1">
              <a:buNone/>
              <a:defRPr sz="3200"/>
            </a:lvl1pPr>
            <a:extLst/>
          </a:lstStyle>
          <a:p>
            <a:pPr marL="0" algn="l" eaLnBrk="1" latinLnBrk="0" hangingPunct="1"/>
            <a:r>
              <a:rPr kumimoji="0" lang="en-US"/>
              <a:t>Click icon to add picture</a:t>
            </a:r>
            <a:endParaRPr kumimoji="0" lang="en-US" dirty="0"/>
          </a:p>
        </p:txBody>
      </p:sp>
      <p:sp>
        <p:nvSpPr>
          <p:cNvPr id="9" name="Flowchart: Process 8"/>
          <p:cNvSpPr/>
          <p:nvPr/>
        </p:nvSpPr>
        <p:spPr>
          <a:xfrm rot="19468671">
            <a:off x="528967" y="954341"/>
            <a:ext cx="914400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shade val="90000"/>
                <a:satMod val="200000"/>
                <a:alpha val="4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/>
          </a:p>
        </p:txBody>
      </p:sp>
      <p:sp>
        <p:nvSpPr>
          <p:cNvPr id="10" name="Flowchart: Process 9"/>
          <p:cNvSpPr/>
          <p:nvPr/>
        </p:nvSpPr>
        <p:spPr>
          <a:xfrm rot="2103354" flipH="1">
            <a:off x="6671556" y="936786"/>
            <a:ext cx="865632" cy="204310"/>
          </a:xfrm>
          <a:prstGeom prst="flowChartProcess">
            <a:avLst/>
          </a:prstGeom>
          <a:solidFill>
            <a:srgbClr val="FBFBFB">
              <a:alpha val="45098"/>
            </a:srgbClr>
          </a:solidFill>
          <a:ln w="6350" cap="rnd" cmpd="sng" algn="ctr">
            <a:solidFill>
              <a:srgbClr val="FFFFFF">
                <a:alpha val="100000"/>
              </a:srgbClr>
            </a:solidFill>
            <a:prstDash val="solid"/>
          </a:ln>
          <a:effectLst>
            <a:outerShdw blurRad="25400" dist="25400" dir="3300000" sx="96000" sy="96000" algn="tl" rotWithShape="0">
              <a:schemeClr val="bg2">
                <a:alpha val="20000"/>
              </a:scheme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0" hangingPunct="1"/>
            <a:endParaRPr kumimoji="0" lang="en-US" sz="1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7600" y="4800600"/>
            <a:ext cx="5892800" cy="762000"/>
          </a:xfrm>
        </p:spPr>
        <p:txBody>
          <a:bodyPr anchor="ctr"/>
          <a:lstStyle>
            <a:lvl1pPr marL="0" indent="0" algn="l">
              <a:lnSpc>
                <a:spcPts val="1600"/>
              </a:lnSpc>
              <a:spcBef>
                <a:spcPts val="0"/>
              </a:spcBef>
              <a:buNone/>
              <a:defRPr sz="1400">
                <a:solidFill>
                  <a:srgbClr val="777777"/>
                </a:solidFill>
              </a:defRPr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/>
              <a:t>Click to edit Master text styles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44000" y="274640"/>
            <a:ext cx="2438400" cy="5851525"/>
          </a:xfrm>
        </p:spPr>
        <p:txBody>
          <a:bodyPr vert="eaVert"/>
          <a:lstStyle/>
          <a:p>
            <a:r>
              <a:rPr kumimoji="0"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274641"/>
            <a:ext cx="7416800" cy="5851525"/>
          </a:xfrm>
        </p:spPr>
        <p:txBody>
          <a:bodyPr vert="eaVert"/>
          <a:lstStyle/>
          <a:p>
            <a:pPr lvl="0" eaLnBrk="1" latinLnBrk="0" hangingPunct="1"/>
            <a:r>
              <a:rPr lang="en-US"/>
              <a:t>Click to edit Master text styles</a:t>
            </a:r>
          </a:p>
          <a:p>
            <a:pPr lvl="1" eaLnBrk="1" latinLnBrk="0" hangingPunct="1"/>
            <a:r>
              <a:rPr lang="en-US"/>
              <a:t>Second level</a:t>
            </a:r>
          </a:p>
          <a:p>
            <a:pPr lvl="2" eaLnBrk="1" latinLnBrk="0" hangingPunct="1"/>
            <a:r>
              <a:rPr lang="en-US"/>
              <a:t>Third level</a:t>
            </a:r>
          </a:p>
          <a:p>
            <a:pPr lvl="3" eaLnBrk="1" latinLnBrk="0" hangingPunct="1"/>
            <a:r>
              <a:rPr lang="en-US"/>
              <a:t>Fourth level</a:t>
            </a:r>
          </a:p>
          <a:p>
            <a:pPr lvl="4" eaLnBrk="1" latinLnBrk="0" hangingPunct="1"/>
            <a:r>
              <a:rPr lang="en-US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AB02A5-4FE5-49D9-9E24-09F23B90C450}" type="datetimeFigureOut">
              <a:rPr lang="en-US" smtClean="0"/>
              <a:pPr/>
              <a:t>12/1/2025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4C92D-0306-4E69-9CD3-20855E849650}" type="slidenum">
              <a:rPr kumimoji="0" lang="en-US" smtClean="0"/>
              <a:pPr/>
              <a:t>‹#›</a:t>
            </a:fld>
            <a:endParaRPr kumimoji="0"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eaLnBrk="1" latinLnBrk="0" hangingPunct="1"/>
            <a:fld id="{54AB02A5-4FE5-49D9-9E24-09F23B90C450}" type="datetimeFigureOut">
              <a:rPr lang="en-US" smtClean="0"/>
              <a:pPr algn="r" eaLnBrk="1" latinLnBrk="0" hangingPunct="1"/>
              <a:t>12/1/2025</a:t>
            </a:fld>
            <a:endParaRPr lang="en-US" sz="120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 sz="1200">
              <a:solidFill>
                <a:schemeClr val="bg2">
                  <a:shade val="50000"/>
                </a:schemeClr>
              </a:solidFill>
              <a:effectLst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ctr" eaLnBrk="1" latinLnBrk="0" hangingPunct="1"/>
            <a:fld id="{6294C92D-0306-4E69-9CD3-20855E849650}" type="slidenum">
              <a:rPr kumimoji="0" lang="en-US" smtClean="0"/>
              <a:pPr algn="ctr" eaLnBrk="1" latinLnBrk="0" hangingPunct="1"/>
              <a:t>‹#›</a:t>
            </a:fld>
            <a:endParaRPr kumimoji="0" lang="en-US" sz="1200">
              <a:solidFill>
                <a:schemeClr val="bg2">
                  <a:shade val="50000"/>
                </a:schemeClr>
              </a:solidFill>
              <a:effectLst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4"/>
          <p:cNvSpPr>
            <a:spLocks noGrp="1"/>
          </p:cNvSpPr>
          <p:nvPr>
            <p:ph type="title"/>
          </p:nvPr>
        </p:nvSpPr>
        <p:spPr>
          <a:xfrm>
            <a:off x="1016000" y="76200"/>
            <a:ext cx="9997440" cy="1143000"/>
          </a:xfrm>
          <a:prstGeom prst="rect">
            <a:avLst/>
          </a:prstGeom>
        </p:spPr>
        <p:txBody>
          <a:bodyPr anchor="ctr">
            <a:normAutofit/>
          </a:bodyPr>
          <a:lstStyle/>
          <a:p>
            <a:r>
              <a:rPr kumimoji="0" lang="en-US" dirty="0"/>
              <a:t>Click to edit Master title style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1"/>
          </p:nvPr>
        </p:nvSpPr>
        <p:spPr>
          <a:xfrm>
            <a:off x="1016000" y="1219200"/>
            <a:ext cx="9997440" cy="4800600"/>
          </a:xfrm>
          <a:prstGeom prst="rect">
            <a:avLst/>
          </a:prstGeom>
        </p:spPr>
        <p:txBody>
          <a:bodyPr>
            <a:normAutofit/>
          </a:bodyPr>
          <a:lstStyle/>
          <a:p>
            <a:pPr lvl="0" eaLnBrk="1" latinLnBrk="0" hangingPunct="1"/>
            <a:r>
              <a:rPr kumimoji="0" lang="en-US" dirty="0"/>
              <a:t>Click to edit Master text styles</a:t>
            </a:r>
          </a:p>
          <a:p>
            <a:pPr lvl="1" eaLnBrk="1" latinLnBrk="0" hangingPunct="1"/>
            <a:r>
              <a:rPr kumimoji="0" lang="en-US" dirty="0"/>
              <a:t>Second level</a:t>
            </a:r>
          </a:p>
          <a:p>
            <a:pPr lvl="2" eaLnBrk="1" latinLnBrk="0" hangingPunct="1"/>
            <a:r>
              <a:rPr kumimoji="0" lang="en-US" dirty="0"/>
              <a:t>Third level</a:t>
            </a:r>
          </a:p>
          <a:p>
            <a:pPr lvl="3" eaLnBrk="1" latinLnBrk="0" hangingPunct="1"/>
            <a:r>
              <a:rPr kumimoji="0" lang="en-US" dirty="0"/>
              <a:t>Fourth level</a:t>
            </a:r>
          </a:p>
          <a:p>
            <a:pPr lvl="4" eaLnBrk="1" latinLnBrk="0" hangingPunct="1"/>
            <a:r>
              <a:rPr kumimoji="0" lang="en-US" dirty="0"/>
              <a:t>Fifth level</a:t>
            </a:r>
          </a:p>
        </p:txBody>
      </p:sp>
      <p:sp>
        <p:nvSpPr>
          <p:cNvPr id="24" name="Date Placeholder 23"/>
          <p:cNvSpPr>
            <a:spLocks noGrp="1"/>
          </p:cNvSpPr>
          <p:nvPr>
            <p:ph type="dt" sz="half" idx="2"/>
          </p:nvPr>
        </p:nvSpPr>
        <p:spPr>
          <a:xfrm>
            <a:off x="4775200" y="6305550"/>
            <a:ext cx="2844800" cy="476250"/>
          </a:xfrm>
          <a:prstGeom prst="rect">
            <a:avLst/>
          </a:prstGeom>
        </p:spPr>
        <p:txBody>
          <a:bodyPr anchor="b"/>
          <a:lstStyle>
            <a:lvl1pPr algn="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</a:defRPr>
            </a:lvl1pPr>
            <a:extLst/>
          </a:lstStyle>
          <a:p>
            <a:pPr algn="r" eaLnBrk="1" latinLnBrk="0" hangingPunct="1"/>
            <a:fld id="{54AB02A5-4FE5-49D9-9E24-09F23B90C450}" type="datetimeFigureOut">
              <a:rPr lang="en-US" smtClean="0"/>
              <a:pPr algn="r" eaLnBrk="1" latinLnBrk="0" hangingPunct="1"/>
              <a:t>12/1/2025</a:t>
            </a:fld>
            <a:endParaRPr lang="en-US" sz="1200">
              <a:solidFill>
                <a:schemeClr val="bg2">
                  <a:shade val="50000"/>
                </a:schemeClr>
              </a:solidFill>
            </a:endParaRPr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3"/>
          </p:nvPr>
        </p:nvSpPr>
        <p:spPr>
          <a:xfrm>
            <a:off x="7620000" y="6305550"/>
            <a:ext cx="3860800" cy="476250"/>
          </a:xfrm>
          <a:prstGeom prst="rect">
            <a:avLst/>
          </a:prstGeom>
        </p:spPr>
        <p:txBody>
          <a:bodyPr anchor="b"/>
          <a:lstStyle>
            <a:lvl1pPr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endParaRPr kumimoji="0" lang="en-US" sz="1200">
              <a:solidFill>
                <a:schemeClr val="bg2">
                  <a:shade val="50000"/>
                </a:schemeClr>
              </a:solidFill>
              <a:effectLst/>
            </a:endParaRPr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4"/>
          </p:nvPr>
        </p:nvSpPr>
        <p:spPr>
          <a:xfrm>
            <a:off x="11484864" y="6305550"/>
            <a:ext cx="609600" cy="476250"/>
          </a:xfrm>
          <a:prstGeom prst="rect">
            <a:avLst/>
          </a:prstGeom>
        </p:spPr>
        <p:txBody>
          <a:bodyPr anchor="b"/>
          <a:lstStyle>
            <a:lvl1pPr algn="ctr" eaLnBrk="1" latinLnBrk="0" hangingPunct="1">
              <a:defRPr kumimoji="0" sz="1200">
                <a:solidFill>
                  <a:schemeClr val="bg2">
                    <a:shade val="50000"/>
                    <a:satMod val="200000"/>
                  </a:schemeClr>
                </a:solidFill>
                <a:effectLst/>
              </a:defRPr>
            </a:lvl1pPr>
            <a:extLst/>
          </a:lstStyle>
          <a:p>
            <a:pPr algn="ctr" eaLnBrk="1" latinLnBrk="0" hangingPunct="1"/>
            <a:fld id="{6294C92D-0306-4E69-9CD3-20855E849650}" type="slidenum">
              <a:rPr kumimoji="0" lang="en-US" smtClean="0"/>
              <a:pPr algn="ctr" eaLnBrk="1" latinLnBrk="0" hangingPunct="1"/>
              <a:t>‹#›</a:t>
            </a:fld>
            <a:endParaRPr kumimoji="0" lang="en-US" sz="1200">
              <a:solidFill>
                <a:schemeClr val="bg2">
                  <a:shade val="50000"/>
                </a:schemeClr>
              </a:solidFill>
              <a:effectLst/>
            </a:endParaRPr>
          </a:p>
        </p:txBody>
      </p:sp>
      <p:grpSp>
        <p:nvGrpSpPr>
          <p:cNvPr id="13" name="Group 2"/>
          <p:cNvGrpSpPr>
            <a:grpSpLocks/>
          </p:cNvGrpSpPr>
          <p:nvPr userDrawn="1"/>
        </p:nvGrpSpPr>
        <p:grpSpPr bwMode="auto">
          <a:xfrm>
            <a:off x="304800" y="381000"/>
            <a:ext cx="711200" cy="6096000"/>
            <a:chOff x="144" y="240"/>
            <a:chExt cx="336" cy="3840"/>
          </a:xfrm>
        </p:grpSpPr>
        <p:sp>
          <p:nvSpPr>
            <p:cNvPr id="14" name="Rectangle 3"/>
            <p:cNvSpPr>
              <a:spLocks noChangeArrowheads="1"/>
            </p:cNvSpPr>
            <p:nvPr/>
          </p:nvSpPr>
          <p:spPr bwMode="auto">
            <a:xfrm>
              <a:off x="144" y="240"/>
              <a:ext cx="288" cy="3840"/>
            </a:xfrm>
            <a:prstGeom prst="rect">
              <a:avLst/>
            </a:prstGeom>
            <a:solidFill>
              <a:schemeClr val="accent1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800"/>
            </a:p>
          </p:txBody>
        </p:sp>
        <p:sp>
          <p:nvSpPr>
            <p:cNvPr id="16" name="Rectangle 4"/>
            <p:cNvSpPr>
              <a:spLocks noChangeArrowheads="1"/>
            </p:cNvSpPr>
            <p:nvPr/>
          </p:nvSpPr>
          <p:spPr bwMode="auto">
            <a:xfrm>
              <a:off x="336" y="240"/>
              <a:ext cx="96" cy="3840"/>
            </a:xfrm>
            <a:prstGeom prst="rect">
              <a:avLst/>
            </a:prstGeom>
            <a:solidFill>
              <a:srgbClr val="009999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800"/>
            </a:p>
          </p:txBody>
        </p:sp>
        <p:sp>
          <p:nvSpPr>
            <p:cNvPr id="17" name="Rectangle 5"/>
            <p:cNvSpPr>
              <a:spLocks noChangeArrowheads="1"/>
            </p:cNvSpPr>
            <p:nvPr/>
          </p:nvSpPr>
          <p:spPr bwMode="auto">
            <a:xfrm>
              <a:off x="432" y="240"/>
              <a:ext cx="48" cy="3840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 wrap="none" anchor="ctr"/>
            <a:lstStyle/>
            <a:p>
              <a:endParaRPr lang="en-US" sz="1800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rtl="0" eaLnBrk="1" latinLnBrk="0" hangingPunct="1">
        <a:spcBef>
          <a:spcPct val="0"/>
        </a:spcBef>
        <a:buNone/>
        <a:defRPr kumimoji="0" sz="3200" kern="1200">
          <a:solidFill>
            <a:srgbClr val="000066"/>
          </a:solidFill>
          <a:effectLst>
            <a:outerShdw blurRad="50000" dist="30000" dir="5400000" algn="tl" rotWithShape="0">
              <a:srgbClr val="000000">
                <a:alpha val="30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83464" algn="l" rtl="0" eaLnBrk="1" latinLnBrk="0" hangingPunct="1">
        <a:lnSpc>
          <a:spcPct val="100000"/>
        </a:lnSpc>
        <a:spcBef>
          <a:spcPts val="600"/>
        </a:spcBef>
        <a:buClr>
          <a:schemeClr val="accent1"/>
        </a:buClr>
        <a:buSzPct val="80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37744" algn="l" rtl="0" eaLnBrk="1" latinLnBrk="0" hangingPunct="1">
        <a:lnSpc>
          <a:spcPct val="100000"/>
        </a:lnSpc>
        <a:spcBef>
          <a:spcPts val="550"/>
        </a:spcBef>
        <a:buClr>
          <a:schemeClr val="accent1"/>
        </a:buClr>
        <a:buFont typeface="Verdana"/>
        <a:buChar char="◦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886968" indent="-228600" algn="l" rtl="0" eaLnBrk="1" latinLnBrk="0" hangingPunct="1">
        <a:lnSpc>
          <a:spcPct val="100000"/>
        </a:lnSpc>
        <a:spcBef>
          <a:spcPct val="20000"/>
        </a:spcBef>
        <a:buClr>
          <a:schemeClr val="accent2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097280" indent="-173736" algn="l" rtl="0" eaLnBrk="1" latinLnBrk="0" hangingPunct="1">
        <a:lnSpc>
          <a:spcPct val="100000"/>
        </a:lnSpc>
        <a:spcBef>
          <a:spcPct val="20000"/>
        </a:spcBef>
        <a:buClr>
          <a:schemeClr val="accent3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182880" algn="l" rtl="0" eaLnBrk="1" latinLnBrk="0" hangingPunct="1">
        <a:lnSpc>
          <a:spcPct val="100000"/>
        </a:lnSpc>
        <a:spcBef>
          <a:spcPct val="20000"/>
        </a:spcBef>
        <a:buClr>
          <a:schemeClr val="accent4"/>
        </a:buClr>
        <a:buFont typeface="Wingdings 2"/>
        <a:buChar char="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1508760" indent="-182880" algn="l" rtl="0" eaLnBrk="1" latinLnBrk="0" hangingPunct="1">
        <a:lnSpc>
          <a:spcPct val="100000"/>
        </a:lnSpc>
        <a:spcBef>
          <a:spcPct val="20000"/>
        </a:spcBef>
        <a:buClr>
          <a:schemeClr val="accent5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171907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1920240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2130552" indent="-182880" algn="l" rtl="0" eaLnBrk="1" latinLnBrk="0" hangingPunct="1">
        <a:lnSpc>
          <a:spcPct val="100000"/>
        </a:lnSpc>
        <a:spcBef>
          <a:spcPct val="20000"/>
        </a:spcBef>
        <a:buClr>
          <a:schemeClr val="accent6"/>
        </a:buClr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3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0.png"/><Relationship Id="rId5" Type="http://schemas.openxmlformats.org/officeDocument/2006/relationships/image" Target="../media/image61.pn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e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.xml"/><Relationship Id="rId1" Type="http://schemas.openxmlformats.org/officeDocument/2006/relationships/tags" Target="../tags/tag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7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2400" y="2600325"/>
            <a:ext cx="6400800" cy="2286000"/>
          </a:xfrm>
        </p:spPr>
        <p:txBody>
          <a:bodyPr>
            <a:normAutofit/>
          </a:bodyPr>
          <a:lstStyle/>
          <a:p>
            <a:r>
              <a:rPr lang="en-US" sz="2800" dirty="0"/>
              <a:t>Vectors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2400" y="1066800"/>
            <a:ext cx="6400800" cy="1509712"/>
          </a:xfrm>
        </p:spPr>
        <p:txBody>
          <a:bodyPr>
            <a:normAutofit/>
          </a:bodyPr>
          <a:lstStyle/>
          <a:p>
            <a:r>
              <a:rPr lang="en-US" sz="3600" dirty="0"/>
              <a:t>8.4</a:t>
            </a:r>
          </a:p>
        </p:txBody>
      </p: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Vectors and Scalars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8305800" cy="48006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In general, a quantity for which we must specify both </a:t>
            </a:r>
            <a:r>
              <a:rPr lang="en-US" i="1" dirty="0">
                <a:solidFill>
                  <a:srgbClr val="0000CC"/>
                </a:solidFill>
              </a:rPr>
              <a:t>magnitude</a:t>
            </a:r>
            <a:r>
              <a:rPr lang="en-US" dirty="0"/>
              <a:t> and </a:t>
            </a:r>
            <a:r>
              <a:rPr lang="en-US" i="1" dirty="0">
                <a:solidFill>
                  <a:srgbClr val="0000CC"/>
                </a:solidFill>
              </a:rPr>
              <a:t>direction</a:t>
            </a:r>
            <a:r>
              <a:rPr lang="en-US" dirty="0"/>
              <a:t> is called a </a:t>
            </a:r>
            <a:r>
              <a:rPr lang="en-US" b="1" i="1" dirty="0"/>
              <a:t>vector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Typically represented by a directed line segment (arrow).</a:t>
            </a:r>
          </a:p>
          <a:p>
            <a:pPr lvl="1"/>
            <a:r>
              <a:rPr lang="en-US" dirty="0"/>
              <a:t>Example:  Wind effect on aircraft heading and speed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0"/>
            <a:r>
              <a:rPr lang="en-US" dirty="0"/>
              <a:t>Scalar – quantity that is expressed in magnitude only.</a:t>
            </a:r>
          </a:p>
          <a:p>
            <a:pPr lvl="1"/>
            <a:r>
              <a:rPr lang="en-US" dirty="0"/>
              <a:t>Example:  Speed</a:t>
            </a:r>
          </a:p>
          <a:p>
            <a:pPr lvl="0"/>
            <a:r>
              <a:rPr lang="en-US" dirty="0"/>
              <a:t>Vector – magnitude and direction</a:t>
            </a:r>
          </a:p>
          <a:p>
            <a:pPr lvl="1"/>
            <a:r>
              <a:rPr lang="en-US" dirty="0"/>
              <a:t>Example:  Velocity is a vector quantity</a:t>
            </a:r>
          </a:p>
          <a:p>
            <a:pPr marL="82296" indent="0">
              <a:buNone/>
            </a:pPr>
            <a:endParaRPr lang="en-US" sz="2200" i="1" dirty="0"/>
          </a:p>
        </p:txBody>
      </p:sp>
    </p:spTree>
    <p:extLst>
      <p:ext uri="{BB962C8B-B14F-4D97-AF65-F5344CB8AC3E}">
        <p14:creationId xmlns:p14="http://schemas.microsoft.com/office/powerpoint/2010/main" val="3804989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 Boating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7924800" cy="4800600"/>
          </a:xfrm>
        </p:spPr>
        <p:txBody>
          <a:bodyPr>
            <a:noAutofit/>
          </a:bodyPr>
          <a:lstStyle/>
          <a:p>
            <a:pPr marL="82296" indent="0">
              <a:buNone/>
            </a:pPr>
            <a:r>
              <a:rPr lang="en-US" dirty="0"/>
              <a:t>A boat is motoring on a </a:t>
            </a:r>
            <a:r>
              <a:rPr lang="en-US" dirty="0">
                <a:solidFill>
                  <a:srgbClr val="0000CC"/>
                </a:solidFill>
              </a:rPr>
              <a:t>.4</a:t>
            </a:r>
            <a:r>
              <a:rPr lang="en-US" dirty="0"/>
              <a:t> mile-wide river at </a:t>
            </a:r>
            <a:r>
              <a:rPr lang="en-US" dirty="0">
                <a:solidFill>
                  <a:srgbClr val="0000CC"/>
                </a:solidFill>
              </a:rPr>
              <a:t>8 mi/h</a:t>
            </a:r>
            <a:r>
              <a:rPr lang="en-US" dirty="0"/>
              <a:t> with current </a:t>
            </a:r>
            <a:r>
              <a:rPr lang="en-US" dirty="0">
                <a:solidFill>
                  <a:srgbClr val="0000CC"/>
                </a:solidFill>
              </a:rPr>
              <a:t>6 mi/h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When heading downstream (with the current) the boat moves at </a:t>
            </a:r>
            <a:r>
              <a:rPr lang="en-US" dirty="0">
                <a:solidFill>
                  <a:srgbClr val="0000CC"/>
                </a:solidFill>
              </a:rPr>
              <a:t>14 mi/h</a:t>
            </a:r>
            <a:r>
              <a:rPr lang="en-US" dirty="0"/>
              <a:t>. (“groundspeed,” GPS speed)</a:t>
            </a:r>
            <a:endParaRPr lang="en-US" dirty="0">
              <a:solidFill>
                <a:srgbClr val="0000CC"/>
              </a:solidFill>
            </a:endParaRPr>
          </a:p>
          <a:p>
            <a:pPr lvl="1"/>
            <a:r>
              <a:rPr lang="en-US" dirty="0"/>
              <a:t>When heading upstream (against, or opposite the current), the boat moves at </a:t>
            </a:r>
            <a:r>
              <a:rPr lang="en-US" dirty="0">
                <a:solidFill>
                  <a:srgbClr val="0000CC"/>
                </a:solidFill>
              </a:rPr>
              <a:t>2 mi/h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672092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 (Vectors in the boat?)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0" y="1219200"/>
                <a:ext cx="8077200" cy="5257800"/>
              </a:xfrm>
            </p:spPr>
            <p:txBody>
              <a:bodyPr>
                <a:noAutofit/>
              </a:bodyPr>
              <a:lstStyle/>
              <a:p>
                <a:pPr marL="82296" indent="0">
                  <a:buNone/>
                </a:pPr>
                <a:r>
                  <a:rPr lang="en-US" dirty="0"/>
                  <a:t>A boat is motoring on a </a:t>
                </a:r>
                <a:r>
                  <a:rPr lang="en-US" dirty="0">
                    <a:solidFill>
                      <a:srgbClr val="0000CC"/>
                    </a:solidFill>
                  </a:rPr>
                  <a:t>.4</a:t>
                </a:r>
                <a:r>
                  <a:rPr lang="en-US" dirty="0"/>
                  <a:t> mile-wide river at </a:t>
                </a:r>
                <a:r>
                  <a:rPr lang="en-US" dirty="0">
                    <a:solidFill>
                      <a:srgbClr val="0000CC"/>
                    </a:solidFill>
                  </a:rPr>
                  <a:t>8 mi/h</a:t>
                </a:r>
                <a:r>
                  <a:rPr lang="en-US" dirty="0"/>
                  <a:t> with current </a:t>
                </a:r>
                <a:r>
                  <a:rPr lang="en-US" dirty="0">
                    <a:solidFill>
                      <a:srgbClr val="0000CC"/>
                    </a:solidFill>
                  </a:rPr>
                  <a:t>6 mi/h</a:t>
                </a:r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When </a:t>
                </a:r>
                <a:r>
                  <a:rPr lang="en-US" i="1" dirty="0"/>
                  <a:t>heading</a:t>
                </a:r>
                <a:r>
                  <a:rPr lang="en-US" dirty="0"/>
                  <a:t> perpendicular to (across) the river:  </a:t>
                </a:r>
              </a:p>
              <a:p>
                <a:pPr lvl="2"/>
                <a:r>
                  <a:rPr lang="en-US" dirty="0"/>
                  <a:t>To cross the </a:t>
                </a:r>
                <a:r>
                  <a:rPr lang="en-US" dirty="0">
                    <a:solidFill>
                      <a:srgbClr val="0000CC"/>
                    </a:solidFill>
                  </a:rPr>
                  <a:t>.4</a:t>
                </a:r>
                <a:r>
                  <a:rPr lang="en-US" dirty="0"/>
                  <a:t> mile-wide river, it takes                           </a:t>
                </a:r>
                <a:r>
                  <a:rPr lang="en-US" dirty="0">
                    <a:solidFill>
                      <a:srgbClr val="0000CC"/>
                    </a:solidFill>
                  </a:rPr>
                  <a:t>(.4 mi)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num>
                          <m:den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8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mi</m:t>
                            </m:r>
                          </m:den>
                        </m:f>
                      </m:e>
                    </m:d>
                  </m:oMath>
                </a14:m>
                <a:r>
                  <a:rPr lang="en-US" dirty="0">
                    <a:solidFill>
                      <a:srgbClr val="0000CC"/>
                    </a:solidFill>
                  </a:rPr>
                  <a:t> = .05 h</a:t>
                </a:r>
              </a:p>
              <a:p>
                <a:pPr lvl="2"/>
                <a:r>
                  <a:rPr lang="en-US" dirty="0"/>
                  <a:t>The boat is carried down river </a:t>
                </a:r>
                <a:r>
                  <a:rPr lang="en-US" dirty="0">
                    <a:solidFill>
                      <a:srgbClr val="0000CC"/>
                    </a:solidFill>
                  </a:rPr>
                  <a:t>(.05 h)(6 mi/h) = .3 mi</a:t>
                </a:r>
              </a:p>
              <a:p>
                <a:pPr lvl="2"/>
                <a:r>
                  <a:rPr lang="en-US" dirty="0"/>
                  <a:t>The distance the boat travelled is given by                     		</a:t>
                </a:r>
                <a:r>
                  <a:rPr lang="en-US" i="1" dirty="0">
                    <a:solidFill>
                      <a:srgbClr val="0000CC"/>
                    </a:solidFill>
                  </a:rPr>
                  <a:t>d </a:t>
                </a:r>
                <a:r>
                  <a:rPr lang="en-US" baseline="30000" dirty="0">
                    <a:solidFill>
                      <a:srgbClr val="0000CC"/>
                    </a:solidFill>
                  </a:rPr>
                  <a:t>2</a:t>
                </a:r>
                <a:r>
                  <a:rPr lang="en-US" dirty="0">
                    <a:solidFill>
                      <a:srgbClr val="0000CC"/>
                    </a:solidFill>
                  </a:rPr>
                  <a:t> = (.4)</a:t>
                </a:r>
                <a:r>
                  <a:rPr lang="en-US" baseline="30000" dirty="0">
                    <a:solidFill>
                      <a:srgbClr val="0000CC"/>
                    </a:solidFill>
                  </a:rPr>
                  <a:t>2</a:t>
                </a:r>
                <a:r>
                  <a:rPr lang="en-US" dirty="0">
                    <a:solidFill>
                      <a:srgbClr val="0000CC"/>
                    </a:solidFill>
                  </a:rPr>
                  <a:t> + (.3)</a:t>
                </a:r>
                <a:r>
                  <a:rPr lang="en-US" baseline="30000" dirty="0">
                    <a:solidFill>
                      <a:srgbClr val="0000CC"/>
                    </a:solidFill>
                  </a:rPr>
                  <a:t>2</a:t>
                </a:r>
                <a:r>
                  <a:rPr lang="en-US" dirty="0"/>
                  <a:t>, so </a:t>
                </a:r>
                <a:r>
                  <a:rPr lang="en-US" i="1" dirty="0">
                    <a:solidFill>
                      <a:srgbClr val="0000CC"/>
                    </a:solidFill>
                  </a:rPr>
                  <a:t>d</a:t>
                </a:r>
                <a:r>
                  <a:rPr lang="en-US" dirty="0">
                    <a:solidFill>
                      <a:srgbClr val="0000CC"/>
                    </a:solidFill>
                  </a:rPr>
                  <a:t> = .5 mi</a:t>
                </a:r>
              </a:p>
              <a:p>
                <a:pPr lvl="2"/>
                <a:r>
                  <a:rPr lang="en-US" dirty="0"/>
                  <a:t>The speed at which the boat travelled is				 </a:t>
                </a:r>
                <a:r>
                  <a:rPr lang="en-US" dirty="0">
                    <a:solidFill>
                      <a:srgbClr val="0000CC"/>
                    </a:solidFill>
                  </a:rPr>
                  <a:t>.5 mi/.05 h = 10 mi/h</a:t>
                </a:r>
              </a:p>
              <a:p>
                <a:pPr lvl="2"/>
                <a:r>
                  <a:rPr lang="en-US" dirty="0"/>
                  <a:t>The angle (direction) travelled across the river is found by   </a:t>
                </a:r>
                <a:r>
                  <a:rPr lang="en-US" i="1" dirty="0">
                    <a:solidFill>
                      <a:srgbClr val="00B050"/>
                    </a:solidFill>
                    <a:sym typeface="Symbol" panose="05050102010706020507" pitchFamily="18" charset="2"/>
                  </a:rPr>
                  <a:t></a:t>
                </a:r>
                <a:r>
                  <a:rPr lang="en-US" dirty="0">
                    <a:solidFill>
                      <a:srgbClr val="00B050"/>
                    </a:solidFill>
                  </a:rPr>
                  <a:t> </a:t>
                </a:r>
                <a:r>
                  <a:rPr lang="en-US" dirty="0">
                    <a:solidFill>
                      <a:srgbClr val="0000CC"/>
                    </a:solidFill>
                  </a:rPr>
                  <a:t>= tan</a:t>
                </a:r>
                <a:r>
                  <a:rPr lang="en-US" baseline="30000" dirty="0">
                    <a:solidFill>
                      <a:srgbClr val="0000CC"/>
                    </a:solidFill>
                  </a:rPr>
                  <a:t>-1</a:t>
                </a:r>
                <a:r>
                  <a:rPr lang="en-US" dirty="0">
                    <a:solidFill>
                      <a:srgbClr val="0000CC"/>
                    </a:solidFill>
                  </a:rPr>
                  <a:t> (.3/.4) = 37</a:t>
                </a:r>
                <a:r>
                  <a:rPr lang="en-US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</a:t>
                </a:r>
                <a:endParaRPr lang="en-US" dirty="0">
                  <a:solidFill>
                    <a:srgbClr val="0000CC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0" y="1219200"/>
                <a:ext cx="8077200" cy="5257800"/>
              </a:xfrm>
              <a:blipFill>
                <a:blip r:embed="rId3"/>
                <a:stretch>
                  <a:fillRect l="-75" t="-927" r="-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>
            <a:off x="8839200" y="4191000"/>
            <a:ext cx="1143000" cy="0"/>
          </a:xfrm>
          <a:prstGeom prst="straightConnector1">
            <a:avLst/>
          </a:prstGeom>
          <a:ln w="38100">
            <a:solidFill>
              <a:srgbClr val="0000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9939746" y="4190164"/>
            <a:ext cx="0" cy="686637"/>
          </a:xfrm>
          <a:prstGeom prst="straightConnector1">
            <a:avLst/>
          </a:prstGeom>
          <a:ln w="38100">
            <a:solidFill>
              <a:srgbClr val="0000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8839200" y="4191000"/>
            <a:ext cx="1100546" cy="685800"/>
          </a:xfrm>
          <a:prstGeom prst="straightConnector1">
            <a:avLst/>
          </a:prstGeom>
          <a:ln w="38100">
            <a:solidFill>
              <a:srgbClr val="0000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9067801" y="3810000"/>
            <a:ext cx="65915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.</a:t>
            </a:r>
            <a:r>
              <a:rPr lang="en-US" dirty="0">
                <a:solidFill>
                  <a:srgbClr val="0000CC"/>
                </a:solidFill>
              </a:rPr>
              <a:t>4 mi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9932646" y="4202668"/>
            <a:ext cx="716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.</a:t>
            </a:r>
            <a:r>
              <a:rPr lang="en-US" dirty="0">
                <a:solidFill>
                  <a:srgbClr val="0000CC"/>
                </a:solidFill>
              </a:rPr>
              <a:t>3 mi </a:t>
            </a:r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8763001" y="4507468"/>
            <a:ext cx="716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.</a:t>
            </a:r>
            <a:r>
              <a:rPr lang="en-US" dirty="0">
                <a:solidFill>
                  <a:srgbClr val="0000CC"/>
                </a:solidFill>
              </a:rPr>
              <a:t>5 mi </a:t>
            </a: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9174971" y="4126467"/>
            <a:ext cx="3048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>
                <a:solidFill>
                  <a:srgbClr val="00B050"/>
                </a:solidFill>
                <a:sym typeface="Symbol" panose="05050102010706020507" pitchFamily="18" charset="2"/>
              </a:rPr>
              <a:t></a:t>
            </a:r>
            <a:endParaRPr lang="en-US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8121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0" y="1219200"/>
                <a:ext cx="8991600" cy="5334000"/>
              </a:xfrm>
            </p:spPr>
            <p:txBody>
              <a:bodyPr>
                <a:normAutofit/>
              </a:bodyPr>
              <a:lstStyle/>
              <a:p>
                <a:r>
                  <a:rPr lang="en-US" b="1" dirty="0"/>
                  <a:t>Bold type </a:t>
                </a:r>
                <a:r>
                  <a:rPr lang="en-US" dirty="0"/>
                  <a:t>– vector </a:t>
                </a:r>
                <a:r>
                  <a:rPr lang="en-US" b="1" i="1" dirty="0">
                    <a:solidFill>
                      <a:srgbClr val="0000CC"/>
                    </a:solidFill>
                  </a:rPr>
                  <a:t>v</a:t>
                </a:r>
                <a:r>
                  <a:rPr lang="en-US" dirty="0"/>
                  <a:t>, or when writing using an arrow: 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same letter without the arrow or bold type is the </a:t>
                </a:r>
                <a:r>
                  <a:rPr lang="en-US" i="1" dirty="0"/>
                  <a:t>magnitude</a:t>
                </a:r>
                <a:r>
                  <a:rPr lang="en-US" dirty="0"/>
                  <a:t> of the vector, e.g., vector </a:t>
                </a:r>
                <a:r>
                  <a:rPr lang="en-US" b="1" i="1" dirty="0">
                    <a:solidFill>
                      <a:srgbClr val="0000CC"/>
                    </a:solidFill>
                  </a:rPr>
                  <a:t>v</a:t>
                </a:r>
                <a:r>
                  <a:rPr lang="en-US" dirty="0"/>
                  <a:t> has magnitude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or </a:t>
                </a:r>
                <a:r>
                  <a:rPr lang="en-US" i="1" dirty="0">
                    <a:solidFill>
                      <a:srgbClr val="0000CC"/>
                    </a:solidFill>
                  </a:rPr>
                  <a:t>v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Vectors are depicted as </a:t>
                </a:r>
                <a:r>
                  <a:rPr lang="en-US" i="1" dirty="0"/>
                  <a:t>directed line segments</a:t>
                </a:r>
                <a:r>
                  <a:rPr lang="en-US" dirty="0"/>
                  <a:t> (arrows).</a:t>
                </a:r>
              </a:p>
              <a:p>
                <a:pPr lvl="1"/>
                <a:r>
                  <a:rPr lang="en-US" dirty="0"/>
                  <a:t>The directed line segment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lang="en-US" dirty="0"/>
                  <a:t> has an </a:t>
                </a:r>
                <a:r>
                  <a:rPr lang="en-US" i="1" dirty="0"/>
                  <a:t>initial point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:r>
                  <a:rPr lang="en-US" i="1" dirty="0"/>
                  <a:t>terminal point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The set of all directed line segments that are equivalent to the line segment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acc>
                  </m:oMath>
                </a14:m>
                <a:r>
                  <a:rPr lang="en-US" dirty="0"/>
                  <a:t> is a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in the plane.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i="1" dirty="0"/>
                  <a:t>magnitude</a:t>
                </a:r>
                <a:r>
                  <a:rPr lang="en-US" dirty="0"/>
                  <a:t> of the vector is the length of the line segment, denoted by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⃗"/>
                            <m:ctrlPr>
                              <a:rPr lang="en-US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𝐴𝐵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0" y="1219200"/>
                <a:ext cx="8991600" cy="5334000"/>
              </a:xfrm>
              <a:blipFill>
                <a:blip r:embed="rId2"/>
                <a:stretch>
                  <a:fillRect t="-14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/>
          <p:cNvGrpSpPr/>
          <p:nvPr/>
        </p:nvGrpSpPr>
        <p:grpSpPr>
          <a:xfrm>
            <a:off x="5943600" y="3505200"/>
            <a:ext cx="2292668" cy="914400"/>
            <a:chOff x="2895600" y="4267200"/>
            <a:chExt cx="2292668" cy="91440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Rectangle 3"/>
                <p:cNvSpPr/>
                <p:nvPr/>
              </p:nvSpPr>
              <p:spPr>
                <a:xfrm>
                  <a:off x="2895600" y="4719935"/>
                  <a:ext cx="465192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</m:oMath>
                  </a14:m>
                  <a:r>
                    <a:rPr lang="en-US" sz="2400" dirty="0"/>
                    <a:t> </a:t>
                  </a:r>
                </a:p>
              </p:txBody>
            </p:sp>
          </mc:Choice>
          <mc:Fallback xmlns="">
            <p:sp>
              <p:nvSpPr>
                <p:cNvPr id="4" name="Rectangle 3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600" y="4719935"/>
                  <a:ext cx="465192" cy="461665"/>
                </a:xfrm>
                <a:prstGeom prst="rect">
                  <a:avLst/>
                </a:prstGeom>
                <a:blipFill>
                  <a:blip r:embed="rId3"/>
                  <a:stretch>
                    <a:fillRect l="-263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Rectangle 4"/>
                <p:cNvSpPr/>
                <p:nvPr/>
              </p:nvSpPr>
              <p:spPr>
                <a:xfrm>
                  <a:off x="4716408" y="4267200"/>
                  <a:ext cx="471860" cy="46166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sz="2400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</m:oMath>
                  </a14:m>
                  <a:r>
                    <a:rPr lang="en-US" sz="2400" dirty="0"/>
                    <a:t> </a:t>
                  </a:r>
                </a:p>
              </p:txBody>
            </p:sp>
          </mc:Choice>
          <mc:Fallback xmlns="">
            <p:sp>
              <p:nvSpPr>
                <p:cNvPr id="5" name="Rectangle 4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16408" y="4267200"/>
                  <a:ext cx="47186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389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" name="Straight Arrow Connector 6"/>
            <p:cNvCxnSpPr>
              <a:endCxn id="5" idx="1"/>
            </p:cNvCxnSpPr>
            <p:nvPr/>
          </p:nvCxnSpPr>
          <p:spPr>
            <a:xfrm flipV="1">
              <a:off x="3276600" y="4498033"/>
              <a:ext cx="1439808" cy="448270"/>
            </a:xfrm>
            <a:prstGeom prst="straightConnector1">
              <a:avLst/>
            </a:prstGeom>
            <a:ln w="38100">
              <a:solidFill>
                <a:srgbClr val="0000CC"/>
              </a:solidFill>
              <a:headEnd type="oval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84268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Vector Addition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1219200"/>
            <a:ext cx="84582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In determining the speed and direction of the boat in the previous example we used </a:t>
            </a:r>
            <a:r>
              <a:rPr lang="en-US" i="1" dirty="0"/>
              <a:t>vector addition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Vector addition takes into account the direction of the two vectors … or the angle between the vectors.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When we add two vectors we get a new </a:t>
            </a:r>
            <a:r>
              <a:rPr lang="en-US" i="1" dirty="0"/>
              <a:t>resultant</a:t>
            </a:r>
            <a:r>
              <a:rPr lang="en-US" dirty="0"/>
              <a:t> vector </a:t>
            </a:r>
            <a:r>
              <a:rPr lang="en-US" b="1" i="1" dirty="0">
                <a:solidFill>
                  <a:srgbClr val="0000CC"/>
                </a:solidFill>
              </a:rPr>
              <a:t>r</a:t>
            </a:r>
            <a:r>
              <a:rPr lang="en-US" i="1" dirty="0">
                <a:solidFill>
                  <a:srgbClr val="7030A0"/>
                </a:solidFill>
              </a:rPr>
              <a:t>.</a:t>
            </a:r>
            <a:endParaRPr lang="en-US" b="1" i="1" dirty="0">
              <a:solidFill>
                <a:srgbClr val="0000CC"/>
              </a:solidFill>
            </a:endParaRPr>
          </a:p>
          <a:p>
            <a:pPr lvl="1"/>
            <a:endParaRPr lang="en-US" dirty="0"/>
          </a:p>
          <a:p>
            <a:pPr lvl="1"/>
            <a:r>
              <a:rPr lang="en-US" dirty="0"/>
              <a:t>Two vectors are </a:t>
            </a:r>
            <a:r>
              <a:rPr lang="en-US" i="1" dirty="0"/>
              <a:t>equal</a:t>
            </a:r>
            <a:r>
              <a:rPr lang="en-US" dirty="0"/>
              <a:t> if they have the same direction and the same magnitude.</a:t>
            </a:r>
          </a:p>
        </p:txBody>
      </p:sp>
    </p:spTree>
    <p:extLst>
      <p:ext uri="{BB962C8B-B14F-4D97-AF65-F5344CB8AC3E}">
        <p14:creationId xmlns:p14="http://schemas.microsoft.com/office/powerpoint/2010/main" val="757365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Vector Addition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79248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We can show the process of vector addition with arrows using the </a:t>
            </a:r>
            <a:r>
              <a:rPr lang="en-US" i="1" dirty="0"/>
              <a:t>polygon method</a:t>
            </a:r>
            <a:r>
              <a:rPr lang="en-US" dirty="0"/>
              <a:t> or the </a:t>
            </a:r>
            <a:r>
              <a:rPr lang="en-US" i="1" dirty="0"/>
              <a:t>parallelogram method.</a:t>
            </a:r>
            <a:r>
              <a:rPr lang="en-US" dirty="0"/>
              <a:t> </a:t>
            </a:r>
          </a:p>
          <a:p>
            <a:endParaRPr lang="en-US" dirty="0"/>
          </a:p>
          <a:p>
            <a:pPr marL="82296" indent="0">
              <a:buNone/>
            </a:pPr>
            <a:endParaRPr lang="en-US" dirty="0"/>
          </a:p>
          <a:p>
            <a:pPr marL="82296" indent="0">
              <a:buNone/>
            </a:pPr>
            <a:r>
              <a:rPr lang="en-US" b="1" i="1" dirty="0">
                <a:solidFill>
                  <a:srgbClr val="0000CC"/>
                </a:solidFill>
              </a:rPr>
              <a:t>        A             B                  C</a:t>
            </a:r>
          </a:p>
          <a:p>
            <a:r>
              <a:rPr lang="en-US" dirty="0"/>
              <a:t>Polygon Method (tip to tail)</a:t>
            </a:r>
          </a:p>
          <a:p>
            <a:pPr marL="82296" indent="0">
              <a:buNone/>
            </a:pPr>
            <a:r>
              <a:rPr lang="en-US" b="1" i="1" dirty="0">
                <a:solidFill>
                  <a:srgbClr val="0000CC"/>
                </a:solidFill>
              </a:rPr>
              <a:t>	A </a:t>
            </a:r>
            <a:r>
              <a:rPr lang="en-US" dirty="0">
                <a:solidFill>
                  <a:srgbClr val="0000CC"/>
                </a:solidFill>
              </a:rPr>
              <a:t>+</a:t>
            </a:r>
            <a:r>
              <a:rPr lang="en-US" b="1" i="1" dirty="0">
                <a:solidFill>
                  <a:srgbClr val="0000CC"/>
                </a:solidFill>
              </a:rPr>
              <a:t> B </a:t>
            </a:r>
            <a:r>
              <a:rPr lang="en-US" dirty="0">
                <a:solidFill>
                  <a:srgbClr val="0000CC"/>
                </a:solidFill>
              </a:rPr>
              <a:t>=</a:t>
            </a:r>
            <a:r>
              <a:rPr lang="en-US" b="1" i="1" dirty="0">
                <a:solidFill>
                  <a:srgbClr val="0000CC"/>
                </a:solidFill>
              </a:rPr>
              <a:t> C</a:t>
            </a:r>
          </a:p>
          <a:p>
            <a:pPr marL="82296" indent="0">
              <a:buNone/>
            </a:pPr>
            <a:endParaRPr lang="en-US" dirty="0"/>
          </a:p>
          <a:p>
            <a:r>
              <a:rPr lang="en-US" dirty="0"/>
              <a:t>Parallelogram Method (diagonal)</a:t>
            </a:r>
          </a:p>
          <a:p>
            <a:pPr marL="82296" indent="0">
              <a:buNone/>
            </a:pPr>
            <a:r>
              <a:rPr lang="en-US" dirty="0"/>
              <a:t>           </a:t>
            </a:r>
            <a:r>
              <a:rPr lang="en-US" b="1" i="1" dirty="0">
                <a:solidFill>
                  <a:srgbClr val="0000CC"/>
                </a:solidFill>
              </a:rPr>
              <a:t>	A </a:t>
            </a:r>
            <a:r>
              <a:rPr lang="en-US" dirty="0">
                <a:solidFill>
                  <a:srgbClr val="0000CC"/>
                </a:solidFill>
              </a:rPr>
              <a:t>+</a:t>
            </a:r>
            <a:r>
              <a:rPr lang="en-US" b="1" i="1" dirty="0">
                <a:solidFill>
                  <a:srgbClr val="0000CC"/>
                </a:solidFill>
              </a:rPr>
              <a:t> B </a:t>
            </a:r>
            <a:r>
              <a:rPr lang="en-US" dirty="0">
                <a:solidFill>
                  <a:srgbClr val="0000CC"/>
                </a:solidFill>
              </a:rPr>
              <a:t>=</a:t>
            </a:r>
            <a:r>
              <a:rPr lang="en-US" b="1" i="1" dirty="0">
                <a:solidFill>
                  <a:srgbClr val="0000CC"/>
                </a:solidFill>
              </a:rPr>
              <a:t> C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2819400" y="2514600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4077956" y="2133600"/>
            <a:ext cx="4572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V="1">
            <a:off x="4879312" y="2133600"/>
            <a:ext cx="13716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7696200" y="4204037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8610600" y="3442036"/>
            <a:ext cx="4572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7696200" y="3442037"/>
            <a:ext cx="13716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984123" y="4223239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A</a:t>
            </a:r>
            <a:endParaRPr lang="en-US" b="1" dirty="0"/>
          </a:p>
        </p:txBody>
      </p:sp>
      <p:sp>
        <p:nvSpPr>
          <p:cNvPr id="15" name="Rectangle 14"/>
          <p:cNvSpPr/>
          <p:nvPr/>
        </p:nvSpPr>
        <p:spPr>
          <a:xfrm>
            <a:off x="8729246" y="3823036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B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8074730" y="3458282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C</a:t>
            </a: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7907517" y="5886714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A</a:t>
            </a:r>
            <a:endParaRPr lang="en-US" b="1" dirty="0"/>
          </a:p>
        </p:txBody>
      </p:sp>
      <p:sp>
        <p:nvSpPr>
          <p:cNvPr id="18" name="Rectangle 17"/>
          <p:cNvSpPr/>
          <p:nvPr/>
        </p:nvSpPr>
        <p:spPr>
          <a:xfrm>
            <a:off x="7563361" y="5437274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B</a:t>
            </a:r>
            <a:endParaRPr lang="en-US" b="1" dirty="0"/>
          </a:p>
        </p:txBody>
      </p:sp>
      <p:sp>
        <p:nvSpPr>
          <p:cNvPr id="19" name="Rectangle 18"/>
          <p:cNvSpPr/>
          <p:nvPr/>
        </p:nvSpPr>
        <p:spPr>
          <a:xfrm>
            <a:off x="8494638" y="5445033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C</a:t>
            </a:r>
            <a:endParaRPr lang="en-US" b="1" dirty="0"/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7816416" y="5931094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7816416" y="5164071"/>
            <a:ext cx="4572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7840871" y="5159048"/>
            <a:ext cx="13716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8723238" y="5169094"/>
            <a:ext cx="457200" cy="76200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8273616" y="5159048"/>
            <a:ext cx="9144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787445" y="5210403"/>
            <a:ext cx="12682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Initial point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19134" y="4114801"/>
            <a:ext cx="107266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Terminal </a:t>
            </a:r>
          </a:p>
          <a:p>
            <a:r>
              <a:rPr lang="en-US" dirty="0"/>
              <a:t>point </a:t>
            </a:r>
          </a:p>
        </p:txBody>
      </p:sp>
      <p:cxnSp>
        <p:nvCxnSpPr>
          <p:cNvPr id="30" name="Straight Arrow Connector 29"/>
          <p:cNvCxnSpPr/>
          <p:nvPr/>
        </p:nvCxnSpPr>
        <p:spPr>
          <a:xfrm flipH="1" flipV="1">
            <a:off x="9067800" y="3642949"/>
            <a:ext cx="451334" cy="7950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26" idx="1"/>
          </p:cNvCxnSpPr>
          <p:nvPr/>
        </p:nvCxnSpPr>
        <p:spPr>
          <a:xfrm flipH="1">
            <a:off x="9210420" y="4437966"/>
            <a:ext cx="308715" cy="5912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7048181" y="4284019"/>
            <a:ext cx="622563" cy="11027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7048181" y="5386752"/>
            <a:ext cx="622562" cy="4999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07935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/>
      <p:bldP spid="17" grpId="0"/>
      <p:bldP spid="18" grpId="0"/>
      <p:bldP spid="19" grpId="0"/>
      <p:bldP spid="25" grpId="0"/>
      <p:bldP spid="2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 from 70.1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79248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To avoid a storm, a jet travels at </a:t>
            </a:r>
            <a:r>
              <a:rPr lang="en-US" dirty="0">
                <a:solidFill>
                  <a:srgbClr val="0000CC"/>
                </a:solidFill>
              </a:rPr>
              <a:t>60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</a:t>
            </a:r>
            <a:r>
              <a:rPr lang="en-US" dirty="0"/>
              <a:t> north of east from Detroit for </a:t>
            </a:r>
            <a:r>
              <a:rPr lang="en-US" dirty="0">
                <a:solidFill>
                  <a:srgbClr val="0000CC"/>
                </a:solidFill>
              </a:rPr>
              <a:t>190 mi </a:t>
            </a:r>
            <a:r>
              <a:rPr lang="en-US" dirty="0"/>
              <a:t>and then turns to a direction of </a:t>
            </a:r>
            <a:r>
              <a:rPr lang="en-US" dirty="0">
                <a:solidFill>
                  <a:srgbClr val="0000CC"/>
                </a:solidFill>
              </a:rPr>
              <a:t>10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</a:t>
            </a:r>
            <a:r>
              <a:rPr lang="en-US" dirty="0"/>
              <a:t> north of east for </a:t>
            </a:r>
            <a:r>
              <a:rPr lang="en-US" dirty="0">
                <a:solidFill>
                  <a:srgbClr val="0000CC"/>
                </a:solidFill>
              </a:rPr>
              <a:t>280 mi </a:t>
            </a:r>
            <a:r>
              <a:rPr lang="en-US" dirty="0"/>
              <a:t>to Ottawa.  Find the displacement of Ottawa from Detroit.  </a:t>
            </a: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r>
              <a:rPr lang="en-US" dirty="0"/>
              <a:t>Solution:  </a:t>
            </a:r>
          </a:p>
          <a:p>
            <a:pPr marL="82296" indent="0">
              <a:buNone/>
            </a:pPr>
            <a:r>
              <a:rPr lang="en-US" dirty="0">
                <a:solidFill>
                  <a:srgbClr val="0000CC"/>
                </a:solidFill>
              </a:rPr>
              <a:t>428 mi </a:t>
            </a:r>
            <a:r>
              <a:rPr lang="en-US" dirty="0"/>
              <a:t>at </a:t>
            </a:r>
            <a:r>
              <a:rPr lang="en-US" dirty="0">
                <a:solidFill>
                  <a:srgbClr val="0000CC"/>
                </a:solidFill>
              </a:rPr>
              <a:t>30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</a:t>
            </a:r>
            <a:r>
              <a:rPr lang="en-US" dirty="0"/>
              <a:t> north of east</a:t>
            </a: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536428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Vector Addition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143000"/>
            <a:ext cx="79248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r>
              <a:rPr lang="en-US" b="1" i="1" dirty="0">
                <a:solidFill>
                  <a:srgbClr val="0000CC"/>
                </a:solidFill>
              </a:rPr>
              <a:t>Note that the order of addition does not matter.</a:t>
            </a: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r>
              <a:rPr lang="en-US" b="1" i="1" dirty="0">
                <a:solidFill>
                  <a:srgbClr val="0000CC"/>
                </a:solidFill>
              </a:rPr>
              <a:t> </a:t>
            </a:r>
          </a:p>
          <a:p>
            <a:r>
              <a:rPr lang="en-US" dirty="0"/>
              <a:t>Polygon Method (head to tail)</a:t>
            </a:r>
          </a:p>
          <a:p>
            <a:endParaRPr lang="en-US" dirty="0"/>
          </a:p>
          <a:p>
            <a:pPr marL="82296" indent="0">
              <a:buNone/>
            </a:pPr>
            <a:endParaRPr lang="en-US" dirty="0"/>
          </a:p>
          <a:p>
            <a:r>
              <a:rPr lang="en-US" dirty="0"/>
              <a:t>Parallelogram Method (diagonal)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Example: on board.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7696200" y="4204037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8610600" y="3442036"/>
            <a:ext cx="4572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7696200" y="3442037"/>
            <a:ext cx="13716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984123" y="4223239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A</a:t>
            </a:r>
            <a:endParaRPr lang="en-US" b="1" dirty="0"/>
          </a:p>
        </p:txBody>
      </p:sp>
      <p:sp>
        <p:nvSpPr>
          <p:cNvPr id="15" name="Rectangle 14"/>
          <p:cNvSpPr/>
          <p:nvPr/>
        </p:nvSpPr>
        <p:spPr>
          <a:xfrm>
            <a:off x="8729246" y="3823036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B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8074730" y="3458282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C</a:t>
            </a: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7907517" y="5886714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A</a:t>
            </a:r>
            <a:endParaRPr lang="en-US" b="1" dirty="0"/>
          </a:p>
        </p:txBody>
      </p:sp>
      <p:sp>
        <p:nvSpPr>
          <p:cNvPr id="18" name="Rectangle 17"/>
          <p:cNvSpPr/>
          <p:nvPr/>
        </p:nvSpPr>
        <p:spPr>
          <a:xfrm>
            <a:off x="7563361" y="5437274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B</a:t>
            </a:r>
            <a:endParaRPr lang="en-US" b="1" dirty="0"/>
          </a:p>
        </p:txBody>
      </p:sp>
      <p:sp>
        <p:nvSpPr>
          <p:cNvPr id="19" name="Rectangle 18"/>
          <p:cNvSpPr/>
          <p:nvPr/>
        </p:nvSpPr>
        <p:spPr>
          <a:xfrm>
            <a:off x="8494638" y="5445033"/>
            <a:ext cx="33855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i="1" dirty="0">
                <a:solidFill>
                  <a:srgbClr val="0000CC"/>
                </a:solidFill>
              </a:rPr>
              <a:t>C</a:t>
            </a:r>
            <a:endParaRPr lang="en-US" b="1" dirty="0"/>
          </a:p>
        </p:txBody>
      </p:sp>
      <p:cxnSp>
        <p:nvCxnSpPr>
          <p:cNvPr id="20" name="Straight Arrow Connector 19"/>
          <p:cNvCxnSpPr/>
          <p:nvPr/>
        </p:nvCxnSpPr>
        <p:spPr>
          <a:xfrm>
            <a:off x="7816416" y="5931094"/>
            <a:ext cx="914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V="1">
            <a:off x="7816416" y="5164071"/>
            <a:ext cx="4572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7840871" y="5159048"/>
            <a:ext cx="1371600" cy="762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/>
          <p:nvPr/>
        </p:nvCxnSpPr>
        <p:spPr>
          <a:xfrm flipV="1">
            <a:off x="8723238" y="5169094"/>
            <a:ext cx="457200" cy="76200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>
            <a:off x="8273616" y="5159048"/>
            <a:ext cx="914400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787445" y="5210403"/>
            <a:ext cx="126829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Initial point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19134" y="4114801"/>
            <a:ext cx="107266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Terminal </a:t>
            </a:r>
          </a:p>
          <a:p>
            <a:r>
              <a:rPr lang="en-US" dirty="0"/>
              <a:t>point </a:t>
            </a:r>
          </a:p>
        </p:txBody>
      </p:sp>
      <p:cxnSp>
        <p:nvCxnSpPr>
          <p:cNvPr id="30" name="Straight Arrow Connector 29"/>
          <p:cNvCxnSpPr/>
          <p:nvPr/>
        </p:nvCxnSpPr>
        <p:spPr>
          <a:xfrm flipH="1" flipV="1">
            <a:off x="9067800" y="3642949"/>
            <a:ext cx="451334" cy="79501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/>
          <p:cNvCxnSpPr>
            <a:stCxn id="26" idx="1"/>
          </p:cNvCxnSpPr>
          <p:nvPr/>
        </p:nvCxnSpPr>
        <p:spPr>
          <a:xfrm flipH="1">
            <a:off x="9210420" y="4437966"/>
            <a:ext cx="308715" cy="59123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/>
          <p:cNvCxnSpPr/>
          <p:nvPr/>
        </p:nvCxnSpPr>
        <p:spPr>
          <a:xfrm flipV="1">
            <a:off x="7048181" y="4284019"/>
            <a:ext cx="622563" cy="110273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>
            <a:off x="7048181" y="5386752"/>
            <a:ext cx="622562" cy="49996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945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Scalar Multiplication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79248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If </a:t>
            </a:r>
            <a:r>
              <a:rPr lang="en-US" b="1" i="1" dirty="0">
                <a:solidFill>
                  <a:srgbClr val="0000CC"/>
                </a:solidFill>
              </a:rPr>
              <a:t>C</a:t>
            </a:r>
            <a:r>
              <a:rPr lang="en-US" dirty="0"/>
              <a:t> is in the same direction as vector </a:t>
            </a:r>
            <a:r>
              <a:rPr lang="en-US" b="1" i="1" dirty="0">
                <a:solidFill>
                  <a:srgbClr val="660066"/>
                </a:solidFill>
              </a:rPr>
              <a:t>A</a:t>
            </a:r>
            <a:r>
              <a:rPr lang="en-US" dirty="0"/>
              <a:t> and </a:t>
            </a:r>
            <a:r>
              <a:rPr lang="en-US" b="1" i="1" dirty="0">
                <a:solidFill>
                  <a:srgbClr val="0000CC"/>
                </a:solidFill>
              </a:rPr>
              <a:t>C</a:t>
            </a:r>
            <a:r>
              <a:rPr lang="en-US" dirty="0"/>
              <a:t> has a magnitude </a:t>
            </a:r>
            <a:r>
              <a:rPr lang="en-US" i="1" dirty="0">
                <a:solidFill>
                  <a:srgbClr val="0000CC"/>
                </a:solidFill>
              </a:rPr>
              <a:t>n</a:t>
            </a:r>
            <a:r>
              <a:rPr lang="en-US" dirty="0"/>
              <a:t> times that of </a:t>
            </a:r>
            <a:r>
              <a:rPr lang="en-US" b="1" i="1" dirty="0">
                <a:solidFill>
                  <a:srgbClr val="660066"/>
                </a:solidFill>
              </a:rPr>
              <a:t>A</a:t>
            </a:r>
            <a:r>
              <a:rPr lang="en-US" dirty="0"/>
              <a:t>, then </a:t>
            </a:r>
            <a:r>
              <a:rPr lang="en-US" b="1" i="1" dirty="0">
                <a:solidFill>
                  <a:srgbClr val="0000CC"/>
                </a:solidFill>
              </a:rPr>
              <a:t>C</a:t>
            </a:r>
            <a:r>
              <a:rPr lang="en-US" dirty="0">
                <a:solidFill>
                  <a:srgbClr val="0000CC"/>
                </a:solidFill>
              </a:rPr>
              <a:t> = </a:t>
            </a:r>
            <a:r>
              <a:rPr lang="en-US" i="1" dirty="0" err="1">
                <a:solidFill>
                  <a:srgbClr val="0000CC"/>
                </a:solidFill>
              </a:rPr>
              <a:t>n</a:t>
            </a:r>
            <a:r>
              <a:rPr lang="en-US" b="1" i="1" dirty="0" err="1">
                <a:solidFill>
                  <a:srgbClr val="660066"/>
                </a:solidFill>
              </a:rPr>
              <a:t>A</a:t>
            </a:r>
            <a:r>
              <a:rPr lang="en-US" dirty="0"/>
              <a:t>, where the vector </a:t>
            </a:r>
            <a:r>
              <a:rPr lang="en-US" i="1" dirty="0" err="1">
                <a:solidFill>
                  <a:srgbClr val="0000CC"/>
                </a:solidFill>
              </a:rPr>
              <a:t>n</a:t>
            </a:r>
            <a:r>
              <a:rPr lang="en-US" b="1" i="1" dirty="0" err="1">
                <a:solidFill>
                  <a:srgbClr val="660066"/>
                </a:solidFill>
              </a:rPr>
              <a:t>A</a:t>
            </a:r>
            <a:r>
              <a:rPr lang="en-US" dirty="0"/>
              <a:t> is called the </a:t>
            </a:r>
            <a:r>
              <a:rPr lang="en-US" i="1" dirty="0"/>
              <a:t>scalar multiple </a:t>
            </a:r>
            <a:r>
              <a:rPr lang="en-US" dirty="0"/>
              <a:t>of vector </a:t>
            </a:r>
            <a:r>
              <a:rPr lang="en-US" b="1" i="1" dirty="0">
                <a:solidFill>
                  <a:srgbClr val="660066"/>
                </a:solidFill>
              </a:rPr>
              <a:t>A</a:t>
            </a:r>
            <a:r>
              <a:rPr lang="en-US" i="1" dirty="0"/>
              <a:t>.</a:t>
            </a:r>
            <a:r>
              <a:rPr lang="en-US" dirty="0"/>
              <a:t> </a:t>
            </a:r>
          </a:p>
          <a:p>
            <a:endParaRPr lang="en-US" dirty="0"/>
          </a:p>
          <a:p>
            <a:pPr marL="82296" indent="0">
              <a:buNone/>
            </a:pPr>
            <a:endParaRPr lang="en-US" dirty="0"/>
          </a:p>
          <a:p>
            <a:pPr marL="82296" indent="0">
              <a:buNone/>
            </a:pPr>
            <a:r>
              <a:rPr lang="en-US" b="1" i="1" dirty="0">
                <a:solidFill>
                  <a:srgbClr val="0000CC"/>
                </a:solidFill>
              </a:rPr>
              <a:t>        </a:t>
            </a:r>
            <a:r>
              <a:rPr lang="en-US" b="1" i="1" dirty="0">
                <a:solidFill>
                  <a:srgbClr val="660066"/>
                </a:solidFill>
              </a:rPr>
              <a:t>A</a:t>
            </a:r>
            <a:r>
              <a:rPr lang="en-US" b="1" i="1" dirty="0">
                <a:solidFill>
                  <a:srgbClr val="0000CC"/>
                </a:solidFill>
              </a:rPr>
              <a:t>             </a:t>
            </a: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endParaRPr lang="en-US" b="1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r>
              <a:rPr lang="en-US" b="1" i="1" dirty="0">
                <a:solidFill>
                  <a:srgbClr val="0000CC"/>
                </a:solidFill>
              </a:rPr>
              <a:t>       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2819400" y="3200400"/>
            <a:ext cx="914400" cy="0"/>
          </a:xfrm>
          <a:prstGeom prst="straightConnector1">
            <a:avLst/>
          </a:prstGeom>
          <a:ln w="28575">
            <a:solidFill>
              <a:srgbClr val="6600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2819400" y="4419600"/>
            <a:ext cx="914400" cy="0"/>
          </a:xfrm>
          <a:prstGeom prst="straightConnector1">
            <a:avLst/>
          </a:prstGeom>
          <a:ln w="28575">
            <a:solidFill>
              <a:srgbClr val="6600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>
            <a:off x="3733800" y="4419600"/>
            <a:ext cx="914400" cy="0"/>
          </a:xfrm>
          <a:prstGeom prst="straightConnector1">
            <a:avLst/>
          </a:prstGeom>
          <a:ln w="28575">
            <a:solidFill>
              <a:srgbClr val="6600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/>
          <p:nvPr/>
        </p:nvCxnSpPr>
        <p:spPr>
          <a:xfrm>
            <a:off x="4648200" y="4419600"/>
            <a:ext cx="914400" cy="0"/>
          </a:xfrm>
          <a:prstGeom prst="straightConnector1">
            <a:avLst/>
          </a:prstGeom>
          <a:ln w="28575">
            <a:solidFill>
              <a:srgbClr val="6600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/>
          <p:nvPr/>
        </p:nvCxnSpPr>
        <p:spPr>
          <a:xfrm>
            <a:off x="5562600" y="4419600"/>
            <a:ext cx="914400" cy="0"/>
          </a:xfrm>
          <a:prstGeom prst="straightConnector1">
            <a:avLst/>
          </a:prstGeom>
          <a:ln w="28575">
            <a:solidFill>
              <a:srgbClr val="66006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>
            <a:off x="2819400" y="4572000"/>
            <a:ext cx="3657600" cy="0"/>
          </a:xfrm>
          <a:prstGeom prst="straightConnector1">
            <a:avLst/>
          </a:prstGeom>
          <a:ln w="28575">
            <a:solidFill>
              <a:srgbClr val="0000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971800" y="4643736"/>
            <a:ext cx="46679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b="1" i="1" dirty="0">
                <a:solidFill>
                  <a:srgbClr val="0000CC"/>
                </a:solidFill>
              </a:rPr>
              <a:t>C</a:t>
            </a:r>
            <a:r>
              <a:rPr lang="en-US" sz="2400" dirty="0">
                <a:solidFill>
                  <a:srgbClr val="0000CC"/>
                </a:solidFill>
              </a:rPr>
              <a:t> </a:t>
            </a:r>
            <a:endParaRPr lang="en-US" dirty="0"/>
          </a:p>
        </p:txBody>
      </p:sp>
      <p:sp>
        <p:nvSpPr>
          <p:cNvPr id="37" name="Rectangle 36"/>
          <p:cNvSpPr/>
          <p:nvPr/>
        </p:nvSpPr>
        <p:spPr>
          <a:xfrm>
            <a:off x="3429000" y="4648201"/>
            <a:ext cx="100764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400" dirty="0">
                <a:solidFill>
                  <a:srgbClr val="0000CC"/>
                </a:solidFill>
              </a:rPr>
              <a:t>= 4</a:t>
            </a:r>
            <a:r>
              <a:rPr lang="en-US" sz="2400" b="1" i="1" dirty="0">
                <a:solidFill>
                  <a:srgbClr val="660066"/>
                </a:solidFill>
              </a:rPr>
              <a:t>A</a:t>
            </a:r>
            <a:r>
              <a:rPr lang="en-US" sz="2400" b="1" i="1" dirty="0">
                <a:solidFill>
                  <a:srgbClr val="0000CC"/>
                </a:solidFill>
              </a:rPr>
              <a:t>  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7422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0" y="1219200"/>
                <a:ext cx="8229600" cy="4800600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A given vector can be written as a linear combination of its </a:t>
                </a:r>
                <a:r>
                  <a:rPr lang="en-US" i="1" dirty="0">
                    <a:solidFill>
                      <a:srgbClr val="0000CC"/>
                    </a:solidFill>
                  </a:rPr>
                  <a:t>component vectors</a:t>
                </a:r>
                <a:r>
                  <a:rPr lang="en-US" dirty="0"/>
                  <a:t>.</a:t>
                </a:r>
              </a:p>
              <a:p>
                <a:r>
                  <a:rPr lang="en-US" dirty="0"/>
                  <a:t>We can describe vectors by their </a:t>
                </a:r>
                <a:r>
                  <a:rPr lang="en-US" u="sng" dirty="0"/>
                  <a:t>direction and magnitude</a:t>
                </a:r>
                <a:r>
                  <a:rPr lang="en-US" dirty="0"/>
                  <a:t>, or by their </a:t>
                </a:r>
                <a:r>
                  <a:rPr lang="en-US" u="sng" dirty="0"/>
                  <a:t>components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has a magnitude of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rad>
                  </m:oMath>
                </a14:m>
                <a:r>
                  <a:rPr lang="en-US" dirty="0"/>
                  <a:t> and angle of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45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r>
                  <a:rPr lang="en-US" dirty="0"/>
                  <a:t>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1,1</m:t>
                        </m:r>
                      </m:e>
                    </m:d>
                  </m:oMath>
                </a14:m>
                <a:endParaRPr lang="en-US" b="1" dirty="0"/>
              </a:p>
              <a:p>
                <a:r>
                  <a:rPr lang="en-US" dirty="0"/>
                  <a:t>Vertical and horizontal component vectors can be expressed as multiple of the </a:t>
                </a:r>
                <a:r>
                  <a:rPr lang="en-US" i="1" dirty="0"/>
                  <a:t>standard unit vectors </a:t>
                </a:r>
              </a:p>
              <a:p>
                <a:pPr marL="82296" indent="0">
                  <a:buNone/>
                </a:pPr>
                <a:r>
                  <a:rPr lang="en-US" dirty="0"/>
                  <a:t>	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𝒊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1,0</m:t>
                        </m:r>
                      </m:e>
                    </m:d>
                  </m:oMath>
                </a14:m>
                <a:r>
                  <a:rPr lang="en-US" dirty="0"/>
                  <a:t>  and 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𝒋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endParaRPr lang="en-US" b="1" dirty="0"/>
              </a:p>
              <a:p>
                <a:r>
                  <a:rPr lang="en-US" dirty="0"/>
                  <a:t>Finding component vectors is called </a:t>
                </a:r>
                <a:r>
                  <a:rPr lang="en-US" i="1" dirty="0"/>
                  <a:t>resolving the vector into its components</a:t>
                </a:r>
                <a:r>
                  <a:rPr lang="en-US" dirty="0"/>
                  <a:t>. </a:t>
                </a:r>
              </a:p>
              <a:p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then a scalar multiple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𝑐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0" y="1219200"/>
                <a:ext cx="8229600" cy="4800600"/>
              </a:xfrm>
              <a:blipFill>
                <a:blip r:embed="rId2"/>
                <a:stretch>
                  <a:fillRect t="-1777" r="-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86443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Vector Addition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0" y="1143000"/>
                <a:ext cx="7924800" cy="5334000"/>
              </a:xfrm>
            </p:spPr>
            <p:txBody>
              <a:bodyPr>
                <a:normAutofit/>
              </a:bodyPr>
              <a:lstStyle/>
              <a:p>
                <a:pPr marL="82296" indent="0">
                  <a:buNone/>
                </a:pPr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then the sum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is </a:t>
                </a:r>
                <a:r>
                  <a:rPr lang="en-US" dirty="0" err="1"/>
                  <a:t>is</a:t>
                </a:r>
                <a:r>
                  <a:rPr lang="en-US" dirty="0"/>
                  <a:t> the vector  </a:t>
                </a:r>
              </a:p>
              <a:p>
                <a:pPr marL="82296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b="1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  <m:r>
                        <a:rPr lang="en-US" b="1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b="1" i="1" dirty="0">
                  <a:solidFill>
                    <a:srgbClr val="0000CC"/>
                  </a:solidFill>
                </a:endParaRPr>
              </a:p>
              <a:p>
                <a:pPr marL="82296" indent="0">
                  <a:buNone/>
                </a:pPr>
                <a:endParaRPr lang="en-US" b="1" i="1" dirty="0">
                  <a:solidFill>
                    <a:srgbClr val="0000CC"/>
                  </a:solidFill>
                </a:endParaRPr>
              </a:p>
              <a:p>
                <a:pPr marL="82296" indent="0">
                  <a:buNone/>
                </a:pPr>
                <a:endParaRPr lang="en-US" b="1" i="1" dirty="0">
                  <a:solidFill>
                    <a:srgbClr val="0000CC"/>
                  </a:solidFill>
                </a:endParaRPr>
              </a:p>
              <a:p>
                <a:pPr marL="82296" indent="0">
                  <a:buNone/>
                </a:pPr>
                <a:r>
                  <a:rPr lang="en-US" b="1" i="1" dirty="0">
                    <a:solidFill>
                      <a:srgbClr val="0000CC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0" y="1143000"/>
                <a:ext cx="7924800" cy="5334000"/>
              </a:xfrm>
              <a:blipFill>
                <a:blip r:embed="rId3"/>
                <a:stretch>
                  <a:fillRect l="-77" t="-914" r="-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Straight Arrow Connector 10"/>
          <p:cNvCxnSpPr/>
          <p:nvPr/>
        </p:nvCxnSpPr>
        <p:spPr>
          <a:xfrm>
            <a:off x="7835815" y="5190896"/>
            <a:ext cx="1096462" cy="276302"/>
          </a:xfrm>
          <a:prstGeom prst="straightConnector1">
            <a:avLst/>
          </a:prstGeom>
          <a:ln w="38100">
            <a:solidFill>
              <a:srgbClr val="0000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V="1">
            <a:off x="8932278" y="4191001"/>
            <a:ext cx="1278523" cy="1276197"/>
          </a:xfrm>
          <a:prstGeom prst="straightConnector1">
            <a:avLst/>
          </a:prstGeom>
          <a:ln w="38100">
            <a:solidFill>
              <a:srgbClr val="0000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7835816" y="4190999"/>
            <a:ext cx="2374985" cy="999898"/>
          </a:xfrm>
          <a:prstGeom prst="straightConnector1">
            <a:avLst/>
          </a:prstGeom>
          <a:ln w="38100">
            <a:solidFill>
              <a:srgbClr val="0000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/>
              <p:cNvSpPr/>
              <p:nvPr/>
            </p:nvSpPr>
            <p:spPr>
              <a:xfrm>
                <a:off x="8305800" y="5486400"/>
                <a:ext cx="33855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Rectangle 1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05800" y="5486400"/>
                <a:ext cx="33855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/>
              <p:cNvSpPr/>
              <p:nvPr/>
            </p:nvSpPr>
            <p:spPr>
              <a:xfrm>
                <a:off x="9262646" y="5086197"/>
                <a:ext cx="338554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Rectangle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2646" y="5086197"/>
                <a:ext cx="33855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ctangle 15"/>
              <p:cNvSpPr/>
              <p:nvPr/>
            </p:nvSpPr>
            <p:spPr>
              <a:xfrm>
                <a:off x="8018851" y="4343248"/>
                <a:ext cx="138767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𝒖</m:t>
                      </m:r>
                      <m:r>
                        <a:rPr lang="en-US" b="1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6" name="Rectangle 1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18851" y="4343248"/>
                <a:ext cx="1387673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2570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945" y="2133600"/>
            <a:ext cx="3250613" cy="3124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320957" y="1110803"/>
                <a:ext cx="8229600" cy="5442397"/>
              </a:xfrm>
            </p:spPr>
            <p:txBody>
              <a:bodyPr>
                <a:normAutofit lnSpcReduction="10000"/>
              </a:bodyPr>
              <a:lstStyle/>
              <a:p>
                <a:pPr marL="402336" lvl="1" indent="0">
                  <a:buNone/>
                </a:pPr>
                <a:r>
                  <a:rPr lang="en-US" b="1" dirty="0"/>
                  <a:t>Example</a:t>
                </a:r>
                <a:r>
                  <a:rPr lang="en-US" dirty="0"/>
                  <a:t>:  Find the components of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then find its magnitude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</m:oMath>
                </a14:m>
                <a:r>
                  <a:rPr lang="en-US" dirty="0"/>
                  <a:t> and direction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marL="402336" lvl="1" indent="0">
                  <a:buNone/>
                </a:pPr>
                <a:endParaRPr lang="en-US" b="1" dirty="0"/>
              </a:p>
              <a:p>
                <a:pPr marL="402336" lvl="1" indent="0">
                  <a:buNone/>
                </a:pPr>
                <a:r>
                  <a:rPr lang="en-US" b="1" dirty="0"/>
                  <a:t>Solution:</a:t>
                </a:r>
              </a:p>
              <a:p>
                <a:pPr marL="402336" lvl="1" indent="0">
                  <a:buNone/>
                </a:pPr>
                <a:r>
                  <a:rPr lang="en-US" dirty="0"/>
                  <a:t>The initial point of the line segment</a:t>
                </a:r>
              </a:p>
              <a:p>
                <a:pPr marL="402336" lvl="1" indent="0">
                  <a:buNone/>
                </a:pPr>
                <a:r>
                  <a:rPr lang="en-US" dirty="0"/>
                  <a:t>representing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2,7</m:t>
                        </m:r>
                      </m:e>
                    </m:d>
                  </m:oMath>
                </a14:m>
                <a:r>
                  <a:rPr lang="en-US" dirty="0"/>
                  <a:t>, and the</a:t>
                </a:r>
              </a:p>
              <a:p>
                <a:pPr marL="402336" lvl="1" indent="0">
                  <a:buNone/>
                </a:pPr>
                <a:r>
                  <a:rPr lang="en-US" dirty="0"/>
                  <a:t>terminal point 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5,3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402336" lvl="1" indent="0">
                  <a:buNone/>
                </a:pPr>
                <a:r>
                  <a:rPr lang="en-US" b="1" dirty="0"/>
                  <a:t>	 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5−2, 3−7</m:t>
                        </m:r>
                      </m:e>
                    </m:d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3, −4</m:t>
                        </m:r>
                      </m:e>
                    </m:d>
                  </m:oMath>
                </a14:m>
                <a:endParaRPr lang="en-US" b="1" dirty="0"/>
              </a:p>
              <a:p>
                <a:pPr marL="402336" lvl="1" indent="0">
                  <a:buNone/>
                </a:pPr>
                <a:r>
                  <a:rPr lang="en-US" dirty="0"/>
                  <a:t>The magnitude of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is </a:t>
                </a:r>
              </a:p>
              <a:p>
                <a:pPr marL="402336" lvl="1" indent="0">
                  <a:buNone/>
                </a:pPr>
                <a:r>
                  <a:rPr lang="en-US" dirty="0">
                    <a:solidFill>
                      <a:srgbClr val="0000CC"/>
                    </a:solidFill>
                  </a:rPr>
                  <a:t> 	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</a:rPr>
                                  <m:t>−4</m:t>
                                </m:r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=5</m:t>
                    </m:r>
                  </m:oMath>
                </a14:m>
                <a:endParaRPr lang="en-US" dirty="0"/>
              </a:p>
              <a:p>
                <a:pPr marL="402336" lvl="1" indent="0">
                  <a:buNone/>
                </a:pPr>
                <a:r>
                  <a:rPr lang="en-US" dirty="0"/>
                  <a:t>The direction of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is </a:t>
                </a:r>
              </a:p>
              <a:p>
                <a:pPr marL="402336" lvl="1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−4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=−53.1°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−53.1°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+360°=306.9°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0957" y="1110803"/>
                <a:ext cx="8229600" cy="5442397"/>
              </a:xfrm>
              <a:blipFill>
                <a:blip r:embed="rId4"/>
                <a:stretch>
                  <a:fillRect t="-15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/>
              <p:cNvSpPr/>
              <p:nvPr/>
            </p:nvSpPr>
            <p:spPr>
              <a:xfrm>
                <a:off x="8533790" y="3308004"/>
                <a:ext cx="44595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Rectangle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3790" y="3308004"/>
                <a:ext cx="445955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/>
          <p:cNvCxnSpPr/>
          <p:nvPr/>
        </p:nvCxnSpPr>
        <p:spPr>
          <a:xfrm>
            <a:off x="8305800" y="2743200"/>
            <a:ext cx="914400" cy="0"/>
          </a:xfrm>
          <a:prstGeom prst="straightConnector1">
            <a:avLst/>
          </a:prstGeom>
          <a:ln w="28575">
            <a:solidFill>
              <a:srgbClr val="0000CC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/>
        </p:nvCxnSpPr>
        <p:spPr>
          <a:xfrm>
            <a:off x="9220200" y="2736503"/>
            <a:ext cx="0" cy="1219200"/>
          </a:xfrm>
          <a:prstGeom prst="straightConnector1">
            <a:avLst/>
          </a:prstGeom>
          <a:ln w="28575">
            <a:solidFill>
              <a:srgbClr val="0000CC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Rectangle 19"/>
              <p:cNvSpPr/>
              <p:nvPr/>
            </p:nvSpPr>
            <p:spPr>
              <a:xfrm>
                <a:off x="8534401" y="2286001"/>
                <a:ext cx="56079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Rectangle 1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4401" y="2286001"/>
                <a:ext cx="560795" cy="461665"/>
              </a:xfrm>
              <a:prstGeom prst="rect">
                <a:avLst/>
              </a:prstGeom>
              <a:blipFill>
                <a:blip r:embed="rId6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20"/>
              <p:cNvSpPr/>
              <p:nvPr/>
            </p:nvSpPr>
            <p:spPr>
              <a:xfrm>
                <a:off x="9144000" y="2888904"/>
                <a:ext cx="567912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1" name="Rectangle 2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0" y="2888904"/>
                <a:ext cx="567912" cy="461665"/>
              </a:xfrm>
              <a:prstGeom prst="rect">
                <a:avLst/>
              </a:prstGeom>
              <a:blipFill>
                <a:blip r:embed="rId7"/>
                <a:stretch>
                  <a:fillRect b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413414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500"/>
                            </p:stCondLst>
                            <p:childTnLst>
                              <p:par>
                                <p:cTn id="1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320957" y="1110803"/>
                <a:ext cx="8229600" cy="480060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Note that the relationship between a vector and its component vectors can be determined using the trigonometric ratios of a right triangle.</a:t>
                </a:r>
              </a:p>
              <a:p>
                <a:pPr lvl="1"/>
                <a:r>
                  <a:rPr lang="en-US" dirty="0"/>
                  <a:t>The magnitude of the horizontal component of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is related to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by</a:t>
                </a:r>
              </a:p>
              <a:p>
                <a:pPr marL="402336" lvl="1" indent="0">
                  <a:buNone/>
                </a:pPr>
                <a:r>
                  <a:rPr lang="en-US" dirty="0"/>
                  <a:t>	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	, so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func>
                      <m:func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i="1" dirty="0">
                    <a:sym typeface="Symbol" panose="05050102010706020507" pitchFamily="18" charset="2"/>
                  </a:rPr>
                  <a:t>.</a:t>
                </a:r>
                <a:endParaRPr lang="en-US" dirty="0"/>
              </a:p>
              <a:p>
                <a:pPr lvl="1"/>
                <a:endParaRPr lang="en-US" dirty="0"/>
              </a:p>
              <a:p>
                <a:pPr lvl="1"/>
                <a:r>
                  <a:rPr lang="en-US" dirty="0"/>
                  <a:t>Similarly, we see that</a:t>
                </a:r>
              </a:p>
              <a:p>
                <a:pPr marL="402336" lvl="1" indent="0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</m:d>
                      </m:den>
                    </m:f>
                  </m:oMath>
                </a14:m>
                <a:r>
                  <a:rPr lang="en-US" dirty="0"/>
                  <a:t>	, so 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</m:d>
                    <m:func>
                      <m:funcPr>
                        <m:ctrlP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r>
                          <a:rPr lang="en-US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en-US" i="1" dirty="0">
                    <a:sym typeface="Symbol" panose="05050102010706020507" pitchFamily="18" charset="2"/>
                  </a:rPr>
                  <a:t>.</a:t>
                </a:r>
                <a:endParaRPr lang="en-US" dirty="0"/>
              </a:p>
              <a:p>
                <a:pPr marL="402336" lvl="1" indent="0">
                  <a:buNone/>
                </a:pPr>
                <a:endParaRPr lang="en-US" dirty="0"/>
              </a:p>
              <a:p>
                <a:pPr marL="402336" lvl="1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0957" y="1110803"/>
                <a:ext cx="8229600" cy="4800600"/>
              </a:xfrm>
              <a:blipFill>
                <a:blip r:embed="rId3"/>
                <a:stretch>
                  <a:fillRect t="-10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Vectors</a:t>
            </a:r>
          </a:p>
        </p:txBody>
      </p:sp>
      <p:pic>
        <p:nvPicPr>
          <p:cNvPr id="36" name="Picture 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4206" y="4191001"/>
            <a:ext cx="2838843" cy="234993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7" name="Rectangle 36"/>
              <p:cNvSpPr/>
              <p:nvPr/>
            </p:nvSpPr>
            <p:spPr>
              <a:xfrm>
                <a:off x="8166276" y="4844534"/>
                <a:ext cx="1617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15888" lvl="2"/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660066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solidFill>
                      <a:srgbClr val="660066"/>
                    </a:solidFill>
                  </a:rPr>
                  <a:t> </a:t>
                </a:r>
                <a:endParaRPr lang="en-US" b="1" i="1" dirty="0">
                  <a:solidFill>
                    <a:srgbClr val="660066"/>
                  </a:solidFill>
                </a:endParaRPr>
              </a:p>
            </p:txBody>
          </p:sp>
        </mc:Choice>
        <mc:Fallback xmlns="">
          <p:sp>
            <p:nvSpPr>
              <p:cNvPr id="37" name="Rectangle 3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6276" y="4844534"/>
                <a:ext cx="161780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Rectangle 37"/>
              <p:cNvSpPr/>
              <p:nvPr/>
            </p:nvSpPr>
            <p:spPr>
              <a:xfrm>
                <a:off x="8001001" y="6412468"/>
                <a:ext cx="1617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15888" lvl="2"/>
                <a:r>
                  <a:rPr lang="en-US" dirty="0">
                    <a:solidFill>
                      <a:srgbClr val="0000CC"/>
                    </a:solidFill>
                  </a:rPr>
                  <a:t>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𝒗</m:t>
                        </m:r>
                      </m:e>
                    </m:d>
                    <m:d>
                      <m:dPr>
                        <m:ctrlP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cos</m:t>
                            </m:r>
                          </m:fName>
                          <m:e>
                            <m:r>
                              <a:rPr lang="en-US" i="1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𝜃</m:t>
                            </m:r>
                          </m:e>
                        </m:func>
                      </m:e>
                    </m:d>
                    <m:r>
                      <a:rPr lang="en-US" i="1" dirty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b="1" i="1" dirty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𝒊</m:t>
                    </m:r>
                  </m:oMath>
                </a14:m>
                <a:r>
                  <a:rPr lang="en-US" b="1" i="1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38" name="Rectangle 3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1" y="6412468"/>
                <a:ext cx="1617805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0" name="TextBox 39"/>
          <p:cNvSpPr txBox="1"/>
          <p:nvPr/>
        </p:nvSpPr>
        <p:spPr>
          <a:xfrm>
            <a:off x="7960834" y="5867401"/>
            <a:ext cx="3449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CC"/>
                </a:solidFill>
                <a:sym typeface="Symbol" panose="05050102010706020507" pitchFamily="18" charset="2"/>
              </a:rPr>
              <a:t></a:t>
            </a:r>
            <a:endParaRPr lang="en-US" sz="2400" i="1" dirty="0">
              <a:solidFill>
                <a:srgbClr val="0000CC"/>
              </a:solidFill>
            </a:endParaRPr>
          </a:p>
        </p:txBody>
      </p:sp>
      <p:sp>
        <p:nvSpPr>
          <p:cNvPr id="41" name="Arc 40"/>
          <p:cNvSpPr/>
          <p:nvPr/>
        </p:nvSpPr>
        <p:spPr>
          <a:xfrm rot="961030">
            <a:off x="7318749" y="6000012"/>
            <a:ext cx="602503" cy="662808"/>
          </a:xfrm>
          <a:prstGeom prst="arc">
            <a:avLst/>
          </a:prstGeom>
          <a:ln w="19050">
            <a:solidFill>
              <a:srgbClr val="0000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41"/>
              <p:cNvSpPr/>
              <p:nvPr/>
            </p:nvSpPr>
            <p:spPr>
              <a:xfrm>
                <a:off x="8722833" y="6053504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15888"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b="1" i="1" dirty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𝒊</m:t>
                    </m:r>
                  </m:oMath>
                </a14:m>
                <a:r>
                  <a:rPr lang="en-US" b="1" i="1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42" name="Rectangle 4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2833" y="605350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 r="-7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Rectangle 42"/>
              <p:cNvSpPr/>
              <p:nvPr/>
            </p:nvSpPr>
            <p:spPr>
              <a:xfrm>
                <a:off x="7025640" y="4844534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15888"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b="1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𝒋</m:t>
                    </m:r>
                  </m:oMath>
                </a14:m>
                <a:r>
                  <a:rPr lang="en-US" b="1" i="1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43" name="Rectangle 4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5640" y="4844534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 r="-12000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/>
              <p:cNvSpPr/>
              <p:nvPr/>
            </p:nvSpPr>
            <p:spPr>
              <a:xfrm>
                <a:off x="7620001" y="3886200"/>
                <a:ext cx="1617805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15888" lvl="2"/>
                <a14:m>
                  <m:oMath xmlns:m="http://schemas.openxmlformats.org/officeDocument/2006/math">
                    <m:r>
                      <a:rPr lang="en-US" b="1" i="1" dirty="0">
                        <a:solidFill>
                          <a:srgbClr val="660066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 dirty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solidFill>
                      <a:srgbClr val="660066"/>
                    </a:solidFill>
                  </a:rPr>
                  <a:t> </a:t>
                </a:r>
                <a:endParaRPr lang="en-US" b="1" i="1" dirty="0">
                  <a:solidFill>
                    <a:srgbClr val="660066"/>
                  </a:solidFill>
                </a:endParaRPr>
              </a:p>
            </p:txBody>
          </p:sp>
        </mc:Choice>
        <mc:Fallback xmlns="">
          <p:sp>
            <p:nvSpPr>
              <p:cNvPr id="44" name="Rectangle 4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1" y="3886200"/>
                <a:ext cx="1617805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1356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320957" y="1110803"/>
                <a:ext cx="8229600" cy="5366197"/>
              </a:xfrm>
            </p:spPr>
            <p:txBody>
              <a:bodyPr/>
              <a:lstStyle/>
              <a:p>
                <a:pPr marL="82296" indent="0">
                  <a:buNone/>
                </a:pPr>
                <a:r>
                  <a:rPr lang="en-US" dirty="0"/>
                  <a:t>Steps used in finding the components of a vector:</a:t>
                </a:r>
              </a:p>
              <a:p>
                <a:pPr marL="539496" indent="-457200">
                  <a:buClr>
                    <a:srgbClr val="000066"/>
                  </a:buClr>
                  <a:buSzPct val="100000"/>
                  <a:buFont typeface="+mj-lt"/>
                  <a:buAutoNum type="arabicPeriod"/>
                </a:pPr>
                <a:r>
                  <a:rPr lang="en-US" dirty="0"/>
                  <a:t>Place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such that </a:t>
                </a:r>
                <a:r>
                  <a:rPr lang="en-US" i="1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</a:t>
                </a:r>
                <a:r>
                  <a:rPr lang="en-US" i="1" dirty="0">
                    <a:sym typeface="Symbol" panose="05050102010706020507" pitchFamily="18" charset="2"/>
                  </a:rPr>
                  <a:t> </a:t>
                </a:r>
                <a:r>
                  <a:rPr lang="en-US" dirty="0">
                    <a:sym typeface="Symbol" panose="05050102010706020507" pitchFamily="18" charset="2"/>
                  </a:rPr>
                  <a:t>is in standard  position.</a:t>
                </a:r>
              </a:p>
              <a:p>
                <a:pPr marL="539496" indent="-457200">
                  <a:buClr>
                    <a:srgbClr val="000066"/>
                  </a:buClr>
                  <a:buSzPct val="100000"/>
                  <a:buFont typeface="+mj-lt"/>
                  <a:buAutoNum type="arabicPeriod"/>
                </a:pPr>
                <a:r>
                  <a:rPr lang="en-US" dirty="0">
                    <a:sym typeface="Symbol" panose="05050102010706020507" pitchFamily="18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𝒗</m:t>
                    </m:r>
                    <m:r>
                      <a:rPr lang="en-US" b="0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dirty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0" i="1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𝒗</m:t>
                            </m:r>
                          </m:e>
                        </m:d>
                        <m:func>
                          <m:funcPr>
                            <m:ctrlPr>
                              <a:rPr lang="en-US" b="0" i="1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𝜃</m:t>
                            </m:r>
                          </m:e>
                        </m:func>
                        <m:r>
                          <a:rPr lang="en-US" b="0" i="1" dirty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,</m:t>
                        </m:r>
                        <m:d>
                          <m:dPr>
                            <m:begChr m:val="‖"/>
                            <m:endChr m:val="‖"/>
                            <m:ctrlPr>
                              <a:rPr lang="en-US" b="0" i="1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dPr>
                          <m:e>
                            <m:r>
                              <a:rPr lang="en-US" b="1" i="1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𝒗</m:t>
                            </m:r>
                          </m:e>
                        </m:d>
                        <m:func>
                          <m:funcPr>
                            <m:ctrlPr>
                              <a:rPr lang="en-US" b="0" i="1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dirty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𝜃</m:t>
                            </m:r>
                          </m:e>
                        </m:func>
                      </m:e>
                    </m:d>
                  </m:oMath>
                </a14:m>
                <a:r>
                  <a:rPr lang="en-US" dirty="0">
                    <a:sym typeface="Symbol" panose="05050102010706020507" pitchFamily="18" charset="2"/>
                  </a:rPr>
                  <a:t> </a:t>
                </a:r>
              </a:p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r>
                  <a:rPr lang="en-US" i="1" dirty="0">
                    <a:sym typeface="Symbol" panose="05050102010706020507" pitchFamily="18" charset="2"/>
                  </a:rPr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=</m:t>
                    </m:r>
                    <m:d>
                      <m:dPr>
                        <m:begChr m:val="‖"/>
                        <m:endChr m:val="‖"/>
                        <m:ctrlP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𝒗</m:t>
                        </m:r>
                      </m:e>
                    </m:d>
                    <m:d>
                      <m:dPr>
                        <m:ctrlPr>
                          <a:rPr lang="en-US" b="0" i="1" dirty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cos</m:t>
                            </m:r>
                          </m:fName>
                          <m:e>
                            <m:r>
                              <a:rPr lang="en-US" i="1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𝜃</m:t>
                            </m:r>
                          </m:e>
                        </m:func>
                      </m:e>
                    </m:d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𝒊</m:t>
                    </m:r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+</m:t>
                    </m:r>
                    <m:d>
                      <m:dPr>
                        <m:begChr m:val="‖"/>
                        <m:endChr m:val="‖"/>
                        <m:ctrlP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r>
                          <a:rPr lang="en-US" b="1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𝒗</m:t>
                        </m:r>
                      </m:e>
                    </m:d>
                    <m:d>
                      <m:dPr>
                        <m:ctrlPr>
                          <a:rPr lang="en-US" b="0" i="1" dirty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sin</m:t>
                            </m:r>
                          </m:fName>
                          <m:e>
                            <m:r>
                              <a:rPr lang="en-US" i="1" dirty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𝜃</m:t>
                            </m:r>
                          </m:e>
                        </m:func>
                      </m:e>
                    </m:d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𝒋</m:t>
                    </m:r>
                  </m:oMath>
                </a14:m>
                <a:endParaRPr lang="en-US" i="1" dirty="0">
                  <a:sym typeface="Symbol" panose="05050102010706020507" pitchFamily="18" charset="2"/>
                </a:endParaRPr>
              </a:p>
              <a:p>
                <a:pPr marL="539496" indent="-457200">
                  <a:buClr>
                    <a:srgbClr val="000066"/>
                  </a:buClr>
                  <a:buSzPct val="100000"/>
                  <a:buFont typeface="+mj-lt"/>
                  <a:buAutoNum type="arabicPeriod"/>
                </a:pPr>
                <a:endParaRPr lang="en-US" i="1" dirty="0">
                  <a:sym typeface="Symbol" panose="05050102010706020507" pitchFamily="18" charset="2"/>
                </a:endParaRPr>
              </a:p>
              <a:p>
                <a:pPr marL="539496" indent="-457200">
                  <a:buClr>
                    <a:srgbClr val="000066"/>
                  </a:buClr>
                  <a:buSzPct val="100000"/>
                  <a:buFont typeface="+mj-lt"/>
                  <a:buAutoNum type="arabicPeriod" startAt="3"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Check the components to see if each is in the correct direction and has a magnitude that is proper for the reference angle.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0957" y="1110803"/>
                <a:ext cx="8229600" cy="5366197"/>
              </a:xfrm>
              <a:blipFill>
                <a:blip r:embed="rId3"/>
                <a:stretch>
                  <a:fillRect l="-148" t="-9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/>
          <p:cNvGrpSpPr/>
          <p:nvPr/>
        </p:nvGrpSpPr>
        <p:grpSpPr>
          <a:xfrm>
            <a:off x="5650378" y="4191000"/>
            <a:ext cx="4292670" cy="2590800"/>
            <a:chOff x="2584773" y="4191000"/>
            <a:chExt cx="4292670" cy="2590800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38600" y="4191000"/>
              <a:ext cx="2838843" cy="2349931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Rectangle 16"/>
                <p:cNvSpPr/>
                <p:nvPr/>
              </p:nvSpPr>
              <p:spPr>
                <a:xfrm>
                  <a:off x="5100670" y="4844534"/>
                  <a:ext cx="1617805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115888" lvl="2"/>
                  <a14:m>
                    <m:oMath xmlns:m="http://schemas.openxmlformats.org/officeDocument/2006/math">
                      <m:r>
                        <a:rPr lang="en-US" b="1" i="1" dirty="0">
                          <a:solidFill>
                            <a:srgbClr val="660066"/>
                          </a:solidFill>
                          <a:latin typeface="Cambria Math" panose="02040503050406030204" pitchFamily="18" charset="0"/>
                        </a:rPr>
                        <m:t>𝒗</m:t>
                      </m:r>
                    </m:oMath>
                  </a14:m>
                  <a:r>
                    <a:rPr lang="en-US" dirty="0">
                      <a:solidFill>
                        <a:srgbClr val="660066"/>
                      </a:solidFill>
                    </a:rPr>
                    <a:t> </a:t>
                  </a:r>
                  <a:endParaRPr lang="en-US" b="1" i="1" dirty="0">
                    <a:solidFill>
                      <a:srgbClr val="660066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Rectangle 16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0670" y="4844534"/>
                  <a:ext cx="1617805" cy="369332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ctangle 17"/>
                <p:cNvSpPr/>
                <p:nvPr/>
              </p:nvSpPr>
              <p:spPr>
                <a:xfrm>
                  <a:off x="4935395" y="6412468"/>
                  <a:ext cx="1617805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115888" lvl="2"/>
                  <a:r>
                    <a:rPr lang="en-US" dirty="0">
                      <a:solidFill>
                        <a:srgbClr val="0000CC"/>
                      </a:solidFill>
                    </a:rPr>
                    <a:t> </a:t>
                  </a:r>
                  <a14:m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en-US" i="1" dirty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dPr>
                        <m:e>
                          <m:r>
                            <a:rPr lang="en-US" b="1" i="1" dirty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𝒗</m:t>
                          </m:r>
                        </m:e>
                      </m:d>
                      <m:d>
                        <m:dPr>
                          <m:ctrlPr>
                            <a:rPr lang="en-US" i="1" dirty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 dirty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dirty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i="1" dirty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𝒊</m:t>
                      </m:r>
                    </m:oMath>
                  </a14:m>
                  <a:r>
                    <a:rPr lang="en-US" b="1" i="1" dirty="0">
                      <a:solidFill>
                        <a:srgbClr val="FF0000"/>
                      </a:solidFill>
                    </a:rPr>
                    <a:t> </a:t>
                  </a:r>
                </a:p>
              </p:txBody>
            </p:sp>
          </mc:Choice>
          <mc:Fallback xmlns="">
            <p:sp>
              <p:nvSpPr>
                <p:cNvPr id="18" name="Rectangle 1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5395" y="6412468"/>
                  <a:ext cx="1617805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Rectangle 18"/>
                <p:cNvSpPr/>
                <p:nvPr/>
              </p:nvSpPr>
              <p:spPr>
                <a:xfrm>
                  <a:off x="2584773" y="5125274"/>
                  <a:ext cx="1617805" cy="369332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115888" lvl="2"/>
                  <a14:m>
                    <m:oMath xmlns:m="http://schemas.openxmlformats.org/officeDocument/2006/math">
                      <m:d>
                        <m:dPr>
                          <m:begChr m:val="‖"/>
                          <m:endChr m:val="‖"/>
                          <m:ctrlPr>
                            <a:rPr lang="en-US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dPr>
                        <m:e>
                          <m:r>
                            <a:rPr lang="en-US" b="1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  <m:t>𝒗</m:t>
                          </m:r>
                        </m:e>
                      </m:d>
                      <m:d>
                        <m:dPr>
                          <m:ctrlPr>
                            <a:rPr lang="en-US" i="1" dirty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sym typeface="Symbol" panose="05050102010706020507" pitchFamily="18" charset="2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dirty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sym typeface="Symbol" panose="05050102010706020507" pitchFamily="18" charset="2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  <m:r>
                        <a:rPr lang="en-US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 </m:t>
                      </m:r>
                      <m:r>
                        <a:rPr lang="en-US" b="1" i="1" dirty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sym typeface="Symbol" panose="05050102010706020507" pitchFamily="18" charset="2"/>
                        </a:rPr>
                        <m:t>𝒋</m:t>
                      </m:r>
                    </m:oMath>
                  </a14:m>
                  <a:r>
                    <a:rPr lang="en-US" b="1" i="1" baseline="-25000" dirty="0">
                      <a:solidFill>
                        <a:srgbClr val="C00000"/>
                      </a:solidFill>
                    </a:rPr>
                    <a:t>  </a:t>
                  </a:r>
                  <a:endParaRPr lang="en-US" b="1" i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9" name="Rectangle 18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84773" y="5125274"/>
                  <a:ext cx="1617805" cy="369332"/>
                </a:xfrm>
                <a:prstGeom prst="rect">
                  <a:avLst/>
                </a:prstGeom>
                <a:blipFill>
                  <a:blip r:embed="rId7"/>
                  <a:stretch>
                    <a:fillRect b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0" name="TextBox 19"/>
          <p:cNvSpPr txBox="1"/>
          <p:nvPr/>
        </p:nvSpPr>
        <p:spPr>
          <a:xfrm>
            <a:off x="7960834" y="5867401"/>
            <a:ext cx="34496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i="1" dirty="0">
                <a:solidFill>
                  <a:srgbClr val="0000CC"/>
                </a:solidFill>
                <a:sym typeface="Symbol" panose="05050102010706020507" pitchFamily="18" charset="2"/>
              </a:rPr>
              <a:t></a:t>
            </a:r>
            <a:endParaRPr lang="en-US" sz="2400" i="1" dirty="0">
              <a:solidFill>
                <a:srgbClr val="0000CC"/>
              </a:solidFill>
            </a:endParaRPr>
          </a:p>
        </p:txBody>
      </p:sp>
      <p:sp>
        <p:nvSpPr>
          <p:cNvPr id="21" name="Arc 20"/>
          <p:cNvSpPr/>
          <p:nvPr/>
        </p:nvSpPr>
        <p:spPr>
          <a:xfrm rot="961030">
            <a:off x="7318749" y="6000012"/>
            <a:ext cx="602503" cy="662808"/>
          </a:xfrm>
          <a:prstGeom prst="arc">
            <a:avLst/>
          </a:prstGeom>
          <a:ln w="19050">
            <a:solidFill>
              <a:srgbClr val="0000CC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ectangle 22"/>
              <p:cNvSpPr/>
              <p:nvPr/>
            </p:nvSpPr>
            <p:spPr>
              <a:xfrm>
                <a:off x="8722833" y="6053504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15888"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 dirty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1</m:t>
                        </m:r>
                      </m:sub>
                    </m:sSub>
                    <m:r>
                      <a:rPr lang="en-US" i="1" dirty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b="1" i="1" dirty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𝒊</m:t>
                    </m:r>
                  </m:oMath>
                </a14:m>
                <a:r>
                  <a:rPr lang="en-US" b="1" i="1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3" name="Rectangle 2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2833" y="6053504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 r="-7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Rectangle 23"/>
              <p:cNvSpPr/>
              <p:nvPr/>
            </p:nvSpPr>
            <p:spPr>
              <a:xfrm>
                <a:off x="7025640" y="4844534"/>
                <a:ext cx="609600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15888" lvl="2"/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i="1" dirty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2</m:t>
                        </m:r>
                      </m:sub>
                    </m:sSub>
                    <m:r>
                      <a:rPr lang="en-US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 </m:t>
                    </m:r>
                    <m:r>
                      <a:rPr lang="en-US" b="1" i="1" dirty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sym typeface="Symbol" panose="05050102010706020507" pitchFamily="18" charset="2"/>
                      </a:rPr>
                      <m:t>𝒋</m:t>
                    </m:r>
                  </m:oMath>
                </a14:m>
                <a:r>
                  <a:rPr lang="en-US" b="1" i="1" dirty="0">
                    <a:solidFill>
                      <a:srgbClr val="C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24" name="Rectangle 2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5640" y="4844534"/>
                <a:ext cx="609600" cy="369332"/>
              </a:xfrm>
              <a:prstGeom prst="rect">
                <a:avLst/>
              </a:prstGeom>
              <a:blipFill>
                <a:blip r:embed="rId9"/>
                <a:stretch>
                  <a:fillRect r="-12000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9424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00" y="2819400"/>
            <a:ext cx="2934616" cy="290527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Components of 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320957" y="1110803"/>
                <a:ext cx="8229600" cy="5366197"/>
              </a:xfrm>
            </p:spPr>
            <p:txBody>
              <a:bodyPr>
                <a:normAutofit fontScale="92500" lnSpcReduction="10000"/>
              </a:bodyPr>
              <a:lstStyle/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Resolve the vector of magnitude </a:t>
                </a:r>
                <a:r>
                  <a:rPr lang="en-US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6</a:t>
                </a: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and direction </a:t>
                </a:r>
                <a:r>
                  <a:rPr lang="en-US" i="1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</a:t>
                </a:r>
                <a:r>
                  <a:rPr lang="en-US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 = 210 </a:t>
                </a: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into its vertical and horizontal components.</a:t>
                </a:r>
              </a:p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endParaRPr lang="en-US" dirty="0">
                  <a:solidFill>
                    <a:prstClr val="black"/>
                  </a:solidFill>
                  <a:sym typeface="Symbol" panose="05050102010706020507" pitchFamily="18" charset="2"/>
                </a:endParaRPr>
              </a:p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Solution:</a:t>
                </a:r>
              </a:p>
              <a:p>
                <a:pPr marL="539496" indent="-457200">
                  <a:buClr>
                    <a:srgbClr val="000066"/>
                  </a:buClr>
                  <a:buSzPct val="100000"/>
                  <a:buFont typeface="+mj-lt"/>
                  <a:buAutoNum type="arabicPeriod"/>
                </a:pPr>
                <a:r>
                  <a:rPr lang="en-US" dirty="0"/>
                  <a:t>Place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such that </a:t>
                </a:r>
                <a:r>
                  <a:rPr lang="en-US" i="1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</a:t>
                </a:r>
                <a:r>
                  <a:rPr lang="en-US" i="1" dirty="0">
                    <a:sym typeface="Symbol" panose="05050102010706020507" pitchFamily="18" charset="2"/>
                  </a:rPr>
                  <a:t> </a:t>
                </a:r>
                <a:r>
                  <a:rPr lang="en-US" dirty="0">
                    <a:sym typeface="Symbol" panose="05050102010706020507" pitchFamily="18" charset="2"/>
                  </a:rPr>
                  <a:t>is in standard  position.</a:t>
                </a:r>
              </a:p>
              <a:p>
                <a:pPr marL="539496" indent="-457200">
                  <a:buClr>
                    <a:srgbClr val="000066"/>
                  </a:buClr>
                  <a:buSzPct val="100000"/>
                  <a:buFont typeface="+mj-lt"/>
                  <a:buAutoNum type="arabicPeriod"/>
                </a:pPr>
                <a:r>
                  <a:rPr lang="en-US" dirty="0">
                    <a:sym typeface="Symbol" panose="05050102010706020507" pitchFamily="18" charset="2"/>
                  </a:rPr>
                  <a:t>Calculate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𝑣</m:t>
                    </m:r>
                    <m:r>
                      <a:rPr lang="en-US" i="1" baseline="-25000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1</m:t>
                    </m:r>
                  </m:oMath>
                </a14:m>
                <a:r>
                  <a:rPr lang="en-US" dirty="0">
                    <a:sym typeface="Symbol" panose="05050102010706020507" pitchFamily="18" charset="2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𝑣</m:t>
                    </m:r>
                    <m:r>
                      <a:rPr lang="en-US" i="1" baseline="-25000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2</m:t>
                    </m:r>
                  </m:oMath>
                </a14:m>
                <a:r>
                  <a:rPr lang="en-US" dirty="0">
                    <a:sym typeface="Symbol" panose="05050102010706020507" pitchFamily="18" charset="2"/>
                  </a:rPr>
                  <a:t> :</a:t>
                </a:r>
              </a:p>
              <a:p>
                <a:pPr marL="402336" lvl="1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i="1" dirty="0">
                  <a:solidFill>
                    <a:srgbClr val="0000CC"/>
                  </a:solidFill>
                  <a:latin typeface="Cambria Math" panose="02040503050406030204" pitchFamily="18" charset="0"/>
                </a:endParaRPr>
              </a:p>
              <a:p>
                <a:pPr marL="402336" lvl="1" indent="0">
                  <a:buNone/>
                </a:pPr>
                <a:r>
                  <a:rPr lang="en-US" b="0" dirty="0">
                    <a:solidFill>
                      <a:srgbClr val="0000CC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  <m:func>
                          <m:func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210</m:t>
                            </m:r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e>
                        </m:func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,6</m:t>
                        </m:r>
                        <m:func>
                          <m:func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210</m:t>
                            </m:r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e>
                        </m:func>
                      </m:e>
                    </m:d>
                  </m:oMath>
                </a14:m>
                <a:endParaRPr lang="en-US" i="1" dirty="0">
                  <a:solidFill>
                    <a:srgbClr val="0000CC"/>
                  </a:solidFill>
                </a:endParaRPr>
              </a:p>
              <a:p>
                <a:pPr marL="402336" lvl="1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ad>
                                  <m:radPr>
                                    <m:degHide m:val="on"/>
                                    <m:ctrlPr>
                                      <a:rPr lang="en-US" b="0" i="1" smtClean="0">
                                        <a:solidFill>
                                          <a:srgbClr val="0000CC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n-US" b="0" i="1" smtClean="0">
                                        <a:solidFill>
                                          <a:srgbClr val="0000CC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e>
                                </m:rad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 6</m:t>
                        </m:r>
                        <m:d>
                          <m:d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en-US" b="0" i="1" smtClean="0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d>
                  </m:oMath>
                </a14:m>
                <a:endParaRPr lang="en-US" i="1" dirty="0">
                  <a:solidFill>
                    <a:srgbClr val="0000CC"/>
                  </a:solidFill>
                </a:endParaRPr>
              </a:p>
              <a:p>
                <a:pPr marL="402336" lvl="1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−3</m:t>
                        </m:r>
                        <m:rad>
                          <m:radPr>
                            <m:degHide m:val="on"/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,−3</m:t>
                        </m:r>
                      </m:e>
                    </m:d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−5.2,−3</m:t>
                        </m:r>
                      </m:e>
                    </m:d>
                  </m:oMath>
                </a14:m>
                <a:r>
                  <a:rPr lang="en-US" i="1" dirty="0">
                    <a:sym typeface="Symbol" panose="05050102010706020507" pitchFamily="18" charset="2"/>
                  </a:rPr>
                  <a:t>.</a:t>
                </a:r>
              </a:p>
              <a:p>
                <a:pPr marL="539496" indent="-457200">
                  <a:spcBef>
                    <a:spcPts val="0"/>
                  </a:spcBef>
                  <a:buClr>
                    <a:srgbClr val="000066"/>
                  </a:buClr>
                  <a:buSzPct val="100000"/>
                  <a:buFont typeface="+mj-lt"/>
                  <a:buAutoNum type="arabicPeriod"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Check the components to see if</a:t>
                </a:r>
              </a:p>
              <a:p>
                <a:pPr marL="82296" indent="0">
                  <a:spcBef>
                    <a:spcPts val="0"/>
                  </a:spcBef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     each is in the correct direction and</a:t>
                </a:r>
              </a:p>
              <a:p>
                <a:pPr marL="82296" indent="0">
                  <a:spcBef>
                    <a:spcPts val="0"/>
                  </a:spcBef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     has a magnitude that is proper for </a:t>
                </a:r>
              </a:p>
              <a:p>
                <a:pPr marL="82296" indent="0">
                  <a:spcBef>
                    <a:spcPts val="0"/>
                  </a:spcBef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     the reference angle.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0957" y="1110803"/>
                <a:ext cx="8229600" cy="5366197"/>
              </a:xfrm>
              <a:blipFill>
                <a:blip r:embed="rId4"/>
                <a:stretch>
                  <a:fillRect t="-1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98646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401839" y="2819401"/>
            <a:ext cx="2924178" cy="2894935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Vectors in the same direction as </a:t>
            </a:r>
            <a:r>
              <a:rPr lang="en-US" b="1" i="1" dirty="0">
                <a:solidFill>
                  <a:srgbClr val="0000CC"/>
                </a:solidFill>
              </a:rPr>
              <a:t>v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320958" y="1110803"/>
                <a:ext cx="7889843" cy="5366197"/>
              </a:xfrm>
            </p:spPr>
            <p:txBody>
              <a:bodyPr>
                <a:normAutofit lnSpcReduction="10000"/>
              </a:bodyPr>
              <a:lstStyle/>
              <a:p>
                <a:pPr marL="128016" indent="0">
                  <a:buNone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Now suppose we wanted a unit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𝒖</m:t>
                    </m:r>
                  </m:oMath>
                </a14:m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 in the same direction as the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−3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,−3</m:t>
                        </m:r>
                      </m:e>
                    </m:d>
                  </m:oMath>
                </a14:m>
                <a:r>
                  <a:rPr lang="en-US" dirty="0"/>
                  <a:t>.  </a:t>
                </a:r>
              </a:p>
              <a:p>
                <a:pPr marL="128016" indent="0">
                  <a:buNone/>
                </a:pPr>
                <a:r>
                  <a:rPr lang="en-US" dirty="0"/>
                  <a:t>The magnitude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dirty="0">
                    <a:sym typeface="Symbol" panose="05050102010706020507" pitchFamily="18" charset="2"/>
                  </a:rPr>
                  <a:t>, so we want a vector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dirty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fPr>
                      <m:num>
                        <m:r>
                          <a:rPr lang="en-US" i="1" dirty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1</m:t>
                        </m:r>
                      </m:num>
                      <m:den>
                        <m:r>
                          <a:rPr lang="en-US" i="1" dirty="0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6</m:t>
                        </m:r>
                      </m:den>
                    </m:f>
                  </m:oMath>
                </a14:m>
                <a:r>
                  <a:rPr lang="en-US" dirty="0">
                    <a:sym typeface="Symbol" panose="05050102010706020507" pitchFamily="18" charset="2"/>
                  </a:rPr>
                  <a:t> the magnitude of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sym typeface="Symbol" panose="05050102010706020507" pitchFamily="18" charset="2"/>
                  </a:rPr>
                  <a:t>.</a:t>
                </a:r>
              </a:p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ym typeface="Symbol" panose="05050102010706020507" pitchFamily="18" charset="2"/>
                  </a:rPr>
                  <a:t>So, </a:t>
                </a:r>
              </a:p>
              <a:p>
                <a:pPr marL="402336" lvl="1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𝒖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i="1" dirty="0">
                  <a:solidFill>
                    <a:srgbClr val="0000CC"/>
                  </a:solidFill>
                  <a:latin typeface="Cambria Math" panose="02040503050406030204" pitchFamily="18" charset="0"/>
                </a:endParaRPr>
              </a:p>
              <a:p>
                <a:pPr marL="402336" lvl="1" indent="0">
                  <a:buNone/>
                </a:pPr>
                <a:r>
                  <a:rPr lang="en-US" b="0" dirty="0">
                    <a:solidFill>
                      <a:srgbClr val="0000CC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−3</m:t>
                        </m:r>
                        <m:rad>
                          <m:radPr>
                            <m:degHide m:val="on"/>
                            <m:ctrlP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,−3</m:t>
                        </m:r>
                      </m:e>
                    </m:d>
                  </m:oMath>
                </a14:m>
                <a:endParaRPr lang="en-US" i="1" dirty="0">
                  <a:solidFill>
                    <a:srgbClr val="0000CC"/>
                  </a:solidFill>
                </a:endParaRPr>
              </a:p>
              <a:p>
                <a:pPr marL="402336" lvl="1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</a:rPr>
                  <a:t>   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ad>
                              <m:radPr>
                                <m:degHide m:val="on"/>
                                <m:ctrlPr>
                                  <a:rPr lang="en-US" i="1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i="1">
                                    <a:solidFill>
                                      <a:srgbClr val="0000CC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rad>
                          </m:num>
                          <m:den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en-US" i="1" dirty="0">
                  <a:solidFill>
                    <a:srgbClr val="0000CC"/>
                  </a:solidFill>
                </a:endParaRPr>
              </a:p>
              <a:p>
                <a:pPr marL="402336" lvl="1" indent="0">
                  <a:buNone/>
                </a:pPr>
                <a:endParaRPr lang="en-US" i="1" dirty="0">
                  <a:solidFill>
                    <a:srgbClr val="0000CC"/>
                  </a:solidFill>
                </a:endParaRPr>
              </a:p>
              <a:p>
                <a:pPr marL="82296" indent="0">
                  <a:spcBef>
                    <a:spcPts val="0"/>
                  </a:spcBef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In general, the unit vector in the same</a:t>
                </a:r>
              </a:p>
              <a:p>
                <a:pPr marL="82296" indent="0">
                  <a:spcBef>
                    <a:spcPts val="0"/>
                  </a:spcBef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direction as a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</m:oMath>
                </a14:m>
                <a:r>
                  <a:rPr lang="en-US" b="1" i="1" dirty="0">
                    <a:solidFill>
                      <a:srgbClr val="0000CC"/>
                    </a:solidFill>
                  </a:rPr>
                  <a:t> </a:t>
                </a:r>
                <a:r>
                  <a:rPr lang="en-US" dirty="0">
                    <a:solidFill>
                      <a:prstClr val="black"/>
                    </a:solidFill>
                    <a:sym typeface="Symbol" panose="05050102010706020507" pitchFamily="18" charset="2"/>
                  </a:rPr>
                  <a:t>is the vector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sym typeface="Symbol" panose="05050102010706020507" pitchFamily="18" charset="2"/>
                          </a:rPr>
                          <m:t>1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sym typeface="Symbol" panose="05050102010706020507" pitchFamily="18" charset="2"/>
                              </a:rPr>
                              <m:t>𝒗</m:t>
                            </m:r>
                          </m:e>
                        </m:d>
                      </m:den>
                    </m:f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sym typeface="Symbol" panose="05050102010706020507" pitchFamily="18" charset="2"/>
                      </a:rPr>
                      <m:t>𝒗</m:t>
                    </m:r>
                  </m:oMath>
                </a14:m>
                <a:endParaRPr lang="en-US" b="1" dirty="0">
                  <a:solidFill>
                    <a:prstClr val="black"/>
                  </a:solidFill>
                  <a:sym typeface="Symbol" panose="05050102010706020507" pitchFamily="18" charset="2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0958" y="1110803"/>
                <a:ext cx="7889843" cy="5366197"/>
              </a:xfrm>
              <a:blipFill>
                <a:blip r:embed="rId3"/>
                <a:stretch>
                  <a:fillRect l="-155" t="-1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1839" y="2819400"/>
            <a:ext cx="2924178" cy="2894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50203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Components of 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320957" y="1110803"/>
                <a:ext cx="8229600" cy="5366197"/>
              </a:xfrm>
            </p:spPr>
            <p:txBody>
              <a:bodyPr>
                <a:normAutofit lnSpcReduction="10000"/>
              </a:bodyPr>
              <a:lstStyle/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olidFill>
                      <a:prstClr val="black"/>
                    </a:solidFill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Find the component vectors if the magnitude is </a:t>
                </a:r>
                <a:r>
                  <a:rPr lang="en-US" dirty="0">
                    <a:solidFill>
                      <a:srgbClr val="0000CC"/>
                    </a:solidFill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720</a:t>
                </a:r>
                <a:r>
                  <a:rPr lang="en-US" dirty="0">
                    <a:solidFill>
                      <a:prstClr val="black"/>
                    </a:solidFill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.</a:t>
                </a:r>
              </a:p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endParaRPr lang="en-US" dirty="0">
                  <a:solidFill>
                    <a:prstClr val="black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endParaRPr lang="en-US" dirty="0">
                  <a:solidFill>
                    <a:prstClr val="black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endParaRPr lang="en-US" dirty="0">
                  <a:solidFill>
                    <a:prstClr val="black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82296" indent="0">
                  <a:buClr>
                    <a:srgbClr val="000066"/>
                  </a:buClr>
                  <a:buSzPct val="100000"/>
                  <a:buNone/>
                </a:pPr>
                <a:r>
                  <a:rPr lang="en-US" dirty="0">
                    <a:solidFill>
                      <a:prstClr val="black"/>
                    </a:solidFill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Solution:</a:t>
                </a:r>
              </a:p>
              <a:p>
                <a:pPr marL="539496" indent="-457200">
                  <a:buClr>
                    <a:srgbClr val="000066"/>
                  </a:buClr>
                  <a:buSzPct val="100000"/>
                  <a:buFont typeface="+mj-lt"/>
                  <a:buAutoNum type="arabicPeriod"/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Place vector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 such that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i="1" dirty="0"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 </a:t>
                </a: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is in standard  position.</a:t>
                </a:r>
              </a:p>
              <a:p>
                <a:pPr marL="539496" indent="-457200">
                  <a:buClr>
                    <a:srgbClr val="000066"/>
                  </a:buClr>
                  <a:buSzPct val="100000"/>
                  <a:buFont typeface="+mj-lt"/>
                  <a:buAutoNum type="arabicPeriod"/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Calculate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sym typeface="Symbol" panose="05050102010706020507" pitchFamily="18" charset="2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sym typeface="Symbol" panose="05050102010706020507" pitchFamily="18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sym typeface="Symbol" panose="05050102010706020507" pitchFamily="18" charset="2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  <a:sym typeface="Symbol" panose="05050102010706020507" pitchFamily="18" charset="2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:</a:t>
                </a:r>
              </a:p>
              <a:p>
                <a:pPr marL="402336" lvl="1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𝒗</m:t>
                    </m:r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i="1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402336" lvl="1" indent="0">
                  <a:buNone/>
                </a:pPr>
                <a:r>
                  <a:rPr lang="en-US" dirty="0">
                    <a:solidFill>
                      <a:srgbClr val="0000CC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720</m:t>
                        </m:r>
                        <m:func>
                          <m:funcPr>
                            <m:ctrlP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307.6</m:t>
                            </m:r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e>
                        </m:func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720</m:t>
                        </m:r>
                        <m:func>
                          <m:funcPr>
                            <m:ctrlP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en-US" b="0" i="1" smtClean="0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</a:rPr>
                              <m:t>307.6</m:t>
                            </m:r>
                            <m:r>
                              <a:rPr lang="en-US" i="1">
                                <a:solidFill>
                                  <a:srgbClr val="0000CC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°</m:t>
                            </m:r>
                          </m:e>
                        </m:func>
                      </m:e>
                    </m:d>
                  </m:oMath>
                </a14:m>
                <a:endParaRPr lang="en-US" i="1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402336" lvl="1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  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439.3</m:t>
                        </m:r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</a:rPr>
                          <m:t>−570.4</m:t>
                        </m:r>
                      </m:e>
                    </m:d>
                  </m:oMath>
                </a14:m>
                <a:endParaRPr lang="en-US" i="1" dirty="0"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539496" indent="-457200">
                  <a:spcBef>
                    <a:spcPts val="0"/>
                  </a:spcBef>
                  <a:buClr>
                    <a:srgbClr val="000066"/>
                  </a:buClr>
                  <a:buSzPct val="100000"/>
                  <a:buFont typeface="+mj-lt"/>
                  <a:buAutoNum type="arabicPeriod"/>
                </a:pPr>
                <a:r>
                  <a:rPr lang="en-US" dirty="0">
                    <a:solidFill>
                      <a:prstClr val="black"/>
                    </a:solidFill>
                    <a:latin typeface="Cambria" panose="02040503050406030204" pitchFamily="18" charset="0"/>
                    <a:ea typeface="Cambria" panose="02040503050406030204" pitchFamily="18" charset="0"/>
                    <a:sym typeface="Symbol" panose="05050102010706020507" pitchFamily="18" charset="2"/>
                  </a:rPr>
                  <a:t>Check the components to see if each is in the correct direction and has a magnitude that is proper for the reference angle.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20957" y="1110803"/>
                <a:ext cx="8229600" cy="5366197"/>
              </a:xfrm>
              <a:blipFill>
                <a:blip r:embed="rId3"/>
                <a:stretch>
                  <a:fillRect l="-148" t="-15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5941" y="1606680"/>
            <a:ext cx="1863270" cy="1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515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0" y="990600"/>
                <a:ext cx="8153400" cy="5562600"/>
              </a:xfrm>
            </p:spPr>
            <p:txBody>
              <a:bodyPr>
                <a:normAutofit/>
              </a:bodyPr>
              <a:lstStyle/>
              <a:p>
                <a:pPr marL="82296" indent="0">
                  <a:buNone/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Find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.  Round to one decimal place.</a:t>
                </a:r>
              </a:p>
              <a:p>
                <a:pPr lvl="0"/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=3.6,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=0°     </m:t>
                    </m:r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=4.3,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=90°</m:t>
                    </m:r>
                  </m:oMath>
                </a14:m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82296" indent="0">
                  <a:buNone/>
                </a:pPr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82296" indent="0">
                  <a:buNone/>
                </a:pPr>
                <a:endParaRPr lang="en-US" dirty="0">
                  <a:solidFill>
                    <a:srgbClr val="0000CC"/>
                  </a:solidFill>
                  <a:sym typeface="Symbol" panose="05050102010706020507" pitchFamily="18" charset="2"/>
                </a:endParaRPr>
              </a:p>
              <a:p>
                <a:pPr marL="82296" indent="0">
                  <a:buNone/>
                </a:pPr>
                <a:endParaRPr lang="en-US" dirty="0">
                  <a:solidFill>
                    <a:srgbClr val="0000CC"/>
                  </a:solidFill>
                  <a:sym typeface="Symbol" panose="05050102010706020507" pitchFamily="18" charset="2"/>
                </a:endParaRPr>
              </a:p>
              <a:p>
                <a:pPr marL="82296" indent="0">
                  <a:buNone/>
                </a:pPr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82296" indent="0">
                  <a:buNone/>
                </a:pPr>
                <a:endParaRPr lang="en-US" dirty="0">
                  <a:solidFill>
                    <a:srgbClr val="0000CC"/>
                  </a:solidFill>
                  <a:sym typeface="Symbol" panose="05050102010706020507" pitchFamily="18" charset="2"/>
                </a:endParaRPr>
              </a:p>
              <a:p>
                <a:pPr marL="82296" indent="0">
                  <a:buNone/>
                </a:pPr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82296" indent="0">
                  <a:buNone/>
                </a:pPr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82296" indent="0">
                  <a:buNone/>
                </a:pPr>
                <a:r>
                  <a:rPr lang="en-US" dirty="0">
                    <a:solidFill>
                      <a:srgbClr val="0000CC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𝒓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3.6, 4.3</m:t>
                        </m:r>
                      </m:e>
                    </m:d>
                    <m:r>
                      <a:rPr lang="en-US" b="0" i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,  </m:t>
                    </m:r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=5.6,  </m:t>
                    </m:r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=50.1°</m:t>
                    </m:r>
                  </m:oMath>
                </a14:m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82296" indent="0">
                  <a:buNone/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Solution:  in your notes</a:t>
                </a:r>
              </a:p>
              <a:p>
                <a:pPr marL="82296" indent="0">
                  <a:buNone/>
                </a:pPr>
                <a:endParaRPr lang="en-US" b="1" i="1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0" y="990600"/>
                <a:ext cx="8153400" cy="5562600"/>
              </a:xfrm>
              <a:blipFill>
                <a:blip r:embed="rId3"/>
                <a:stretch>
                  <a:fillRect l="-75" t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30558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0" y="990600"/>
                <a:ext cx="8153400" cy="5562600"/>
              </a:xfrm>
            </p:spPr>
            <p:txBody>
              <a:bodyPr>
                <a:normAutofit/>
              </a:bodyPr>
              <a:lstStyle/>
              <a:p>
                <a:pPr marL="82296" indent="0">
                  <a:buNone/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Find</a:t>
                </a:r>
                <a:r>
                  <a:rPr lang="en-US" dirty="0">
                    <a:solidFill>
                      <a:srgbClr val="660066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.  Round to one decimal place.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2.8</m:t>
                    </m:r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45</m:t>
                    </m:r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    </m:t>
                    </m:r>
                    <m:d>
                      <m:dPr>
                        <m:begChr m:val="‖"/>
                        <m:endChr m:val="‖"/>
                        <m:ctrlP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5.2</m:t>
                    </m:r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120</m:t>
                    </m:r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en-US" dirty="0">
                  <a:solidFill>
                    <a:srgbClr val="660066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82296" indent="0">
                  <a:buNone/>
                </a:pPr>
                <a:r>
                  <a:rPr lang="en-US" dirty="0">
                    <a:solidFill>
                      <a:srgbClr val="0000CC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𝒓</m:t>
                    </m:r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−0</m:t>
                        </m:r>
                        <m: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.6, </m:t>
                        </m:r>
                        <m:r>
                          <a:rPr lang="en-US" b="0" i="1" smtClean="0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6.5</m:t>
                        </m:r>
                      </m:e>
                    </m:d>
                    <m:r>
                      <a:rPr lang="en-US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,  </m:t>
                    </m:r>
                    <m:d>
                      <m:dPr>
                        <m:begChr m:val="‖"/>
                        <m:endChr m:val="‖"/>
                        <m:ctrlP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6.5</m:t>
                    </m:r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solidFill>
                              <a:srgbClr val="660066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95.3</m:t>
                    </m:r>
                    <m:r>
                      <a:rPr lang="en-US" i="1">
                        <a:solidFill>
                          <a:srgbClr val="660066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en-US" dirty="0">
                  <a:solidFill>
                    <a:srgbClr val="660066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82296" indent="0">
                  <a:buNone/>
                </a:pPr>
                <a:endParaRPr lang="en-US" dirty="0"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82296" indent="0">
                  <a:buNone/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Solution:  in your notes</a:t>
                </a:r>
              </a:p>
              <a:p>
                <a:pPr marL="82296" indent="0">
                  <a:buNone/>
                </a:pPr>
                <a:endParaRPr lang="en-US" b="1" i="1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0" y="990600"/>
                <a:ext cx="8153400" cy="5562600"/>
              </a:xfrm>
              <a:blipFill>
                <a:blip r:embed="rId3"/>
                <a:stretch>
                  <a:fillRect l="-75" t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11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2286000" y="990600"/>
                <a:ext cx="8153400" cy="5562600"/>
              </a:xfrm>
            </p:spPr>
            <p:txBody>
              <a:bodyPr>
                <a:normAutofit/>
              </a:bodyPr>
              <a:lstStyle/>
              <a:p>
                <a:pPr marL="82296" indent="0">
                  <a:buNone/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Find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𝒓</m:t>
                    </m:r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𝒖</m:t>
                    </m:r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+</m:t>
                    </m:r>
                    <m:r>
                      <a:rPr lang="en-US" b="1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𝒗</m:t>
                    </m:r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𝒓</m:t>
                        </m:r>
                      </m:e>
                    </m:d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,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.  Round to one decimal place.</a:t>
                </a:r>
              </a:p>
              <a:p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𝒖</m:t>
                        </m:r>
                      </m:e>
                    </m:d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6.0</m:t>
                    </m:r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𝑢</m:t>
                        </m:r>
                      </m:sub>
                    </m:sSub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150</m:t>
                    </m:r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     </m:t>
                    </m:r>
                    <m:d>
                      <m:dPr>
                        <m:begChr m:val="‖"/>
                        <m:endChr m:val="‖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</m:d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1.8</m:t>
                    </m:r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315</m:t>
                    </m:r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sym typeface="Symbol" panose="05050102010706020507" pitchFamily="18" charset="2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sym typeface="Symbol" panose="05050102010706020507" pitchFamily="18" charset="2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sym typeface="Symbol" panose="05050102010706020507" pitchFamily="18" charset="2"/>
                </a:endParaRPr>
              </a:p>
              <a:p>
                <a:pPr lvl="0"/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  <a:sym typeface="Symbol" panose="05050102010706020507" pitchFamily="18" charset="2"/>
                </a:endParaRPr>
              </a:p>
              <a:p>
                <a:pPr marL="82296" indent="0">
                  <a:buNone/>
                </a:pPr>
                <a:r>
                  <a:rPr lang="en-US" dirty="0">
                    <a:solidFill>
                      <a:srgbClr val="0000CC"/>
                    </a:solidFill>
                    <a:latin typeface="Cambria" panose="02040503050406030204" pitchFamily="18" charset="0"/>
                    <a:ea typeface="Cambria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𝒓</m:t>
                    </m:r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−3.9</m:t>
                        </m:r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1.7</m:t>
                        </m:r>
                      </m:e>
                    </m:d>
                    <m:r>
                      <a:rPr lang="en-US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,  </m:t>
                    </m:r>
                    <m:d>
                      <m:dPr>
                        <m:begChr m:val="‖"/>
                        <m:endChr m:val="‖"/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" panose="02040503050406030204" pitchFamily="18" charset="0"/>
                          </a:rPr>
                          <m:t>𝒓</m:t>
                        </m:r>
                      </m:e>
                    </m:d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4.3</m:t>
                    </m:r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" panose="02040503050406030204" pitchFamily="18" charset="0"/>
                      </a:rPr>
                      <m:t>,  </m:t>
                    </m:r>
                    <m:sSub>
                      <m:sSubPr>
                        <m:ctrlP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en-US" i="1">
                            <a:solidFill>
                              <a:srgbClr val="0000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156.4</m:t>
                    </m:r>
                    <m:r>
                      <a:rPr lang="en-US" i="1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82296" indent="0">
                  <a:buNone/>
                </a:pPr>
                <a:endParaRPr lang="en-US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  <a:p>
                <a:pPr marL="82296" indent="0">
                  <a:buNone/>
                </a:pPr>
                <a:r>
                  <a:rPr lang="en-US" dirty="0">
                    <a:latin typeface="Cambria" panose="02040503050406030204" pitchFamily="18" charset="0"/>
                    <a:ea typeface="Cambria" panose="02040503050406030204" pitchFamily="18" charset="0"/>
                  </a:rPr>
                  <a:t>Solution:  in your notes</a:t>
                </a:r>
              </a:p>
              <a:p>
                <a:pPr marL="82296" indent="0">
                  <a:buNone/>
                </a:pPr>
                <a:endParaRPr lang="en-US" b="1" i="1" dirty="0">
                  <a:solidFill>
                    <a:srgbClr val="0000CC"/>
                  </a:solidFill>
                  <a:latin typeface="Cambria" panose="02040503050406030204" pitchFamily="18" charset="0"/>
                  <a:ea typeface="Cambria" panose="02040503050406030204" pitchFamily="18" charset="0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286000" y="990600"/>
                <a:ext cx="8153400" cy="5562600"/>
              </a:xfrm>
              <a:blipFill>
                <a:blip r:embed="rId3"/>
                <a:stretch>
                  <a:fillRect l="-75" t="-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32740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Add the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7498080" cy="5334000"/>
          </a:xfrm>
        </p:spPr>
        <p:txBody>
          <a:bodyPr/>
          <a:lstStyle/>
          <a:p>
            <a:pPr marL="82296" indent="0">
              <a:buNone/>
            </a:pPr>
            <a:r>
              <a:rPr lang="en-US" i="1" dirty="0">
                <a:solidFill>
                  <a:srgbClr val="0000CC"/>
                </a:solidFill>
              </a:rPr>
              <a:t>	v</a:t>
            </a:r>
            <a:r>
              <a:rPr lang="en-US" dirty="0">
                <a:solidFill>
                  <a:srgbClr val="0000CC"/>
                </a:solidFill>
              </a:rPr>
              <a:t> = 17</a:t>
            </a:r>
            <a:r>
              <a:rPr lang="en-US" dirty="0"/>
              <a:t>, 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</a:t>
            </a:r>
            <a:r>
              <a:rPr lang="en-US" i="1" baseline="-25000" dirty="0">
                <a:solidFill>
                  <a:srgbClr val="0000CC"/>
                </a:solidFill>
                <a:sym typeface="Symbol" panose="05050102010706020507" pitchFamily="18" charset="2"/>
              </a:rPr>
              <a:t>v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 = 33              </a:t>
            </a:r>
            <a:r>
              <a:rPr lang="en-US" i="1" dirty="0">
                <a:solidFill>
                  <a:srgbClr val="0000CC"/>
                </a:solidFill>
              </a:rPr>
              <a:t>u</a:t>
            </a:r>
            <a:r>
              <a:rPr lang="en-US" dirty="0">
                <a:solidFill>
                  <a:srgbClr val="0000CC"/>
                </a:solidFill>
              </a:rPr>
              <a:t> = 24</a:t>
            </a:r>
            <a:r>
              <a:rPr lang="en-US" dirty="0"/>
              <a:t>, </a:t>
            </a:r>
            <a:r>
              <a:rPr lang="en-US" dirty="0">
                <a:solidFill>
                  <a:srgbClr val="0000CC"/>
                </a:solidFill>
              </a:rPr>
              <a:t>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</a:t>
            </a:r>
            <a:r>
              <a:rPr lang="en-US" i="1" baseline="-25000" dirty="0">
                <a:solidFill>
                  <a:srgbClr val="0000CC"/>
                </a:solidFill>
                <a:sym typeface="Symbol" panose="05050102010706020507" pitchFamily="18" charset="2"/>
              </a:rPr>
              <a:t>u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 = 95</a:t>
            </a:r>
            <a:endParaRPr lang="en-US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r>
              <a:rPr lang="en-US" dirty="0"/>
              <a:t>Solution:  In your notes.</a:t>
            </a:r>
          </a:p>
        </p:txBody>
      </p:sp>
    </p:spTree>
    <p:extLst>
      <p:ext uri="{BB962C8B-B14F-4D97-AF65-F5344CB8AC3E}">
        <p14:creationId xmlns:p14="http://schemas.microsoft.com/office/powerpoint/2010/main" val="265714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Add the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00200" y="1219200"/>
            <a:ext cx="102108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i="1" dirty="0">
                <a:solidFill>
                  <a:srgbClr val="0000CC"/>
                </a:solidFill>
              </a:rPr>
              <a:t>u</a:t>
            </a:r>
            <a:r>
              <a:rPr lang="en-US" dirty="0">
                <a:solidFill>
                  <a:srgbClr val="0000CC"/>
                </a:solidFill>
              </a:rPr>
              <a:t> = 630</a:t>
            </a:r>
            <a:r>
              <a:rPr lang="en-US" dirty="0"/>
              <a:t>, 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</a:t>
            </a:r>
            <a:r>
              <a:rPr lang="en-US" i="1" baseline="-25000" dirty="0">
                <a:solidFill>
                  <a:srgbClr val="0000CC"/>
                </a:solidFill>
                <a:sym typeface="Symbol" panose="05050102010706020507" pitchFamily="18" charset="2"/>
              </a:rPr>
              <a:t>u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 = 189.6       </a:t>
            </a:r>
          </a:p>
          <a:p>
            <a:pPr marL="82296" indent="0">
              <a:buNone/>
            </a:pPr>
            <a:r>
              <a:rPr lang="en-US" i="1" dirty="0">
                <a:solidFill>
                  <a:srgbClr val="0000CC"/>
                </a:solidFill>
              </a:rPr>
              <a:t>v</a:t>
            </a:r>
            <a:r>
              <a:rPr lang="en-US" dirty="0">
                <a:solidFill>
                  <a:srgbClr val="0000CC"/>
                </a:solidFill>
              </a:rPr>
              <a:t> = 176</a:t>
            </a:r>
            <a:r>
              <a:rPr lang="en-US" dirty="0"/>
              <a:t>, </a:t>
            </a:r>
            <a:r>
              <a:rPr lang="en-US" dirty="0">
                <a:solidFill>
                  <a:srgbClr val="0000CC"/>
                </a:solidFill>
              </a:rPr>
              <a:t>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</a:t>
            </a:r>
            <a:r>
              <a:rPr lang="en-US" i="1" baseline="-25000" dirty="0">
                <a:solidFill>
                  <a:srgbClr val="0000CC"/>
                </a:solidFill>
                <a:sym typeface="Symbol" panose="05050102010706020507" pitchFamily="18" charset="2"/>
              </a:rPr>
              <a:t>v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 = 320.1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         </a:t>
            </a:r>
          </a:p>
          <a:p>
            <a:pPr marL="82296" indent="0">
              <a:buNone/>
            </a:pPr>
            <a:r>
              <a:rPr lang="en-US" i="1" dirty="0">
                <a:solidFill>
                  <a:srgbClr val="0000CC"/>
                </a:solidFill>
              </a:rPr>
              <a:t>w</a:t>
            </a:r>
            <a:r>
              <a:rPr lang="en-US" dirty="0">
                <a:solidFill>
                  <a:srgbClr val="0000CC"/>
                </a:solidFill>
              </a:rPr>
              <a:t> = 324, 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</a:t>
            </a:r>
            <a:r>
              <a:rPr lang="en-US" i="1" baseline="-25000" dirty="0">
                <a:solidFill>
                  <a:srgbClr val="0000CC"/>
                </a:solidFill>
                <a:sym typeface="Symbol" panose="05050102010706020507" pitchFamily="18" charset="2"/>
              </a:rPr>
              <a:t>w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 = 75.4</a:t>
            </a:r>
          </a:p>
          <a:p>
            <a:pPr marL="82296" indent="0">
              <a:buNone/>
            </a:pPr>
            <a:endParaRPr lang="en-US" i="1" dirty="0">
              <a:solidFill>
                <a:srgbClr val="0000CC"/>
              </a:solidFill>
            </a:endParaRPr>
          </a:p>
          <a:p>
            <a:pPr marL="82296" indent="0">
              <a:buNone/>
            </a:pPr>
            <a:r>
              <a:rPr lang="en-US" dirty="0"/>
              <a:t>Solution:</a:t>
            </a: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7089826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27595-30B0-FFD6-E13C-5ED84EFC0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A30A8-195E-7632-8DED-9461AA1305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Add the Vectors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EDC965-0A62-5E4A-9378-5FE93B315F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600200" y="1219200"/>
                <a:ext cx="10210800" cy="5334000"/>
              </a:xfrm>
            </p:spPr>
            <p:txBody>
              <a:bodyPr>
                <a:normAutofit/>
              </a:bodyPr>
              <a:lstStyle/>
              <a:p>
                <a:pPr marL="82296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</a:rPr>
                  <a:t>u</a:t>
                </a:r>
                <a:r>
                  <a:rPr lang="en-US" dirty="0">
                    <a:solidFill>
                      <a:srgbClr val="0000CC"/>
                    </a:solidFill>
                  </a:rPr>
                  <a:t> = 630</a:t>
                </a:r>
                <a:r>
                  <a:rPr lang="en-US" dirty="0"/>
                  <a:t>,  </a:t>
                </a:r>
                <a:r>
                  <a:rPr lang="en-US" i="1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</a:t>
                </a:r>
                <a:r>
                  <a:rPr lang="en-US" i="1" baseline="-25000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u</a:t>
                </a:r>
                <a:r>
                  <a:rPr lang="en-US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 = 189.6       </a:t>
                </a:r>
              </a:p>
              <a:p>
                <a:pPr marL="82296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</a:rPr>
                  <a:t>v</a:t>
                </a:r>
                <a:r>
                  <a:rPr lang="en-US" dirty="0">
                    <a:solidFill>
                      <a:srgbClr val="0000CC"/>
                    </a:solidFill>
                  </a:rPr>
                  <a:t> = 176</a:t>
                </a:r>
                <a:r>
                  <a:rPr lang="en-US" dirty="0"/>
                  <a:t>, </a:t>
                </a:r>
                <a:r>
                  <a:rPr lang="en-US" dirty="0">
                    <a:solidFill>
                      <a:srgbClr val="0000CC"/>
                    </a:solidFill>
                  </a:rPr>
                  <a:t> </a:t>
                </a:r>
                <a:r>
                  <a:rPr lang="en-US" i="1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</a:t>
                </a:r>
                <a:r>
                  <a:rPr lang="en-US" i="1" baseline="-25000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v</a:t>
                </a:r>
                <a:r>
                  <a:rPr lang="en-US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 = 320.1</a:t>
                </a:r>
                <a:r>
                  <a:rPr lang="en-US" i="1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         </a:t>
                </a:r>
              </a:p>
              <a:p>
                <a:pPr marL="82296" indent="0">
                  <a:buNone/>
                </a:pPr>
                <a:r>
                  <a:rPr lang="en-US" i="1" dirty="0">
                    <a:solidFill>
                      <a:srgbClr val="0000CC"/>
                    </a:solidFill>
                  </a:rPr>
                  <a:t>w</a:t>
                </a:r>
                <a:r>
                  <a:rPr lang="en-US" dirty="0">
                    <a:solidFill>
                      <a:srgbClr val="0000CC"/>
                    </a:solidFill>
                  </a:rPr>
                  <a:t> = 324,  </a:t>
                </a:r>
                <a:r>
                  <a:rPr lang="en-US" i="1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</a:t>
                </a:r>
                <a:r>
                  <a:rPr lang="en-US" i="1" baseline="-25000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w</a:t>
                </a:r>
                <a:r>
                  <a:rPr lang="en-US" dirty="0">
                    <a:solidFill>
                      <a:srgbClr val="0000CC"/>
                    </a:solidFill>
                    <a:sym typeface="Symbol" panose="05050102010706020507" pitchFamily="18" charset="2"/>
                  </a:rPr>
                  <a:t> = 75.4</a:t>
                </a:r>
              </a:p>
              <a:p>
                <a:pPr marL="82296" indent="0">
                  <a:buNone/>
                </a:pPr>
                <a:endParaRPr lang="en-US" i="1" dirty="0">
                  <a:solidFill>
                    <a:srgbClr val="0000CC"/>
                  </a:solidFill>
                </a:endParaRPr>
              </a:p>
              <a:p>
                <a:pPr marL="82296" indent="0">
                  <a:buNone/>
                </a:pPr>
                <a:r>
                  <a:rPr lang="en-US" dirty="0"/>
                  <a:t>Solution:</a:t>
                </a:r>
                <a:endParaRPr lang="en-US" i="1" dirty="0"/>
              </a:p>
              <a:p>
                <a:pPr marL="82296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630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189.6</m:t>
                              </m:r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°</m:t>
                              </m:r>
                            </m:e>
                          </m:func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,630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189.6</m:t>
                              </m:r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°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−621.18,−105.06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CC"/>
                  </a:solidFill>
                </a:endParaRPr>
              </a:p>
              <a:p>
                <a:pPr marL="82296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176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320.1</m:t>
                              </m:r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°</m:t>
                              </m:r>
                            </m:e>
                          </m:func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,176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320.1</m:t>
                              </m:r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°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135.02,−112.90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CC"/>
                  </a:solidFill>
                </a:endParaRPr>
              </a:p>
              <a:p>
                <a:pPr marL="82296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324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75.4</m:t>
                              </m:r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°</m:t>
                              </m:r>
                            </m:e>
                          </m:func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,324</m:t>
                          </m:r>
                          <m:func>
                            <m:func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75.4</m:t>
                              </m:r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°</m:t>
                              </m:r>
                            </m:e>
                          </m:func>
                        </m:e>
                      </m:d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81.67,313.54</m:t>
                          </m:r>
                        </m:e>
                      </m:d>
                    </m:oMath>
                  </m:oMathPara>
                </a14:m>
                <a:endParaRPr lang="en-US" i="1" dirty="0"/>
              </a:p>
              <a:p>
                <a:pPr marL="82296" indent="0">
                  <a:buNone/>
                </a:pPr>
                <a:endParaRPr lang="en-US" i="1" dirty="0"/>
              </a:p>
              <a:p>
                <a:pPr marL="82296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⃗"/>
                          <m:ctrlPr>
                            <a:rPr lang="en-US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acc>
                        <m:accPr>
                          <m:chr m:val="⃗"/>
                          <m:ctrlPr>
                            <a:rPr lang="en-US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acc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⟨"/>
                          <m:endChr m:val="⟩"/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−404.49,95.58</m:t>
                          </m:r>
                        </m:e>
                      </m:d>
                    </m:oMath>
                  </m:oMathPara>
                </a14:m>
                <a:endParaRPr lang="en-US" i="1" dirty="0"/>
              </a:p>
              <a:p>
                <a:pPr marL="82296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00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00CC"/>
                                      </a:solidFill>
                                      <a:latin typeface="Cambria Math" panose="02040503050406030204" pitchFamily="18" charset="0"/>
                                    </a:rPr>
                                    <m:t>−404.49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95.58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rad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=415.6,  </m:t>
                      </m:r>
                      <m:sSub>
                        <m:sSubPr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b="0" i="1" smtClean="0">
                              <a:solidFill>
                                <a:srgbClr val="0000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sSup>
                            <m:sSup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tan</m:t>
                              </m:r>
                            </m:e>
                            <m:sup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rgbClr val="0000CC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i="1">
                                      <a:solidFill>
                                        <a:srgbClr val="0000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solidFill>
                                        <a:srgbClr val="0000CC"/>
                                      </a:solidFill>
                                      <a:latin typeface="Cambria Math" panose="02040503050406030204" pitchFamily="18" charset="0"/>
                                    </a:rPr>
                                    <m:t>95.58</m:t>
                                  </m:r>
                                </m:num>
                                <m:den>
                                  <m:r>
                                    <a:rPr lang="en-US" i="1">
                                      <a:solidFill>
                                        <a:srgbClr val="0000CC"/>
                                      </a:solidFill>
                                      <a:latin typeface="Cambria Math" panose="02040503050406030204" pitchFamily="18" charset="0"/>
                                    </a:rPr>
                                    <m:t>404.49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r>
                        <a:rPr lang="en-US" b="0" i="1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=166.7°</m:t>
                      </m:r>
                    </m:oMath>
                  </m:oMathPara>
                </a14:m>
                <a:endParaRPr lang="en-US" i="1" dirty="0"/>
              </a:p>
              <a:p>
                <a:pPr marL="82296" indent="0">
                  <a:buNone/>
                </a:pPr>
                <a:endParaRPr lang="en-US" i="1" dirty="0"/>
              </a:p>
              <a:p>
                <a:pPr marL="82296" indent="0">
                  <a:buNone/>
                </a:pPr>
                <a:endParaRPr lang="en-US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5EDC965-0A62-5E4A-9378-5FE93B315F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600200" y="1219200"/>
                <a:ext cx="10210800" cy="5334000"/>
              </a:xfrm>
              <a:blipFill>
                <a:blip r:embed="rId3"/>
                <a:stretch>
                  <a:fillRect l="-119" t="-9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98215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Add the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81534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t="20416" b="9054"/>
          <a:stretch/>
        </p:blipFill>
        <p:spPr>
          <a:xfrm>
            <a:off x="1143000" y="1638300"/>
            <a:ext cx="4052637" cy="3581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8730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81230-7798-E179-7C20-E96E00B06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65CE9-D4D7-1CC8-13A8-340F24080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Add the 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C5DA1-0B65-6085-1973-240A96815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0" y="1219200"/>
            <a:ext cx="81534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237B2D-6BC1-1202-A328-A268BB16AAF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0416" b="9054"/>
          <a:stretch/>
        </p:blipFill>
        <p:spPr>
          <a:xfrm>
            <a:off x="1143000" y="1638300"/>
            <a:ext cx="4052637" cy="35814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00C701-B99D-3191-C4D7-4FBA7452678A}"/>
                  </a:ext>
                </a:extLst>
              </p:cNvPr>
              <p:cNvSpPr txBox="1"/>
              <p:nvPr/>
            </p:nvSpPr>
            <p:spPr>
              <a:xfrm>
                <a:off x="5791200" y="1371600"/>
                <a:ext cx="6093994" cy="49244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:r>
                  <a:rPr kumimoji="0" lang="en-US" sz="2400" b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Cambria Math" panose="02040503050406030204" pitchFamily="18" charset="0"/>
                    <a:cs typeface="+mn-cs"/>
                  </a:rPr>
                  <a:t>Solution:</a:t>
                </a: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acc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𝑢</m:t>
                        </m:r>
                      </m:e>
                    </m:acc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41.5</m:t>
                        </m:r>
                        <m:func>
                          <m:func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kumimoji="0" lang="en-US" sz="2400" b="0" i="0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cos</m:t>
                            </m:r>
                          </m:fName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65</m:t>
                            </m:r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  <m:t>°</m:t>
                            </m:r>
                          </m:e>
                        </m:func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,41.5</m:t>
                        </m:r>
                        <m:func>
                          <m:func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kumimoji="0" lang="en-US" sz="2400" b="0" i="0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sin</m:t>
                            </m:r>
                          </m:fName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65</m:t>
                            </m:r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  <m:t>°</m:t>
                            </m:r>
                          </m:e>
                        </m:func>
                      </m:e>
                    </m:d>
                  </m:oMath>
                </a14:m>
                <a:r>
                  <a:rPr kumimoji="0" 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CC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  <a:cs typeface="+mn-cs"/>
                  </a:rPr>
                  <a:t> </a:t>
                </a: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:r>
                  <a:rPr kumimoji="0" lang="en-US" sz="2400" b="0" u="none" strike="noStrike" kern="1200" cap="none" spc="0" normalizeH="0" baseline="0" noProof="0" dirty="0">
                    <a:ln>
                      <a:noFill/>
                    </a:ln>
                    <a:solidFill>
                      <a:srgbClr val="0000CC"/>
                    </a:solidFill>
                    <a:effectLst/>
                    <a:uLnTx/>
                    <a:uFillTx/>
                    <a:ea typeface="Cambria Math" panose="02040503050406030204" pitchFamily="18" charset="0"/>
                    <a:cs typeface="+mn-cs"/>
                  </a:rPr>
                  <a:t>  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17.539,37.612</m:t>
                        </m:r>
                      </m:e>
                    </m:d>
                  </m:oMath>
                </a14:m>
                <a:endPara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srgbClr val="0000CC"/>
                  </a:solidFill>
                  <a:effectLst/>
                  <a:uLnTx/>
                  <a:uFillTx/>
                  <a:latin typeface="Cambria" panose="02040503050406030204" pitchFamily="18" charset="0"/>
                  <a:ea typeface="Cambria" panose="02040503050406030204" pitchFamily="18" charset="0"/>
                  <a:cs typeface="+mn-cs"/>
                </a:endParaRP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acc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𝑣</m:t>
                        </m:r>
                      </m:e>
                    </m:acc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22.3</m:t>
                        </m:r>
                        <m:func>
                          <m:func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kumimoji="0" lang="en-US" sz="2400" b="0" i="0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cos</m:t>
                            </m:r>
                          </m:fName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207.4</m:t>
                            </m:r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  <m:t>°</m:t>
                            </m:r>
                          </m:e>
                        </m:func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,22.3</m:t>
                        </m:r>
                        <m:func>
                          <m:func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kumimoji="0" lang="en-US" sz="2400" b="0" i="0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sin</m:t>
                            </m:r>
                          </m:fName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207.4</m:t>
                            </m:r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  <m:t>°</m:t>
                            </m:r>
                          </m:e>
                        </m:func>
                      </m:e>
                    </m:d>
                  </m:oMath>
                </a14:m>
                <a:r>
                  <a:rPr kumimoji="0" 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CC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  <a:cs typeface="+mn-cs"/>
                  </a:rPr>
                  <a:t> </a:t>
                </a: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:r>
                  <a:rPr kumimoji="0" lang="en-US" sz="2400" b="0" u="none" strike="noStrike" kern="1200" cap="none" spc="0" normalizeH="0" baseline="0" noProof="0" dirty="0">
                    <a:ln>
                      <a:noFill/>
                    </a:ln>
                    <a:solidFill>
                      <a:srgbClr val="0000CC"/>
                    </a:solidFill>
                    <a:effectLst/>
                    <a:uLnTx/>
                    <a:uFillTx/>
                    <a:ea typeface="Cambria Math" panose="02040503050406030204" pitchFamily="18" charset="0"/>
                    <a:cs typeface="+mn-cs"/>
                  </a:rPr>
                  <a:t>  </a:t>
                </a:r>
                <a:r>
                  <a:rPr kumimoji="0" lang="en-US" sz="2400" b="0" u="none" strike="noStrike" kern="1200" cap="none" spc="0" normalizeH="0" noProof="0" dirty="0">
                    <a:ln>
                      <a:noFill/>
                    </a:ln>
                    <a:solidFill>
                      <a:srgbClr val="0000CC"/>
                    </a:solidFill>
                    <a:effectLst/>
                    <a:uLnTx/>
                    <a:uFillTx/>
                    <a:ea typeface="Cambria Math" panose="02040503050406030204" pitchFamily="18" charset="0"/>
                    <a:cs typeface="+mn-cs"/>
                  </a:rPr>
                  <a:t>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 =</m:t>
                    </m:r>
                    <m:d>
                      <m:dPr>
                        <m:begChr m:val="⟨"/>
                        <m:endChr m:val="⟩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−19.798,−10.262</m:t>
                        </m:r>
                      </m:e>
                    </m:d>
                  </m:oMath>
                </a14:m>
                <a:r>
                  <a:rPr kumimoji="0" 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CC"/>
                    </a:solidFill>
                    <a:effectLst/>
                    <a:uLnTx/>
                    <a:uFillTx/>
                    <a:latin typeface="Cambria" panose="02040503050406030204" pitchFamily="18" charset="0"/>
                    <a:ea typeface="Cambria" panose="02040503050406030204" pitchFamily="18" charset="0"/>
                    <a:cs typeface="+mn-cs"/>
                  </a:rPr>
                  <a:t> </a:t>
                </a: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acc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𝑤</m:t>
                        </m:r>
                      </m:e>
                    </m:acc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51.6</m:t>
                        </m:r>
                        <m:func>
                          <m:func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kumimoji="0" lang="en-US" sz="2400" b="0" i="0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cos</m:t>
                            </m:r>
                          </m:fName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317.8</m:t>
                            </m:r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  <m:t>°</m:t>
                            </m:r>
                          </m:e>
                        </m:func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,51.6</m:t>
                        </m:r>
                        <m:func>
                          <m:funcPr>
                            <m:ctrlP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kumimoji="0" lang="en-US" sz="2400" b="0" i="0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sin</m:t>
                            </m:r>
                          </m:fName>
                          <m:e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317.8</m:t>
                            </m:r>
                            <m:r>
                              <a:rPr kumimoji="0" lang="en-US" sz="24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srgbClr val="0000CC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+mn-cs"/>
                              </a:rPr>
                              <m:t>°</m:t>
                            </m:r>
                          </m:e>
                        </m:func>
                      </m:e>
                    </m:d>
                  </m:oMath>
                </a14:m>
                <a:r>
                  <a:rPr kumimoji="0" 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srgbClr val="0000CC"/>
                    </a:solidFill>
                    <a:effectLst/>
                    <a:uLnTx/>
                    <a:uFillTx/>
                    <a:latin typeface="Cambria Math" panose="02040503050406030204" pitchFamily="18" charset="0"/>
                    <a:ea typeface="Cambria Math" panose="02040503050406030204" pitchFamily="18" charset="0"/>
                    <a:cs typeface="+mn-cs"/>
                  </a:rPr>
                  <a:t> </a:t>
                </a: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:r>
                  <a:rPr kumimoji="0" lang="en-US" sz="2400" b="0" u="none" strike="noStrike" kern="1200" cap="none" spc="0" normalizeH="0" baseline="0" noProof="0" dirty="0">
                    <a:ln>
                      <a:noFill/>
                    </a:ln>
                    <a:solidFill>
                      <a:srgbClr val="0000CC"/>
                    </a:solidFill>
                    <a:effectLst/>
                    <a:uLnTx/>
                    <a:uFillTx/>
                    <a:ea typeface="Cambria Math" panose="02040503050406030204" pitchFamily="18" charset="0"/>
                    <a:cs typeface="+mn-cs"/>
                  </a:rPr>
                  <a:t>    </a:t>
                </a: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38.226,−34.661</m:t>
                        </m:r>
                      </m:e>
                    </m:d>
                  </m:oMath>
                </a14:m>
                <a:r>
                  <a:rPr kumimoji="0" 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" panose="02040503050406030204" pitchFamily="18" charset="0"/>
                    <a:ea typeface="Cambria" panose="02040503050406030204" pitchFamily="18" charset="0"/>
                    <a:cs typeface="+mn-cs"/>
                  </a:rPr>
                  <a:t> </a:t>
                </a: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:endPara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" panose="02040503050406030204" pitchFamily="18" charset="0"/>
                  <a:ea typeface="Cambria" panose="02040503050406030204" pitchFamily="18" charset="0"/>
                  <a:cs typeface="+mn-cs"/>
                </a:endParaRP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acc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𝑟</m:t>
                        </m:r>
                      </m:e>
                    </m:acc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acc>
                      <m:accPr>
                        <m:chr m:val="⃗"/>
                        <m:ctrlP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accPr>
                      <m:e>
                        <m:r>
                          <a:rPr kumimoji="0" lang="en-US" sz="2400" b="0" i="1" u="none" strike="noStrike" kern="1200" cap="none" spc="0" normalizeH="0" baseline="0" noProof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𝑢</m:t>
                        </m:r>
                      </m:e>
                    </m:acc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+</m:t>
                    </m:r>
                    <m:acc>
                      <m:accPr>
                        <m:chr m:val="⃗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acc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𝑣</m:t>
                        </m:r>
                      </m:e>
                    </m:acc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+</m:t>
                    </m:r>
                    <m:acc>
                      <m:accPr>
                        <m:chr m:val="⃗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</m:ctrlPr>
                      </m:acc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0000CC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𝑤</m:t>
                        </m:r>
                      </m:e>
                    </m:acc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0000CC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cs typeface="+mn-cs"/>
                      </a:rPr>
                      <m:t>=</m:t>
                    </m:r>
                    <m:d>
                      <m:dPr>
                        <m:begChr m:val="⟨"/>
                        <m:endChr m:val="⟩"/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</m:ctrlPr>
                      </m:d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+mn-cs"/>
                          </a:rPr>
                          <m:t>36.0,−7.3</m:t>
                        </m:r>
                      </m:e>
                    </m:d>
                  </m:oMath>
                </a14:m>
                <a:r>
                  <a:rPr kumimoji="0" 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" panose="02040503050406030204" pitchFamily="18" charset="0"/>
                    <a:ea typeface="Cambria" panose="02040503050406030204" pitchFamily="18" charset="0"/>
                    <a:cs typeface="+mn-cs"/>
                  </a:rPr>
                  <a:t> </a:t>
                </a: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14:m>
                  <m:oMath xmlns:m="http://schemas.openxmlformats.org/officeDocument/2006/math"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" panose="02040503050406030204" pitchFamily="18" charset="0"/>
                        <a:cs typeface="+mn-cs"/>
                      </a:rPr>
                      <m:t>𝑟</m:t>
                    </m:r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" panose="02040503050406030204" pitchFamily="18" charset="0"/>
                        <a:cs typeface="+mn-cs"/>
                      </a:rPr>
                      <m:t>=36.7,  </m:t>
                    </m:r>
                    <m:sSub>
                      <m:sSubPr>
                        <m:ctrlP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kumimoji="0" lang="en-US" sz="24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srgbClr val="C00000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kumimoji="0" lang="en-US" sz="2400" b="0" i="1" u="none" strike="noStrike" kern="1200" cap="none" spc="0" normalizeH="0" baseline="0" noProof="0" smtClean="0">
                        <a:ln>
                          <a:noFill/>
                        </a:ln>
                        <a:solidFill>
                          <a:srgbClr val="C00000"/>
                        </a:solidFill>
                        <a:effectLst/>
                        <a:uLnTx/>
                        <a:uFillTx/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=348.5°</m:t>
                    </m:r>
                  </m:oMath>
                </a14:m>
                <a:r>
                  <a:rPr kumimoji="0" lang="en-US" sz="2400" b="0" i="1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mbria" panose="02040503050406030204" pitchFamily="18" charset="0"/>
                    <a:ea typeface="Cambria" panose="02040503050406030204" pitchFamily="18" charset="0"/>
                    <a:cs typeface="+mn-cs"/>
                  </a:rPr>
                  <a:t> </a:t>
                </a:r>
              </a:p>
              <a:p>
                <a:pPr marL="82296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600"/>
                  </a:spcBef>
                  <a:spcAft>
                    <a:spcPts val="0"/>
                  </a:spcAft>
                  <a:buClr>
                    <a:srgbClr val="3891A7"/>
                  </a:buClr>
                  <a:buSzPct val="80000"/>
                  <a:buFont typeface="Wingdings 2"/>
                  <a:buNone/>
                  <a:tabLst/>
                  <a:defRPr/>
                </a:pPr>
                <a:endParaRPr kumimoji="0" lang="en-US" sz="2400" b="0" i="1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mbria" panose="02040503050406030204" pitchFamily="18" charset="0"/>
                  <a:ea typeface="Cambria" panose="02040503050406030204" pitchFamily="18" charset="0"/>
                  <a:cs typeface="+mn-cs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A00C701-B99D-3191-C4D7-4FBA745267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1200" y="1371600"/>
                <a:ext cx="6093994" cy="4924425"/>
              </a:xfrm>
              <a:prstGeom prst="rect">
                <a:avLst/>
              </a:prstGeom>
              <a:blipFill>
                <a:blip r:embed="rId3"/>
                <a:stretch>
                  <a:fillRect l="-100" t="-9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DA917512-4C58-D0D5-09D4-563C69AA8686}"/>
              </a:ext>
            </a:extLst>
          </p:cNvPr>
          <p:cNvCxnSpPr/>
          <p:nvPr/>
        </p:nvCxnSpPr>
        <p:spPr>
          <a:xfrm flipV="1">
            <a:off x="4155574" y="3387536"/>
            <a:ext cx="685800" cy="1524000"/>
          </a:xfrm>
          <a:prstGeom prst="straightConnector1">
            <a:avLst/>
          </a:prstGeom>
          <a:ln w="38100">
            <a:solidFill>
              <a:srgbClr val="0000CC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AB519EA-38E4-AFC3-B15A-053494859604}"/>
              </a:ext>
            </a:extLst>
          </p:cNvPr>
          <p:cNvCxnSpPr>
            <a:cxnSpLocks/>
          </p:cNvCxnSpPr>
          <p:nvPr/>
        </p:nvCxnSpPr>
        <p:spPr>
          <a:xfrm flipH="1">
            <a:off x="4217737" y="3387536"/>
            <a:ext cx="609600" cy="346264"/>
          </a:xfrm>
          <a:prstGeom prst="straightConnector1">
            <a:avLst/>
          </a:prstGeom>
          <a:ln w="38100">
            <a:solidFill>
              <a:srgbClr val="0000CC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8C711FE-8276-DFDA-457A-1BFDB2CA5144}"/>
              </a:ext>
            </a:extLst>
          </p:cNvPr>
          <p:cNvCxnSpPr>
            <a:cxnSpLocks/>
          </p:cNvCxnSpPr>
          <p:nvPr/>
        </p:nvCxnSpPr>
        <p:spPr>
          <a:xfrm>
            <a:off x="2709780" y="3560668"/>
            <a:ext cx="1507957" cy="173132"/>
          </a:xfrm>
          <a:prstGeom prst="straightConnector1">
            <a:avLst/>
          </a:prstGeom>
          <a:ln w="38100">
            <a:solidFill>
              <a:srgbClr val="C00000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899830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Components of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20957" y="1110803"/>
            <a:ext cx="8229600" cy="5366197"/>
          </a:xfrm>
        </p:spPr>
        <p:txBody>
          <a:bodyPr>
            <a:normAutofit lnSpcReduction="10000"/>
          </a:bodyPr>
          <a:lstStyle/>
          <a:p>
            <a:pPr marL="82296" indent="0">
              <a:buClr>
                <a:srgbClr val="000066"/>
              </a:buClr>
              <a:buSzPct val="100000"/>
              <a:buNone/>
            </a:pP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You are departing runway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14</a:t>
            </a: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.  Winds are reported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080</a:t>
            </a: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 at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18</a:t>
            </a: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 knots.  What is your headwind and crosswind component for takeoff?</a:t>
            </a:r>
          </a:p>
          <a:p>
            <a:pPr marL="82296" indent="0">
              <a:buClr>
                <a:srgbClr val="000066"/>
              </a:buClr>
              <a:buSzPct val="100000"/>
              <a:buNone/>
            </a:pPr>
            <a:endParaRPr lang="en-US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82296" indent="0">
              <a:buClr>
                <a:srgbClr val="000066"/>
              </a:buClr>
              <a:buSzPct val="100000"/>
              <a:buNone/>
            </a:pP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Solution:</a:t>
            </a:r>
          </a:p>
          <a:p>
            <a:pPr marL="539496" indent="-457200">
              <a:buClr>
                <a:srgbClr val="000066"/>
              </a:buClr>
              <a:buSzPct val="100000"/>
              <a:buFont typeface="+mj-lt"/>
              <a:buAutoNum type="arabicPeriod"/>
            </a:pPr>
            <a:r>
              <a:rPr lang="en-US" dirty="0"/>
              <a:t>Place vector </a:t>
            </a:r>
            <a:r>
              <a:rPr lang="en-US" b="1" i="1" dirty="0">
                <a:solidFill>
                  <a:srgbClr val="0000CC"/>
                </a:solidFill>
              </a:rPr>
              <a:t>v</a:t>
            </a:r>
            <a:r>
              <a:rPr lang="en-US" dirty="0"/>
              <a:t> such that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</a:t>
            </a:r>
            <a:r>
              <a:rPr lang="en-US" i="1" dirty="0">
                <a:sym typeface="Symbol" panose="05050102010706020507" pitchFamily="18" charset="2"/>
              </a:rPr>
              <a:t> </a:t>
            </a:r>
            <a:r>
              <a:rPr lang="en-US" dirty="0">
                <a:sym typeface="Symbol" panose="05050102010706020507" pitchFamily="18" charset="2"/>
              </a:rPr>
              <a:t>is in standard  position.</a:t>
            </a:r>
          </a:p>
          <a:p>
            <a:pPr lvl="1">
              <a:buClr>
                <a:srgbClr val="000066"/>
              </a:buClr>
              <a:buSzPct val="100000"/>
            </a:pPr>
            <a:r>
              <a:rPr lang="en-US" dirty="0">
                <a:sym typeface="Symbol" panose="05050102010706020507" pitchFamily="18" charset="2"/>
              </a:rPr>
              <a:t>The wind is coming from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60</a:t>
            </a:r>
            <a:r>
              <a:rPr lang="en-US" dirty="0">
                <a:sym typeface="Symbol" panose="05050102010706020507" pitchFamily="18" charset="2"/>
              </a:rPr>
              <a:t> off runway heading at a magnitude of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18</a:t>
            </a:r>
            <a:r>
              <a:rPr lang="en-US" dirty="0">
                <a:sym typeface="Symbol" panose="05050102010706020507" pitchFamily="18" charset="2"/>
              </a:rPr>
              <a:t> knots.</a:t>
            </a:r>
          </a:p>
          <a:p>
            <a:pPr marL="539496" indent="-457200">
              <a:buClr>
                <a:srgbClr val="000066"/>
              </a:buClr>
              <a:buSzPct val="100000"/>
              <a:buFont typeface="+mj-lt"/>
              <a:buAutoNum type="arabicPeriod"/>
            </a:pPr>
            <a:r>
              <a:rPr lang="en-US" dirty="0">
                <a:sym typeface="Symbol" panose="05050102010706020507" pitchFamily="18" charset="2"/>
              </a:rPr>
              <a:t>Calculate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v</a:t>
            </a:r>
            <a:r>
              <a:rPr lang="en-US" baseline="-25000" dirty="0">
                <a:solidFill>
                  <a:srgbClr val="0000CC"/>
                </a:solidFill>
                <a:sym typeface="Symbol" panose="05050102010706020507" pitchFamily="18" charset="2"/>
              </a:rPr>
              <a:t>1</a:t>
            </a:r>
            <a:r>
              <a:rPr lang="en-US" dirty="0">
                <a:sym typeface="Symbol" panose="05050102010706020507" pitchFamily="18" charset="2"/>
              </a:rPr>
              <a:t> and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v</a:t>
            </a:r>
            <a:r>
              <a:rPr lang="en-US" baseline="-25000" dirty="0">
                <a:solidFill>
                  <a:srgbClr val="0000CC"/>
                </a:solidFill>
                <a:sym typeface="Symbol" panose="05050102010706020507" pitchFamily="18" charset="2"/>
              </a:rPr>
              <a:t>2</a:t>
            </a:r>
            <a:r>
              <a:rPr lang="en-US" dirty="0">
                <a:sym typeface="Symbol" panose="05050102010706020507" pitchFamily="18" charset="2"/>
              </a:rPr>
              <a:t> :</a:t>
            </a:r>
          </a:p>
          <a:p>
            <a:pPr marL="402336" lvl="1" indent="0">
              <a:buNone/>
            </a:pPr>
            <a:r>
              <a:rPr lang="en-US" i="1" dirty="0">
                <a:solidFill>
                  <a:srgbClr val="0000CC"/>
                </a:solidFill>
              </a:rPr>
              <a:t>  v</a:t>
            </a:r>
            <a:r>
              <a:rPr lang="en-US" baseline="-25000" dirty="0">
                <a:solidFill>
                  <a:srgbClr val="0000CC"/>
                </a:solidFill>
              </a:rPr>
              <a:t>1</a:t>
            </a:r>
            <a:r>
              <a:rPr lang="en-US" i="1" dirty="0">
                <a:solidFill>
                  <a:srgbClr val="0000CC"/>
                </a:solidFill>
              </a:rPr>
              <a:t> = </a:t>
            </a:r>
            <a:r>
              <a:rPr lang="en-US" dirty="0">
                <a:solidFill>
                  <a:srgbClr val="0000CC"/>
                </a:solidFill>
              </a:rPr>
              <a:t>18 cos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60 = 9</a:t>
            </a:r>
            <a:r>
              <a:rPr lang="en-US" dirty="0">
                <a:sym typeface="Symbol" panose="05050102010706020507" pitchFamily="18" charset="2"/>
              </a:rPr>
              <a:t>   -- This is the headwind. </a:t>
            </a:r>
          </a:p>
          <a:p>
            <a:pPr marL="402336" lvl="1" indent="0">
              <a:buNone/>
            </a:pPr>
            <a:r>
              <a:rPr lang="en-US" dirty="0"/>
              <a:t>  </a:t>
            </a:r>
            <a:r>
              <a:rPr lang="en-US" i="1" dirty="0">
                <a:solidFill>
                  <a:srgbClr val="0000CC"/>
                </a:solidFill>
              </a:rPr>
              <a:t>v</a:t>
            </a:r>
            <a:r>
              <a:rPr lang="en-US" baseline="-25000" dirty="0">
                <a:solidFill>
                  <a:srgbClr val="0000CC"/>
                </a:solidFill>
              </a:rPr>
              <a:t>2</a:t>
            </a:r>
            <a:r>
              <a:rPr lang="en-US" i="1" dirty="0">
                <a:solidFill>
                  <a:srgbClr val="0000CC"/>
                </a:solidFill>
              </a:rPr>
              <a:t> = </a:t>
            </a:r>
            <a:r>
              <a:rPr lang="en-US" dirty="0">
                <a:solidFill>
                  <a:srgbClr val="0000CC"/>
                </a:solidFill>
              </a:rPr>
              <a:t>18 sin 60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 = 15.6  </a:t>
            </a:r>
            <a:r>
              <a:rPr lang="en-US" dirty="0">
                <a:sym typeface="Symbol" panose="05050102010706020507" pitchFamily="18" charset="2"/>
              </a:rPr>
              <a:t>-- This is the crosswind.</a:t>
            </a:r>
            <a:endParaRPr lang="en-US" i="1" dirty="0">
              <a:sym typeface="Symbol" panose="05050102010706020507" pitchFamily="18" charset="2"/>
            </a:endParaRPr>
          </a:p>
          <a:p>
            <a:pPr marL="539496" indent="-457200">
              <a:spcBef>
                <a:spcPts val="0"/>
              </a:spcBef>
              <a:buClr>
                <a:srgbClr val="000066"/>
              </a:buClr>
              <a:buSzPct val="100000"/>
              <a:buFont typeface="+mj-lt"/>
              <a:buAutoNum type="arabicPeriod"/>
            </a:pP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Check the components to see if each is in the correct direction and has a magnitude that is proper for the reference angle.</a:t>
            </a:r>
          </a:p>
          <a:p>
            <a:pPr marL="82296" indent="0">
              <a:buClr>
                <a:srgbClr val="000066"/>
              </a:buClr>
              <a:buSzPct val="100000"/>
              <a:buNone/>
            </a:pPr>
            <a:endParaRPr lang="en-US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82296" indent="0">
              <a:buClr>
                <a:srgbClr val="000066"/>
              </a:buClr>
              <a:buSzPct val="100000"/>
              <a:buNone/>
            </a:pPr>
            <a:endParaRPr lang="en-US" dirty="0">
              <a:solidFill>
                <a:prstClr val="black"/>
              </a:solidFill>
              <a:sym typeface="Symbol" panose="05050102010706020507" pitchFamily="18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1167187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8" presetClass="entr" presetSubtype="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strips(downRight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Components of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20957" y="1110803"/>
            <a:ext cx="8229600" cy="5366197"/>
          </a:xfrm>
        </p:spPr>
        <p:txBody>
          <a:bodyPr>
            <a:normAutofit lnSpcReduction="10000"/>
          </a:bodyPr>
          <a:lstStyle/>
          <a:p>
            <a:pPr marL="82296" indent="0">
              <a:buClr>
                <a:srgbClr val="000066"/>
              </a:buClr>
              <a:buSzPct val="100000"/>
              <a:buNone/>
            </a:pP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You are departing runway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14</a:t>
            </a: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.  Winds are reported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080</a:t>
            </a: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 at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18</a:t>
            </a: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 knots.  What is your headwind and crosswind component for takeoff?</a:t>
            </a:r>
          </a:p>
          <a:p>
            <a:pPr marL="82296" indent="0">
              <a:buClr>
                <a:srgbClr val="000066"/>
              </a:buClr>
              <a:buSzPct val="100000"/>
              <a:buNone/>
            </a:pPr>
            <a:endParaRPr lang="en-US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82296" indent="0">
              <a:buClr>
                <a:srgbClr val="000066"/>
              </a:buClr>
              <a:buSzPct val="100000"/>
              <a:buNone/>
            </a:pP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Solution:</a:t>
            </a:r>
          </a:p>
          <a:p>
            <a:pPr marL="539496" indent="-457200">
              <a:buClr>
                <a:srgbClr val="000066"/>
              </a:buClr>
              <a:buSzPct val="100000"/>
              <a:buFont typeface="+mj-lt"/>
              <a:buAutoNum type="arabicPeriod"/>
            </a:pPr>
            <a:r>
              <a:rPr lang="en-US" dirty="0"/>
              <a:t>Place vector </a:t>
            </a:r>
            <a:r>
              <a:rPr lang="en-US" b="1" i="1" dirty="0">
                <a:solidFill>
                  <a:srgbClr val="0000CC"/>
                </a:solidFill>
              </a:rPr>
              <a:t>v</a:t>
            </a:r>
            <a:r>
              <a:rPr lang="en-US" dirty="0"/>
              <a:t> such that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</a:t>
            </a:r>
            <a:r>
              <a:rPr lang="en-US" i="1" dirty="0">
                <a:sym typeface="Symbol" panose="05050102010706020507" pitchFamily="18" charset="2"/>
              </a:rPr>
              <a:t> </a:t>
            </a:r>
            <a:r>
              <a:rPr lang="en-US" dirty="0">
                <a:sym typeface="Symbol" panose="05050102010706020507" pitchFamily="18" charset="2"/>
              </a:rPr>
              <a:t>is in standard  position.</a:t>
            </a:r>
          </a:p>
          <a:p>
            <a:pPr lvl="1">
              <a:buClr>
                <a:srgbClr val="000066"/>
              </a:buClr>
              <a:buSzPct val="100000"/>
            </a:pPr>
            <a:r>
              <a:rPr lang="en-US" dirty="0">
                <a:sym typeface="Symbol" panose="05050102010706020507" pitchFamily="18" charset="2"/>
              </a:rPr>
              <a:t>The wind is coming from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60</a:t>
            </a:r>
            <a:r>
              <a:rPr lang="en-US" dirty="0">
                <a:sym typeface="Symbol" panose="05050102010706020507" pitchFamily="18" charset="2"/>
              </a:rPr>
              <a:t> off runway heading at a magnitude of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18</a:t>
            </a:r>
            <a:r>
              <a:rPr lang="en-US" dirty="0">
                <a:sym typeface="Symbol" panose="05050102010706020507" pitchFamily="18" charset="2"/>
              </a:rPr>
              <a:t> knots.</a:t>
            </a:r>
          </a:p>
          <a:p>
            <a:pPr marL="539496" indent="-457200">
              <a:buClr>
                <a:srgbClr val="000066"/>
              </a:buClr>
              <a:buSzPct val="100000"/>
              <a:buFont typeface="+mj-lt"/>
              <a:buAutoNum type="arabicPeriod"/>
            </a:pPr>
            <a:r>
              <a:rPr lang="en-US" dirty="0">
                <a:sym typeface="Symbol" panose="05050102010706020507" pitchFamily="18" charset="2"/>
              </a:rPr>
              <a:t>Calculate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v</a:t>
            </a:r>
            <a:r>
              <a:rPr lang="en-US" baseline="-25000" dirty="0">
                <a:solidFill>
                  <a:srgbClr val="0000CC"/>
                </a:solidFill>
                <a:sym typeface="Symbol" panose="05050102010706020507" pitchFamily="18" charset="2"/>
              </a:rPr>
              <a:t>1</a:t>
            </a:r>
            <a:r>
              <a:rPr lang="en-US" dirty="0">
                <a:sym typeface="Symbol" panose="05050102010706020507" pitchFamily="18" charset="2"/>
              </a:rPr>
              <a:t> and </a:t>
            </a:r>
            <a:r>
              <a:rPr lang="en-US" i="1" dirty="0">
                <a:solidFill>
                  <a:srgbClr val="0000CC"/>
                </a:solidFill>
                <a:sym typeface="Symbol" panose="05050102010706020507" pitchFamily="18" charset="2"/>
              </a:rPr>
              <a:t>v</a:t>
            </a:r>
            <a:r>
              <a:rPr lang="en-US" baseline="-25000" dirty="0">
                <a:solidFill>
                  <a:srgbClr val="0000CC"/>
                </a:solidFill>
                <a:sym typeface="Symbol" panose="05050102010706020507" pitchFamily="18" charset="2"/>
              </a:rPr>
              <a:t>2</a:t>
            </a:r>
            <a:r>
              <a:rPr lang="en-US" dirty="0">
                <a:sym typeface="Symbol" panose="05050102010706020507" pitchFamily="18" charset="2"/>
              </a:rPr>
              <a:t> :</a:t>
            </a:r>
          </a:p>
          <a:p>
            <a:pPr marL="402336" lvl="1" indent="0">
              <a:buNone/>
            </a:pPr>
            <a:r>
              <a:rPr lang="en-US" i="1" dirty="0">
                <a:solidFill>
                  <a:srgbClr val="0000CC"/>
                </a:solidFill>
              </a:rPr>
              <a:t>  v</a:t>
            </a:r>
            <a:r>
              <a:rPr lang="en-US" baseline="-25000" dirty="0">
                <a:solidFill>
                  <a:srgbClr val="0000CC"/>
                </a:solidFill>
              </a:rPr>
              <a:t>1</a:t>
            </a:r>
            <a:r>
              <a:rPr lang="en-US" i="1" dirty="0">
                <a:solidFill>
                  <a:srgbClr val="0000CC"/>
                </a:solidFill>
              </a:rPr>
              <a:t> = </a:t>
            </a:r>
            <a:r>
              <a:rPr lang="en-US" dirty="0">
                <a:solidFill>
                  <a:srgbClr val="0000CC"/>
                </a:solidFill>
              </a:rPr>
              <a:t>18 cos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60 = 9</a:t>
            </a:r>
            <a:r>
              <a:rPr lang="en-US" dirty="0">
                <a:sym typeface="Symbol" panose="05050102010706020507" pitchFamily="18" charset="2"/>
              </a:rPr>
              <a:t>    </a:t>
            </a:r>
          </a:p>
          <a:p>
            <a:pPr marL="402336" lvl="1" indent="0">
              <a:buNone/>
            </a:pPr>
            <a:r>
              <a:rPr lang="en-US" dirty="0"/>
              <a:t>  </a:t>
            </a:r>
            <a:r>
              <a:rPr lang="en-US" i="1" dirty="0">
                <a:solidFill>
                  <a:srgbClr val="0000CC"/>
                </a:solidFill>
              </a:rPr>
              <a:t>v</a:t>
            </a:r>
            <a:r>
              <a:rPr lang="en-US" baseline="-25000" dirty="0">
                <a:solidFill>
                  <a:srgbClr val="0000CC"/>
                </a:solidFill>
              </a:rPr>
              <a:t>2</a:t>
            </a:r>
            <a:r>
              <a:rPr lang="en-US" i="1" dirty="0">
                <a:solidFill>
                  <a:srgbClr val="0000CC"/>
                </a:solidFill>
              </a:rPr>
              <a:t> = </a:t>
            </a:r>
            <a:r>
              <a:rPr lang="en-US" dirty="0">
                <a:solidFill>
                  <a:srgbClr val="0000CC"/>
                </a:solidFill>
              </a:rPr>
              <a:t>18 sin 60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 = 15.6</a:t>
            </a:r>
            <a:endParaRPr lang="en-US" i="1" dirty="0">
              <a:sym typeface="Symbol" panose="05050102010706020507" pitchFamily="18" charset="2"/>
            </a:endParaRPr>
          </a:p>
          <a:p>
            <a:pPr marL="539496" indent="-457200">
              <a:spcBef>
                <a:spcPts val="0"/>
              </a:spcBef>
              <a:buClr>
                <a:srgbClr val="000066"/>
              </a:buClr>
              <a:buSzPct val="100000"/>
              <a:buFont typeface="+mj-lt"/>
              <a:buAutoNum type="arabicPeriod"/>
            </a:pPr>
            <a:r>
              <a:rPr lang="en-US" dirty="0">
                <a:solidFill>
                  <a:prstClr val="black"/>
                </a:solidFill>
                <a:sym typeface="Symbol" panose="05050102010706020507" pitchFamily="18" charset="2"/>
              </a:rPr>
              <a:t>Check the components to see if each is in the correct direction and has a magnitude that is proper for the reference angle.</a:t>
            </a:r>
          </a:p>
          <a:p>
            <a:pPr marL="82296" indent="0">
              <a:buClr>
                <a:srgbClr val="000066"/>
              </a:buClr>
              <a:buSzPct val="100000"/>
              <a:buNone/>
            </a:pPr>
            <a:endParaRPr lang="en-US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82296" indent="0">
              <a:buClr>
                <a:srgbClr val="000066"/>
              </a:buClr>
              <a:buSzPct val="100000"/>
              <a:buNone/>
            </a:pPr>
            <a:endParaRPr lang="en-US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82296" indent="0">
              <a:buClr>
                <a:srgbClr val="000066"/>
              </a:buClr>
              <a:buSzPct val="100000"/>
              <a:buNone/>
            </a:pPr>
            <a:endParaRPr lang="en-US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82296" indent="0">
              <a:buClr>
                <a:srgbClr val="000066"/>
              </a:buClr>
              <a:buSzPct val="100000"/>
              <a:buNone/>
            </a:pPr>
            <a:endParaRPr lang="en-US" dirty="0">
              <a:solidFill>
                <a:prstClr val="black"/>
              </a:solidFill>
              <a:sym typeface="Symbol" panose="05050102010706020507" pitchFamily="18" charset="2"/>
            </a:endParaRPr>
          </a:p>
          <a:p>
            <a:pPr marL="82296" indent="0">
              <a:buClr>
                <a:srgbClr val="000066"/>
              </a:buClr>
              <a:buSzPct val="100000"/>
              <a:buNone/>
            </a:pPr>
            <a:endParaRPr lang="en-US" dirty="0">
              <a:solidFill>
                <a:prstClr val="black"/>
              </a:solidFill>
              <a:sym typeface="Symbol" panose="05050102010706020507" pitchFamily="18" charset="2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1515796"/>
            <a:ext cx="4545418" cy="5342204"/>
          </a:xfrm>
          <a:prstGeom prst="rect">
            <a:avLst/>
          </a:prstGeom>
          <a:ln w="38100">
            <a:solidFill>
              <a:srgbClr val="0000CC"/>
            </a:solidFill>
          </a:ln>
        </p:spPr>
      </p:pic>
      <p:sp>
        <p:nvSpPr>
          <p:cNvPr id="5" name="Rectangle 4"/>
          <p:cNvSpPr/>
          <p:nvPr/>
        </p:nvSpPr>
        <p:spPr>
          <a:xfrm>
            <a:off x="1524000" y="6550224"/>
            <a:ext cx="4572000" cy="30777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http://www.swaviator.com/html/issueMA05/Basics3405.html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76400" y="2181923"/>
            <a:ext cx="4573042" cy="47000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72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962400" y="2600325"/>
            <a:ext cx="6705600" cy="2286000"/>
          </a:xfrm>
        </p:spPr>
        <p:txBody>
          <a:bodyPr>
            <a:normAutofit/>
          </a:bodyPr>
          <a:lstStyle/>
          <a:p>
            <a:r>
              <a:rPr lang="en-US" sz="2800" dirty="0"/>
              <a:t>Applications of vectors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62400" y="1066800"/>
            <a:ext cx="6400800" cy="1509712"/>
          </a:xfrm>
        </p:spPr>
        <p:txBody>
          <a:bodyPr>
            <a:normAutofit/>
          </a:bodyPr>
          <a:lstStyle/>
          <a:p>
            <a:r>
              <a:rPr lang="en-US" sz="3600" dirty="0"/>
              <a:t>Part 2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48717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CF455-5A9D-7AC8-FCED-EDBB3C21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96AB52-0F38-9FE0-62BA-23591B7C4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Application of Vectors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5C9B1-0EB5-0858-30B3-74329043E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47800" y="1219200"/>
            <a:ext cx="999744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To maintain level flight in a turn, the vertical lift component must be equal to the weight of the plane (force due to gravity).  </a:t>
            </a:r>
          </a:p>
          <a:p>
            <a:r>
              <a:rPr lang="en-US" dirty="0"/>
              <a:t>What must the total lift magnitude be at 30 degrees bank?  60 degrees?  80 degrees?</a:t>
            </a:r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r>
              <a:rPr lang="en-US" dirty="0"/>
              <a:t>Solution:  </a:t>
            </a:r>
          </a:p>
        </p:txBody>
      </p:sp>
      <p:pic>
        <p:nvPicPr>
          <p:cNvPr id="1028" name="Picture 4" descr="T-6 Vinyl Decal (Up to 8&quot;) - Callsign Creations">
            <a:extLst>
              <a:ext uri="{FF2B5EF4-FFF2-40B4-BE49-F238E27FC236}">
                <a16:creationId xmlns:a16="http://schemas.microsoft.com/office/drawing/2014/main" id="{85B3795C-43DF-B7F5-2B7B-BC89F0D493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3857941"/>
            <a:ext cx="2718486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T-6 Vinyl Decal (Up to 8&quot;) - Callsign Creations">
            <a:extLst>
              <a:ext uri="{FF2B5EF4-FFF2-40B4-BE49-F238E27FC236}">
                <a16:creationId xmlns:a16="http://schemas.microsoft.com/office/drawing/2014/main" id="{ADC7F858-07BE-5CB1-BB3C-BB7B7E26AB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4282519" y="3772930"/>
            <a:ext cx="2718486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T-6 Vinyl Decal (Up to 8&quot;) - Callsign Creations">
            <a:extLst>
              <a:ext uri="{FF2B5EF4-FFF2-40B4-BE49-F238E27FC236}">
                <a16:creationId xmlns:a16="http://schemas.microsoft.com/office/drawing/2014/main" id="{9E62807F-0AE3-AD34-95B0-E9EC93988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600000">
            <a:off x="6865241" y="3821279"/>
            <a:ext cx="2718486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T-6 Vinyl Decal (Up to 8&quot;) - Callsign Creations">
            <a:extLst>
              <a:ext uri="{FF2B5EF4-FFF2-40B4-BE49-F238E27FC236}">
                <a16:creationId xmlns:a16="http://schemas.microsoft.com/office/drawing/2014/main" id="{61D0F329-F137-5C7D-A2A7-61F84EA395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800000">
            <a:off x="9198874" y="3900884"/>
            <a:ext cx="2718486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586591C-17EA-8983-B02E-E207BDF4891B}"/>
              </a:ext>
            </a:extLst>
          </p:cNvPr>
          <p:cNvCxnSpPr/>
          <p:nvPr/>
        </p:nvCxnSpPr>
        <p:spPr>
          <a:xfrm flipV="1">
            <a:off x="5486400" y="3160687"/>
            <a:ext cx="762000" cy="1449842"/>
          </a:xfrm>
          <a:prstGeom prst="straightConnector1">
            <a:avLst/>
          </a:prstGeom>
          <a:ln w="57150">
            <a:solidFill>
              <a:srgbClr val="0000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B3016CA-55D8-D81E-9CFD-45A45892C6AE}"/>
              </a:ext>
            </a:extLst>
          </p:cNvPr>
          <p:cNvCxnSpPr>
            <a:cxnSpLocks/>
          </p:cNvCxnSpPr>
          <p:nvPr/>
        </p:nvCxnSpPr>
        <p:spPr>
          <a:xfrm flipV="1">
            <a:off x="5518905" y="3160687"/>
            <a:ext cx="0" cy="1335885"/>
          </a:xfrm>
          <a:prstGeom prst="straightConnector1">
            <a:avLst/>
          </a:prstGeom>
          <a:ln w="57150">
            <a:solidFill>
              <a:srgbClr val="0000CC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B2AD3DD-7BBD-673B-9B9D-FA2423C0EEB3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27919" y="4445370"/>
            <a:ext cx="0" cy="133588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4145BE-F0D5-C92F-CCBB-471CD2B5382F}"/>
              </a:ext>
            </a:extLst>
          </p:cNvPr>
          <p:cNvCxnSpPr>
            <a:cxnSpLocks/>
          </p:cNvCxnSpPr>
          <p:nvPr/>
        </p:nvCxnSpPr>
        <p:spPr>
          <a:xfrm>
            <a:off x="5518905" y="3180893"/>
            <a:ext cx="706575" cy="3"/>
          </a:xfrm>
          <a:prstGeom prst="straightConnector1">
            <a:avLst/>
          </a:prstGeom>
          <a:ln w="57150">
            <a:solidFill>
              <a:srgbClr val="0000CC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984E219-B17D-B77C-9FF3-386A1B8A11BB}"/>
                  </a:ext>
                </a:extLst>
              </p:cNvPr>
              <p:cNvSpPr txBox="1"/>
              <p:nvPr/>
            </p:nvSpPr>
            <p:spPr>
              <a:xfrm>
                <a:off x="5621709" y="5382937"/>
                <a:ext cx="10374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(at 1</a:t>
                </a:r>
                <a:r>
                  <a:rPr lang="en-US" b="1" dirty="0">
                    <a:solidFill>
                      <a:srgbClr val="C00000"/>
                    </a:solidFill>
                  </a:rPr>
                  <a:t>g)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984E219-B17D-B77C-9FF3-386A1B8A11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709" y="5382937"/>
                <a:ext cx="1037463" cy="369332"/>
              </a:xfrm>
              <a:prstGeom prst="rect">
                <a:avLst/>
              </a:prstGeom>
              <a:blipFill>
                <a:blip r:embed="rId4"/>
                <a:stretch>
                  <a:fillRect t="-8197" r="-470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70783C-2F84-C87F-03A3-72D4E8B43C64}"/>
                  </a:ext>
                </a:extLst>
              </p:cNvPr>
              <p:cNvSpPr txBox="1"/>
              <p:nvPr/>
            </p:nvSpPr>
            <p:spPr>
              <a:xfrm>
                <a:off x="5095090" y="3443801"/>
                <a:ext cx="4283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𝐰</m:t>
                      </m:r>
                    </m:oMath>
                  </m:oMathPara>
                </a14:m>
                <a:endParaRPr lang="en-US" b="1" dirty="0">
                  <a:solidFill>
                    <a:srgbClr val="0000CC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670783C-2F84-C87F-03A3-72D4E8B43C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5090" y="3443801"/>
                <a:ext cx="428322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Arc 15">
            <a:extLst>
              <a:ext uri="{FF2B5EF4-FFF2-40B4-BE49-F238E27FC236}">
                <a16:creationId xmlns:a16="http://schemas.microsoft.com/office/drawing/2014/main" id="{CB8BC1E1-FEF9-5A98-F02B-61F927EE4B78}"/>
              </a:ext>
            </a:extLst>
          </p:cNvPr>
          <p:cNvSpPr/>
          <p:nvPr/>
        </p:nvSpPr>
        <p:spPr>
          <a:xfrm rot="19948627">
            <a:off x="5390568" y="3896346"/>
            <a:ext cx="462280" cy="459242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973B6B-7481-2BF5-5C67-1F40E3793D8E}"/>
                  </a:ext>
                </a:extLst>
              </p:cNvPr>
              <p:cNvSpPr txBox="1"/>
              <p:nvPr/>
            </p:nvSpPr>
            <p:spPr>
              <a:xfrm>
                <a:off x="5425155" y="3565919"/>
                <a:ext cx="5854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7973B6B-7481-2BF5-5C67-1F40E3793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5155" y="3565919"/>
                <a:ext cx="585417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02054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  <p:bldP spid="16" grpId="0" animBg="1"/>
      <p:bldP spid="1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C5430-0EBF-C225-1499-D575EAA216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8E7A-866B-6C34-9CBE-723F55A75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Application of Vectors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BE88B4-1FD0-28D1-AA36-A7349AB7C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447800" y="1219200"/>
                <a:ext cx="9997440" cy="5334000"/>
              </a:xfrm>
            </p:spPr>
            <p:txBody>
              <a:bodyPr>
                <a:normAutofit/>
              </a:bodyPr>
              <a:lstStyle/>
              <a:p>
                <a:pPr marL="82296" indent="0">
                  <a:buNone/>
                </a:pPr>
                <a:r>
                  <a:rPr lang="en-US" dirty="0"/>
                  <a:t>To maintain level flight in a turn, the vertical lift component must be equal to the weight of the plane (force due to gravity).  </a:t>
                </a:r>
              </a:p>
              <a:p>
                <a:r>
                  <a:rPr lang="en-US" dirty="0"/>
                  <a:t>What must the total lift magnitude be at 30 degrees bank?  60 degrees?  80 degrees?</a:t>
                </a:r>
              </a:p>
              <a:p>
                <a:pPr marL="82296" indent="0">
                  <a:buNone/>
                </a:pPr>
                <a:endParaRPr lang="en-US" i="1" dirty="0"/>
              </a:p>
              <a:p>
                <a:pPr marL="82296" indent="0">
                  <a:buNone/>
                </a:pPr>
                <a:endParaRPr lang="en-US" i="1" dirty="0"/>
              </a:p>
              <a:p>
                <a:pPr marL="82296" indent="0">
                  <a:buNone/>
                </a:pPr>
                <a:endParaRPr lang="en-US" i="1" dirty="0"/>
              </a:p>
              <a:p>
                <a:pPr marL="82296" indent="0">
                  <a:buNone/>
                </a:pPr>
                <a:endParaRPr lang="en-US" i="1" dirty="0"/>
              </a:p>
              <a:p>
                <a:pPr marL="82296" indent="0">
                  <a:buNone/>
                </a:pPr>
                <a:endParaRPr lang="en-US" i="1" dirty="0"/>
              </a:p>
              <a:p>
                <a:pPr marL="82296" indent="0">
                  <a:buNone/>
                </a:pPr>
                <a:endParaRPr lang="en-US" i="1" dirty="0"/>
              </a:p>
              <a:p>
                <a:pPr marL="82296" indent="0">
                  <a:buNone/>
                </a:pPr>
                <a:endParaRPr lang="en-US" i="1" dirty="0"/>
              </a:p>
              <a:p>
                <a:pPr marL="82296" indent="0">
                  <a:buNone/>
                </a:pPr>
                <a:r>
                  <a:rPr lang="en-US" dirty="0"/>
                  <a:t>Solution: 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30</m:t>
                    </m:r>
                    <m:r>
                      <a:rPr lang="en-US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:1.15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>
                    <a:solidFill>
                      <a:srgbClr val="0000CC"/>
                    </a:solidFill>
                  </a:rPr>
                  <a:t>;     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45</m:t>
                    </m:r>
                    <m:r>
                      <a:rPr lang="en-US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:1.41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>
                    <a:solidFill>
                      <a:srgbClr val="0000CC"/>
                    </a:solidFill>
                  </a:rPr>
                  <a:t>;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  </m:t>
                    </m:r>
                    <m:r>
                      <a:rPr lang="en-US" b="0" i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60</m:t>
                    </m:r>
                    <m:r>
                      <a:rPr lang="en-US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:2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>
                    <a:solidFill>
                      <a:srgbClr val="0000CC"/>
                    </a:solidFill>
                  </a:rPr>
                  <a:t>;     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80</m:t>
                    </m:r>
                    <m:r>
                      <a:rPr lang="en-US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:5.76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en-US" dirty="0">
                    <a:solidFill>
                      <a:srgbClr val="0000CC"/>
                    </a:solidFill>
                  </a:rPr>
                  <a:t>;</a:t>
                </a:r>
                <a:r>
                  <a:rPr lang="en-US" b="0" dirty="0">
                    <a:solidFill>
                      <a:srgbClr val="0000CC"/>
                    </a:solidFill>
                    <a:ea typeface="Cambria Math" panose="02040503050406030204" pitchFamily="18" charset="0"/>
                  </a:rPr>
                  <a:t>      </a:t>
                </a:r>
                <a14:m>
                  <m:oMath xmlns:m="http://schemas.openxmlformats.org/officeDocument/2006/math">
                    <m:r>
                      <a:rPr lang="en-US" b="0" i="0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</m:t>
                    </m:r>
                    <m:r>
                      <a:rPr lang="en-US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:11.47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4BE88B4-1FD0-28D1-AA36-A7349AB7C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47800" y="1219200"/>
                <a:ext cx="9997440" cy="5334000"/>
              </a:xfrm>
              <a:blipFill>
                <a:blip r:embed="rId3"/>
                <a:stretch>
                  <a:fillRect l="-122" t="-914" r="-1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T-6 Vinyl Decal (Up to 8&quot;) - Callsign Creations">
            <a:extLst>
              <a:ext uri="{FF2B5EF4-FFF2-40B4-BE49-F238E27FC236}">
                <a16:creationId xmlns:a16="http://schemas.microsoft.com/office/drawing/2014/main" id="{CE9A74C4-0007-94A3-16C8-1FC5D6CD6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95400" y="3857941"/>
            <a:ext cx="2718486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T-6 Vinyl Decal (Up to 8&quot;) - Callsign Creations">
            <a:extLst>
              <a:ext uri="{FF2B5EF4-FFF2-40B4-BE49-F238E27FC236}">
                <a16:creationId xmlns:a16="http://schemas.microsoft.com/office/drawing/2014/main" id="{F335D8B4-188E-BE55-29D8-22C5CCECA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800000">
            <a:off x="4282519" y="3772930"/>
            <a:ext cx="2718486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T-6 Vinyl Decal (Up to 8&quot;) - Callsign Creations">
            <a:extLst>
              <a:ext uri="{FF2B5EF4-FFF2-40B4-BE49-F238E27FC236}">
                <a16:creationId xmlns:a16="http://schemas.microsoft.com/office/drawing/2014/main" id="{6E23FCCE-2EDC-F04F-0673-C6B63B8A2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3600000">
            <a:off x="6865241" y="3821279"/>
            <a:ext cx="2718486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T-6 Vinyl Decal (Up to 8&quot;) - Callsign Creations">
            <a:extLst>
              <a:ext uri="{FF2B5EF4-FFF2-40B4-BE49-F238E27FC236}">
                <a16:creationId xmlns:a16="http://schemas.microsoft.com/office/drawing/2014/main" id="{7922DA29-94E2-5DE3-EDBD-B414BF41D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800000">
            <a:off x="9198874" y="3900884"/>
            <a:ext cx="2718486" cy="1005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767A5C2-51B5-435A-3750-0EC26D025084}"/>
              </a:ext>
            </a:extLst>
          </p:cNvPr>
          <p:cNvCxnSpPr/>
          <p:nvPr/>
        </p:nvCxnSpPr>
        <p:spPr>
          <a:xfrm flipV="1">
            <a:off x="5486400" y="3160687"/>
            <a:ext cx="762000" cy="1449842"/>
          </a:xfrm>
          <a:prstGeom prst="straightConnector1">
            <a:avLst/>
          </a:prstGeom>
          <a:ln w="57150">
            <a:solidFill>
              <a:srgbClr val="0000C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52718C2-09D5-C30A-E9E0-494B90ADE74F}"/>
              </a:ext>
            </a:extLst>
          </p:cNvPr>
          <p:cNvCxnSpPr>
            <a:cxnSpLocks/>
          </p:cNvCxnSpPr>
          <p:nvPr/>
        </p:nvCxnSpPr>
        <p:spPr>
          <a:xfrm flipV="1">
            <a:off x="5518905" y="3160687"/>
            <a:ext cx="0" cy="1335885"/>
          </a:xfrm>
          <a:prstGeom prst="straightConnector1">
            <a:avLst/>
          </a:prstGeom>
          <a:ln w="57150">
            <a:solidFill>
              <a:srgbClr val="0000CC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A6AF2AF-7CD8-92A3-FE2A-449E9D32C11B}"/>
              </a:ext>
            </a:extLst>
          </p:cNvPr>
          <p:cNvCxnSpPr>
            <a:cxnSpLocks/>
          </p:cNvCxnSpPr>
          <p:nvPr/>
        </p:nvCxnSpPr>
        <p:spPr>
          <a:xfrm rot="10800000" flipV="1">
            <a:off x="5527919" y="4445370"/>
            <a:ext cx="0" cy="1335885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64357A1-D201-7973-2455-3C057B4F0650}"/>
              </a:ext>
            </a:extLst>
          </p:cNvPr>
          <p:cNvCxnSpPr>
            <a:cxnSpLocks/>
          </p:cNvCxnSpPr>
          <p:nvPr/>
        </p:nvCxnSpPr>
        <p:spPr>
          <a:xfrm>
            <a:off x="5518905" y="3180893"/>
            <a:ext cx="706575" cy="3"/>
          </a:xfrm>
          <a:prstGeom prst="straightConnector1">
            <a:avLst/>
          </a:prstGeom>
          <a:ln w="57150">
            <a:solidFill>
              <a:srgbClr val="0000CC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B8AA3F-32E4-2143-4364-A0E150F56945}"/>
                  </a:ext>
                </a:extLst>
              </p:cNvPr>
              <p:cNvSpPr txBox="1"/>
              <p:nvPr/>
            </p:nvSpPr>
            <p:spPr>
              <a:xfrm>
                <a:off x="5621709" y="5382937"/>
                <a:ext cx="10374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𝐰</m:t>
                    </m:r>
                  </m:oMath>
                </a14:m>
                <a:r>
                  <a:rPr lang="en-US" dirty="0">
                    <a:solidFill>
                      <a:srgbClr val="C00000"/>
                    </a:solidFill>
                  </a:rPr>
                  <a:t> (at 1</a:t>
                </a:r>
                <a:r>
                  <a:rPr lang="en-US" b="1" dirty="0">
                    <a:solidFill>
                      <a:srgbClr val="C00000"/>
                    </a:solidFill>
                  </a:rPr>
                  <a:t>g)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84B8AA3F-32E4-2143-4364-A0E150F569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1709" y="5382937"/>
                <a:ext cx="1037463" cy="369332"/>
              </a:xfrm>
              <a:prstGeom prst="rect">
                <a:avLst/>
              </a:prstGeom>
              <a:blipFill>
                <a:blip r:embed="rId5"/>
                <a:stretch>
                  <a:fillRect t="-8197" r="-470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8EB41E-B30D-07E0-DD2A-0E8529AFA595}"/>
                  </a:ext>
                </a:extLst>
              </p:cNvPr>
              <p:cNvSpPr txBox="1"/>
              <p:nvPr/>
            </p:nvSpPr>
            <p:spPr>
              <a:xfrm>
                <a:off x="5095090" y="3443801"/>
                <a:ext cx="42832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0" smtClean="0">
                          <a:solidFill>
                            <a:srgbClr val="0000CC"/>
                          </a:solidFill>
                          <a:latin typeface="Cambria Math" panose="02040503050406030204" pitchFamily="18" charset="0"/>
                        </a:rPr>
                        <m:t>𝐰</m:t>
                      </m:r>
                    </m:oMath>
                  </m:oMathPara>
                </a14:m>
                <a:endParaRPr lang="en-US" b="1" dirty="0">
                  <a:solidFill>
                    <a:srgbClr val="0000CC"/>
                  </a:solidFill>
                </a:endParaRP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8EB41E-B30D-07E0-DD2A-0E8529AFA5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5090" y="3443801"/>
                <a:ext cx="428322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Arc 15">
            <a:extLst>
              <a:ext uri="{FF2B5EF4-FFF2-40B4-BE49-F238E27FC236}">
                <a16:creationId xmlns:a16="http://schemas.microsoft.com/office/drawing/2014/main" id="{50B789BE-76C8-8412-1D71-CCBC1D3E686E}"/>
              </a:ext>
            </a:extLst>
          </p:cNvPr>
          <p:cNvSpPr/>
          <p:nvPr/>
        </p:nvSpPr>
        <p:spPr>
          <a:xfrm rot="19948627">
            <a:off x="5390568" y="3896346"/>
            <a:ext cx="462280" cy="459242"/>
          </a:xfrm>
          <a:prstGeom prst="arc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4843D1-0AB5-6A37-BE0F-4D91D28984AF}"/>
                  </a:ext>
                </a:extLst>
              </p:cNvPr>
              <p:cNvSpPr txBox="1"/>
              <p:nvPr/>
            </p:nvSpPr>
            <p:spPr>
              <a:xfrm>
                <a:off x="5425155" y="3565919"/>
                <a:ext cx="5854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</a:rPr>
                      <m:t>30</m:t>
                    </m:r>
                    <m:r>
                      <a:rPr lang="en-US" b="0" i="1" smtClean="0">
                        <a:solidFill>
                          <a:srgbClr val="0000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°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4843D1-0AB5-6A37-BE0F-4D91D2898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25155" y="3565919"/>
                <a:ext cx="585417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0843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Application of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81534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A ship’s navigator determines that the ship is moving through the water at </a:t>
            </a:r>
            <a:r>
              <a:rPr lang="en-US" dirty="0">
                <a:solidFill>
                  <a:srgbClr val="0000CC"/>
                </a:solidFill>
              </a:rPr>
              <a:t>17.5 mi/h </a:t>
            </a:r>
            <a:r>
              <a:rPr lang="en-US" dirty="0"/>
              <a:t>with a heading of </a:t>
            </a:r>
            <a:r>
              <a:rPr lang="en-US" dirty="0">
                <a:solidFill>
                  <a:srgbClr val="0000CC"/>
                </a:solidFill>
              </a:rPr>
              <a:t>26.3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</a:t>
            </a:r>
            <a:r>
              <a:rPr lang="en-US" dirty="0">
                <a:sym typeface="Symbol" panose="05050102010706020507" pitchFamily="18" charset="2"/>
              </a:rPr>
              <a:t> north of east, but that the ship is actually moving at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19.3 mi/h</a:t>
            </a:r>
            <a:r>
              <a:rPr lang="en-US" dirty="0">
                <a:sym typeface="Symbol" panose="05050102010706020507" pitchFamily="18" charset="2"/>
              </a:rPr>
              <a:t> in a direction of 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33.7</a:t>
            </a:r>
            <a:r>
              <a:rPr lang="en-US" dirty="0">
                <a:sym typeface="Symbol" panose="05050102010706020507" pitchFamily="18" charset="2"/>
              </a:rPr>
              <a:t> north of east.  </a:t>
            </a:r>
          </a:p>
          <a:p>
            <a:pPr marL="82296" indent="0">
              <a:buNone/>
            </a:pPr>
            <a:r>
              <a:rPr lang="en-US" dirty="0">
                <a:sym typeface="Symbol" panose="05050102010706020507" pitchFamily="18" charset="2"/>
              </a:rPr>
              <a:t>What is the velocity of the current?</a:t>
            </a:r>
            <a:endParaRPr lang="en-US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r>
              <a:rPr lang="en-US" dirty="0"/>
              <a:t>Solution:  In your notes.</a:t>
            </a:r>
          </a:p>
        </p:txBody>
      </p:sp>
    </p:spTree>
    <p:extLst>
      <p:ext uri="{BB962C8B-B14F-4D97-AF65-F5344CB8AC3E}">
        <p14:creationId xmlns:p14="http://schemas.microsoft.com/office/powerpoint/2010/main" val="15770772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683270" y="990600"/>
            <a:ext cx="6703540" cy="4800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590801" y="6096000"/>
            <a:ext cx="16433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Solution:  16.6</a:t>
            </a:r>
            <a:r>
              <a:rPr lang="en-US" dirty="0">
                <a:sym typeface="Symbol" panose="05050102010706020507" pitchFamily="18" charset="2"/>
              </a:rPr>
              <a:t>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2769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Equilibrium of Forces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81534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An important vector quantity is the force acting on an object.  One of the most important applications of vectors involves forces that are in </a:t>
            </a:r>
            <a:r>
              <a:rPr lang="en-US" b="1" dirty="0"/>
              <a:t>equilibrium</a:t>
            </a:r>
            <a:r>
              <a:rPr lang="en-US" dirty="0"/>
              <a:t>.  </a:t>
            </a:r>
          </a:p>
          <a:p>
            <a:r>
              <a:rPr lang="en-US" dirty="0"/>
              <a:t>For an object to be in equilibrium, the net force acting on it in any direction must be zero.</a:t>
            </a:r>
          </a:p>
          <a:p>
            <a:pPr lvl="1"/>
            <a:r>
              <a:rPr lang="en-US" dirty="0"/>
              <a:t>the sum of the horizontal components of the forces is zero, and </a:t>
            </a:r>
          </a:p>
          <a:p>
            <a:pPr lvl="1"/>
            <a:r>
              <a:rPr lang="en-US" dirty="0"/>
              <a:t>the sum of the vertical components of the forces is zero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82296" indent="0">
              <a:buNone/>
            </a:pP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37480423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Equilibrium of Forces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81534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A </a:t>
            </a:r>
            <a:r>
              <a:rPr lang="en-US" dirty="0">
                <a:solidFill>
                  <a:srgbClr val="0000CC"/>
                </a:solidFill>
              </a:rPr>
              <a:t>180</a:t>
            </a:r>
            <a:r>
              <a:rPr lang="en-US" dirty="0"/>
              <a:t>-lb climber is suspended by a rope that is angled </a:t>
            </a:r>
            <a:r>
              <a:rPr lang="en-US" dirty="0">
                <a:solidFill>
                  <a:srgbClr val="0000CC"/>
                </a:solidFill>
              </a:rPr>
              <a:t>60</a:t>
            </a:r>
            <a:r>
              <a:rPr lang="en-US" dirty="0">
                <a:solidFill>
                  <a:srgbClr val="0000CC"/>
                </a:solidFill>
                <a:sym typeface="Symbol" panose="05050102010706020507" pitchFamily="18" charset="2"/>
              </a:rPr>
              <a:t></a:t>
            </a:r>
            <a:r>
              <a:rPr lang="en-US" dirty="0">
                <a:sym typeface="Symbol" panose="05050102010706020507" pitchFamily="18" charset="2"/>
              </a:rPr>
              <a:t> from the horizontal.  If </a:t>
            </a:r>
            <a:r>
              <a:rPr lang="en-US" b="1" i="1" dirty="0">
                <a:solidFill>
                  <a:srgbClr val="0000CC"/>
                </a:solidFill>
                <a:sym typeface="Symbol" panose="05050102010706020507" pitchFamily="18" charset="2"/>
              </a:rPr>
              <a:t>T</a:t>
            </a:r>
            <a:r>
              <a:rPr lang="en-US" dirty="0"/>
              <a:t> is the tension in the rope and </a:t>
            </a:r>
            <a:r>
              <a:rPr lang="en-US" b="1" i="1" dirty="0">
                <a:solidFill>
                  <a:srgbClr val="0000CC"/>
                </a:solidFill>
              </a:rPr>
              <a:t>F</a:t>
            </a:r>
            <a:r>
              <a:rPr lang="en-US" dirty="0"/>
              <a:t> is the horizontal force with which the climber pushes on the side of a cliff, find the magnitudes of the two forces, </a:t>
            </a:r>
            <a:r>
              <a:rPr lang="en-US" i="1" dirty="0">
                <a:solidFill>
                  <a:srgbClr val="0000CC"/>
                </a:solidFill>
              </a:rPr>
              <a:t>T</a:t>
            </a:r>
            <a:r>
              <a:rPr lang="en-US" dirty="0"/>
              <a:t> and </a:t>
            </a:r>
            <a:r>
              <a:rPr lang="en-US" i="1" dirty="0">
                <a:solidFill>
                  <a:srgbClr val="0000CC"/>
                </a:solidFill>
              </a:rPr>
              <a:t>F</a:t>
            </a:r>
            <a:r>
              <a:rPr lang="en-US" dirty="0"/>
              <a:t>.</a:t>
            </a:r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r>
              <a:rPr lang="en-US" dirty="0"/>
              <a:t>Solution:  In your notes.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3024" y="3119438"/>
            <a:ext cx="1206376" cy="251936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1" y="2895601"/>
            <a:ext cx="1400175" cy="1692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302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Application of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86000" y="1219200"/>
            <a:ext cx="8153400" cy="5334000"/>
          </a:xfrm>
        </p:spPr>
        <p:txBody>
          <a:bodyPr>
            <a:normAutofit/>
          </a:bodyPr>
          <a:lstStyle/>
          <a:p>
            <a:pPr marL="82296" indent="0">
              <a:buNone/>
            </a:pPr>
            <a:r>
              <a:rPr lang="en-US" dirty="0"/>
              <a:t>To move forward, a helicopter pilot tilts the helicopter forward.  If the rotor generates a force of 3200 </a:t>
            </a:r>
            <a:r>
              <a:rPr lang="en-US" dirty="0" err="1"/>
              <a:t>lb</a:t>
            </a:r>
            <a:r>
              <a:rPr lang="en-US" dirty="0"/>
              <a:t>, with a horizontal component (thrust) of 420 </a:t>
            </a:r>
            <a:r>
              <a:rPr lang="en-US" dirty="0" err="1"/>
              <a:t>lb</a:t>
            </a:r>
            <a:r>
              <a:rPr lang="en-US" dirty="0"/>
              <a:t>, what is the vertical component (lift)?</a:t>
            </a:r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endParaRPr lang="en-US" i="1" dirty="0"/>
          </a:p>
          <a:p>
            <a:pPr marL="82296" indent="0">
              <a:buNone/>
            </a:pPr>
            <a:r>
              <a:rPr lang="en-US" dirty="0"/>
              <a:t>Solution:  In your notes.</a:t>
            </a:r>
          </a:p>
        </p:txBody>
      </p:sp>
    </p:spTree>
    <p:extLst>
      <p:ext uri="{BB962C8B-B14F-4D97-AF65-F5344CB8AC3E}">
        <p14:creationId xmlns:p14="http://schemas.microsoft.com/office/powerpoint/2010/main" val="16476755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OWBARVISIBLE" val="True"/>
  <p:tag name="CSVFORMAT" val="0"/>
  <p:tag name="COUNTDOWNSTYLE" val="-1"/>
  <p:tag name="COUNTDOWNSECONDS" val="10"/>
  <p:tag name="BACKUPSESSIONS" val="True"/>
  <p:tag name="REVIEWONLY" val="False"/>
  <p:tag name="RACEENDPOINTS" val="100"/>
  <p:tag name="PARTICIPANTSINLEADERBOARD" val="5"/>
  <p:tag name="BUBBLESIZEVISIBLE" val="True"/>
  <p:tag name="CUSTOMGRIDBACKCOLOR" val="-2830136"/>
  <p:tag name="CUSTOMCELLBACKCOLOR3" val="-268652"/>
  <p:tag name="DISPLAYDEVICENUMBER" val="True"/>
  <p:tag name="AUTOSIZEGRID" val="True"/>
  <p:tag name="POLLINGCYCLE" val="2"/>
  <p:tag name="INCLUDENONRESPONDERS" val="False"/>
  <p:tag name="CORRECTPOINTVALUE" val="1"/>
  <p:tag name="ZEROBASED" val="False"/>
  <p:tag name="FIBDISPLAYRESULTS" val="True"/>
  <p:tag name="PRRESPONSE1" val="10"/>
  <p:tag name="PRRESPONSE5" val="6"/>
  <p:tag name="PRRESPONSE9" val="2"/>
  <p:tag name="TASKPANEKEY" val="40d5cd3d-514c-467f-b0f2-50def1ba4a48"/>
  <p:tag name="USESECONDARYMONITOR" val="True"/>
  <p:tag name="ANSWERNOWTEXT" val="Answer Now"/>
  <p:tag name="INPUTSOURCE" val="1"/>
  <p:tag name="CHARTVALUEFORMAT" val="0%"/>
  <p:tag name="STDCHART" val="1"/>
  <p:tag name="TEAMSINLEADERBOARD" val="5"/>
  <p:tag name="BUBBLEGROUPING" val="3"/>
  <p:tag name="CUSTOMCELLBACKCOLOR2" val="-13395457"/>
  <p:tag name="DISPLAYDEVICEID" val="True"/>
  <p:tag name="GRIDPOSITION" val="1"/>
  <p:tag name="RESETCHARTS" val="True"/>
  <p:tag name="INCORRECTPOINTVALUE" val="1"/>
  <p:tag name="CHARTSCALE" val="True"/>
  <p:tag name="FIBDISPLAYKEYWORDS" val="True"/>
  <p:tag name="PRRESPONSE6" val="5"/>
  <p:tag name="SHOWFLASHWARNING" val="False"/>
  <p:tag name="EXPANDSHOWBAR" val="True"/>
  <p:tag name="RESPCOUNTERSTYLE" val="-1"/>
  <p:tag name="ALLOWDUPLICATES" val="False"/>
  <p:tag name="AUTOUPDATEALIASES" val="True"/>
  <p:tag name="MAXRESPONDERS" val="5"/>
  <p:tag name="CUSTOMCELLFORECOLOR" val="-16777216"/>
  <p:tag name="DISPLAYNAME" val="True"/>
  <p:tag name="GRIDFONTSIZE" val="12"/>
  <p:tag name="INCLUDEPPT" val="False"/>
  <p:tag name="AUTOADJUSTPARTRANGE" val="True"/>
  <p:tag name="PRRESPONSE2" val="9"/>
  <p:tag name="PRRESPONSE8" val="3"/>
  <p:tag name="POWERPOINTVERSION" val="14.0"/>
  <p:tag name="RESPCOUNTERFORMAT" val="0"/>
  <p:tag name="AUTOADVANCE" val="True"/>
  <p:tag name="SKIPREMAININGRACESLIDES" val="True"/>
  <p:tag name="CUSTOMCELLBACKCOLOR1" val="-657956"/>
  <p:tag name="GRIDROTATIONINTERVAL" val="2"/>
  <p:tag name="MULTIRESPDIVISOR" val="1"/>
  <p:tag name="ADVANCEDSETTINGSVIEW" val="True"/>
  <p:tag name="PRRESPONSE4" val="7"/>
  <p:tag name="TPVERSION" val="2008"/>
  <p:tag name="RESPTABLESTYLE" val="-1"/>
  <p:tag name="RACERSMAXDISPLAYED" val="5"/>
  <p:tag name="DEFAULTNUMTEAMS" val="5"/>
  <p:tag name="GRIDSIZE" val="{Width=800, Height=600}"/>
  <p:tag name="REALTIMEBACKUP" val="False"/>
  <p:tag name="PRRESPONSE3" val="8"/>
  <p:tag name="SAVECSVWITHSESSION" val="True"/>
  <p:tag name="BACKUPMAINTENANCE" val="7"/>
  <p:tag name="BUBBLEVALUEFORMAT" val="0.0"/>
  <p:tag name="CHARTCOLORS" val="0"/>
  <p:tag name="FIBNUMRESULTS" val="5"/>
  <p:tag name="ALWAYSOPENPOLL" val="False"/>
  <p:tag name="ROTATIONINTERVAL" val="2"/>
  <p:tag name="USESCHEMECOLORS" val="True"/>
  <p:tag name="REALTIMEBACKUPPATH" val="(None)"/>
  <p:tag name="BULLETTYPE" val="3"/>
  <p:tag name="BUBBLENAMEVISIBLE" val="True"/>
  <p:tag name="ALLOWUSERFEEDBACK" val="False"/>
  <p:tag name="ANSWERNOWSTYLE" val="3"/>
  <p:tag name="GRIDOPACITY" val="90"/>
  <p:tag name="PRRESPONSE10" val="1"/>
  <p:tag name="CHARTLABELS" val="1"/>
  <p:tag name="RACEANIMATIONSPEED" val="3"/>
  <p:tag name="NUMRESPONSES" val="1"/>
  <p:tag name="CUSTOMCELLBACKCOLOR4" val="-8355712"/>
  <p:tag name="PRRESPONSE7" val="4"/>
  <p:tag name="FIBINCLUDEOTHER" val="True"/>
  <p:tag name="DELIMITERS" val="3.1"/>
  <p:tag name="TPFULLVERSION" val="4.3.2.117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OPREFERENCE" val="False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olstice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 Classic">
      <a:majorFont>
        <a:latin typeface="Arial"/>
        <a:ea typeface=""/>
        <a:cs typeface=""/>
        <a:font script="Jpan" typeface="ＭＳ Ｐゴシック"/>
        <a:font script="Hang" typeface="돋움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Times New Roman"/>
        <a:ea typeface=""/>
        <a:cs typeface=""/>
        <a:font script="Jpan" typeface="ＭＳ Ｐ明朝"/>
        <a:font script="Hang" typeface="바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Solstice">
      <a:fillStyleLst>
        <a:solidFill>
          <a:schemeClr val="phClr"/>
        </a:solidFill>
        <a:gradFill rotWithShape="1">
          <a:gsLst>
            <a:gs pos="0">
              <a:schemeClr val="phClr">
                <a:tint val="35000"/>
                <a:satMod val="253000"/>
              </a:schemeClr>
            </a:gs>
            <a:gs pos="50000">
              <a:schemeClr val="phClr">
                <a:tint val="42000"/>
                <a:satMod val="255000"/>
              </a:schemeClr>
            </a:gs>
            <a:gs pos="97000">
              <a:schemeClr val="phClr">
                <a:tint val="53000"/>
                <a:satMod val="260000"/>
              </a:schemeClr>
            </a:gs>
            <a:gs pos="100000">
              <a:schemeClr val="phClr">
                <a:tint val="56000"/>
                <a:satMod val="275000"/>
              </a:schemeClr>
            </a:gs>
          </a:gsLst>
          <a:path path="circle">
            <a:fillToRect l="50000" t="50000" r="50000" b="50000"/>
          </a:path>
        </a:gradFill>
        <a:gradFill rotWithShape="1">
          <a:gsLst>
            <a:gs pos="0">
              <a:schemeClr val="phClr">
                <a:tint val="92000"/>
                <a:satMod val="170000"/>
              </a:schemeClr>
            </a:gs>
            <a:gs pos="15000">
              <a:schemeClr val="phClr">
                <a:tint val="92000"/>
                <a:shade val="99000"/>
                <a:satMod val="170000"/>
              </a:schemeClr>
            </a:gs>
            <a:gs pos="62000">
              <a:schemeClr val="phClr">
                <a:tint val="96000"/>
                <a:shade val="80000"/>
                <a:satMod val="170000"/>
              </a:schemeClr>
            </a:gs>
            <a:gs pos="97000">
              <a:schemeClr val="phClr">
                <a:tint val="98000"/>
                <a:shade val="63000"/>
                <a:satMod val="170000"/>
              </a:schemeClr>
            </a:gs>
            <a:gs pos="100000">
              <a:schemeClr val="phClr">
                <a:shade val="62000"/>
                <a:satMod val="170000"/>
              </a:schemeClr>
            </a:gs>
          </a:gsLst>
          <a:path path="circle">
            <a:fillToRect l="50000" t="50000" r="50000" b="5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8700000"/>
            </a:lightRig>
          </a:scene3d>
          <a:sp3d contourW="12700">
            <a:bevelT w="0" h="0"/>
            <a:contourClr>
              <a:schemeClr val="phClr">
                <a:shade val="80000"/>
              </a:schemeClr>
            </a:contourClr>
          </a:sp3d>
        </a:effectStyle>
        <a:effectStyle>
          <a:effectLst>
            <a:outerShdw blurRad="63500" dist="254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brightRoom" dir="tl">
              <a:rot lat="0" lon="0" rev="5400000"/>
            </a:lightRig>
          </a:scene3d>
          <a:sp3d contourW="12700">
            <a:bevelT w="25400" h="50800" prst="angle"/>
            <a:contourClr>
              <a:schemeClr val="phClr"/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355000"/>
              </a:schemeClr>
            </a:gs>
            <a:gs pos="40000">
              <a:schemeClr val="phClr">
                <a:tint val="85000"/>
                <a:satMod val="320000"/>
              </a:schemeClr>
            </a:gs>
            <a:gs pos="100000">
              <a:schemeClr val="phClr">
                <a:shade val="55000"/>
                <a:satMod val="300000"/>
              </a:schemeClr>
            </a:gs>
          </a:gsLst>
          <a:path path="circle">
            <a:fillToRect l="-24500" t="-20000" r="124500" b="12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"/>
                <a:satMod val="300000"/>
              </a:schemeClr>
              <a:schemeClr val="phClr">
                <a:tint val="90000"/>
                <a:satMod val="225000"/>
              </a:schemeClr>
            </a:duotone>
          </a:blip>
          <a:tile tx="0" ty="0" sx="90000" sy="90000" flip="xy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Solstice</Template>
  <TotalTime>30488</TotalTime>
  <Words>2602</Words>
  <Application>Microsoft Office PowerPoint</Application>
  <PresentationFormat>Widescreen</PresentationFormat>
  <Paragraphs>435</Paragraphs>
  <Slides>36</Slides>
  <Notes>19</Notes>
  <HiddenSlides>1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5" baseType="lpstr">
      <vt:lpstr>Arial</vt:lpstr>
      <vt:lpstr>Calibri</vt:lpstr>
      <vt:lpstr>Cambria</vt:lpstr>
      <vt:lpstr>Cambria Math</vt:lpstr>
      <vt:lpstr>Symbol</vt:lpstr>
      <vt:lpstr>Times New Roman</vt:lpstr>
      <vt:lpstr>Verdana</vt:lpstr>
      <vt:lpstr>Wingdings 2</vt:lpstr>
      <vt:lpstr>Solstice</vt:lpstr>
      <vt:lpstr>Vectors</vt:lpstr>
      <vt:lpstr>Vectors and Scalars</vt:lpstr>
      <vt:lpstr>Example:  Boating</vt:lpstr>
      <vt:lpstr>Example:  (Vectors in the boat?)</vt:lpstr>
      <vt:lpstr>Notation</vt:lpstr>
      <vt:lpstr>Vector Addition</vt:lpstr>
      <vt:lpstr>Vector Addition</vt:lpstr>
      <vt:lpstr>Example from 70.1</vt:lpstr>
      <vt:lpstr>Vector Addition</vt:lpstr>
      <vt:lpstr>Scalar Multiplication</vt:lpstr>
      <vt:lpstr>Components of Vectors</vt:lpstr>
      <vt:lpstr>Vector Addition</vt:lpstr>
      <vt:lpstr>Components of Vectors</vt:lpstr>
      <vt:lpstr>Components of Vectors</vt:lpstr>
      <vt:lpstr>Components of Vectors</vt:lpstr>
      <vt:lpstr>Example:  Components of Vectors</vt:lpstr>
      <vt:lpstr>Unit Vectors in the same direction as v</vt:lpstr>
      <vt:lpstr>Example:  Components of Vectors</vt:lpstr>
      <vt:lpstr>Examples</vt:lpstr>
      <vt:lpstr>Examples</vt:lpstr>
      <vt:lpstr>Examples</vt:lpstr>
      <vt:lpstr>Examples – Add the Vectors</vt:lpstr>
      <vt:lpstr>Examples – Add the Vectors</vt:lpstr>
      <vt:lpstr>Examples – Add the Vectors</vt:lpstr>
      <vt:lpstr>Examples – Add the Vectors</vt:lpstr>
      <vt:lpstr>Examples – Add the Vectors</vt:lpstr>
      <vt:lpstr>Example:  Components of Vectors</vt:lpstr>
      <vt:lpstr>Example:  Components of Vectors</vt:lpstr>
      <vt:lpstr>Applications of vectors</vt:lpstr>
      <vt:lpstr>Example – Application of Vectors</vt:lpstr>
      <vt:lpstr>Example – Application of Vectors</vt:lpstr>
      <vt:lpstr>Example – Application of Vectors</vt:lpstr>
      <vt:lpstr>Example</vt:lpstr>
      <vt:lpstr>Example – Equilibrium of Forces</vt:lpstr>
      <vt:lpstr>Example – Equilibrium of Forces</vt:lpstr>
      <vt:lpstr>Example – Application of Vectors</vt:lpstr>
    </vt:vector>
  </TitlesOfParts>
  <Company>Liberty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2</dc:title>
  <dc:creator>rbyoung</dc:creator>
  <cp:lastModifiedBy>Young, Robert Breen</cp:lastModifiedBy>
  <cp:revision>439</cp:revision>
  <cp:lastPrinted>2024-04-19T19:04:14Z</cp:lastPrinted>
  <dcterms:created xsi:type="dcterms:W3CDTF">2008-01-31T05:19:00Z</dcterms:created>
  <dcterms:modified xsi:type="dcterms:W3CDTF">2025-12-02T13:07:05Z</dcterms:modified>
</cp:coreProperties>
</file>