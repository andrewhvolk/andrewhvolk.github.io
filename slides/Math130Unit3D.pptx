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200400" cy="3200400"/>
          </a:xfrm>
          <a:prstGeom prst="ellipse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8.4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130: Advanced Technical Mathematics  |  Unit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8.4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ALEKS Skills (4 from Section 8.4 + 1 Supplementary)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13 — Skills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2471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vector in component form from initial/terminal points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37944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addition and scalar multiplication: component form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780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magnitude and direction of a vector from its graph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1912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direction angle of a vector in ai + bj form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9044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components of a vector from its graph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Vectors and Scalars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only (a single number)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speed, temperature, mass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64008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1417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AND direction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velocity, force, displacement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form:  v = ⟨a, b⟩  or  v = ai + bj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Magnitude:  |v| = √(a² + b²)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angle:  θ measured counterclockwise from positive x-axis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vectors are equal ⟺ same components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a Vector in Component Form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73152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601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⟨x₂ − x₁, y₂ − y₁⟩  (terminal minus initial)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393192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920240"/>
            <a:ext cx="43891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0574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A(−2, 5) to B(3, −1)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⟨3 − (−2), −1 − 5⟩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= ⟨5, −6⟩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5 units right, 6 units down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form is position-independent — only the displacement matters.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Components from a Graph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1: From Points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tail (initial) coordinates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 tip (terminal) coordinates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Subtract: ⟨x_tip − x_tail, y_tip − y_tail⟩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64008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2: From |v| and 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4630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Horizontal: vₓ = |v| cos θ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Vertical:     vᵧ = |v| sin θ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= ⟨|v| cos θ, |v| sin θ⟩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from (1, 2) to (−3, 5)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⟨−3 − 1, 5 − 2⟩ = ⟨−4, 3⟩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= √(16 + 9) = 5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tan⁻¹(3/−4) ≈ −36.9° → Q II: +180° → θ ≈ 143.1°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Addition &amp; Scalar Multiplication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64008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8412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841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⟨a, b⟩ + ⟨c, d⟩ = ⟨a+c, b+d⟩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64008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813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⟨a, b⟩ − ⟨c, d⟩ = ⟨a−c, b−d⟩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03120"/>
            <a:ext cx="64008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214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Scalar 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k⟨a, b⟩ = ⟨ka, kb⟩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548640"/>
            <a:ext cx="4114800" cy="33832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28346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 = ⟨3, −2⟩  and  v = ⟨−1, 5⟩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32918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+ v = ⟨3+(−1), −2+5⟩ = ⟨2, 3⟩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3u − 2v: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3⟨3,−2⟩ − 2⟨−1,5⟩ = ⟨9,−6⟩ − ⟨−2,10⟩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⟨9−(−2), −6−10⟩ = ⟨11, −16⟩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Magnitude and Direction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128016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Magnitude:  |v| = √(a² + b²)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Direction:    θ = tan⁻¹(b / a)  (adjust for quadrant)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393192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468880"/>
            <a:ext cx="43891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v = ⟨−3, 4⟩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= √(9 + 16) = √25 = 5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tan⁻¹(4/−3) ≈ −53.1°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II (a &lt; 0, b &gt; 0): add 180°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 ≈ −53.1° + 180° = 126.9°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 Angle — Quadrant Adjustment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40080"/>
            <a:ext cx="457200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91440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2120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21208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⟨3, 4⟩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0" y="1463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≈ 53.1°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1208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⟨−5, 12⟩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0" y="2240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II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208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≈ 112.6°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1208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⟨−3, −7⟩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0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III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1208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≈ 246.8°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120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⟨4, −2⟩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83680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IV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21208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≈ 333.4°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 Angle of ai + bj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direction angle of v = −5i + 12j.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7315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737360"/>
            <a:ext cx="6949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 to components: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−5i + 12j → ⟨−5, 12⟩    (a = −5, b = 12)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magnitude: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= √(25 + 144) = √169 = 13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direction: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tan⁻¹(12/−5) ≈ −67.4°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 0, b &gt; 0 → Q II: add 180°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 ≈ −67.4° + 180° = 112.6°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Scalar Multiplication — Visual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457200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0" y="914400"/>
            <a:ext cx="35661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1417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|k| &gt; 1 → stretches the vector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&lt; |k| &lt; 1 → shrinks the vector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&lt; 0 → reverses direction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k⟨a, b⟩ = ⟨ka, kb⟩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Magnitude: |kv| = |k| × |v|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Prep — Vector Operations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3, Problem 9: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addition, scalar multiplication, magnitude, and direction angle calculations.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3200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A: Component 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P(3, −1) to Q(−2, 4)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⟨−2−3, 4−(−1)⟩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= ⟨−5, 5⟩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= √(25+25) = √50 = 5√2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tan⁻¹(5/−5)+180° = −45°+180°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 = 135°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64008" cy="3200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B: Operations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u = ⟨2, −3⟩, v = ⟨−1, 4⟩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+ v = ⟨1, 1⟩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2u − 3v =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⟨4,−6⟩ − ⟨−3,12⟩ = ⟨7, −18⟩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|2u − 3v| = √(49+324) = √373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19.3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371600"/>
            <a:ext cx="3200400" cy="3200400"/>
          </a:xfrm>
          <a:prstGeom prst="ellipse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13 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ALEKS Topics  |  Section 8.4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⟨x₂−x₁, y₂−y₁⟩ from points, or v = ⟨|v|cos θ, |v|sin θ⟩ from magnitude/direction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6700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Add/subtract component-wise, scalar multiplication multiplies each component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Magnitude &amp; Direction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4930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= √(a²+b²), θ = tan⁻¹(b/a) adjusted for quadrant (Q II/III: +180°, Q IV: +360°)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for Test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3159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9: component form, vector operations (2u − 3v), magnitude, and direction angle with quadrant adjustment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Unit 3 Review → Test 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13 — Section 8.4</dc:title>
  <dc:subject>PptxGenJS Presentation</dc:subject>
  <dc:creator>Math 130</dc:creator>
  <cp:lastModifiedBy>Math 130</cp:lastModifiedBy>
  <cp:revision>1</cp:revision>
  <dcterms:created xsi:type="dcterms:W3CDTF">2026-03-12T22:38:04Z</dcterms:created>
  <dcterms:modified xsi:type="dcterms:W3CDTF">2026-03-12T22:38:04Z</dcterms:modified>
</cp:coreProperties>
</file>