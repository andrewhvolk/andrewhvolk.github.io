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13547A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3657600" cy="3657600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13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8.4  |  Vectors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130: Advanced Technical Mathematics  |  Unit 3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4206240"/>
            <a:ext cx="2286000" cy="54864"/>
          </a:xfrm>
          <a:prstGeom prst="rect">
            <a:avLst/>
          </a:prstGeom>
          <a:solidFill>
            <a:srgbClr val="F4845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54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1C7293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8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8.4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1828800" cy="45720"/>
          </a:xfrm>
          <a:prstGeom prst="rect">
            <a:avLst/>
          </a:prstGeom>
          <a:solidFill>
            <a:srgbClr val="F4845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8.4 — Topics Covered (5 Skills)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5214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097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 vector in component form given initial and terminal points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0078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45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addition and scalar multiplication: component 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4942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1945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magnitude and direction of a vector given its graph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743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direction angle of a vector in ai + bj 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34670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291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components of a vector given its graph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Vectors and Scalars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71600"/>
            <a:ext cx="3566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Scalar: a quantity with magnitude only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Examples: speed, temperature, mass, time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Represented by a single number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Vector: a quantity with both magnitude AND direction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Examples: velocity, force, displacement, wind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Represented by a directed line segment (arrow)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2801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54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78308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 are written as: v, or with an arrow above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 letters in textbooks: v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Two-point notation: vector from A to 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form: v = &lt;a, b&gt; or v = ai + bj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Magnitude: |v| or ||v||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 in Component Form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84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Form: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initial point P(x₁, y₁) and terminal point Q(x₂, y₂), the vector PQ in component form is &lt;x₂ − x₁, y₂ − y₁&gt;.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components represent horizontal and vertical displacement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form is independent of position (translation invariant)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vectors are equal if and only if they have the same components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P(1, 3) to Q(4, 7) → v = &lt;4−1, 7−3&gt; = &lt;3, 4&gt;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Component Form from Points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component form of the vector with initial point A(−2, 5) and terminal point B(3, −1).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&lt;x₂ − x₁, y₂ − y₁&gt;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&lt;3 − (−2), −1 − 5&gt;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&lt;5, −6&gt;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means: 5 units right and 6 units down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Components of a Vector from Its Graph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vector is shown on a coordinate grid: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Identify the initial point (tail) coordinates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Identify the terminal point (tip/head) coordinates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Subtract: component = &lt;x_tip − x_tail, y_tip − y_tail&gt;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Alternatively, if given magnitude |v| and direction angle θ: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Horizontal component: vₓ = |v| cos θ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Vertical component: vᵧ = |v| sin θ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So v = &lt;|v| cos θ, |v| sin θ&gt;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Components from a Graph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starts at (1, 2) and ends at (−3, 5) on a graph. Find its components.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&lt;−3 − 1, 5 − 2&gt; = &lt;−4, 3&gt;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Magnitude: |v| = √(16 + 9) = √25 = 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Direction: θ = tan⁻¹(3 / −4) ≈ 143.1° (in Q II since x &lt; 0, y &gt; 0)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 Addition and Scalar Multiplication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Addition: &lt;a, b&gt; + &lt;c, d&gt; = &lt;a + c, b + d&gt;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659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Subtraction: &lt;a, b&gt; − &lt;c, d&gt; = &lt;a − c, b − d&gt;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7432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Scalar multiplication: k&lt;a, b&gt; = &lt;ka, kb&gt;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35204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i, j form: (ai + bj) + (ci + dj) = (a+c)i + (b+d)j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43891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meaning: Vector addition is 'tip-to-tail' placement (polygon method) or the diagonal of a parallelogram (parallelogram method).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Vector Addition and Scalar Multiplication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u = &lt;3, −2&gt; and v = &lt;−1, 5&gt;. Find: (a) u + v,  (b) 3u − 2v.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u + v = &lt;3 + (−1), −2 + 5&gt; = &lt;2, 3&gt;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3u = &lt;9, −6&gt;,   2v = &lt;−2, 10&gt;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3u − 2v = &lt;9 − (−2), −6 − 10&gt; = &lt;11, −16&gt;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magnitude of (a): |u + v| = √(4 + 9) = √13 ≈ 3.61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Magnitude and Direction of a Vector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Magnitude: |v| = √(a² + b²)   for v = &lt;a, b&gt;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659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angle: θ = tan⁻¹(b / a)   (adjust for quadrant)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7432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I: θ = tan⁻¹(b/a)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35204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II or III: θ = tan⁻¹(b/a) + 180°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29768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2976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IV: θ = tan⁻¹(b/a) + 360°   (to get positive angle)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516636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direction angle θ is measured counterclockwise from the positive x-axis.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Magnitude and Direction from Graph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on a graph goes from the origin to the point (−3, 4). Find its magnitude and direction angle.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&lt;−3, 4&gt;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Magnitude: |v| = √(9 + 16) = √25 = 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tan⁻¹(4 / −3) = tan⁻¹(−1.333) ≈ −53.1°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the point is in Q II, add 180°: θ = −53.1° + 180° = 126.9°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vector has magnitude 5 and direction ≈ 126.9°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Direction Angle of ai + bj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direction angle of v = −5i + 12j.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&lt;−5, 12&gt; → a = −5, b = 12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|v| = √(25 + 144) = √169 = 13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tan⁻¹(12 / −5) = tan⁻¹(−2.4) ≈ −67.4°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a &lt; 0 and b &gt; 0 (Q II): θ = −67.4° + 180° = 112.6°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angle is approximately 112.6°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Direction Angle (Q III and Q IV)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direction angles of: (a) v = −3i − 7j,  (b) w = 4i − 2j.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v = &lt;−3, −7&gt;: tan⁻¹(−7/−3) = tan⁻¹(2.333) ≈ 66.8°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Q III (both negative): θ = 66.8° + 180° = 246.8°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w = &lt;4, −2&gt;: tan⁻¹(−2/4) = tan⁻¹(−0.5) ≈ −26.6°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Q IV (a &gt; 0, b &lt; 0): θ = −26.6° + 360° = 333.4°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Vectors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84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Vector: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with magnitude 1. The unit vector in the direction of v is: û = v / |v| = &lt;a/|v|, b/|v|&gt;.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unit vectors: i = &lt;1, 0&gt; and j = &lt;0, 1&gt;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vector v = &lt;a, b&gt; can be written as v = ai + bj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a unit vector in the direction of v, divide v by its magnitude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v = &lt;3, 4&gt;, |v| = 5 → û = &lt;3/5, 4/5&gt; = &lt;0.6, 0.8&gt;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 Addition: Geometric Methods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71600"/>
            <a:ext cx="3566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Method (Tip-to-Tail):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the tail of the second vector at the tip of the first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resultant goes from the tail of the first to the tip of the last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adding any number of vectors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 + C: chain them tip-to-tail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2801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54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Parallelogram Method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78308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both vectors at the same initial point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parallelogram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diagonal from the shared point is the resultant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adding exactly two vectors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order doesn't matter (A + B = B + A)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Boating Across a River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boat crosses a 0.4-mile wide river at 8 mph. The current is 6 mph. What is the resultant speed and direction?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 velocity: v_boat = &lt;0, 8&gt; (perpendicular to current, heading across)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velocity: v_current = &lt;6, 0&gt; (downstream)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Resultant: v = &lt;6, 8&gt;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= |v| = √(36 + 64) = √100 = 10 mph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Direction: θ = tan⁻¹(8/6) ≈ 53.1° from the downstream direction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Wind Components for Takeoff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Departing runway 14 with winds from 080° at 18 knots. Find the headwind and crosswind components.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Runway 14 = heading 140°. Wind from 080° → angle between = 60° off nose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Headwind component = 18 cos 60° = 18 × 0.5 = 9 knots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Crosswind component = 18 sin 60° = 18 × 0.866 ≈ 15.6 knots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√(9² + 15.6²) = √(81 + 243) = √324 = 18 ✓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quartering headwind with a strong crosswind component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Lift in a Banked Turn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maintain level flight in a turn, the vertical lift component must equal the aircraft weight. If the bank angle is 60°, what total lift is needed for a 3,200 lb aircraft?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component of lift = L cos θ must equal weight 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cos 60° = 3,200 lb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3,200 / cos 60° = 3,200 / 0.5 = 6,400 lb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aircraft needs twice its weight in total lift at 60° bank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30°: L = 3,200 / cos 30° ≈ 3,695 lb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80°: L = 3,200 / cos 80° ≈ 18,427 lb (extreme!)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Adding Vectors Given Magnitude and Direction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v (magnitude 17, direction 33°) and u (magnitude 24, direction 95°).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&lt;17 cos 33°, 17 sin 33°&gt; = &lt;14.26, 9.26&gt;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= &lt;24 cos 95°, 24 sin 95°&gt; = &lt;−2.09, 23.91&gt;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+ u = &lt;14.26 + (−2.09), 9.26 + 23.91&gt; = &lt;12.17, 33.17&gt;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= √(148.1 + 1100.2) = √1248.3 ≈ 35.3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= tan⁻¹(33.17 / 12.17) ≈ 69.8° (Q I)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Equilibrium of Forces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is in equilibrium when the net force is zero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means: the sum of all horizontal components = 0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and the sum of all vertical components = 0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force F at angle θ: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Horizontal: Fₓ = F cos θ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Vertical: Fᵧ = F sin θ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applications: rope tension, inclined planes, suspension systems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set up equations ΣFₓ = 0 and ΣFᵧ = 0, then solve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Equilibrium: Rope Tension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180-lb climber is held by a rope at 60° from horizontal, pushing against the cliff with force F. Find the rope tension T and force F.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Equilibrium: sum of forces = 0 in both directions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Vertical: T sin 60° = 180 → T = 180 / sin 60° = 180 / 0.866 ≈ 207.8 lb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Horizontal: F = T cos 60° = 207.8 × 0.5 ≈ 103.9 lb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rope tension is about 208 lb; the climber pushes with about 104 lb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Ship Navigation with Current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ship moves at 17.5 mph heading 26.3° N of E, but actually moves 19.3 mph at 33.7° N of E. Find the current velocity.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velocity: v_s = &lt;17.5 cos 26.3°, 17.5 sin 26.3°&gt; = &lt;15.68, 7.76&gt;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velocity: v_a = &lt;19.3 cos 33.7°, 19.3 sin 33.7°&gt; = &lt;16.06, 10.71&gt;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= v_a − v_s = &lt;16.06 − 15.68, 10.71 − 7.76&gt; = &lt;0.38, 2.95&gt;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speed = √(0.14 + 8.70) = √8.84 ≈ 2.97 mph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direction = tan⁻¹(2.95/0.38) ≈ 82.7° N of E (nearly due north)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3547A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13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45720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 have both magnitude and direction (unlike scalars)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form: v = &lt;a, b&gt; = ai + bj, found from initial/terminal points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Addition/subtraction: add/subtract corresponding components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Scalar multiplication: multiply each component by the scalar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Magnitude: |v| = √(a² + b²)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angle: θ = tan⁻¹(b/a), adjusted for quadrant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wind, current, navigation, forces, equilibrium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ALEKS topics total for this module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13: Section 8.4</dc:title>
  <dc:subject>PptxGenJS Presentation</dc:subject>
  <dc:creator>Math 130</dc:creator>
  <cp:lastModifiedBy>Math 130</cp:lastModifiedBy>
  <cp:revision>1</cp:revision>
  <dcterms:created xsi:type="dcterms:W3CDTF">2026-03-11T16:41:23Z</dcterms:created>
  <dcterms:modified xsi:type="dcterms:W3CDTF">2026-03-11T16:41:23Z</dcterms:modified>
</cp:coreProperties>
</file>