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8"/>
    <p:sldId id="266" r:id="rId12"/>
    <p:sldId id="263" r:id="rId9"/>
    <p:sldId id="264" r:id="rId10"/>
    <p:sldId id="265" r:id="rId11"/>
    <p:sldId id="261" r:id="rId7"/>
    <p:sldId id="269" r:id="rId20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22860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13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8.4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4400" b="1">
                <a:solidFill>
                  <a:srgbClr val="FFFFFF"/>
                </a:solidFill>
                <a:latin typeface="Georgia"/>
              </a:rPr>
              <a:t>Why Vectors?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200">
                <a:solidFill>
                  <a:srgbClr val="0891B2"/>
                </a:solidFill>
                <a:latin typeface="Calibri"/>
              </a:rPr>
              <a:t>Many real-world quantities need both size AND direction.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800">
                <a:solidFill>
                  <a:srgbClr val="FFFFFF"/>
                </a:solidFill>
                <a:latin typeface="Calibri"/>
              </a:rPr>
              <a:t>•  Velocity — wind at 15 mph to the north-east</a:t>
            </a:r>
            <a:endParaRPr lang="en-US" sz="1400" dirty="0"/>
          </a:p>
          <a:p>
            <a:r>
              <a:rPr sz="1800">
                <a:solidFill>
                  <a:srgbClr val="FFFFFF"/>
                </a:solidFill>
                <a:latin typeface="Calibri"/>
              </a:rPr>
              <a:t>•  Force — 50 N pulling down at 30°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•  Displacement — walking 3 blocks east, then 2 north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 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Scalars (speed, mass, temperature) need only size.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13 — Skills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2471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24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051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vector in component form from initial/terminal points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37944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76479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addition and scalar multiplication: component form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780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magnitude and direction of a vector from its graph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264408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31912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direction angle of a vector in ai + bj form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90448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600">
                <a:solidFill>
                  <a:srgbClr val="1E3A5F"/>
                </a:solidFill>
                <a:latin typeface="Calibri"/>
              </a:rPr>
              <a:t>(Supplementary) Finding the components of a vector given magnitude and angle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Vectors and Scalars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1828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only (a single number)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speed, temperature, mass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14400"/>
            <a:ext cx="64008" cy="1828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83480" y="14173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AND direction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velocity, force, displacement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Notation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352044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sz="1600">
                <a:solidFill>
                  <a:srgbClr val="1E3A5F"/>
                </a:solidFill>
                <a:latin typeface="Calibri"/>
              </a:rPr>
              <a:t>Component form:  v = ⟨a, b⟩  =  a i + b j</a:t>
            </a:r>
            <a:endParaRPr lang="en-US" sz="1500" dirty="0"/>
          </a:p>
          <a:p>
            <a:r>
              <a:rPr sz="1600">
                <a:solidFill>
                  <a:srgbClr val="1E3A5F"/>
                </a:solidFill>
                <a:latin typeface="Calibri"/>
              </a:rPr>
              <a:t>Unit vectors:  i = ⟨1, 0⟩,  j = ⟨0, 1⟩</a:t>
            </a:r>
          </a:p>
          <a:p>
            <a:r>
              <a:rPr sz="1600">
                <a:solidFill>
                  <a:srgbClr val="1E3A5F"/>
                </a:solidFill>
                <a:latin typeface="Calibri"/>
              </a:rPr>
              <a:t>Zero vector:  0 = ⟨0, 0⟩  (no magnitude, no direction)</a:t>
            </a:r>
          </a:p>
          <a:p>
            <a:r>
              <a:rPr sz="1600">
                <a:solidFill>
                  <a:srgbClr val="1E3A5F"/>
                </a:solidFill>
                <a:latin typeface="Calibri"/>
              </a:rPr>
              <a:t>Magnitude:  |v| = √(a² + b²)     Direction angle:  θ  (CCW from +x)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Writing a Vector in Component Form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731520"/>
          </a:xfrm>
          <a:prstGeom prst="rect">
            <a:avLst/>
          </a:prstGeom>
          <a:solidFill>
            <a:srgbClr val="0F2B4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9601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Formula: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⟨x₂ − x₁, y₂ − y₁⟩  (terminal minus initial)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20240"/>
            <a:ext cx="43891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057400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A(−2, 5) to B(3, −1)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⟨3 − (−2), −1 − 5⟩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 = ⟨5, −6⟩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Meaning: 5 units right, 6 units down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form is position-independent — only the displacement matters.</a:t>
            </a:r>
            <a:endParaRPr lang="en-US" sz="1500" dirty="0"/>
          </a:p>
        </p:txBody>
      </p:sp>
      <p:pic>
        <p:nvPicPr>
          <p:cNvPr id="8" name="Picture 7" descr="s_component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731520"/>
            <a:ext cx="393192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3200" b="1">
                <a:solidFill>
                  <a:srgbClr val="1E3A5F"/>
                </a:solidFill>
                <a:latin typeface="Georgia"/>
              </a:rPr>
              <a:t>Components from |v| and 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20116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000" b="1">
                <a:solidFill>
                  <a:srgbClr val="0891B2"/>
                </a:solidFill>
                <a:latin typeface="Calibri"/>
              </a:rPr>
              <a:t>Given |v| and θ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700">
                <a:solidFill>
                  <a:srgbClr val="1E3A5F"/>
                </a:solidFill>
                <a:latin typeface="Calibri"/>
              </a:rPr>
              <a:t>vₓ = |v| cos θ</a:t>
            </a:r>
            <a:endParaRPr lang="en-US" sz="1400" dirty="0"/>
          </a:p>
          <a:p>
            <a:r>
              <a:rPr sz="1700">
                <a:solidFill>
                  <a:srgbClr val="1E3A5F"/>
                </a:solidFill>
                <a:latin typeface="Calibri"/>
              </a:rPr>
              <a:t>vᵧ = |v| sin θ</a:t>
            </a:r>
          </a:p>
          <a:p>
            <a:r>
              <a:rPr sz="1700">
                <a:solidFill>
                  <a:srgbClr val="1E3A5F"/>
                </a:solidFill>
                <a:latin typeface="Calibri"/>
              </a:rPr>
              <a:t>v = ⟨|v| cos θ, |v| sin θ⟩</a:t>
            </a:r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291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sz="1800" b="1">
                <a:solidFill>
                  <a:srgbClr val="F97316"/>
                </a:solidFill>
                <a:latin typeface="Calibri"/>
              </a:rPr>
              <a:t>Example:  |v| = 5,  θ = 53.1°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7033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sz="1600">
                <a:solidFill>
                  <a:srgbClr val="1E3A5F"/>
                </a:solidFill>
                <a:latin typeface="Calibri"/>
              </a:rPr>
              <a:t>vₓ = 5 cos 53.1° ≈ 3</a:t>
            </a:r>
            <a:endParaRPr lang="en-US" sz="1500" dirty="0"/>
          </a:p>
          <a:p>
            <a:r>
              <a:rPr sz="1600">
                <a:solidFill>
                  <a:srgbClr val="1E3A5F"/>
                </a:solidFill>
                <a:latin typeface="Calibri"/>
              </a:rPr>
              <a:t>vᵧ = 5 sin 53.1° ≈ 4</a:t>
            </a:r>
          </a:p>
          <a:p>
            <a:r>
              <a:rPr sz="1600">
                <a:solidFill>
                  <a:srgbClr val="1E3A5F"/>
                </a:solidFill>
                <a:latin typeface="Calibri"/>
              </a:rPr>
              <a:t>v = ⟨3, 4⟩</a:t>
            </a:r>
          </a:p>
        </p:txBody>
      </p:sp>
      <p:pic>
        <p:nvPicPr>
          <p:cNvPr id="14" name="Picture 13" descr="s_components_from_mag_th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000" y="914400"/>
            <a:ext cx="2468880" cy="21255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Addition &amp; Scalar Multiplication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411480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822960"/>
            <a:ext cx="64008" cy="5029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841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20240" y="841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⟨a, b⟩ + ⟨c, d⟩ = ⟨a+c, b+d⟩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411480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64008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813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14813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⟨a, b⟩ − ⟨c, d⟩ = ⟨a−c, b−d⟩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411480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103120"/>
            <a:ext cx="64008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21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Scalar ×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2024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k⟨a, b⟩ = ⟨ka, kb⟩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283464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 = ⟨3, −2⟩  and  v = ⟨−1, 5⟩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32918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+ v = ⟨3+(−1), −2+5⟩ = ⟨2, 3⟩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3u − 2v: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3⟨3,−2⟩ − 2⟨−1,5⟩ = ⟨9,−6⟩ − ⟨−2,10⟩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⟨9−(−2), −6−10⟩ = ⟨11, −16⟩</a:t>
            </a:r>
            <a:endParaRPr lang="en-US" sz="1400" dirty="0"/>
          </a:p>
        </p:txBody>
      </p:sp>
      <p:pic>
        <p:nvPicPr>
          <p:cNvPr id="19" name="Picture 18" descr="s_vector_ad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548640"/>
            <a:ext cx="41148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Magnitude and Direction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1280160"/>
          </a:xfrm>
          <a:prstGeom prst="rect">
            <a:avLst/>
          </a:prstGeom>
          <a:solidFill>
            <a:srgbClr val="0F2B4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Magnitude:  |v| = √(a² + b²)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Direction:    θ = tan⁻¹(b / a)  (adjust for quadrant)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468880"/>
            <a:ext cx="4389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v = ⟨−3, 4⟩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9718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|v| = √(9 + 16) = √25 = 5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tan⁻¹(4/−3) ≈ −53.1°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 (a &lt; 0, b &gt; 0): add 180°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θ ≈ −53.1° + 180° = 126.9°</a:t>
            </a:r>
            <a:endParaRPr lang="en-US" sz="1500" dirty="0"/>
          </a:p>
        </p:txBody>
      </p:sp>
      <p:pic>
        <p:nvPicPr>
          <p:cNvPr id="9" name="Picture 8" descr="s_magnitude_dir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731520"/>
            <a:ext cx="39319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 Angle — Quadrant Adjustment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5029200" y="914400"/>
            <a:ext cx="3840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21208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212080" y="1463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⟨3, 4⟩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83680" y="14630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21208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≈ 53.1°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212080" y="22402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⟨−5, 12⟩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583680" y="2240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21208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≈ 112.6°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212080" y="3017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⟨−3, −7⟩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83680" y="3017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III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21208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≈ 246.8°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212080" y="3794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⟨4, −2⟩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583680" y="37947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IV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21208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≈ 333.4°</a:t>
            </a:r>
            <a:endParaRPr lang="en-US" sz="1400" dirty="0"/>
          </a:p>
        </p:txBody>
      </p:sp>
      <p:pic>
        <p:nvPicPr>
          <p:cNvPr id="18" name="Picture 17" descr="s_quadrant_arrow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640080"/>
            <a:ext cx="4572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 Angle of ai + bj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direction angle of v = −5i + 12j.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600200"/>
            <a:ext cx="73152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737360"/>
            <a:ext cx="69494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Convert to components: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−5i + 12j → ⟨−5, 12⟩    (a = −5, b = 12)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magnitude: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|v| = √(25 + 144) = √169 = 13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direction: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tan⁻¹(12/−5) ≈ −67.4°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&lt; 0, b &gt; 0 → Q II: add 180°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θ ≈ −67.4° + 180° = 112.6°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Scalar Multiplication — Visual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303520" y="914400"/>
            <a:ext cx="35661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48640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1417320"/>
            <a:ext cx="32004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|k| &gt; 1 → stretches the vector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|k| &lt; 1 → shrinks the vector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&lt; 0 → reverses direction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k⟨a, b⟩ = ⟨ka, kb⟩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Magnitude: |kv| = |k| × |v|</a:t>
            </a:r>
            <a:endParaRPr lang="en-US" sz="1400" dirty="0"/>
          </a:p>
        </p:txBody>
      </p:sp>
      <p:pic>
        <p:nvPicPr>
          <p:cNvPr id="7" name="Picture 6" descr="s_scalar_multipl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731520"/>
            <a:ext cx="45720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Vector Operations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77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9: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addition, scalar multiplication, magnitude, and direction angle calculations.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64008" cy="3200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A: Component form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P(3, −1) to Q(−2, 4)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⟨−2−3, 4−(−1)⟩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 = ⟨−5, 5⟩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|v| = √(25+25) = √50 = 5√2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tan⁻¹(5/−5)+180° = −45°+180°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θ = 135°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463040"/>
            <a:ext cx="64008" cy="32004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B: Operations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u = ⟨2, −3⟩, v = ⟨−1, 4⟩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+ v = ⟨1, 1⟩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2u − 3v =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⟨4,−6⟩ − ⟨−3,12⟩ = ⟨7, −18⟩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|2u − 3v| = √(49+324) = √373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19.3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-13716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13 Summary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ALEKS Topics  |  Section 8.4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6858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4708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⟨x₂−x₁, y₂−y₁⟩ from points, or v = ⟨|v|cos θ, |v|sin θ⟩ from magnitude/direction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7680960" cy="6858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67004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Add/subtract component-wise, scalar multiplication multiplies each component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200400"/>
            <a:ext cx="7680960" cy="6858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Magnitude &amp; Direction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49300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|v| = √(a²+b²), θ = tan⁻¹(b/a) adjusted for quadrant (Q II/III: +180°, Q IV: +360°)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7680960" cy="6858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41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for Test 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431596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9: component form, vector operations (2u − 3v), magnitude, and direction angle with quadrant adjustment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760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0" dirty="0" b="1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3 Review → Test 3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3200" b="1">
                <a:solidFill>
                  <a:srgbClr val="1E3A5F"/>
                </a:solidFill>
                <a:latin typeface="Georgia"/>
              </a:rPr>
              <a:t>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0891B2"/>
            </a:solidFill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960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sz="1500">
                <a:solidFill>
                  <a:srgbClr val="1E3A5F"/>
                </a:solidFill>
                <a:latin typeface="Calibri"/>
              </a:rPr>
              <a:t>Vector v goes from P(−4, −2) to Q(2, 1).  Find:</a:t>
            </a:r>
            <a:endParaRPr lang="en-US" sz="1400" dirty="0"/>
          </a:p>
          <a:p>
            <a:r>
              <a:rPr sz="1500">
                <a:solidFill>
                  <a:srgbClr val="1E3A5F"/>
                </a:solidFill>
                <a:latin typeface="Calibri"/>
              </a:rPr>
              <a:t>(a) component form   (b) magnitude   (c) direction angle</a:t>
            </a:r>
          </a:p>
        </p:txBody>
      </p:sp>
      <p:sp>
        <p:nvSpPr>
          <p:cNvPr id="6" name="Shape 3"/>
          <p:cNvSpPr/>
          <p:nvPr/>
        </p:nvSpPr>
        <p:spPr>
          <a:xfrm>
            <a:off x="457200" y="1920240"/>
            <a:ext cx="43891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057400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sz="1600">
                <a:solidFill>
                  <a:srgbClr val="1E3A5F"/>
                </a:solidFill>
                <a:latin typeface="Calibri"/>
              </a:rPr>
              <a:t>(a)  v = ⟨2 − (−4), 1 − (−2)⟩ = ⟨6, 3⟩</a:t>
            </a:r>
            <a:endParaRPr lang="en-US" sz="1500" dirty="0"/>
          </a:p>
          <a:p>
            <a:r>
              <a:rPr sz="1600">
                <a:solidFill>
                  <a:srgbClr val="1E3A5F"/>
                </a:solidFill>
                <a:latin typeface="Calibri"/>
              </a:rPr>
              <a:t>(b)  |v| = √(36 + 9) = √45 = 3√5 ≈ 6.71</a:t>
            </a:r>
          </a:p>
          <a:p>
            <a:r>
              <a:rPr sz="1600">
                <a:solidFill>
                  <a:srgbClr val="1E3A5F"/>
                </a:solidFill>
                <a:latin typeface="Calibri"/>
              </a:rPr>
              <a:t>(c)  θ = tan⁻¹(3 / 6) ≈ 26.57°   (Q I, no adjustment)</a:t>
            </a:r>
          </a:p>
        </p:txBody>
      </p:sp>
      <p:pic>
        <p:nvPicPr>
          <p:cNvPr id="8" name="Picture 7" descr="s_you_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31520"/>
            <a:ext cx="3931920" cy="3383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Section 8.4</dc:title>
  <dc:subject>PptxGenJS Presentation</dc:subject>
  <dc:creator>Math 130</dc:creator>
  <cp:lastModifiedBy>Math 130</cp:lastModifiedBy>
  <cp:revision>1</cp:revision>
  <dcterms:created xsi:type="dcterms:W3CDTF">2026-03-12T22:38:04Z</dcterms:created>
  <dcterms:modified xsi:type="dcterms:W3CDTF">2026-03-12T22:38:04Z</dcterms:modified>
</cp:coreProperties>
</file>