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1" d="100"/>
          <a:sy n="131" d="100"/>
        </p:scale>
        <p:origin x="10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Planned 50-minute class with optional time at the end. Continue Wednesday’s Section 2.5 introduction. Today concentrates on line construction, followed by circle repair and cumulative retrieval. ALEKS exports generated September 18, 2026 at 2:26 PM. Sources: C:/Users/andre/Downloads/itemsReport (6).xlsx, class_progress rows 98–128; C:/Users/andre/Downloads/report (2).xlsx, class_progress I5:J43. All 39 listed students retained, with 39 unique IDs. Topic percentages are ALEKS Progress values rounded by the export, not test scores. The two-point line topic appears in two modules, so do not count it twice. Student-level averages reconcile with the module summary: Sections 2.1/2.2/2.4 = 85.0613%, 25 of 39 complete; combined 2.5/3.1 = 27.3504%, 1 of 39 complete. The combined module includes excluded 3.1 topics and is not a measure of Test 1 readiness. No student names or IDs appear in this deck. Instructional priority: equations parallel/perpendicular through a point = 5% progress; slopes from standard form = 31%; slopes from slope-intercept form = 38%; circle from diameter endpoints = 64%. The low current-module progress is not evidence that students failed an assessment. User’s updated plan excludes all Section 3.1 from Test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Have students divide their notes into Lines, Circles, and Mixed Review. In each section leave space for a method, one example, and one correction. This organizer replaces one minute of the previous optional ALEKS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Source: user instruction in this task and Assignments_ MATH130_ Advanced Technical Mathematics (002).pdf, pages 1–3. Explain that ALEKS 3.1 remains due even though Test 1 stops before it. Do not invent calculator, notes, or collaboration rules for the take-home quiz.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minutes. Diagnose standard-form slope and point-slope recall before the main model. If most students miss problem 1, spend another minute solving for y and shorten the final optional ALEKS block. Answers are on the following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1: y = −(3/2)x + 6. 2: negative reciprocal of −2 is 1/2. 3: slope (−7−5)/(4−(−2)) = −12/6 = −2; y−5 = −2(x+2); y = −2x+1. Substitute both points. Sources: original instructor examples informed by ALEKS rows 115–116 and 124–126.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minutes. Parallel nonvertical lines have the same slope. Distinct parallel lines have different intercepts. For two nonzero finite slopes, perpendicular slopes multiply to −1. Horizontal and vertical lines are the special case addressed later. Explain why the new intercept must come from the new point. ALEKS rows 124–125: 38% and 31% progress.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minutes. Model one column, then ask students to supply the next step in the other. Rewrite as y = −(3/2)x + 6. Both new lines must pass through P; neither inherits b = 6. Parallel result y = −(3/2)x + 2. Perpendicular result y = (2/3)x − 7/3, equivalently 2x−3y=7. Check the point and slope relation separately. ALEKS row 126 reports 5% progress and 26% ready to learn, so scaffold the prerequisite slope step rather than assuming readiness.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minutes. Give independent work before pair comparison. Require students to write given slope, required slope, point-slope form, and simplified equation. Support: solve 2x−3y=6 for y first. Extension: express both final lines in standard form. Answers follow.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Given slope = 2/3. Parallel equation in standard form is 2x−3y=−6. Perpendicular equation in standard form is 3x+2y=17. Ask students to correct one error in a different color.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Student chose an incorrect intercept. The slope condition is satisfied, but substitution gives −1 = 3, false. Correct setup y+1 = (1/2)(x−4), so y=(1/2)x−3. Have students supply this correction orally; keep the prompt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Horizontal y=c and vertical x=d are perpendicular. Through (3,−2), parallel to x=5 is x=3, perpendicular is y=−2. Through (3,−2), parallel to y=5 is y=−2, perpendicular is x=3. Do not apply −1/m when m=0 or undefined. Ask students to describe the directions on an imagined coordinate plane.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Students annotate this reference with their own example and one error to avoid. Reuse it for the exit ticket. For nonvertical parallel lines, equal slopes alone may also describe the same line; distinct parallel lines have different intercepts. Perpendicular reciprocal rule applies to nonzero finite slopes.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Introduce the general formula before the diameter example. Explain that h and k locate the center and r is a distance. When the endpoints of a diameter are given, the center is the midpoint, and the radius is half the endpoint-to-endpoint distance. Using the center and one endpoint avoids a separate square-root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minutes. ALEKS row 121 is 64% progress, the lowest circle-construction topic. First find the midpoint. Then find radius squared using the center and one endpoint. Center (2,4), radius squared 16+9=25. The diameter is 10 and the radius is 5. Verify both endpoints in the equation. Relate this to the earlier distance and midpoint formulas.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minutes. Both cases address lower-progress circle topics, rows 120–121. A: center to point gives radius squared 25. B: center (2,1), radius squared 25. For students ready early, verify the given point or endpoints in each final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A radius vector is (3,4). B midpoint is (2,1) and center-to-endpoint vector is (3,4). Both have radius 5, but the centers differ. Avoid using diameter squared as the right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page, integrated into the existing four-minute cumulative practice block rather than an additional timed activity. Keep this visible before students begin, then advance to the questions. Earlier quadratic equation solving stays in scope; this page does not introduce Section 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minutes. Keep earlier equation-solving skills in scope without introducing Section 3.1 quadratic-function analysis. The student report gives 77.7% mean progress in 1.1/1.2/1.4, with 10 of 39 below 50%; use a short retrieval block rather than assume full retention. This is progress, not exam performance. No extrema, vertex form, quadratic-function graphing or regression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1: factor (2x+1)(x−3), roots −1/2 and 3. 2: numerator 2(x+1)+3(x−1)=5x−1, denominator (x−1)(x+1), original restrictions x≠1,−1. 3: set the other coordinate equal to zero. These are short retrieval items, not a complete test blueprint.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Students write short responses in their own notes. These prompts organize corrections without revealing the exit-ticket answers. Count this as the fourth added minute, using all of the previous optional ALEKS block. Total planned class time is now 50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minutes. Collect before displaying the next slide. 1: given slope −2, perpendicular slope 1/2. y−3=(1/2)(x+2), so y=(1/2)x+4. 2: center (2,1), radius squared 13, equation (x−2)^2+(y−1)^2=13. Check slope and point separately for item 1, midpoint and endpoint substitution for item 2. Use the responses to choose Monday’s opening repair, rather than assign a readiness threshold unsupported by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close. Total planned pacing is 50 minutes, including four minutes for the roadmap and notes pages. Use ALEKS in class only if time remains. Help students who could find the slope but could not build an equation; extend others with circle diameter-endpoint problems. The supplied combined ALEKS 2.5/3.1 deadline remains unchanged. Section 3.1 may require separate homework support, but do not present it as Test 1 material. Source: user request and attached Canvas assignments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424A19-7DD3-4ED2-9AFA-EF9A855BD109}"/>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Lines and coordinate review</a:t>
            </a:r>
          </a:p>
        </p:txBody>
      </p:sp>
      <p:sp>
        <p:nvSpPr>
          <p:cNvPr id="2" name="Rectangle 1">
            <a:extLst>
              <a:ext uri="{FF2B5EF4-FFF2-40B4-BE49-F238E27FC236}">
                <a16:creationId xmlns:a16="http://schemas.microsoft.com/office/drawing/2014/main" id="{2DF18D8F-CD05-47D5-A23D-16712A4FD05C}"/>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Friday, September 18</a:t>
            </a:r>
          </a:p>
        </p:txBody>
      </p:sp>
      <p:sp>
        <p:nvSpPr>
          <p:cNvPr id="3" name="Rectangle 2">
            <a:extLst>
              <a:ext uri="{FF2B5EF4-FFF2-40B4-BE49-F238E27FC236}">
                <a16:creationId xmlns:a16="http://schemas.microsoft.com/office/drawing/2014/main" id="{9BA02614-E4CB-4BFA-A6DC-4219BA2A1DCD}"/>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a:t>
            </a:r>
          </a:p>
        </p:txBody>
      </p:sp>
      <p:sp>
        <p:nvSpPr>
          <p:cNvPr id="4" name="Rectangle 3">
            <a:extLst>
              <a:ext uri="{FF2B5EF4-FFF2-40B4-BE49-F238E27FC236}">
                <a16:creationId xmlns:a16="http://schemas.microsoft.com/office/drawing/2014/main" id="{108BBEA7-7A63-49CA-8AB3-52C80A482BFA}"/>
              </a:ext>
            </a:extLst>
          </p:cNvPr>
          <p:cNvSpPr>
            <a:spLocks noGrp="1"/>
          </p:cNvSpPr>
          <p:nvPr/>
        </p:nvSpPr>
        <p:spPr>
          <a:xfrm>
            <a:off x="762000" y="2238375"/>
            <a:ext cx="10668000" cy="762000"/>
          </a:xfrm>
          <a:prstGeom prst="rect">
            <a:avLst/>
          </a:prstGeom>
          <a:noFill/>
          <a:ln w="0">
            <a:noFill/>
          </a:ln>
        </p:spPr>
        <p:txBody>
          <a:bodyPr wrap="square" lIns="0" tIns="0" rIns="0" bIns="0" anchor="ctr">
            <a:noAutofit/>
          </a:bodyPr>
          <a:lstStyle/>
          <a:p>
            <a:pPr>
              <a:defRPr sz="4050" b="1">
                <a:solidFill>
                  <a:srgbClr val="1777B4"/>
                </a:solidFill>
                <a:latin typeface="Arial"/>
                <a:ea typeface="Arial"/>
                <a:cs typeface="Arial"/>
              </a:defRPr>
            </a:pPr>
            <a:r>
              <a:rPr sz="4050" b="1">
                <a:solidFill>
                  <a:srgbClr val="1777B4"/>
                </a:solidFill>
                <a:latin typeface="Arial"/>
                <a:ea typeface="Arial"/>
                <a:cs typeface="Arial"/>
              </a:rPr>
              <a:t>Sections 2.4 and 2.5</a:t>
            </a:r>
          </a:p>
        </p:txBody>
      </p:sp>
      <p:sp>
        <p:nvSpPr>
          <p:cNvPr id="5" name="Rectangle 4">
            <a:extLst>
              <a:ext uri="{FF2B5EF4-FFF2-40B4-BE49-F238E27FC236}">
                <a16:creationId xmlns:a16="http://schemas.microsoft.com/office/drawing/2014/main" id="{B3B43E36-6C55-465F-9C1D-F7F37648E8CB}"/>
              </a:ext>
            </a:extLst>
          </p:cNvPr>
          <p:cNvSpPr>
            <a:spLocks noGrp="1"/>
          </p:cNvSpPr>
          <p:nvPr/>
        </p:nvSpPr>
        <p:spPr>
          <a:xfrm>
            <a:off x="762000" y="3362325"/>
            <a:ext cx="10668000" cy="60960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Parallel and perpendicular line equations</a:t>
            </a:r>
          </a:p>
        </p:txBody>
      </p:sp>
      <p:sp>
        <p:nvSpPr>
          <p:cNvPr id="6" name="Rectangle 5">
            <a:extLst>
              <a:ext uri="{FF2B5EF4-FFF2-40B4-BE49-F238E27FC236}">
                <a16:creationId xmlns:a16="http://schemas.microsoft.com/office/drawing/2014/main" id="{4078C6B2-3D41-429A-B744-E4F86E4803BD}"/>
              </a:ext>
            </a:extLst>
          </p:cNvPr>
          <p:cNvSpPr>
            <a:spLocks noGrp="1"/>
          </p:cNvSpPr>
          <p:nvPr/>
        </p:nvSpPr>
        <p:spPr>
          <a:xfrm>
            <a:off x="762000" y="4086225"/>
            <a:ext cx="10668000" cy="60960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Circle equations from points and diameters</a:t>
            </a:r>
          </a:p>
        </p:txBody>
      </p:sp>
      <p:sp>
        <p:nvSpPr>
          <p:cNvPr id="7" name="Rectangle 6">
            <a:extLst>
              <a:ext uri="{FF2B5EF4-FFF2-40B4-BE49-F238E27FC236}">
                <a16:creationId xmlns:a16="http://schemas.microsoft.com/office/drawing/2014/main" id="{4237E9A6-D8B7-43C7-86D2-9E9CEC54FA6C}"/>
              </a:ext>
            </a:extLst>
          </p:cNvPr>
          <p:cNvSpPr>
            <a:spLocks noGrp="1"/>
          </p:cNvSpPr>
          <p:nvPr/>
        </p:nvSpPr>
        <p:spPr>
          <a:xfrm>
            <a:off x="762000" y="4810125"/>
            <a:ext cx="10668000" cy="60960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Earlier algebra skills for Test 1</a:t>
            </a:r>
          </a:p>
        </p:txBody>
      </p:sp>
    </p:spTree>
    <p:extLst>
      <p:ext uri="{BB962C8B-B14F-4D97-AF65-F5344CB8AC3E}">
        <p14:creationId xmlns:p14="http://schemas.microsoft.com/office/powerpoint/2010/main" val="97619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EF3E87-28CF-4533-8ABC-393F4CEA116E}"/>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Today’s roadmap</a:t>
            </a:r>
          </a:p>
        </p:txBody>
      </p:sp>
      <p:sp>
        <p:nvSpPr>
          <p:cNvPr id="2" name="Rectangle 1">
            <a:extLst>
              <a:ext uri="{FF2B5EF4-FFF2-40B4-BE49-F238E27FC236}">
                <a16:creationId xmlns:a16="http://schemas.microsoft.com/office/drawing/2014/main" id="{FB749291-93B1-4346-A3AA-84063F2D0CAA}"/>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Three headings for your class notes</a:t>
            </a:r>
          </a:p>
        </p:txBody>
      </p:sp>
      <p:sp>
        <p:nvSpPr>
          <p:cNvPr id="3" name="Rectangle 2">
            <a:extLst>
              <a:ext uri="{FF2B5EF4-FFF2-40B4-BE49-F238E27FC236}">
                <a16:creationId xmlns:a16="http://schemas.microsoft.com/office/drawing/2014/main" id="{BF57D764-85F2-4E39-AEF8-C9029D8F470A}"/>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2</a:t>
            </a:r>
          </a:p>
        </p:txBody>
      </p:sp>
      <p:sp>
        <p:nvSpPr>
          <p:cNvPr id="4" name="Rectangle 3">
            <a:extLst>
              <a:ext uri="{FF2B5EF4-FFF2-40B4-BE49-F238E27FC236}">
                <a16:creationId xmlns:a16="http://schemas.microsoft.com/office/drawing/2014/main" id="{AED4E7F1-A65F-4183-A887-2AE36A484506}"/>
              </a:ext>
            </a:extLst>
          </p:cNvPr>
          <p:cNvSpPr>
            <a:spLocks noGrp="1"/>
          </p:cNvSpPr>
          <p:nvPr/>
        </p:nvSpPr>
        <p:spPr>
          <a:xfrm>
            <a:off x="666750" y="1809750"/>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1</a:t>
            </a:r>
          </a:p>
        </p:txBody>
      </p:sp>
      <p:sp>
        <p:nvSpPr>
          <p:cNvPr id="5" name="Rectangle 4">
            <a:extLst>
              <a:ext uri="{FF2B5EF4-FFF2-40B4-BE49-F238E27FC236}">
                <a16:creationId xmlns:a16="http://schemas.microsoft.com/office/drawing/2014/main" id="{76320C10-2393-4CD1-B0CB-1F765148BF7E}"/>
              </a:ext>
            </a:extLst>
          </p:cNvPr>
          <p:cNvSpPr>
            <a:spLocks noGrp="1"/>
          </p:cNvSpPr>
          <p:nvPr/>
        </p:nvSpPr>
        <p:spPr>
          <a:xfrm>
            <a:off x="1200150" y="1809750"/>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LINES</a:t>
            </a:r>
          </a:p>
        </p:txBody>
      </p:sp>
      <p:sp>
        <p:nvSpPr>
          <p:cNvPr id="6" name="Rectangle 5">
            <a:extLst>
              <a:ext uri="{FF2B5EF4-FFF2-40B4-BE49-F238E27FC236}">
                <a16:creationId xmlns:a16="http://schemas.microsoft.com/office/drawing/2014/main" id="{528EA62E-B55F-4A2F-80F2-7B80E04EAC8D}"/>
              </a:ext>
            </a:extLst>
          </p:cNvPr>
          <p:cNvSpPr>
            <a:spLocks noGrp="1"/>
          </p:cNvSpPr>
          <p:nvPr/>
        </p:nvSpPr>
        <p:spPr>
          <a:xfrm>
            <a:off x="1200150" y="2190750"/>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slope + point  →  equation  →  check</a:t>
            </a:r>
          </a:p>
        </p:txBody>
      </p:sp>
      <p:sp>
        <p:nvSpPr>
          <p:cNvPr id="7" name="Rectangle 6">
            <a:extLst>
              <a:ext uri="{FF2B5EF4-FFF2-40B4-BE49-F238E27FC236}">
                <a16:creationId xmlns:a16="http://schemas.microsoft.com/office/drawing/2014/main" id="{38409D57-F47D-4773-8A47-3DFC0FEF2299}"/>
              </a:ext>
            </a:extLst>
          </p:cNvPr>
          <p:cNvSpPr>
            <a:spLocks noGrp="1"/>
          </p:cNvSpPr>
          <p:nvPr/>
        </p:nvSpPr>
        <p:spPr>
          <a:xfrm>
            <a:off x="666750" y="3095625"/>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2</a:t>
            </a:r>
          </a:p>
        </p:txBody>
      </p:sp>
      <p:sp>
        <p:nvSpPr>
          <p:cNvPr id="8" name="Rectangle 7">
            <a:extLst>
              <a:ext uri="{FF2B5EF4-FFF2-40B4-BE49-F238E27FC236}">
                <a16:creationId xmlns:a16="http://schemas.microsoft.com/office/drawing/2014/main" id="{5E429794-C676-4AF8-9721-DDAE3FF27CCC}"/>
              </a:ext>
            </a:extLst>
          </p:cNvPr>
          <p:cNvSpPr>
            <a:spLocks noGrp="1"/>
          </p:cNvSpPr>
          <p:nvPr/>
        </p:nvSpPr>
        <p:spPr>
          <a:xfrm>
            <a:off x="1200150" y="3095625"/>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CIRCLES</a:t>
            </a:r>
          </a:p>
        </p:txBody>
      </p:sp>
      <p:sp>
        <p:nvSpPr>
          <p:cNvPr id="9" name="Rectangle 8">
            <a:extLst>
              <a:ext uri="{FF2B5EF4-FFF2-40B4-BE49-F238E27FC236}">
                <a16:creationId xmlns:a16="http://schemas.microsoft.com/office/drawing/2014/main" id="{2D9BAFBD-AF4B-4A56-AFBD-F3C807D89845}"/>
              </a:ext>
            </a:extLst>
          </p:cNvPr>
          <p:cNvSpPr>
            <a:spLocks noGrp="1"/>
          </p:cNvSpPr>
          <p:nvPr/>
        </p:nvSpPr>
        <p:spPr>
          <a:xfrm>
            <a:off x="1200150" y="3476625"/>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center + radius  →  equation  →  check</a:t>
            </a:r>
          </a:p>
        </p:txBody>
      </p:sp>
      <p:sp>
        <p:nvSpPr>
          <p:cNvPr id="10" name="Rectangle 9">
            <a:extLst>
              <a:ext uri="{FF2B5EF4-FFF2-40B4-BE49-F238E27FC236}">
                <a16:creationId xmlns:a16="http://schemas.microsoft.com/office/drawing/2014/main" id="{4F6A42F4-5DCC-4515-9C66-369270AA68DE}"/>
              </a:ext>
            </a:extLst>
          </p:cNvPr>
          <p:cNvSpPr>
            <a:spLocks noGrp="1"/>
          </p:cNvSpPr>
          <p:nvPr/>
        </p:nvSpPr>
        <p:spPr>
          <a:xfrm>
            <a:off x="666750" y="4381500"/>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3</a:t>
            </a:r>
          </a:p>
        </p:txBody>
      </p:sp>
      <p:sp>
        <p:nvSpPr>
          <p:cNvPr id="11" name="Rectangle 10">
            <a:extLst>
              <a:ext uri="{FF2B5EF4-FFF2-40B4-BE49-F238E27FC236}">
                <a16:creationId xmlns:a16="http://schemas.microsoft.com/office/drawing/2014/main" id="{879F7C17-95DC-4B25-8001-33F8553B8EF7}"/>
              </a:ext>
            </a:extLst>
          </p:cNvPr>
          <p:cNvSpPr>
            <a:spLocks noGrp="1"/>
          </p:cNvSpPr>
          <p:nvPr/>
        </p:nvSpPr>
        <p:spPr>
          <a:xfrm>
            <a:off x="1200150" y="4381500"/>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MIXED REVIEW</a:t>
            </a:r>
          </a:p>
        </p:txBody>
      </p:sp>
      <p:sp>
        <p:nvSpPr>
          <p:cNvPr id="12" name="Rectangle 11">
            <a:extLst>
              <a:ext uri="{FF2B5EF4-FFF2-40B4-BE49-F238E27FC236}">
                <a16:creationId xmlns:a16="http://schemas.microsoft.com/office/drawing/2014/main" id="{AAF205B3-90AD-44AC-A314-68775900645F}"/>
              </a:ext>
            </a:extLst>
          </p:cNvPr>
          <p:cNvSpPr>
            <a:spLocks noGrp="1"/>
          </p:cNvSpPr>
          <p:nvPr/>
        </p:nvSpPr>
        <p:spPr>
          <a:xfrm>
            <a:off x="1200150" y="4762500"/>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problem type  →  method  →  check</a:t>
            </a:r>
          </a:p>
        </p:txBody>
      </p:sp>
      <p:sp>
        <p:nvSpPr>
          <p:cNvPr id="13" name="Rectangle 12">
            <a:extLst>
              <a:ext uri="{FF2B5EF4-FFF2-40B4-BE49-F238E27FC236}">
                <a16:creationId xmlns:a16="http://schemas.microsoft.com/office/drawing/2014/main" id="{DB70920E-BB48-40A0-9C95-5B7732EC28E5}"/>
              </a:ext>
            </a:extLst>
          </p:cNvPr>
          <p:cNvSpPr>
            <a:spLocks noGrp="1"/>
          </p:cNvSpPr>
          <p:nvPr/>
        </p:nvSpPr>
        <p:spPr>
          <a:xfrm>
            <a:off x="8001000" y="1952625"/>
            <a:ext cx="3143250" cy="476250"/>
          </a:xfrm>
          <a:prstGeom prst="rect">
            <a:avLst/>
          </a:prstGeom>
          <a:noFill/>
          <a:ln w="0">
            <a:noFill/>
          </a:ln>
        </p:spPr>
        <p:txBody>
          <a:bodyPr wrap="square" lIns="0" tIns="0" rIns="0" bIns="0" anchor="ctr">
            <a:noAutofit/>
          </a:bodyPr>
          <a:lstStyle/>
          <a:p>
            <a:pPr>
              <a:defRPr sz="2400" b="1">
                <a:solidFill>
                  <a:srgbClr val="1777B4"/>
                </a:solidFill>
                <a:latin typeface="Arial"/>
                <a:ea typeface="Arial"/>
                <a:cs typeface="Arial"/>
              </a:defRPr>
            </a:pPr>
            <a:r>
              <a:rPr sz="2400" b="1">
                <a:solidFill>
                  <a:srgbClr val="1777B4"/>
                </a:solidFill>
                <a:latin typeface="Arial"/>
                <a:ea typeface="Arial"/>
                <a:cs typeface="Arial"/>
              </a:rPr>
              <a:t>My notes</a:t>
            </a:r>
          </a:p>
        </p:txBody>
      </p:sp>
      <p:sp>
        <p:nvSpPr>
          <p:cNvPr id="14" name="Rectangle 13">
            <a:extLst>
              <a:ext uri="{FF2B5EF4-FFF2-40B4-BE49-F238E27FC236}">
                <a16:creationId xmlns:a16="http://schemas.microsoft.com/office/drawing/2014/main" id="{E0452F19-6188-4308-A36A-F2C1645314F9}"/>
              </a:ext>
            </a:extLst>
          </p:cNvPr>
          <p:cNvSpPr>
            <a:spLocks noGrp="1"/>
          </p:cNvSpPr>
          <p:nvPr/>
        </p:nvSpPr>
        <p:spPr>
          <a:xfrm>
            <a:off x="8001000" y="2667000"/>
            <a:ext cx="314325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Method</a:t>
            </a:r>
          </a:p>
        </p:txBody>
      </p:sp>
      <p:sp>
        <p:nvSpPr>
          <p:cNvPr id="15" name="Freeform: Shape 14">
            <a:extLst>
              <a:ext uri="{FF2B5EF4-FFF2-40B4-BE49-F238E27FC236}">
                <a16:creationId xmlns:a16="http://schemas.microsoft.com/office/drawing/2014/main" id="{5F13E078-9458-41BF-8F20-AF7FC1AC2231}"/>
              </a:ext>
            </a:extLst>
          </p:cNvPr>
          <p:cNvSpPr>
            <a:spLocks noGrp="1"/>
          </p:cNvSpPr>
          <p:nvPr/>
        </p:nvSpPr>
        <p:spPr>
          <a:xfrm>
            <a:off x="8001000" y="3219450"/>
            <a:ext cx="3190875" cy="953"/>
          </a:xfrm>
          <a:custGeom>
            <a:avLst/>
            <a:gdLst/>
            <a:ahLst/>
            <a:cxnLst/>
            <a:rect l="0" t="0" r="0" b="0"/>
            <a:pathLst>
              <a:path w="3190875" h="953">
                <a:moveTo>
                  <a:pt x="0" y="0"/>
                </a:moveTo>
                <a:lnTo>
                  <a:pt x="3190875" y="0"/>
                </a:lnTo>
              </a:path>
            </a:pathLst>
          </a:custGeom>
          <a:noFill/>
          <a:ln w="9525">
            <a:solidFill>
              <a:srgbClr val="CAD5DE"/>
            </a:solidFill>
            <a:prstDash val="solid"/>
          </a:ln>
        </p:spPr>
        <p:txBody>
          <a:bodyPr/>
          <a:lstStyle/>
          <a:p>
            <a:endParaRPr lang="en-US"/>
          </a:p>
        </p:txBody>
      </p:sp>
      <p:sp>
        <p:nvSpPr>
          <p:cNvPr id="16" name="Rectangle 15">
            <a:extLst>
              <a:ext uri="{FF2B5EF4-FFF2-40B4-BE49-F238E27FC236}">
                <a16:creationId xmlns:a16="http://schemas.microsoft.com/office/drawing/2014/main" id="{8F4008EA-F508-4E6C-9D69-551E8582656E}"/>
              </a:ext>
            </a:extLst>
          </p:cNvPr>
          <p:cNvSpPr>
            <a:spLocks noGrp="1"/>
          </p:cNvSpPr>
          <p:nvPr/>
        </p:nvSpPr>
        <p:spPr>
          <a:xfrm>
            <a:off x="8001000" y="3619500"/>
            <a:ext cx="314325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Worked example</a:t>
            </a:r>
          </a:p>
        </p:txBody>
      </p:sp>
      <p:sp>
        <p:nvSpPr>
          <p:cNvPr id="17" name="Freeform: Shape 16">
            <a:extLst>
              <a:ext uri="{FF2B5EF4-FFF2-40B4-BE49-F238E27FC236}">
                <a16:creationId xmlns:a16="http://schemas.microsoft.com/office/drawing/2014/main" id="{8A0F1950-4378-4F7A-9A2C-EE9EDC8135A9}"/>
              </a:ext>
            </a:extLst>
          </p:cNvPr>
          <p:cNvSpPr>
            <a:spLocks noGrp="1"/>
          </p:cNvSpPr>
          <p:nvPr/>
        </p:nvSpPr>
        <p:spPr>
          <a:xfrm>
            <a:off x="8001000" y="4171950"/>
            <a:ext cx="3190875" cy="953"/>
          </a:xfrm>
          <a:custGeom>
            <a:avLst/>
            <a:gdLst/>
            <a:ahLst/>
            <a:cxnLst/>
            <a:rect l="0" t="0" r="0" b="0"/>
            <a:pathLst>
              <a:path w="3190875" h="953">
                <a:moveTo>
                  <a:pt x="0" y="0"/>
                </a:moveTo>
                <a:lnTo>
                  <a:pt x="3190875" y="0"/>
                </a:lnTo>
              </a:path>
            </a:pathLst>
          </a:custGeom>
          <a:noFill/>
          <a:ln w="9525">
            <a:solidFill>
              <a:srgbClr val="CAD5DE"/>
            </a:solidFill>
            <a:prstDash val="solid"/>
          </a:ln>
        </p:spPr>
        <p:txBody>
          <a:bodyPr/>
          <a:lstStyle/>
          <a:p>
            <a:endParaRPr lang="en-US"/>
          </a:p>
        </p:txBody>
      </p:sp>
      <p:sp>
        <p:nvSpPr>
          <p:cNvPr id="18" name="Rectangle 17">
            <a:extLst>
              <a:ext uri="{FF2B5EF4-FFF2-40B4-BE49-F238E27FC236}">
                <a16:creationId xmlns:a16="http://schemas.microsoft.com/office/drawing/2014/main" id="{F09D2763-80FC-4FA4-A81B-EC52F6419482}"/>
              </a:ext>
            </a:extLst>
          </p:cNvPr>
          <p:cNvSpPr>
            <a:spLocks noGrp="1"/>
          </p:cNvSpPr>
          <p:nvPr/>
        </p:nvSpPr>
        <p:spPr>
          <a:xfrm>
            <a:off x="8001000" y="4572000"/>
            <a:ext cx="314325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Correction</a:t>
            </a:r>
          </a:p>
        </p:txBody>
      </p:sp>
      <p:sp>
        <p:nvSpPr>
          <p:cNvPr id="19" name="Freeform: Shape 18">
            <a:extLst>
              <a:ext uri="{FF2B5EF4-FFF2-40B4-BE49-F238E27FC236}">
                <a16:creationId xmlns:a16="http://schemas.microsoft.com/office/drawing/2014/main" id="{1693A0BD-3398-40BB-9EE1-A0673456938A}"/>
              </a:ext>
            </a:extLst>
          </p:cNvPr>
          <p:cNvSpPr>
            <a:spLocks noGrp="1"/>
          </p:cNvSpPr>
          <p:nvPr/>
        </p:nvSpPr>
        <p:spPr>
          <a:xfrm>
            <a:off x="8001000" y="5124450"/>
            <a:ext cx="3190875" cy="953"/>
          </a:xfrm>
          <a:custGeom>
            <a:avLst/>
            <a:gdLst/>
            <a:ahLst/>
            <a:cxnLst/>
            <a:rect l="0" t="0" r="0" b="0"/>
            <a:pathLst>
              <a:path w="3190875" h="953">
                <a:moveTo>
                  <a:pt x="0" y="0"/>
                </a:moveTo>
                <a:lnTo>
                  <a:pt x="3190875" y="0"/>
                </a:lnTo>
              </a:path>
            </a:pathLst>
          </a:custGeom>
          <a:noFill/>
          <a:ln w="9525">
            <a:solidFill>
              <a:srgbClr val="CAD5DE"/>
            </a:solidFill>
            <a:prstDash val="solid"/>
          </a:ln>
        </p:spPr>
        <p:txBody>
          <a:bodyPr/>
          <a:lstStyle/>
          <a:p>
            <a:endParaRPr lang="en-US"/>
          </a:p>
        </p:txBody>
      </p:sp>
    </p:spTree>
    <p:extLst>
      <p:ext uri="{BB962C8B-B14F-4D97-AF65-F5344CB8AC3E}">
        <p14:creationId xmlns:p14="http://schemas.microsoft.com/office/powerpoint/2010/main" val="873943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F00CC4-9189-467C-BBCB-5500CE16D947}"/>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Quiz 4 and Test 1</a:t>
            </a:r>
          </a:p>
        </p:txBody>
      </p:sp>
      <p:sp>
        <p:nvSpPr>
          <p:cNvPr id="2" name="Rectangle 1">
            <a:extLst>
              <a:ext uri="{FF2B5EF4-FFF2-40B4-BE49-F238E27FC236}">
                <a16:creationId xmlns:a16="http://schemas.microsoft.com/office/drawing/2014/main" id="{F093E96F-502A-47E0-9435-E81F447A68B7}"/>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The revised assessment plan</a:t>
            </a:r>
          </a:p>
        </p:txBody>
      </p:sp>
      <p:sp>
        <p:nvSpPr>
          <p:cNvPr id="3" name="Rectangle 2">
            <a:extLst>
              <a:ext uri="{FF2B5EF4-FFF2-40B4-BE49-F238E27FC236}">
                <a16:creationId xmlns:a16="http://schemas.microsoft.com/office/drawing/2014/main" id="{F476E2D5-11C5-45CB-90AB-01F0C038A7A7}"/>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3</a:t>
            </a:r>
          </a:p>
        </p:txBody>
      </p:sp>
      <p:sp>
        <p:nvSpPr>
          <p:cNvPr id="4" name="Rectangle 3">
            <a:extLst>
              <a:ext uri="{FF2B5EF4-FFF2-40B4-BE49-F238E27FC236}">
                <a16:creationId xmlns:a16="http://schemas.microsoft.com/office/drawing/2014/main" id="{A3222073-4F63-48A2-BCE5-701E810C2C4B}"/>
              </a:ext>
            </a:extLst>
          </p:cNvPr>
          <p:cNvSpPr>
            <a:spLocks noGrp="1"/>
          </p:cNvSpPr>
          <p:nvPr/>
        </p:nvSpPr>
        <p:spPr>
          <a:xfrm>
            <a:off x="762000" y="1857375"/>
            <a:ext cx="10668000" cy="6953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Monday, Sep 21: Quiz 4 assigned as a take-home review.</a:t>
            </a:r>
          </a:p>
        </p:txBody>
      </p:sp>
      <p:sp>
        <p:nvSpPr>
          <p:cNvPr id="5" name="Rectangle 4">
            <a:extLst>
              <a:ext uri="{FF2B5EF4-FFF2-40B4-BE49-F238E27FC236}">
                <a16:creationId xmlns:a16="http://schemas.microsoft.com/office/drawing/2014/main" id="{AB8C75A1-05A1-40E4-A5EF-DFBEABA3B66C}"/>
              </a:ext>
            </a:extLst>
          </p:cNvPr>
          <p:cNvSpPr>
            <a:spLocks noGrp="1"/>
          </p:cNvSpPr>
          <p:nvPr/>
        </p:nvSpPr>
        <p:spPr>
          <a:xfrm>
            <a:off x="762000" y="2667000"/>
            <a:ext cx="10668000" cy="6953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Quiz 4 focuses on 2.4 and 2.5, with earlier topics included.</a:t>
            </a:r>
          </a:p>
        </p:txBody>
      </p:sp>
      <p:sp>
        <p:nvSpPr>
          <p:cNvPr id="6" name="Rectangle 5">
            <a:extLst>
              <a:ext uri="{FF2B5EF4-FFF2-40B4-BE49-F238E27FC236}">
                <a16:creationId xmlns:a16="http://schemas.microsoft.com/office/drawing/2014/main" id="{62A68764-9580-461A-987F-98A9A26B5B06}"/>
              </a:ext>
            </a:extLst>
          </p:cNvPr>
          <p:cNvSpPr>
            <a:spLocks noGrp="1"/>
          </p:cNvSpPr>
          <p:nvPr/>
        </p:nvSpPr>
        <p:spPr>
          <a:xfrm>
            <a:off x="762000" y="3476625"/>
            <a:ext cx="10668000" cy="6953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Wednesday, Sep 23: Test 1 at 2:10 PM; Quiz 4 due 3:15 PM.</a:t>
            </a:r>
          </a:p>
        </p:txBody>
      </p:sp>
      <p:sp>
        <p:nvSpPr>
          <p:cNvPr id="7" name="Rectangle 6">
            <a:extLst>
              <a:ext uri="{FF2B5EF4-FFF2-40B4-BE49-F238E27FC236}">
                <a16:creationId xmlns:a16="http://schemas.microsoft.com/office/drawing/2014/main" id="{A0604E81-D53C-4481-92DB-FB1281C76366}"/>
              </a:ext>
            </a:extLst>
          </p:cNvPr>
          <p:cNvSpPr>
            <a:spLocks noGrp="1"/>
          </p:cNvSpPr>
          <p:nvPr/>
        </p:nvSpPr>
        <p:spPr>
          <a:xfrm>
            <a:off x="762000" y="4286250"/>
            <a:ext cx="10668000" cy="6953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lang="en-US" sz="2175" b="0" dirty="0">
                <a:solidFill>
                  <a:srgbClr val="11344E"/>
                </a:solidFill>
                <a:latin typeface="Arial"/>
                <a:ea typeface="Arial"/>
                <a:cs typeface="Arial"/>
              </a:rPr>
              <a:t>Test 1 stops at 3.1. Any 3.1 topics are included.</a:t>
            </a:r>
          </a:p>
        </p:txBody>
      </p:sp>
      <p:sp>
        <p:nvSpPr>
          <p:cNvPr id="8" name="Rectangle 7">
            <a:extLst>
              <a:ext uri="{FF2B5EF4-FFF2-40B4-BE49-F238E27FC236}">
                <a16:creationId xmlns:a16="http://schemas.microsoft.com/office/drawing/2014/main" id="{4ABBEA7F-6AD0-418B-B799-1C0A46609D09}"/>
              </a:ext>
            </a:extLst>
          </p:cNvPr>
          <p:cNvSpPr>
            <a:spLocks noGrp="1"/>
          </p:cNvSpPr>
          <p:nvPr/>
        </p:nvSpPr>
        <p:spPr>
          <a:xfrm>
            <a:off x="762000" y="5095875"/>
            <a:ext cx="10668000" cy="6953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dirty="0">
                <a:solidFill>
                  <a:srgbClr val="11344E"/>
                </a:solidFill>
                <a:latin typeface="Arial"/>
                <a:ea typeface="Arial"/>
                <a:cs typeface="Arial"/>
              </a:rPr>
              <a:t>ALEKS Sections 2.5 and 3.1 remain due Sep 23 at 2:10 PM.</a:t>
            </a:r>
          </a:p>
        </p:txBody>
      </p:sp>
    </p:spTree>
    <p:extLst>
      <p:ext uri="{BB962C8B-B14F-4D97-AF65-F5344CB8AC3E}">
        <p14:creationId xmlns:p14="http://schemas.microsoft.com/office/powerpoint/2010/main" val="747203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4ABAB6-1D96-46CF-A1A2-4AA8DA1E1557}"/>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Opening practice</a:t>
            </a:r>
          </a:p>
        </p:txBody>
      </p:sp>
      <p:sp>
        <p:nvSpPr>
          <p:cNvPr id="2" name="Rectangle 1">
            <a:extLst>
              <a:ext uri="{FF2B5EF4-FFF2-40B4-BE49-F238E27FC236}">
                <a16:creationId xmlns:a16="http://schemas.microsoft.com/office/drawing/2014/main" id="{654311BC-1326-435B-B7AD-4D381C24B2B0}"/>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4 minutes individually. Show each setup.</a:t>
            </a:r>
          </a:p>
        </p:txBody>
      </p:sp>
      <p:sp>
        <p:nvSpPr>
          <p:cNvPr id="3" name="Rectangle 2">
            <a:extLst>
              <a:ext uri="{FF2B5EF4-FFF2-40B4-BE49-F238E27FC236}">
                <a16:creationId xmlns:a16="http://schemas.microsoft.com/office/drawing/2014/main" id="{3215477C-7FA6-41D6-8607-500A73727D1C}"/>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4</a:t>
            </a:r>
          </a:p>
        </p:txBody>
      </p:sp>
      <p:sp>
        <p:nvSpPr>
          <p:cNvPr id="4" name="Rectangle 3">
            <a:extLst>
              <a:ext uri="{FF2B5EF4-FFF2-40B4-BE49-F238E27FC236}">
                <a16:creationId xmlns:a16="http://schemas.microsoft.com/office/drawing/2014/main" id="{DE21B1DB-E5AC-4A05-878C-4664CD337C89}"/>
              </a:ext>
            </a:extLst>
          </p:cNvPr>
          <p:cNvSpPr>
            <a:spLocks noGrp="1"/>
          </p:cNvSpPr>
          <p:nvPr/>
        </p:nvSpPr>
        <p:spPr>
          <a:xfrm>
            <a:off x="762000" y="2047875"/>
            <a:ext cx="10668000" cy="1066800"/>
          </a:xfrm>
          <a:prstGeom prst="rect">
            <a:avLst/>
          </a:prstGeom>
          <a:noFill/>
          <a:ln w="0">
            <a:noFill/>
          </a:ln>
        </p:spPr>
        <p:txBody>
          <a:bodyPr wrap="square" lIns="0" tIns="0" rIns="0" bIns="0" anchor="ctr">
            <a:noAutofit/>
          </a:bodyPr>
          <a:lstStyle/>
          <a:p>
            <a:pPr>
              <a:defRPr sz="2775" b="0">
                <a:solidFill>
                  <a:srgbClr val="11344E"/>
                </a:solidFill>
                <a:latin typeface="Cambria Math"/>
                <a:ea typeface="Cambria Math"/>
                <a:cs typeface="Cambria Math"/>
              </a:defRPr>
            </a:pPr>
            <a:r>
              <a:rPr sz="2775" b="0">
                <a:solidFill>
                  <a:srgbClr val="11344E"/>
                </a:solidFill>
                <a:latin typeface="Cambria Math"/>
                <a:ea typeface="Cambria Math"/>
                <a:cs typeface="Cambria Math"/>
              </a:rPr>
              <a:t>1.  Find the slope of 3x + 2y = 12.</a:t>
            </a:r>
          </a:p>
        </p:txBody>
      </p:sp>
      <p:sp>
        <p:nvSpPr>
          <p:cNvPr id="5" name="Rectangle 4">
            <a:extLst>
              <a:ext uri="{FF2B5EF4-FFF2-40B4-BE49-F238E27FC236}">
                <a16:creationId xmlns:a16="http://schemas.microsoft.com/office/drawing/2014/main" id="{E8FC9C5B-A61D-49ED-9DF9-545A7B9E14E9}"/>
              </a:ext>
            </a:extLst>
          </p:cNvPr>
          <p:cNvSpPr>
            <a:spLocks noGrp="1"/>
          </p:cNvSpPr>
          <p:nvPr/>
        </p:nvSpPr>
        <p:spPr>
          <a:xfrm>
            <a:off x="762000" y="3228975"/>
            <a:ext cx="10668000" cy="1066800"/>
          </a:xfrm>
          <a:prstGeom prst="rect">
            <a:avLst/>
          </a:prstGeom>
          <a:noFill/>
          <a:ln w="0">
            <a:noFill/>
          </a:ln>
        </p:spPr>
        <p:txBody>
          <a:bodyPr wrap="square" lIns="0" tIns="0" rIns="0" bIns="0" anchor="ctr">
            <a:noAutofit/>
          </a:bodyPr>
          <a:lstStyle/>
          <a:p>
            <a:pPr>
              <a:defRPr sz="2775" b="0">
                <a:solidFill>
                  <a:srgbClr val="11344E"/>
                </a:solidFill>
                <a:latin typeface="Cambria Math"/>
                <a:ea typeface="Cambria Math"/>
                <a:cs typeface="Cambria Math"/>
              </a:defRPr>
            </a:pPr>
            <a:r>
              <a:rPr sz="2775" b="0">
                <a:solidFill>
                  <a:srgbClr val="11344E"/>
                </a:solidFill>
                <a:latin typeface="Cambria Math"/>
                <a:ea typeface="Cambria Math"/>
                <a:cs typeface="Cambria Math"/>
              </a:rPr>
              <a:t>2.  Find a perpendicular slope to y = −2x + 5.</a:t>
            </a:r>
          </a:p>
        </p:txBody>
      </p:sp>
      <p:sp>
        <p:nvSpPr>
          <p:cNvPr id="6" name="Rectangle 5">
            <a:extLst>
              <a:ext uri="{FF2B5EF4-FFF2-40B4-BE49-F238E27FC236}">
                <a16:creationId xmlns:a16="http://schemas.microsoft.com/office/drawing/2014/main" id="{DE363E70-E83E-44A5-8CE6-2487203BB1B9}"/>
              </a:ext>
            </a:extLst>
          </p:cNvPr>
          <p:cNvSpPr>
            <a:spLocks noGrp="1"/>
          </p:cNvSpPr>
          <p:nvPr/>
        </p:nvSpPr>
        <p:spPr>
          <a:xfrm>
            <a:off x="762000" y="4410075"/>
            <a:ext cx="10668000" cy="1066800"/>
          </a:xfrm>
          <a:prstGeom prst="rect">
            <a:avLst/>
          </a:prstGeom>
          <a:noFill/>
          <a:ln w="0">
            <a:noFill/>
          </a:ln>
        </p:spPr>
        <p:txBody>
          <a:bodyPr wrap="square" lIns="0" tIns="0" rIns="0" bIns="0" anchor="ctr">
            <a:noAutofit/>
          </a:bodyPr>
          <a:lstStyle/>
          <a:p>
            <a:pPr>
              <a:defRPr sz="2775" b="0">
                <a:solidFill>
                  <a:srgbClr val="11344E"/>
                </a:solidFill>
                <a:latin typeface="Cambria Math"/>
                <a:ea typeface="Cambria Math"/>
                <a:cs typeface="Cambria Math"/>
              </a:defRPr>
            </a:pPr>
            <a:r>
              <a:rPr sz="2775" b="0">
                <a:solidFill>
                  <a:srgbClr val="11344E"/>
                </a:solidFill>
                <a:latin typeface="Cambria Math"/>
                <a:ea typeface="Cambria Math"/>
                <a:cs typeface="Cambria Math"/>
              </a:rPr>
              <a:t>3.  Write the line through (−2, 5) and (4, −7).</a:t>
            </a:r>
          </a:p>
        </p:txBody>
      </p:sp>
    </p:spTree>
    <p:extLst>
      <p:ext uri="{BB962C8B-B14F-4D97-AF65-F5344CB8AC3E}">
        <p14:creationId xmlns:p14="http://schemas.microsoft.com/office/powerpoint/2010/main" val="64157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E209A-3F36-42E1-BCB5-B1A2D0404236}"/>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Opening practice: solutions</a:t>
            </a:r>
          </a:p>
        </p:txBody>
      </p:sp>
      <p:sp>
        <p:nvSpPr>
          <p:cNvPr id="2" name="Rectangle 1">
            <a:extLst>
              <a:ext uri="{FF2B5EF4-FFF2-40B4-BE49-F238E27FC236}">
                <a16:creationId xmlns:a16="http://schemas.microsoft.com/office/drawing/2014/main" id="{08A39AD5-F769-4EFD-85BC-4B85B91D670E}"/>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A slope and a point determine the line</a:t>
            </a:r>
          </a:p>
        </p:txBody>
      </p:sp>
      <p:sp>
        <p:nvSpPr>
          <p:cNvPr id="3" name="Rectangle 2">
            <a:extLst>
              <a:ext uri="{FF2B5EF4-FFF2-40B4-BE49-F238E27FC236}">
                <a16:creationId xmlns:a16="http://schemas.microsoft.com/office/drawing/2014/main" id="{EF1EAEA9-4F64-42D1-8BFB-53DC2EAC8441}"/>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5</a:t>
            </a:r>
          </a:p>
        </p:txBody>
      </p:sp>
      <p:sp>
        <p:nvSpPr>
          <p:cNvPr id="4" name="Rectangle 3">
            <a:extLst>
              <a:ext uri="{FF2B5EF4-FFF2-40B4-BE49-F238E27FC236}">
                <a16:creationId xmlns:a16="http://schemas.microsoft.com/office/drawing/2014/main" id="{3C94860C-6D0D-4729-8CFC-A0AB5897B8F3}"/>
              </a:ext>
            </a:extLst>
          </p:cNvPr>
          <p:cNvSpPr>
            <a:spLocks noGrp="1"/>
          </p:cNvSpPr>
          <p:nvPr/>
        </p:nvSpPr>
        <p:spPr>
          <a:xfrm>
            <a:off x="762000" y="1905000"/>
            <a:ext cx="10668000" cy="81915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1.  2y = −3x + 12, so m = −3/2.</a:t>
            </a:r>
          </a:p>
        </p:txBody>
      </p:sp>
      <p:sp>
        <p:nvSpPr>
          <p:cNvPr id="5" name="Rectangle 4">
            <a:extLst>
              <a:ext uri="{FF2B5EF4-FFF2-40B4-BE49-F238E27FC236}">
                <a16:creationId xmlns:a16="http://schemas.microsoft.com/office/drawing/2014/main" id="{4390C298-1E85-4661-A2C9-979AEF7788F5}"/>
              </a:ext>
            </a:extLst>
          </p:cNvPr>
          <p:cNvSpPr>
            <a:spLocks noGrp="1"/>
          </p:cNvSpPr>
          <p:nvPr/>
        </p:nvSpPr>
        <p:spPr>
          <a:xfrm>
            <a:off x="762000" y="2838450"/>
            <a:ext cx="10668000" cy="81915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2.  m = 1/2 because (−2)(1/2) = −1.</a:t>
            </a:r>
          </a:p>
        </p:txBody>
      </p:sp>
      <p:sp>
        <p:nvSpPr>
          <p:cNvPr id="6" name="Rectangle 5">
            <a:extLst>
              <a:ext uri="{FF2B5EF4-FFF2-40B4-BE49-F238E27FC236}">
                <a16:creationId xmlns:a16="http://schemas.microsoft.com/office/drawing/2014/main" id="{826582F7-3946-4E40-BCCD-D716DC4710C6}"/>
              </a:ext>
            </a:extLst>
          </p:cNvPr>
          <p:cNvSpPr>
            <a:spLocks noGrp="1"/>
          </p:cNvSpPr>
          <p:nvPr/>
        </p:nvSpPr>
        <p:spPr>
          <a:xfrm>
            <a:off x="762000" y="3771900"/>
            <a:ext cx="10668000" cy="81915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3.  m = (−7 − 5)/(4 + 2) = −2</a:t>
            </a:r>
          </a:p>
        </p:txBody>
      </p:sp>
      <p:sp>
        <p:nvSpPr>
          <p:cNvPr id="7" name="Rectangle 6">
            <a:extLst>
              <a:ext uri="{FF2B5EF4-FFF2-40B4-BE49-F238E27FC236}">
                <a16:creationId xmlns:a16="http://schemas.microsoft.com/office/drawing/2014/main" id="{E8DD963B-3195-4662-9B19-4D22C854D64E}"/>
              </a:ext>
            </a:extLst>
          </p:cNvPr>
          <p:cNvSpPr>
            <a:spLocks noGrp="1"/>
          </p:cNvSpPr>
          <p:nvPr/>
        </p:nvSpPr>
        <p:spPr>
          <a:xfrm>
            <a:off x="762000" y="4705350"/>
            <a:ext cx="10668000" cy="81915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     y − 5 = −2(x + 2), so y = −2x + 1.</a:t>
            </a:r>
          </a:p>
        </p:txBody>
      </p:sp>
    </p:spTree>
    <p:extLst>
      <p:ext uri="{BB962C8B-B14F-4D97-AF65-F5344CB8AC3E}">
        <p14:creationId xmlns:p14="http://schemas.microsoft.com/office/powerpoint/2010/main" val="111313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11ED947A-2FB0-4FAE-9B59-75485A567C0B}"/>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Parallel and perpendicular slopes</a:t>
            </a:r>
          </a:p>
        </p:txBody>
      </p:sp>
      <p:sp>
        <p:nvSpPr>
          <p:cNvPr id="2" name="Rectangle 1">
            <a:extLst>
              <a:ext uri="{FF2B5EF4-FFF2-40B4-BE49-F238E27FC236}">
                <a16:creationId xmlns:a16="http://schemas.microsoft.com/office/drawing/2014/main" id="{E139E413-0708-4D07-A74B-5556801FA8B3}"/>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First solve the given equation for y</a:t>
            </a:r>
          </a:p>
        </p:txBody>
      </p:sp>
      <p:sp>
        <p:nvSpPr>
          <p:cNvPr id="3" name="Rectangle 2">
            <a:extLst>
              <a:ext uri="{FF2B5EF4-FFF2-40B4-BE49-F238E27FC236}">
                <a16:creationId xmlns:a16="http://schemas.microsoft.com/office/drawing/2014/main" id="{4F1359FB-3963-4540-92A0-143EF26996D0}"/>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6</a:t>
            </a:r>
          </a:p>
        </p:txBody>
      </p:sp>
      <p:sp>
        <p:nvSpPr>
          <p:cNvPr id="4" name="Freeform: Shape 3">
            <a:extLst>
              <a:ext uri="{FF2B5EF4-FFF2-40B4-BE49-F238E27FC236}">
                <a16:creationId xmlns:a16="http://schemas.microsoft.com/office/drawing/2014/main" id="{F1C1E7C6-2228-4049-A0C0-75A4BB42DF28}"/>
              </a:ext>
            </a:extLst>
          </p:cNvPr>
          <p:cNvSpPr>
            <a:spLocks noGrp="1"/>
          </p:cNvSpPr>
          <p:nvPr/>
        </p:nvSpPr>
        <p:spPr>
          <a:xfrm>
            <a:off x="1143000"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5" name="Freeform: Shape 4">
            <a:extLst>
              <a:ext uri="{FF2B5EF4-FFF2-40B4-BE49-F238E27FC236}">
                <a16:creationId xmlns:a16="http://schemas.microsoft.com/office/drawing/2014/main" id="{B1F67D8A-35E0-4B5C-B580-F8B96EF14BEA}"/>
              </a:ext>
            </a:extLst>
          </p:cNvPr>
          <p:cNvSpPr>
            <a:spLocks noGrp="1"/>
          </p:cNvSpPr>
          <p:nvPr/>
        </p:nvSpPr>
        <p:spPr>
          <a:xfrm>
            <a:off x="1512094"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6" name="Freeform: Shape 5">
            <a:extLst>
              <a:ext uri="{FF2B5EF4-FFF2-40B4-BE49-F238E27FC236}">
                <a16:creationId xmlns:a16="http://schemas.microsoft.com/office/drawing/2014/main" id="{B2710DAC-D9F7-40ED-B80B-2EE294A3F20F}"/>
              </a:ext>
            </a:extLst>
          </p:cNvPr>
          <p:cNvSpPr>
            <a:spLocks noGrp="1"/>
          </p:cNvSpPr>
          <p:nvPr/>
        </p:nvSpPr>
        <p:spPr>
          <a:xfrm>
            <a:off x="1881188"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7" name="Freeform: Shape 6">
            <a:extLst>
              <a:ext uri="{FF2B5EF4-FFF2-40B4-BE49-F238E27FC236}">
                <a16:creationId xmlns:a16="http://schemas.microsoft.com/office/drawing/2014/main" id="{2BD49749-85C4-4919-B868-8BD0E1E4CD44}"/>
              </a:ext>
            </a:extLst>
          </p:cNvPr>
          <p:cNvSpPr>
            <a:spLocks noGrp="1"/>
          </p:cNvSpPr>
          <p:nvPr/>
        </p:nvSpPr>
        <p:spPr>
          <a:xfrm>
            <a:off x="2250281"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8" name="Freeform: Shape 7">
            <a:extLst>
              <a:ext uri="{FF2B5EF4-FFF2-40B4-BE49-F238E27FC236}">
                <a16:creationId xmlns:a16="http://schemas.microsoft.com/office/drawing/2014/main" id="{E939BBC4-74D4-4FB8-85F7-E5C8DE5313A9}"/>
              </a:ext>
            </a:extLst>
          </p:cNvPr>
          <p:cNvSpPr>
            <a:spLocks noGrp="1"/>
          </p:cNvSpPr>
          <p:nvPr/>
        </p:nvSpPr>
        <p:spPr>
          <a:xfrm>
            <a:off x="2619375"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9" name="Freeform: Shape 8">
            <a:extLst>
              <a:ext uri="{FF2B5EF4-FFF2-40B4-BE49-F238E27FC236}">
                <a16:creationId xmlns:a16="http://schemas.microsoft.com/office/drawing/2014/main" id="{2F3E74BE-046F-435C-B7E0-A72CC55E912C}"/>
              </a:ext>
            </a:extLst>
          </p:cNvPr>
          <p:cNvSpPr>
            <a:spLocks noGrp="1"/>
          </p:cNvSpPr>
          <p:nvPr/>
        </p:nvSpPr>
        <p:spPr>
          <a:xfrm>
            <a:off x="2988469"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10" name="Freeform: Shape 9">
            <a:extLst>
              <a:ext uri="{FF2B5EF4-FFF2-40B4-BE49-F238E27FC236}">
                <a16:creationId xmlns:a16="http://schemas.microsoft.com/office/drawing/2014/main" id="{72FE4723-79EA-4CB5-92BC-5C6BB8CD60D7}"/>
              </a:ext>
            </a:extLst>
          </p:cNvPr>
          <p:cNvSpPr>
            <a:spLocks noGrp="1"/>
          </p:cNvSpPr>
          <p:nvPr/>
        </p:nvSpPr>
        <p:spPr>
          <a:xfrm>
            <a:off x="3357563"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11" name="Freeform: Shape 10">
            <a:extLst>
              <a:ext uri="{FF2B5EF4-FFF2-40B4-BE49-F238E27FC236}">
                <a16:creationId xmlns:a16="http://schemas.microsoft.com/office/drawing/2014/main" id="{15DC5B4A-6850-4EFF-B8D4-F39561785E98}"/>
              </a:ext>
            </a:extLst>
          </p:cNvPr>
          <p:cNvSpPr>
            <a:spLocks noGrp="1"/>
          </p:cNvSpPr>
          <p:nvPr/>
        </p:nvSpPr>
        <p:spPr>
          <a:xfrm>
            <a:off x="3726656"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12" name="Freeform: Shape 11">
            <a:extLst>
              <a:ext uri="{FF2B5EF4-FFF2-40B4-BE49-F238E27FC236}">
                <a16:creationId xmlns:a16="http://schemas.microsoft.com/office/drawing/2014/main" id="{52D1A47E-C1B7-43BE-856B-C7D18EB2344F}"/>
              </a:ext>
            </a:extLst>
          </p:cNvPr>
          <p:cNvSpPr>
            <a:spLocks noGrp="1"/>
          </p:cNvSpPr>
          <p:nvPr/>
        </p:nvSpPr>
        <p:spPr>
          <a:xfrm>
            <a:off x="4095750"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13" name="Freeform: Shape 12">
            <a:extLst>
              <a:ext uri="{FF2B5EF4-FFF2-40B4-BE49-F238E27FC236}">
                <a16:creationId xmlns:a16="http://schemas.microsoft.com/office/drawing/2014/main" id="{321A4A6B-C819-4E45-9B5D-4753C51E7B45}"/>
              </a:ext>
            </a:extLst>
          </p:cNvPr>
          <p:cNvSpPr>
            <a:spLocks noGrp="1"/>
          </p:cNvSpPr>
          <p:nvPr/>
        </p:nvSpPr>
        <p:spPr>
          <a:xfrm>
            <a:off x="1143000" y="5191125"/>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F0A90675-D092-4CEF-90B4-3C73D7893EBE}"/>
              </a:ext>
            </a:extLst>
          </p:cNvPr>
          <p:cNvSpPr>
            <a:spLocks noGrp="1"/>
          </p:cNvSpPr>
          <p:nvPr/>
        </p:nvSpPr>
        <p:spPr>
          <a:xfrm>
            <a:off x="1143000" y="4822031"/>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D86D86F4-9819-4EC6-A14D-D61CE4166408}"/>
              </a:ext>
            </a:extLst>
          </p:cNvPr>
          <p:cNvSpPr>
            <a:spLocks noGrp="1"/>
          </p:cNvSpPr>
          <p:nvPr/>
        </p:nvSpPr>
        <p:spPr>
          <a:xfrm>
            <a:off x="1143000" y="4452938"/>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B0CE999F-DC33-4AD9-86BA-FCC93ED79688}"/>
              </a:ext>
            </a:extLst>
          </p:cNvPr>
          <p:cNvSpPr>
            <a:spLocks noGrp="1"/>
          </p:cNvSpPr>
          <p:nvPr/>
        </p:nvSpPr>
        <p:spPr>
          <a:xfrm>
            <a:off x="1143000" y="4083844"/>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015862B2-4D94-4B73-84E9-6360D1070DB0}"/>
              </a:ext>
            </a:extLst>
          </p:cNvPr>
          <p:cNvSpPr>
            <a:spLocks noGrp="1"/>
          </p:cNvSpPr>
          <p:nvPr/>
        </p:nvSpPr>
        <p:spPr>
          <a:xfrm>
            <a:off x="1143000" y="3714750"/>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B240EF56-EC86-4A5D-8938-C4D102A911A2}"/>
              </a:ext>
            </a:extLst>
          </p:cNvPr>
          <p:cNvSpPr>
            <a:spLocks noGrp="1"/>
          </p:cNvSpPr>
          <p:nvPr/>
        </p:nvSpPr>
        <p:spPr>
          <a:xfrm>
            <a:off x="1143000" y="3345656"/>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9857B237-A627-4B8F-8851-F288B9A2B299}"/>
              </a:ext>
            </a:extLst>
          </p:cNvPr>
          <p:cNvSpPr>
            <a:spLocks noGrp="1"/>
          </p:cNvSpPr>
          <p:nvPr/>
        </p:nvSpPr>
        <p:spPr>
          <a:xfrm>
            <a:off x="1143000" y="2976563"/>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D2F5C673-1382-4745-8B40-6947203844A1}"/>
              </a:ext>
            </a:extLst>
          </p:cNvPr>
          <p:cNvSpPr>
            <a:spLocks noGrp="1"/>
          </p:cNvSpPr>
          <p:nvPr/>
        </p:nvSpPr>
        <p:spPr>
          <a:xfrm>
            <a:off x="1143000" y="2607469"/>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1C9FE7DC-A543-4488-9404-BCE698254AFF}"/>
              </a:ext>
            </a:extLst>
          </p:cNvPr>
          <p:cNvSpPr>
            <a:spLocks noGrp="1"/>
          </p:cNvSpPr>
          <p:nvPr/>
        </p:nvSpPr>
        <p:spPr>
          <a:xfrm>
            <a:off x="1143000" y="2238375"/>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2667A896-5C92-4714-9189-198DF15B7161}"/>
              </a:ext>
            </a:extLst>
          </p:cNvPr>
          <p:cNvSpPr>
            <a:spLocks noGrp="1"/>
          </p:cNvSpPr>
          <p:nvPr/>
        </p:nvSpPr>
        <p:spPr>
          <a:xfrm>
            <a:off x="1143000" y="3714750"/>
            <a:ext cx="2952750" cy="953"/>
          </a:xfrm>
          <a:custGeom>
            <a:avLst/>
            <a:gdLst/>
            <a:ahLst/>
            <a:cxnLst/>
            <a:rect l="0" t="0" r="0" b="0"/>
            <a:pathLst>
              <a:path w="2952750" h="953">
                <a:moveTo>
                  <a:pt x="0" y="0"/>
                </a:moveTo>
                <a:lnTo>
                  <a:pt x="2952750" y="0"/>
                </a:lnTo>
              </a:path>
            </a:pathLst>
          </a:custGeom>
          <a:noFill/>
          <a:ln w="17145">
            <a:solidFill>
              <a:srgbClr val="687783"/>
            </a:solidFill>
            <a:prstDash val="solid"/>
          </a:ln>
        </p:spPr>
        <p:txBody>
          <a:bodyPr/>
          <a:lstStyle/>
          <a:p>
            <a:endParaRPr lang="en-US"/>
          </a:p>
        </p:txBody>
      </p:sp>
      <p:sp>
        <p:nvSpPr>
          <p:cNvPr id="23" name="Freeform: Shape 22">
            <a:extLst>
              <a:ext uri="{FF2B5EF4-FFF2-40B4-BE49-F238E27FC236}">
                <a16:creationId xmlns:a16="http://schemas.microsoft.com/office/drawing/2014/main" id="{AD436A32-943A-4EB8-90BC-9A4CDADB9E96}"/>
              </a:ext>
            </a:extLst>
          </p:cNvPr>
          <p:cNvSpPr>
            <a:spLocks noGrp="1"/>
          </p:cNvSpPr>
          <p:nvPr/>
        </p:nvSpPr>
        <p:spPr>
          <a:xfrm>
            <a:off x="2619375" y="2238375"/>
            <a:ext cx="953" cy="2952750"/>
          </a:xfrm>
          <a:custGeom>
            <a:avLst/>
            <a:gdLst/>
            <a:ahLst/>
            <a:cxnLst/>
            <a:rect l="0" t="0" r="0" b="0"/>
            <a:pathLst>
              <a:path w="953" h="2952750">
                <a:moveTo>
                  <a:pt x="0" y="0"/>
                </a:moveTo>
                <a:lnTo>
                  <a:pt x="0" y="2952750"/>
                </a:lnTo>
              </a:path>
            </a:pathLst>
          </a:custGeom>
          <a:noFill/>
          <a:ln w="17145">
            <a:solidFill>
              <a:srgbClr val="687783"/>
            </a:solidFill>
            <a:prstDash val="solid"/>
          </a:ln>
        </p:spPr>
        <p:txBody>
          <a:bodyPr/>
          <a:lstStyle/>
          <a:p>
            <a:endParaRPr lang="en-US"/>
          </a:p>
        </p:txBody>
      </p:sp>
      <p:sp>
        <p:nvSpPr>
          <p:cNvPr id="24" name="Rectangle 23">
            <a:extLst>
              <a:ext uri="{FF2B5EF4-FFF2-40B4-BE49-F238E27FC236}">
                <a16:creationId xmlns:a16="http://schemas.microsoft.com/office/drawing/2014/main" id="{6713EA55-96F0-4598-83C8-CD45E2281A81}"/>
              </a:ext>
            </a:extLst>
          </p:cNvPr>
          <p:cNvSpPr>
            <a:spLocks noGrp="1"/>
          </p:cNvSpPr>
          <p:nvPr/>
        </p:nvSpPr>
        <p:spPr>
          <a:xfrm>
            <a:off x="1000125"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25" name="Rectangle 24">
            <a:extLst>
              <a:ext uri="{FF2B5EF4-FFF2-40B4-BE49-F238E27FC236}">
                <a16:creationId xmlns:a16="http://schemas.microsoft.com/office/drawing/2014/main" id="{43C50736-7FFF-4A11-8530-2CE74D8277BA}"/>
              </a:ext>
            </a:extLst>
          </p:cNvPr>
          <p:cNvSpPr>
            <a:spLocks noGrp="1"/>
          </p:cNvSpPr>
          <p:nvPr/>
        </p:nvSpPr>
        <p:spPr>
          <a:xfrm>
            <a:off x="1738313"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26" name="Rectangle 25">
            <a:extLst>
              <a:ext uri="{FF2B5EF4-FFF2-40B4-BE49-F238E27FC236}">
                <a16:creationId xmlns:a16="http://schemas.microsoft.com/office/drawing/2014/main" id="{7C33EB8A-0695-479D-B892-041798B4238F}"/>
              </a:ext>
            </a:extLst>
          </p:cNvPr>
          <p:cNvSpPr>
            <a:spLocks noGrp="1"/>
          </p:cNvSpPr>
          <p:nvPr/>
        </p:nvSpPr>
        <p:spPr>
          <a:xfrm>
            <a:off x="3214688"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27" name="Rectangle 26">
            <a:extLst>
              <a:ext uri="{FF2B5EF4-FFF2-40B4-BE49-F238E27FC236}">
                <a16:creationId xmlns:a16="http://schemas.microsoft.com/office/drawing/2014/main" id="{1F6A64F8-50C2-4A4C-B7EA-50A56445384C}"/>
              </a:ext>
            </a:extLst>
          </p:cNvPr>
          <p:cNvSpPr>
            <a:spLocks noGrp="1"/>
          </p:cNvSpPr>
          <p:nvPr/>
        </p:nvSpPr>
        <p:spPr>
          <a:xfrm>
            <a:off x="3952875"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28" name="Rectangle 27">
            <a:extLst>
              <a:ext uri="{FF2B5EF4-FFF2-40B4-BE49-F238E27FC236}">
                <a16:creationId xmlns:a16="http://schemas.microsoft.com/office/drawing/2014/main" id="{9FB33317-D56E-4D3F-AEC0-2366D1610391}"/>
              </a:ext>
            </a:extLst>
          </p:cNvPr>
          <p:cNvSpPr>
            <a:spLocks noGrp="1"/>
          </p:cNvSpPr>
          <p:nvPr/>
        </p:nvSpPr>
        <p:spPr>
          <a:xfrm>
            <a:off x="2352675" y="508635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29" name="Rectangle 28">
            <a:extLst>
              <a:ext uri="{FF2B5EF4-FFF2-40B4-BE49-F238E27FC236}">
                <a16:creationId xmlns:a16="http://schemas.microsoft.com/office/drawing/2014/main" id="{EA745252-950D-44F3-B757-03C9A16DB4CA}"/>
              </a:ext>
            </a:extLst>
          </p:cNvPr>
          <p:cNvSpPr>
            <a:spLocks noGrp="1"/>
          </p:cNvSpPr>
          <p:nvPr/>
        </p:nvSpPr>
        <p:spPr>
          <a:xfrm>
            <a:off x="2352675" y="4348163"/>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0" name="Rectangle 29">
            <a:extLst>
              <a:ext uri="{FF2B5EF4-FFF2-40B4-BE49-F238E27FC236}">
                <a16:creationId xmlns:a16="http://schemas.microsoft.com/office/drawing/2014/main" id="{F63E4CD2-B368-49E1-A29E-4A89D3FD85F0}"/>
              </a:ext>
            </a:extLst>
          </p:cNvPr>
          <p:cNvSpPr>
            <a:spLocks noGrp="1"/>
          </p:cNvSpPr>
          <p:nvPr/>
        </p:nvSpPr>
        <p:spPr>
          <a:xfrm>
            <a:off x="2352675" y="2871788"/>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1" name="Rectangle 30">
            <a:extLst>
              <a:ext uri="{FF2B5EF4-FFF2-40B4-BE49-F238E27FC236}">
                <a16:creationId xmlns:a16="http://schemas.microsoft.com/office/drawing/2014/main" id="{5A1FFD33-7A1F-4C89-A889-D6ABF0C777CA}"/>
              </a:ext>
            </a:extLst>
          </p:cNvPr>
          <p:cNvSpPr>
            <a:spLocks noGrp="1"/>
          </p:cNvSpPr>
          <p:nvPr/>
        </p:nvSpPr>
        <p:spPr>
          <a:xfrm>
            <a:off x="2352675" y="21336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2" name="Rectangle 31">
            <a:extLst>
              <a:ext uri="{FF2B5EF4-FFF2-40B4-BE49-F238E27FC236}">
                <a16:creationId xmlns:a16="http://schemas.microsoft.com/office/drawing/2014/main" id="{A8592908-CC6E-49A5-B8E4-BDE7D02E6330}"/>
              </a:ext>
            </a:extLst>
          </p:cNvPr>
          <p:cNvSpPr>
            <a:spLocks noGrp="1"/>
          </p:cNvSpPr>
          <p:nvPr/>
        </p:nvSpPr>
        <p:spPr>
          <a:xfrm>
            <a:off x="4162425" y="35814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33" name="Rectangle 32">
            <a:extLst>
              <a:ext uri="{FF2B5EF4-FFF2-40B4-BE49-F238E27FC236}">
                <a16:creationId xmlns:a16="http://schemas.microsoft.com/office/drawing/2014/main" id="{33CBC1D4-24AE-48D4-BED2-569634C26969}"/>
              </a:ext>
            </a:extLst>
          </p:cNvPr>
          <p:cNvSpPr>
            <a:spLocks noGrp="1"/>
          </p:cNvSpPr>
          <p:nvPr/>
        </p:nvSpPr>
        <p:spPr>
          <a:xfrm>
            <a:off x="2676525" y="1971675"/>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34" name="Freeform: Shape 33">
            <a:extLst>
              <a:ext uri="{FF2B5EF4-FFF2-40B4-BE49-F238E27FC236}">
                <a16:creationId xmlns:a16="http://schemas.microsoft.com/office/drawing/2014/main" id="{F6E9DFD6-F85B-4FD3-9641-5CAA38FAF6E1}"/>
              </a:ext>
            </a:extLst>
          </p:cNvPr>
          <p:cNvSpPr>
            <a:spLocks noGrp="1"/>
          </p:cNvSpPr>
          <p:nvPr/>
        </p:nvSpPr>
        <p:spPr>
          <a:xfrm>
            <a:off x="1143000" y="3345656"/>
            <a:ext cx="2952750" cy="1476375"/>
          </a:xfrm>
          <a:custGeom>
            <a:avLst/>
            <a:gdLst/>
            <a:ahLst/>
            <a:cxnLst/>
            <a:rect l="0" t="0" r="0" b="0"/>
            <a:pathLst>
              <a:path w="2952750" h="1476375">
                <a:moveTo>
                  <a:pt x="0" y="1476375"/>
                </a:moveTo>
                <a:lnTo>
                  <a:pt x="2952750" y="0"/>
                </a:lnTo>
              </a:path>
            </a:pathLst>
          </a:custGeom>
          <a:noFill/>
          <a:ln w="28575">
            <a:solidFill>
              <a:srgbClr val="1777B4"/>
            </a:solidFill>
            <a:prstDash val="solid"/>
          </a:ln>
        </p:spPr>
        <p:txBody>
          <a:bodyPr/>
          <a:lstStyle/>
          <a:p>
            <a:endParaRPr lang="en-US"/>
          </a:p>
        </p:txBody>
      </p:sp>
      <p:sp>
        <p:nvSpPr>
          <p:cNvPr id="35" name="Freeform: Shape 34">
            <a:extLst>
              <a:ext uri="{FF2B5EF4-FFF2-40B4-BE49-F238E27FC236}">
                <a16:creationId xmlns:a16="http://schemas.microsoft.com/office/drawing/2014/main" id="{9A847D44-A8A4-4098-8A77-D7DEA77B1B9A}"/>
              </a:ext>
            </a:extLst>
          </p:cNvPr>
          <p:cNvSpPr>
            <a:spLocks noGrp="1"/>
          </p:cNvSpPr>
          <p:nvPr/>
        </p:nvSpPr>
        <p:spPr>
          <a:xfrm>
            <a:off x="1143000" y="2607469"/>
            <a:ext cx="2952750" cy="1476375"/>
          </a:xfrm>
          <a:custGeom>
            <a:avLst/>
            <a:gdLst/>
            <a:ahLst/>
            <a:cxnLst/>
            <a:rect l="0" t="0" r="0" b="0"/>
            <a:pathLst>
              <a:path w="2952750" h="1476375">
                <a:moveTo>
                  <a:pt x="0" y="1476375"/>
                </a:moveTo>
                <a:lnTo>
                  <a:pt x="2952750" y="0"/>
                </a:lnTo>
              </a:path>
            </a:pathLst>
          </a:custGeom>
          <a:noFill/>
          <a:ln w="28575">
            <a:solidFill>
              <a:srgbClr val="148A68"/>
            </a:solidFill>
            <a:prstDash val="solid"/>
          </a:ln>
        </p:spPr>
        <p:txBody>
          <a:bodyPr/>
          <a:lstStyle/>
          <a:p>
            <a:endParaRPr lang="en-US"/>
          </a:p>
        </p:txBody>
      </p:sp>
      <p:sp>
        <p:nvSpPr>
          <p:cNvPr id="36" name="Freeform: Shape 35">
            <a:extLst>
              <a:ext uri="{FF2B5EF4-FFF2-40B4-BE49-F238E27FC236}">
                <a16:creationId xmlns:a16="http://schemas.microsoft.com/office/drawing/2014/main" id="{C2A4B897-BE8B-4D42-BD4C-107C472D3FE6}"/>
              </a:ext>
            </a:extLst>
          </p:cNvPr>
          <p:cNvSpPr>
            <a:spLocks noGrp="1"/>
          </p:cNvSpPr>
          <p:nvPr/>
        </p:nvSpPr>
        <p:spPr>
          <a:xfrm>
            <a:off x="7143750"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37" name="Freeform: Shape 36">
            <a:extLst>
              <a:ext uri="{FF2B5EF4-FFF2-40B4-BE49-F238E27FC236}">
                <a16:creationId xmlns:a16="http://schemas.microsoft.com/office/drawing/2014/main" id="{D265C4FF-61B3-4B69-85AA-9D0FCC9275FF}"/>
              </a:ext>
            </a:extLst>
          </p:cNvPr>
          <p:cNvSpPr>
            <a:spLocks noGrp="1"/>
          </p:cNvSpPr>
          <p:nvPr/>
        </p:nvSpPr>
        <p:spPr>
          <a:xfrm>
            <a:off x="7512844"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38" name="Freeform: Shape 37">
            <a:extLst>
              <a:ext uri="{FF2B5EF4-FFF2-40B4-BE49-F238E27FC236}">
                <a16:creationId xmlns:a16="http://schemas.microsoft.com/office/drawing/2014/main" id="{3D4D3265-6740-49CF-8428-FF91C72F31B4}"/>
              </a:ext>
            </a:extLst>
          </p:cNvPr>
          <p:cNvSpPr>
            <a:spLocks noGrp="1"/>
          </p:cNvSpPr>
          <p:nvPr/>
        </p:nvSpPr>
        <p:spPr>
          <a:xfrm>
            <a:off x="7881938"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39" name="Freeform: Shape 38">
            <a:extLst>
              <a:ext uri="{FF2B5EF4-FFF2-40B4-BE49-F238E27FC236}">
                <a16:creationId xmlns:a16="http://schemas.microsoft.com/office/drawing/2014/main" id="{B91F0999-44F6-4F56-9A52-A466C12B16A1}"/>
              </a:ext>
            </a:extLst>
          </p:cNvPr>
          <p:cNvSpPr>
            <a:spLocks noGrp="1"/>
          </p:cNvSpPr>
          <p:nvPr/>
        </p:nvSpPr>
        <p:spPr>
          <a:xfrm>
            <a:off x="8251031"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0" name="Freeform: Shape 39">
            <a:extLst>
              <a:ext uri="{FF2B5EF4-FFF2-40B4-BE49-F238E27FC236}">
                <a16:creationId xmlns:a16="http://schemas.microsoft.com/office/drawing/2014/main" id="{CF60B8C6-3743-43A9-AD65-402ECB7BBEEA}"/>
              </a:ext>
            </a:extLst>
          </p:cNvPr>
          <p:cNvSpPr>
            <a:spLocks noGrp="1"/>
          </p:cNvSpPr>
          <p:nvPr/>
        </p:nvSpPr>
        <p:spPr>
          <a:xfrm>
            <a:off x="8620125"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1" name="Freeform: Shape 40">
            <a:extLst>
              <a:ext uri="{FF2B5EF4-FFF2-40B4-BE49-F238E27FC236}">
                <a16:creationId xmlns:a16="http://schemas.microsoft.com/office/drawing/2014/main" id="{77B1A1F9-FD4F-4AAE-BC19-4B3B003D656D}"/>
              </a:ext>
            </a:extLst>
          </p:cNvPr>
          <p:cNvSpPr>
            <a:spLocks noGrp="1"/>
          </p:cNvSpPr>
          <p:nvPr/>
        </p:nvSpPr>
        <p:spPr>
          <a:xfrm>
            <a:off x="8989219"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2" name="Freeform: Shape 41">
            <a:extLst>
              <a:ext uri="{FF2B5EF4-FFF2-40B4-BE49-F238E27FC236}">
                <a16:creationId xmlns:a16="http://schemas.microsoft.com/office/drawing/2014/main" id="{70D60648-94A4-4613-9E25-A4EC6F5837C6}"/>
              </a:ext>
            </a:extLst>
          </p:cNvPr>
          <p:cNvSpPr>
            <a:spLocks noGrp="1"/>
          </p:cNvSpPr>
          <p:nvPr/>
        </p:nvSpPr>
        <p:spPr>
          <a:xfrm>
            <a:off x="9358313"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3" name="Freeform: Shape 42">
            <a:extLst>
              <a:ext uri="{FF2B5EF4-FFF2-40B4-BE49-F238E27FC236}">
                <a16:creationId xmlns:a16="http://schemas.microsoft.com/office/drawing/2014/main" id="{D22AEF42-2FCC-48A9-84A5-5C2BB29FE9F3}"/>
              </a:ext>
            </a:extLst>
          </p:cNvPr>
          <p:cNvSpPr>
            <a:spLocks noGrp="1"/>
          </p:cNvSpPr>
          <p:nvPr/>
        </p:nvSpPr>
        <p:spPr>
          <a:xfrm>
            <a:off x="9727406"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4" name="Freeform: Shape 43">
            <a:extLst>
              <a:ext uri="{FF2B5EF4-FFF2-40B4-BE49-F238E27FC236}">
                <a16:creationId xmlns:a16="http://schemas.microsoft.com/office/drawing/2014/main" id="{C92E32C1-FE63-4A6B-8E38-04EE80EF5A18}"/>
              </a:ext>
            </a:extLst>
          </p:cNvPr>
          <p:cNvSpPr>
            <a:spLocks noGrp="1"/>
          </p:cNvSpPr>
          <p:nvPr/>
        </p:nvSpPr>
        <p:spPr>
          <a:xfrm>
            <a:off x="10096500" y="2238375"/>
            <a:ext cx="953" cy="2952750"/>
          </a:xfrm>
          <a:custGeom>
            <a:avLst/>
            <a:gdLst/>
            <a:ahLst/>
            <a:cxnLst/>
            <a:rect l="0" t="0" r="0" b="0"/>
            <a:pathLst>
              <a:path w="953" h="2952750">
                <a:moveTo>
                  <a:pt x="0" y="0"/>
                </a:moveTo>
                <a:lnTo>
                  <a:pt x="0" y="2952750"/>
                </a:lnTo>
              </a:path>
            </a:pathLst>
          </a:custGeom>
          <a:noFill/>
          <a:ln w="6668">
            <a:solidFill>
              <a:srgbClr val="E4EAF0"/>
            </a:solidFill>
            <a:prstDash val="solid"/>
          </a:ln>
        </p:spPr>
        <p:txBody>
          <a:bodyPr/>
          <a:lstStyle/>
          <a:p>
            <a:endParaRPr lang="en-US"/>
          </a:p>
        </p:txBody>
      </p:sp>
      <p:sp>
        <p:nvSpPr>
          <p:cNvPr id="45" name="Freeform: Shape 44">
            <a:extLst>
              <a:ext uri="{FF2B5EF4-FFF2-40B4-BE49-F238E27FC236}">
                <a16:creationId xmlns:a16="http://schemas.microsoft.com/office/drawing/2014/main" id="{8AC6AC1B-737E-4DA7-B049-64D2362BE0CE}"/>
              </a:ext>
            </a:extLst>
          </p:cNvPr>
          <p:cNvSpPr>
            <a:spLocks noGrp="1"/>
          </p:cNvSpPr>
          <p:nvPr/>
        </p:nvSpPr>
        <p:spPr>
          <a:xfrm>
            <a:off x="7143750" y="5191125"/>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46" name="Freeform: Shape 45">
            <a:extLst>
              <a:ext uri="{FF2B5EF4-FFF2-40B4-BE49-F238E27FC236}">
                <a16:creationId xmlns:a16="http://schemas.microsoft.com/office/drawing/2014/main" id="{048281BF-04F4-46B0-AFB6-58878753F1D0}"/>
              </a:ext>
            </a:extLst>
          </p:cNvPr>
          <p:cNvSpPr>
            <a:spLocks noGrp="1"/>
          </p:cNvSpPr>
          <p:nvPr/>
        </p:nvSpPr>
        <p:spPr>
          <a:xfrm>
            <a:off x="7143750" y="4822031"/>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47" name="Freeform: Shape 46">
            <a:extLst>
              <a:ext uri="{FF2B5EF4-FFF2-40B4-BE49-F238E27FC236}">
                <a16:creationId xmlns:a16="http://schemas.microsoft.com/office/drawing/2014/main" id="{2258B51F-3500-425F-ADF9-F877481F1DAC}"/>
              </a:ext>
            </a:extLst>
          </p:cNvPr>
          <p:cNvSpPr>
            <a:spLocks noGrp="1"/>
          </p:cNvSpPr>
          <p:nvPr/>
        </p:nvSpPr>
        <p:spPr>
          <a:xfrm>
            <a:off x="7143750" y="4452938"/>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48" name="Freeform: Shape 47">
            <a:extLst>
              <a:ext uri="{FF2B5EF4-FFF2-40B4-BE49-F238E27FC236}">
                <a16:creationId xmlns:a16="http://schemas.microsoft.com/office/drawing/2014/main" id="{4C1A48D3-60E0-4714-9495-344ACA5B7DC6}"/>
              </a:ext>
            </a:extLst>
          </p:cNvPr>
          <p:cNvSpPr>
            <a:spLocks noGrp="1"/>
          </p:cNvSpPr>
          <p:nvPr/>
        </p:nvSpPr>
        <p:spPr>
          <a:xfrm>
            <a:off x="7143750" y="4083844"/>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49" name="Freeform: Shape 48">
            <a:extLst>
              <a:ext uri="{FF2B5EF4-FFF2-40B4-BE49-F238E27FC236}">
                <a16:creationId xmlns:a16="http://schemas.microsoft.com/office/drawing/2014/main" id="{16AFC4A2-850D-4C36-8609-E9264F199AA3}"/>
              </a:ext>
            </a:extLst>
          </p:cNvPr>
          <p:cNvSpPr>
            <a:spLocks noGrp="1"/>
          </p:cNvSpPr>
          <p:nvPr/>
        </p:nvSpPr>
        <p:spPr>
          <a:xfrm>
            <a:off x="7143750" y="3714750"/>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50" name="Freeform: Shape 49">
            <a:extLst>
              <a:ext uri="{FF2B5EF4-FFF2-40B4-BE49-F238E27FC236}">
                <a16:creationId xmlns:a16="http://schemas.microsoft.com/office/drawing/2014/main" id="{928EE8E3-9E83-45B5-BD90-C312A9BF90CA}"/>
              </a:ext>
            </a:extLst>
          </p:cNvPr>
          <p:cNvSpPr>
            <a:spLocks noGrp="1"/>
          </p:cNvSpPr>
          <p:nvPr/>
        </p:nvSpPr>
        <p:spPr>
          <a:xfrm>
            <a:off x="7143750" y="3345656"/>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51" name="Freeform: Shape 50">
            <a:extLst>
              <a:ext uri="{FF2B5EF4-FFF2-40B4-BE49-F238E27FC236}">
                <a16:creationId xmlns:a16="http://schemas.microsoft.com/office/drawing/2014/main" id="{965926CA-D121-4C6C-B386-A25249BB908F}"/>
              </a:ext>
            </a:extLst>
          </p:cNvPr>
          <p:cNvSpPr>
            <a:spLocks noGrp="1"/>
          </p:cNvSpPr>
          <p:nvPr/>
        </p:nvSpPr>
        <p:spPr>
          <a:xfrm>
            <a:off x="7143750" y="2976563"/>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52" name="Freeform: Shape 51">
            <a:extLst>
              <a:ext uri="{FF2B5EF4-FFF2-40B4-BE49-F238E27FC236}">
                <a16:creationId xmlns:a16="http://schemas.microsoft.com/office/drawing/2014/main" id="{6CD36A58-8916-4E0B-BF05-648BE5952ECE}"/>
              </a:ext>
            </a:extLst>
          </p:cNvPr>
          <p:cNvSpPr>
            <a:spLocks noGrp="1"/>
          </p:cNvSpPr>
          <p:nvPr/>
        </p:nvSpPr>
        <p:spPr>
          <a:xfrm>
            <a:off x="7143750" y="2607469"/>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53" name="Freeform: Shape 52">
            <a:extLst>
              <a:ext uri="{FF2B5EF4-FFF2-40B4-BE49-F238E27FC236}">
                <a16:creationId xmlns:a16="http://schemas.microsoft.com/office/drawing/2014/main" id="{2E2DCEE8-753D-4941-8D0A-36285ED71DBB}"/>
              </a:ext>
            </a:extLst>
          </p:cNvPr>
          <p:cNvSpPr>
            <a:spLocks noGrp="1"/>
          </p:cNvSpPr>
          <p:nvPr/>
        </p:nvSpPr>
        <p:spPr>
          <a:xfrm>
            <a:off x="7143750" y="2238375"/>
            <a:ext cx="2952750" cy="953"/>
          </a:xfrm>
          <a:custGeom>
            <a:avLst/>
            <a:gdLst/>
            <a:ahLst/>
            <a:cxnLst/>
            <a:rect l="0" t="0" r="0" b="0"/>
            <a:pathLst>
              <a:path w="2952750" h="953">
                <a:moveTo>
                  <a:pt x="0" y="0"/>
                </a:moveTo>
                <a:lnTo>
                  <a:pt x="2952750" y="0"/>
                </a:lnTo>
              </a:path>
            </a:pathLst>
          </a:custGeom>
          <a:noFill/>
          <a:ln w="6668">
            <a:solidFill>
              <a:srgbClr val="E4EAF0"/>
            </a:solidFill>
            <a:prstDash val="solid"/>
          </a:ln>
        </p:spPr>
        <p:txBody>
          <a:bodyPr/>
          <a:lstStyle/>
          <a:p>
            <a:endParaRPr lang="en-US"/>
          </a:p>
        </p:txBody>
      </p:sp>
      <p:sp>
        <p:nvSpPr>
          <p:cNvPr id="54" name="Freeform: Shape 53">
            <a:extLst>
              <a:ext uri="{FF2B5EF4-FFF2-40B4-BE49-F238E27FC236}">
                <a16:creationId xmlns:a16="http://schemas.microsoft.com/office/drawing/2014/main" id="{FC604255-DC36-4F26-9228-C9311D14DCFB}"/>
              </a:ext>
            </a:extLst>
          </p:cNvPr>
          <p:cNvSpPr>
            <a:spLocks noGrp="1"/>
          </p:cNvSpPr>
          <p:nvPr/>
        </p:nvSpPr>
        <p:spPr>
          <a:xfrm>
            <a:off x="7143750" y="3714750"/>
            <a:ext cx="2952750" cy="953"/>
          </a:xfrm>
          <a:custGeom>
            <a:avLst/>
            <a:gdLst/>
            <a:ahLst/>
            <a:cxnLst/>
            <a:rect l="0" t="0" r="0" b="0"/>
            <a:pathLst>
              <a:path w="2952750" h="953">
                <a:moveTo>
                  <a:pt x="0" y="0"/>
                </a:moveTo>
                <a:lnTo>
                  <a:pt x="2952750" y="0"/>
                </a:lnTo>
              </a:path>
            </a:pathLst>
          </a:custGeom>
          <a:noFill/>
          <a:ln w="17145">
            <a:solidFill>
              <a:srgbClr val="687783"/>
            </a:solidFill>
            <a:prstDash val="solid"/>
          </a:ln>
        </p:spPr>
        <p:txBody>
          <a:bodyPr/>
          <a:lstStyle/>
          <a:p>
            <a:endParaRPr lang="en-US"/>
          </a:p>
        </p:txBody>
      </p:sp>
      <p:sp>
        <p:nvSpPr>
          <p:cNvPr id="55" name="Freeform: Shape 54">
            <a:extLst>
              <a:ext uri="{FF2B5EF4-FFF2-40B4-BE49-F238E27FC236}">
                <a16:creationId xmlns:a16="http://schemas.microsoft.com/office/drawing/2014/main" id="{9FE1CFAB-BD45-4147-B35B-3BE33C16DCBB}"/>
              </a:ext>
            </a:extLst>
          </p:cNvPr>
          <p:cNvSpPr>
            <a:spLocks noGrp="1"/>
          </p:cNvSpPr>
          <p:nvPr/>
        </p:nvSpPr>
        <p:spPr>
          <a:xfrm>
            <a:off x="8620125" y="2238375"/>
            <a:ext cx="953" cy="2952750"/>
          </a:xfrm>
          <a:custGeom>
            <a:avLst/>
            <a:gdLst/>
            <a:ahLst/>
            <a:cxnLst/>
            <a:rect l="0" t="0" r="0" b="0"/>
            <a:pathLst>
              <a:path w="953" h="2952750">
                <a:moveTo>
                  <a:pt x="0" y="0"/>
                </a:moveTo>
                <a:lnTo>
                  <a:pt x="0" y="2952750"/>
                </a:lnTo>
              </a:path>
            </a:pathLst>
          </a:custGeom>
          <a:noFill/>
          <a:ln w="17145">
            <a:solidFill>
              <a:srgbClr val="687783"/>
            </a:solidFill>
            <a:prstDash val="solid"/>
          </a:ln>
        </p:spPr>
        <p:txBody>
          <a:bodyPr/>
          <a:lstStyle/>
          <a:p>
            <a:endParaRPr lang="en-US"/>
          </a:p>
        </p:txBody>
      </p:sp>
      <p:sp>
        <p:nvSpPr>
          <p:cNvPr id="56" name="Rectangle 55">
            <a:extLst>
              <a:ext uri="{FF2B5EF4-FFF2-40B4-BE49-F238E27FC236}">
                <a16:creationId xmlns:a16="http://schemas.microsoft.com/office/drawing/2014/main" id="{1A2FE19D-10AB-4874-BECD-5F9D4AD9DBAB}"/>
              </a:ext>
            </a:extLst>
          </p:cNvPr>
          <p:cNvSpPr>
            <a:spLocks noGrp="1"/>
          </p:cNvSpPr>
          <p:nvPr/>
        </p:nvSpPr>
        <p:spPr>
          <a:xfrm>
            <a:off x="7000875"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57" name="Rectangle 56">
            <a:extLst>
              <a:ext uri="{FF2B5EF4-FFF2-40B4-BE49-F238E27FC236}">
                <a16:creationId xmlns:a16="http://schemas.microsoft.com/office/drawing/2014/main" id="{1E183B13-8AF6-4388-AA22-563D15030AE2}"/>
              </a:ext>
            </a:extLst>
          </p:cNvPr>
          <p:cNvSpPr>
            <a:spLocks noGrp="1"/>
          </p:cNvSpPr>
          <p:nvPr/>
        </p:nvSpPr>
        <p:spPr>
          <a:xfrm>
            <a:off x="7739063"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58" name="Rectangle 57">
            <a:extLst>
              <a:ext uri="{FF2B5EF4-FFF2-40B4-BE49-F238E27FC236}">
                <a16:creationId xmlns:a16="http://schemas.microsoft.com/office/drawing/2014/main" id="{77B83403-E647-4B0E-9600-63D737117A00}"/>
              </a:ext>
            </a:extLst>
          </p:cNvPr>
          <p:cNvSpPr>
            <a:spLocks noGrp="1"/>
          </p:cNvSpPr>
          <p:nvPr/>
        </p:nvSpPr>
        <p:spPr>
          <a:xfrm>
            <a:off x="9215438"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59" name="Rectangle 58">
            <a:extLst>
              <a:ext uri="{FF2B5EF4-FFF2-40B4-BE49-F238E27FC236}">
                <a16:creationId xmlns:a16="http://schemas.microsoft.com/office/drawing/2014/main" id="{448BA2F7-1253-4673-A0DA-842002A9BB3D}"/>
              </a:ext>
            </a:extLst>
          </p:cNvPr>
          <p:cNvSpPr>
            <a:spLocks noGrp="1"/>
          </p:cNvSpPr>
          <p:nvPr/>
        </p:nvSpPr>
        <p:spPr>
          <a:xfrm>
            <a:off x="9953625" y="37623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60" name="Rectangle 59">
            <a:extLst>
              <a:ext uri="{FF2B5EF4-FFF2-40B4-BE49-F238E27FC236}">
                <a16:creationId xmlns:a16="http://schemas.microsoft.com/office/drawing/2014/main" id="{6CB58242-5409-42C0-85A6-99F9C5D09919}"/>
              </a:ext>
            </a:extLst>
          </p:cNvPr>
          <p:cNvSpPr>
            <a:spLocks noGrp="1"/>
          </p:cNvSpPr>
          <p:nvPr/>
        </p:nvSpPr>
        <p:spPr>
          <a:xfrm>
            <a:off x="8353425" y="508635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61" name="Rectangle 60">
            <a:extLst>
              <a:ext uri="{FF2B5EF4-FFF2-40B4-BE49-F238E27FC236}">
                <a16:creationId xmlns:a16="http://schemas.microsoft.com/office/drawing/2014/main" id="{A61E5FC4-802D-4328-AF9D-F5B5A9CE3C28}"/>
              </a:ext>
            </a:extLst>
          </p:cNvPr>
          <p:cNvSpPr>
            <a:spLocks noGrp="1"/>
          </p:cNvSpPr>
          <p:nvPr/>
        </p:nvSpPr>
        <p:spPr>
          <a:xfrm>
            <a:off x="8353425" y="4348163"/>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62" name="Rectangle 61">
            <a:extLst>
              <a:ext uri="{FF2B5EF4-FFF2-40B4-BE49-F238E27FC236}">
                <a16:creationId xmlns:a16="http://schemas.microsoft.com/office/drawing/2014/main" id="{CA6FF717-C7DD-46DE-B46F-8EAC91D708C4}"/>
              </a:ext>
            </a:extLst>
          </p:cNvPr>
          <p:cNvSpPr>
            <a:spLocks noGrp="1"/>
          </p:cNvSpPr>
          <p:nvPr/>
        </p:nvSpPr>
        <p:spPr>
          <a:xfrm>
            <a:off x="8353425" y="2871788"/>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63" name="Rectangle 62">
            <a:extLst>
              <a:ext uri="{FF2B5EF4-FFF2-40B4-BE49-F238E27FC236}">
                <a16:creationId xmlns:a16="http://schemas.microsoft.com/office/drawing/2014/main" id="{5154EC66-4665-4063-8F44-14B7A3A397EC}"/>
              </a:ext>
            </a:extLst>
          </p:cNvPr>
          <p:cNvSpPr>
            <a:spLocks noGrp="1"/>
          </p:cNvSpPr>
          <p:nvPr/>
        </p:nvSpPr>
        <p:spPr>
          <a:xfrm>
            <a:off x="8353425" y="21336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64" name="Rectangle 63">
            <a:extLst>
              <a:ext uri="{FF2B5EF4-FFF2-40B4-BE49-F238E27FC236}">
                <a16:creationId xmlns:a16="http://schemas.microsoft.com/office/drawing/2014/main" id="{DB8E62B0-D296-4C22-9335-CD92BA7F6FB1}"/>
              </a:ext>
            </a:extLst>
          </p:cNvPr>
          <p:cNvSpPr>
            <a:spLocks noGrp="1"/>
          </p:cNvSpPr>
          <p:nvPr/>
        </p:nvSpPr>
        <p:spPr>
          <a:xfrm>
            <a:off x="10163175" y="35814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65" name="Rectangle 64">
            <a:extLst>
              <a:ext uri="{FF2B5EF4-FFF2-40B4-BE49-F238E27FC236}">
                <a16:creationId xmlns:a16="http://schemas.microsoft.com/office/drawing/2014/main" id="{F5341895-5B52-43FD-9CC5-6EA30F80E7C8}"/>
              </a:ext>
            </a:extLst>
          </p:cNvPr>
          <p:cNvSpPr>
            <a:spLocks noGrp="1"/>
          </p:cNvSpPr>
          <p:nvPr/>
        </p:nvSpPr>
        <p:spPr>
          <a:xfrm>
            <a:off x="8677275" y="1971675"/>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66" name="Freeform: Shape 65">
            <a:extLst>
              <a:ext uri="{FF2B5EF4-FFF2-40B4-BE49-F238E27FC236}">
                <a16:creationId xmlns:a16="http://schemas.microsoft.com/office/drawing/2014/main" id="{65EE8CE5-8D6D-41FD-BF94-EB46DF21DB1C}"/>
              </a:ext>
            </a:extLst>
          </p:cNvPr>
          <p:cNvSpPr>
            <a:spLocks noGrp="1"/>
          </p:cNvSpPr>
          <p:nvPr/>
        </p:nvSpPr>
        <p:spPr>
          <a:xfrm>
            <a:off x="7143750" y="2976563"/>
            <a:ext cx="2952750" cy="1476375"/>
          </a:xfrm>
          <a:custGeom>
            <a:avLst/>
            <a:gdLst/>
            <a:ahLst/>
            <a:cxnLst/>
            <a:rect l="0" t="0" r="0" b="0"/>
            <a:pathLst>
              <a:path w="2952750" h="1476375">
                <a:moveTo>
                  <a:pt x="0" y="1476375"/>
                </a:moveTo>
                <a:lnTo>
                  <a:pt x="2952750" y="0"/>
                </a:lnTo>
              </a:path>
            </a:pathLst>
          </a:custGeom>
          <a:noFill/>
          <a:ln w="28575">
            <a:solidFill>
              <a:srgbClr val="1777B4"/>
            </a:solidFill>
            <a:prstDash val="solid"/>
          </a:ln>
        </p:spPr>
        <p:txBody>
          <a:bodyPr/>
          <a:lstStyle/>
          <a:p>
            <a:endParaRPr lang="en-US"/>
          </a:p>
        </p:txBody>
      </p:sp>
      <p:sp>
        <p:nvSpPr>
          <p:cNvPr id="67" name="Freeform: Shape 66">
            <a:extLst>
              <a:ext uri="{FF2B5EF4-FFF2-40B4-BE49-F238E27FC236}">
                <a16:creationId xmlns:a16="http://schemas.microsoft.com/office/drawing/2014/main" id="{43FE000A-0609-4193-89B7-8ECC7FE26397}"/>
              </a:ext>
            </a:extLst>
          </p:cNvPr>
          <p:cNvSpPr>
            <a:spLocks noGrp="1"/>
          </p:cNvSpPr>
          <p:nvPr/>
        </p:nvSpPr>
        <p:spPr>
          <a:xfrm>
            <a:off x="7881938" y="2238375"/>
            <a:ext cx="1476375" cy="2952750"/>
          </a:xfrm>
          <a:custGeom>
            <a:avLst/>
            <a:gdLst/>
            <a:ahLst/>
            <a:cxnLst/>
            <a:rect l="0" t="0" r="0" b="0"/>
            <a:pathLst>
              <a:path w="1476375" h="2952750">
                <a:moveTo>
                  <a:pt x="1476375" y="2952750"/>
                </a:moveTo>
                <a:lnTo>
                  <a:pt x="0" y="0"/>
                </a:lnTo>
              </a:path>
            </a:pathLst>
          </a:custGeom>
          <a:noFill/>
          <a:ln w="28575">
            <a:solidFill>
              <a:srgbClr val="148A68"/>
            </a:solidFill>
            <a:prstDash val="solid"/>
          </a:ln>
        </p:spPr>
        <p:txBody>
          <a:bodyPr/>
          <a:lstStyle/>
          <a:p>
            <a:endParaRPr lang="en-US"/>
          </a:p>
        </p:txBody>
      </p:sp>
      <p:sp>
        <p:nvSpPr>
          <p:cNvPr id="68" name="Rectangle 67">
            <a:extLst>
              <a:ext uri="{FF2B5EF4-FFF2-40B4-BE49-F238E27FC236}">
                <a16:creationId xmlns:a16="http://schemas.microsoft.com/office/drawing/2014/main" id="{8B3F0A21-09CC-4286-A059-04BACDB221C1}"/>
              </a:ext>
            </a:extLst>
          </p:cNvPr>
          <p:cNvSpPr>
            <a:spLocks noGrp="1"/>
          </p:cNvSpPr>
          <p:nvPr/>
        </p:nvSpPr>
        <p:spPr>
          <a:xfrm>
            <a:off x="952500" y="1619250"/>
            <a:ext cx="4762500" cy="428625"/>
          </a:xfrm>
          <a:prstGeom prst="rect">
            <a:avLst/>
          </a:prstGeom>
          <a:noFill/>
          <a:ln w="0">
            <a:noFill/>
          </a:ln>
        </p:spPr>
        <p:txBody>
          <a:bodyPr wrap="square" lIns="0" tIns="0" rIns="0" bIns="0" anchor="ctr">
            <a:noAutofit/>
          </a:bodyPr>
          <a:lstStyle/>
          <a:p>
            <a:pPr>
              <a:defRPr sz="2325" b="1">
                <a:solidFill>
                  <a:srgbClr val="1777B4"/>
                </a:solidFill>
                <a:latin typeface="Arial"/>
                <a:ea typeface="Arial"/>
                <a:cs typeface="Arial"/>
              </a:defRPr>
            </a:pPr>
            <a:r>
              <a:rPr sz="2325" b="1">
                <a:solidFill>
                  <a:srgbClr val="1777B4"/>
                </a:solidFill>
                <a:latin typeface="Arial"/>
                <a:ea typeface="Arial"/>
                <a:cs typeface="Arial"/>
              </a:rPr>
              <a:t>Parallel: equal slopes</a:t>
            </a:r>
          </a:p>
        </p:txBody>
      </p:sp>
      <p:sp>
        <p:nvSpPr>
          <p:cNvPr id="69" name="Rectangle 68">
            <a:extLst>
              <a:ext uri="{FF2B5EF4-FFF2-40B4-BE49-F238E27FC236}">
                <a16:creationId xmlns:a16="http://schemas.microsoft.com/office/drawing/2014/main" id="{380C158A-2856-4A44-80B7-8339C18A7CED}"/>
              </a:ext>
            </a:extLst>
          </p:cNvPr>
          <p:cNvSpPr>
            <a:spLocks noGrp="1"/>
          </p:cNvSpPr>
          <p:nvPr/>
        </p:nvSpPr>
        <p:spPr>
          <a:xfrm>
            <a:off x="6810375" y="1619250"/>
            <a:ext cx="4857750" cy="428625"/>
          </a:xfrm>
          <a:prstGeom prst="rect">
            <a:avLst/>
          </a:prstGeom>
          <a:noFill/>
          <a:ln w="0">
            <a:noFill/>
          </a:ln>
        </p:spPr>
        <p:txBody>
          <a:bodyPr wrap="square" lIns="0" tIns="0" rIns="0" bIns="0" anchor="ctr">
            <a:noAutofit/>
          </a:bodyPr>
          <a:lstStyle/>
          <a:p>
            <a:pPr>
              <a:defRPr sz="2325" b="1">
                <a:solidFill>
                  <a:srgbClr val="148A68"/>
                </a:solidFill>
                <a:latin typeface="Arial"/>
                <a:ea typeface="Arial"/>
                <a:cs typeface="Arial"/>
              </a:defRPr>
            </a:pPr>
            <a:r>
              <a:rPr sz="2325" b="1">
                <a:solidFill>
                  <a:srgbClr val="148A68"/>
                </a:solidFill>
                <a:latin typeface="Arial"/>
                <a:ea typeface="Arial"/>
                <a:cs typeface="Arial"/>
              </a:rPr>
              <a:t>Perpendicular: a right angle</a:t>
            </a:r>
          </a:p>
        </p:txBody>
      </p:sp>
      <p:sp>
        <p:nvSpPr>
          <p:cNvPr id="70" name="Rectangle 69">
            <a:extLst>
              <a:ext uri="{FF2B5EF4-FFF2-40B4-BE49-F238E27FC236}">
                <a16:creationId xmlns:a16="http://schemas.microsoft.com/office/drawing/2014/main" id="{8AB2C829-F778-4054-800A-329633ADCDEF}"/>
              </a:ext>
            </a:extLst>
          </p:cNvPr>
          <p:cNvSpPr>
            <a:spLocks noGrp="1"/>
          </p:cNvSpPr>
          <p:nvPr/>
        </p:nvSpPr>
        <p:spPr>
          <a:xfrm>
            <a:off x="1095375" y="5400675"/>
            <a:ext cx="4476750" cy="60960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m₁ = ½     m₂ = ½</a:t>
            </a:r>
          </a:p>
        </p:txBody>
      </p:sp>
      <p:sp>
        <p:nvSpPr>
          <p:cNvPr id="71" name="Rectangle 70">
            <a:extLst>
              <a:ext uri="{FF2B5EF4-FFF2-40B4-BE49-F238E27FC236}">
                <a16:creationId xmlns:a16="http://schemas.microsoft.com/office/drawing/2014/main" id="{EEEE5461-7B44-4EDE-9DF9-B60649710AE8}"/>
              </a:ext>
            </a:extLst>
          </p:cNvPr>
          <p:cNvSpPr>
            <a:spLocks noGrp="1"/>
          </p:cNvSpPr>
          <p:nvPr/>
        </p:nvSpPr>
        <p:spPr>
          <a:xfrm>
            <a:off x="7096125" y="5305425"/>
            <a:ext cx="4381500" cy="609600"/>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m₁ = ½     m₂ = −2</a:t>
            </a:r>
          </a:p>
        </p:txBody>
      </p:sp>
      <p:sp>
        <p:nvSpPr>
          <p:cNvPr id="72" name="Rectangle 71">
            <a:extLst>
              <a:ext uri="{FF2B5EF4-FFF2-40B4-BE49-F238E27FC236}">
                <a16:creationId xmlns:a16="http://schemas.microsoft.com/office/drawing/2014/main" id="{D6272B3B-AB91-473F-AAAC-ADE6C79F9183}"/>
              </a:ext>
            </a:extLst>
          </p:cNvPr>
          <p:cNvSpPr>
            <a:spLocks noGrp="1"/>
          </p:cNvSpPr>
          <p:nvPr/>
        </p:nvSpPr>
        <p:spPr>
          <a:xfrm>
            <a:off x="7096125" y="5819775"/>
            <a:ext cx="4381500" cy="609600"/>
          </a:xfrm>
          <a:prstGeom prst="rect">
            <a:avLst/>
          </a:prstGeom>
          <a:noFill/>
          <a:ln w="0">
            <a:noFill/>
          </a:ln>
        </p:spPr>
        <p:txBody>
          <a:bodyPr wrap="square" lIns="0" tIns="0" rIns="0" bIns="0" anchor="ctr">
            <a:noAutofit/>
          </a:bodyPr>
          <a:lstStyle/>
          <a:p>
            <a:pPr>
              <a:defRPr sz="2025" b="0">
                <a:solidFill>
                  <a:srgbClr val="148A68"/>
                </a:solidFill>
                <a:latin typeface="Cambria Math"/>
                <a:ea typeface="Cambria Math"/>
                <a:cs typeface="Cambria Math"/>
              </a:defRPr>
            </a:pPr>
            <a:r>
              <a:rPr sz="2025" b="0">
                <a:solidFill>
                  <a:srgbClr val="148A68"/>
                </a:solidFill>
                <a:latin typeface="Cambria Math"/>
                <a:ea typeface="Cambria Math"/>
                <a:cs typeface="Cambria Math"/>
              </a:rPr>
              <a:t>½ × (−2) = −1</a:t>
            </a:r>
          </a:p>
        </p:txBody>
      </p:sp>
      <p:sp>
        <p:nvSpPr>
          <p:cNvPr id="73" name="Freeform: Shape 72">
            <a:extLst>
              <a:ext uri="{FF2B5EF4-FFF2-40B4-BE49-F238E27FC236}">
                <a16:creationId xmlns:a16="http://schemas.microsoft.com/office/drawing/2014/main" id="{3AAC8645-04E2-4EFB-B85D-7D870E188F24}"/>
              </a:ext>
            </a:extLst>
          </p:cNvPr>
          <p:cNvSpPr>
            <a:spLocks noGrp="1"/>
          </p:cNvSpPr>
          <p:nvPr/>
        </p:nvSpPr>
        <p:spPr>
          <a:xfrm>
            <a:off x="8721626" y="3410248"/>
            <a:ext cx="101501" cy="203002"/>
          </a:xfrm>
          <a:custGeom>
            <a:avLst/>
            <a:gdLst/>
            <a:ahLst/>
            <a:cxnLst/>
            <a:rect l="0" t="0" r="0" b="0"/>
            <a:pathLst>
              <a:path w="101501" h="203002">
                <a:moveTo>
                  <a:pt x="101501" y="203002"/>
                </a:moveTo>
                <a:lnTo>
                  <a:pt x="0" y="0"/>
                </a:lnTo>
              </a:path>
            </a:pathLst>
          </a:custGeom>
          <a:noFill/>
          <a:ln w="19050">
            <a:solidFill>
              <a:srgbClr val="11344E"/>
            </a:solidFill>
            <a:prstDash val="solid"/>
          </a:ln>
        </p:spPr>
        <p:txBody>
          <a:bodyPr/>
          <a:lstStyle/>
          <a:p>
            <a:endParaRPr lang="en-US"/>
          </a:p>
        </p:txBody>
      </p:sp>
      <p:sp>
        <p:nvSpPr>
          <p:cNvPr id="74" name="Freeform: Shape 73">
            <a:extLst>
              <a:ext uri="{FF2B5EF4-FFF2-40B4-BE49-F238E27FC236}">
                <a16:creationId xmlns:a16="http://schemas.microsoft.com/office/drawing/2014/main" id="{06ED419C-73F4-4302-918C-60FACC51EF08}"/>
              </a:ext>
            </a:extLst>
          </p:cNvPr>
          <p:cNvSpPr>
            <a:spLocks noGrp="1"/>
          </p:cNvSpPr>
          <p:nvPr/>
        </p:nvSpPr>
        <p:spPr>
          <a:xfrm>
            <a:off x="8518624" y="3410248"/>
            <a:ext cx="203002" cy="101501"/>
          </a:xfrm>
          <a:custGeom>
            <a:avLst/>
            <a:gdLst/>
            <a:ahLst/>
            <a:cxnLst/>
            <a:rect l="0" t="0" r="0" b="0"/>
            <a:pathLst>
              <a:path w="203002" h="101501">
                <a:moveTo>
                  <a:pt x="203002" y="0"/>
                </a:moveTo>
                <a:lnTo>
                  <a:pt x="0" y="101501"/>
                </a:lnTo>
              </a:path>
            </a:pathLst>
          </a:custGeom>
          <a:noFill/>
          <a:ln w="19050">
            <a:solidFill>
              <a:srgbClr val="11344E"/>
            </a:solidFill>
            <a:prstDash val="solid"/>
          </a:ln>
        </p:spPr>
        <p:txBody>
          <a:bodyPr/>
          <a:lstStyle/>
          <a:p>
            <a:endParaRPr lang="en-US"/>
          </a:p>
        </p:txBody>
      </p:sp>
    </p:spTree>
    <p:extLst>
      <p:ext uri="{BB962C8B-B14F-4D97-AF65-F5344CB8AC3E}">
        <p14:creationId xmlns:p14="http://schemas.microsoft.com/office/powerpoint/2010/main" val="175471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2B569EBC-CA5A-406E-9CED-E04D681564CE}"/>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Two lines through the same point</a:t>
            </a:r>
          </a:p>
        </p:txBody>
      </p:sp>
      <p:sp>
        <p:nvSpPr>
          <p:cNvPr id="2" name="Rectangle 1">
            <a:extLst>
              <a:ext uri="{FF2B5EF4-FFF2-40B4-BE49-F238E27FC236}">
                <a16:creationId xmlns:a16="http://schemas.microsoft.com/office/drawing/2014/main" id="{DBB04637-C425-4E02-AFC4-282839CFCDD0}"/>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Given 3x + 2y = 12 and P = (2, −1)</a:t>
            </a:r>
          </a:p>
        </p:txBody>
      </p:sp>
      <p:sp>
        <p:nvSpPr>
          <p:cNvPr id="3" name="Rectangle 2">
            <a:extLst>
              <a:ext uri="{FF2B5EF4-FFF2-40B4-BE49-F238E27FC236}">
                <a16:creationId xmlns:a16="http://schemas.microsoft.com/office/drawing/2014/main" id="{371ECEFF-AC94-4081-B457-B791EF11CCCC}"/>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7</a:t>
            </a:r>
          </a:p>
        </p:txBody>
      </p:sp>
      <p:sp>
        <p:nvSpPr>
          <p:cNvPr id="4" name="Rectangle 3">
            <a:extLst>
              <a:ext uri="{FF2B5EF4-FFF2-40B4-BE49-F238E27FC236}">
                <a16:creationId xmlns:a16="http://schemas.microsoft.com/office/drawing/2014/main" id="{0ED89785-320E-4985-90D0-3271253E7DDE}"/>
              </a:ext>
            </a:extLst>
          </p:cNvPr>
          <p:cNvSpPr>
            <a:spLocks noGrp="1"/>
          </p:cNvSpPr>
          <p:nvPr/>
        </p:nvSpPr>
        <p:spPr>
          <a:xfrm>
            <a:off x="714375" y="1809750"/>
            <a:ext cx="5238750" cy="428625"/>
          </a:xfrm>
          <a:prstGeom prst="rect">
            <a:avLst/>
          </a:prstGeom>
          <a:noFill/>
          <a:ln w="0">
            <a:noFill/>
          </a:ln>
        </p:spPr>
        <p:txBody>
          <a:bodyPr wrap="square" lIns="0" tIns="0" rIns="0" bIns="0" anchor="ctr">
            <a:noAutofit/>
          </a:bodyPr>
          <a:lstStyle/>
          <a:p>
            <a:pPr>
              <a:defRPr sz="2025" b="0">
                <a:solidFill>
                  <a:srgbClr val="687783"/>
                </a:solidFill>
                <a:latin typeface="Arial"/>
                <a:ea typeface="Arial"/>
                <a:cs typeface="Arial"/>
              </a:defRPr>
            </a:pPr>
            <a:r>
              <a:rPr sz="2025" b="0">
                <a:solidFill>
                  <a:srgbClr val="687783"/>
                </a:solidFill>
                <a:latin typeface="Arial"/>
                <a:ea typeface="Arial"/>
                <a:cs typeface="Arial"/>
              </a:rPr>
              <a:t>1  Find the given slope</a:t>
            </a:r>
          </a:p>
        </p:txBody>
      </p:sp>
      <p:sp>
        <p:nvSpPr>
          <p:cNvPr id="5" name="Rectangle 4">
            <a:extLst>
              <a:ext uri="{FF2B5EF4-FFF2-40B4-BE49-F238E27FC236}">
                <a16:creationId xmlns:a16="http://schemas.microsoft.com/office/drawing/2014/main" id="{75219CB9-FE6D-434E-B206-E813E492BC1D}"/>
              </a:ext>
            </a:extLst>
          </p:cNvPr>
          <p:cNvSpPr>
            <a:spLocks noGrp="1"/>
          </p:cNvSpPr>
          <p:nvPr/>
        </p:nvSpPr>
        <p:spPr>
          <a:xfrm>
            <a:off x="857250" y="2228850"/>
            <a:ext cx="5048250" cy="60960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3x + 2y = 12</a:t>
            </a:r>
          </a:p>
        </p:txBody>
      </p:sp>
      <p:sp>
        <p:nvSpPr>
          <p:cNvPr id="6" name="Rectangle 5">
            <a:extLst>
              <a:ext uri="{FF2B5EF4-FFF2-40B4-BE49-F238E27FC236}">
                <a16:creationId xmlns:a16="http://schemas.microsoft.com/office/drawing/2014/main" id="{672D98CA-5404-4279-8F2F-296A93F6AEDA}"/>
              </a:ext>
            </a:extLst>
          </p:cNvPr>
          <p:cNvSpPr>
            <a:spLocks noGrp="1"/>
          </p:cNvSpPr>
          <p:nvPr/>
        </p:nvSpPr>
        <p:spPr>
          <a:xfrm>
            <a:off x="857250" y="2857500"/>
            <a:ext cx="1190625" cy="60960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m = −</a:t>
            </a:r>
          </a:p>
        </p:txBody>
      </p:sp>
      <p:sp>
        <p:nvSpPr>
          <p:cNvPr id="7" name="Rectangle 6">
            <a:extLst>
              <a:ext uri="{FF2B5EF4-FFF2-40B4-BE49-F238E27FC236}">
                <a16:creationId xmlns:a16="http://schemas.microsoft.com/office/drawing/2014/main" id="{AF8288EB-0F99-4EA1-AA42-5F6D97E99C79}"/>
              </a:ext>
            </a:extLst>
          </p:cNvPr>
          <p:cNvSpPr>
            <a:spLocks noGrp="1"/>
          </p:cNvSpPr>
          <p:nvPr/>
        </p:nvSpPr>
        <p:spPr>
          <a:xfrm>
            <a:off x="2114550" y="2667000"/>
            <a:ext cx="495300" cy="609600"/>
          </a:xfrm>
          <a:prstGeom prst="rect">
            <a:avLst/>
          </a:prstGeom>
          <a:noFill/>
          <a:ln w="0">
            <a:noFill/>
          </a:ln>
        </p:spPr>
        <p:txBody>
          <a:bodyPr wrap="square" lIns="0" tIns="0" rIns="0" bIns="0" anchor="ctr">
            <a:noAutofit/>
          </a:bodyPr>
          <a:lstStyle/>
          <a:p>
            <a:pPr algn="ctr">
              <a:defRPr sz="2175" b="0">
                <a:solidFill>
                  <a:srgbClr val="11344E"/>
                </a:solidFill>
                <a:latin typeface="Cambria Math"/>
                <a:ea typeface="Cambria Math"/>
                <a:cs typeface="Cambria Math"/>
              </a:defRPr>
            </a:pPr>
            <a:r>
              <a:rPr sz="2175" b="0">
                <a:solidFill>
                  <a:srgbClr val="11344E"/>
                </a:solidFill>
                <a:latin typeface="Cambria Math"/>
                <a:ea typeface="Cambria Math"/>
                <a:cs typeface="Cambria Math"/>
              </a:rPr>
              <a:t>3</a:t>
            </a:r>
          </a:p>
        </p:txBody>
      </p:sp>
      <p:sp>
        <p:nvSpPr>
          <p:cNvPr id="8" name="Rectangle 7">
            <a:extLst>
              <a:ext uri="{FF2B5EF4-FFF2-40B4-BE49-F238E27FC236}">
                <a16:creationId xmlns:a16="http://schemas.microsoft.com/office/drawing/2014/main" id="{40801552-E749-4F24-BD51-AD40834869C9}"/>
              </a:ext>
            </a:extLst>
          </p:cNvPr>
          <p:cNvSpPr>
            <a:spLocks noGrp="1"/>
          </p:cNvSpPr>
          <p:nvPr/>
        </p:nvSpPr>
        <p:spPr>
          <a:xfrm>
            <a:off x="2114550" y="3086100"/>
            <a:ext cx="495300" cy="609600"/>
          </a:xfrm>
          <a:prstGeom prst="rect">
            <a:avLst/>
          </a:prstGeom>
          <a:noFill/>
          <a:ln w="0">
            <a:noFill/>
          </a:ln>
        </p:spPr>
        <p:txBody>
          <a:bodyPr wrap="square" lIns="0" tIns="0" rIns="0" bIns="0" anchor="ctr">
            <a:noAutofit/>
          </a:bodyPr>
          <a:lstStyle/>
          <a:p>
            <a:pPr algn="ctr">
              <a:defRPr sz="2175" b="0">
                <a:solidFill>
                  <a:srgbClr val="11344E"/>
                </a:solidFill>
                <a:latin typeface="Cambria Math"/>
                <a:ea typeface="Cambria Math"/>
                <a:cs typeface="Cambria Math"/>
              </a:defRPr>
            </a:pPr>
            <a:r>
              <a:rPr sz="2175" b="0">
                <a:solidFill>
                  <a:srgbClr val="11344E"/>
                </a:solidFill>
                <a:latin typeface="Cambria Math"/>
                <a:ea typeface="Cambria Math"/>
                <a:cs typeface="Cambria Math"/>
              </a:rPr>
              <a:t>2</a:t>
            </a:r>
          </a:p>
        </p:txBody>
      </p:sp>
      <p:sp>
        <p:nvSpPr>
          <p:cNvPr id="9" name="Freeform: Shape 8">
            <a:extLst>
              <a:ext uri="{FF2B5EF4-FFF2-40B4-BE49-F238E27FC236}">
                <a16:creationId xmlns:a16="http://schemas.microsoft.com/office/drawing/2014/main" id="{AF7733CF-96BD-4B1D-93BE-88E7E3241F2A}"/>
              </a:ext>
            </a:extLst>
          </p:cNvPr>
          <p:cNvSpPr>
            <a:spLocks noGrp="1"/>
          </p:cNvSpPr>
          <p:nvPr/>
        </p:nvSpPr>
        <p:spPr>
          <a:xfrm>
            <a:off x="2114550" y="3209925"/>
            <a:ext cx="495300" cy="953"/>
          </a:xfrm>
          <a:custGeom>
            <a:avLst/>
            <a:gdLst/>
            <a:ahLst/>
            <a:cxnLst/>
            <a:rect l="0" t="0" r="0" b="0"/>
            <a:pathLst>
              <a:path w="495300" h="953">
                <a:moveTo>
                  <a:pt x="0" y="0"/>
                </a:moveTo>
                <a:lnTo>
                  <a:pt x="495300" y="0"/>
                </a:lnTo>
              </a:path>
            </a:pathLst>
          </a:custGeom>
          <a:noFill/>
          <a:ln w="15240">
            <a:solidFill>
              <a:srgbClr val="11344E"/>
            </a:solidFill>
            <a:prstDash val="solid"/>
          </a:ln>
        </p:spPr>
        <p:txBody>
          <a:bodyPr/>
          <a:lstStyle/>
          <a:p>
            <a:endParaRPr lang="en-US"/>
          </a:p>
        </p:txBody>
      </p:sp>
      <p:sp>
        <p:nvSpPr>
          <p:cNvPr id="10" name="Rectangle 9">
            <a:extLst>
              <a:ext uri="{FF2B5EF4-FFF2-40B4-BE49-F238E27FC236}">
                <a16:creationId xmlns:a16="http://schemas.microsoft.com/office/drawing/2014/main" id="{1BDF1CF4-25A7-47E0-BDEF-9469E6DB75BB}"/>
              </a:ext>
            </a:extLst>
          </p:cNvPr>
          <p:cNvSpPr>
            <a:spLocks noGrp="1"/>
          </p:cNvSpPr>
          <p:nvPr/>
        </p:nvSpPr>
        <p:spPr>
          <a:xfrm>
            <a:off x="714375" y="3829050"/>
            <a:ext cx="5286375" cy="428625"/>
          </a:xfrm>
          <a:prstGeom prst="rect">
            <a:avLst/>
          </a:prstGeom>
          <a:noFill/>
          <a:ln w="0">
            <a:noFill/>
          </a:ln>
        </p:spPr>
        <p:txBody>
          <a:bodyPr wrap="square" lIns="0" tIns="0" rIns="0" bIns="0" anchor="ctr">
            <a:noAutofit/>
          </a:bodyPr>
          <a:lstStyle/>
          <a:p>
            <a:pPr>
              <a:defRPr sz="2025" b="0">
                <a:solidFill>
                  <a:srgbClr val="687783"/>
                </a:solidFill>
                <a:latin typeface="Arial"/>
                <a:ea typeface="Arial"/>
                <a:cs typeface="Arial"/>
              </a:defRPr>
            </a:pPr>
            <a:r>
              <a:rPr sz="2025" b="0">
                <a:solidFill>
                  <a:srgbClr val="687783"/>
                </a:solidFill>
                <a:latin typeface="Arial"/>
                <a:ea typeface="Arial"/>
                <a:cs typeface="Arial"/>
              </a:rPr>
              <a:t>2  Use the new point (2, −1)</a:t>
            </a:r>
          </a:p>
        </p:txBody>
      </p:sp>
      <p:sp>
        <p:nvSpPr>
          <p:cNvPr id="11" name="Rectangle 10">
            <a:extLst>
              <a:ext uri="{FF2B5EF4-FFF2-40B4-BE49-F238E27FC236}">
                <a16:creationId xmlns:a16="http://schemas.microsoft.com/office/drawing/2014/main" id="{CC828C20-9A23-4709-8725-BD2D581CCFFE}"/>
              </a:ext>
            </a:extLst>
          </p:cNvPr>
          <p:cNvSpPr>
            <a:spLocks noGrp="1"/>
          </p:cNvSpPr>
          <p:nvPr/>
        </p:nvSpPr>
        <p:spPr>
          <a:xfrm>
            <a:off x="857250" y="4286250"/>
            <a:ext cx="5334000" cy="609600"/>
          </a:xfrm>
          <a:prstGeom prst="rect">
            <a:avLst/>
          </a:prstGeom>
          <a:noFill/>
          <a:ln w="0">
            <a:noFill/>
          </a:ln>
        </p:spPr>
        <p:txBody>
          <a:bodyPr wrap="square" lIns="0" tIns="0" rIns="0" bIns="0" anchor="ctr">
            <a:noAutofit/>
          </a:bodyPr>
          <a:lstStyle/>
          <a:p>
            <a:pPr>
              <a:defRPr sz="2475" b="0">
                <a:solidFill>
                  <a:srgbClr val="1777B4"/>
                </a:solidFill>
                <a:latin typeface="Cambria Math"/>
                <a:ea typeface="Cambria Math"/>
                <a:cs typeface="Cambria Math"/>
              </a:defRPr>
            </a:pPr>
            <a:r>
              <a:rPr sz="2475" b="0">
                <a:solidFill>
                  <a:srgbClr val="1777B4"/>
                </a:solidFill>
                <a:latin typeface="Cambria Math"/>
                <a:ea typeface="Cambria Math"/>
                <a:cs typeface="Cambria Math"/>
              </a:rPr>
              <a:t>Parallel: y + 1 = −³⁄₂(x − 2)</a:t>
            </a:r>
          </a:p>
        </p:txBody>
      </p:sp>
      <p:sp>
        <p:nvSpPr>
          <p:cNvPr id="12" name="Rectangle 11">
            <a:extLst>
              <a:ext uri="{FF2B5EF4-FFF2-40B4-BE49-F238E27FC236}">
                <a16:creationId xmlns:a16="http://schemas.microsoft.com/office/drawing/2014/main" id="{E1A64AD8-016E-44DD-BCD0-81BC1B2F200C}"/>
              </a:ext>
            </a:extLst>
          </p:cNvPr>
          <p:cNvSpPr>
            <a:spLocks noGrp="1"/>
          </p:cNvSpPr>
          <p:nvPr/>
        </p:nvSpPr>
        <p:spPr>
          <a:xfrm>
            <a:off x="857250" y="4876800"/>
            <a:ext cx="5524500" cy="609600"/>
          </a:xfrm>
          <a:prstGeom prst="rect">
            <a:avLst/>
          </a:prstGeom>
          <a:noFill/>
          <a:ln w="0">
            <a:noFill/>
          </a:ln>
        </p:spPr>
        <p:txBody>
          <a:bodyPr wrap="square" lIns="0" tIns="0" rIns="0" bIns="0" anchor="ctr">
            <a:noAutofit/>
          </a:bodyPr>
          <a:lstStyle/>
          <a:p>
            <a:pPr>
              <a:defRPr sz="2325" b="0">
                <a:solidFill>
                  <a:srgbClr val="148A68"/>
                </a:solidFill>
                <a:latin typeface="Cambria Math"/>
                <a:ea typeface="Cambria Math"/>
                <a:cs typeface="Cambria Math"/>
              </a:defRPr>
            </a:pPr>
            <a:r>
              <a:rPr sz="2325" b="0">
                <a:solidFill>
                  <a:srgbClr val="148A68"/>
                </a:solidFill>
                <a:latin typeface="Cambria Math"/>
                <a:ea typeface="Cambria Math"/>
                <a:cs typeface="Cambria Math"/>
              </a:rPr>
              <a:t>Perpendicular: y + 1 = ⅔(x − 2)</a:t>
            </a:r>
          </a:p>
        </p:txBody>
      </p:sp>
      <p:sp>
        <p:nvSpPr>
          <p:cNvPr id="13" name="Freeform: Shape 12">
            <a:extLst>
              <a:ext uri="{FF2B5EF4-FFF2-40B4-BE49-F238E27FC236}">
                <a16:creationId xmlns:a16="http://schemas.microsoft.com/office/drawing/2014/main" id="{D3A587A6-5105-42FB-9D04-C8B1AB5BA7CC}"/>
              </a:ext>
            </a:extLst>
          </p:cNvPr>
          <p:cNvSpPr>
            <a:spLocks noGrp="1"/>
          </p:cNvSpPr>
          <p:nvPr/>
        </p:nvSpPr>
        <p:spPr>
          <a:xfrm>
            <a:off x="7572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5EA55A4C-C01A-4A6A-9657-F914C5296AA0}"/>
              </a:ext>
            </a:extLst>
          </p:cNvPr>
          <p:cNvSpPr>
            <a:spLocks noGrp="1"/>
          </p:cNvSpPr>
          <p:nvPr/>
        </p:nvSpPr>
        <p:spPr>
          <a:xfrm>
            <a:off x="79152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00C819DD-8E51-460F-B8C6-E7C911D41A3F}"/>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B26BDD0D-98CF-44F9-9317-DFD004A9AD0B}"/>
              </a:ext>
            </a:extLst>
          </p:cNvPr>
          <p:cNvSpPr>
            <a:spLocks noGrp="1"/>
          </p:cNvSpPr>
          <p:nvPr/>
        </p:nvSpPr>
        <p:spPr>
          <a:xfrm>
            <a:off x="86010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349D89AF-509B-4797-9E0E-D68E694D87ED}"/>
              </a:ext>
            </a:extLst>
          </p:cNvPr>
          <p:cNvSpPr>
            <a:spLocks noGrp="1"/>
          </p:cNvSpPr>
          <p:nvPr/>
        </p:nvSpPr>
        <p:spPr>
          <a:xfrm>
            <a:off x="89439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49B64D95-8A57-47DB-8CFF-4EE194FC63CC}"/>
              </a:ext>
            </a:extLst>
          </p:cNvPr>
          <p:cNvSpPr>
            <a:spLocks noGrp="1"/>
          </p:cNvSpPr>
          <p:nvPr/>
        </p:nvSpPr>
        <p:spPr>
          <a:xfrm>
            <a:off x="92868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A763BCF2-C561-4023-89FD-BF1845706349}"/>
              </a:ext>
            </a:extLst>
          </p:cNvPr>
          <p:cNvSpPr>
            <a:spLocks noGrp="1"/>
          </p:cNvSpPr>
          <p:nvPr/>
        </p:nvSpPr>
        <p:spPr>
          <a:xfrm>
            <a:off x="96297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22057DE9-D9B2-4617-8835-9C16CBB7113F}"/>
              </a:ext>
            </a:extLst>
          </p:cNvPr>
          <p:cNvSpPr>
            <a:spLocks noGrp="1"/>
          </p:cNvSpPr>
          <p:nvPr/>
        </p:nvSpPr>
        <p:spPr>
          <a:xfrm>
            <a:off x="99726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56CDC389-10D1-49A5-8128-BDED7D956952}"/>
              </a:ext>
            </a:extLst>
          </p:cNvPr>
          <p:cNvSpPr>
            <a:spLocks noGrp="1"/>
          </p:cNvSpPr>
          <p:nvPr/>
        </p:nvSpPr>
        <p:spPr>
          <a:xfrm>
            <a:off x="103155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3ED3F12B-3C7D-482B-AE61-A18AE18DEC1B}"/>
              </a:ext>
            </a:extLst>
          </p:cNvPr>
          <p:cNvSpPr>
            <a:spLocks noGrp="1"/>
          </p:cNvSpPr>
          <p:nvPr/>
        </p:nvSpPr>
        <p:spPr>
          <a:xfrm>
            <a:off x="106584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3" name="Freeform: Shape 22">
            <a:extLst>
              <a:ext uri="{FF2B5EF4-FFF2-40B4-BE49-F238E27FC236}">
                <a16:creationId xmlns:a16="http://schemas.microsoft.com/office/drawing/2014/main" id="{B14058D5-FBB2-45DB-8077-067FCA8D5AD9}"/>
              </a:ext>
            </a:extLst>
          </p:cNvPr>
          <p:cNvSpPr>
            <a:spLocks noGrp="1"/>
          </p:cNvSpPr>
          <p:nvPr/>
        </p:nvSpPr>
        <p:spPr>
          <a:xfrm>
            <a:off x="11001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4" name="Freeform: Shape 23">
            <a:extLst>
              <a:ext uri="{FF2B5EF4-FFF2-40B4-BE49-F238E27FC236}">
                <a16:creationId xmlns:a16="http://schemas.microsoft.com/office/drawing/2014/main" id="{BE3BD6BF-BC92-4C26-8ADF-735A63A9843B}"/>
              </a:ext>
            </a:extLst>
          </p:cNvPr>
          <p:cNvSpPr>
            <a:spLocks noGrp="1"/>
          </p:cNvSpPr>
          <p:nvPr/>
        </p:nvSpPr>
        <p:spPr>
          <a:xfrm>
            <a:off x="7572375" y="5429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5" name="Freeform: Shape 24">
            <a:extLst>
              <a:ext uri="{FF2B5EF4-FFF2-40B4-BE49-F238E27FC236}">
                <a16:creationId xmlns:a16="http://schemas.microsoft.com/office/drawing/2014/main" id="{F4D6664B-456E-4397-80BE-04E61BA585B4}"/>
              </a:ext>
            </a:extLst>
          </p:cNvPr>
          <p:cNvSpPr>
            <a:spLocks noGrp="1"/>
          </p:cNvSpPr>
          <p:nvPr/>
        </p:nvSpPr>
        <p:spPr>
          <a:xfrm>
            <a:off x="7572375" y="50863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6" name="Freeform: Shape 25">
            <a:extLst>
              <a:ext uri="{FF2B5EF4-FFF2-40B4-BE49-F238E27FC236}">
                <a16:creationId xmlns:a16="http://schemas.microsoft.com/office/drawing/2014/main" id="{832488CA-6271-4CA5-9F3E-F90863C910D3}"/>
              </a:ext>
            </a:extLst>
          </p:cNvPr>
          <p:cNvSpPr>
            <a:spLocks noGrp="1"/>
          </p:cNvSpPr>
          <p:nvPr/>
        </p:nvSpPr>
        <p:spPr>
          <a:xfrm>
            <a:off x="7572375" y="47434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7" name="Freeform: Shape 26">
            <a:extLst>
              <a:ext uri="{FF2B5EF4-FFF2-40B4-BE49-F238E27FC236}">
                <a16:creationId xmlns:a16="http://schemas.microsoft.com/office/drawing/2014/main" id="{72C7829D-F40F-4C0B-833C-E8C2B30246BD}"/>
              </a:ext>
            </a:extLst>
          </p:cNvPr>
          <p:cNvSpPr>
            <a:spLocks noGrp="1"/>
          </p:cNvSpPr>
          <p:nvPr/>
        </p:nvSpPr>
        <p:spPr>
          <a:xfrm>
            <a:off x="7572375" y="44005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8" name="Freeform: Shape 27">
            <a:extLst>
              <a:ext uri="{FF2B5EF4-FFF2-40B4-BE49-F238E27FC236}">
                <a16:creationId xmlns:a16="http://schemas.microsoft.com/office/drawing/2014/main" id="{8C595A24-DE11-4A2E-BF28-CA2696883B3B}"/>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9" name="Freeform: Shape 28">
            <a:extLst>
              <a:ext uri="{FF2B5EF4-FFF2-40B4-BE49-F238E27FC236}">
                <a16:creationId xmlns:a16="http://schemas.microsoft.com/office/drawing/2014/main" id="{32EB392C-0523-4D7F-9C91-82D9B7D3EBBF}"/>
              </a:ext>
            </a:extLst>
          </p:cNvPr>
          <p:cNvSpPr>
            <a:spLocks noGrp="1"/>
          </p:cNvSpPr>
          <p:nvPr/>
        </p:nvSpPr>
        <p:spPr>
          <a:xfrm>
            <a:off x="7572375" y="37147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0" name="Freeform: Shape 29">
            <a:extLst>
              <a:ext uri="{FF2B5EF4-FFF2-40B4-BE49-F238E27FC236}">
                <a16:creationId xmlns:a16="http://schemas.microsoft.com/office/drawing/2014/main" id="{FB14E1E4-5FA5-47B1-AA28-98113876705D}"/>
              </a:ext>
            </a:extLst>
          </p:cNvPr>
          <p:cNvSpPr>
            <a:spLocks noGrp="1"/>
          </p:cNvSpPr>
          <p:nvPr/>
        </p:nvSpPr>
        <p:spPr>
          <a:xfrm>
            <a:off x="7572375" y="33718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1" name="Freeform: Shape 30">
            <a:extLst>
              <a:ext uri="{FF2B5EF4-FFF2-40B4-BE49-F238E27FC236}">
                <a16:creationId xmlns:a16="http://schemas.microsoft.com/office/drawing/2014/main" id="{79463271-73C4-47A0-B459-F2DCFDCD46BB}"/>
              </a:ext>
            </a:extLst>
          </p:cNvPr>
          <p:cNvSpPr>
            <a:spLocks noGrp="1"/>
          </p:cNvSpPr>
          <p:nvPr/>
        </p:nvSpPr>
        <p:spPr>
          <a:xfrm>
            <a:off x="7572375" y="30289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2" name="Freeform: Shape 31">
            <a:extLst>
              <a:ext uri="{FF2B5EF4-FFF2-40B4-BE49-F238E27FC236}">
                <a16:creationId xmlns:a16="http://schemas.microsoft.com/office/drawing/2014/main" id="{58715A0D-5A15-4246-9FE4-8B7FB5CF0546}"/>
              </a:ext>
            </a:extLst>
          </p:cNvPr>
          <p:cNvSpPr>
            <a:spLocks noGrp="1"/>
          </p:cNvSpPr>
          <p:nvPr/>
        </p:nvSpPr>
        <p:spPr>
          <a:xfrm>
            <a:off x="7572375" y="26860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3" name="Freeform: Shape 32">
            <a:extLst>
              <a:ext uri="{FF2B5EF4-FFF2-40B4-BE49-F238E27FC236}">
                <a16:creationId xmlns:a16="http://schemas.microsoft.com/office/drawing/2014/main" id="{FCB86B8A-417D-4203-9DB0-18959D8DA94F}"/>
              </a:ext>
            </a:extLst>
          </p:cNvPr>
          <p:cNvSpPr>
            <a:spLocks noGrp="1"/>
          </p:cNvSpPr>
          <p:nvPr/>
        </p:nvSpPr>
        <p:spPr>
          <a:xfrm>
            <a:off x="7572375" y="23431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4" name="Freeform: Shape 33">
            <a:extLst>
              <a:ext uri="{FF2B5EF4-FFF2-40B4-BE49-F238E27FC236}">
                <a16:creationId xmlns:a16="http://schemas.microsoft.com/office/drawing/2014/main" id="{7ED78627-9C34-4465-93B5-A3A47F994910}"/>
              </a:ext>
            </a:extLst>
          </p:cNvPr>
          <p:cNvSpPr>
            <a:spLocks noGrp="1"/>
          </p:cNvSpPr>
          <p:nvPr/>
        </p:nvSpPr>
        <p:spPr>
          <a:xfrm>
            <a:off x="7572375" y="2000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5" name="Freeform: Shape 34">
            <a:extLst>
              <a:ext uri="{FF2B5EF4-FFF2-40B4-BE49-F238E27FC236}">
                <a16:creationId xmlns:a16="http://schemas.microsoft.com/office/drawing/2014/main" id="{D5731A54-E2B5-4743-A7EA-4B0FA959AE48}"/>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17145">
            <a:solidFill>
              <a:srgbClr val="687783"/>
            </a:solidFill>
            <a:prstDash val="solid"/>
          </a:ln>
        </p:spPr>
        <p:txBody>
          <a:bodyPr/>
          <a:lstStyle/>
          <a:p>
            <a:endParaRPr lang="en-US"/>
          </a:p>
        </p:txBody>
      </p:sp>
      <p:sp>
        <p:nvSpPr>
          <p:cNvPr id="36" name="Freeform: Shape 35">
            <a:extLst>
              <a:ext uri="{FF2B5EF4-FFF2-40B4-BE49-F238E27FC236}">
                <a16:creationId xmlns:a16="http://schemas.microsoft.com/office/drawing/2014/main" id="{0059C6D4-854A-426F-A49B-32B3560D6A22}"/>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17145">
            <a:solidFill>
              <a:srgbClr val="687783"/>
            </a:solidFill>
            <a:prstDash val="solid"/>
          </a:ln>
        </p:spPr>
        <p:txBody>
          <a:bodyPr/>
          <a:lstStyle/>
          <a:p>
            <a:endParaRPr lang="en-US"/>
          </a:p>
        </p:txBody>
      </p:sp>
      <p:sp>
        <p:nvSpPr>
          <p:cNvPr id="37" name="Rectangle 36">
            <a:extLst>
              <a:ext uri="{FF2B5EF4-FFF2-40B4-BE49-F238E27FC236}">
                <a16:creationId xmlns:a16="http://schemas.microsoft.com/office/drawing/2014/main" id="{4E3B5C8A-67BB-4449-B027-9E5EF4517194}"/>
              </a:ext>
            </a:extLst>
          </p:cNvPr>
          <p:cNvSpPr>
            <a:spLocks noGrp="1"/>
          </p:cNvSpPr>
          <p:nvPr/>
        </p:nvSpPr>
        <p:spPr>
          <a:xfrm>
            <a:off x="7429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8" name="Rectangle 37">
            <a:extLst>
              <a:ext uri="{FF2B5EF4-FFF2-40B4-BE49-F238E27FC236}">
                <a16:creationId xmlns:a16="http://schemas.microsoft.com/office/drawing/2014/main" id="{EBD248BA-603B-4B20-8F41-998D1AF38449}"/>
              </a:ext>
            </a:extLst>
          </p:cNvPr>
          <p:cNvSpPr>
            <a:spLocks noGrp="1"/>
          </p:cNvSpPr>
          <p:nvPr/>
        </p:nvSpPr>
        <p:spPr>
          <a:xfrm>
            <a:off x="88011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9" name="Rectangle 38">
            <a:extLst>
              <a:ext uri="{FF2B5EF4-FFF2-40B4-BE49-F238E27FC236}">
                <a16:creationId xmlns:a16="http://schemas.microsoft.com/office/drawing/2014/main" id="{55A6449A-6294-4BB4-ACCA-A2DB8A20234A}"/>
              </a:ext>
            </a:extLst>
          </p:cNvPr>
          <p:cNvSpPr>
            <a:spLocks noGrp="1"/>
          </p:cNvSpPr>
          <p:nvPr/>
        </p:nvSpPr>
        <p:spPr>
          <a:xfrm>
            <a:off x="94869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0" name="Rectangle 39">
            <a:extLst>
              <a:ext uri="{FF2B5EF4-FFF2-40B4-BE49-F238E27FC236}">
                <a16:creationId xmlns:a16="http://schemas.microsoft.com/office/drawing/2014/main" id="{FBE86E66-C393-4FD5-9B1E-64CE73606513}"/>
              </a:ext>
            </a:extLst>
          </p:cNvPr>
          <p:cNvSpPr>
            <a:spLocks noGrp="1"/>
          </p:cNvSpPr>
          <p:nvPr/>
        </p:nvSpPr>
        <p:spPr>
          <a:xfrm>
            <a:off x="101727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1" name="Rectangle 40">
            <a:extLst>
              <a:ext uri="{FF2B5EF4-FFF2-40B4-BE49-F238E27FC236}">
                <a16:creationId xmlns:a16="http://schemas.microsoft.com/office/drawing/2014/main" id="{8884F41B-1684-4872-A12E-313FD1E8E053}"/>
              </a:ext>
            </a:extLst>
          </p:cNvPr>
          <p:cNvSpPr>
            <a:spLocks noGrp="1"/>
          </p:cNvSpPr>
          <p:nvPr/>
        </p:nvSpPr>
        <p:spPr>
          <a:xfrm>
            <a:off x="10858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42" name="Rectangle 41">
            <a:extLst>
              <a:ext uri="{FF2B5EF4-FFF2-40B4-BE49-F238E27FC236}">
                <a16:creationId xmlns:a16="http://schemas.microsoft.com/office/drawing/2014/main" id="{0F71CC80-48E6-424E-9D0D-4796F1E04CC6}"/>
              </a:ext>
            </a:extLst>
          </p:cNvPr>
          <p:cNvSpPr>
            <a:spLocks noGrp="1"/>
          </p:cNvSpPr>
          <p:nvPr/>
        </p:nvSpPr>
        <p:spPr>
          <a:xfrm>
            <a:off x="7991475" y="5324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3" name="Rectangle 42">
            <a:extLst>
              <a:ext uri="{FF2B5EF4-FFF2-40B4-BE49-F238E27FC236}">
                <a16:creationId xmlns:a16="http://schemas.microsoft.com/office/drawing/2014/main" id="{B225BA23-9628-4B1E-943F-817E569D145D}"/>
              </a:ext>
            </a:extLst>
          </p:cNvPr>
          <p:cNvSpPr>
            <a:spLocks noGrp="1"/>
          </p:cNvSpPr>
          <p:nvPr/>
        </p:nvSpPr>
        <p:spPr>
          <a:xfrm>
            <a:off x="7991475" y="46386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4" name="Rectangle 43">
            <a:extLst>
              <a:ext uri="{FF2B5EF4-FFF2-40B4-BE49-F238E27FC236}">
                <a16:creationId xmlns:a16="http://schemas.microsoft.com/office/drawing/2014/main" id="{7F8864B3-FC57-4A2C-92DC-8896B4B1265E}"/>
              </a:ext>
            </a:extLst>
          </p:cNvPr>
          <p:cNvSpPr>
            <a:spLocks noGrp="1"/>
          </p:cNvSpPr>
          <p:nvPr/>
        </p:nvSpPr>
        <p:spPr>
          <a:xfrm>
            <a:off x="7991475" y="32670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5" name="Rectangle 44">
            <a:extLst>
              <a:ext uri="{FF2B5EF4-FFF2-40B4-BE49-F238E27FC236}">
                <a16:creationId xmlns:a16="http://schemas.microsoft.com/office/drawing/2014/main" id="{BF314AEC-E5DD-42BC-AC64-6946C9CEBE48}"/>
              </a:ext>
            </a:extLst>
          </p:cNvPr>
          <p:cNvSpPr>
            <a:spLocks noGrp="1"/>
          </p:cNvSpPr>
          <p:nvPr/>
        </p:nvSpPr>
        <p:spPr>
          <a:xfrm>
            <a:off x="7991475" y="25812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6" name="Rectangle 45">
            <a:extLst>
              <a:ext uri="{FF2B5EF4-FFF2-40B4-BE49-F238E27FC236}">
                <a16:creationId xmlns:a16="http://schemas.microsoft.com/office/drawing/2014/main" id="{1F5B1C5F-8091-4F69-A7DA-FEEE50C9BEDE}"/>
              </a:ext>
            </a:extLst>
          </p:cNvPr>
          <p:cNvSpPr>
            <a:spLocks noGrp="1"/>
          </p:cNvSpPr>
          <p:nvPr/>
        </p:nvSpPr>
        <p:spPr>
          <a:xfrm>
            <a:off x="7991475" y="1895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7" name="Rectangle 46">
            <a:extLst>
              <a:ext uri="{FF2B5EF4-FFF2-40B4-BE49-F238E27FC236}">
                <a16:creationId xmlns:a16="http://schemas.microsoft.com/office/drawing/2014/main" id="{891B5999-D9F3-4886-94D2-B6EE57CC6550}"/>
              </a:ext>
            </a:extLst>
          </p:cNvPr>
          <p:cNvSpPr>
            <a:spLocks noGrp="1"/>
          </p:cNvSpPr>
          <p:nvPr/>
        </p:nvSpPr>
        <p:spPr>
          <a:xfrm>
            <a:off x="11068050" y="39243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48" name="Rectangle 47">
            <a:extLst>
              <a:ext uri="{FF2B5EF4-FFF2-40B4-BE49-F238E27FC236}">
                <a16:creationId xmlns:a16="http://schemas.microsoft.com/office/drawing/2014/main" id="{16514CDD-3178-4370-9D1F-460CAE52D1F0}"/>
              </a:ext>
            </a:extLst>
          </p:cNvPr>
          <p:cNvSpPr>
            <a:spLocks noGrp="1"/>
          </p:cNvSpPr>
          <p:nvPr/>
        </p:nvSpPr>
        <p:spPr>
          <a:xfrm>
            <a:off x="8315325" y="173355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49" name="Freeform: Shape 48">
            <a:extLst>
              <a:ext uri="{FF2B5EF4-FFF2-40B4-BE49-F238E27FC236}">
                <a16:creationId xmlns:a16="http://schemas.microsoft.com/office/drawing/2014/main" id="{EF6FE1F5-4167-438B-9202-1A1A95F47840}"/>
              </a:ext>
            </a:extLst>
          </p:cNvPr>
          <p:cNvSpPr>
            <a:spLocks noGrp="1"/>
          </p:cNvSpPr>
          <p:nvPr/>
        </p:nvSpPr>
        <p:spPr>
          <a:xfrm>
            <a:off x="8258175" y="2000250"/>
            <a:ext cx="2286000" cy="3429000"/>
          </a:xfrm>
          <a:custGeom>
            <a:avLst/>
            <a:gdLst/>
            <a:ahLst/>
            <a:cxnLst/>
            <a:rect l="0" t="0" r="0" b="0"/>
            <a:pathLst>
              <a:path w="2286000" h="3429000">
                <a:moveTo>
                  <a:pt x="2286000" y="3429000"/>
                </a:moveTo>
                <a:lnTo>
                  <a:pt x="0" y="0"/>
                </a:lnTo>
              </a:path>
            </a:pathLst>
          </a:custGeom>
          <a:noFill/>
          <a:ln w="19050">
            <a:solidFill>
              <a:srgbClr val="687783"/>
            </a:solidFill>
            <a:prstDash val="solid"/>
          </a:ln>
        </p:spPr>
        <p:txBody>
          <a:bodyPr/>
          <a:lstStyle/>
          <a:p>
            <a:endParaRPr lang="en-US"/>
          </a:p>
        </p:txBody>
      </p:sp>
      <p:sp>
        <p:nvSpPr>
          <p:cNvPr id="50" name="Freeform: Shape 49">
            <a:extLst>
              <a:ext uri="{FF2B5EF4-FFF2-40B4-BE49-F238E27FC236}">
                <a16:creationId xmlns:a16="http://schemas.microsoft.com/office/drawing/2014/main" id="{83FB0BE0-B0DB-4985-9DE8-D7D60CBA7AA2}"/>
              </a:ext>
            </a:extLst>
          </p:cNvPr>
          <p:cNvSpPr>
            <a:spLocks noGrp="1"/>
          </p:cNvSpPr>
          <p:nvPr/>
        </p:nvSpPr>
        <p:spPr>
          <a:xfrm>
            <a:off x="7572375" y="2343150"/>
            <a:ext cx="2057400" cy="3086100"/>
          </a:xfrm>
          <a:custGeom>
            <a:avLst/>
            <a:gdLst/>
            <a:ahLst/>
            <a:cxnLst/>
            <a:rect l="0" t="0" r="0" b="0"/>
            <a:pathLst>
              <a:path w="2057400" h="3086100">
                <a:moveTo>
                  <a:pt x="0" y="0"/>
                </a:moveTo>
                <a:lnTo>
                  <a:pt x="2057400" y="3086100"/>
                </a:lnTo>
              </a:path>
            </a:pathLst>
          </a:custGeom>
          <a:noFill/>
          <a:ln w="28575">
            <a:solidFill>
              <a:srgbClr val="1777B4"/>
            </a:solidFill>
            <a:prstDash val="solid"/>
          </a:ln>
        </p:spPr>
        <p:txBody>
          <a:bodyPr/>
          <a:lstStyle/>
          <a:p>
            <a:endParaRPr lang="en-US"/>
          </a:p>
        </p:txBody>
      </p:sp>
      <p:sp>
        <p:nvSpPr>
          <p:cNvPr id="51" name="Freeform: Shape 50">
            <a:extLst>
              <a:ext uri="{FF2B5EF4-FFF2-40B4-BE49-F238E27FC236}">
                <a16:creationId xmlns:a16="http://schemas.microsoft.com/office/drawing/2014/main" id="{5316EF2D-A5C9-4325-9DF9-043AFE01E6F9}"/>
              </a:ext>
            </a:extLst>
          </p:cNvPr>
          <p:cNvSpPr>
            <a:spLocks noGrp="1"/>
          </p:cNvSpPr>
          <p:nvPr/>
        </p:nvSpPr>
        <p:spPr>
          <a:xfrm>
            <a:off x="7572375" y="3028950"/>
            <a:ext cx="3429000" cy="2286000"/>
          </a:xfrm>
          <a:custGeom>
            <a:avLst/>
            <a:gdLst/>
            <a:ahLst/>
            <a:cxnLst/>
            <a:rect l="0" t="0" r="0" b="0"/>
            <a:pathLst>
              <a:path w="3429000" h="2286000">
                <a:moveTo>
                  <a:pt x="0" y="2286000"/>
                </a:moveTo>
                <a:lnTo>
                  <a:pt x="3429000" y="0"/>
                </a:lnTo>
              </a:path>
            </a:pathLst>
          </a:custGeom>
          <a:noFill/>
          <a:ln w="28575">
            <a:solidFill>
              <a:srgbClr val="148A68"/>
            </a:solidFill>
            <a:prstDash val="solid"/>
          </a:ln>
        </p:spPr>
        <p:txBody>
          <a:bodyPr/>
          <a:lstStyle/>
          <a:p>
            <a:endParaRPr lang="en-US"/>
          </a:p>
        </p:txBody>
      </p:sp>
      <p:sp>
        <p:nvSpPr>
          <p:cNvPr id="52" name="Oval 51">
            <a:extLst>
              <a:ext uri="{FF2B5EF4-FFF2-40B4-BE49-F238E27FC236}">
                <a16:creationId xmlns:a16="http://schemas.microsoft.com/office/drawing/2014/main" id="{BE9B8003-F07B-42C8-8B22-E431E8321061}"/>
              </a:ext>
            </a:extLst>
          </p:cNvPr>
          <p:cNvSpPr>
            <a:spLocks noGrp="1"/>
          </p:cNvSpPr>
          <p:nvPr/>
        </p:nvSpPr>
        <p:spPr>
          <a:xfrm>
            <a:off x="8896350" y="4352925"/>
            <a:ext cx="95250" cy="95250"/>
          </a:xfrm>
          <a:prstGeom prst="ellipse">
            <a:avLst/>
          </a:prstGeom>
          <a:solidFill>
            <a:srgbClr val="11344E"/>
          </a:solidFill>
          <a:ln w="9525">
            <a:solidFill>
              <a:srgbClr val="FFFFFF"/>
            </a:solidFill>
          </a:ln>
        </p:spPr>
        <p:txBody>
          <a:bodyPr/>
          <a:lstStyle/>
          <a:p>
            <a:endParaRPr lang="en-US"/>
          </a:p>
        </p:txBody>
      </p:sp>
      <p:sp>
        <p:nvSpPr>
          <p:cNvPr id="53" name="Rectangle 52">
            <a:extLst>
              <a:ext uri="{FF2B5EF4-FFF2-40B4-BE49-F238E27FC236}">
                <a16:creationId xmlns:a16="http://schemas.microsoft.com/office/drawing/2014/main" id="{AE44FAAB-A833-4DCE-BA0D-E93CC2661DD7}"/>
              </a:ext>
            </a:extLst>
          </p:cNvPr>
          <p:cNvSpPr>
            <a:spLocks noGrp="1"/>
          </p:cNvSpPr>
          <p:nvPr/>
        </p:nvSpPr>
        <p:spPr>
          <a:xfrm>
            <a:off x="9039225" y="4486275"/>
            <a:ext cx="1666875" cy="304800"/>
          </a:xfrm>
          <a:prstGeom prst="rect">
            <a:avLst/>
          </a:prstGeom>
          <a:noFill/>
          <a:ln w="0">
            <a:noFill/>
          </a:ln>
        </p:spPr>
        <p:txBody>
          <a:bodyPr wrap="square" lIns="0" tIns="0" rIns="0" bIns="0" anchor="ctr">
            <a:noAutofit/>
          </a:bodyPr>
          <a:lstStyle/>
          <a:p>
            <a:pPr>
              <a:defRPr sz="1425" b="1">
                <a:solidFill>
                  <a:srgbClr val="11344E"/>
                </a:solidFill>
                <a:latin typeface="Arial"/>
                <a:ea typeface="Arial"/>
                <a:cs typeface="Arial"/>
              </a:defRPr>
            </a:pPr>
            <a:r>
              <a:rPr sz="1425" b="1">
                <a:solidFill>
                  <a:srgbClr val="11344E"/>
                </a:solidFill>
                <a:latin typeface="Arial"/>
                <a:ea typeface="Arial"/>
                <a:cs typeface="Arial"/>
              </a:rPr>
              <a:t>P (2, −1)</a:t>
            </a:r>
          </a:p>
        </p:txBody>
      </p:sp>
      <p:sp>
        <p:nvSpPr>
          <p:cNvPr id="54" name="Freeform: Shape 53">
            <a:extLst>
              <a:ext uri="{FF2B5EF4-FFF2-40B4-BE49-F238E27FC236}">
                <a16:creationId xmlns:a16="http://schemas.microsoft.com/office/drawing/2014/main" id="{F466CDEC-1FCC-43B6-9BC3-F7684807BEC6}"/>
              </a:ext>
            </a:extLst>
          </p:cNvPr>
          <p:cNvSpPr>
            <a:spLocks noGrp="1"/>
          </p:cNvSpPr>
          <p:nvPr/>
        </p:nvSpPr>
        <p:spPr>
          <a:xfrm>
            <a:off x="7239000" y="5715000"/>
            <a:ext cx="266700" cy="953"/>
          </a:xfrm>
          <a:custGeom>
            <a:avLst/>
            <a:gdLst/>
            <a:ahLst/>
            <a:cxnLst/>
            <a:rect l="0" t="0" r="0" b="0"/>
            <a:pathLst>
              <a:path w="266700" h="953">
                <a:moveTo>
                  <a:pt x="0" y="0"/>
                </a:moveTo>
                <a:lnTo>
                  <a:pt x="266700" y="0"/>
                </a:lnTo>
              </a:path>
            </a:pathLst>
          </a:custGeom>
          <a:noFill/>
          <a:ln w="28575">
            <a:solidFill>
              <a:srgbClr val="687783"/>
            </a:solidFill>
            <a:prstDash val="solid"/>
          </a:ln>
        </p:spPr>
        <p:txBody>
          <a:bodyPr/>
          <a:lstStyle/>
          <a:p>
            <a:endParaRPr lang="en-US"/>
          </a:p>
        </p:txBody>
      </p:sp>
      <p:sp>
        <p:nvSpPr>
          <p:cNvPr id="55" name="Rectangle 54">
            <a:extLst>
              <a:ext uri="{FF2B5EF4-FFF2-40B4-BE49-F238E27FC236}">
                <a16:creationId xmlns:a16="http://schemas.microsoft.com/office/drawing/2014/main" id="{C52B644C-80AB-4626-A14C-A42CD3D75EB9}"/>
              </a:ext>
            </a:extLst>
          </p:cNvPr>
          <p:cNvSpPr>
            <a:spLocks noGrp="1"/>
          </p:cNvSpPr>
          <p:nvPr/>
        </p:nvSpPr>
        <p:spPr>
          <a:xfrm>
            <a:off x="7620000" y="5562600"/>
            <a:ext cx="3810000" cy="323850"/>
          </a:xfrm>
          <a:prstGeom prst="rect">
            <a:avLst/>
          </a:prstGeom>
          <a:noFill/>
          <a:ln w="0">
            <a:noFill/>
          </a:ln>
        </p:spPr>
        <p:txBody>
          <a:bodyPr wrap="square" lIns="0" tIns="0" rIns="0" bIns="0" anchor="ctr">
            <a:noAutofit/>
          </a:bodyPr>
          <a:lstStyle/>
          <a:p>
            <a:pPr>
              <a:defRPr sz="1575" b="0">
                <a:solidFill>
                  <a:srgbClr val="687783"/>
                </a:solidFill>
                <a:latin typeface="Arial"/>
                <a:ea typeface="Arial"/>
                <a:cs typeface="Arial"/>
              </a:defRPr>
            </a:pPr>
            <a:r>
              <a:rPr sz="1575" b="0">
                <a:solidFill>
                  <a:srgbClr val="687783"/>
                </a:solidFill>
                <a:latin typeface="Arial"/>
                <a:ea typeface="Arial"/>
                <a:cs typeface="Arial"/>
              </a:rPr>
              <a:t>Given</a:t>
            </a:r>
          </a:p>
        </p:txBody>
      </p:sp>
      <p:sp>
        <p:nvSpPr>
          <p:cNvPr id="56" name="Freeform: Shape 55">
            <a:extLst>
              <a:ext uri="{FF2B5EF4-FFF2-40B4-BE49-F238E27FC236}">
                <a16:creationId xmlns:a16="http://schemas.microsoft.com/office/drawing/2014/main" id="{1911E6A9-7BE7-436B-8367-245B3104CE65}"/>
              </a:ext>
            </a:extLst>
          </p:cNvPr>
          <p:cNvSpPr>
            <a:spLocks noGrp="1"/>
          </p:cNvSpPr>
          <p:nvPr/>
        </p:nvSpPr>
        <p:spPr>
          <a:xfrm>
            <a:off x="9096375" y="5715000"/>
            <a:ext cx="266700" cy="953"/>
          </a:xfrm>
          <a:custGeom>
            <a:avLst/>
            <a:gdLst/>
            <a:ahLst/>
            <a:cxnLst/>
            <a:rect l="0" t="0" r="0" b="0"/>
            <a:pathLst>
              <a:path w="266700" h="953">
                <a:moveTo>
                  <a:pt x="0" y="0"/>
                </a:moveTo>
                <a:lnTo>
                  <a:pt x="266700" y="0"/>
                </a:lnTo>
              </a:path>
            </a:pathLst>
          </a:custGeom>
          <a:noFill/>
          <a:ln w="28575">
            <a:solidFill>
              <a:srgbClr val="1777B4"/>
            </a:solidFill>
            <a:prstDash val="solid"/>
          </a:ln>
        </p:spPr>
        <p:txBody>
          <a:bodyPr/>
          <a:lstStyle/>
          <a:p>
            <a:endParaRPr lang="en-US"/>
          </a:p>
        </p:txBody>
      </p:sp>
      <p:sp>
        <p:nvSpPr>
          <p:cNvPr id="57" name="Rectangle 56">
            <a:extLst>
              <a:ext uri="{FF2B5EF4-FFF2-40B4-BE49-F238E27FC236}">
                <a16:creationId xmlns:a16="http://schemas.microsoft.com/office/drawing/2014/main" id="{5E4B4651-DE0E-4BE7-865D-65267532801C}"/>
              </a:ext>
            </a:extLst>
          </p:cNvPr>
          <p:cNvSpPr>
            <a:spLocks noGrp="1"/>
          </p:cNvSpPr>
          <p:nvPr/>
        </p:nvSpPr>
        <p:spPr>
          <a:xfrm>
            <a:off x="9477375" y="5562600"/>
            <a:ext cx="1952625" cy="323850"/>
          </a:xfrm>
          <a:prstGeom prst="rect">
            <a:avLst/>
          </a:prstGeom>
          <a:noFill/>
          <a:ln w="0">
            <a:noFill/>
          </a:ln>
        </p:spPr>
        <p:txBody>
          <a:bodyPr wrap="square" lIns="0" tIns="0" rIns="0" bIns="0" anchor="ctr">
            <a:noAutofit/>
          </a:bodyPr>
          <a:lstStyle/>
          <a:p>
            <a:pPr>
              <a:defRPr sz="1575" b="0">
                <a:solidFill>
                  <a:srgbClr val="1777B4"/>
                </a:solidFill>
                <a:latin typeface="Arial"/>
                <a:ea typeface="Arial"/>
                <a:cs typeface="Arial"/>
              </a:defRPr>
            </a:pPr>
            <a:r>
              <a:rPr sz="1575" b="0">
                <a:solidFill>
                  <a:srgbClr val="1777B4"/>
                </a:solidFill>
                <a:latin typeface="Arial"/>
                <a:ea typeface="Arial"/>
                <a:cs typeface="Arial"/>
              </a:rPr>
              <a:t>Parallel</a:t>
            </a:r>
          </a:p>
        </p:txBody>
      </p:sp>
      <p:sp>
        <p:nvSpPr>
          <p:cNvPr id="58" name="Freeform: Shape 57">
            <a:extLst>
              <a:ext uri="{FF2B5EF4-FFF2-40B4-BE49-F238E27FC236}">
                <a16:creationId xmlns:a16="http://schemas.microsoft.com/office/drawing/2014/main" id="{2359CB23-909E-4473-AEA6-9996AFAA589A}"/>
              </a:ext>
            </a:extLst>
          </p:cNvPr>
          <p:cNvSpPr>
            <a:spLocks noGrp="1"/>
          </p:cNvSpPr>
          <p:nvPr/>
        </p:nvSpPr>
        <p:spPr>
          <a:xfrm>
            <a:off x="7239000" y="6076950"/>
            <a:ext cx="266700" cy="953"/>
          </a:xfrm>
          <a:custGeom>
            <a:avLst/>
            <a:gdLst/>
            <a:ahLst/>
            <a:cxnLst/>
            <a:rect l="0" t="0" r="0" b="0"/>
            <a:pathLst>
              <a:path w="266700" h="953">
                <a:moveTo>
                  <a:pt x="0" y="0"/>
                </a:moveTo>
                <a:lnTo>
                  <a:pt x="266700" y="0"/>
                </a:lnTo>
              </a:path>
            </a:pathLst>
          </a:custGeom>
          <a:noFill/>
          <a:ln w="28575">
            <a:solidFill>
              <a:srgbClr val="148A68"/>
            </a:solidFill>
            <a:prstDash val="solid"/>
          </a:ln>
        </p:spPr>
        <p:txBody>
          <a:bodyPr/>
          <a:lstStyle/>
          <a:p>
            <a:endParaRPr lang="en-US"/>
          </a:p>
        </p:txBody>
      </p:sp>
      <p:sp>
        <p:nvSpPr>
          <p:cNvPr id="59" name="Rectangle 58">
            <a:extLst>
              <a:ext uri="{FF2B5EF4-FFF2-40B4-BE49-F238E27FC236}">
                <a16:creationId xmlns:a16="http://schemas.microsoft.com/office/drawing/2014/main" id="{2C53CA6F-29E7-4B94-B8D3-129DA4F58B11}"/>
              </a:ext>
            </a:extLst>
          </p:cNvPr>
          <p:cNvSpPr>
            <a:spLocks noGrp="1"/>
          </p:cNvSpPr>
          <p:nvPr/>
        </p:nvSpPr>
        <p:spPr>
          <a:xfrm>
            <a:off x="7620000" y="5924550"/>
            <a:ext cx="3810000" cy="323850"/>
          </a:xfrm>
          <a:prstGeom prst="rect">
            <a:avLst/>
          </a:prstGeom>
          <a:noFill/>
          <a:ln w="0">
            <a:noFill/>
          </a:ln>
        </p:spPr>
        <p:txBody>
          <a:bodyPr wrap="square" lIns="0" tIns="0" rIns="0" bIns="0" anchor="ctr">
            <a:noAutofit/>
          </a:bodyPr>
          <a:lstStyle/>
          <a:p>
            <a:pPr>
              <a:defRPr sz="1575" b="0">
                <a:solidFill>
                  <a:srgbClr val="148A68"/>
                </a:solidFill>
                <a:latin typeface="Arial"/>
                <a:ea typeface="Arial"/>
                <a:cs typeface="Arial"/>
              </a:defRPr>
            </a:pPr>
            <a:r>
              <a:rPr sz="1575" b="0">
                <a:solidFill>
                  <a:srgbClr val="148A68"/>
                </a:solidFill>
                <a:latin typeface="Arial"/>
                <a:ea typeface="Arial"/>
                <a:cs typeface="Arial"/>
              </a:rPr>
              <a:t>Perpendicular</a:t>
            </a:r>
          </a:p>
        </p:txBody>
      </p:sp>
    </p:spTree>
    <p:extLst>
      <p:ext uri="{BB962C8B-B14F-4D97-AF65-F5344CB8AC3E}">
        <p14:creationId xmlns:p14="http://schemas.microsoft.com/office/powerpoint/2010/main" val="142594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A516325-345B-4975-8B9E-8588812E938E}"/>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Practice: line equations</a:t>
            </a:r>
          </a:p>
        </p:txBody>
      </p:sp>
      <p:sp>
        <p:nvSpPr>
          <p:cNvPr id="2" name="Rectangle 1">
            <a:extLst>
              <a:ext uri="{FF2B5EF4-FFF2-40B4-BE49-F238E27FC236}">
                <a16:creationId xmlns:a16="http://schemas.microsoft.com/office/drawing/2014/main" id="{01C620B4-440F-429B-BB8C-D58704BDB497}"/>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4 minutes. Write both equations and check the point.</a:t>
            </a:r>
          </a:p>
        </p:txBody>
      </p:sp>
      <p:sp>
        <p:nvSpPr>
          <p:cNvPr id="3" name="Rectangle 2">
            <a:extLst>
              <a:ext uri="{FF2B5EF4-FFF2-40B4-BE49-F238E27FC236}">
                <a16:creationId xmlns:a16="http://schemas.microsoft.com/office/drawing/2014/main" id="{7471E89D-19AD-4B70-A6EE-6B1B0C363FBC}"/>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8</a:t>
            </a:r>
          </a:p>
        </p:txBody>
      </p:sp>
      <p:sp>
        <p:nvSpPr>
          <p:cNvPr id="4" name="Rectangle 3">
            <a:extLst>
              <a:ext uri="{FF2B5EF4-FFF2-40B4-BE49-F238E27FC236}">
                <a16:creationId xmlns:a16="http://schemas.microsoft.com/office/drawing/2014/main" id="{FE1BFC9F-A244-4EBC-B762-7E3648B2A94D}"/>
              </a:ext>
            </a:extLst>
          </p:cNvPr>
          <p:cNvSpPr>
            <a:spLocks noGrp="1"/>
          </p:cNvSpPr>
          <p:nvPr/>
        </p:nvSpPr>
        <p:spPr>
          <a:xfrm>
            <a:off x="762000" y="1952625"/>
            <a:ext cx="10668000" cy="762000"/>
          </a:xfrm>
          <a:prstGeom prst="rect">
            <a:avLst/>
          </a:prstGeom>
          <a:noFill/>
          <a:ln w="0">
            <a:noFill/>
          </a:ln>
        </p:spPr>
        <p:txBody>
          <a:bodyPr wrap="square" lIns="0" tIns="0" rIns="0" bIns="0" anchor="ctr">
            <a:noAutofit/>
          </a:bodyPr>
          <a:lstStyle/>
          <a:p>
            <a:pPr>
              <a:defRPr sz="3450" b="0">
                <a:solidFill>
                  <a:srgbClr val="11344E"/>
                </a:solidFill>
                <a:latin typeface="Cambria Math"/>
                <a:ea typeface="Cambria Math"/>
                <a:cs typeface="Cambria Math"/>
              </a:defRPr>
            </a:pPr>
            <a:r>
              <a:rPr sz="3450" b="0">
                <a:solidFill>
                  <a:srgbClr val="11344E"/>
                </a:solidFill>
                <a:latin typeface="Cambria Math"/>
                <a:ea typeface="Cambria Math"/>
                <a:cs typeface="Cambria Math"/>
              </a:rPr>
              <a:t>Given line:  2x − 3y = 6</a:t>
            </a:r>
          </a:p>
        </p:txBody>
      </p:sp>
      <p:sp>
        <p:nvSpPr>
          <p:cNvPr id="5" name="Rectangle 4">
            <a:extLst>
              <a:ext uri="{FF2B5EF4-FFF2-40B4-BE49-F238E27FC236}">
                <a16:creationId xmlns:a16="http://schemas.microsoft.com/office/drawing/2014/main" id="{84B109A2-6C46-43C3-8BE8-11492963032C}"/>
              </a:ext>
            </a:extLst>
          </p:cNvPr>
          <p:cNvSpPr>
            <a:spLocks noGrp="1"/>
          </p:cNvSpPr>
          <p:nvPr/>
        </p:nvSpPr>
        <p:spPr>
          <a:xfrm>
            <a:off x="762000" y="2857500"/>
            <a:ext cx="10668000" cy="714375"/>
          </a:xfrm>
          <a:prstGeom prst="rect">
            <a:avLst/>
          </a:prstGeom>
          <a:noFill/>
          <a:ln w="0">
            <a:noFill/>
          </a:ln>
        </p:spPr>
        <p:txBody>
          <a:bodyPr wrap="square" lIns="0" tIns="0" rIns="0" bIns="0" anchor="ctr">
            <a:noAutofit/>
          </a:bodyPr>
          <a:lstStyle/>
          <a:p>
            <a:pPr>
              <a:defRPr sz="3300" b="0">
                <a:solidFill>
                  <a:srgbClr val="11344E"/>
                </a:solidFill>
                <a:latin typeface="Cambria Math"/>
                <a:ea typeface="Cambria Math"/>
                <a:cs typeface="Cambria Math"/>
              </a:defRPr>
            </a:pPr>
            <a:r>
              <a:rPr sz="3300" b="0">
                <a:solidFill>
                  <a:srgbClr val="11344E"/>
                </a:solidFill>
                <a:latin typeface="Cambria Math"/>
                <a:ea typeface="Cambria Math"/>
                <a:cs typeface="Cambria Math"/>
              </a:rPr>
              <a:t>New point:  P = (3, 4)</a:t>
            </a:r>
          </a:p>
        </p:txBody>
      </p:sp>
      <p:sp>
        <p:nvSpPr>
          <p:cNvPr id="6" name="Rectangle 5">
            <a:extLst>
              <a:ext uri="{FF2B5EF4-FFF2-40B4-BE49-F238E27FC236}">
                <a16:creationId xmlns:a16="http://schemas.microsoft.com/office/drawing/2014/main" id="{412756CF-703C-4958-B5FB-182BB3CCFF07}"/>
              </a:ext>
            </a:extLst>
          </p:cNvPr>
          <p:cNvSpPr>
            <a:spLocks noGrp="1"/>
          </p:cNvSpPr>
          <p:nvPr/>
        </p:nvSpPr>
        <p:spPr>
          <a:xfrm>
            <a:off x="762000" y="3952875"/>
            <a:ext cx="10668000" cy="552450"/>
          </a:xfrm>
          <a:prstGeom prst="rect">
            <a:avLst/>
          </a:prstGeom>
          <a:noFill/>
          <a:ln w="0">
            <a:noFill/>
          </a:ln>
        </p:spPr>
        <p:txBody>
          <a:bodyPr wrap="square" lIns="0" tIns="0" rIns="0" bIns="0" anchor="ctr">
            <a:noAutofit/>
          </a:bodyPr>
          <a:lstStyle/>
          <a:p>
            <a:pPr>
              <a:defRPr sz="2325" b="0">
                <a:solidFill>
                  <a:srgbClr val="11344E"/>
                </a:solidFill>
                <a:latin typeface="Arial"/>
                <a:ea typeface="Arial"/>
                <a:cs typeface="Arial"/>
              </a:defRPr>
            </a:pPr>
            <a:r>
              <a:rPr sz="2325" b="0">
                <a:solidFill>
                  <a:srgbClr val="11344E"/>
                </a:solidFill>
                <a:latin typeface="Arial"/>
                <a:ea typeface="Arial"/>
                <a:cs typeface="Arial"/>
              </a:rPr>
              <a:t>A. A parallel line through P</a:t>
            </a:r>
          </a:p>
        </p:txBody>
      </p:sp>
      <p:sp>
        <p:nvSpPr>
          <p:cNvPr id="7" name="Rectangle 6">
            <a:extLst>
              <a:ext uri="{FF2B5EF4-FFF2-40B4-BE49-F238E27FC236}">
                <a16:creationId xmlns:a16="http://schemas.microsoft.com/office/drawing/2014/main" id="{93596AA7-BB08-431A-85F8-7A3D5DDDF8F9}"/>
              </a:ext>
            </a:extLst>
          </p:cNvPr>
          <p:cNvSpPr>
            <a:spLocks noGrp="1"/>
          </p:cNvSpPr>
          <p:nvPr/>
        </p:nvSpPr>
        <p:spPr>
          <a:xfrm>
            <a:off x="762000" y="4619625"/>
            <a:ext cx="10668000" cy="552450"/>
          </a:xfrm>
          <a:prstGeom prst="rect">
            <a:avLst/>
          </a:prstGeom>
          <a:noFill/>
          <a:ln w="0">
            <a:noFill/>
          </a:ln>
        </p:spPr>
        <p:txBody>
          <a:bodyPr wrap="square" lIns="0" tIns="0" rIns="0" bIns="0" anchor="ctr">
            <a:noAutofit/>
          </a:bodyPr>
          <a:lstStyle/>
          <a:p>
            <a:pPr>
              <a:defRPr sz="2325" b="0">
                <a:solidFill>
                  <a:srgbClr val="11344E"/>
                </a:solidFill>
                <a:latin typeface="Arial"/>
                <a:ea typeface="Arial"/>
                <a:cs typeface="Arial"/>
              </a:defRPr>
            </a:pPr>
            <a:r>
              <a:rPr sz="2325" b="0">
                <a:solidFill>
                  <a:srgbClr val="11344E"/>
                </a:solidFill>
                <a:latin typeface="Arial"/>
                <a:ea typeface="Arial"/>
                <a:cs typeface="Arial"/>
              </a:rPr>
              <a:t>B. A perpendicular line through P</a:t>
            </a:r>
          </a:p>
        </p:txBody>
      </p:sp>
      <p:sp>
        <p:nvSpPr>
          <p:cNvPr id="8" name="Rectangle 7">
            <a:extLst>
              <a:ext uri="{FF2B5EF4-FFF2-40B4-BE49-F238E27FC236}">
                <a16:creationId xmlns:a16="http://schemas.microsoft.com/office/drawing/2014/main" id="{72B3251D-1884-4111-9EE4-FC1D4DCBE963}"/>
              </a:ext>
            </a:extLst>
          </p:cNvPr>
          <p:cNvSpPr>
            <a:spLocks noGrp="1"/>
          </p:cNvSpPr>
          <p:nvPr/>
        </p:nvSpPr>
        <p:spPr>
          <a:xfrm>
            <a:off x="762000" y="5286375"/>
            <a:ext cx="10668000" cy="552450"/>
          </a:xfrm>
          <a:prstGeom prst="rect">
            <a:avLst/>
          </a:prstGeom>
          <a:noFill/>
          <a:ln w="0">
            <a:noFill/>
          </a:ln>
        </p:spPr>
        <p:txBody>
          <a:bodyPr wrap="square" lIns="0" tIns="0" rIns="0" bIns="0" anchor="ctr">
            <a:noAutofit/>
          </a:bodyPr>
          <a:lstStyle/>
          <a:p>
            <a:pPr>
              <a:defRPr sz="2325" b="0">
                <a:solidFill>
                  <a:srgbClr val="11344E"/>
                </a:solidFill>
                <a:latin typeface="Arial"/>
                <a:ea typeface="Arial"/>
                <a:cs typeface="Arial"/>
              </a:defRPr>
            </a:pPr>
            <a:r>
              <a:rPr sz="2325" b="0">
                <a:solidFill>
                  <a:srgbClr val="11344E"/>
                </a:solidFill>
                <a:latin typeface="Arial"/>
                <a:ea typeface="Arial"/>
                <a:cs typeface="Arial"/>
              </a:rPr>
              <a:t>Check both equations using (3, 4).</a:t>
            </a:r>
          </a:p>
        </p:txBody>
      </p:sp>
    </p:spTree>
    <p:extLst>
      <p:ext uri="{BB962C8B-B14F-4D97-AF65-F5344CB8AC3E}">
        <p14:creationId xmlns:p14="http://schemas.microsoft.com/office/powerpoint/2010/main" val="59722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AFDE302-688B-47E5-A562-A8B0B05FD327}"/>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Practice: solutions</a:t>
            </a:r>
          </a:p>
        </p:txBody>
      </p:sp>
      <p:sp>
        <p:nvSpPr>
          <p:cNvPr id="2" name="Rectangle 1">
            <a:extLst>
              <a:ext uri="{FF2B5EF4-FFF2-40B4-BE49-F238E27FC236}">
                <a16:creationId xmlns:a16="http://schemas.microsoft.com/office/drawing/2014/main" id="{2CD55EAA-B23B-4A23-A985-ED9ECF76E777}"/>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The point check catches intercept errors</a:t>
            </a:r>
          </a:p>
        </p:txBody>
      </p:sp>
      <p:sp>
        <p:nvSpPr>
          <p:cNvPr id="3" name="Rectangle 2">
            <a:extLst>
              <a:ext uri="{FF2B5EF4-FFF2-40B4-BE49-F238E27FC236}">
                <a16:creationId xmlns:a16="http://schemas.microsoft.com/office/drawing/2014/main" id="{3A6D5A1C-9A07-437A-9FAD-6FDD0154DC1D}"/>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9</a:t>
            </a:r>
          </a:p>
        </p:txBody>
      </p:sp>
      <p:sp>
        <p:nvSpPr>
          <p:cNvPr id="4" name="Rectangle 3">
            <a:extLst>
              <a:ext uri="{FF2B5EF4-FFF2-40B4-BE49-F238E27FC236}">
                <a16:creationId xmlns:a16="http://schemas.microsoft.com/office/drawing/2014/main" id="{9C215307-10CD-4570-A421-15E6505DDD8B}"/>
              </a:ext>
            </a:extLst>
          </p:cNvPr>
          <p:cNvSpPr>
            <a:spLocks noGrp="1"/>
          </p:cNvSpPr>
          <p:nvPr/>
        </p:nvSpPr>
        <p:spPr>
          <a:xfrm>
            <a:off x="762000" y="1933575"/>
            <a:ext cx="5048250" cy="476250"/>
          </a:xfrm>
          <a:prstGeom prst="rect">
            <a:avLst/>
          </a:prstGeom>
          <a:noFill/>
          <a:ln w="0">
            <a:noFill/>
          </a:ln>
        </p:spPr>
        <p:txBody>
          <a:bodyPr wrap="square" lIns="0" tIns="0" rIns="0" bIns="0" anchor="ctr">
            <a:noAutofit/>
          </a:bodyPr>
          <a:lstStyle/>
          <a:p>
            <a:pPr>
              <a:defRPr sz="2400" b="1">
                <a:solidFill>
                  <a:srgbClr val="1777B4"/>
                </a:solidFill>
                <a:latin typeface="Arial"/>
                <a:ea typeface="Arial"/>
                <a:cs typeface="Arial"/>
              </a:defRPr>
            </a:pPr>
            <a:r>
              <a:rPr sz="2400" b="1">
                <a:solidFill>
                  <a:srgbClr val="1777B4"/>
                </a:solidFill>
                <a:latin typeface="Arial"/>
                <a:ea typeface="Arial"/>
                <a:cs typeface="Arial"/>
              </a:rPr>
              <a:t>Parallel</a:t>
            </a:r>
          </a:p>
        </p:txBody>
      </p:sp>
      <p:sp>
        <p:nvSpPr>
          <p:cNvPr id="5" name="Rectangle 4">
            <a:extLst>
              <a:ext uri="{FF2B5EF4-FFF2-40B4-BE49-F238E27FC236}">
                <a16:creationId xmlns:a16="http://schemas.microsoft.com/office/drawing/2014/main" id="{44544834-D3E4-47EE-AFC0-B44C9C38FFDF}"/>
              </a:ext>
            </a:extLst>
          </p:cNvPr>
          <p:cNvSpPr>
            <a:spLocks noGrp="1"/>
          </p:cNvSpPr>
          <p:nvPr/>
        </p:nvSpPr>
        <p:spPr>
          <a:xfrm>
            <a:off x="6381750" y="1933575"/>
            <a:ext cx="5048250" cy="476250"/>
          </a:xfrm>
          <a:prstGeom prst="rect">
            <a:avLst/>
          </a:prstGeom>
          <a:noFill/>
          <a:ln w="0">
            <a:noFill/>
          </a:ln>
        </p:spPr>
        <p:txBody>
          <a:bodyPr wrap="square" lIns="0" tIns="0" rIns="0" bIns="0" anchor="ctr">
            <a:noAutofit/>
          </a:bodyPr>
          <a:lstStyle/>
          <a:p>
            <a:pPr>
              <a:defRPr sz="2400" b="1">
                <a:solidFill>
                  <a:srgbClr val="148A68"/>
                </a:solidFill>
                <a:latin typeface="Arial"/>
                <a:ea typeface="Arial"/>
                <a:cs typeface="Arial"/>
              </a:defRPr>
            </a:pPr>
            <a:r>
              <a:rPr sz="2400" b="1">
                <a:solidFill>
                  <a:srgbClr val="148A68"/>
                </a:solidFill>
                <a:latin typeface="Arial"/>
                <a:ea typeface="Arial"/>
                <a:cs typeface="Arial"/>
              </a:rPr>
              <a:t>Perpendicular</a:t>
            </a:r>
          </a:p>
        </p:txBody>
      </p:sp>
      <p:sp>
        <p:nvSpPr>
          <p:cNvPr id="6" name="Rectangle 5">
            <a:extLst>
              <a:ext uri="{FF2B5EF4-FFF2-40B4-BE49-F238E27FC236}">
                <a16:creationId xmlns:a16="http://schemas.microsoft.com/office/drawing/2014/main" id="{591488A2-0D88-4F0D-B364-DAAC49775F0F}"/>
              </a:ext>
            </a:extLst>
          </p:cNvPr>
          <p:cNvSpPr>
            <a:spLocks noGrp="1"/>
          </p:cNvSpPr>
          <p:nvPr/>
        </p:nvSpPr>
        <p:spPr>
          <a:xfrm>
            <a:off x="762000" y="271462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m = 2/3</a:t>
            </a:r>
          </a:p>
        </p:txBody>
      </p:sp>
      <p:sp>
        <p:nvSpPr>
          <p:cNvPr id="7" name="Rectangle 6">
            <a:extLst>
              <a:ext uri="{FF2B5EF4-FFF2-40B4-BE49-F238E27FC236}">
                <a16:creationId xmlns:a16="http://schemas.microsoft.com/office/drawing/2014/main" id="{C2B714EB-CDFF-4593-811D-28CDAD48E4AF}"/>
              </a:ext>
            </a:extLst>
          </p:cNvPr>
          <p:cNvSpPr>
            <a:spLocks noGrp="1"/>
          </p:cNvSpPr>
          <p:nvPr/>
        </p:nvSpPr>
        <p:spPr>
          <a:xfrm>
            <a:off x="762000" y="349567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y − 4 = (2/3)(x − 3)</a:t>
            </a:r>
          </a:p>
        </p:txBody>
      </p:sp>
      <p:sp>
        <p:nvSpPr>
          <p:cNvPr id="8" name="Rectangle 7">
            <a:extLst>
              <a:ext uri="{FF2B5EF4-FFF2-40B4-BE49-F238E27FC236}">
                <a16:creationId xmlns:a16="http://schemas.microsoft.com/office/drawing/2014/main" id="{66EBF570-8063-4502-9701-07F133C431F3}"/>
              </a:ext>
            </a:extLst>
          </p:cNvPr>
          <p:cNvSpPr>
            <a:spLocks noGrp="1"/>
          </p:cNvSpPr>
          <p:nvPr/>
        </p:nvSpPr>
        <p:spPr>
          <a:xfrm>
            <a:off x="762000" y="427672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y = (2/3)x + 2</a:t>
            </a:r>
          </a:p>
        </p:txBody>
      </p:sp>
      <p:sp>
        <p:nvSpPr>
          <p:cNvPr id="9" name="Rectangle 8">
            <a:extLst>
              <a:ext uri="{FF2B5EF4-FFF2-40B4-BE49-F238E27FC236}">
                <a16:creationId xmlns:a16="http://schemas.microsoft.com/office/drawing/2014/main" id="{011C5D65-B61E-4029-8B98-7803B3CA8923}"/>
              </a:ext>
            </a:extLst>
          </p:cNvPr>
          <p:cNvSpPr>
            <a:spLocks noGrp="1"/>
          </p:cNvSpPr>
          <p:nvPr/>
        </p:nvSpPr>
        <p:spPr>
          <a:xfrm>
            <a:off x="762000" y="505777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4 = (2/3)(3) + 2</a:t>
            </a:r>
          </a:p>
        </p:txBody>
      </p:sp>
      <p:sp>
        <p:nvSpPr>
          <p:cNvPr id="10" name="Rectangle 9">
            <a:extLst>
              <a:ext uri="{FF2B5EF4-FFF2-40B4-BE49-F238E27FC236}">
                <a16:creationId xmlns:a16="http://schemas.microsoft.com/office/drawing/2014/main" id="{B4F56D45-6D15-42A6-8840-39BE345D96D2}"/>
              </a:ext>
            </a:extLst>
          </p:cNvPr>
          <p:cNvSpPr>
            <a:spLocks noGrp="1"/>
          </p:cNvSpPr>
          <p:nvPr/>
        </p:nvSpPr>
        <p:spPr>
          <a:xfrm>
            <a:off x="6381750" y="271462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m = −3/2</a:t>
            </a:r>
          </a:p>
        </p:txBody>
      </p:sp>
      <p:sp>
        <p:nvSpPr>
          <p:cNvPr id="11" name="Rectangle 10">
            <a:extLst>
              <a:ext uri="{FF2B5EF4-FFF2-40B4-BE49-F238E27FC236}">
                <a16:creationId xmlns:a16="http://schemas.microsoft.com/office/drawing/2014/main" id="{50EBE993-C3E0-41C0-AAAC-B37CB98FC957}"/>
              </a:ext>
            </a:extLst>
          </p:cNvPr>
          <p:cNvSpPr>
            <a:spLocks noGrp="1"/>
          </p:cNvSpPr>
          <p:nvPr/>
        </p:nvSpPr>
        <p:spPr>
          <a:xfrm>
            <a:off x="6381750" y="349567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y − 4 = (−3/2)(x − 3)</a:t>
            </a:r>
          </a:p>
        </p:txBody>
      </p:sp>
      <p:sp>
        <p:nvSpPr>
          <p:cNvPr id="12" name="Rectangle 11">
            <a:extLst>
              <a:ext uri="{FF2B5EF4-FFF2-40B4-BE49-F238E27FC236}">
                <a16:creationId xmlns:a16="http://schemas.microsoft.com/office/drawing/2014/main" id="{0BD86CB0-FE68-4A82-B87B-0F4A8399BD48}"/>
              </a:ext>
            </a:extLst>
          </p:cNvPr>
          <p:cNvSpPr>
            <a:spLocks noGrp="1"/>
          </p:cNvSpPr>
          <p:nvPr/>
        </p:nvSpPr>
        <p:spPr>
          <a:xfrm>
            <a:off x="6381750" y="427672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y = (−3/2)x + 17/2</a:t>
            </a:r>
          </a:p>
        </p:txBody>
      </p:sp>
      <p:sp>
        <p:nvSpPr>
          <p:cNvPr id="13" name="Rectangle 12">
            <a:extLst>
              <a:ext uri="{FF2B5EF4-FFF2-40B4-BE49-F238E27FC236}">
                <a16:creationId xmlns:a16="http://schemas.microsoft.com/office/drawing/2014/main" id="{4A2A3087-FDA7-46D0-B939-5281353B6133}"/>
              </a:ext>
            </a:extLst>
          </p:cNvPr>
          <p:cNvSpPr>
            <a:spLocks noGrp="1"/>
          </p:cNvSpPr>
          <p:nvPr/>
        </p:nvSpPr>
        <p:spPr>
          <a:xfrm>
            <a:off x="6381750" y="5057775"/>
            <a:ext cx="5048250" cy="66675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4 = (−3/2)(3) + 17/2</a:t>
            </a:r>
          </a:p>
        </p:txBody>
      </p:sp>
    </p:spTree>
    <p:extLst>
      <p:ext uri="{BB962C8B-B14F-4D97-AF65-F5344CB8AC3E}">
        <p14:creationId xmlns:p14="http://schemas.microsoft.com/office/powerpoint/2010/main" val="1559939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18DA1C2F-D76B-41A1-97DA-947D184D56F5}"/>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A correct slope can still give the wrong line</a:t>
            </a:r>
          </a:p>
        </p:txBody>
      </p:sp>
      <p:sp>
        <p:nvSpPr>
          <p:cNvPr id="2" name="Rectangle 1">
            <a:extLst>
              <a:ext uri="{FF2B5EF4-FFF2-40B4-BE49-F238E27FC236}">
                <a16:creationId xmlns:a16="http://schemas.microsoft.com/office/drawing/2014/main" id="{6121D230-7B2C-4E32-838C-F6852C018C3A}"/>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Discuss the error before showing a correction</a:t>
            </a:r>
          </a:p>
        </p:txBody>
      </p:sp>
      <p:sp>
        <p:nvSpPr>
          <p:cNvPr id="3" name="Rectangle 2">
            <a:extLst>
              <a:ext uri="{FF2B5EF4-FFF2-40B4-BE49-F238E27FC236}">
                <a16:creationId xmlns:a16="http://schemas.microsoft.com/office/drawing/2014/main" id="{ACF11B7B-F8F6-4615-9003-810865119064}"/>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10</a:t>
            </a:r>
          </a:p>
        </p:txBody>
      </p:sp>
      <p:sp>
        <p:nvSpPr>
          <p:cNvPr id="4" name="Rectangle 3">
            <a:extLst>
              <a:ext uri="{FF2B5EF4-FFF2-40B4-BE49-F238E27FC236}">
                <a16:creationId xmlns:a16="http://schemas.microsoft.com/office/drawing/2014/main" id="{1FB5EB04-2FEB-447E-B0D3-132C80BDB361}"/>
              </a:ext>
            </a:extLst>
          </p:cNvPr>
          <p:cNvSpPr>
            <a:spLocks noGrp="1"/>
          </p:cNvSpPr>
          <p:nvPr/>
        </p:nvSpPr>
        <p:spPr>
          <a:xfrm>
            <a:off x="762000" y="1952625"/>
            <a:ext cx="5524500" cy="476250"/>
          </a:xfrm>
          <a:prstGeom prst="rect">
            <a:avLst/>
          </a:prstGeom>
          <a:noFill/>
          <a:ln w="0">
            <a:noFill/>
          </a:ln>
        </p:spPr>
        <p:txBody>
          <a:bodyPr wrap="square" lIns="0" tIns="0" rIns="0" bIns="0" anchor="ctr">
            <a:noAutofit/>
          </a:bodyPr>
          <a:lstStyle/>
          <a:p>
            <a:pPr>
              <a:defRPr sz="2400" b="0">
                <a:solidFill>
                  <a:srgbClr val="11344E"/>
                </a:solidFill>
                <a:latin typeface="Arial"/>
                <a:ea typeface="Arial"/>
                <a:cs typeface="Arial"/>
              </a:defRPr>
            </a:pPr>
            <a:r>
              <a:rPr sz="2400" b="0">
                <a:solidFill>
                  <a:srgbClr val="11344E"/>
                </a:solidFill>
                <a:latin typeface="Arial"/>
                <a:ea typeface="Arial"/>
                <a:cs typeface="Arial"/>
              </a:rPr>
              <a:t>Given slope: −2</a:t>
            </a:r>
          </a:p>
        </p:txBody>
      </p:sp>
      <p:sp>
        <p:nvSpPr>
          <p:cNvPr id="5" name="Rectangle 4">
            <a:extLst>
              <a:ext uri="{FF2B5EF4-FFF2-40B4-BE49-F238E27FC236}">
                <a16:creationId xmlns:a16="http://schemas.microsoft.com/office/drawing/2014/main" id="{253EF183-181C-474A-A8EA-B6752C8F1A50}"/>
              </a:ext>
            </a:extLst>
          </p:cNvPr>
          <p:cNvSpPr>
            <a:spLocks noGrp="1"/>
          </p:cNvSpPr>
          <p:nvPr/>
        </p:nvSpPr>
        <p:spPr>
          <a:xfrm>
            <a:off x="762000" y="2581275"/>
            <a:ext cx="5524500" cy="476250"/>
          </a:xfrm>
          <a:prstGeom prst="rect">
            <a:avLst/>
          </a:prstGeom>
          <a:noFill/>
          <a:ln w="0">
            <a:noFill/>
          </a:ln>
        </p:spPr>
        <p:txBody>
          <a:bodyPr wrap="square" lIns="0" tIns="0" rIns="0" bIns="0" anchor="ctr">
            <a:noAutofit/>
          </a:bodyPr>
          <a:lstStyle/>
          <a:p>
            <a:pPr>
              <a:defRPr sz="2400" b="0">
                <a:solidFill>
                  <a:srgbClr val="11344E"/>
                </a:solidFill>
                <a:latin typeface="Arial"/>
                <a:ea typeface="Arial"/>
                <a:cs typeface="Arial"/>
              </a:defRPr>
            </a:pPr>
            <a:r>
              <a:rPr sz="2400" b="0">
                <a:solidFill>
                  <a:srgbClr val="11344E"/>
                </a:solidFill>
                <a:latin typeface="Arial"/>
                <a:ea typeface="Arial"/>
                <a:cs typeface="Arial"/>
              </a:rPr>
              <a:t>Required point: (4, −1)</a:t>
            </a:r>
          </a:p>
        </p:txBody>
      </p:sp>
      <p:sp>
        <p:nvSpPr>
          <p:cNvPr id="6" name="Rectangle 5">
            <a:extLst>
              <a:ext uri="{FF2B5EF4-FFF2-40B4-BE49-F238E27FC236}">
                <a16:creationId xmlns:a16="http://schemas.microsoft.com/office/drawing/2014/main" id="{52CEA4A5-790D-43EA-9F44-43C3C74B8954}"/>
              </a:ext>
            </a:extLst>
          </p:cNvPr>
          <p:cNvSpPr>
            <a:spLocks noGrp="1"/>
          </p:cNvSpPr>
          <p:nvPr/>
        </p:nvSpPr>
        <p:spPr>
          <a:xfrm>
            <a:off x="762000" y="3429000"/>
            <a:ext cx="5810250" cy="609600"/>
          </a:xfrm>
          <a:prstGeom prst="rect">
            <a:avLst/>
          </a:prstGeom>
          <a:noFill/>
          <a:ln w="0">
            <a:noFill/>
          </a:ln>
        </p:spPr>
        <p:txBody>
          <a:bodyPr wrap="square" lIns="0" tIns="0" rIns="0" bIns="0" anchor="ctr">
            <a:noAutofit/>
          </a:bodyPr>
          <a:lstStyle/>
          <a:p>
            <a:pPr>
              <a:defRPr sz="3000" b="0">
                <a:solidFill>
                  <a:srgbClr val="B14C35"/>
                </a:solidFill>
                <a:latin typeface="Cambria Math"/>
                <a:ea typeface="Cambria Math"/>
                <a:cs typeface="Cambria Math"/>
              </a:defRPr>
            </a:pPr>
            <a:r>
              <a:rPr sz="3000" b="0">
                <a:solidFill>
                  <a:srgbClr val="B14C35"/>
                </a:solidFill>
                <a:latin typeface="Cambria Math"/>
                <a:ea typeface="Cambria Math"/>
                <a:cs typeface="Cambria Math"/>
              </a:rPr>
              <a:t>Proposed: y = ½x + 1</a:t>
            </a:r>
          </a:p>
        </p:txBody>
      </p:sp>
      <p:sp>
        <p:nvSpPr>
          <p:cNvPr id="7" name="Rectangle 6">
            <a:extLst>
              <a:ext uri="{FF2B5EF4-FFF2-40B4-BE49-F238E27FC236}">
                <a16:creationId xmlns:a16="http://schemas.microsoft.com/office/drawing/2014/main" id="{8F4A8365-F816-4298-A308-286D3BAAF5F8}"/>
              </a:ext>
            </a:extLst>
          </p:cNvPr>
          <p:cNvSpPr>
            <a:spLocks noGrp="1"/>
          </p:cNvSpPr>
          <p:nvPr/>
        </p:nvSpPr>
        <p:spPr>
          <a:xfrm>
            <a:off x="762000" y="4191000"/>
            <a:ext cx="5810250" cy="609600"/>
          </a:xfrm>
          <a:prstGeom prst="rect">
            <a:avLst/>
          </a:prstGeom>
          <a:noFill/>
          <a:ln w="0">
            <a:noFill/>
          </a:ln>
        </p:spPr>
        <p:txBody>
          <a:bodyPr wrap="square" lIns="0" tIns="0" rIns="0" bIns="0" anchor="ctr">
            <a:noAutofit/>
          </a:bodyPr>
          <a:lstStyle/>
          <a:p>
            <a:pPr>
              <a:defRPr sz="2550" b="0">
                <a:solidFill>
                  <a:srgbClr val="B14C35"/>
                </a:solidFill>
                <a:latin typeface="Cambria Math"/>
                <a:ea typeface="Cambria Math"/>
                <a:cs typeface="Cambria Math"/>
              </a:defRPr>
            </a:pPr>
            <a:r>
              <a:rPr sz="2550" b="0">
                <a:solidFill>
                  <a:srgbClr val="B14C35"/>
                </a:solidFill>
                <a:latin typeface="Cambria Math"/>
                <a:ea typeface="Cambria Math"/>
                <a:cs typeface="Cambria Math"/>
              </a:rPr>
              <a:t>At x = 4:  y = ½(4) + 1 = 3</a:t>
            </a:r>
          </a:p>
        </p:txBody>
      </p:sp>
      <p:sp>
        <p:nvSpPr>
          <p:cNvPr id="8" name="Rectangle 7">
            <a:extLst>
              <a:ext uri="{FF2B5EF4-FFF2-40B4-BE49-F238E27FC236}">
                <a16:creationId xmlns:a16="http://schemas.microsoft.com/office/drawing/2014/main" id="{5EAF3503-4B6B-4E5F-A13F-36EE0DAEDF83}"/>
              </a:ext>
            </a:extLst>
          </p:cNvPr>
          <p:cNvSpPr>
            <a:spLocks noGrp="1"/>
          </p:cNvSpPr>
          <p:nvPr/>
        </p:nvSpPr>
        <p:spPr>
          <a:xfrm>
            <a:off x="762000" y="5143500"/>
            <a:ext cx="5762625" cy="685800"/>
          </a:xfrm>
          <a:prstGeom prst="rect">
            <a:avLst/>
          </a:prstGeom>
          <a:noFill/>
          <a:ln w="0">
            <a:noFill/>
          </a:ln>
        </p:spPr>
        <p:txBody>
          <a:bodyPr wrap="square" lIns="0" tIns="0" rIns="0" bIns="0" anchor="ctr">
            <a:noAutofit/>
          </a:bodyPr>
          <a:lstStyle/>
          <a:p>
            <a:pPr>
              <a:defRPr sz="2175" b="1">
                <a:solidFill>
                  <a:srgbClr val="11344E"/>
                </a:solidFill>
                <a:latin typeface="Arial"/>
                <a:ea typeface="Arial"/>
                <a:cs typeface="Arial"/>
              </a:defRPr>
            </a:pPr>
            <a:r>
              <a:rPr sz="2175" b="1">
                <a:solidFill>
                  <a:srgbClr val="11344E"/>
                </a:solidFill>
                <a:latin typeface="Arial"/>
                <a:ea typeface="Arial"/>
                <a:cs typeface="Arial"/>
              </a:rPr>
              <a:t>The slope works. The point does not.</a:t>
            </a:r>
          </a:p>
        </p:txBody>
      </p:sp>
      <p:sp>
        <p:nvSpPr>
          <p:cNvPr id="9" name="Freeform: Shape 8">
            <a:extLst>
              <a:ext uri="{FF2B5EF4-FFF2-40B4-BE49-F238E27FC236}">
                <a16:creationId xmlns:a16="http://schemas.microsoft.com/office/drawing/2014/main" id="{9000AC46-D2F6-4D01-B11C-BB1837383671}"/>
              </a:ext>
            </a:extLst>
          </p:cNvPr>
          <p:cNvSpPr>
            <a:spLocks noGrp="1"/>
          </p:cNvSpPr>
          <p:nvPr/>
        </p:nvSpPr>
        <p:spPr>
          <a:xfrm>
            <a:off x="7572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0" name="Freeform: Shape 9">
            <a:extLst>
              <a:ext uri="{FF2B5EF4-FFF2-40B4-BE49-F238E27FC236}">
                <a16:creationId xmlns:a16="http://schemas.microsoft.com/office/drawing/2014/main" id="{4FB77F71-1417-490D-802D-5950A5136451}"/>
              </a:ext>
            </a:extLst>
          </p:cNvPr>
          <p:cNvSpPr>
            <a:spLocks noGrp="1"/>
          </p:cNvSpPr>
          <p:nvPr/>
        </p:nvSpPr>
        <p:spPr>
          <a:xfrm>
            <a:off x="79152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1" name="Freeform: Shape 10">
            <a:extLst>
              <a:ext uri="{FF2B5EF4-FFF2-40B4-BE49-F238E27FC236}">
                <a16:creationId xmlns:a16="http://schemas.microsoft.com/office/drawing/2014/main" id="{1E8D4D53-1BB8-4299-B672-61FB412675EB}"/>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2" name="Freeform: Shape 11">
            <a:extLst>
              <a:ext uri="{FF2B5EF4-FFF2-40B4-BE49-F238E27FC236}">
                <a16:creationId xmlns:a16="http://schemas.microsoft.com/office/drawing/2014/main" id="{0B8995B1-F0A4-4867-9FB5-1B08F9CC38EC}"/>
              </a:ext>
            </a:extLst>
          </p:cNvPr>
          <p:cNvSpPr>
            <a:spLocks noGrp="1"/>
          </p:cNvSpPr>
          <p:nvPr/>
        </p:nvSpPr>
        <p:spPr>
          <a:xfrm>
            <a:off x="86010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3" name="Freeform: Shape 12">
            <a:extLst>
              <a:ext uri="{FF2B5EF4-FFF2-40B4-BE49-F238E27FC236}">
                <a16:creationId xmlns:a16="http://schemas.microsoft.com/office/drawing/2014/main" id="{CE33605E-FDE6-4B45-9AE8-FF684773E186}"/>
              </a:ext>
            </a:extLst>
          </p:cNvPr>
          <p:cNvSpPr>
            <a:spLocks noGrp="1"/>
          </p:cNvSpPr>
          <p:nvPr/>
        </p:nvSpPr>
        <p:spPr>
          <a:xfrm>
            <a:off x="89439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B782FB43-189E-4034-91B3-DB3D0C04D8BC}"/>
              </a:ext>
            </a:extLst>
          </p:cNvPr>
          <p:cNvSpPr>
            <a:spLocks noGrp="1"/>
          </p:cNvSpPr>
          <p:nvPr/>
        </p:nvSpPr>
        <p:spPr>
          <a:xfrm>
            <a:off x="92868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227B60C4-B72D-44E7-88AA-B51F6A77FD96}"/>
              </a:ext>
            </a:extLst>
          </p:cNvPr>
          <p:cNvSpPr>
            <a:spLocks noGrp="1"/>
          </p:cNvSpPr>
          <p:nvPr/>
        </p:nvSpPr>
        <p:spPr>
          <a:xfrm>
            <a:off x="96297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FF5FA63D-4A93-44AA-9BC6-486FB78B3F48}"/>
              </a:ext>
            </a:extLst>
          </p:cNvPr>
          <p:cNvSpPr>
            <a:spLocks noGrp="1"/>
          </p:cNvSpPr>
          <p:nvPr/>
        </p:nvSpPr>
        <p:spPr>
          <a:xfrm>
            <a:off x="99726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39F89850-99A2-4F22-A078-40A25124334B}"/>
              </a:ext>
            </a:extLst>
          </p:cNvPr>
          <p:cNvSpPr>
            <a:spLocks noGrp="1"/>
          </p:cNvSpPr>
          <p:nvPr/>
        </p:nvSpPr>
        <p:spPr>
          <a:xfrm>
            <a:off x="103155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FACD9454-F673-4EA0-8B1B-D633DEB7C755}"/>
              </a:ext>
            </a:extLst>
          </p:cNvPr>
          <p:cNvSpPr>
            <a:spLocks noGrp="1"/>
          </p:cNvSpPr>
          <p:nvPr/>
        </p:nvSpPr>
        <p:spPr>
          <a:xfrm>
            <a:off x="106584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A98279AA-3FC0-4417-9042-2C0A248EDF43}"/>
              </a:ext>
            </a:extLst>
          </p:cNvPr>
          <p:cNvSpPr>
            <a:spLocks noGrp="1"/>
          </p:cNvSpPr>
          <p:nvPr/>
        </p:nvSpPr>
        <p:spPr>
          <a:xfrm>
            <a:off x="11001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8D2CA059-C769-4181-A9AF-868863F5F3E0}"/>
              </a:ext>
            </a:extLst>
          </p:cNvPr>
          <p:cNvSpPr>
            <a:spLocks noGrp="1"/>
          </p:cNvSpPr>
          <p:nvPr/>
        </p:nvSpPr>
        <p:spPr>
          <a:xfrm>
            <a:off x="7572375" y="5429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1DEF1667-9366-4054-BB0D-06B3C4DA0B17}"/>
              </a:ext>
            </a:extLst>
          </p:cNvPr>
          <p:cNvSpPr>
            <a:spLocks noGrp="1"/>
          </p:cNvSpPr>
          <p:nvPr/>
        </p:nvSpPr>
        <p:spPr>
          <a:xfrm>
            <a:off x="7572375" y="50863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AA3B6C6B-3728-40F8-B2BA-92AC59B08E35}"/>
              </a:ext>
            </a:extLst>
          </p:cNvPr>
          <p:cNvSpPr>
            <a:spLocks noGrp="1"/>
          </p:cNvSpPr>
          <p:nvPr/>
        </p:nvSpPr>
        <p:spPr>
          <a:xfrm>
            <a:off x="7572375" y="47434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3" name="Freeform: Shape 22">
            <a:extLst>
              <a:ext uri="{FF2B5EF4-FFF2-40B4-BE49-F238E27FC236}">
                <a16:creationId xmlns:a16="http://schemas.microsoft.com/office/drawing/2014/main" id="{42A04A22-E52A-4D44-A6DB-05F357BF4D33}"/>
              </a:ext>
            </a:extLst>
          </p:cNvPr>
          <p:cNvSpPr>
            <a:spLocks noGrp="1"/>
          </p:cNvSpPr>
          <p:nvPr/>
        </p:nvSpPr>
        <p:spPr>
          <a:xfrm>
            <a:off x="7572375" y="44005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4" name="Freeform: Shape 23">
            <a:extLst>
              <a:ext uri="{FF2B5EF4-FFF2-40B4-BE49-F238E27FC236}">
                <a16:creationId xmlns:a16="http://schemas.microsoft.com/office/drawing/2014/main" id="{1136F4CF-CBE1-4949-A8B9-E065BE950DE2}"/>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5" name="Freeform: Shape 24">
            <a:extLst>
              <a:ext uri="{FF2B5EF4-FFF2-40B4-BE49-F238E27FC236}">
                <a16:creationId xmlns:a16="http://schemas.microsoft.com/office/drawing/2014/main" id="{25EDEED2-5F40-4837-AB0D-E727574FB037}"/>
              </a:ext>
            </a:extLst>
          </p:cNvPr>
          <p:cNvSpPr>
            <a:spLocks noGrp="1"/>
          </p:cNvSpPr>
          <p:nvPr/>
        </p:nvSpPr>
        <p:spPr>
          <a:xfrm>
            <a:off x="7572375" y="37147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6" name="Freeform: Shape 25">
            <a:extLst>
              <a:ext uri="{FF2B5EF4-FFF2-40B4-BE49-F238E27FC236}">
                <a16:creationId xmlns:a16="http://schemas.microsoft.com/office/drawing/2014/main" id="{7669A268-6FCB-4738-9F35-E7D0133A1D65}"/>
              </a:ext>
            </a:extLst>
          </p:cNvPr>
          <p:cNvSpPr>
            <a:spLocks noGrp="1"/>
          </p:cNvSpPr>
          <p:nvPr/>
        </p:nvSpPr>
        <p:spPr>
          <a:xfrm>
            <a:off x="7572375" y="33718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7" name="Freeform: Shape 26">
            <a:extLst>
              <a:ext uri="{FF2B5EF4-FFF2-40B4-BE49-F238E27FC236}">
                <a16:creationId xmlns:a16="http://schemas.microsoft.com/office/drawing/2014/main" id="{C183D377-C67E-4F26-8BCF-C430216B3C99}"/>
              </a:ext>
            </a:extLst>
          </p:cNvPr>
          <p:cNvSpPr>
            <a:spLocks noGrp="1"/>
          </p:cNvSpPr>
          <p:nvPr/>
        </p:nvSpPr>
        <p:spPr>
          <a:xfrm>
            <a:off x="7572375" y="30289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8" name="Freeform: Shape 27">
            <a:extLst>
              <a:ext uri="{FF2B5EF4-FFF2-40B4-BE49-F238E27FC236}">
                <a16:creationId xmlns:a16="http://schemas.microsoft.com/office/drawing/2014/main" id="{3A208D6F-9A53-4576-9CBF-1DC1E595159B}"/>
              </a:ext>
            </a:extLst>
          </p:cNvPr>
          <p:cNvSpPr>
            <a:spLocks noGrp="1"/>
          </p:cNvSpPr>
          <p:nvPr/>
        </p:nvSpPr>
        <p:spPr>
          <a:xfrm>
            <a:off x="7572375" y="26860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9" name="Freeform: Shape 28">
            <a:extLst>
              <a:ext uri="{FF2B5EF4-FFF2-40B4-BE49-F238E27FC236}">
                <a16:creationId xmlns:a16="http://schemas.microsoft.com/office/drawing/2014/main" id="{B7E746EA-0DA2-481F-82BD-125F0683F200}"/>
              </a:ext>
            </a:extLst>
          </p:cNvPr>
          <p:cNvSpPr>
            <a:spLocks noGrp="1"/>
          </p:cNvSpPr>
          <p:nvPr/>
        </p:nvSpPr>
        <p:spPr>
          <a:xfrm>
            <a:off x="7572375" y="23431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0" name="Freeform: Shape 29">
            <a:extLst>
              <a:ext uri="{FF2B5EF4-FFF2-40B4-BE49-F238E27FC236}">
                <a16:creationId xmlns:a16="http://schemas.microsoft.com/office/drawing/2014/main" id="{A1BB9BC6-3A96-48F1-85A6-C8550B6370C6}"/>
              </a:ext>
            </a:extLst>
          </p:cNvPr>
          <p:cNvSpPr>
            <a:spLocks noGrp="1"/>
          </p:cNvSpPr>
          <p:nvPr/>
        </p:nvSpPr>
        <p:spPr>
          <a:xfrm>
            <a:off x="7572375" y="2000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1" name="Freeform: Shape 30">
            <a:extLst>
              <a:ext uri="{FF2B5EF4-FFF2-40B4-BE49-F238E27FC236}">
                <a16:creationId xmlns:a16="http://schemas.microsoft.com/office/drawing/2014/main" id="{69E629EF-AC35-47FC-B7F6-1D5DD1E9A36A}"/>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17145">
            <a:solidFill>
              <a:srgbClr val="687783"/>
            </a:solidFill>
            <a:prstDash val="solid"/>
          </a:ln>
        </p:spPr>
        <p:txBody>
          <a:bodyPr/>
          <a:lstStyle/>
          <a:p>
            <a:endParaRPr lang="en-US"/>
          </a:p>
        </p:txBody>
      </p:sp>
      <p:sp>
        <p:nvSpPr>
          <p:cNvPr id="32" name="Freeform: Shape 31">
            <a:extLst>
              <a:ext uri="{FF2B5EF4-FFF2-40B4-BE49-F238E27FC236}">
                <a16:creationId xmlns:a16="http://schemas.microsoft.com/office/drawing/2014/main" id="{9D319EF5-8501-485D-9C7C-8CACEFE08767}"/>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17145">
            <a:solidFill>
              <a:srgbClr val="687783"/>
            </a:solidFill>
            <a:prstDash val="solid"/>
          </a:ln>
        </p:spPr>
        <p:txBody>
          <a:bodyPr/>
          <a:lstStyle/>
          <a:p>
            <a:endParaRPr lang="en-US"/>
          </a:p>
        </p:txBody>
      </p:sp>
      <p:sp>
        <p:nvSpPr>
          <p:cNvPr id="33" name="Rectangle 32">
            <a:extLst>
              <a:ext uri="{FF2B5EF4-FFF2-40B4-BE49-F238E27FC236}">
                <a16:creationId xmlns:a16="http://schemas.microsoft.com/office/drawing/2014/main" id="{4521D140-A7E3-4A74-8633-05D9CFA2213B}"/>
              </a:ext>
            </a:extLst>
          </p:cNvPr>
          <p:cNvSpPr>
            <a:spLocks noGrp="1"/>
          </p:cNvSpPr>
          <p:nvPr/>
        </p:nvSpPr>
        <p:spPr>
          <a:xfrm>
            <a:off x="7429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4" name="Rectangle 33">
            <a:extLst>
              <a:ext uri="{FF2B5EF4-FFF2-40B4-BE49-F238E27FC236}">
                <a16:creationId xmlns:a16="http://schemas.microsoft.com/office/drawing/2014/main" id="{E88BCFD8-808F-45FF-BD30-B9A1F9120B6A}"/>
              </a:ext>
            </a:extLst>
          </p:cNvPr>
          <p:cNvSpPr>
            <a:spLocks noGrp="1"/>
          </p:cNvSpPr>
          <p:nvPr/>
        </p:nvSpPr>
        <p:spPr>
          <a:xfrm>
            <a:off x="88011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5" name="Rectangle 34">
            <a:extLst>
              <a:ext uri="{FF2B5EF4-FFF2-40B4-BE49-F238E27FC236}">
                <a16:creationId xmlns:a16="http://schemas.microsoft.com/office/drawing/2014/main" id="{147A75C1-FD15-4CB9-8867-D0B1083F0602}"/>
              </a:ext>
            </a:extLst>
          </p:cNvPr>
          <p:cNvSpPr>
            <a:spLocks noGrp="1"/>
          </p:cNvSpPr>
          <p:nvPr/>
        </p:nvSpPr>
        <p:spPr>
          <a:xfrm>
            <a:off x="94869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6" name="Rectangle 35">
            <a:extLst>
              <a:ext uri="{FF2B5EF4-FFF2-40B4-BE49-F238E27FC236}">
                <a16:creationId xmlns:a16="http://schemas.microsoft.com/office/drawing/2014/main" id="{268C10DD-2303-4622-A760-14D1442B74B8}"/>
              </a:ext>
            </a:extLst>
          </p:cNvPr>
          <p:cNvSpPr>
            <a:spLocks noGrp="1"/>
          </p:cNvSpPr>
          <p:nvPr/>
        </p:nvSpPr>
        <p:spPr>
          <a:xfrm>
            <a:off x="101727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37" name="Rectangle 36">
            <a:extLst>
              <a:ext uri="{FF2B5EF4-FFF2-40B4-BE49-F238E27FC236}">
                <a16:creationId xmlns:a16="http://schemas.microsoft.com/office/drawing/2014/main" id="{F7923B72-9573-42D0-82E0-9C347184FEA8}"/>
              </a:ext>
            </a:extLst>
          </p:cNvPr>
          <p:cNvSpPr>
            <a:spLocks noGrp="1"/>
          </p:cNvSpPr>
          <p:nvPr/>
        </p:nvSpPr>
        <p:spPr>
          <a:xfrm>
            <a:off x="10858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38" name="Rectangle 37">
            <a:extLst>
              <a:ext uri="{FF2B5EF4-FFF2-40B4-BE49-F238E27FC236}">
                <a16:creationId xmlns:a16="http://schemas.microsoft.com/office/drawing/2014/main" id="{DAD5A313-17D9-499B-8DCA-603C05A52C21}"/>
              </a:ext>
            </a:extLst>
          </p:cNvPr>
          <p:cNvSpPr>
            <a:spLocks noGrp="1"/>
          </p:cNvSpPr>
          <p:nvPr/>
        </p:nvSpPr>
        <p:spPr>
          <a:xfrm>
            <a:off x="7991475" y="5324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9" name="Rectangle 38">
            <a:extLst>
              <a:ext uri="{FF2B5EF4-FFF2-40B4-BE49-F238E27FC236}">
                <a16:creationId xmlns:a16="http://schemas.microsoft.com/office/drawing/2014/main" id="{0CD7741D-0DA6-4819-B435-464CF6A6D2A1}"/>
              </a:ext>
            </a:extLst>
          </p:cNvPr>
          <p:cNvSpPr>
            <a:spLocks noGrp="1"/>
          </p:cNvSpPr>
          <p:nvPr/>
        </p:nvSpPr>
        <p:spPr>
          <a:xfrm>
            <a:off x="7991475" y="46386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0" name="Rectangle 39">
            <a:extLst>
              <a:ext uri="{FF2B5EF4-FFF2-40B4-BE49-F238E27FC236}">
                <a16:creationId xmlns:a16="http://schemas.microsoft.com/office/drawing/2014/main" id="{B5CF1405-41C6-48A9-BDC2-ABFFD765A101}"/>
              </a:ext>
            </a:extLst>
          </p:cNvPr>
          <p:cNvSpPr>
            <a:spLocks noGrp="1"/>
          </p:cNvSpPr>
          <p:nvPr/>
        </p:nvSpPr>
        <p:spPr>
          <a:xfrm>
            <a:off x="7991475" y="32670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1" name="Rectangle 40">
            <a:extLst>
              <a:ext uri="{FF2B5EF4-FFF2-40B4-BE49-F238E27FC236}">
                <a16:creationId xmlns:a16="http://schemas.microsoft.com/office/drawing/2014/main" id="{01D4FBD9-AB29-4276-97A6-6107974B49D2}"/>
              </a:ext>
            </a:extLst>
          </p:cNvPr>
          <p:cNvSpPr>
            <a:spLocks noGrp="1"/>
          </p:cNvSpPr>
          <p:nvPr/>
        </p:nvSpPr>
        <p:spPr>
          <a:xfrm>
            <a:off x="7991475" y="25812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2" name="Rectangle 41">
            <a:extLst>
              <a:ext uri="{FF2B5EF4-FFF2-40B4-BE49-F238E27FC236}">
                <a16:creationId xmlns:a16="http://schemas.microsoft.com/office/drawing/2014/main" id="{4C84B17F-DABA-45F5-86B9-242812858D52}"/>
              </a:ext>
            </a:extLst>
          </p:cNvPr>
          <p:cNvSpPr>
            <a:spLocks noGrp="1"/>
          </p:cNvSpPr>
          <p:nvPr/>
        </p:nvSpPr>
        <p:spPr>
          <a:xfrm>
            <a:off x="7991475" y="1895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3" name="Rectangle 42">
            <a:extLst>
              <a:ext uri="{FF2B5EF4-FFF2-40B4-BE49-F238E27FC236}">
                <a16:creationId xmlns:a16="http://schemas.microsoft.com/office/drawing/2014/main" id="{CFDE9B8C-2CE2-46FE-9B07-12F45D8F8B10}"/>
              </a:ext>
            </a:extLst>
          </p:cNvPr>
          <p:cNvSpPr>
            <a:spLocks noGrp="1"/>
          </p:cNvSpPr>
          <p:nvPr/>
        </p:nvSpPr>
        <p:spPr>
          <a:xfrm>
            <a:off x="11068050" y="39243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44" name="Rectangle 43">
            <a:extLst>
              <a:ext uri="{FF2B5EF4-FFF2-40B4-BE49-F238E27FC236}">
                <a16:creationId xmlns:a16="http://schemas.microsoft.com/office/drawing/2014/main" id="{08F20155-F47C-4E50-A880-B4381610309C}"/>
              </a:ext>
            </a:extLst>
          </p:cNvPr>
          <p:cNvSpPr>
            <a:spLocks noGrp="1"/>
          </p:cNvSpPr>
          <p:nvPr/>
        </p:nvSpPr>
        <p:spPr>
          <a:xfrm>
            <a:off x="8315325" y="173355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45" name="Freeform: Shape 44">
            <a:extLst>
              <a:ext uri="{FF2B5EF4-FFF2-40B4-BE49-F238E27FC236}">
                <a16:creationId xmlns:a16="http://schemas.microsoft.com/office/drawing/2014/main" id="{DB11344F-D8A1-47F7-962E-E42DBC3C228E}"/>
              </a:ext>
            </a:extLst>
          </p:cNvPr>
          <p:cNvSpPr>
            <a:spLocks noGrp="1"/>
          </p:cNvSpPr>
          <p:nvPr/>
        </p:nvSpPr>
        <p:spPr>
          <a:xfrm>
            <a:off x="7572375" y="2343150"/>
            <a:ext cx="3429000" cy="1714500"/>
          </a:xfrm>
          <a:custGeom>
            <a:avLst/>
            <a:gdLst/>
            <a:ahLst/>
            <a:cxnLst/>
            <a:rect l="0" t="0" r="0" b="0"/>
            <a:pathLst>
              <a:path w="3429000" h="1714500">
                <a:moveTo>
                  <a:pt x="0" y="1714500"/>
                </a:moveTo>
                <a:lnTo>
                  <a:pt x="3429000" y="0"/>
                </a:lnTo>
              </a:path>
            </a:pathLst>
          </a:custGeom>
          <a:noFill/>
          <a:ln w="28575">
            <a:solidFill>
              <a:srgbClr val="B14C35"/>
            </a:solidFill>
            <a:prstDash val="solid"/>
          </a:ln>
        </p:spPr>
        <p:txBody>
          <a:bodyPr/>
          <a:lstStyle/>
          <a:p>
            <a:endParaRPr lang="en-US"/>
          </a:p>
        </p:txBody>
      </p:sp>
      <p:sp>
        <p:nvSpPr>
          <p:cNvPr id="46" name="Oval 45">
            <a:extLst>
              <a:ext uri="{FF2B5EF4-FFF2-40B4-BE49-F238E27FC236}">
                <a16:creationId xmlns:a16="http://schemas.microsoft.com/office/drawing/2014/main" id="{1C7114A4-8AC4-4AFA-BC41-BF34BA72D4DA}"/>
              </a:ext>
            </a:extLst>
          </p:cNvPr>
          <p:cNvSpPr>
            <a:spLocks noGrp="1"/>
          </p:cNvSpPr>
          <p:nvPr/>
        </p:nvSpPr>
        <p:spPr>
          <a:xfrm>
            <a:off x="9582150" y="2981325"/>
            <a:ext cx="95250" cy="95250"/>
          </a:xfrm>
          <a:prstGeom prst="ellipse">
            <a:avLst/>
          </a:prstGeom>
          <a:solidFill>
            <a:srgbClr val="B14C35"/>
          </a:solidFill>
          <a:ln w="9525">
            <a:solidFill>
              <a:srgbClr val="FFFFFF"/>
            </a:solidFill>
          </a:ln>
        </p:spPr>
        <p:txBody>
          <a:bodyPr/>
          <a:lstStyle/>
          <a:p>
            <a:endParaRPr lang="en-US"/>
          </a:p>
        </p:txBody>
      </p:sp>
      <p:sp>
        <p:nvSpPr>
          <p:cNvPr id="47" name="Rectangle 46">
            <a:extLst>
              <a:ext uri="{FF2B5EF4-FFF2-40B4-BE49-F238E27FC236}">
                <a16:creationId xmlns:a16="http://schemas.microsoft.com/office/drawing/2014/main" id="{24853601-6ABF-4155-9676-C3A8C906A582}"/>
              </a:ext>
            </a:extLst>
          </p:cNvPr>
          <p:cNvSpPr>
            <a:spLocks noGrp="1"/>
          </p:cNvSpPr>
          <p:nvPr/>
        </p:nvSpPr>
        <p:spPr>
          <a:xfrm>
            <a:off x="9725025" y="2705100"/>
            <a:ext cx="1666875" cy="304800"/>
          </a:xfrm>
          <a:prstGeom prst="rect">
            <a:avLst/>
          </a:prstGeom>
          <a:noFill/>
          <a:ln w="0">
            <a:noFill/>
          </a:ln>
        </p:spPr>
        <p:txBody>
          <a:bodyPr wrap="square" lIns="0" tIns="0" rIns="0" bIns="0" anchor="ctr">
            <a:noAutofit/>
          </a:bodyPr>
          <a:lstStyle/>
          <a:p>
            <a:pPr>
              <a:defRPr sz="1425" b="1">
                <a:solidFill>
                  <a:srgbClr val="B14C35"/>
                </a:solidFill>
                <a:latin typeface="Arial"/>
                <a:ea typeface="Arial"/>
                <a:cs typeface="Arial"/>
              </a:defRPr>
            </a:pPr>
            <a:r>
              <a:rPr sz="1425" b="1">
                <a:solidFill>
                  <a:srgbClr val="B14C35"/>
                </a:solidFill>
                <a:latin typeface="Arial"/>
                <a:ea typeface="Arial"/>
                <a:cs typeface="Arial"/>
              </a:rPr>
              <a:t>(4, 3)</a:t>
            </a:r>
          </a:p>
        </p:txBody>
      </p:sp>
      <p:sp>
        <p:nvSpPr>
          <p:cNvPr id="48" name="Oval 47">
            <a:extLst>
              <a:ext uri="{FF2B5EF4-FFF2-40B4-BE49-F238E27FC236}">
                <a16:creationId xmlns:a16="http://schemas.microsoft.com/office/drawing/2014/main" id="{A329D19E-AE09-4143-A499-7AB65DBC1AF7}"/>
              </a:ext>
            </a:extLst>
          </p:cNvPr>
          <p:cNvSpPr>
            <a:spLocks noGrp="1"/>
          </p:cNvSpPr>
          <p:nvPr/>
        </p:nvSpPr>
        <p:spPr>
          <a:xfrm>
            <a:off x="9582150" y="4352925"/>
            <a:ext cx="95250" cy="95250"/>
          </a:xfrm>
          <a:prstGeom prst="ellipse">
            <a:avLst/>
          </a:prstGeom>
          <a:solidFill>
            <a:srgbClr val="11344E"/>
          </a:solidFill>
          <a:ln w="9525">
            <a:solidFill>
              <a:srgbClr val="FFFFFF"/>
            </a:solidFill>
          </a:ln>
        </p:spPr>
        <p:txBody>
          <a:bodyPr/>
          <a:lstStyle/>
          <a:p>
            <a:endParaRPr lang="en-US"/>
          </a:p>
        </p:txBody>
      </p:sp>
      <p:sp>
        <p:nvSpPr>
          <p:cNvPr id="49" name="Rectangle 48">
            <a:extLst>
              <a:ext uri="{FF2B5EF4-FFF2-40B4-BE49-F238E27FC236}">
                <a16:creationId xmlns:a16="http://schemas.microsoft.com/office/drawing/2014/main" id="{82D7A4A9-BA9D-48C5-8E07-273CC1F6C404}"/>
              </a:ext>
            </a:extLst>
          </p:cNvPr>
          <p:cNvSpPr>
            <a:spLocks noGrp="1"/>
          </p:cNvSpPr>
          <p:nvPr/>
        </p:nvSpPr>
        <p:spPr>
          <a:xfrm>
            <a:off x="9725025" y="4467225"/>
            <a:ext cx="1666875" cy="304800"/>
          </a:xfrm>
          <a:prstGeom prst="rect">
            <a:avLst/>
          </a:prstGeom>
          <a:noFill/>
          <a:ln w="0">
            <a:noFill/>
          </a:ln>
        </p:spPr>
        <p:txBody>
          <a:bodyPr wrap="square" lIns="0" tIns="0" rIns="0" bIns="0" anchor="ctr">
            <a:noAutofit/>
          </a:bodyPr>
          <a:lstStyle/>
          <a:p>
            <a:pPr>
              <a:defRPr sz="1425" b="1">
                <a:solidFill>
                  <a:srgbClr val="11344E"/>
                </a:solidFill>
                <a:latin typeface="Arial"/>
                <a:ea typeface="Arial"/>
                <a:cs typeface="Arial"/>
              </a:defRPr>
            </a:pPr>
            <a:r>
              <a:rPr sz="1425" b="1">
                <a:solidFill>
                  <a:srgbClr val="11344E"/>
                </a:solidFill>
                <a:latin typeface="Arial"/>
                <a:ea typeface="Arial"/>
                <a:cs typeface="Arial"/>
              </a:rPr>
              <a:t>(4, −1)</a:t>
            </a:r>
          </a:p>
        </p:txBody>
      </p:sp>
      <p:sp>
        <p:nvSpPr>
          <p:cNvPr id="50" name="Freeform: Shape 49">
            <a:extLst>
              <a:ext uri="{FF2B5EF4-FFF2-40B4-BE49-F238E27FC236}">
                <a16:creationId xmlns:a16="http://schemas.microsoft.com/office/drawing/2014/main" id="{8466807C-76A0-4C32-AB7D-48EAF647DAB3}"/>
              </a:ext>
            </a:extLst>
          </p:cNvPr>
          <p:cNvSpPr>
            <a:spLocks noGrp="1"/>
          </p:cNvSpPr>
          <p:nvPr/>
        </p:nvSpPr>
        <p:spPr>
          <a:xfrm>
            <a:off x="9629775" y="3028950"/>
            <a:ext cx="953" cy="1371600"/>
          </a:xfrm>
          <a:custGeom>
            <a:avLst/>
            <a:gdLst/>
            <a:ahLst/>
            <a:cxnLst/>
            <a:rect l="0" t="0" r="0" b="0"/>
            <a:pathLst>
              <a:path w="953" h="1371600">
                <a:moveTo>
                  <a:pt x="0" y="1371600"/>
                </a:moveTo>
                <a:lnTo>
                  <a:pt x="0" y="0"/>
                </a:lnTo>
              </a:path>
            </a:pathLst>
          </a:custGeom>
          <a:noFill/>
          <a:ln w="19050">
            <a:solidFill>
              <a:srgbClr val="11344E"/>
            </a:solidFill>
            <a:prstDash val="solid"/>
          </a:ln>
        </p:spPr>
        <p:txBody>
          <a:bodyPr/>
          <a:lstStyle/>
          <a:p>
            <a:endParaRPr lang="en-US"/>
          </a:p>
        </p:txBody>
      </p:sp>
    </p:spTree>
    <p:extLst>
      <p:ext uri="{BB962C8B-B14F-4D97-AF65-F5344CB8AC3E}">
        <p14:creationId xmlns:p14="http://schemas.microsoft.com/office/powerpoint/2010/main" val="1974779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63A68E53-A0B9-4208-BE64-61C3A4A65483}"/>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Horizontal and vertical lines</a:t>
            </a:r>
          </a:p>
        </p:txBody>
      </p:sp>
      <p:sp>
        <p:nvSpPr>
          <p:cNvPr id="2" name="Rectangle 1">
            <a:extLst>
              <a:ext uri="{FF2B5EF4-FFF2-40B4-BE49-F238E27FC236}">
                <a16:creationId xmlns:a16="http://schemas.microsoft.com/office/drawing/2014/main" id="{7566F98F-E58A-4C24-8AA9-9E3A8B812158}"/>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A vertical line has undefined slope</a:t>
            </a:r>
          </a:p>
        </p:txBody>
      </p:sp>
      <p:sp>
        <p:nvSpPr>
          <p:cNvPr id="3" name="Rectangle 2">
            <a:extLst>
              <a:ext uri="{FF2B5EF4-FFF2-40B4-BE49-F238E27FC236}">
                <a16:creationId xmlns:a16="http://schemas.microsoft.com/office/drawing/2014/main" id="{D7C0AEC3-9641-448C-BC6B-8997163E7F92}"/>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11</a:t>
            </a:r>
          </a:p>
        </p:txBody>
      </p:sp>
      <p:sp>
        <p:nvSpPr>
          <p:cNvPr id="4" name="Rectangle 3">
            <a:extLst>
              <a:ext uri="{FF2B5EF4-FFF2-40B4-BE49-F238E27FC236}">
                <a16:creationId xmlns:a16="http://schemas.microsoft.com/office/drawing/2014/main" id="{64E1E199-36AE-4E75-A82D-5CD48D6931DD}"/>
              </a:ext>
            </a:extLst>
          </p:cNvPr>
          <p:cNvSpPr>
            <a:spLocks noGrp="1"/>
          </p:cNvSpPr>
          <p:nvPr/>
        </p:nvSpPr>
        <p:spPr>
          <a:xfrm>
            <a:off x="762000" y="1952625"/>
            <a:ext cx="5572125" cy="476250"/>
          </a:xfrm>
          <a:prstGeom prst="rect">
            <a:avLst/>
          </a:prstGeom>
          <a:noFill/>
          <a:ln w="0">
            <a:noFill/>
          </a:ln>
        </p:spPr>
        <p:txBody>
          <a:bodyPr wrap="square" lIns="0" tIns="0" rIns="0" bIns="0" anchor="ctr">
            <a:noAutofit/>
          </a:bodyPr>
          <a:lstStyle/>
          <a:p>
            <a:pPr>
              <a:defRPr sz="2625" b="0">
                <a:solidFill>
                  <a:srgbClr val="11344E"/>
                </a:solidFill>
                <a:latin typeface="Arial"/>
                <a:ea typeface="Arial"/>
                <a:cs typeface="Arial"/>
              </a:defRPr>
            </a:pPr>
            <a:r>
              <a:rPr sz="2625" b="0">
                <a:solidFill>
                  <a:srgbClr val="11344E"/>
                </a:solidFill>
                <a:latin typeface="Arial"/>
                <a:ea typeface="Arial"/>
                <a:cs typeface="Arial"/>
              </a:rPr>
              <a:t>Through P = (3, −2)</a:t>
            </a:r>
          </a:p>
        </p:txBody>
      </p:sp>
      <p:sp>
        <p:nvSpPr>
          <p:cNvPr id="5" name="Rectangle 4">
            <a:extLst>
              <a:ext uri="{FF2B5EF4-FFF2-40B4-BE49-F238E27FC236}">
                <a16:creationId xmlns:a16="http://schemas.microsoft.com/office/drawing/2014/main" id="{D64D5E06-0C7C-45BC-9B25-645BBA7AD18C}"/>
              </a:ext>
            </a:extLst>
          </p:cNvPr>
          <p:cNvSpPr>
            <a:spLocks noGrp="1"/>
          </p:cNvSpPr>
          <p:nvPr/>
        </p:nvSpPr>
        <p:spPr>
          <a:xfrm>
            <a:off x="762000" y="2905125"/>
            <a:ext cx="5572125" cy="400050"/>
          </a:xfrm>
          <a:prstGeom prst="rect">
            <a:avLst/>
          </a:prstGeom>
          <a:noFill/>
          <a:ln w="0">
            <a:noFill/>
          </a:ln>
        </p:spPr>
        <p:txBody>
          <a:bodyPr wrap="square" lIns="0" tIns="0" rIns="0" bIns="0" anchor="ctr">
            <a:noAutofit/>
          </a:bodyPr>
          <a:lstStyle/>
          <a:p>
            <a:pPr>
              <a:defRPr sz="2025" b="0">
                <a:solidFill>
                  <a:srgbClr val="687783"/>
                </a:solidFill>
                <a:latin typeface="Arial"/>
                <a:ea typeface="Arial"/>
                <a:cs typeface="Arial"/>
              </a:defRPr>
            </a:pPr>
            <a:r>
              <a:rPr sz="2025" b="0">
                <a:solidFill>
                  <a:srgbClr val="687783"/>
                </a:solidFill>
                <a:latin typeface="Arial"/>
                <a:ea typeface="Arial"/>
                <a:cs typeface="Arial"/>
              </a:rPr>
              <a:t>Parallel to x = 5</a:t>
            </a:r>
          </a:p>
        </p:txBody>
      </p:sp>
      <p:sp>
        <p:nvSpPr>
          <p:cNvPr id="6" name="Rectangle 5">
            <a:extLst>
              <a:ext uri="{FF2B5EF4-FFF2-40B4-BE49-F238E27FC236}">
                <a16:creationId xmlns:a16="http://schemas.microsoft.com/office/drawing/2014/main" id="{093D0F16-BC58-4C4C-BC6E-EA7CF9752286}"/>
              </a:ext>
            </a:extLst>
          </p:cNvPr>
          <p:cNvSpPr>
            <a:spLocks noGrp="1"/>
          </p:cNvSpPr>
          <p:nvPr/>
        </p:nvSpPr>
        <p:spPr>
          <a:xfrm>
            <a:off x="762000" y="3333750"/>
            <a:ext cx="4762500" cy="609600"/>
          </a:xfrm>
          <a:prstGeom prst="rect">
            <a:avLst/>
          </a:prstGeom>
          <a:noFill/>
          <a:ln w="0">
            <a:noFill/>
          </a:ln>
        </p:spPr>
        <p:txBody>
          <a:bodyPr wrap="square" lIns="0" tIns="0" rIns="0" bIns="0" anchor="ctr">
            <a:noAutofit/>
          </a:bodyPr>
          <a:lstStyle/>
          <a:p>
            <a:pPr>
              <a:defRPr sz="3450" b="0">
                <a:solidFill>
                  <a:srgbClr val="1777B4"/>
                </a:solidFill>
                <a:latin typeface="Cambria Math"/>
                <a:ea typeface="Cambria Math"/>
                <a:cs typeface="Cambria Math"/>
              </a:defRPr>
            </a:pPr>
            <a:r>
              <a:rPr sz="3450" b="0">
                <a:solidFill>
                  <a:srgbClr val="1777B4"/>
                </a:solidFill>
                <a:latin typeface="Cambria Math"/>
                <a:ea typeface="Cambria Math"/>
                <a:cs typeface="Cambria Math"/>
              </a:rPr>
              <a:t>x = 3</a:t>
            </a:r>
          </a:p>
        </p:txBody>
      </p:sp>
      <p:sp>
        <p:nvSpPr>
          <p:cNvPr id="7" name="Rectangle 6">
            <a:extLst>
              <a:ext uri="{FF2B5EF4-FFF2-40B4-BE49-F238E27FC236}">
                <a16:creationId xmlns:a16="http://schemas.microsoft.com/office/drawing/2014/main" id="{C0E02FD3-52F9-4CF4-A039-20F5E4A8FEDD}"/>
              </a:ext>
            </a:extLst>
          </p:cNvPr>
          <p:cNvSpPr>
            <a:spLocks noGrp="1"/>
          </p:cNvSpPr>
          <p:nvPr/>
        </p:nvSpPr>
        <p:spPr>
          <a:xfrm>
            <a:off x="762000" y="4257675"/>
            <a:ext cx="5572125" cy="400050"/>
          </a:xfrm>
          <a:prstGeom prst="rect">
            <a:avLst/>
          </a:prstGeom>
          <a:noFill/>
          <a:ln w="0">
            <a:noFill/>
          </a:ln>
        </p:spPr>
        <p:txBody>
          <a:bodyPr wrap="square" lIns="0" tIns="0" rIns="0" bIns="0" anchor="ctr">
            <a:noAutofit/>
          </a:bodyPr>
          <a:lstStyle/>
          <a:p>
            <a:pPr>
              <a:defRPr sz="2025" b="0">
                <a:solidFill>
                  <a:srgbClr val="687783"/>
                </a:solidFill>
                <a:latin typeface="Arial"/>
                <a:ea typeface="Arial"/>
                <a:cs typeface="Arial"/>
              </a:defRPr>
            </a:pPr>
            <a:r>
              <a:rPr sz="2025" b="0">
                <a:solidFill>
                  <a:srgbClr val="687783"/>
                </a:solidFill>
                <a:latin typeface="Arial"/>
                <a:ea typeface="Arial"/>
                <a:cs typeface="Arial"/>
              </a:rPr>
              <a:t>Perpendicular to x = 5</a:t>
            </a:r>
          </a:p>
        </p:txBody>
      </p:sp>
      <p:sp>
        <p:nvSpPr>
          <p:cNvPr id="8" name="Rectangle 7">
            <a:extLst>
              <a:ext uri="{FF2B5EF4-FFF2-40B4-BE49-F238E27FC236}">
                <a16:creationId xmlns:a16="http://schemas.microsoft.com/office/drawing/2014/main" id="{B21D5EEC-C5AB-4081-8EEB-AF579E5F23CA}"/>
              </a:ext>
            </a:extLst>
          </p:cNvPr>
          <p:cNvSpPr>
            <a:spLocks noGrp="1"/>
          </p:cNvSpPr>
          <p:nvPr/>
        </p:nvSpPr>
        <p:spPr>
          <a:xfrm>
            <a:off x="762000" y="4686300"/>
            <a:ext cx="4762500" cy="609600"/>
          </a:xfrm>
          <a:prstGeom prst="rect">
            <a:avLst/>
          </a:prstGeom>
          <a:noFill/>
          <a:ln w="0">
            <a:noFill/>
          </a:ln>
        </p:spPr>
        <p:txBody>
          <a:bodyPr wrap="square" lIns="0" tIns="0" rIns="0" bIns="0" anchor="ctr">
            <a:noAutofit/>
          </a:bodyPr>
          <a:lstStyle/>
          <a:p>
            <a:pPr>
              <a:defRPr sz="3450" b="0">
                <a:solidFill>
                  <a:srgbClr val="148A68"/>
                </a:solidFill>
                <a:latin typeface="Cambria Math"/>
                <a:ea typeface="Cambria Math"/>
                <a:cs typeface="Cambria Math"/>
              </a:defRPr>
            </a:pPr>
            <a:r>
              <a:rPr sz="3450" b="0">
                <a:solidFill>
                  <a:srgbClr val="148A68"/>
                </a:solidFill>
                <a:latin typeface="Cambria Math"/>
                <a:ea typeface="Cambria Math"/>
                <a:cs typeface="Cambria Math"/>
              </a:rPr>
              <a:t>y = −2</a:t>
            </a:r>
          </a:p>
        </p:txBody>
      </p:sp>
      <p:sp>
        <p:nvSpPr>
          <p:cNvPr id="9" name="Freeform: Shape 8">
            <a:extLst>
              <a:ext uri="{FF2B5EF4-FFF2-40B4-BE49-F238E27FC236}">
                <a16:creationId xmlns:a16="http://schemas.microsoft.com/office/drawing/2014/main" id="{D8606710-5B59-48DF-A680-E49DD856E4D9}"/>
              </a:ext>
            </a:extLst>
          </p:cNvPr>
          <p:cNvSpPr>
            <a:spLocks noGrp="1"/>
          </p:cNvSpPr>
          <p:nvPr/>
        </p:nvSpPr>
        <p:spPr>
          <a:xfrm>
            <a:off x="7572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0" name="Freeform: Shape 9">
            <a:extLst>
              <a:ext uri="{FF2B5EF4-FFF2-40B4-BE49-F238E27FC236}">
                <a16:creationId xmlns:a16="http://schemas.microsoft.com/office/drawing/2014/main" id="{7ED5B334-64DE-483B-8173-B7B406BDA647}"/>
              </a:ext>
            </a:extLst>
          </p:cNvPr>
          <p:cNvSpPr>
            <a:spLocks noGrp="1"/>
          </p:cNvSpPr>
          <p:nvPr/>
        </p:nvSpPr>
        <p:spPr>
          <a:xfrm>
            <a:off x="79152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1" name="Freeform: Shape 10">
            <a:extLst>
              <a:ext uri="{FF2B5EF4-FFF2-40B4-BE49-F238E27FC236}">
                <a16:creationId xmlns:a16="http://schemas.microsoft.com/office/drawing/2014/main" id="{6D63E1A9-653A-4E4B-B3BF-C70DBF0D73DB}"/>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2" name="Freeform: Shape 11">
            <a:extLst>
              <a:ext uri="{FF2B5EF4-FFF2-40B4-BE49-F238E27FC236}">
                <a16:creationId xmlns:a16="http://schemas.microsoft.com/office/drawing/2014/main" id="{FE031BA2-D399-4557-BC69-E1169F0EEF9B}"/>
              </a:ext>
            </a:extLst>
          </p:cNvPr>
          <p:cNvSpPr>
            <a:spLocks noGrp="1"/>
          </p:cNvSpPr>
          <p:nvPr/>
        </p:nvSpPr>
        <p:spPr>
          <a:xfrm>
            <a:off x="86010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3" name="Freeform: Shape 12">
            <a:extLst>
              <a:ext uri="{FF2B5EF4-FFF2-40B4-BE49-F238E27FC236}">
                <a16:creationId xmlns:a16="http://schemas.microsoft.com/office/drawing/2014/main" id="{C61594EA-8EDA-4D77-BF9A-84CC6C917941}"/>
              </a:ext>
            </a:extLst>
          </p:cNvPr>
          <p:cNvSpPr>
            <a:spLocks noGrp="1"/>
          </p:cNvSpPr>
          <p:nvPr/>
        </p:nvSpPr>
        <p:spPr>
          <a:xfrm>
            <a:off x="89439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A01D7AC4-5E50-426A-9606-B0ECB9D2D75E}"/>
              </a:ext>
            </a:extLst>
          </p:cNvPr>
          <p:cNvSpPr>
            <a:spLocks noGrp="1"/>
          </p:cNvSpPr>
          <p:nvPr/>
        </p:nvSpPr>
        <p:spPr>
          <a:xfrm>
            <a:off x="92868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B7D6D7FA-227A-42F2-85D9-93E98FDCD39C}"/>
              </a:ext>
            </a:extLst>
          </p:cNvPr>
          <p:cNvSpPr>
            <a:spLocks noGrp="1"/>
          </p:cNvSpPr>
          <p:nvPr/>
        </p:nvSpPr>
        <p:spPr>
          <a:xfrm>
            <a:off x="96297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99DE639C-F0DC-4568-908F-56BAB11D21A5}"/>
              </a:ext>
            </a:extLst>
          </p:cNvPr>
          <p:cNvSpPr>
            <a:spLocks noGrp="1"/>
          </p:cNvSpPr>
          <p:nvPr/>
        </p:nvSpPr>
        <p:spPr>
          <a:xfrm>
            <a:off x="99726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32713FF5-2D2E-4659-8E7F-5154CC9C0124}"/>
              </a:ext>
            </a:extLst>
          </p:cNvPr>
          <p:cNvSpPr>
            <a:spLocks noGrp="1"/>
          </p:cNvSpPr>
          <p:nvPr/>
        </p:nvSpPr>
        <p:spPr>
          <a:xfrm>
            <a:off x="103155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76BA6011-6E7F-4C8A-865B-9F6C105B8C7B}"/>
              </a:ext>
            </a:extLst>
          </p:cNvPr>
          <p:cNvSpPr>
            <a:spLocks noGrp="1"/>
          </p:cNvSpPr>
          <p:nvPr/>
        </p:nvSpPr>
        <p:spPr>
          <a:xfrm>
            <a:off x="106584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F505BC7B-4CD3-485E-A84E-421319EB30AF}"/>
              </a:ext>
            </a:extLst>
          </p:cNvPr>
          <p:cNvSpPr>
            <a:spLocks noGrp="1"/>
          </p:cNvSpPr>
          <p:nvPr/>
        </p:nvSpPr>
        <p:spPr>
          <a:xfrm>
            <a:off x="11001375" y="2000250"/>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84EE3B78-747C-4525-AB61-7D5256E35178}"/>
              </a:ext>
            </a:extLst>
          </p:cNvPr>
          <p:cNvSpPr>
            <a:spLocks noGrp="1"/>
          </p:cNvSpPr>
          <p:nvPr/>
        </p:nvSpPr>
        <p:spPr>
          <a:xfrm>
            <a:off x="7572375" y="5429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B02DD9BC-201F-4B04-BD18-422D53E262A1}"/>
              </a:ext>
            </a:extLst>
          </p:cNvPr>
          <p:cNvSpPr>
            <a:spLocks noGrp="1"/>
          </p:cNvSpPr>
          <p:nvPr/>
        </p:nvSpPr>
        <p:spPr>
          <a:xfrm>
            <a:off x="7572375" y="50863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894BB56C-F364-4FE0-B702-9F48047F520F}"/>
              </a:ext>
            </a:extLst>
          </p:cNvPr>
          <p:cNvSpPr>
            <a:spLocks noGrp="1"/>
          </p:cNvSpPr>
          <p:nvPr/>
        </p:nvSpPr>
        <p:spPr>
          <a:xfrm>
            <a:off x="7572375" y="47434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3" name="Freeform: Shape 22">
            <a:extLst>
              <a:ext uri="{FF2B5EF4-FFF2-40B4-BE49-F238E27FC236}">
                <a16:creationId xmlns:a16="http://schemas.microsoft.com/office/drawing/2014/main" id="{ED916B69-93EE-4ECE-AA06-7978F95F784B}"/>
              </a:ext>
            </a:extLst>
          </p:cNvPr>
          <p:cNvSpPr>
            <a:spLocks noGrp="1"/>
          </p:cNvSpPr>
          <p:nvPr/>
        </p:nvSpPr>
        <p:spPr>
          <a:xfrm>
            <a:off x="7572375" y="44005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4" name="Freeform: Shape 23">
            <a:extLst>
              <a:ext uri="{FF2B5EF4-FFF2-40B4-BE49-F238E27FC236}">
                <a16:creationId xmlns:a16="http://schemas.microsoft.com/office/drawing/2014/main" id="{DF63B49A-6B93-4E78-A084-F60A6CD91C03}"/>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5" name="Freeform: Shape 24">
            <a:extLst>
              <a:ext uri="{FF2B5EF4-FFF2-40B4-BE49-F238E27FC236}">
                <a16:creationId xmlns:a16="http://schemas.microsoft.com/office/drawing/2014/main" id="{70C8BBA2-0D62-468E-B1DF-B1BDF2346147}"/>
              </a:ext>
            </a:extLst>
          </p:cNvPr>
          <p:cNvSpPr>
            <a:spLocks noGrp="1"/>
          </p:cNvSpPr>
          <p:nvPr/>
        </p:nvSpPr>
        <p:spPr>
          <a:xfrm>
            <a:off x="7572375" y="37147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6" name="Freeform: Shape 25">
            <a:extLst>
              <a:ext uri="{FF2B5EF4-FFF2-40B4-BE49-F238E27FC236}">
                <a16:creationId xmlns:a16="http://schemas.microsoft.com/office/drawing/2014/main" id="{9C3EE56E-E376-4D29-BE79-964CDA4BF19D}"/>
              </a:ext>
            </a:extLst>
          </p:cNvPr>
          <p:cNvSpPr>
            <a:spLocks noGrp="1"/>
          </p:cNvSpPr>
          <p:nvPr/>
        </p:nvSpPr>
        <p:spPr>
          <a:xfrm>
            <a:off x="7572375" y="33718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7" name="Freeform: Shape 26">
            <a:extLst>
              <a:ext uri="{FF2B5EF4-FFF2-40B4-BE49-F238E27FC236}">
                <a16:creationId xmlns:a16="http://schemas.microsoft.com/office/drawing/2014/main" id="{D49D95F2-4FAE-4ED6-85CC-DDF1668AB9F0}"/>
              </a:ext>
            </a:extLst>
          </p:cNvPr>
          <p:cNvSpPr>
            <a:spLocks noGrp="1"/>
          </p:cNvSpPr>
          <p:nvPr/>
        </p:nvSpPr>
        <p:spPr>
          <a:xfrm>
            <a:off x="7572375" y="30289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8" name="Freeform: Shape 27">
            <a:extLst>
              <a:ext uri="{FF2B5EF4-FFF2-40B4-BE49-F238E27FC236}">
                <a16:creationId xmlns:a16="http://schemas.microsoft.com/office/drawing/2014/main" id="{0221CF33-1C96-49E9-B27A-AAA0D854FFD7}"/>
              </a:ext>
            </a:extLst>
          </p:cNvPr>
          <p:cNvSpPr>
            <a:spLocks noGrp="1"/>
          </p:cNvSpPr>
          <p:nvPr/>
        </p:nvSpPr>
        <p:spPr>
          <a:xfrm>
            <a:off x="7572375" y="26860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9" name="Freeform: Shape 28">
            <a:extLst>
              <a:ext uri="{FF2B5EF4-FFF2-40B4-BE49-F238E27FC236}">
                <a16:creationId xmlns:a16="http://schemas.microsoft.com/office/drawing/2014/main" id="{6F364E17-B076-4A05-B418-6672E458BF3B}"/>
              </a:ext>
            </a:extLst>
          </p:cNvPr>
          <p:cNvSpPr>
            <a:spLocks noGrp="1"/>
          </p:cNvSpPr>
          <p:nvPr/>
        </p:nvSpPr>
        <p:spPr>
          <a:xfrm>
            <a:off x="7572375" y="23431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0" name="Freeform: Shape 29">
            <a:extLst>
              <a:ext uri="{FF2B5EF4-FFF2-40B4-BE49-F238E27FC236}">
                <a16:creationId xmlns:a16="http://schemas.microsoft.com/office/drawing/2014/main" id="{9CDCBDE3-5F72-4CBB-A069-6269EA0756B3}"/>
              </a:ext>
            </a:extLst>
          </p:cNvPr>
          <p:cNvSpPr>
            <a:spLocks noGrp="1"/>
          </p:cNvSpPr>
          <p:nvPr/>
        </p:nvSpPr>
        <p:spPr>
          <a:xfrm>
            <a:off x="7572375" y="2000250"/>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1" name="Freeform: Shape 30">
            <a:extLst>
              <a:ext uri="{FF2B5EF4-FFF2-40B4-BE49-F238E27FC236}">
                <a16:creationId xmlns:a16="http://schemas.microsoft.com/office/drawing/2014/main" id="{95EF0FBA-C0C6-4924-B836-B7A3E601D8DE}"/>
              </a:ext>
            </a:extLst>
          </p:cNvPr>
          <p:cNvSpPr>
            <a:spLocks noGrp="1"/>
          </p:cNvSpPr>
          <p:nvPr/>
        </p:nvSpPr>
        <p:spPr>
          <a:xfrm>
            <a:off x="7572375" y="4057650"/>
            <a:ext cx="3429000" cy="953"/>
          </a:xfrm>
          <a:custGeom>
            <a:avLst/>
            <a:gdLst/>
            <a:ahLst/>
            <a:cxnLst/>
            <a:rect l="0" t="0" r="0" b="0"/>
            <a:pathLst>
              <a:path w="3429000" h="953">
                <a:moveTo>
                  <a:pt x="0" y="0"/>
                </a:moveTo>
                <a:lnTo>
                  <a:pt x="3429000" y="0"/>
                </a:lnTo>
              </a:path>
            </a:pathLst>
          </a:custGeom>
          <a:noFill/>
          <a:ln w="17145">
            <a:solidFill>
              <a:srgbClr val="687783"/>
            </a:solidFill>
            <a:prstDash val="solid"/>
          </a:ln>
        </p:spPr>
        <p:txBody>
          <a:bodyPr/>
          <a:lstStyle/>
          <a:p>
            <a:endParaRPr lang="en-US"/>
          </a:p>
        </p:txBody>
      </p:sp>
      <p:sp>
        <p:nvSpPr>
          <p:cNvPr id="32" name="Freeform: Shape 31">
            <a:extLst>
              <a:ext uri="{FF2B5EF4-FFF2-40B4-BE49-F238E27FC236}">
                <a16:creationId xmlns:a16="http://schemas.microsoft.com/office/drawing/2014/main" id="{E946ECD0-3A36-471D-B3EE-73AD148C7025}"/>
              </a:ext>
            </a:extLst>
          </p:cNvPr>
          <p:cNvSpPr>
            <a:spLocks noGrp="1"/>
          </p:cNvSpPr>
          <p:nvPr/>
        </p:nvSpPr>
        <p:spPr>
          <a:xfrm>
            <a:off x="8258175" y="2000250"/>
            <a:ext cx="953" cy="3429000"/>
          </a:xfrm>
          <a:custGeom>
            <a:avLst/>
            <a:gdLst/>
            <a:ahLst/>
            <a:cxnLst/>
            <a:rect l="0" t="0" r="0" b="0"/>
            <a:pathLst>
              <a:path w="953" h="3429000">
                <a:moveTo>
                  <a:pt x="0" y="0"/>
                </a:moveTo>
                <a:lnTo>
                  <a:pt x="0" y="3429000"/>
                </a:lnTo>
              </a:path>
            </a:pathLst>
          </a:custGeom>
          <a:noFill/>
          <a:ln w="17145">
            <a:solidFill>
              <a:srgbClr val="687783"/>
            </a:solidFill>
            <a:prstDash val="solid"/>
          </a:ln>
        </p:spPr>
        <p:txBody>
          <a:bodyPr/>
          <a:lstStyle/>
          <a:p>
            <a:endParaRPr lang="en-US"/>
          </a:p>
        </p:txBody>
      </p:sp>
      <p:sp>
        <p:nvSpPr>
          <p:cNvPr id="33" name="Rectangle 32">
            <a:extLst>
              <a:ext uri="{FF2B5EF4-FFF2-40B4-BE49-F238E27FC236}">
                <a16:creationId xmlns:a16="http://schemas.microsoft.com/office/drawing/2014/main" id="{5AFD7F0E-CB63-453E-BACB-B1D6C76B6CFC}"/>
              </a:ext>
            </a:extLst>
          </p:cNvPr>
          <p:cNvSpPr>
            <a:spLocks noGrp="1"/>
          </p:cNvSpPr>
          <p:nvPr/>
        </p:nvSpPr>
        <p:spPr>
          <a:xfrm>
            <a:off x="7429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4" name="Rectangle 33">
            <a:extLst>
              <a:ext uri="{FF2B5EF4-FFF2-40B4-BE49-F238E27FC236}">
                <a16:creationId xmlns:a16="http://schemas.microsoft.com/office/drawing/2014/main" id="{8EBF6C67-E687-4982-BAE1-883642B68A43}"/>
              </a:ext>
            </a:extLst>
          </p:cNvPr>
          <p:cNvSpPr>
            <a:spLocks noGrp="1"/>
          </p:cNvSpPr>
          <p:nvPr/>
        </p:nvSpPr>
        <p:spPr>
          <a:xfrm>
            <a:off x="88011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5" name="Rectangle 34">
            <a:extLst>
              <a:ext uri="{FF2B5EF4-FFF2-40B4-BE49-F238E27FC236}">
                <a16:creationId xmlns:a16="http://schemas.microsoft.com/office/drawing/2014/main" id="{BC37B9D4-A8BA-4FDE-8AC0-9993DF996FFB}"/>
              </a:ext>
            </a:extLst>
          </p:cNvPr>
          <p:cNvSpPr>
            <a:spLocks noGrp="1"/>
          </p:cNvSpPr>
          <p:nvPr/>
        </p:nvSpPr>
        <p:spPr>
          <a:xfrm>
            <a:off x="94869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6" name="Rectangle 35">
            <a:extLst>
              <a:ext uri="{FF2B5EF4-FFF2-40B4-BE49-F238E27FC236}">
                <a16:creationId xmlns:a16="http://schemas.microsoft.com/office/drawing/2014/main" id="{249C9ADC-7F2A-4DB5-A3C7-79F65610EB6E}"/>
              </a:ext>
            </a:extLst>
          </p:cNvPr>
          <p:cNvSpPr>
            <a:spLocks noGrp="1"/>
          </p:cNvSpPr>
          <p:nvPr/>
        </p:nvSpPr>
        <p:spPr>
          <a:xfrm>
            <a:off x="101727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37" name="Rectangle 36">
            <a:extLst>
              <a:ext uri="{FF2B5EF4-FFF2-40B4-BE49-F238E27FC236}">
                <a16:creationId xmlns:a16="http://schemas.microsoft.com/office/drawing/2014/main" id="{C5161A95-5D8E-4D21-AF8B-953456CE79D4}"/>
              </a:ext>
            </a:extLst>
          </p:cNvPr>
          <p:cNvSpPr>
            <a:spLocks noGrp="1"/>
          </p:cNvSpPr>
          <p:nvPr/>
        </p:nvSpPr>
        <p:spPr>
          <a:xfrm>
            <a:off x="10858500" y="410527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38" name="Rectangle 37">
            <a:extLst>
              <a:ext uri="{FF2B5EF4-FFF2-40B4-BE49-F238E27FC236}">
                <a16:creationId xmlns:a16="http://schemas.microsoft.com/office/drawing/2014/main" id="{A2628E34-D69A-4D6C-B509-D21832927241}"/>
              </a:ext>
            </a:extLst>
          </p:cNvPr>
          <p:cNvSpPr>
            <a:spLocks noGrp="1"/>
          </p:cNvSpPr>
          <p:nvPr/>
        </p:nvSpPr>
        <p:spPr>
          <a:xfrm>
            <a:off x="7991475" y="5324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9" name="Rectangle 38">
            <a:extLst>
              <a:ext uri="{FF2B5EF4-FFF2-40B4-BE49-F238E27FC236}">
                <a16:creationId xmlns:a16="http://schemas.microsoft.com/office/drawing/2014/main" id="{1F551D14-2405-4077-8F4F-52FCB9429844}"/>
              </a:ext>
            </a:extLst>
          </p:cNvPr>
          <p:cNvSpPr>
            <a:spLocks noGrp="1"/>
          </p:cNvSpPr>
          <p:nvPr/>
        </p:nvSpPr>
        <p:spPr>
          <a:xfrm>
            <a:off x="7991475" y="46386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0" name="Rectangle 39">
            <a:extLst>
              <a:ext uri="{FF2B5EF4-FFF2-40B4-BE49-F238E27FC236}">
                <a16:creationId xmlns:a16="http://schemas.microsoft.com/office/drawing/2014/main" id="{9CED474E-1E35-4C63-B159-E59EB10DE088}"/>
              </a:ext>
            </a:extLst>
          </p:cNvPr>
          <p:cNvSpPr>
            <a:spLocks noGrp="1"/>
          </p:cNvSpPr>
          <p:nvPr/>
        </p:nvSpPr>
        <p:spPr>
          <a:xfrm>
            <a:off x="7991475" y="32670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1" name="Rectangle 40">
            <a:extLst>
              <a:ext uri="{FF2B5EF4-FFF2-40B4-BE49-F238E27FC236}">
                <a16:creationId xmlns:a16="http://schemas.microsoft.com/office/drawing/2014/main" id="{79B88CA3-C439-4094-A54F-EE519BAFFA7D}"/>
              </a:ext>
            </a:extLst>
          </p:cNvPr>
          <p:cNvSpPr>
            <a:spLocks noGrp="1"/>
          </p:cNvSpPr>
          <p:nvPr/>
        </p:nvSpPr>
        <p:spPr>
          <a:xfrm>
            <a:off x="7991475" y="25812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2" name="Rectangle 41">
            <a:extLst>
              <a:ext uri="{FF2B5EF4-FFF2-40B4-BE49-F238E27FC236}">
                <a16:creationId xmlns:a16="http://schemas.microsoft.com/office/drawing/2014/main" id="{73C9FD70-8B22-42EF-A571-4D31E7A11966}"/>
              </a:ext>
            </a:extLst>
          </p:cNvPr>
          <p:cNvSpPr>
            <a:spLocks noGrp="1"/>
          </p:cNvSpPr>
          <p:nvPr/>
        </p:nvSpPr>
        <p:spPr>
          <a:xfrm>
            <a:off x="7991475" y="18954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3" name="Rectangle 42">
            <a:extLst>
              <a:ext uri="{FF2B5EF4-FFF2-40B4-BE49-F238E27FC236}">
                <a16:creationId xmlns:a16="http://schemas.microsoft.com/office/drawing/2014/main" id="{21287EB8-DD98-4B8C-9E9E-F577C4FB372B}"/>
              </a:ext>
            </a:extLst>
          </p:cNvPr>
          <p:cNvSpPr>
            <a:spLocks noGrp="1"/>
          </p:cNvSpPr>
          <p:nvPr/>
        </p:nvSpPr>
        <p:spPr>
          <a:xfrm>
            <a:off x="11068050" y="39243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44" name="Rectangle 43">
            <a:extLst>
              <a:ext uri="{FF2B5EF4-FFF2-40B4-BE49-F238E27FC236}">
                <a16:creationId xmlns:a16="http://schemas.microsoft.com/office/drawing/2014/main" id="{961B810C-A5ED-429D-A349-5543CA673F2C}"/>
              </a:ext>
            </a:extLst>
          </p:cNvPr>
          <p:cNvSpPr>
            <a:spLocks noGrp="1"/>
          </p:cNvSpPr>
          <p:nvPr/>
        </p:nvSpPr>
        <p:spPr>
          <a:xfrm>
            <a:off x="8315325" y="173355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45" name="Freeform: Shape 44">
            <a:extLst>
              <a:ext uri="{FF2B5EF4-FFF2-40B4-BE49-F238E27FC236}">
                <a16:creationId xmlns:a16="http://schemas.microsoft.com/office/drawing/2014/main" id="{EA4F8731-0ECD-4C5F-88A0-89EC70E0F7CF}"/>
              </a:ext>
            </a:extLst>
          </p:cNvPr>
          <p:cNvSpPr>
            <a:spLocks noGrp="1"/>
          </p:cNvSpPr>
          <p:nvPr/>
        </p:nvSpPr>
        <p:spPr>
          <a:xfrm>
            <a:off x="9972675" y="2000250"/>
            <a:ext cx="953" cy="3429000"/>
          </a:xfrm>
          <a:custGeom>
            <a:avLst/>
            <a:gdLst/>
            <a:ahLst/>
            <a:cxnLst/>
            <a:rect l="0" t="0" r="0" b="0"/>
            <a:pathLst>
              <a:path w="953" h="3429000">
                <a:moveTo>
                  <a:pt x="0" y="3429000"/>
                </a:moveTo>
                <a:lnTo>
                  <a:pt x="0" y="0"/>
                </a:lnTo>
              </a:path>
            </a:pathLst>
          </a:custGeom>
          <a:noFill/>
          <a:ln w="19050">
            <a:solidFill>
              <a:srgbClr val="687783"/>
            </a:solidFill>
            <a:prstDash val="solid"/>
          </a:ln>
        </p:spPr>
        <p:txBody>
          <a:bodyPr/>
          <a:lstStyle/>
          <a:p>
            <a:endParaRPr lang="en-US"/>
          </a:p>
        </p:txBody>
      </p:sp>
      <p:sp>
        <p:nvSpPr>
          <p:cNvPr id="46" name="Freeform: Shape 45">
            <a:extLst>
              <a:ext uri="{FF2B5EF4-FFF2-40B4-BE49-F238E27FC236}">
                <a16:creationId xmlns:a16="http://schemas.microsoft.com/office/drawing/2014/main" id="{0C1EB1C1-EA62-49E7-8828-2D4B521A2469}"/>
              </a:ext>
            </a:extLst>
          </p:cNvPr>
          <p:cNvSpPr>
            <a:spLocks noGrp="1"/>
          </p:cNvSpPr>
          <p:nvPr/>
        </p:nvSpPr>
        <p:spPr>
          <a:xfrm>
            <a:off x="9286875" y="2000250"/>
            <a:ext cx="953" cy="3429000"/>
          </a:xfrm>
          <a:custGeom>
            <a:avLst/>
            <a:gdLst/>
            <a:ahLst/>
            <a:cxnLst/>
            <a:rect l="0" t="0" r="0" b="0"/>
            <a:pathLst>
              <a:path w="953" h="3429000">
                <a:moveTo>
                  <a:pt x="0" y="3429000"/>
                </a:moveTo>
                <a:lnTo>
                  <a:pt x="0" y="0"/>
                </a:lnTo>
              </a:path>
            </a:pathLst>
          </a:custGeom>
          <a:noFill/>
          <a:ln w="28575">
            <a:solidFill>
              <a:srgbClr val="1777B4"/>
            </a:solidFill>
            <a:prstDash val="solid"/>
          </a:ln>
        </p:spPr>
        <p:txBody>
          <a:bodyPr/>
          <a:lstStyle/>
          <a:p>
            <a:endParaRPr lang="en-US"/>
          </a:p>
        </p:txBody>
      </p:sp>
      <p:sp>
        <p:nvSpPr>
          <p:cNvPr id="47" name="Freeform: Shape 46">
            <a:extLst>
              <a:ext uri="{FF2B5EF4-FFF2-40B4-BE49-F238E27FC236}">
                <a16:creationId xmlns:a16="http://schemas.microsoft.com/office/drawing/2014/main" id="{6BCB0DE3-A359-4835-A8CC-88B1B09379C1}"/>
              </a:ext>
            </a:extLst>
          </p:cNvPr>
          <p:cNvSpPr>
            <a:spLocks noGrp="1"/>
          </p:cNvSpPr>
          <p:nvPr/>
        </p:nvSpPr>
        <p:spPr>
          <a:xfrm>
            <a:off x="7572375" y="4743450"/>
            <a:ext cx="3429000" cy="953"/>
          </a:xfrm>
          <a:custGeom>
            <a:avLst/>
            <a:gdLst/>
            <a:ahLst/>
            <a:cxnLst/>
            <a:rect l="0" t="0" r="0" b="0"/>
            <a:pathLst>
              <a:path w="3429000" h="953">
                <a:moveTo>
                  <a:pt x="0" y="0"/>
                </a:moveTo>
                <a:lnTo>
                  <a:pt x="3429000" y="0"/>
                </a:lnTo>
              </a:path>
            </a:pathLst>
          </a:custGeom>
          <a:noFill/>
          <a:ln w="28575">
            <a:solidFill>
              <a:srgbClr val="148A68"/>
            </a:solidFill>
            <a:prstDash val="solid"/>
          </a:ln>
        </p:spPr>
        <p:txBody>
          <a:bodyPr/>
          <a:lstStyle/>
          <a:p>
            <a:endParaRPr lang="en-US"/>
          </a:p>
        </p:txBody>
      </p:sp>
      <p:sp>
        <p:nvSpPr>
          <p:cNvPr id="48" name="Oval 47">
            <a:extLst>
              <a:ext uri="{FF2B5EF4-FFF2-40B4-BE49-F238E27FC236}">
                <a16:creationId xmlns:a16="http://schemas.microsoft.com/office/drawing/2014/main" id="{18565689-DB55-46FC-8DD1-218CDB47468D}"/>
              </a:ext>
            </a:extLst>
          </p:cNvPr>
          <p:cNvSpPr>
            <a:spLocks noGrp="1"/>
          </p:cNvSpPr>
          <p:nvPr/>
        </p:nvSpPr>
        <p:spPr>
          <a:xfrm>
            <a:off x="9239250" y="4695825"/>
            <a:ext cx="95250" cy="95250"/>
          </a:xfrm>
          <a:prstGeom prst="ellipse">
            <a:avLst/>
          </a:prstGeom>
          <a:solidFill>
            <a:srgbClr val="11344E"/>
          </a:solidFill>
          <a:ln w="9525">
            <a:solidFill>
              <a:srgbClr val="FFFFFF"/>
            </a:solidFill>
          </a:ln>
        </p:spPr>
        <p:txBody>
          <a:bodyPr/>
          <a:lstStyle/>
          <a:p>
            <a:endParaRPr lang="en-US"/>
          </a:p>
        </p:txBody>
      </p:sp>
      <p:sp>
        <p:nvSpPr>
          <p:cNvPr id="49" name="Rectangle 48">
            <a:extLst>
              <a:ext uri="{FF2B5EF4-FFF2-40B4-BE49-F238E27FC236}">
                <a16:creationId xmlns:a16="http://schemas.microsoft.com/office/drawing/2014/main" id="{178C67FB-DB6F-4CBA-ADD9-EB07642685AB}"/>
              </a:ext>
            </a:extLst>
          </p:cNvPr>
          <p:cNvSpPr>
            <a:spLocks noGrp="1"/>
          </p:cNvSpPr>
          <p:nvPr/>
        </p:nvSpPr>
        <p:spPr>
          <a:xfrm>
            <a:off x="9382125" y="4410075"/>
            <a:ext cx="1666875" cy="304800"/>
          </a:xfrm>
          <a:prstGeom prst="rect">
            <a:avLst/>
          </a:prstGeom>
          <a:noFill/>
          <a:ln w="0">
            <a:noFill/>
          </a:ln>
        </p:spPr>
        <p:txBody>
          <a:bodyPr wrap="square" lIns="0" tIns="0" rIns="0" bIns="0" anchor="ctr">
            <a:noAutofit/>
          </a:bodyPr>
          <a:lstStyle/>
          <a:p>
            <a:pPr>
              <a:defRPr sz="1425" b="1">
                <a:solidFill>
                  <a:srgbClr val="11344E"/>
                </a:solidFill>
                <a:latin typeface="Arial"/>
                <a:ea typeface="Arial"/>
                <a:cs typeface="Arial"/>
              </a:defRPr>
            </a:pPr>
            <a:r>
              <a:rPr sz="1425" b="1">
                <a:solidFill>
                  <a:srgbClr val="11344E"/>
                </a:solidFill>
                <a:latin typeface="Arial"/>
                <a:ea typeface="Arial"/>
                <a:cs typeface="Arial"/>
              </a:rPr>
              <a:t>P (3, −2)</a:t>
            </a:r>
          </a:p>
        </p:txBody>
      </p:sp>
      <p:sp>
        <p:nvSpPr>
          <p:cNvPr id="50" name="Rectangle 49">
            <a:extLst>
              <a:ext uri="{FF2B5EF4-FFF2-40B4-BE49-F238E27FC236}">
                <a16:creationId xmlns:a16="http://schemas.microsoft.com/office/drawing/2014/main" id="{4887074B-A081-4C88-99D3-0115E6833ACF}"/>
              </a:ext>
            </a:extLst>
          </p:cNvPr>
          <p:cNvSpPr>
            <a:spLocks noGrp="1"/>
          </p:cNvSpPr>
          <p:nvPr/>
        </p:nvSpPr>
        <p:spPr>
          <a:xfrm>
            <a:off x="10048875" y="2190750"/>
            <a:ext cx="809625" cy="333375"/>
          </a:xfrm>
          <a:prstGeom prst="rect">
            <a:avLst/>
          </a:prstGeom>
          <a:noFill/>
          <a:ln w="0">
            <a:noFill/>
          </a:ln>
        </p:spPr>
        <p:txBody>
          <a:bodyPr wrap="square" lIns="0" tIns="0" rIns="0" bIns="0" anchor="ctr">
            <a:noAutofit/>
          </a:bodyPr>
          <a:lstStyle/>
          <a:p>
            <a:pPr>
              <a:defRPr sz="1500" b="0">
                <a:solidFill>
                  <a:srgbClr val="687783"/>
                </a:solidFill>
                <a:latin typeface="Arial"/>
                <a:ea typeface="Arial"/>
                <a:cs typeface="Arial"/>
              </a:defRPr>
            </a:pPr>
            <a:r>
              <a:rPr sz="1500" b="0">
                <a:solidFill>
                  <a:srgbClr val="687783"/>
                </a:solidFill>
                <a:latin typeface="Arial"/>
                <a:ea typeface="Arial"/>
                <a:cs typeface="Arial"/>
              </a:rPr>
              <a:t>x = 5</a:t>
            </a:r>
          </a:p>
        </p:txBody>
      </p:sp>
    </p:spTree>
    <p:extLst>
      <p:ext uri="{BB962C8B-B14F-4D97-AF65-F5344CB8AC3E}">
        <p14:creationId xmlns:p14="http://schemas.microsoft.com/office/powerpoint/2010/main" val="814017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B0AB2F-F973-4209-B715-D7B12F386D3B}"/>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Line equations: notes to keep</a:t>
            </a:r>
          </a:p>
        </p:txBody>
      </p:sp>
      <p:sp>
        <p:nvSpPr>
          <p:cNvPr id="2" name="Rectangle 1">
            <a:extLst>
              <a:ext uri="{FF2B5EF4-FFF2-40B4-BE49-F238E27FC236}">
                <a16:creationId xmlns:a16="http://schemas.microsoft.com/office/drawing/2014/main" id="{4B5F0901-AF30-4AD6-A90E-B9903F251D03}"/>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Part 1 summary</a:t>
            </a:r>
          </a:p>
        </p:txBody>
      </p:sp>
      <p:sp>
        <p:nvSpPr>
          <p:cNvPr id="3" name="Rectangle 2">
            <a:extLst>
              <a:ext uri="{FF2B5EF4-FFF2-40B4-BE49-F238E27FC236}">
                <a16:creationId xmlns:a16="http://schemas.microsoft.com/office/drawing/2014/main" id="{39706498-6714-4C52-917A-85E5E22512E0}"/>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12</a:t>
            </a:r>
          </a:p>
        </p:txBody>
      </p:sp>
      <p:sp>
        <p:nvSpPr>
          <p:cNvPr id="4" name="Rectangle 3">
            <a:extLst>
              <a:ext uri="{FF2B5EF4-FFF2-40B4-BE49-F238E27FC236}">
                <a16:creationId xmlns:a16="http://schemas.microsoft.com/office/drawing/2014/main" id="{D9078913-D7C5-42F6-B1D9-A79EBC069F85}"/>
              </a:ext>
            </a:extLst>
          </p:cNvPr>
          <p:cNvSpPr>
            <a:spLocks noGrp="1"/>
          </p:cNvSpPr>
          <p:nvPr/>
        </p:nvSpPr>
        <p:spPr>
          <a:xfrm>
            <a:off x="762000" y="1857375"/>
            <a:ext cx="10668000" cy="70485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Given two points:  m = (y₂ − y₁)/(x₂ − x₁).</a:t>
            </a:r>
          </a:p>
        </p:txBody>
      </p:sp>
      <p:sp>
        <p:nvSpPr>
          <p:cNvPr id="5" name="Rectangle 4">
            <a:extLst>
              <a:ext uri="{FF2B5EF4-FFF2-40B4-BE49-F238E27FC236}">
                <a16:creationId xmlns:a16="http://schemas.microsoft.com/office/drawing/2014/main" id="{0F8FE454-89CA-4E49-9B24-F3FFC37F7D0F}"/>
              </a:ext>
            </a:extLst>
          </p:cNvPr>
          <p:cNvSpPr>
            <a:spLocks noGrp="1"/>
          </p:cNvSpPr>
          <p:nvPr/>
        </p:nvSpPr>
        <p:spPr>
          <a:xfrm>
            <a:off x="762000" y="2676525"/>
            <a:ext cx="10668000" cy="70485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Parallel: keep the slope. Perpendicular: use −1/m.</a:t>
            </a:r>
          </a:p>
        </p:txBody>
      </p:sp>
      <p:sp>
        <p:nvSpPr>
          <p:cNvPr id="6" name="Rectangle 5">
            <a:extLst>
              <a:ext uri="{FF2B5EF4-FFF2-40B4-BE49-F238E27FC236}">
                <a16:creationId xmlns:a16="http://schemas.microsoft.com/office/drawing/2014/main" id="{003F12A4-1A7C-4216-BF17-DB453F30E12C}"/>
              </a:ext>
            </a:extLst>
          </p:cNvPr>
          <p:cNvSpPr>
            <a:spLocks noGrp="1"/>
          </p:cNvSpPr>
          <p:nvPr/>
        </p:nvSpPr>
        <p:spPr>
          <a:xfrm>
            <a:off x="762000" y="3495675"/>
            <a:ext cx="10668000" cy="70485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Through (x₁, y₁):  y − y₁ = m(x − x₁).</a:t>
            </a:r>
          </a:p>
        </p:txBody>
      </p:sp>
      <p:sp>
        <p:nvSpPr>
          <p:cNvPr id="7" name="Rectangle 6">
            <a:extLst>
              <a:ext uri="{FF2B5EF4-FFF2-40B4-BE49-F238E27FC236}">
                <a16:creationId xmlns:a16="http://schemas.microsoft.com/office/drawing/2014/main" id="{509B9A35-3594-4782-9C58-BAF54511D2B9}"/>
              </a:ext>
            </a:extLst>
          </p:cNvPr>
          <p:cNvSpPr>
            <a:spLocks noGrp="1"/>
          </p:cNvSpPr>
          <p:nvPr/>
        </p:nvSpPr>
        <p:spPr>
          <a:xfrm>
            <a:off x="762000" y="4314825"/>
            <a:ext cx="10668000" cy="70485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Check the required slope AND substitute the given point.</a:t>
            </a:r>
          </a:p>
        </p:txBody>
      </p:sp>
      <p:sp>
        <p:nvSpPr>
          <p:cNvPr id="8" name="Rectangle 7">
            <a:extLst>
              <a:ext uri="{FF2B5EF4-FFF2-40B4-BE49-F238E27FC236}">
                <a16:creationId xmlns:a16="http://schemas.microsoft.com/office/drawing/2014/main" id="{C86B52A2-6FAC-4019-8392-503E07C02E5A}"/>
              </a:ext>
            </a:extLst>
          </p:cNvPr>
          <p:cNvSpPr>
            <a:spLocks noGrp="1"/>
          </p:cNvSpPr>
          <p:nvPr/>
        </p:nvSpPr>
        <p:spPr>
          <a:xfrm>
            <a:off x="762000" y="5133975"/>
            <a:ext cx="10668000" cy="704850"/>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Horizontal: y = constant. Vertical: x = constant.</a:t>
            </a:r>
          </a:p>
        </p:txBody>
      </p:sp>
    </p:spTree>
    <p:extLst>
      <p:ext uri="{BB962C8B-B14F-4D97-AF65-F5344CB8AC3E}">
        <p14:creationId xmlns:p14="http://schemas.microsoft.com/office/powerpoint/2010/main" val="1213458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49A501DF-22DF-4346-BADF-C96ACA6F13CC}"/>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Circle equations: a notes guide</a:t>
            </a:r>
          </a:p>
        </p:txBody>
      </p:sp>
      <p:sp>
        <p:nvSpPr>
          <p:cNvPr id="2" name="Rectangle 1">
            <a:extLst>
              <a:ext uri="{FF2B5EF4-FFF2-40B4-BE49-F238E27FC236}">
                <a16:creationId xmlns:a16="http://schemas.microsoft.com/office/drawing/2014/main" id="{088991CF-0D25-4B59-94E7-4EF8458E9ABE}"/>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Part 2: organize the information before calculating</a:t>
            </a:r>
          </a:p>
        </p:txBody>
      </p:sp>
      <p:sp>
        <p:nvSpPr>
          <p:cNvPr id="3" name="Rectangle 2">
            <a:extLst>
              <a:ext uri="{FF2B5EF4-FFF2-40B4-BE49-F238E27FC236}">
                <a16:creationId xmlns:a16="http://schemas.microsoft.com/office/drawing/2014/main" id="{14F1431C-A485-4DC6-8CE4-D4ACBD021305}"/>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13</a:t>
            </a:r>
          </a:p>
        </p:txBody>
      </p:sp>
      <p:sp>
        <p:nvSpPr>
          <p:cNvPr id="4" name="Rectangle 3">
            <a:extLst>
              <a:ext uri="{FF2B5EF4-FFF2-40B4-BE49-F238E27FC236}">
                <a16:creationId xmlns:a16="http://schemas.microsoft.com/office/drawing/2014/main" id="{7F824533-011C-4DCD-AC99-9059CA4DACC7}"/>
              </a:ext>
            </a:extLst>
          </p:cNvPr>
          <p:cNvSpPr>
            <a:spLocks noGrp="1"/>
          </p:cNvSpPr>
          <p:nvPr/>
        </p:nvSpPr>
        <p:spPr>
          <a:xfrm>
            <a:off x="762000" y="1876425"/>
            <a:ext cx="6191250" cy="609600"/>
          </a:xfrm>
          <a:prstGeom prst="rect">
            <a:avLst/>
          </a:prstGeom>
          <a:noFill/>
          <a:ln w="0">
            <a:noFill/>
          </a:ln>
        </p:spPr>
        <p:txBody>
          <a:bodyPr wrap="square" lIns="0" tIns="0" rIns="0" bIns="0" anchor="ctr">
            <a:noAutofit/>
          </a:bodyPr>
          <a:lstStyle/>
          <a:p>
            <a:pPr>
              <a:defRPr sz="3225" b="0">
                <a:solidFill>
                  <a:srgbClr val="11344E"/>
                </a:solidFill>
                <a:latin typeface="Cambria Math"/>
                <a:ea typeface="Cambria Math"/>
                <a:cs typeface="Cambria Math"/>
              </a:defRPr>
            </a:pPr>
            <a:r>
              <a:rPr sz="3225" b="0">
                <a:solidFill>
                  <a:srgbClr val="11344E"/>
                </a:solidFill>
                <a:latin typeface="Cambria Math"/>
                <a:ea typeface="Cambria Math"/>
                <a:cs typeface="Cambria Math"/>
              </a:rPr>
              <a:t>(x − h)² + (y − k)² = r²</a:t>
            </a:r>
          </a:p>
        </p:txBody>
      </p:sp>
      <p:sp>
        <p:nvSpPr>
          <p:cNvPr id="5" name="Rectangle 4">
            <a:extLst>
              <a:ext uri="{FF2B5EF4-FFF2-40B4-BE49-F238E27FC236}">
                <a16:creationId xmlns:a16="http://schemas.microsoft.com/office/drawing/2014/main" id="{6E5E985E-D844-4D4F-87FB-EE518C9C20FD}"/>
              </a:ext>
            </a:extLst>
          </p:cNvPr>
          <p:cNvSpPr>
            <a:spLocks noGrp="1"/>
          </p:cNvSpPr>
          <p:nvPr/>
        </p:nvSpPr>
        <p:spPr>
          <a:xfrm>
            <a:off x="762000" y="2809875"/>
            <a:ext cx="5762625" cy="457200"/>
          </a:xfrm>
          <a:prstGeom prst="rect">
            <a:avLst/>
          </a:prstGeom>
          <a:noFill/>
          <a:ln w="0">
            <a:noFill/>
          </a:ln>
        </p:spPr>
        <p:txBody>
          <a:bodyPr wrap="square" lIns="0" tIns="0" rIns="0" bIns="0" anchor="ctr">
            <a:noAutofit/>
          </a:bodyPr>
          <a:lstStyle/>
          <a:p>
            <a:pPr>
              <a:defRPr sz="2250" b="0">
                <a:solidFill>
                  <a:srgbClr val="148A68"/>
                </a:solidFill>
                <a:latin typeface="Arial"/>
                <a:ea typeface="Arial"/>
                <a:cs typeface="Arial"/>
              </a:defRPr>
            </a:pPr>
            <a:r>
              <a:rPr sz="2250" b="0">
                <a:solidFill>
                  <a:srgbClr val="148A68"/>
                </a:solidFill>
                <a:latin typeface="Arial"/>
                <a:ea typeface="Arial"/>
                <a:cs typeface="Arial"/>
              </a:rPr>
              <a:t>(h, k) locates the center.</a:t>
            </a:r>
          </a:p>
        </p:txBody>
      </p:sp>
      <p:sp>
        <p:nvSpPr>
          <p:cNvPr id="6" name="Rectangle 5">
            <a:extLst>
              <a:ext uri="{FF2B5EF4-FFF2-40B4-BE49-F238E27FC236}">
                <a16:creationId xmlns:a16="http://schemas.microsoft.com/office/drawing/2014/main" id="{315DA973-70BA-41B7-BB53-C26C136586F1}"/>
              </a:ext>
            </a:extLst>
          </p:cNvPr>
          <p:cNvSpPr>
            <a:spLocks noGrp="1"/>
          </p:cNvSpPr>
          <p:nvPr/>
        </p:nvSpPr>
        <p:spPr>
          <a:xfrm>
            <a:off x="762000" y="3505200"/>
            <a:ext cx="5762625" cy="457200"/>
          </a:xfrm>
          <a:prstGeom prst="rect">
            <a:avLst/>
          </a:prstGeom>
          <a:noFill/>
          <a:ln w="0">
            <a:noFill/>
          </a:ln>
        </p:spPr>
        <p:txBody>
          <a:bodyPr wrap="square" lIns="0" tIns="0" rIns="0" bIns="0" anchor="ctr">
            <a:noAutofit/>
          </a:bodyPr>
          <a:lstStyle/>
          <a:p>
            <a:pPr>
              <a:defRPr sz="2250" b="0">
                <a:solidFill>
                  <a:srgbClr val="1777B4"/>
                </a:solidFill>
                <a:latin typeface="Arial"/>
                <a:ea typeface="Arial"/>
                <a:cs typeface="Arial"/>
              </a:defRPr>
            </a:pPr>
            <a:r>
              <a:rPr sz="2250" b="0">
                <a:solidFill>
                  <a:srgbClr val="1777B4"/>
                </a:solidFill>
                <a:latin typeface="Arial"/>
                <a:ea typeface="Arial"/>
                <a:cs typeface="Arial"/>
              </a:rPr>
              <a:t>r is the center-to-circle distance.</a:t>
            </a:r>
          </a:p>
        </p:txBody>
      </p:sp>
      <p:sp>
        <p:nvSpPr>
          <p:cNvPr id="7" name="Rectangle 6">
            <a:extLst>
              <a:ext uri="{FF2B5EF4-FFF2-40B4-BE49-F238E27FC236}">
                <a16:creationId xmlns:a16="http://schemas.microsoft.com/office/drawing/2014/main" id="{FF9B527A-DA5A-42E1-AD64-1E7602DEAB2B}"/>
              </a:ext>
            </a:extLst>
          </p:cNvPr>
          <p:cNvSpPr>
            <a:spLocks noGrp="1"/>
          </p:cNvSpPr>
          <p:nvPr/>
        </p:nvSpPr>
        <p:spPr>
          <a:xfrm>
            <a:off x="762000" y="4238625"/>
            <a:ext cx="5619750" cy="809625"/>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The equation uses the square of that distance.</a:t>
            </a:r>
          </a:p>
        </p:txBody>
      </p:sp>
      <p:sp>
        <p:nvSpPr>
          <p:cNvPr id="8" name="Rectangle 7">
            <a:extLst>
              <a:ext uri="{FF2B5EF4-FFF2-40B4-BE49-F238E27FC236}">
                <a16:creationId xmlns:a16="http://schemas.microsoft.com/office/drawing/2014/main" id="{3589D89A-B5CE-469A-AAD5-8548DC46F89D}"/>
              </a:ext>
            </a:extLst>
          </p:cNvPr>
          <p:cNvSpPr>
            <a:spLocks noGrp="1"/>
          </p:cNvSpPr>
          <p:nvPr/>
        </p:nvSpPr>
        <p:spPr>
          <a:xfrm>
            <a:off x="762000" y="5305425"/>
            <a:ext cx="5810250" cy="609600"/>
          </a:xfrm>
          <a:prstGeom prst="rect">
            <a:avLst/>
          </a:prstGeom>
          <a:noFill/>
          <a:ln w="0">
            <a:noFill/>
          </a:ln>
        </p:spPr>
        <p:txBody>
          <a:bodyPr wrap="square" lIns="0" tIns="0" rIns="0" bIns="0" anchor="ctr">
            <a:noAutofit/>
          </a:bodyPr>
          <a:lstStyle/>
          <a:p>
            <a:pPr>
              <a:defRPr sz="2025" b="0">
                <a:solidFill>
                  <a:srgbClr val="11344E"/>
                </a:solidFill>
                <a:latin typeface="Arial"/>
                <a:ea typeface="Arial"/>
                <a:cs typeface="Arial"/>
              </a:defRPr>
            </a:pPr>
            <a:r>
              <a:rPr sz="2025" b="0">
                <a:solidFill>
                  <a:srgbClr val="11344E"/>
                </a:solidFill>
                <a:latin typeface="Arial"/>
                <a:ea typeface="Arial"/>
                <a:cs typeface="Arial"/>
              </a:rPr>
              <a:t>Diameter endpoints? Find their midpoint first.</a:t>
            </a:r>
          </a:p>
        </p:txBody>
      </p:sp>
      <p:sp>
        <p:nvSpPr>
          <p:cNvPr id="9" name="Freeform: Shape 8">
            <a:extLst>
              <a:ext uri="{FF2B5EF4-FFF2-40B4-BE49-F238E27FC236}">
                <a16:creationId xmlns:a16="http://schemas.microsoft.com/office/drawing/2014/main" id="{D8F31090-9480-4386-8A2C-50E4E566ADD8}"/>
              </a:ext>
            </a:extLst>
          </p:cNvPr>
          <p:cNvSpPr>
            <a:spLocks noGrp="1"/>
          </p:cNvSpPr>
          <p:nvPr/>
        </p:nvSpPr>
        <p:spPr>
          <a:xfrm>
            <a:off x="766762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0" name="Freeform: Shape 9">
            <a:extLst>
              <a:ext uri="{FF2B5EF4-FFF2-40B4-BE49-F238E27FC236}">
                <a16:creationId xmlns:a16="http://schemas.microsoft.com/office/drawing/2014/main" id="{9DD6F9B1-5D51-47EE-BC22-C63160F82F19}"/>
              </a:ext>
            </a:extLst>
          </p:cNvPr>
          <p:cNvSpPr>
            <a:spLocks noGrp="1"/>
          </p:cNvSpPr>
          <p:nvPr/>
        </p:nvSpPr>
        <p:spPr>
          <a:xfrm>
            <a:off x="793750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1" name="Freeform: Shape 10">
            <a:extLst>
              <a:ext uri="{FF2B5EF4-FFF2-40B4-BE49-F238E27FC236}">
                <a16:creationId xmlns:a16="http://schemas.microsoft.com/office/drawing/2014/main" id="{083EA110-1EC8-40DA-BA17-96B3C7178BD8}"/>
              </a:ext>
            </a:extLst>
          </p:cNvPr>
          <p:cNvSpPr>
            <a:spLocks noGrp="1"/>
          </p:cNvSpPr>
          <p:nvPr/>
        </p:nvSpPr>
        <p:spPr>
          <a:xfrm>
            <a:off x="820737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2" name="Freeform: Shape 11">
            <a:extLst>
              <a:ext uri="{FF2B5EF4-FFF2-40B4-BE49-F238E27FC236}">
                <a16:creationId xmlns:a16="http://schemas.microsoft.com/office/drawing/2014/main" id="{0B9A7DCF-AFCF-489B-857E-FA346F9B2815}"/>
              </a:ext>
            </a:extLst>
          </p:cNvPr>
          <p:cNvSpPr>
            <a:spLocks noGrp="1"/>
          </p:cNvSpPr>
          <p:nvPr/>
        </p:nvSpPr>
        <p:spPr>
          <a:xfrm>
            <a:off x="847725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3" name="Freeform: Shape 12">
            <a:extLst>
              <a:ext uri="{FF2B5EF4-FFF2-40B4-BE49-F238E27FC236}">
                <a16:creationId xmlns:a16="http://schemas.microsoft.com/office/drawing/2014/main" id="{AA8AEA3D-5AE0-42E3-9179-D7B48109DFEF}"/>
              </a:ext>
            </a:extLst>
          </p:cNvPr>
          <p:cNvSpPr>
            <a:spLocks noGrp="1"/>
          </p:cNvSpPr>
          <p:nvPr/>
        </p:nvSpPr>
        <p:spPr>
          <a:xfrm>
            <a:off x="874712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B243BDB4-D9C0-43CB-BF63-BD14F26191B1}"/>
              </a:ext>
            </a:extLst>
          </p:cNvPr>
          <p:cNvSpPr>
            <a:spLocks noGrp="1"/>
          </p:cNvSpPr>
          <p:nvPr/>
        </p:nvSpPr>
        <p:spPr>
          <a:xfrm>
            <a:off x="901700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63E59A46-EF80-420F-8EDC-CF76F43CB4B8}"/>
              </a:ext>
            </a:extLst>
          </p:cNvPr>
          <p:cNvSpPr>
            <a:spLocks noGrp="1"/>
          </p:cNvSpPr>
          <p:nvPr/>
        </p:nvSpPr>
        <p:spPr>
          <a:xfrm>
            <a:off x="928687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47D946B2-EF0A-42E8-BD6A-879E846F4E34}"/>
              </a:ext>
            </a:extLst>
          </p:cNvPr>
          <p:cNvSpPr>
            <a:spLocks noGrp="1"/>
          </p:cNvSpPr>
          <p:nvPr/>
        </p:nvSpPr>
        <p:spPr>
          <a:xfrm>
            <a:off x="955675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F8D851D9-E725-458D-9880-6097C2323779}"/>
              </a:ext>
            </a:extLst>
          </p:cNvPr>
          <p:cNvSpPr>
            <a:spLocks noGrp="1"/>
          </p:cNvSpPr>
          <p:nvPr/>
        </p:nvSpPr>
        <p:spPr>
          <a:xfrm>
            <a:off x="982662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DB3B4EC4-BD47-470E-8BC0-B5A2D72021F6}"/>
              </a:ext>
            </a:extLst>
          </p:cNvPr>
          <p:cNvSpPr>
            <a:spLocks noGrp="1"/>
          </p:cNvSpPr>
          <p:nvPr/>
        </p:nvSpPr>
        <p:spPr>
          <a:xfrm>
            <a:off x="1009650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D113752D-5D8F-47CC-ADAE-487E4E4A4D7F}"/>
              </a:ext>
            </a:extLst>
          </p:cNvPr>
          <p:cNvSpPr>
            <a:spLocks noGrp="1"/>
          </p:cNvSpPr>
          <p:nvPr/>
        </p:nvSpPr>
        <p:spPr>
          <a:xfrm>
            <a:off x="1036637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7A23D1BA-300D-4BA1-9B4A-68923C9A4C35}"/>
              </a:ext>
            </a:extLst>
          </p:cNvPr>
          <p:cNvSpPr>
            <a:spLocks noGrp="1"/>
          </p:cNvSpPr>
          <p:nvPr/>
        </p:nvSpPr>
        <p:spPr>
          <a:xfrm>
            <a:off x="10636250"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84BC3783-740C-4A4C-99A0-35A3BEFE8B49}"/>
              </a:ext>
            </a:extLst>
          </p:cNvPr>
          <p:cNvSpPr>
            <a:spLocks noGrp="1"/>
          </p:cNvSpPr>
          <p:nvPr/>
        </p:nvSpPr>
        <p:spPr>
          <a:xfrm>
            <a:off x="10906125" y="2171700"/>
            <a:ext cx="953" cy="3238500"/>
          </a:xfrm>
          <a:custGeom>
            <a:avLst/>
            <a:gdLst/>
            <a:ahLst/>
            <a:cxnLst/>
            <a:rect l="0" t="0" r="0" b="0"/>
            <a:pathLst>
              <a:path w="953" h="3238500">
                <a:moveTo>
                  <a:pt x="0" y="0"/>
                </a:moveTo>
                <a:lnTo>
                  <a:pt x="0" y="323850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36AFC008-EEA2-477B-8DDE-D18A37683F10}"/>
              </a:ext>
            </a:extLst>
          </p:cNvPr>
          <p:cNvSpPr>
            <a:spLocks noGrp="1"/>
          </p:cNvSpPr>
          <p:nvPr/>
        </p:nvSpPr>
        <p:spPr>
          <a:xfrm>
            <a:off x="7667625" y="541020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3" name="Freeform: Shape 22">
            <a:extLst>
              <a:ext uri="{FF2B5EF4-FFF2-40B4-BE49-F238E27FC236}">
                <a16:creationId xmlns:a16="http://schemas.microsoft.com/office/drawing/2014/main" id="{D186AD7C-B8F9-4562-91E7-290E98811586}"/>
              </a:ext>
            </a:extLst>
          </p:cNvPr>
          <p:cNvSpPr>
            <a:spLocks noGrp="1"/>
          </p:cNvSpPr>
          <p:nvPr/>
        </p:nvSpPr>
        <p:spPr>
          <a:xfrm>
            <a:off x="7667625" y="514032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4" name="Freeform: Shape 23">
            <a:extLst>
              <a:ext uri="{FF2B5EF4-FFF2-40B4-BE49-F238E27FC236}">
                <a16:creationId xmlns:a16="http://schemas.microsoft.com/office/drawing/2014/main" id="{5F45E6E9-ABAE-4C85-901C-D7862F042793}"/>
              </a:ext>
            </a:extLst>
          </p:cNvPr>
          <p:cNvSpPr>
            <a:spLocks noGrp="1"/>
          </p:cNvSpPr>
          <p:nvPr/>
        </p:nvSpPr>
        <p:spPr>
          <a:xfrm>
            <a:off x="7667625" y="487045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5" name="Freeform: Shape 24">
            <a:extLst>
              <a:ext uri="{FF2B5EF4-FFF2-40B4-BE49-F238E27FC236}">
                <a16:creationId xmlns:a16="http://schemas.microsoft.com/office/drawing/2014/main" id="{A3C56694-8D65-41C4-8FCF-004C4E014962}"/>
              </a:ext>
            </a:extLst>
          </p:cNvPr>
          <p:cNvSpPr>
            <a:spLocks noGrp="1"/>
          </p:cNvSpPr>
          <p:nvPr/>
        </p:nvSpPr>
        <p:spPr>
          <a:xfrm>
            <a:off x="7667625" y="460057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6" name="Freeform: Shape 25">
            <a:extLst>
              <a:ext uri="{FF2B5EF4-FFF2-40B4-BE49-F238E27FC236}">
                <a16:creationId xmlns:a16="http://schemas.microsoft.com/office/drawing/2014/main" id="{A7149865-C438-4513-B35D-B444E15C1B0A}"/>
              </a:ext>
            </a:extLst>
          </p:cNvPr>
          <p:cNvSpPr>
            <a:spLocks noGrp="1"/>
          </p:cNvSpPr>
          <p:nvPr/>
        </p:nvSpPr>
        <p:spPr>
          <a:xfrm>
            <a:off x="7667625" y="433070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7" name="Freeform: Shape 26">
            <a:extLst>
              <a:ext uri="{FF2B5EF4-FFF2-40B4-BE49-F238E27FC236}">
                <a16:creationId xmlns:a16="http://schemas.microsoft.com/office/drawing/2014/main" id="{861189C0-047E-455F-93FF-E43B2A325E95}"/>
              </a:ext>
            </a:extLst>
          </p:cNvPr>
          <p:cNvSpPr>
            <a:spLocks noGrp="1"/>
          </p:cNvSpPr>
          <p:nvPr/>
        </p:nvSpPr>
        <p:spPr>
          <a:xfrm>
            <a:off x="7667625" y="406082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8" name="Freeform: Shape 27">
            <a:extLst>
              <a:ext uri="{FF2B5EF4-FFF2-40B4-BE49-F238E27FC236}">
                <a16:creationId xmlns:a16="http://schemas.microsoft.com/office/drawing/2014/main" id="{69821538-D062-431B-A65D-F87574121787}"/>
              </a:ext>
            </a:extLst>
          </p:cNvPr>
          <p:cNvSpPr>
            <a:spLocks noGrp="1"/>
          </p:cNvSpPr>
          <p:nvPr/>
        </p:nvSpPr>
        <p:spPr>
          <a:xfrm>
            <a:off x="7667625" y="379095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29" name="Freeform: Shape 28">
            <a:extLst>
              <a:ext uri="{FF2B5EF4-FFF2-40B4-BE49-F238E27FC236}">
                <a16:creationId xmlns:a16="http://schemas.microsoft.com/office/drawing/2014/main" id="{0DEDA3E8-A522-44E8-B90D-A490D51E98BB}"/>
              </a:ext>
            </a:extLst>
          </p:cNvPr>
          <p:cNvSpPr>
            <a:spLocks noGrp="1"/>
          </p:cNvSpPr>
          <p:nvPr/>
        </p:nvSpPr>
        <p:spPr>
          <a:xfrm>
            <a:off x="7667625" y="352107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0" name="Freeform: Shape 29">
            <a:extLst>
              <a:ext uri="{FF2B5EF4-FFF2-40B4-BE49-F238E27FC236}">
                <a16:creationId xmlns:a16="http://schemas.microsoft.com/office/drawing/2014/main" id="{DF7D3DC3-ABBD-42D5-AA16-FED6406FBC5A}"/>
              </a:ext>
            </a:extLst>
          </p:cNvPr>
          <p:cNvSpPr>
            <a:spLocks noGrp="1"/>
          </p:cNvSpPr>
          <p:nvPr/>
        </p:nvSpPr>
        <p:spPr>
          <a:xfrm>
            <a:off x="7667625" y="325120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1" name="Freeform: Shape 30">
            <a:extLst>
              <a:ext uri="{FF2B5EF4-FFF2-40B4-BE49-F238E27FC236}">
                <a16:creationId xmlns:a16="http://schemas.microsoft.com/office/drawing/2014/main" id="{15266D3E-BC89-41F4-8824-BDBFFBEBB300}"/>
              </a:ext>
            </a:extLst>
          </p:cNvPr>
          <p:cNvSpPr>
            <a:spLocks noGrp="1"/>
          </p:cNvSpPr>
          <p:nvPr/>
        </p:nvSpPr>
        <p:spPr>
          <a:xfrm>
            <a:off x="7667625" y="298132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2" name="Freeform: Shape 31">
            <a:extLst>
              <a:ext uri="{FF2B5EF4-FFF2-40B4-BE49-F238E27FC236}">
                <a16:creationId xmlns:a16="http://schemas.microsoft.com/office/drawing/2014/main" id="{663ED2DD-0043-4D1E-9162-ED4EF529C404}"/>
              </a:ext>
            </a:extLst>
          </p:cNvPr>
          <p:cNvSpPr>
            <a:spLocks noGrp="1"/>
          </p:cNvSpPr>
          <p:nvPr/>
        </p:nvSpPr>
        <p:spPr>
          <a:xfrm>
            <a:off x="7667625" y="271145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3" name="Freeform: Shape 32">
            <a:extLst>
              <a:ext uri="{FF2B5EF4-FFF2-40B4-BE49-F238E27FC236}">
                <a16:creationId xmlns:a16="http://schemas.microsoft.com/office/drawing/2014/main" id="{4E3B8A93-4109-4EF5-826C-73B281F0260B}"/>
              </a:ext>
            </a:extLst>
          </p:cNvPr>
          <p:cNvSpPr>
            <a:spLocks noGrp="1"/>
          </p:cNvSpPr>
          <p:nvPr/>
        </p:nvSpPr>
        <p:spPr>
          <a:xfrm>
            <a:off x="7667625" y="2441575"/>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4" name="Freeform: Shape 33">
            <a:extLst>
              <a:ext uri="{FF2B5EF4-FFF2-40B4-BE49-F238E27FC236}">
                <a16:creationId xmlns:a16="http://schemas.microsoft.com/office/drawing/2014/main" id="{743F9D53-A198-45FB-88FC-4125128B6306}"/>
              </a:ext>
            </a:extLst>
          </p:cNvPr>
          <p:cNvSpPr>
            <a:spLocks noGrp="1"/>
          </p:cNvSpPr>
          <p:nvPr/>
        </p:nvSpPr>
        <p:spPr>
          <a:xfrm>
            <a:off x="7667625" y="2171700"/>
            <a:ext cx="3238500" cy="953"/>
          </a:xfrm>
          <a:custGeom>
            <a:avLst/>
            <a:gdLst/>
            <a:ahLst/>
            <a:cxnLst/>
            <a:rect l="0" t="0" r="0" b="0"/>
            <a:pathLst>
              <a:path w="3238500" h="953">
                <a:moveTo>
                  <a:pt x="0" y="0"/>
                </a:moveTo>
                <a:lnTo>
                  <a:pt x="3238500" y="0"/>
                </a:lnTo>
              </a:path>
            </a:pathLst>
          </a:custGeom>
          <a:noFill/>
          <a:ln w="6668">
            <a:solidFill>
              <a:srgbClr val="E4EAF0"/>
            </a:solidFill>
            <a:prstDash val="solid"/>
          </a:ln>
        </p:spPr>
        <p:txBody>
          <a:bodyPr/>
          <a:lstStyle/>
          <a:p>
            <a:endParaRPr lang="en-US"/>
          </a:p>
        </p:txBody>
      </p:sp>
      <p:sp>
        <p:nvSpPr>
          <p:cNvPr id="35" name="Freeform: Shape 34">
            <a:extLst>
              <a:ext uri="{FF2B5EF4-FFF2-40B4-BE49-F238E27FC236}">
                <a16:creationId xmlns:a16="http://schemas.microsoft.com/office/drawing/2014/main" id="{4DDEDD19-0B0C-4A2E-8E08-DED5AF1ACA9D}"/>
              </a:ext>
            </a:extLst>
          </p:cNvPr>
          <p:cNvSpPr>
            <a:spLocks noGrp="1"/>
          </p:cNvSpPr>
          <p:nvPr/>
        </p:nvSpPr>
        <p:spPr>
          <a:xfrm>
            <a:off x="7667625" y="4330700"/>
            <a:ext cx="3238500" cy="953"/>
          </a:xfrm>
          <a:custGeom>
            <a:avLst/>
            <a:gdLst/>
            <a:ahLst/>
            <a:cxnLst/>
            <a:rect l="0" t="0" r="0" b="0"/>
            <a:pathLst>
              <a:path w="3238500" h="953">
                <a:moveTo>
                  <a:pt x="0" y="0"/>
                </a:moveTo>
                <a:lnTo>
                  <a:pt x="3238500" y="0"/>
                </a:lnTo>
              </a:path>
            </a:pathLst>
          </a:custGeom>
          <a:noFill/>
          <a:ln w="17145">
            <a:solidFill>
              <a:srgbClr val="687783"/>
            </a:solidFill>
            <a:prstDash val="solid"/>
          </a:ln>
        </p:spPr>
        <p:txBody>
          <a:bodyPr/>
          <a:lstStyle/>
          <a:p>
            <a:endParaRPr lang="en-US"/>
          </a:p>
        </p:txBody>
      </p:sp>
      <p:sp>
        <p:nvSpPr>
          <p:cNvPr id="36" name="Freeform: Shape 35">
            <a:extLst>
              <a:ext uri="{FF2B5EF4-FFF2-40B4-BE49-F238E27FC236}">
                <a16:creationId xmlns:a16="http://schemas.microsoft.com/office/drawing/2014/main" id="{09307909-E3FC-4153-8482-424315405F33}"/>
              </a:ext>
            </a:extLst>
          </p:cNvPr>
          <p:cNvSpPr>
            <a:spLocks noGrp="1"/>
          </p:cNvSpPr>
          <p:nvPr/>
        </p:nvSpPr>
        <p:spPr>
          <a:xfrm>
            <a:off x="8747125" y="2171700"/>
            <a:ext cx="953" cy="3238500"/>
          </a:xfrm>
          <a:custGeom>
            <a:avLst/>
            <a:gdLst/>
            <a:ahLst/>
            <a:cxnLst/>
            <a:rect l="0" t="0" r="0" b="0"/>
            <a:pathLst>
              <a:path w="953" h="3238500">
                <a:moveTo>
                  <a:pt x="0" y="0"/>
                </a:moveTo>
                <a:lnTo>
                  <a:pt x="0" y="3238500"/>
                </a:lnTo>
              </a:path>
            </a:pathLst>
          </a:custGeom>
          <a:noFill/>
          <a:ln w="17145">
            <a:solidFill>
              <a:srgbClr val="687783"/>
            </a:solidFill>
            <a:prstDash val="solid"/>
          </a:ln>
        </p:spPr>
        <p:txBody>
          <a:bodyPr/>
          <a:lstStyle/>
          <a:p>
            <a:endParaRPr lang="en-US"/>
          </a:p>
        </p:txBody>
      </p:sp>
      <p:sp>
        <p:nvSpPr>
          <p:cNvPr id="37" name="Rectangle 36">
            <a:extLst>
              <a:ext uri="{FF2B5EF4-FFF2-40B4-BE49-F238E27FC236}">
                <a16:creationId xmlns:a16="http://schemas.microsoft.com/office/drawing/2014/main" id="{4E066402-309F-49FE-AB7C-78A56AB5952F}"/>
              </a:ext>
            </a:extLst>
          </p:cNvPr>
          <p:cNvSpPr>
            <a:spLocks noGrp="1"/>
          </p:cNvSpPr>
          <p:nvPr/>
        </p:nvSpPr>
        <p:spPr>
          <a:xfrm>
            <a:off x="752475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38" name="Rectangle 37">
            <a:extLst>
              <a:ext uri="{FF2B5EF4-FFF2-40B4-BE49-F238E27FC236}">
                <a16:creationId xmlns:a16="http://schemas.microsoft.com/office/drawing/2014/main" id="{DF903EA1-7EDF-4DBC-90FD-043AAAAB296D}"/>
              </a:ext>
            </a:extLst>
          </p:cNvPr>
          <p:cNvSpPr>
            <a:spLocks noGrp="1"/>
          </p:cNvSpPr>
          <p:nvPr/>
        </p:nvSpPr>
        <p:spPr>
          <a:xfrm>
            <a:off x="806450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39" name="Rectangle 38">
            <a:extLst>
              <a:ext uri="{FF2B5EF4-FFF2-40B4-BE49-F238E27FC236}">
                <a16:creationId xmlns:a16="http://schemas.microsoft.com/office/drawing/2014/main" id="{979772F2-514B-4E92-80A0-17938B77EDA1}"/>
              </a:ext>
            </a:extLst>
          </p:cNvPr>
          <p:cNvSpPr>
            <a:spLocks noGrp="1"/>
          </p:cNvSpPr>
          <p:nvPr/>
        </p:nvSpPr>
        <p:spPr>
          <a:xfrm>
            <a:off x="914400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0" name="Rectangle 39">
            <a:extLst>
              <a:ext uri="{FF2B5EF4-FFF2-40B4-BE49-F238E27FC236}">
                <a16:creationId xmlns:a16="http://schemas.microsoft.com/office/drawing/2014/main" id="{8B569D81-BD93-4B6B-BEB8-3258D2002FD9}"/>
              </a:ext>
            </a:extLst>
          </p:cNvPr>
          <p:cNvSpPr>
            <a:spLocks noGrp="1"/>
          </p:cNvSpPr>
          <p:nvPr/>
        </p:nvSpPr>
        <p:spPr>
          <a:xfrm>
            <a:off x="968375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1" name="Rectangle 40">
            <a:extLst>
              <a:ext uri="{FF2B5EF4-FFF2-40B4-BE49-F238E27FC236}">
                <a16:creationId xmlns:a16="http://schemas.microsoft.com/office/drawing/2014/main" id="{427B08E6-2B6F-4DC6-A780-09844073B553}"/>
              </a:ext>
            </a:extLst>
          </p:cNvPr>
          <p:cNvSpPr>
            <a:spLocks noGrp="1"/>
          </p:cNvSpPr>
          <p:nvPr/>
        </p:nvSpPr>
        <p:spPr>
          <a:xfrm>
            <a:off x="1022350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2" name="Rectangle 41">
            <a:extLst>
              <a:ext uri="{FF2B5EF4-FFF2-40B4-BE49-F238E27FC236}">
                <a16:creationId xmlns:a16="http://schemas.microsoft.com/office/drawing/2014/main" id="{258EFAFE-496D-4A49-BA19-08132CB02AF2}"/>
              </a:ext>
            </a:extLst>
          </p:cNvPr>
          <p:cNvSpPr>
            <a:spLocks noGrp="1"/>
          </p:cNvSpPr>
          <p:nvPr/>
        </p:nvSpPr>
        <p:spPr>
          <a:xfrm>
            <a:off x="10763250" y="4378325"/>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43" name="Rectangle 42">
            <a:extLst>
              <a:ext uri="{FF2B5EF4-FFF2-40B4-BE49-F238E27FC236}">
                <a16:creationId xmlns:a16="http://schemas.microsoft.com/office/drawing/2014/main" id="{51A1F238-B8BA-4A07-992F-32F10D0F5CFE}"/>
              </a:ext>
            </a:extLst>
          </p:cNvPr>
          <p:cNvSpPr>
            <a:spLocks noGrp="1"/>
          </p:cNvSpPr>
          <p:nvPr/>
        </p:nvSpPr>
        <p:spPr>
          <a:xfrm>
            <a:off x="8480425" y="530542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4" name="Rectangle 43">
            <a:extLst>
              <a:ext uri="{FF2B5EF4-FFF2-40B4-BE49-F238E27FC236}">
                <a16:creationId xmlns:a16="http://schemas.microsoft.com/office/drawing/2014/main" id="{37BC3C4D-5742-4020-B301-FC2F8244E104}"/>
              </a:ext>
            </a:extLst>
          </p:cNvPr>
          <p:cNvSpPr>
            <a:spLocks noGrp="1"/>
          </p:cNvSpPr>
          <p:nvPr/>
        </p:nvSpPr>
        <p:spPr>
          <a:xfrm>
            <a:off x="8480425" y="47656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5" name="Rectangle 44">
            <a:extLst>
              <a:ext uri="{FF2B5EF4-FFF2-40B4-BE49-F238E27FC236}">
                <a16:creationId xmlns:a16="http://schemas.microsoft.com/office/drawing/2014/main" id="{18CBB380-214C-4F95-9BA0-7C65A05DF628}"/>
              </a:ext>
            </a:extLst>
          </p:cNvPr>
          <p:cNvSpPr>
            <a:spLocks noGrp="1"/>
          </p:cNvSpPr>
          <p:nvPr/>
        </p:nvSpPr>
        <p:spPr>
          <a:xfrm>
            <a:off x="8480425" y="36861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6" name="Rectangle 45">
            <a:extLst>
              <a:ext uri="{FF2B5EF4-FFF2-40B4-BE49-F238E27FC236}">
                <a16:creationId xmlns:a16="http://schemas.microsoft.com/office/drawing/2014/main" id="{543DA589-6AF5-456C-86B3-B4DF1194C4B1}"/>
              </a:ext>
            </a:extLst>
          </p:cNvPr>
          <p:cNvSpPr>
            <a:spLocks noGrp="1"/>
          </p:cNvSpPr>
          <p:nvPr/>
        </p:nvSpPr>
        <p:spPr>
          <a:xfrm>
            <a:off x="8480425" y="314642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7" name="Rectangle 46">
            <a:extLst>
              <a:ext uri="{FF2B5EF4-FFF2-40B4-BE49-F238E27FC236}">
                <a16:creationId xmlns:a16="http://schemas.microsoft.com/office/drawing/2014/main" id="{8DDD9476-4A31-4612-909A-37D9C8AF9086}"/>
              </a:ext>
            </a:extLst>
          </p:cNvPr>
          <p:cNvSpPr>
            <a:spLocks noGrp="1"/>
          </p:cNvSpPr>
          <p:nvPr/>
        </p:nvSpPr>
        <p:spPr>
          <a:xfrm>
            <a:off x="8480425" y="260667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8" name="Rectangle 47">
            <a:extLst>
              <a:ext uri="{FF2B5EF4-FFF2-40B4-BE49-F238E27FC236}">
                <a16:creationId xmlns:a16="http://schemas.microsoft.com/office/drawing/2014/main" id="{1792E6FB-421A-4793-A251-5C8E6A995B52}"/>
              </a:ext>
            </a:extLst>
          </p:cNvPr>
          <p:cNvSpPr>
            <a:spLocks noGrp="1"/>
          </p:cNvSpPr>
          <p:nvPr/>
        </p:nvSpPr>
        <p:spPr>
          <a:xfrm>
            <a:off x="8480425" y="2066925"/>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49" name="Rectangle 48">
            <a:extLst>
              <a:ext uri="{FF2B5EF4-FFF2-40B4-BE49-F238E27FC236}">
                <a16:creationId xmlns:a16="http://schemas.microsoft.com/office/drawing/2014/main" id="{E083B68E-2675-483E-9734-B125683FC080}"/>
              </a:ext>
            </a:extLst>
          </p:cNvPr>
          <p:cNvSpPr>
            <a:spLocks noGrp="1"/>
          </p:cNvSpPr>
          <p:nvPr/>
        </p:nvSpPr>
        <p:spPr>
          <a:xfrm>
            <a:off x="10972800" y="419735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50" name="Rectangle 49">
            <a:extLst>
              <a:ext uri="{FF2B5EF4-FFF2-40B4-BE49-F238E27FC236}">
                <a16:creationId xmlns:a16="http://schemas.microsoft.com/office/drawing/2014/main" id="{3353D71D-E880-47E5-AD50-10F3CD88E5C1}"/>
              </a:ext>
            </a:extLst>
          </p:cNvPr>
          <p:cNvSpPr>
            <a:spLocks noGrp="1"/>
          </p:cNvSpPr>
          <p:nvPr/>
        </p:nvSpPr>
        <p:spPr>
          <a:xfrm>
            <a:off x="8804275" y="1905000"/>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51" name="Oval 50">
            <a:extLst>
              <a:ext uri="{FF2B5EF4-FFF2-40B4-BE49-F238E27FC236}">
                <a16:creationId xmlns:a16="http://schemas.microsoft.com/office/drawing/2014/main" id="{0C525938-2BE3-46E1-8412-3E23CC9F55F2}"/>
              </a:ext>
            </a:extLst>
          </p:cNvPr>
          <p:cNvSpPr>
            <a:spLocks noGrp="1"/>
          </p:cNvSpPr>
          <p:nvPr/>
        </p:nvSpPr>
        <p:spPr>
          <a:xfrm>
            <a:off x="8207375" y="2711450"/>
            <a:ext cx="2159000" cy="2159000"/>
          </a:xfrm>
          <a:prstGeom prst="ellipse">
            <a:avLst/>
          </a:prstGeom>
          <a:noFill/>
          <a:ln w="28575">
            <a:solidFill>
              <a:srgbClr val="1777B4"/>
            </a:solidFill>
          </a:ln>
        </p:spPr>
        <p:txBody>
          <a:bodyPr/>
          <a:lstStyle/>
          <a:p>
            <a:endParaRPr lang="en-US"/>
          </a:p>
        </p:txBody>
      </p:sp>
      <p:sp>
        <p:nvSpPr>
          <p:cNvPr id="52" name="Oval 51">
            <a:extLst>
              <a:ext uri="{FF2B5EF4-FFF2-40B4-BE49-F238E27FC236}">
                <a16:creationId xmlns:a16="http://schemas.microsoft.com/office/drawing/2014/main" id="{1D5335D6-7EF0-4DCE-841B-CC69A6C9CD10}"/>
              </a:ext>
            </a:extLst>
          </p:cNvPr>
          <p:cNvSpPr>
            <a:spLocks noGrp="1"/>
          </p:cNvSpPr>
          <p:nvPr/>
        </p:nvSpPr>
        <p:spPr>
          <a:xfrm>
            <a:off x="9239250" y="3743325"/>
            <a:ext cx="95250" cy="95250"/>
          </a:xfrm>
          <a:prstGeom prst="ellipse">
            <a:avLst/>
          </a:prstGeom>
          <a:solidFill>
            <a:srgbClr val="148A68"/>
          </a:solidFill>
          <a:ln w="9525">
            <a:solidFill>
              <a:srgbClr val="FFFFFF"/>
            </a:solidFill>
          </a:ln>
        </p:spPr>
        <p:txBody>
          <a:bodyPr/>
          <a:lstStyle/>
          <a:p>
            <a:endParaRPr lang="en-US"/>
          </a:p>
        </p:txBody>
      </p:sp>
      <p:sp>
        <p:nvSpPr>
          <p:cNvPr id="53" name="Rectangle 52">
            <a:extLst>
              <a:ext uri="{FF2B5EF4-FFF2-40B4-BE49-F238E27FC236}">
                <a16:creationId xmlns:a16="http://schemas.microsoft.com/office/drawing/2014/main" id="{8FCB4F2A-F135-471E-96FA-F4F224D64989}"/>
              </a:ext>
            </a:extLst>
          </p:cNvPr>
          <p:cNvSpPr>
            <a:spLocks noGrp="1"/>
          </p:cNvSpPr>
          <p:nvPr/>
        </p:nvSpPr>
        <p:spPr>
          <a:xfrm>
            <a:off x="9172575" y="3933825"/>
            <a:ext cx="1666875" cy="304800"/>
          </a:xfrm>
          <a:prstGeom prst="rect">
            <a:avLst/>
          </a:prstGeom>
          <a:noFill/>
          <a:ln w="0">
            <a:noFill/>
          </a:ln>
        </p:spPr>
        <p:txBody>
          <a:bodyPr wrap="square" lIns="0" tIns="0" rIns="0" bIns="0" anchor="ctr">
            <a:noAutofit/>
          </a:bodyPr>
          <a:lstStyle/>
          <a:p>
            <a:pPr>
              <a:defRPr sz="1425" b="1">
                <a:solidFill>
                  <a:srgbClr val="148A68"/>
                </a:solidFill>
                <a:latin typeface="Arial"/>
                <a:ea typeface="Arial"/>
                <a:cs typeface="Arial"/>
              </a:defRPr>
            </a:pPr>
            <a:r>
              <a:rPr sz="1425" b="1">
                <a:solidFill>
                  <a:srgbClr val="148A68"/>
                </a:solidFill>
                <a:latin typeface="Arial"/>
                <a:ea typeface="Arial"/>
                <a:cs typeface="Arial"/>
              </a:rPr>
              <a:t>(h, k)</a:t>
            </a:r>
          </a:p>
        </p:txBody>
      </p:sp>
      <p:sp>
        <p:nvSpPr>
          <p:cNvPr id="54" name="Oval 53">
            <a:extLst>
              <a:ext uri="{FF2B5EF4-FFF2-40B4-BE49-F238E27FC236}">
                <a16:creationId xmlns:a16="http://schemas.microsoft.com/office/drawing/2014/main" id="{48062D3D-BC4F-4E23-9F34-FBFF0B3C9657}"/>
              </a:ext>
            </a:extLst>
          </p:cNvPr>
          <p:cNvSpPr>
            <a:spLocks noGrp="1"/>
          </p:cNvSpPr>
          <p:nvPr/>
        </p:nvSpPr>
        <p:spPr>
          <a:xfrm>
            <a:off x="10318750" y="3743325"/>
            <a:ext cx="95250" cy="95250"/>
          </a:xfrm>
          <a:prstGeom prst="ellipse">
            <a:avLst/>
          </a:prstGeom>
          <a:solidFill>
            <a:srgbClr val="1777B4"/>
          </a:solidFill>
          <a:ln w="9525">
            <a:solidFill>
              <a:srgbClr val="FFFFFF"/>
            </a:solidFill>
          </a:ln>
        </p:spPr>
        <p:txBody>
          <a:bodyPr/>
          <a:lstStyle/>
          <a:p>
            <a:endParaRPr lang="en-US"/>
          </a:p>
        </p:txBody>
      </p:sp>
      <p:sp>
        <p:nvSpPr>
          <p:cNvPr id="55" name="Freeform: Shape 54">
            <a:extLst>
              <a:ext uri="{FF2B5EF4-FFF2-40B4-BE49-F238E27FC236}">
                <a16:creationId xmlns:a16="http://schemas.microsoft.com/office/drawing/2014/main" id="{28BBE778-3DBD-4C83-BF64-A7FD342F470B}"/>
              </a:ext>
            </a:extLst>
          </p:cNvPr>
          <p:cNvSpPr>
            <a:spLocks noGrp="1"/>
          </p:cNvSpPr>
          <p:nvPr/>
        </p:nvSpPr>
        <p:spPr>
          <a:xfrm>
            <a:off x="9286875" y="3790950"/>
            <a:ext cx="1079500" cy="953"/>
          </a:xfrm>
          <a:custGeom>
            <a:avLst/>
            <a:gdLst/>
            <a:ahLst/>
            <a:cxnLst/>
            <a:rect l="0" t="0" r="0" b="0"/>
            <a:pathLst>
              <a:path w="1079500" h="953">
                <a:moveTo>
                  <a:pt x="0" y="0"/>
                </a:moveTo>
                <a:lnTo>
                  <a:pt x="1079500" y="0"/>
                </a:lnTo>
              </a:path>
            </a:pathLst>
          </a:custGeom>
          <a:noFill/>
          <a:ln w="28575">
            <a:solidFill>
              <a:srgbClr val="1777B4"/>
            </a:solidFill>
            <a:prstDash val="solid"/>
          </a:ln>
        </p:spPr>
        <p:txBody>
          <a:bodyPr/>
          <a:lstStyle/>
          <a:p>
            <a:endParaRPr lang="en-US"/>
          </a:p>
        </p:txBody>
      </p:sp>
      <p:sp>
        <p:nvSpPr>
          <p:cNvPr id="56" name="Rectangle 55">
            <a:extLst>
              <a:ext uri="{FF2B5EF4-FFF2-40B4-BE49-F238E27FC236}">
                <a16:creationId xmlns:a16="http://schemas.microsoft.com/office/drawing/2014/main" id="{607A2C24-1961-45D6-B7D5-272B4A409690}"/>
              </a:ext>
            </a:extLst>
          </p:cNvPr>
          <p:cNvSpPr>
            <a:spLocks noGrp="1"/>
          </p:cNvSpPr>
          <p:nvPr/>
        </p:nvSpPr>
        <p:spPr>
          <a:xfrm>
            <a:off x="9788525" y="3390900"/>
            <a:ext cx="428625" cy="333375"/>
          </a:xfrm>
          <a:prstGeom prst="rect">
            <a:avLst/>
          </a:prstGeom>
          <a:noFill/>
          <a:ln w="0">
            <a:noFill/>
          </a:ln>
        </p:spPr>
        <p:txBody>
          <a:bodyPr wrap="square" lIns="0" tIns="0" rIns="0" bIns="0" anchor="ctr">
            <a:noAutofit/>
          </a:bodyPr>
          <a:lstStyle/>
          <a:p>
            <a:pPr>
              <a:defRPr sz="2175" b="1">
                <a:solidFill>
                  <a:srgbClr val="1777B4"/>
                </a:solidFill>
                <a:latin typeface="Arial"/>
                <a:ea typeface="Arial"/>
                <a:cs typeface="Arial"/>
              </a:defRPr>
            </a:pPr>
            <a:r>
              <a:rPr sz="2175" b="1">
                <a:solidFill>
                  <a:srgbClr val="1777B4"/>
                </a:solidFill>
                <a:latin typeface="Arial"/>
                <a:ea typeface="Arial"/>
                <a:cs typeface="Arial"/>
              </a:rPr>
              <a:t>r</a:t>
            </a:r>
          </a:p>
        </p:txBody>
      </p:sp>
    </p:spTree>
    <p:extLst>
      <p:ext uri="{BB962C8B-B14F-4D97-AF65-F5344CB8AC3E}">
        <p14:creationId xmlns:p14="http://schemas.microsoft.com/office/powerpoint/2010/main" val="1474635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5200726B-22C5-45F5-A7EB-295384BC2974}"/>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A circle from diameter endpoints</a:t>
            </a:r>
          </a:p>
        </p:txBody>
      </p:sp>
      <p:sp>
        <p:nvSpPr>
          <p:cNvPr id="2" name="Rectangle 1">
            <a:extLst>
              <a:ext uri="{FF2B5EF4-FFF2-40B4-BE49-F238E27FC236}">
                <a16:creationId xmlns:a16="http://schemas.microsoft.com/office/drawing/2014/main" id="{C75393C5-37F0-404D-9CAE-D92D59EAE07C}"/>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A = (−2, 1) and B = (6, 7)</a:t>
            </a:r>
          </a:p>
        </p:txBody>
      </p:sp>
      <p:sp>
        <p:nvSpPr>
          <p:cNvPr id="3" name="Rectangle 2">
            <a:extLst>
              <a:ext uri="{FF2B5EF4-FFF2-40B4-BE49-F238E27FC236}">
                <a16:creationId xmlns:a16="http://schemas.microsoft.com/office/drawing/2014/main" id="{4B992747-9B78-47F4-A07B-E973BEF1C0F0}"/>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14</a:t>
            </a:r>
          </a:p>
        </p:txBody>
      </p:sp>
      <p:sp>
        <p:nvSpPr>
          <p:cNvPr id="4" name="Rectangle 3">
            <a:extLst>
              <a:ext uri="{FF2B5EF4-FFF2-40B4-BE49-F238E27FC236}">
                <a16:creationId xmlns:a16="http://schemas.microsoft.com/office/drawing/2014/main" id="{00088A4D-1320-4883-A302-8639E9127A3D}"/>
              </a:ext>
            </a:extLst>
          </p:cNvPr>
          <p:cNvSpPr>
            <a:spLocks noGrp="1"/>
          </p:cNvSpPr>
          <p:nvPr/>
        </p:nvSpPr>
        <p:spPr>
          <a:xfrm>
            <a:off x="666750" y="1790700"/>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1</a:t>
            </a:r>
          </a:p>
        </p:txBody>
      </p:sp>
      <p:sp>
        <p:nvSpPr>
          <p:cNvPr id="5" name="Rectangle 4">
            <a:extLst>
              <a:ext uri="{FF2B5EF4-FFF2-40B4-BE49-F238E27FC236}">
                <a16:creationId xmlns:a16="http://schemas.microsoft.com/office/drawing/2014/main" id="{ACF25D34-962E-451C-9FCA-A061EE769192}"/>
              </a:ext>
            </a:extLst>
          </p:cNvPr>
          <p:cNvSpPr>
            <a:spLocks noGrp="1"/>
          </p:cNvSpPr>
          <p:nvPr/>
        </p:nvSpPr>
        <p:spPr>
          <a:xfrm>
            <a:off x="1200150" y="1790700"/>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Midpoint gives the center</a:t>
            </a:r>
          </a:p>
        </p:txBody>
      </p:sp>
      <p:sp>
        <p:nvSpPr>
          <p:cNvPr id="6" name="Rectangle 5">
            <a:extLst>
              <a:ext uri="{FF2B5EF4-FFF2-40B4-BE49-F238E27FC236}">
                <a16:creationId xmlns:a16="http://schemas.microsoft.com/office/drawing/2014/main" id="{EE8C9727-7B7A-428A-AB78-A371F99B22B9}"/>
              </a:ext>
            </a:extLst>
          </p:cNvPr>
          <p:cNvSpPr>
            <a:spLocks noGrp="1"/>
          </p:cNvSpPr>
          <p:nvPr/>
        </p:nvSpPr>
        <p:spPr>
          <a:xfrm>
            <a:off x="1200150" y="2171700"/>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C = (2, 4)</a:t>
            </a:r>
          </a:p>
        </p:txBody>
      </p:sp>
      <p:sp>
        <p:nvSpPr>
          <p:cNvPr id="7" name="Rectangle 6">
            <a:extLst>
              <a:ext uri="{FF2B5EF4-FFF2-40B4-BE49-F238E27FC236}">
                <a16:creationId xmlns:a16="http://schemas.microsoft.com/office/drawing/2014/main" id="{8902B48E-B454-46C8-BF5A-2656D6818502}"/>
              </a:ext>
            </a:extLst>
          </p:cNvPr>
          <p:cNvSpPr>
            <a:spLocks noGrp="1"/>
          </p:cNvSpPr>
          <p:nvPr/>
        </p:nvSpPr>
        <p:spPr>
          <a:xfrm>
            <a:off x="666750" y="3057525"/>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2</a:t>
            </a:r>
          </a:p>
        </p:txBody>
      </p:sp>
      <p:sp>
        <p:nvSpPr>
          <p:cNvPr id="8" name="Rectangle 7">
            <a:extLst>
              <a:ext uri="{FF2B5EF4-FFF2-40B4-BE49-F238E27FC236}">
                <a16:creationId xmlns:a16="http://schemas.microsoft.com/office/drawing/2014/main" id="{A58A118C-AEEC-41FA-B261-F79E1ED763DE}"/>
              </a:ext>
            </a:extLst>
          </p:cNvPr>
          <p:cNvSpPr>
            <a:spLocks noGrp="1"/>
          </p:cNvSpPr>
          <p:nvPr/>
        </p:nvSpPr>
        <p:spPr>
          <a:xfrm>
            <a:off x="1200150" y="3057525"/>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From C to B: run 4, rise 3</a:t>
            </a:r>
          </a:p>
        </p:txBody>
      </p:sp>
      <p:sp>
        <p:nvSpPr>
          <p:cNvPr id="9" name="Rectangle 8">
            <a:extLst>
              <a:ext uri="{FF2B5EF4-FFF2-40B4-BE49-F238E27FC236}">
                <a16:creationId xmlns:a16="http://schemas.microsoft.com/office/drawing/2014/main" id="{42BF4712-F0FB-4E43-BD92-46AE1D678B9D}"/>
              </a:ext>
            </a:extLst>
          </p:cNvPr>
          <p:cNvSpPr>
            <a:spLocks noGrp="1"/>
          </p:cNvSpPr>
          <p:nvPr/>
        </p:nvSpPr>
        <p:spPr>
          <a:xfrm>
            <a:off x="1200150" y="3438525"/>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r² = 4² + 3² = 25</a:t>
            </a:r>
          </a:p>
        </p:txBody>
      </p:sp>
      <p:sp>
        <p:nvSpPr>
          <p:cNvPr id="10" name="Rectangle 9">
            <a:extLst>
              <a:ext uri="{FF2B5EF4-FFF2-40B4-BE49-F238E27FC236}">
                <a16:creationId xmlns:a16="http://schemas.microsoft.com/office/drawing/2014/main" id="{3EC41979-DA1A-43CB-81F0-85C2DCC99DCB}"/>
              </a:ext>
            </a:extLst>
          </p:cNvPr>
          <p:cNvSpPr>
            <a:spLocks noGrp="1"/>
          </p:cNvSpPr>
          <p:nvPr/>
        </p:nvSpPr>
        <p:spPr>
          <a:xfrm>
            <a:off x="666750" y="4333875"/>
            <a:ext cx="419100" cy="438150"/>
          </a:xfrm>
          <a:prstGeom prst="rect">
            <a:avLst/>
          </a:prstGeom>
          <a:noFill/>
          <a:ln w="0">
            <a:noFill/>
          </a:ln>
        </p:spPr>
        <p:txBody>
          <a:bodyPr wrap="square" lIns="0" tIns="0" rIns="0" bIns="0" anchor="ctr">
            <a:noAutofit/>
          </a:bodyPr>
          <a:lstStyle/>
          <a:p>
            <a:pPr>
              <a:defRPr sz="2100" b="1">
                <a:solidFill>
                  <a:srgbClr val="1777B4"/>
                </a:solidFill>
                <a:latin typeface="Arial"/>
                <a:ea typeface="Arial"/>
                <a:cs typeface="Arial"/>
              </a:defRPr>
            </a:pPr>
            <a:r>
              <a:rPr sz="2100" b="1">
                <a:solidFill>
                  <a:srgbClr val="1777B4"/>
                </a:solidFill>
                <a:latin typeface="Arial"/>
                <a:ea typeface="Arial"/>
                <a:cs typeface="Arial"/>
              </a:rPr>
              <a:t>3</a:t>
            </a:r>
          </a:p>
        </p:txBody>
      </p:sp>
      <p:sp>
        <p:nvSpPr>
          <p:cNvPr id="11" name="Rectangle 10">
            <a:extLst>
              <a:ext uri="{FF2B5EF4-FFF2-40B4-BE49-F238E27FC236}">
                <a16:creationId xmlns:a16="http://schemas.microsoft.com/office/drawing/2014/main" id="{F31DB806-0155-4354-84FF-E89B4E8573A1}"/>
              </a:ext>
            </a:extLst>
          </p:cNvPr>
          <p:cNvSpPr>
            <a:spLocks noGrp="1"/>
          </p:cNvSpPr>
          <p:nvPr/>
        </p:nvSpPr>
        <p:spPr>
          <a:xfrm>
            <a:off x="1200150" y="4333875"/>
            <a:ext cx="5095875" cy="400050"/>
          </a:xfrm>
          <a:prstGeom prst="rect">
            <a:avLst/>
          </a:prstGeom>
          <a:noFill/>
          <a:ln w="0">
            <a:noFill/>
          </a:ln>
        </p:spPr>
        <p:txBody>
          <a:bodyPr wrap="square" lIns="0" tIns="0" rIns="0" bIns="0" anchor="ctr">
            <a:noAutofit/>
          </a:bodyPr>
          <a:lstStyle/>
          <a:p>
            <a:pPr>
              <a:defRPr sz="1800" b="0">
                <a:solidFill>
                  <a:srgbClr val="687783"/>
                </a:solidFill>
                <a:latin typeface="Arial"/>
                <a:ea typeface="Arial"/>
                <a:cs typeface="Arial"/>
              </a:defRPr>
            </a:pPr>
            <a:r>
              <a:rPr sz="1800" b="0">
                <a:solidFill>
                  <a:srgbClr val="687783"/>
                </a:solidFill>
                <a:latin typeface="Arial"/>
                <a:ea typeface="Arial"/>
                <a:cs typeface="Arial"/>
              </a:rPr>
              <a:t>Substitute the center and r²</a:t>
            </a:r>
          </a:p>
        </p:txBody>
      </p:sp>
      <p:sp>
        <p:nvSpPr>
          <p:cNvPr id="12" name="Rectangle 11">
            <a:extLst>
              <a:ext uri="{FF2B5EF4-FFF2-40B4-BE49-F238E27FC236}">
                <a16:creationId xmlns:a16="http://schemas.microsoft.com/office/drawing/2014/main" id="{1683BD1B-2D22-4161-AC68-01074A1E4E56}"/>
              </a:ext>
            </a:extLst>
          </p:cNvPr>
          <p:cNvSpPr>
            <a:spLocks noGrp="1"/>
          </p:cNvSpPr>
          <p:nvPr/>
        </p:nvSpPr>
        <p:spPr>
          <a:xfrm>
            <a:off x="1200150" y="4714875"/>
            <a:ext cx="5191125" cy="609600"/>
          </a:xfrm>
          <a:prstGeom prst="rect">
            <a:avLst/>
          </a:prstGeom>
          <a:noFill/>
          <a:ln w="0">
            <a:noFill/>
          </a:ln>
        </p:spPr>
        <p:txBody>
          <a:bodyPr wrap="square" lIns="0" tIns="0" rIns="0" bIns="0" anchor="ctr">
            <a:noAutofit/>
          </a:bodyPr>
          <a:lstStyle/>
          <a:p>
            <a:pP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(x − 2)² + (y − 4)² = 25</a:t>
            </a:r>
          </a:p>
        </p:txBody>
      </p:sp>
      <p:sp>
        <p:nvSpPr>
          <p:cNvPr id="13" name="Freeform: Shape 12">
            <a:extLst>
              <a:ext uri="{FF2B5EF4-FFF2-40B4-BE49-F238E27FC236}">
                <a16:creationId xmlns:a16="http://schemas.microsoft.com/office/drawing/2014/main" id="{06D55CB4-4E59-42C3-89A9-C7C0E35A0075}"/>
              </a:ext>
            </a:extLst>
          </p:cNvPr>
          <p:cNvSpPr>
            <a:spLocks noGrp="1"/>
          </p:cNvSpPr>
          <p:nvPr/>
        </p:nvSpPr>
        <p:spPr>
          <a:xfrm>
            <a:off x="76200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4" name="Freeform: Shape 13">
            <a:extLst>
              <a:ext uri="{FF2B5EF4-FFF2-40B4-BE49-F238E27FC236}">
                <a16:creationId xmlns:a16="http://schemas.microsoft.com/office/drawing/2014/main" id="{21A674B4-55E4-4FE2-A155-64E47E7B6A77}"/>
              </a:ext>
            </a:extLst>
          </p:cNvPr>
          <p:cNvSpPr>
            <a:spLocks noGrp="1"/>
          </p:cNvSpPr>
          <p:nvPr/>
        </p:nvSpPr>
        <p:spPr>
          <a:xfrm>
            <a:off x="79057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5" name="Freeform: Shape 14">
            <a:extLst>
              <a:ext uri="{FF2B5EF4-FFF2-40B4-BE49-F238E27FC236}">
                <a16:creationId xmlns:a16="http://schemas.microsoft.com/office/drawing/2014/main" id="{95E5B4DD-AFA4-4B0E-A2F9-3EF9D0136B1C}"/>
              </a:ext>
            </a:extLst>
          </p:cNvPr>
          <p:cNvSpPr>
            <a:spLocks noGrp="1"/>
          </p:cNvSpPr>
          <p:nvPr/>
        </p:nvSpPr>
        <p:spPr>
          <a:xfrm>
            <a:off x="81915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6" name="Freeform: Shape 15">
            <a:extLst>
              <a:ext uri="{FF2B5EF4-FFF2-40B4-BE49-F238E27FC236}">
                <a16:creationId xmlns:a16="http://schemas.microsoft.com/office/drawing/2014/main" id="{153A726E-3B6D-432F-8A11-64829CD23DED}"/>
              </a:ext>
            </a:extLst>
          </p:cNvPr>
          <p:cNvSpPr>
            <a:spLocks noGrp="1"/>
          </p:cNvSpPr>
          <p:nvPr/>
        </p:nvSpPr>
        <p:spPr>
          <a:xfrm>
            <a:off x="84772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7" name="Freeform: Shape 16">
            <a:extLst>
              <a:ext uri="{FF2B5EF4-FFF2-40B4-BE49-F238E27FC236}">
                <a16:creationId xmlns:a16="http://schemas.microsoft.com/office/drawing/2014/main" id="{8E0C086F-00DD-4C1F-B07F-08F6CF216B59}"/>
              </a:ext>
            </a:extLst>
          </p:cNvPr>
          <p:cNvSpPr>
            <a:spLocks noGrp="1"/>
          </p:cNvSpPr>
          <p:nvPr/>
        </p:nvSpPr>
        <p:spPr>
          <a:xfrm>
            <a:off x="87630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8" name="Freeform: Shape 17">
            <a:extLst>
              <a:ext uri="{FF2B5EF4-FFF2-40B4-BE49-F238E27FC236}">
                <a16:creationId xmlns:a16="http://schemas.microsoft.com/office/drawing/2014/main" id="{1A437491-58A9-411D-9CFF-0E844224757F}"/>
              </a:ext>
            </a:extLst>
          </p:cNvPr>
          <p:cNvSpPr>
            <a:spLocks noGrp="1"/>
          </p:cNvSpPr>
          <p:nvPr/>
        </p:nvSpPr>
        <p:spPr>
          <a:xfrm>
            <a:off x="90487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19" name="Freeform: Shape 18">
            <a:extLst>
              <a:ext uri="{FF2B5EF4-FFF2-40B4-BE49-F238E27FC236}">
                <a16:creationId xmlns:a16="http://schemas.microsoft.com/office/drawing/2014/main" id="{ACE808AC-67AF-48BA-B7B4-ACA51516533B}"/>
              </a:ext>
            </a:extLst>
          </p:cNvPr>
          <p:cNvSpPr>
            <a:spLocks noGrp="1"/>
          </p:cNvSpPr>
          <p:nvPr/>
        </p:nvSpPr>
        <p:spPr>
          <a:xfrm>
            <a:off x="93345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0" name="Freeform: Shape 19">
            <a:extLst>
              <a:ext uri="{FF2B5EF4-FFF2-40B4-BE49-F238E27FC236}">
                <a16:creationId xmlns:a16="http://schemas.microsoft.com/office/drawing/2014/main" id="{37D10000-D5D5-48A1-8F4E-26F6C8ABD96C}"/>
              </a:ext>
            </a:extLst>
          </p:cNvPr>
          <p:cNvSpPr>
            <a:spLocks noGrp="1"/>
          </p:cNvSpPr>
          <p:nvPr/>
        </p:nvSpPr>
        <p:spPr>
          <a:xfrm>
            <a:off x="96202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1" name="Freeform: Shape 20">
            <a:extLst>
              <a:ext uri="{FF2B5EF4-FFF2-40B4-BE49-F238E27FC236}">
                <a16:creationId xmlns:a16="http://schemas.microsoft.com/office/drawing/2014/main" id="{60214CF4-0A03-4C7D-A72A-C220F99F111B}"/>
              </a:ext>
            </a:extLst>
          </p:cNvPr>
          <p:cNvSpPr>
            <a:spLocks noGrp="1"/>
          </p:cNvSpPr>
          <p:nvPr/>
        </p:nvSpPr>
        <p:spPr>
          <a:xfrm>
            <a:off x="99060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2" name="Freeform: Shape 21">
            <a:extLst>
              <a:ext uri="{FF2B5EF4-FFF2-40B4-BE49-F238E27FC236}">
                <a16:creationId xmlns:a16="http://schemas.microsoft.com/office/drawing/2014/main" id="{DB7EAC10-7409-41A0-BF46-EACBBDF33137}"/>
              </a:ext>
            </a:extLst>
          </p:cNvPr>
          <p:cNvSpPr>
            <a:spLocks noGrp="1"/>
          </p:cNvSpPr>
          <p:nvPr/>
        </p:nvSpPr>
        <p:spPr>
          <a:xfrm>
            <a:off x="101917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3" name="Freeform: Shape 22">
            <a:extLst>
              <a:ext uri="{FF2B5EF4-FFF2-40B4-BE49-F238E27FC236}">
                <a16:creationId xmlns:a16="http://schemas.microsoft.com/office/drawing/2014/main" id="{99041BA6-7B11-4552-980A-5B2920A59A33}"/>
              </a:ext>
            </a:extLst>
          </p:cNvPr>
          <p:cNvSpPr>
            <a:spLocks noGrp="1"/>
          </p:cNvSpPr>
          <p:nvPr/>
        </p:nvSpPr>
        <p:spPr>
          <a:xfrm>
            <a:off x="104775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4" name="Freeform: Shape 23">
            <a:extLst>
              <a:ext uri="{FF2B5EF4-FFF2-40B4-BE49-F238E27FC236}">
                <a16:creationId xmlns:a16="http://schemas.microsoft.com/office/drawing/2014/main" id="{B2DD6D9E-741E-4405-AA13-16B9B9395D8F}"/>
              </a:ext>
            </a:extLst>
          </p:cNvPr>
          <p:cNvSpPr>
            <a:spLocks noGrp="1"/>
          </p:cNvSpPr>
          <p:nvPr/>
        </p:nvSpPr>
        <p:spPr>
          <a:xfrm>
            <a:off x="1076325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5" name="Freeform: Shape 24">
            <a:extLst>
              <a:ext uri="{FF2B5EF4-FFF2-40B4-BE49-F238E27FC236}">
                <a16:creationId xmlns:a16="http://schemas.microsoft.com/office/drawing/2014/main" id="{06382334-A978-4207-B1EF-4D664D9CB917}"/>
              </a:ext>
            </a:extLst>
          </p:cNvPr>
          <p:cNvSpPr>
            <a:spLocks noGrp="1"/>
          </p:cNvSpPr>
          <p:nvPr/>
        </p:nvSpPr>
        <p:spPr>
          <a:xfrm>
            <a:off x="11049000" y="2047875"/>
            <a:ext cx="953" cy="3429000"/>
          </a:xfrm>
          <a:custGeom>
            <a:avLst/>
            <a:gdLst/>
            <a:ahLst/>
            <a:cxnLst/>
            <a:rect l="0" t="0" r="0" b="0"/>
            <a:pathLst>
              <a:path w="953" h="3429000">
                <a:moveTo>
                  <a:pt x="0" y="0"/>
                </a:moveTo>
                <a:lnTo>
                  <a:pt x="0" y="3429000"/>
                </a:lnTo>
              </a:path>
            </a:pathLst>
          </a:custGeom>
          <a:noFill/>
          <a:ln w="6668">
            <a:solidFill>
              <a:srgbClr val="E4EAF0"/>
            </a:solidFill>
            <a:prstDash val="solid"/>
          </a:ln>
        </p:spPr>
        <p:txBody>
          <a:bodyPr/>
          <a:lstStyle/>
          <a:p>
            <a:endParaRPr lang="en-US"/>
          </a:p>
        </p:txBody>
      </p:sp>
      <p:sp>
        <p:nvSpPr>
          <p:cNvPr id="26" name="Freeform: Shape 25">
            <a:extLst>
              <a:ext uri="{FF2B5EF4-FFF2-40B4-BE49-F238E27FC236}">
                <a16:creationId xmlns:a16="http://schemas.microsoft.com/office/drawing/2014/main" id="{8F7B7064-0EEA-4457-B8BC-1845E2936461}"/>
              </a:ext>
            </a:extLst>
          </p:cNvPr>
          <p:cNvSpPr>
            <a:spLocks noGrp="1"/>
          </p:cNvSpPr>
          <p:nvPr/>
        </p:nvSpPr>
        <p:spPr>
          <a:xfrm>
            <a:off x="7620000" y="54768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7" name="Freeform: Shape 26">
            <a:extLst>
              <a:ext uri="{FF2B5EF4-FFF2-40B4-BE49-F238E27FC236}">
                <a16:creationId xmlns:a16="http://schemas.microsoft.com/office/drawing/2014/main" id="{2A4E2617-AF2C-4C8C-889F-FE19FC3A8AD9}"/>
              </a:ext>
            </a:extLst>
          </p:cNvPr>
          <p:cNvSpPr>
            <a:spLocks noGrp="1"/>
          </p:cNvSpPr>
          <p:nvPr/>
        </p:nvSpPr>
        <p:spPr>
          <a:xfrm>
            <a:off x="7620000" y="51911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8" name="Freeform: Shape 27">
            <a:extLst>
              <a:ext uri="{FF2B5EF4-FFF2-40B4-BE49-F238E27FC236}">
                <a16:creationId xmlns:a16="http://schemas.microsoft.com/office/drawing/2014/main" id="{6DB60F23-EF0A-462A-861B-F7930721A940}"/>
              </a:ext>
            </a:extLst>
          </p:cNvPr>
          <p:cNvSpPr>
            <a:spLocks noGrp="1"/>
          </p:cNvSpPr>
          <p:nvPr/>
        </p:nvSpPr>
        <p:spPr>
          <a:xfrm>
            <a:off x="7620000" y="49053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29" name="Freeform: Shape 28">
            <a:extLst>
              <a:ext uri="{FF2B5EF4-FFF2-40B4-BE49-F238E27FC236}">
                <a16:creationId xmlns:a16="http://schemas.microsoft.com/office/drawing/2014/main" id="{636B94FF-92A2-4415-9D64-1E252DA626A5}"/>
              </a:ext>
            </a:extLst>
          </p:cNvPr>
          <p:cNvSpPr>
            <a:spLocks noGrp="1"/>
          </p:cNvSpPr>
          <p:nvPr/>
        </p:nvSpPr>
        <p:spPr>
          <a:xfrm>
            <a:off x="7620000" y="46196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0" name="Freeform: Shape 29">
            <a:extLst>
              <a:ext uri="{FF2B5EF4-FFF2-40B4-BE49-F238E27FC236}">
                <a16:creationId xmlns:a16="http://schemas.microsoft.com/office/drawing/2014/main" id="{E7638F8D-FA61-42D3-B29F-B78B415B8BFE}"/>
              </a:ext>
            </a:extLst>
          </p:cNvPr>
          <p:cNvSpPr>
            <a:spLocks noGrp="1"/>
          </p:cNvSpPr>
          <p:nvPr/>
        </p:nvSpPr>
        <p:spPr>
          <a:xfrm>
            <a:off x="7620000" y="43338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1" name="Freeform: Shape 30">
            <a:extLst>
              <a:ext uri="{FF2B5EF4-FFF2-40B4-BE49-F238E27FC236}">
                <a16:creationId xmlns:a16="http://schemas.microsoft.com/office/drawing/2014/main" id="{7880FE0F-2106-40C1-8F84-15445436D5D1}"/>
              </a:ext>
            </a:extLst>
          </p:cNvPr>
          <p:cNvSpPr>
            <a:spLocks noGrp="1"/>
          </p:cNvSpPr>
          <p:nvPr/>
        </p:nvSpPr>
        <p:spPr>
          <a:xfrm>
            <a:off x="7620000" y="40481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2" name="Freeform: Shape 31">
            <a:extLst>
              <a:ext uri="{FF2B5EF4-FFF2-40B4-BE49-F238E27FC236}">
                <a16:creationId xmlns:a16="http://schemas.microsoft.com/office/drawing/2014/main" id="{1E5EB62F-14AD-4A5A-86A7-5519B2FBA028}"/>
              </a:ext>
            </a:extLst>
          </p:cNvPr>
          <p:cNvSpPr>
            <a:spLocks noGrp="1"/>
          </p:cNvSpPr>
          <p:nvPr/>
        </p:nvSpPr>
        <p:spPr>
          <a:xfrm>
            <a:off x="7620000" y="37623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3" name="Freeform: Shape 32">
            <a:extLst>
              <a:ext uri="{FF2B5EF4-FFF2-40B4-BE49-F238E27FC236}">
                <a16:creationId xmlns:a16="http://schemas.microsoft.com/office/drawing/2014/main" id="{82BA5A2B-9FD4-4500-949A-B57BEC688D48}"/>
              </a:ext>
            </a:extLst>
          </p:cNvPr>
          <p:cNvSpPr>
            <a:spLocks noGrp="1"/>
          </p:cNvSpPr>
          <p:nvPr/>
        </p:nvSpPr>
        <p:spPr>
          <a:xfrm>
            <a:off x="7620000" y="34766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4" name="Freeform: Shape 33">
            <a:extLst>
              <a:ext uri="{FF2B5EF4-FFF2-40B4-BE49-F238E27FC236}">
                <a16:creationId xmlns:a16="http://schemas.microsoft.com/office/drawing/2014/main" id="{BAE0A8F4-E833-4E71-BBA0-25408FF4BD14}"/>
              </a:ext>
            </a:extLst>
          </p:cNvPr>
          <p:cNvSpPr>
            <a:spLocks noGrp="1"/>
          </p:cNvSpPr>
          <p:nvPr/>
        </p:nvSpPr>
        <p:spPr>
          <a:xfrm>
            <a:off x="7620000" y="31908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5" name="Freeform: Shape 34">
            <a:extLst>
              <a:ext uri="{FF2B5EF4-FFF2-40B4-BE49-F238E27FC236}">
                <a16:creationId xmlns:a16="http://schemas.microsoft.com/office/drawing/2014/main" id="{7A73D36D-89BF-43F6-902F-8F88DF5DA908}"/>
              </a:ext>
            </a:extLst>
          </p:cNvPr>
          <p:cNvSpPr>
            <a:spLocks noGrp="1"/>
          </p:cNvSpPr>
          <p:nvPr/>
        </p:nvSpPr>
        <p:spPr>
          <a:xfrm>
            <a:off x="7620000" y="29051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6" name="Freeform: Shape 35">
            <a:extLst>
              <a:ext uri="{FF2B5EF4-FFF2-40B4-BE49-F238E27FC236}">
                <a16:creationId xmlns:a16="http://schemas.microsoft.com/office/drawing/2014/main" id="{B400CAE8-4950-473E-946F-526AFB6B6343}"/>
              </a:ext>
            </a:extLst>
          </p:cNvPr>
          <p:cNvSpPr>
            <a:spLocks noGrp="1"/>
          </p:cNvSpPr>
          <p:nvPr/>
        </p:nvSpPr>
        <p:spPr>
          <a:xfrm>
            <a:off x="7620000" y="26193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7" name="Freeform: Shape 36">
            <a:extLst>
              <a:ext uri="{FF2B5EF4-FFF2-40B4-BE49-F238E27FC236}">
                <a16:creationId xmlns:a16="http://schemas.microsoft.com/office/drawing/2014/main" id="{BBE25C4B-9038-4B12-A0AF-64E884953CBE}"/>
              </a:ext>
            </a:extLst>
          </p:cNvPr>
          <p:cNvSpPr>
            <a:spLocks noGrp="1"/>
          </p:cNvSpPr>
          <p:nvPr/>
        </p:nvSpPr>
        <p:spPr>
          <a:xfrm>
            <a:off x="7620000" y="233362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8" name="Freeform: Shape 37">
            <a:extLst>
              <a:ext uri="{FF2B5EF4-FFF2-40B4-BE49-F238E27FC236}">
                <a16:creationId xmlns:a16="http://schemas.microsoft.com/office/drawing/2014/main" id="{3A580A06-9B32-42FE-B2FA-AC55F31E2346}"/>
              </a:ext>
            </a:extLst>
          </p:cNvPr>
          <p:cNvSpPr>
            <a:spLocks noGrp="1"/>
          </p:cNvSpPr>
          <p:nvPr/>
        </p:nvSpPr>
        <p:spPr>
          <a:xfrm>
            <a:off x="7620000" y="2047875"/>
            <a:ext cx="3429000" cy="953"/>
          </a:xfrm>
          <a:custGeom>
            <a:avLst/>
            <a:gdLst/>
            <a:ahLst/>
            <a:cxnLst/>
            <a:rect l="0" t="0" r="0" b="0"/>
            <a:pathLst>
              <a:path w="3429000" h="953">
                <a:moveTo>
                  <a:pt x="0" y="0"/>
                </a:moveTo>
                <a:lnTo>
                  <a:pt x="3429000" y="0"/>
                </a:lnTo>
              </a:path>
            </a:pathLst>
          </a:custGeom>
          <a:noFill/>
          <a:ln w="6668">
            <a:solidFill>
              <a:srgbClr val="E4EAF0"/>
            </a:solidFill>
            <a:prstDash val="solid"/>
          </a:ln>
        </p:spPr>
        <p:txBody>
          <a:bodyPr/>
          <a:lstStyle/>
          <a:p>
            <a:endParaRPr lang="en-US"/>
          </a:p>
        </p:txBody>
      </p:sp>
      <p:sp>
        <p:nvSpPr>
          <p:cNvPr id="39" name="Freeform: Shape 38">
            <a:extLst>
              <a:ext uri="{FF2B5EF4-FFF2-40B4-BE49-F238E27FC236}">
                <a16:creationId xmlns:a16="http://schemas.microsoft.com/office/drawing/2014/main" id="{19842BF4-4713-45F3-84E0-ACC7FF94D3E2}"/>
              </a:ext>
            </a:extLst>
          </p:cNvPr>
          <p:cNvSpPr>
            <a:spLocks noGrp="1"/>
          </p:cNvSpPr>
          <p:nvPr/>
        </p:nvSpPr>
        <p:spPr>
          <a:xfrm>
            <a:off x="7620000" y="4905375"/>
            <a:ext cx="3429000" cy="953"/>
          </a:xfrm>
          <a:custGeom>
            <a:avLst/>
            <a:gdLst/>
            <a:ahLst/>
            <a:cxnLst/>
            <a:rect l="0" t="0" r="0" b="0"/>
            <a:pathLst>
              <a:path w="3429000" h="953">
                <a:moveTo>
                  <a:pt x="0" y="0"/>
                </a:moveTo>
                <a:lnTo>
                  <a:pt x="3429000" y="0"/>
                </a:lnTo>
              </a:path>
            </a:pathLst>
          </a:custGeom>
          <a:noFill/>
          <a:ln w="17145">
            <a:solidFill>
              <a:srgbClr val="687783"/>
            </a:solidFill>
            <a:prstDash val="solid"/>
          </a:ln>
        </p:spPr>
        <p:txBody>
          <a:bodyPr/>
          <a:lstStyle/>
          <a:p>
            <a:endParaRPr lang="en-US"/>
          </a:p>
        </p:txBody>
      </p:sp>
      <p:sp>
        <p:nvSpPr>
          <p:cNvPr id="40" name="Freeform: Shape 39">
            <a:extLst>
              <a:ext uri="{FF2B5EF4-FFF2-40B4-BE49-F238E27FC236}">
                <a16:creationId xmlns:a16="http://schemas.microsoft.com/office/drawing/2014/main" id="{E2200D60-590F-43B1-8A67-CB458787D350}"/>
              </a:ext>
            </a:extLst>
          </p:cNvPr>
          <p:cNvSpPr>
            <a:spLocks noGrp="1"/>
          </p:cNvSpPr>
          <p:nvPr/>
        </p:nvSpPr>
        <p:spPr>
          <a:xfrm>
            <a:off x="8763000" y="2047875"/>
            <a:ext cx="953" cy="3429000"/>
          </a:xfrm>
          <a:custGeom>
            <a:avLst/>
            <a:gdLst/>
            <a:ahLst/>
            <a:cxnLst/>
            <a:rect l="0" t="0" r="0" b="0"/>
            <a:pathLst>
              <a:path w="953" h="3429000">
                <a:moveTo>
                  <a:pt x="0" y="0"/>
                </a:moveTo>
                <a:lnTo>
                  <a:pt x="0" y="3429000"/>
                </a:lnTo>
              </a:path>
            </a:pathLst>
          </a:custGeom>
          <a:noFill/>
          <a:ln w="17145">
            <a:solidFill>
              <a:srgbClr val="687783"/>
            </a:solidFill>
            <a:prstDash val="solid"/>
          </a:ln>
        </p:spPr>
        <p:txBody>
          <a:bodyPr/>
          <a:lstStyle/>
          <a:p>
            <a:endParaRPr lang="en-US"/>
          </a:p>
        </p:txBody>
      </p:sp>
      <p:sp>
        <p:nvSpPr>
          <p:cNvPr id="41" name="Rectangle 40">
            <a:extLst>
              <a:ext uri="{FF2B5EF4-FFF2-40B4-BE49-F238E27FC236}">
                <a16:creationId xmlns:a16="http://schemas.microsoft.com/office/drawing/2014/main" id="{59DA3CE1-ACF0-4D8D-A1D4-4DF65EB481D7}"/>
              </a:ext>
            </a:extLst>
          </p:cNvPr>
          <p:cNvSpPr>
            <a:spLocks noGrp="1"/>
          </p:cNvSpPr>
          <p:nvPr/>
        </p:nvSpPr>
        <p:spPr>
          <a:xfrm>
            <a:off x="74771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2" name="Rectangle 41">
            <a:extLst>
              <a:ext uri="{FF2B5EF4-FFF2-40B4-BE49-F238E27FC236}">
                <a16:creationId xmlns:a16="http://schemas.microsoft.com/office/drawing/2014/main" id="{BDC288DC-D8C0-48C6-8D5A-4575D46E1CD9}"/>
              </a:ext>
            </a:extLst>
          </p:cNvPr>
          <p:cNvSpPr>
            <a:spLocks noGrp="1"/>
          </p:cNvSpPr>
          <p:nvPr/>
        </p:nvSpPr>
        <p:spPr>
          <a:xfrm>
            <a:off x="80486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3" name="Rectangle 42">
            <a:extLst>
              <a:ext uri="{FF2B5EF4-FFF2-40B4-BE49-F238E27FC236}">
                <a16:creationId xmlns:a16="http://schemas.microsoft.com/office/drawing/2014/main" id="{36FBEE61-6E6A-4F5B-BE1C-2A03093F99E0}"/>
              </a:ext>
            </a:extLst>
          </p:cNvPr>
          <p:cNvSpPr>
            <a:spLocks noGrp="1"/>
          </p:cNvSpPr>
          <p:nvPr/>
        </p:nvSpPr>
        <p:spPr>
          <a:xfrm>
            <a:off x="91916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4" name="Rectangle 43">
            <a:extLst>
              <a:ext uri="{FF2B5EF4-FFF2-40B4-BE49-F238E27FC236}">
                <a16:creationId xmlns:a16="http://schemas.microsoft.com/office/drawing/2014/main" id="{43BAF84B-4385-43AA-9FF9-6BAD5DDBE8E8}"/>
              </a:ext>
            </a:extLst>
          </p:cNvPr>
          <p:cNvSpPr>
            <a:spLocks noGrp="1"/>
          </p:cNvSpPr>
          <p:nvPr/>
        </p:nvSpPr>
        <p:spPr>
          <a:xfrm>
            <a:off x="97631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45" name="Rectangle 44">
            <a:extLst>
              <a:ext uri="{FF2B5EF4-FFF2-40B4-BE49-F238E27FC236}">
                <a16:creationId xmlns:a16="http://schemas.microsoft.com/office/drawing/2014/main" id="{C60F808E-9214-4DC5-B1BC-6C7FD27BA12C}"/>
              </a:ext>
            </a:extLst>
          </p:cNvPr>
          <p:cNvSpPr>
            <a:spLocks noGrp="1"/>
          </p:cNvSpPr>
          <p:nvPr/>
        </p:nvSpPr>
        <p:spPr>
          <a:xfrm>
            <a:off x="103346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46" name="Rectangle 45">
            <a:extLst>
              <a:ext uri="{FF2B5EF4-FFF2-40B4-BE49-F238E27FC236}">
                <a16:creationId xmlns:a16="http://schemas.microsoft.com/office/drawing/2014/main" id="{A267A1E8-E8B3-4237-B33B-7009069FBDC9}"/>
              </a:ext>
            </a:extLst>
          </p:cNvPr>
          <p:cNvSpPr>
            <a:spLocks noGrp="1"/>
          </p:cNvSpPr>
          <p:nvPr/>
        </p:nvSpPr>
        <p:spPr>
          <a:xfrm>
            <a:off x="10906125" y="4953000"/>
            <a:ext cx="285750"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47" name="Rectangle 46">
            <a:extLst>
              <a:ext uri="{FF2B5EF4-FFF2-40B4-BE49-F238E27FC236}">
                <a16:creationId xmlns:a16="http://schemas.microsoft.com/office/drawing/2014/main" id="{1AC253E6-FB1C-4EED-9888-27248C2B2B2B}"/>
              </a:ext>
            </a:extLst>
          </p:cNvPr>
          <p:cNvSpPr>
            <a:spLocks noGrp="1"/>
          </p:cNvSpPr>
          <p:nvPr/>
        </p:nvSpPr>
        <p:spPr>
          <a:xfrm>
            <a:off x="8496300" y="53721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8" name="Rectangle 47">
            <a:extLst>
              <a:ext uri="{FF2B5EF4-FFF2-40B4-BE49-F238E27FC236}">
                <a16:creationId xmlns:a16="http://schemas.microsoft.com/office/drawing/2014/main" id="{6DBEA038-88AB-45AE-A0B0-CBE48F499D5B}"/>
              </a:ext>
            </a:extLst>
          </p:cNvPr>
          <p:cNvSpPr>
            <a:spLocks noGrp="1"/>
          </p:cNvSpPr>
          <p:nvPr/>
        </p:nvSpPr>
        <p:spPr>
          <a:xfrm>
            <a:off x="8496300" y="42291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2</a:t>
            </a:r>
          </a:p>
        </p:txBody>
      </p:sp>
      <p:sp>
        <p:nvSpPr>
          <p:cNvPr id="49" name="Rectangle 48">
            <a:extLst>
              <a:ext uri="{FF2B5EF4-FFF2-40B4-BE49-F238E27FC236}">
                <a16:creationId xmlns:a16="http://schemas.microsoft.com/office/drawing/2014/main" id="{0007361E-A62C-45FE-89E3-7F742AD85399}"/>
              </a:ext>
            </a:extLst>
          </p:cNvPr>
          <p:cNvSpPr>
            <a:spLocks noGrp="1"/>
          </p:cNvSpPr>
          <p:nvPr/>
        </p:nvSpPr>
        <p:spPr>
          <a:xfrm>
            <a:off x="8496300" y="36576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4</a:t>
            </a:r>
          </a:p>
        </p:txBody>
      </p:sp>
      <p:sp>
        <p:nvSpPr>
          <p:cNvPr id="50" name="Rectangle 49">
            <a:extLst>
              <a:ext uri="{FF2B5EF4-FFF2-40B4-BE49-F238E27FC236}">
                <a16:creationId xmlns:a16="http://schemas.microsoft.com/office/drawing/2014/main" id="{85170E92-DFC4-4310-A1F0-17A9988D3DE0}"/>
              </a:ext>
            </a:extLst>
          </p:cNvPr>
          <p:cNvSpPr>
            <a:spLocks noGrp="1"/>
          </p:cNvSpPr>
          <p:nvPr/>
        </p:nvSpPr>
        <p:spPr>
          <a:xfrm>
            <a:off x="8496300" y="30861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6</a:t>
            </a:r>
          </a:p>
        </p:txBody>
      </p:sp>
      <p:sp>
        <p:nvSpPr>
          <p:cNvPr id="51" name="Rectangle 50">
            <a:extLst>
              <a:ext uri="{FF2B5EF4-FFF2-40B4-BE49-F238E27FC236}">
                <a16:creationId xmlns:a16="http://schemas.microsoft.com/office/drawing/2014/main" id="{AB4B076E-9F44-4951-B51F-27556E30822B}"/>
              </a:ext>
            </a:extLst>
          </p:cNvPr>
          <p:cNvSpPr>
            <a:spLocks noGrp="1"/>
          </p:cNvSpPr>
          <p:nvPr/>
        </p:nvSpPr>
        <p:spPr>
          <a:xfrm>
            <a:off x="8496300" y="25146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8</a:t>
            </a:r>
          </a:p>
        </p:txBody>
      </p:sp>
      <p:sp>
        <p:nvSpPr>
          <p:cNvPr id="52" name="Rectangle 51">
            <a:extLst>
              <a:ext uri="{FF2B5EF4-FFF2-40B4-BE49-F238E27FC236}">
                <a16:creationId xmlns:a16="http://schemas.microsoft.com/office/drawing/2014/main" id="{51A41C01-6C21-4B05-AB1A-15BCA87727F4}"/>
              </a:ext>
            </a:extLst>
          </p:cNvPr>
          <p:cNvSpPr>
            <a:spLocks noGrp="1"/>
          </p:cNvSpPr>
          <p:nvPr/>
        </p:nvSpPr>
        <p:spPr>
          <a:xfrm>
            <a:off x="8496300" y="1943100"/>
            <a:ext cx="238125" cy="209550"/>
          </a:xfrm>
          <a:prstGeom prst="rect">
            <a:avLst/>
          </a:prstGeom>
          <a:noFill/>
          <a:ln w="0">
            <a:noFill/>
          </a:ln>
        </p:spPr>
        <p:txBody>
          <a:bodyPr wrap="square" lIns="0" tIns="0" rIns="0" bIns="0" anchor="ctr">
            <a:noAutofit/>
          </a:bodyPr>
          <a:lstStyle/>
          <a:p>
            <a:pPr>
              <a:defRPr sz="1050" b="0">
                <a:solidFill>
                  <a:srgbClr val="687783"/>
                </a:solidFill>
                <a:latin typeface="Arial"/>
                <a:ea typeface="Arial"/>
                <a:cs typeface="Arial"/>
              </a:defRPr>
            </a:pPr>
            <a:r>
              <a:rPr sz="1050" b="0">
                <a:solidFill>
                  <a:srgbClr val="687783"/>
                </a:solidFill>
                <a:latin typeface="Arial"/>
                <a:ea typeface="Arial"/>
                <a:cs typeface="Arial"/>
              </a:rPr>
              <a:t>10</a:t>
            </a:r>
          </a:p>
        </p:txBody>
      </p:sp>
      <p:sp>
        <p:nvSpPr>
          <p:cNvPr id="53" name="Rectangle 52">
            <a:extLst>
              <a:ext uri="{FF2B5EF4-FFF2-40B4-BE49-F238E27FC236}">
                <a16:creationId xmlns:a16="http://schemas.microsoft.com/office/drawing/2014/main" id="{B801AC27-1C40-4BD4-87AB-D99733F08040}"/>
              </a:ext>
            </a:extLst>
          </p:cNvPr>
          <p:cNvSpPr>
            <a:spLocks noGrp="1"/>
          </p:cNvSpPr>
          <p:nvPr/>
        </p:nvSpPr>
        <p:spPr>
          <a:xfrm>
            <a:off x="11115675" y="4772025"/>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x</a:t>
            </a:r>
          </a:p>
        </p:txBody>
      </p:sp>
      <p:sp>
        <p:nvSpPr>
          <p:cNvPr id="54" name="Rectangle 53">
            <a:extLst>
              <a:ext uri="{FF2B5EF4-FFF2-40B4-BE49-F238E27FC236}">
                <a16:creationId xmlns:a16="http://schemas.microsoft.com/office/drawing/2014/main" id="{4CA5DAAA-F159-4E34-A707-EA8CA3A45136}"/>
              </a:ext>
            </a:extLst>
          </p:cNvPr>
          <p:cNvSpPr>
            <a:spLocks noGrp="1"/>
          </p:cNvSpPr>
          <p:nvPr/>
        </p:nvSpPr>
        <p:spPr>
          <a:xfrm>
            <a:off x="8820150" y="1781175"/>
            <a:ext cx="190500" cy="247650"/>
          </a:xfrm>
          <a:prstGeom prst="rect">
            <a:avLst/>
          </a:prstGeom>
          <a:noFill/>
          <a:ln w="0">
            <a:noFill/>
          </a:ln>
        </p:spPr>
        <p:txBody>
          <a:bodyPr wrap="square" lIns="0" tIns="0" rIns="0" bIns="0" anchor="ctr">
            <a:noAutofit/>
          </a:bodyPr>
          <a:lstStyle/>
          <a:p>
            <a:pPr>
              <a:defRPr sz="1425" b="0">
                <a:solidFill>
                  <a:srgbClr val="687783"/>
                </a:solidFill>
                <a:latin typeface="Arial"/>
                <a:ea typeface="Arial"/>
                <a:cs typeface="Arial"/>
              </a:defRPr>
            </a:pPr>
            <a:r>
              <a:rPr sz="1425" b="0">
                <a:solidFill>
                  <a:srgbClr val="687783"/>
                </a:solidFill>
                <a:latin typeface="Arial"/>
                <a:ea typeface="Arial"/>
                <a:cs typeface="Arial"/>
              </a:rPr>
              <a:t>y</a:t>
            </a:r>
          </a:p>
        </p:txBody>
      </p:sp>
      <p:sp>
        <p:nvSpPr>
          <p:cNvPr id="55" name="Oval 54">
            <a:extLst>
              <a:ext uri="{FF2B5EF4-FFF2-40B4-BE49-F238E27FC236}">
                <a16:creationId xmlns:a16="http://schemas.microsoft.com/office/drawing/2014/main" id="{AFA80265-2FB2-4CAC-84F6-F5C7656E3455}"/>
              </a:ext>
            </a:extLst>
          </p:cNvPr>
          <p:cNvSpPr>
            <a:spLocks noGrp="1"/>
          </p:cNvSpPr>
          <p:nvPr/>
        </p:nvSpPr>
        <p:spPr>
          <a:xfrm>
            <a:off x="7905750" y="2333625"/>
            <a:ext cx="2857500" cy="2857500"/>
          </a:xfrm>
          <a:prstGeom prst="ellipse">
            <a:avLst/>
          </a:prstGeom>
          <a:noFill/>
          <a:ln w="28575">
            <a:solidFill>
              <a:srgbClr val="1777B4"/>
            </a:solidFill>
          </a:ln>
        </p:spPr>
        <p:txBody>
          <a:bodyPr/>
          <a:lstStyle/>
          <a:p>
            <a:endParaRPr lang="en-US"/>
          </a:p>
        </p:txBody>
      </p:sp>
      <p:sp>
        <p:nvSpPr>
          <p:cNvPr id="56" name="Freeform: Shape 55">
            <a:extLst>
              <a:ext uri="{FF2B5EF4-FFF2-40B4-BE49-F238E27FC236}">
                <a16:creationId xmlns:a16="http://schemas.microsoft.com/office/drawing/2014/main" id="{2AB3520C-54A0-403C-9DAA-953472B0E694}"/>
              </a:ext>
            </a:extLst>
          </p:cNvPr>
          <p:cNvSpPr>
            <a:spLocks noGrp="1"/>
          </p:cNvSpPr>
          <p:nvPr/>
        </p:nvSpPr>
        <p:spPr>
          <a:xfrm>
            <a:off x="8191500" y="2905125"/>
            <a:ext cx="2286000" cy="1714500"/>
          </a:xfrm>
          <a:custGeom>
            <a:avLst/>
            <a:gdLst/>
            <a:ahLst/>
            <a:cxnLst/>
            <a:rect l="0" t="0" r="0" b="0"/>
            <a:pathLst>
              <a:path w="2286000" h="1714500">
                <a:moveTo>
                  <a:pt x="0" y="1714500"/>
                </a:moveTo>
                <a:lnTo>
                  <a:pt x="2286000" y="0"/>
                </a:lnTo>
              </a:path>
            </a:pathLst>
          </a:custGeom>
          <a:noFill/>
          <a:ln w="19050">
            <a:solidFill>
              <a:srgbClr val="687783"/>
            </a:solidFill>
            <a:prstDash val="solid"/>
          </a:ln>
        </p:spPr>
        <p:txBody>
          <a:bodyPr/>
          <a:lstStyle/>
          <a:p>
            <a:endParaRPr lang="en-US"/>
          </a:p>
        </p:txBody>
      </p:sp>
      <p:sp>
        <p:nvSpPr>
          <p:cNvPr id="57" name="Freeform: Shape 56">
            <a:extLst>
              <a:ext uri="{FF2B5EF4-FFF2-40B4-BE49-F238E27FC236}">
                <a16:creationId xmlns:a16="http://schemas.microsoft.com/office/drawing/2014/main" id="{9F7FA731-5D14-4E9F-A1BD-9109284A0FB0}"/>
              </a:ext>
            </a:extLst>
          </p:cNvPr>
          <p:cNvSpPr>
            <a:spLocks noGrp="1"/>
          </p:cNvSpPr>
          <p:nvPr/>
        </p:nvSpPr>
        <p:spPr>
          <a:xfrm>
            <a:off x="9334500" y="2905125"/>
            <a:ext cx="1143000" cy="857250"/>
          </a:xfrm>
          <a:custGeom>
            <a:avLst/>
            <a:gdLst/>
            <a:ahLst/>
            <a:cxnLst/>
            <a:rect l="0" t="0" r="0" b="0"/>
            <a:pathLst>
              <a:path w="1143000" h="857250">
                <a:moveTo>
                  <a:pt x="0" y="857250"/>
                </a:moveTo>
                <a:lnTo>
                  <a:pt x="1143000" y="0"/>
                </a:lnTo>
              </a:path>
            </a:pathLst>
          </a:custGeom>
          <a:noFill/>
          <a:ln w="38100">
            <a:solidFill>
              <a:srgbClr val="1777B4"/>
            </a:solidFill>
            <a:prstDash val="solid"/>
          </a:ln>
        </p:spPr>
        <p:txBody>
          <a:bodyPr/>
          <a:lstStyle/>
          <a:p>
            <a:endParaRPr lang="en-US"/>
          </a:p>
        </p:txBody>
      </p:sp>
      <p:sp>
        <p:nvSpPr>
          <p:cNvPr id="58" name="Freeform: Shape 57">
            <a:extLst>
              <a:ext uri="{FF2B5EF4-FFF2-40B4-BE49-F238E27FC236}">
                <a16:creationId xmlns:a16="http://schemas.microsoft.com/office/drawing/2014/main" id="{73023770-F2FD-4D0D-9F70-038476EA29CB}"/>
              </a:ext>
            </a:extLst>
          </p:cNvPr>
          <p:cNvSpPr>
            <a:spLocks noGrp="1"/>
          </p:cNvSpPr>
          <p:nvPr/>
        </p:nvSpPr>
        <p:spPr>
          <a:xfrm>
            <a:off x="9334500" y="3762375"/>
            <a:ext cx="1143000" cy="953"/>
          </a:xfrm>
          <a:custGeom>
            <a:avLst/>
            <a:gdLst/>
            <a:ahLst/>
            <a:cxnLst/>
            <a:rect l="0" t="0" r="0" b="0"/>
            <a:pathLst>
              <a:path w="1143000" h="953">
                <a:moveTo>
                  <a:pt x="0" y="0"/>
                </a:moveTo>
                <a:lnTo>
                  <a:pt x="1143000" y="0"/>
                </a:lnTo>
              </a:path>
            </a:pathLst>
          </a:custGeom>
          <a:noFill/>
          <a:ln w="19050">
            <a:solidFill>
              <a:srgbClr val="148A68"/>
            </a:solidFill>
            <a:prstDash val="solid"/>
          </a:ln>
        </p:spPr>
        <p:txBody>
          <a:bodyPr/>
          <a:lstStyle/>
          <a:p>
            <a:endParaRPr lang="en-US"/>
          </a:p>
        </p:txBody>
      </p:sp>
      <p:sp>
        <p:nvSpPr>
          <p:cNvPr id="59" name="Freeform: Shape 58">
            <a:extLst>
              <a:ext uri="{FF2B5EF4-FFF2-40B4-BE49-F238E27FC236}">
                <a16:creationId xmlns:a16="http://schemas.microsoft.com/office/drawing/2014/main" id="{A4714662-5663-446C-A2ED-4A7313B5F321}"/>
              </a:ext>
            </a:extLst>
          </p:cNvPr>
          <p:cNvSpPr>
            <a:spLocks noGrp="1"/>
          </p:cNvSpPr>
          <p:nvPr/>
        </p:nvSpPr>
        <p:spPr>
          <a:xfrm>
            <a:off x="10477500" y="2905125"/>
            <a:ext cx="953" cy="857250"/>
          </a:xfrm>
          <a:custGeom>
            <a:avLst/>
            <a:gdLst/>
            <a:ahLst/>
            <a:cxnLst/>
            <a:rect l="0" t="0" r="0" b="0"/>
            <a:pathLst>
              <a:path w="953" h="857250">
                <a:moveTo>
                  <a:pt x="0" y="857250"/>
                </a:moveTo>
                <a:lnTo>
                  <a:pt x="0" y="0"/>
                </a:lnTo>
              </a:path>
            </a:pathLst>
          </a:custGeom>
          <a:noFill/>
          <a:ln w="19050">
            <a:solidFill>
              <a:srgbClr val="148A68"/>
            </a:solidFill>
            <a:prstDash val="solid"/>
          </a:ln>
        </p:spPr>
        <p:txBody>
          <a:bodyPr/>
          <a:lstStyle/>
          <a:p>
            <a:endParaRPr lang="en-US"/>
          </a:p>
        </p:txBody>
      </p:sp>
      <p:sp>
        <p:nvSpPr>
          <p:cNvPr id="60" name="Oval 59">
            <a:extLst>
              <a:ext uri="{FF2B5EF4-FFF2-40B4-BE49-F238E27FC236}">
                <a16:creationId xmlns:a16="http://schemas.microsoft.com/office/drawing/2014/main" id="{1E3B06EA-1D0B-45EF-BA51-DB57CE7ABAC6}"/>
              </a:ext>
            </a:extLst>
          </p:cNvPr>
          <p:cNvSpPr>
            <a:spLocks noGrp="1"/>
          </p:cNvSpPr>
          <p:nvPr/>
        </p:nvSpPr>
        <p:spPr>
          <a:xfrm>
            <a:off x="8143875" y="4572000"/>
            <a:ext cx="95250" cy="95250"/>
          </a:xfrm>
          <a:prstGeom prst="ellipse">
            <a:avLst/>
          </a:prstGeom>
          <a:solidFill>
            <a:srgbClr val="11344E"/>
          </a:solidFill>
          <a:ln w="9525">
            <a:solidFill>
              <a:srgbClr val="FFFFFF"/>
            </a:solidFill>
          </a:ln>
        </p:spPr>
        <p:txBody>
          <a:bodyPr/>
          <a:lstStyle/>
          <a:p>
            <a:endParaRPr lang="en-US"/>
          </a:p>
        </p:txBody>
      </p:sp>
      <p:sp>
        <p:nvSpPr>
          <p:cNvPr id="61" name="Rectangle 60">
            <a:extLst>
              <a:ext uri="{FF2B5EF4-FFF2-40B4-BE49-F238E27FC236}">
                <a16:creationId xmlns:a16="http://schemas.microsoft.com/office/drawing/2014/main" id="{48142CCD-4681-40AA-B378-ABCFEC3A770E}"/>
              </a:ext>
            </a:extLst>
          </p:cNvPr>
          <p:cNvSpPr>
            <a:spLocks noGrp="1"/>
          </p:cNvSpPr>
          <p:nvPr/>
        </p:nvSpPr>
        <p:spPr>
          <a:xfrm>
            <a:off x="7953375" y="4286250"/>
            <a:ext cx="1666875" cy="304800"/>
          </a:xfrm>
          <a:prstGeom prst="rect">
            <a:avLst/>
          </a:prstGeom>
          <a:noFill/>
          <a:ln w="0">
            <a:noFill/>
          </a:ln>
        </p:spPr>
        <p:txBody>
          <a:bodyPr wrap="square" lIns="0" tIns="0" rIns="0" bIns="0" anchor="ctr">
            <a:noAutofit/>
          </a:bodyPr>
          <a:lstStyle/>
          <a:p>
            <a:pPr>
              <a:defRPr sz="1425" b="1">
                <a:solidFill>
                  <a:srgbClr val="11344E"/>
                </a:solidFill>
                <a:latin typeface="Arial"/>
                <a:ea typeface="Arial"/>
                <a:cs typeface="Arial"/>
              </a:defRPr>
            </a:pPr>
            <a:r>
              <a:rPr sz="1425" b="1">
                <a:solidFill>
                  <a:srgbClr val="11344E"/>
                </a:solidFill>
                <a:latin typeface="Arial"/>
                <a:ea typeface="Arial"/>
                <a:cs typeface="Arial"/>
              </a:rPr>
              <a:t>A</a:t>
            </a:r>
          </a:p>
        </p:txBody>
      </p:sp>
      <p:sp>
        <p:nvSpPr>
          <p:cNvPr id="62" name="Oval 61">
            <a:extLst>
              <a:ext uri="{FF2B5EF4-FFF2-40B4-BE49-F238E27FC236}">
                <a16:creationId xmlns:a16="http://schemas.microsoft.com/office/drawing/2014/main" id="{8848182A-B832-4E53-90B2-6194B5FEF16B}"/>
              </a:ext>
            </a:extLst>
          </p:cNvPr>
          <p:cNvSpPr>
            <a:spLocks noGrp="1"/>
          </p:cNvSpPr>
          <p:nvPr/>
        </p:nvSpPr>
        <p:spPr>
          <a:xfrm>
            <a:off x="10429875" y="2857500"/>
            <a:ext cx="95250" cy="95250"/>
          </a:xfrm>
          <a:prstGeom prst="ellipse">
            <a:avLst/>
          </a:prstGeom>
          <a:solidFill>
            <a:srgbClr val="11344E"/>
          </a:solidFill>
          <a:ln w="9525">
            <a:solidFill>
              <a:srgbClr val="FFFFFF"/>
            </a:solidFill>
          </a:ln>
        </p:spPr>
        <p:txBody>
          <a:bodyPr/>
          <a:lstStyle/>
          <a:p>
            <a:endParaRPr lang="en-US"/>
          </a:p>
        </p:txBody>
      </p:sp>
      <p:sp>
        <p:nvSpPr>
          <p:cNvPr id="63" name="Rectangle 62">
            <a:extLst>
              <a:ext uri="{FF2B5EF4-FFF2-40B4-BE49-F238E27FC236}">
                <a16:creationId xmlns:a16="http://schemas.microsoft.com/office/drawing/2014/main" id="{DA613CDA-E309-41B6-9C33-626A337D9BB8}"/>
              </a:ext>
            </a:extLst>
          </p:cNvPr>
          <p:cNvSpPr>
            <a:spLocks noGrp="1"/>
          </p:cNvSpPr>
          <p:nvPr/>
        </p:nvSpPr>
        <p:spPr>
          <a:xfrm>
            <a:off x="9858375" y="2562225"/>
            <a:ext cx="1666875" cy="304800"/>
          </a:xfrm>
          <a:prstGeom prst="rect">
            <a:avLst/>
          </a:prstGeom>
          <a:noFill/>
          <a:ln w="0">
            <a:noFill/>
          </a:ln>
        </p:spPr>
        <p:txBody>
          <a:bodyPr wrap="square" lIns="0" tIns="0" rIns="0" bIns="0" anchor="ctr">
            <a:noAutofit/>
          </a:bodyPr>
          <a:lstStyle/>
          <a:p>
            <a:pPr>
              <a:defRPr sz="1425" b="1">
                <a:solidFill>
                  <a:srgbClr val="11344E"/>
                </a:solidFill>
                <a:latin typeface="Arial"/>
                <a:ea typeface="Arial"/>
                <a:cs typeface="Arial"/>
              </a:defRPr>
            </a:pPr>
            <a:r>
              <a:rPr sz="1425" b="1">
                <a:solidFill>
                  <a:srgbClr val="11344E"/>
                </a:solidFill>
                <a:latin typeface="Arial"/>
                <a:ea typeface="Arial"/>
                <a:cs typeface="Arial"/>
              </a:rPr>
              <a:t>B (6, 7)</a:t>
            </a:r>
          </a:p>
        </p:txBody>
      </p:sp>
      <p:sp>
        <p:nvSpPr>
          <p:cNvPr id="64" name="Oval 63">
            <a:extLst>
              <a:ext uri="{FF2B5EF4-FFF2-40B4-BE49-F238E27FC236}">
                <a16:creationId xmlns:a16="http://schemas.microsoft.com/office/drawing/2014/main" id="{144AB43D-B0A8-4D0F-9E3C-221EE63FEF23}"/>
              </a:ext>
            </a:extLst>
          </p:cNvPr>
          <p:cNvSpPr>
            <a:spLocks noGrp="1"/>
          </p:cNvSpPr>
          <p:nvPr/>
        </p:nvSpPr>
        <p:spPr>
          <a:xfrm>
            <a:off x="9286875" y="3714750"/>
            <a:ext cx="95250" cy="95250"/>
          </a:xfrm>
          <a:prstGeom prst="ellipse">
            <a:avLst/>
          </a:prstGeom>
          <a:solidFill>
            <a:srgbClr val="148A68"/>
          </a:solidFill>
          <a:ln w="9525">
            <a:solidFill>
              <a:srgbClr val="FFFFFF"/>
            </a:solidFill>
          </a:ln>
        </p:spPr>
        <p:txBody>
          <a:bodyPr/>
          <a:lstStyle/>
          <a:p>
            <a:endParaRPr lang="en-US"/>
          </a:p>
        </p:txBody>
      </p:sp>
      <p:sp>
        <p:nvSpPr>
          <p:cNvPr id="65" name="Rectangle 64">
            <a:extLst>
              <a:ext uri="{FF2B5EF4-FFF2-40B4-BE49-F238E27FC236}">
                <a16:creationId xmlns:a16="http://schemas.microsoft.com/office/drawing/2014/main" id="{4308E2CB-D37C-4ED8-8CE4-11A0B4ED3415}"/>
              </a:ext>
            </a:extLst>
          </p:cNvPr>
          <p:cNvSpPr>
            <a:spLocks noGrp="1"/>
          </p:cNvSpPr>
          <p:nvPr/>
        </p:nvSpPr>
        <p:spPr>
          <a:xfrm>
            <a:off x="9105900" y="3429000"/>
            <a:ext cx="1666875" cy="304800"/>
          </a:xfrm>
          <a:prstGeom prst="rect">
            <a:avLst/>
          </a:prstGeom>
          <a:noFill/>
          <a:ln w="0">
            <a:noFill/>
          </a:ln>
        </p:spPr>
        <p:txBody>
          <a:bodyPr wrap="square" lIns="0" tIns="0" rIns="0" bIns="0" anchor="ctr">
            <a:noAutofit/>
          </a:bodyPr>
          <a:lstStyle/>
          <a:p>
            <a:pPr>
              <a:defRPr sz="1425" b="1">
                <a:solidFill>
                  <a:srgbClr val="148A68"/>
                </a:solidFill>
                <a:latin typeface="Arial"/>
                <a:ea typeface="Arial"/>
                <a:cs typeface="Arial"/>
              </a:defRPr>
            </a:pPr>
            <a:r>
              <a:rPr sz="1425" b="1">
                <a:solidFill>
                  <a:srgbClr val="148A68"/>
                </a:solidFill>
                <a:latin typeface="Arial"/>
                <a:ea typeface="Arial"/>
                <a:cs typeface="Arial"/>
              </a:rPr>
              <a:t>C</a:t>
            </a:r>
          </a:p>
        </p:txBody>
      </p:sp>
      <p:sp>
        <p:nvSpPr>
          <p:cNvPr id="66" name="Rectangle 65">
            <a:extLst>
              <a:ext uri="{FF2B5EF4-FFF2-40B4-BE49-F238E27FC236}">
                <a16:creationId xmlns:a16="http://schemas.microsoft.com/office/drawing/2014/main" id="{F54C359D-9830-4448-8A2F-3100AE529B4D}"/>
              </a:ext>
            </a:extLst>
          </p:cNvPr>
          <p:cNvSpPr>
            <a:spLocks noGrp="1"/>
          </p:cNvSpPr>
          <p:nvPr/>
        </p:nvSpPr>
        <p:spPr>
          <a:xfrm>
            <a:off x="9848850" y="3838575"/>
            <a:ext cx="333375" cy="266700"/>
          </a:xfrm>
          <a:prstGeom prst="rect">
            <a:avLst/>
          </a:prstGeom>
          <a:noFill/>
          <a:ln w="0">
            <a:noFill/>
          </a:ln>
        </p:spPr>
        <p:txBody>
          <a:bodyPr wrap="square" lIns="0" tIns="0" rIns="0" bIns="0" anchor="ctr">
            <a:noAutofit/>
          </a:bodyPr>
          <a:lstStyle/>
          <a:p>
            <a:pPr>
              <a:defRPr sz="1650" b="0">
                <a:solidFill>
                  <a:srgbClr val="148A68"/>
                </a:solidFill>
                <a:latin typeface="Arial"/>
                <a:ea typeface="Arial"/>
                <a:cs typeface="Arial"/>
              </a:defRPr>
            </a:pPr>
            <a:r>
              <a:rPr sz="1650" b="0">
                <a:solidFill>
                  <a:srgbClr val="148A68"/>
                </a:solidFill>
                <a:latin typeface="Arial"/>
                <a:ea typeface="Arial"/>
                <a:cs typeface="Arial"/>
              </a:rPr>
              <a:t>4</a:t>
            </a:r>
          </a:p>
        </p:txBody>
      </p:sp>
      <p:sp>
        <p:nvSpPr>
          <p:cNvPr id="67" name="Rectangle 66">
            <a:extLst>
              <a:ext uri="{FF2B5EF4-FFF2-40B4-BE49-F238E27FC236}">
                <a16:creationId xmlns:a16="http://schemas.microsoft.com/office/drawing/2014/main" id="{A294723B-DB23-4DAE-BEDC-ADD5B3C15853}"/>
              </a:ext>
            </a:extLst>
          </p:cNvPr>
          <p:cNvSpPr>
            <a:spLocks noGrp="1"/>
          </p:cNvSpPr>
          <p:nvPr/>
        </p:nvSpPr>
        <p:spPr>
          <a:xfrm>
            <a:off x="10563225" y="3209925"/>
            <a:ext cx="333375" cy="266700"/>
          </a:xfrm>
          <a:prstGeom prst="rect">
            <a:avLst/>
          </a:prstGeom>
          <a:noFill/>
          <a:ln w="0">
            <a:noFill/>
          </a:ln>
        </p:spPr>
        <p:txBody>
          <a:bodyPr wrap="square" lIns="0" tIns="0" rIns="0" bIns="0" anchor="ctr">
            <a:noAutofit/>
          </a:bodyPr>
          <a:lstStyle/>
          <a:p>
            <a:pPr>
              <a:defRPr sz="1650" b="0">
                <a:solidFill>
                  <a:srgbClr val="148A68"/>
                </a:solidFill>
                <a:latin typeface="Arial"/>
                <a:ea typeface="Arial"/>
                <a:cs typeface="Arial"/>
              </a:defRPr>
            </a:pPr>
            <a:r>
              <a:rPr sz="1650" b="0">
                <a:solidFill>
                  <a:srgbClr val="148A68"/>
                </a:solidFill>
                <a:latin typeface="Arial"/>
                <a:ea typeface="Arial"/>
                <a:cs typeface="Arial"/>
              </a:rPr>
              <a:t>3</a:t>
            </a:r>
          </a:p>
        </p:txBody>
      </p:sp>
      <p:sp>
        <p:nvSpPr>
          <p:cNvPr id="68" name="Rectangle 67">
            <a:extLst>
              <a:ext uri="{FF2B5EF4-FFF2-40B4-BE49-F238E27FC236}">
                <a16:creationId xmlns:a16="http://schemas.microsoft.com/office/drawing/2014/main" id="{46CB76E1-913C-4801-AA04-92C7ED4FB10C}"/>
              </a:ext>
            </a:extLst>
          </p:cNvPr>
          <p:cNvSpPr>
            <a:spLocks noGrp="1"/>
          </p:cNvSpPr>
          <p:nvPr/>
        </p:nvSpPr>
        <p:spPr>
          <a:xfrm>
            <a:off x="7715250" y="5657850"/>
            <a:ext cx="3619500" cy="381000"/>
          </a:xfrm>
          <a:prstGeom prst="rect">
            <a:avLst/>
          </a:prstGeom>
          <a:noFill/>
          <a:ln w="0">
            <a:noFill/>
          </a:ln>
        </p:spPr>
        <p:txBody>
          <a:bodyPr wrap="square" lIns="0" tIns="0" rIns="0" bIns="0" anchor="ctr">
            <a:noAutofit/>
          </a:bodyPr>
          <a:lstStyle/>
          <a:p>
            <a:pPr>
              <a:defRPr sz="1875" b="1">
                <a:solidFill>
                  <a:srgbClr val="1777B4"/>
                </a:solidFill>
                <a:latin typeface="Arial"/>
                <a:ea typeface="Arial"/>
                <a:cs typeface="Arial"/>
              </a:defRPr>
            </a:pPr>
            <a:r>
              <a:rPr sz="1875" b="1">
                <a:solidFill>
                  <a:srgbClr val="1777B4"/>
                </a:solidFill>
                <a:latin typeface="Arial"/>
                <a:ea typeface="Arial"/>
                <a:cs typeface="Arial"/>
              </a:rPr>
              <a:t>Radius 5; diameter 10</a:t>
            </a:r>
          </a:p>
        </p:txBody>
      </p:sp>
    </p:spTree>
    <p:extLst>
      <p:ext uri="{BB962C8B-B14F-4D97-AF65-F5344CB8AC3E}">
        <p14:creationId xmlns:p14="http://schemas.microsoft.com/office/powerpoint/2010/main" val="73411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554FAC-B630-4B08-A451-785C4A1413DE}"/>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Practice: circle equations</a:t>
            </a:r>
          </a:p>
        </p:txBody>
      </p:sp>
      <p:sp>
        <p:nvSpPr>
          <p:cNvPr id="2" name="Rectangle 1">
            <a:extLst>
              <a:ext uri="{FF2B5EF4-FFF2-40B4-BE49-F238E27FC236}">
                <a16:creationId xmlns:a16="http://schemas.microsoft.com/office/drawing/2014/main" id="{81024B86-8D07-4AE1-9E5A-48142044C19F}"/>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3 minutes. Identify the center and r² before writing the equation.</a:t>
            </a:r>
          </a:p>
        </p:txBody>
      </p:sp>
      <p:sp>
        <p:nvSpPr>
          <p:cNvPr id="3" name="Rectangle 2">
            <a:extLst>
              <a:ext uri="{FF2B5EF4-FFF2-40B4-BE49-F238E27FC236}">
                <a16:creationId xmlns:a16="http://schemas.microsoft.com/office/drawing/2014/main" id="{C04D19C6-43FE-4297-BE8B-2874EE8DFD48}"/>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15</a:t>
            </a:r>
          </a:p>
        </p:txBody>
      </p:sp>
      <p:sp>
        <p:nvSpPr>
          <p:cNvPr id="4" name="Rectangle 3">
            <a:extLst>
              <a:ext uri="{FF2B5EF4-FFF2-40B4-BE49-F238E27FC236}">
                <a16:creationId xmlns:a16="http://schemas.microsoft.com/office/drawing/2014/main" id="{49A38A01-5F06-47B4-A1C6-017D94A8CE18}"/>
              </a:ext>
            </a:extLst>
          </p:cNvPr>
          <p:cNvSpPr>
            <a:spLocks noGrp="1"/>
          </p:cNvSpPr>
          <p:nvPr/>
        </p:nvSpPr>
        <p:spPr>
          <a:xfrm>
            <a:off x="762000" y="2066925"/>
            <a:ext cx="10668000" cy="108585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A. Center (−1, 2), through the point (2, 6).</a:t>
            </a:r>
          </a:p>
        </p:txBody>
      </p:sp>
      <p:sp>
        <p:nvSpPr>
          <p:cNvPr id="5" name="Rectangle 4">
            <a:extLst>
              <a:ext uri="{FF2B5EF4-FFF2-40B4-BE49-F238E27FC236}">
                <a16:creationId xmlns:a16="http://schemas.microsoft.com/office/drawing/2014/main" id="{52651CED-85EC-471E-900B-4D1731904446}"/>
              </a:ext>
            </a:extLst>
          </p:cNvPr>
          <p:cNvSpPr>
            <a:spLocks noGrp="1"/>
          </p:cNvSpPr>
          <p:nvPr/>
        </p:nvSpPr>
        <p:spPr>
          <a:xfrm>
            <a:off x="762000" y="3267075"/>
            <a:ext cx="10668000" cy="108585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B. Diameter endpoints (−1, −3) and (5, 5).</a:t>
            </a:r>
          </a:p>
        </p:txBody>
      </p:sp>
      <p:sp>
        <p:nvSpPr>
          <p:cNvPr id="6" name="Rectangle 5">
            <a:extLst>
              <a:ext uri="{FF2B5EF4-FFF2-40B4-BE49-F238E27FC236}">
                <a16:creationId xmlns:a16="http://schemas.microsoft.com/office/drawing/2014/main" id="{8A4B72C9-A2E5-4E0F-AE74-DA11557DFC7C}"/>
              </a:ext>
            </a:extLst>
          </p:cNvPr>
          <p:cNvSpPr>
            <a:spLocks noGrp="1"/>
          </p:cNvSpPr>
          <p:nvPr/>
        </p:nvSpPr>
        <p:spPr>
          <a:xfrm>
            <a:off x="762000" y="4467225"/>
            <a:ext cx="10668000" cy="108585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For each circle: write its equation and state the radius.</a:t>
            </a:r>
          </a:p>
        </p:txBody>
      </p:sp>
    </p:spTree>
    <p:extLst>
      <p:ext uri="{BB962C8B-B14F-4D97-AF65-F5344CB8AC3E}">
        <p14:creationId xmlns:p14="http://schemas.microsoft.com/office/powerpoint/2010/main" val="1583135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78A272-5250-4A55-95AF-23C42C95E83A}"/>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Practice: circle solutions</a:t>
            </a:r>
          </a:p>
        </p:txBody>
      </p:sp>
      <p:sp>
        <p:nvSpPr>
          <p:cNvPr id="2" name="Rectangle 1">
            <a:extLst>
              <a:ext uri="{FF2B5EF4-FFF2-40B4-BE49-F238E27FC236}">
                <a16:creationId xmlns:a16="http://schemas.microsoft.com/office/drawing/2014/main" id="{527C13D9-9F98-43CE-9238-C6813CD21BE0}"/>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The right side of the equation is r²</a:t>
            </a:r>
          </a:p>
        </p:txBody>
      </p:sp>
      <p:sp>
        <p:nvSpPr>
          <p:cNvPr id="3" name="Rectangle 2">
            <a:extLst>
              <a:ext uri="{FF2B5EF4-FFF2-40B4-BE49-F238E27FC236}">
                <a16:creationId xmlns:a16="http://schemas.microsoft.com/office/drawing/2014/main" id="{4AC6FB83-83EF-4E46-91CF-B88627DD3DD9}"/>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16</a:t>
            </a:r>
          </a:p>
        </p:txBody>
      </p:sp>
      <p:sp>
        <p:nvSpPr>
          <p:cNvPr id="4" name="Rectangle 3">
            <a:extLst>
              <a:ext uri="{FF2B5EF4-FFF2-40B4-BE49-F238E27FC236}">
                <a16:creationId xmlns:a16="http://schemas.microsoft.com/office/drawing/2014/main" id="{F5723B48-72A5-45A8-AFC4-C17B9EB4EF47}"/>
              </a:ext>
            </a:extLst>
          </p:cNvPr>
          <p:cNvSpPr>
            <a:spLocks noGrp="1"/>
          </p:cNvSpPr>
          <p:nvPr/>
        </p:nvSpPr>
        <p:spPr>
          <a:xfrm>
            <a:off x="762000" y="1933575"/>
            <a:ext cx="10668000" cy="847725"/>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A.  r² = (2 + 1)² + (6 − 2)² = 25</a:t>
            </a:r>
          </a:p>
        </p:txBody>
      </p:sp>
      <p:sp>
        <p:nvSpPr>
          <p:cNvPr id="5" name="Rectangle 4">
            <a:extLst>
              <a:ext uri="{FF2B5EF4-FFF2-40B4-BE49-F238E27FC236}">
                <a16:creationId xmlns:a16="http://schemas.microsoft.com/office/drawing/2014/main" id="{6EC21823-6BED-4FD8-BFC7-34D0995675D1}"/>
              </a:ext>
            </a:extLst>
          </p:cNvPr>
          <p:cNvSpPr>
            <a:spLocks noGrp="1"/>
          </p:cNvSpPr>
          <p:nvPr/>
        </p:nvSpPr>
        <p:spPr>
          <a:xfrm>
            <a:off x="762000" y="2895600"/>
            <a:ext cx="10668000" cy="847725"/>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     (x + 1)² + (y − 2)² = 25,    r = 5</a:t>
            </a:r>
          </a:p>
        </p:txBody>
      </p:sp>
      <p:sp>
        <p:nvSpPr>
          <p:cNvPr id="6" name="Rectangle 5">
            <a:extLst>
              <a:ext uri="{FF2B5EF4-FFF2-40B4-BE49-F238E27FC236}">
                <a16:creationId xmlns:a16="http://schemas.microsoft.com/office/drawing/2014/main" id="{88A05B49-9168-4170-AC1F-DE0CD6C80FA9}"/>
              </a:ext>
            </a:extLst>
          </p:cNvPr>
          <p:cNvSpPr>
            <a:spLocks noGrp="1"/>
          </p:cNvSpPr>
          <p:nvPr/>
        </p:nvSpPr>
        <p:spPr>
          <a:xfrm>
            <a:off x="762000" y="3857625"/>
            <a:ext cx="10668000" cy="847725"/>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B.  Center = ((−1 + 5)/2, (−3 + 5)/2) = (2, 1)</a:t>
            </a:r>
          </a:p>
        </p:txBody>
      </p:sp>
      <p:sp>
        <p:nvSpPr>
          <p:cNvPr id="7" name="Rectangle 6">
            <a:extLst>
              <a:ext uri="{FF2B5EF4-FFF2-40B4-BE49-F238E27FC236}">
                <a16:creationId xmlns:a16="http://schemas.microsoft.com/office/drawing/2014/main" id="{EF8B987B-7010-4DB1-84BA-29997B28E85C}"/>
              </a:ext>
            </a:extLst>
          </p:cNvPr>
          <p:cNvSpPr>
            <a:spLocks noGrp="1"/>
          </p:cNvSpPr>
          <p:nvPr/>
        </p:nvSpPr>
        <p:spPr>
          <a:xfrm>
            <a:off x="762000" y="4819650"/>
            <a:ext cx="10668000" cy="847725"/>
          </a:xfrm>
          <a:prstGeom prst="rect">
            <a:avLst/>
          </a:prstGeom>
          <a:noFill/>
          <a:ln w="0">
            <a:noFill/>
          </a:ln>
        </p:spPr>
        <p:txBody>
          <a:bodyPr wrap="square" lIns="0" tIns="0" rIns="0" bIns="0" anchor="ctr">
            <a:noAutofit/>
          </a:bodyPr>
          <a:lstStyle/>
          <a:p>
            <a:pPr>
              <a:defRPr sz="2625" b="0">
                <a:solidFill>
                  <a:srgbClr val="11344E"/>
                </a:solidFill>
                <a:latin typeface="Cambria Math"/>
                <a:ea typeface="Cambria Math"/>
                <a:cs typeface="Cambria Math"/>
              </a:defRPr>
            </a:pPr>
            <a:r>
              <a:rPr sz="2625" b="0">
                <a:solidFill>
                  <a:srgbClr val="11344E"/>
                </a:solidFill>
                <a:latin typeface="Cambria Math"/>
                <a:ea typeface="Cambria Math"/>
                <a:cs typeface="Cambria Math"/>
              </a:rPr>
              <a:t>     (x − 2)² + (y − 1)² = 25,    r = 5</a:t>
            </a:r>
          </a:p>
        </p:txBody>
      </p:sp>
    </p:spTree>
    <p:extLst>
      <p:ext uri="{BB962C8B-B14F-4D97-AF65-F5344CB8AC3E}">
        <p14:creationId xmlns:p14="http://schemas.microsoft.com/office/powerpoint/2010/main" val="1525990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C090F8-22D3-4CF0-9ECA-CBA69877BC34}"/>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Mixed review: choosing a method</a:t>
            </a:r>
          </a:p>
        </p:txBody>
      </p:sp>
      <p:sp>
        <p:nvSpPr>
          <p:cNvPr id="2" name="Rectangle 1">
            <a:extLst>
              <a:ext uri="{FF2B5EF4-FFF2-40B4-BE49-F238E27FC236}">
                <a16:creationId xmlns:a16="http://schemas.microsoft.com/office/drawing/2014/main" id="{93FA3DA9-0C5A-4CCC-8114-F71F623A4C10}"/>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Part 3: use the question to choose your first step</a:t>
            </a:r>
          </a:p>
        </p:txBody>
      </p:sp>
      <p:sp>
        <p:nvSpPr>
          <p:cNvPr id="3" name="Rectangle 2">
            <a:extLst>
              <a:ext uri="{FF2B5EF4-FFF2-40B4-BE49-F238E27FC236}">
                <a16:creationId xmlns:a16="http://schemas.microsoft.com/office/drawing/2014/main" id="{622E76DF-2174-41AA-B0DA-293E35AB49E2}"/>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17</a:t>
            </a:r>
          </a:p>
        </p:txBody>
      </p:sp>
      <p:sp>
        <p:nvSpPr>
          <p:cNvPr id="4" name="Rectangle 3">
            <a:extLst>
              <a:ext uri="{FF2B5EF4-FFF2-40B4-BE49-F238E27FC236}">
                <a16:creationId xmlns:a16="http://schemas.microsoft.com/office/drawing/2014/main" id="{1DFABC73-F7B6-4410-9662-BF9ECBB3166B}"/>
              </a:ext>
            </a:extLst>
          </p:cNvPr>
          <p:cNvSpPr>
            <a:spLocks noGrp="1"/>
          </p:cNvSpPr>
          <p:nvPr/>
        </p:nvSpPr>
        <p:spPr>
          <a:xfrm>
            <a:off x="762000" y="1857375"/>
            <a:ext cx="10668000" cy="704850"/>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Solve a quadratic equation: write zero on one side, then factor.</a:t>
            </a:r>
          </a:p>
        </p:txBody>
      </p:sp>
      <p:sp>
        <p:nvSpPr>
          <p:cNvPr id="5" name="Rectangle 4">
            <a:extLst>
              <a:ext uri="{FF2B5EF4-FFF2-40B4-BE49-F238E27FC236}">
                <a16:creationId xmlns:a16="http://schemas.microsoft.com/office/drawing/2014/main" id="{516F714C-56E7-4A1F-9F10-89A977FF98D7}"/>
              </a:ext>
            </a:extLst>
          </p:cNvPr>
          <p:cNvSpPr>
            <a:spLocks noGrp="1"/>
          </p:cNvSpPr>
          <p:nvPr/>
        </p:nvSpPr>
        <p:spPr>
          <a:xfrm>
            <a:off x="762000" y="2676525"/>
            <a:ext cx="10668000" cy="704850"/>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If factoring is unhelpful: complete the square or use the formula.</a:t>
            </a:r>
          </a:p>
        </p:txBody>
      </p:sp>
      <p:sp>
        <p:nvSpPr>
          <p:cNvPr id="6" name="Rectangle 5">
            <a:extLst>
              <a:ext uri="{FF2B5EF4-FFF2-40B4-BE49-F238E27FC236}">
                <a16:creationId xmlns:a16="http://schemas.microsoft.com/office/drawing/2014/main" id="{93F511EB-565D-4A25-8513-0C944F469F99}"/>
              </a:ext>
            </a:extLst>
          </p:cNvPr>
          <p:cNvSpPr>
            <a:spLocks noGrp="1"/>
          </p:cNvSpPr>
          <p:nvPr/>
        </p:nvSpPr>
        <p:spPr>
          <a:xfrm>
            <a:off x="762000" y="3495675"/>
            <a:ext cx="10668000" cy="704850"/>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Add rational expressions: identify restrictions and find the LCD.</a:t>
            </a:r>
          </a:p>
        </p:txBody>
      </p:sp>
      <p:sp>
        <p:nvSpPr>
          <p:cNvPr id="7" name="Rectangle 6">
            <a:extLst>
              <a:ext uri="{FF2B5EF4-FFF2-40B4-BE49-F238E27FC236}">
                <a16:creationId xmlns:a16="http://schemas.microsoft.com/office/drawing/2014/main" id="{3AB519D0-C4CE-4410-AF85-78A990F86D4B}"/>
              </a:ext>
            </a:extLst>
          </p:cNvPr>
          <p:cNvSpPr>
            <a:spLocks noGrp="1"/>
          </p:cNvSpPr>
          <p:nvPr/>
        </p:nvSpPr>
        <p:spPr>
          <a:xfrm>
            <a:off x="762000" y="4314825"/>
            <a:ext cx="10668000" cy="704850"/>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Find an x-intercept: set y = 0. Find a y-intercept: set x = 0.</a:t>
            </a:r>
          </a:p>
        </p:txBody>
      </p:sp>
      <p:sp>
        <p:nvSpPr>
          <p:cNvPr id="8" name="Rectangle 7">
            <a:extLst>
              <a:ext uri="{FF2B5EF4-FFF2-40B4-BE49-F238E27FC236}">
                <a16:creationId xmlns:a16="http://schemas.microsoft.com/office/drawing/2014/main" id="{3DD855BE-4DD6-49DF-B764-A819DDA6C67A}"/>
              </a:ext>
            </a:extLst>
          </p:cNvPr>
          <p:cNvSpPr>
            <a:spLocks noGrp="1"/>
          </p:cNvSpPr>
          <p:nvPr/>
        </p:nvSpPr>
        <p:spPr>
          <a:xfrm>
            <a:off x="762000" y="5133975"/>
            <a:ext cx="10668000" cy="704850"/>
          </a:xfrm>
          <a:prstGeom prst="rect">
            <a:avLst/>
          </a:prstGeom>
          <a:noFill/>
          <a:ln w="0">
            <a:noFill/>
          </a:ln>
        </p:spPr>
        <p:txBody>
          <a:bodyPr wrap="square" lIns="0" tIns="0" rIns="0" bIns="0" anchor="ctr">
            <a:noAutofit/>
          </a:bodyPr>
          <a:lstStyle/>
          <a:p>
            <a:pPr>
              <a:defRPr sz="2175" b="0">
                <a:solidFill>
                  <a:srgbClr val="11344E"/>
                </a:solidFill>
                <a:latin typeface="Arial"/>
                <a:ea typeface="Arial"/>
                <a:cs typeface="Arial"/>
              </a:defRPr>
            </a:pPr>
            <a:r>
              <a:rPr sz="2175" b="0">
                <a:solidFill>
                  <a:srgbClr val="11344E"/>
                </a:solidFill>
                <a:latin typeface="Arial"/>
                <a:ea typeface="Arial"/>
                <a:cs typeface="Arial"/>
              </a:rPr>
              <a:t>After solving: check restrictions and the requested answer form.</a:t>
            </a:r>
          </a:p>
        </p:txBody>
      </p:sp>
    </p:spTree>
    <p:extLst>
      <p:ext uri="{BB962C8B-B14F-4D97-AF65-F5344CB8AC3E}">
        <p14:creationId xmlns:p14="http://schemas.microsoft.com/office/powerpoint/2010/main" val="120105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51B627D-64EB-4359-9F4F-59F68576B006}"/>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Cumulative Test 1 practice</a:t>
            </a:r>
          </a:p>
        </p:txBody>
      </p:sp>
      <p:sp>
        <p:nvSpPr>
          <p:cNvPr id="2" name="Rectangle 1">
            <a:extLst>
              <a:ext uri="{FF2B5EF4-FFF2-40B4-BE49-F238E27FC236}">
                <a16:creationId xmlns:a16="http://schemas.microsoft.com/office/drawing/2014/main" id="{5FC1B3D1-EE42-40BC-88AA-4C1D3FA7E511}"/>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4 minutes. Show work before comparing answers.</a:t>
            </a:r>
          </a:p>
        </p:txBody>
      </p:sp>
      <p:sp>
        <p:nvSpPr>
          <p:cNvPr id="3" name="Rectangle 2">
            <a:extLst>
              <a:ext uri="{FF2B5EF4-FFF2-40B4-BE49-F238E27FC236}">
                <a16:creationId xmlns:a16="http://schemas.microsoft.com/office/drawing/2014/main" id="{B8863FF4-5FB1-4FF0-921C-B5101B7B71BD}"/>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18</a:t>
            </a:r>
          </a:p>
        </p:txBody>
      </p:sp>
      <p:sp>
        <p:nvSpPr>
          <p:cNvPr id="4" name="Rectangle 3">
            <a:extLst>
              <a:ext uri="{FF2B5EF4-FFF2-40B4-BE49-F238E27FC236}">
                <a16:creationId xmlns:a16="http://schemas.microsoft.com/office/drawing/2014/main" id="{3F92A5EF-2B87-4C40-97F5-7CF70E0ECA8B}"/>
              </a:ext>
            </a:extLst>
          </p:cNvPr>
          <p:cNvSpPr>
            <a:spLocks noGrp="1"/>
          </p:cNvSpPr>
          <p:nvPr/>
        </p:nvSpPr>
        <p:spPr>
          <a:xfrm>
            <a:off x="714375" y="2009775"/>
            <a:ext cx="476250" cy="428625"/>
          </a:xfrm>
          <a:prstGeom prst="rect">
            <a:avLst/>
          </a:prstGeom>
          <a:noFill/>
          <a:ln w="0">
            <a:noFill/>
          </a:ln>
        </p:spPr>
        <p:txBody>
          <a:bodyPr wrap="square" lIns="0" tIns="0" rIns="0" bIns="0" anchor="ctr">
            <a:noAutofit/>
          </a:bodyPr>
          <a:lstStyle/>
          <a:p>
            <a:pPr>
              <a:defRPr sz="2250" b="1">
                <a:solidFill>
                  <a:srgbClr val="1777B4"/>
                </a:solidFill>
                <a:latin typeface="Arial"/>
                <a:ea typeface="Arial"/>
                <a:cs typeface="Arial"/>
              </a:defRPr>
            </a:pPr>
            <a:r>
              <a:rPr sz="2250" b="1">
                <a:solidFill>
                  <a:srgbClr val="1777B4"/>
                </a:solidFill>
                <a:latin typeface="Arial"/>
                <a:ea typeface="Arial"/>
                <a:cs typeface="Arial"/>
              </a:rPr>
              <a:t>1</a:t>
            </a:r>
          </a:p>
        </p:txBody>
      </p:sp>
      <p:sp>
        <p:nvSpPr>
          <p:cNvPr id="5" name="Rectangle 4">
            <a:extLst>
              <a:ext uri="{FF2B5EF4-FFF2-40B4-BE49-F238E27FC236}">
                <a16:creationId xmlns:a16="http://schemas.microsoft.com/office/drawing/2014/main" id="{432F4883-27D6-4885-A9AD-7A1645835F17}"/>
              </a:ext>
            </a:extLst>
          </p:cNvPr>
          <p:cNvSpPr>
            <a:spLocks noGrp="1"/>
          </p:cNvSpPr>
          <p:nvPr/>
        </p:nvSpPr>
        <p:spPr>
          <a:xfrm>
            <a:off x="1381125" y="1905000"/>
            <a:ext cx="9906000" cy="609600"/>
          </a:xfrm>
          <a:prstGeom prst="rect">
            <a:avLst/>
          </a:prstGeom>
          <a:noFill/>
          <a:ln w="0">
            <a:noFill/>
          </a:ln>
        </p:spPr>
        <p:txBody>
          <a:bodyPr wrap="square" lIns="0" tIns="0" rIns="0" bIns="0" anchor="ctr">
            <a:noAutofit/>
          </a:bodyPr>
          <a:lstStyle/>
          <a:p>
            <a:pPr>
              <a:defRPr sz="2925" b="0">
                <a:solidFill>
                  <a:srgbClr val="11344E"/>
                </a:solidFill>
                <a:latin typeface="Cambria Math"/>
                <a:ea typeface="Cambria Math"/>
                <a:cs typeface="Cambria Math"/>
              </a:defRPr>
            </a:pPr>
            <a:r>
              <a:rPr sz="2925" b="0">
                <a:solidFill>
                  <a:srgbClr val="11344E"/>
                </a:solidFill>
                <a:latin typeface="Cambria Math"/>
                <a:ea typeface="Cambria Math"/>
                <a:cs typeface="Cambria Math"/>
              </a:rPr>
              <a:t>Solve: 2x² − 5x − 3 = 0</a:t>
            </a:r>
          </a:p>
        </p:txBody>
      </p:sp>
      <p:sp>
        <p:nvSpPr>
          <p:cNvPr id="6" name="Rectangle 5">
            <a:extLst>
              <a:ext uri="{FF2B5EF4-FFF2-40B4-BE49-F238E27FC236}">
                <a16:creationId xmlns:a16="http://schemas.microsoft.com/office/drawing/2014/main" id="{85C58B6D-5418-4422-BDD8-F0C7A2972AC5}"/>
              </a:ext>
            </a:extLst>
          </p:cNvPr>
          <p:cNvSpPr>
            <a:spLocks noGrp="1"/>
          </p:cNvSpPr>
          <p:nvPr/>
        </p:nvSpPr>
        <p:spPr>
          <a:xfrm>
            <a:off x="714375" y="3190875"/>
            <a:ext cx="476250" cy="428625"/>
          </a:xfrm>
          <a:prstGeom prst="rect">
            <a:avLst/>
          </a:prstGeom>
          <a:noFill/>
          <a:ln w="0">
            <a:noFill/>
          </a:ln>
        </p:spPr>
        <p:txBody>
          <a:bodyPr wrap="square" lIns="0" tIns="0" rIns="0" bIns="0" anchor="ctr">
            <a:noAutofit/>
          </a:bodyPr>
          <a:lstStyle/>
          <a:p>
            <a:pPr>
              <a:defRPr sz="2250" b="1">
                <a:solidFill>
                  <a:srgbClr val="1777B4"/>
                </a:solidFill>
                <a:latin typeface="Arial"/>
                <a:ea typeface="Arial"/>
                <a:cs typeface="Arial"/>
              </a:defRPr>
            </a:pPr>
            <a:r>
              <a:rPr sz="2250" b="1">
                <a:solidFill>
                  <a:srgbClr val="1777B4"/>
                </a:solidFill>
                <a:latin typeface="Arial"/>
                <a:ea typeface="Arial"/>
                <a:cs typeface="Arial"/>
              </a:rPr>
              <a:t>2</a:t>
            </a:r>
          </a:p>
        </p:txBody>
      </p:sp>
      <p:sp>
        <p:nvSpPr>
          <p:cNvPr id="7" name="Rectangle 6">
            <a:extLst>
              <a:ext uri="{FF2B5EF4-FFF2-40B4-BE49-F238E27FC236}">
                <a16:creationId xmlns:a16="http://schemas.microsoft.com/office/drawing/2014/main" id="{2573C704-5927-4708-B64F-0CBAD27A3B51}"/>
              </a:ext>
            </a:extLst>
          </p:cNvPr>
          <p:cNvSpPr>
            <a:spLocks noGrp="1"/>
          </p:cNvSpPr>
          <p:nvPr/>
        </p:nvSpPr>
        <p:spPr>
          <a:xfrm>
            <a:off x="1381125" y="3238500"/>
            <a:ext cx="1476375" cy="476250"/>
          </a:xfrm>
          <a:prstGeom prst="rect">
            <a:avLst/>
          </a:prstGeom>
          <a:noFill/>
          <a:ln w="0">
            <a:noFill/>
          </a:ln>
        </p:spPr>
        <p:txBody>
          <a:bodyPr wrap="square" lIns="0" tIns="0" rIns="0" bIns="0" anchor="ctr">
            <a:noAutofit/>
          </a:bodyPr>
          <a:lstStyle/>
          <a:p>
            <a:pPr>
              <a:defRPr sz="2400" b="0">
                <a:solidFill>
                  <a:srgbClr val="11344E"/>
                </a:solidFill>
                <a:latin typeface="Arial"/>
                <a:ea typeface="Arial"/>
                <a:cs typeface="Arial"/>
              </a:defRPr>
            </a:pPr>
            <a:r>
              <a:rPr sz="2400" b="0">
                <a:solidFill>
                  <a:srgbClr val="11344E"/>
                </a:solidFill>
                <a:latin typeface="Arial"/>
                <a:ea typeface="Arial"/>
                <a:cs typeface="Arial"/>
              </a:rPr>
              <a:t>Simplify:</a:t>
            </a:r>
          </a:p>
        </p:txBody>
      </p:sp>
      <p:sp>
        <p:nvSpPr>
          <p:cNvPr id="8" name="Rectangle 7">
            <a:extLst>
              <a:ext uri="{FF2B5EF4-FFF2-40B4-BE49-F238E27FC236}">
                <a16:creationId xmlns:a16="http://schemas.microsoft.com/office/drawing/2014/main" id="{FEE67B43-BE00-4E37-A6EC-2CC68C0F00BF}"/>
              </a:ext>
            </a:extLst>
          </p:cNvPr>
          <p:cNvSpPr>
            <a:spLocks noGrp="1"/>
          </p:cNvSpPr>
          <p:nvPr/>
        </p:nvSpPr>
        <p:spPr>
          <a:xfrm>
            <a:off x="3095625" y="2886075"/>
            <a:ext cx="1047750" cy="609600"/>
          </a:xfrm>
          <a:prstGeom prst="rect">
            <a:avLst/>
          </a:prstGeom>
          <a:noFill/>
          <a:ln w="0">
            <a:noFill/>
          </a:ln>
        </p:spPr>
        <p:txBody>
          <a:bodyPr wrap="square" lIns="0" tIns="0" rIns="0" bIns="0" anchor="ctr">
            <a:noAutofit/>
          </a:bodyPr>
          <a:lstStyle/>
          <a:p>
            <a:pPr algn="ct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2</a:t>
            </a:r>
          </a:p>
        </p:txBody>
      </p:sp>
      <p:sp>
        <p:nvSpPr>
          <p:cNvPr id="9" name="Rectangle 8">
            <a:extLst>
              <a:ext uri="{FF2B5EF4-FFF2-40B4-BE49-F238E27FC236}">
                <a16:creationId xmlns:a16="http://schemas.microsoft.com/office/drawing/2014/main" id="{44451BA1-0418-4EA3-98B1-B7496D6192D1}"/>
              </a:ext>
            </a:extLst>
          </p:cNvPr>
          <p:cNvSpPr>
            <a:spLocks noGrp="1"/>
          </p:cNvSpPr>
          <p:nvPr/>
        </p:nvSpPr>
        <p:spPr>
          <a:xfrm>
            <a:off x="3095625" y="3305175"/>
            <a:ext cx="1047750" cy="609600"/>
          </a:xfrm>
          <a:prstGeom prst="rect">
            <a:avLst/>
          </a:prstGeom>
          <a:noFill/>
          <a:ln w="0">
            <a:noFill/>
          </a:ln>
        </p:spPr>
        <p:txBody>
          <a:bodyPr wrap="square" lIns="0" tIns="0" rIns="0" bIns="0" anchor="ctr">
            <a:noAutofit/>
          </a:bodyPr>
          <a:lstStyle/>
          <a:p>
            <a:pPr algn="ct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x − 1</a:t>
            </a:r>
          </a:p>
        </p:txBody>
      </p:sp>
      <p:sp>
        <p:nvSpPr>
          <p:cNvPr id="10" name="Freeform: Shape 9">
            <a:extLst>
              <a:ext uri="{FF2B5EF4-FFF2-40B4-BE49-F238E27FC236}">
                <a16:creationId xmlns:a16="http://schemas.microsoft.com/office/drawing/2014/main" id="{724F39FF-9A86-498A-AD4F-027F1D888618}"/>
              </a:ext>
            </a:extLst>
          </p:cNvPr>
          <p:cNvSpPr>
            <a:spLocks noGrp="1"/>
          </p:cNvSpPr>
          <p:nvPr/>
        </p:nvSpPr>
        <p:spPr>
          <a:xfrm>
            <a:off x="3095625" y="3429000"/>
            <a:ext cx="1047750" cy="953"/>
          </a:xfrm>
          <a:custGeom>
            <a:avLst/>
            <a:gdLst/>
            <a:ahLst/>
            <a:cxnLst/>
            <a:rect l="0" t="0" r="0" b="0"/>
            <a:pathLst>
              <a:path w="1047750" h="953">
                <a:moveTo>
                  <a:pt x="0" y="0"/>
                </a:moveTo>
                <a:lnTo>
                  <a:pt x="1047750" y="0"/>
                </a:lnTo>
              </a:path>
            </a:pathLst>
          </a:custGeom>
          <a:noFill/>
          <a:ln w="15240">
            <a:solidFill>
              <a:srgbClr val="11344E"/>
            </a:solidFill>
            <a:prstDash val="solid"/>
          </a:ln>
        </p:spPr>
        <p:txBody>
          <a:bodyPr/>
          <a:lstStyle/>
          <a:p>
            <a:endParaRPr lang="en-US"/>
          </a:p>
        </p:txBody>
      </p:sp>
      <p:sp>
        <p:nvSpPr>
          <p:cNvPr id="11" name="Rectangle 10">
            <a:extLst>
              <a:ext uri="{FF2B5EF4-FFF2-40B4-BE49-F238E27FC236}">
                <a16:creationId xmlns:a16="http://schemas.microsoft.com/office/drawing/2014/main" id="{185E2572-C582-4EA8-8E58-DC07142C7581}"/>
              </a:ext>
            </a:extLst>
          </p:cNvPr>
          <p:cNvSpPr>
            <a:spLocks noGrp="1"/>
          </p:cNvSpPr>
          <p:nvPr/>
        </p:nvSpPr>
        <p:spPr>
          <a:xfrm>
            <a:off x="4400550" y="3124200"/>
            <a:ext cx="381000" cy="609600"/>
          </a:xfrm>
          <a:prstGeom prst="rect">
            <a:avLst/>
          </a:prstGeom>
          <a:noFill/>
          <a:ln w="0">
            <a:noFill/>
          </a:ln>
        </p:spPr>
        <p:txBody>
          <a:bodyPr wrap="square" lIns="0" tIns="0" rIns="0" bIns="0" anchor="ctr">
            <a:noAutofit/>
          </a:bodyPr>
          <a:lstStyle/>
          <a:p>
            <a:pPr>
              <a:defRPr sz="3000" b="0">
                <a:solidFill>
                  <a:srgbClr val="11344E"/>
                </a:solidFill>
                <a:latin typeface="Cambria Math"/>
                <a:ea typeface="Cambria Math"/>
                <a:cs typeface="Cambria Math"/>
              </a:defRPr>
            </a:pPr>
            <a:r>
              <a:rPr sz="3000" b="0">
                <a:solidFill>
                  <a:srgbClr val="11344E"/>
                </a:solidFill>
                <a:latin typeface="Cambria Math"/>
                <a:ea typeface="Cambria Math"/>
                <a:cs typeface="Cambria Math"/>
              </a:rPr>
              <a:t>+</a:t>
            </a:r>
          </a:p>
        </p:txBody>
      </p:sp>
      <p:sp>
        <p:nvSpPr>
          <p:cNvPr id="12" name="Rectangle 11">
            <a:extLst>
              <a:ext uri="{FF2B5EF4-FFF2-40B4-BE49-F238E27FC236}">
                <a16:creationId xmlns:a16="http://schemas.microsoft.com/office/drawing/2014/main" id="{A92B414A-11AE-4E09-BA66-6DDB0C088CCB}"/>
              </a:ext>
            </a:extLst>
          </p:cNvPr>
          <p:cNvSpPr>
            <a:spLocks noGrp="1"/>
          </p:cNvSpPr>
          <p:nvPr/>
        </p:nvSpPr>
        <p:spPr>
          <a:xfrm>
            <a:off x="5124450" y="2886075"/>
            <a:ext cx="1047750" cy="609600"/>
          </a:xfrm>
          <a:prstGeom prst="rect">
            <a:avLst/>
          </a:prstGeom>
          <a:noFill/>
          <a:ln w="0">
            <a:noFill/>
          </a:ln>
        </p:spPr>
        <p:txBody>
          <a:bodyPr wrap="square" lIns="0" tIns="0" rIns="0" bIns="0" anchor="ctr">
            <a:noAutofit/>
          </a:bodyPr>
          <a:lstStyle/>
          <a:p>
            <a:pPr algn="ct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3</a:t>
            </a:r>
          </a:p>
        </p:txBody>
      </p:sp>
      <p:sp>
        <p:nvSpPr>
          <p:cNvPr id="13" name="Rectangle 12">
            <a:extLst>
              <a:ext uri="{FF2B5EF4-FFF2-40B4-BE49-F238E27FC236}">
                <a16:creationId xmlns:a16="http://schemas.microsoft.com/office/drawing/2014/main" id="{E8DE8E89-C7C9-4A11-97DA-C6E552A45159}"/>
              </a:ext>
            </a:extLst>
          </p:cNvPr>
          <p:cNvSpPr>
            <a:spLocks noGrp="1"/>
          </p:cNvSpPr>
          <p:nvPr/>
        </p:nvSpPr>
        <p:spPr>
          <a:xfrm>
            <a:off x="5124450" y="3305175"/>
            <a:ext cx="1047750" cy="609600"/>
          </a:xfrm>
          <a:prstGeom prst="rect">
            <a:avLst/>
          </a:prstGeom>
          <a:noFill/>
          <a:ln w="0">
            <a:noFill/>
          </a:ln>
        </p:spPr>
        <p:txBody>
          <a:bodyPr wrap="square" lIns="0" tIns="0" rIns="0" bIns="0" anchor="ctr">
            <a:noAutofit/>
          </a:bodyPr>
          <a:lstStyle/>
          <a:p>
            <a:pPr algn="ctr">
              <a:defRPr sz="2475" b="0">
                <a:solidFill>
                  <a:srgbClr val="11344E"/>
                </a:solidFill>
                <a:latin typeface="Cambria Math"/>
                <a:ea typeface="Cambria Math"/>
                <a:cs typeface="Cambria Math"/>
              </a:defRPr>
            </a:pPr>
            <a:r>
              <a:rPr sz="2475" b="0">
                <a:solidFill>
                  <a:srgbClr val="11344E"/>
                </a:solidFill>
                <a:latin typeface="Cambria Math"/>
                <a:ea typeface="Cambria Math"/>
                <a:cs typeface="Cambria Math"/>
              </a:rPr>
              <a:t>x + 1</a:t>
            </a:r>
          </a:p>
        </p:txBody>
      </p:sp>
      <p:sp>
        <p:nvSpPr>
          <p:cNvPr id="14" name="Freeform: Shape 13">
            <a:extLst>
              <a:ext uri="{FF2B5EF4-FFF2-40B4-BE49-F238E27FC236}">
                <a16:creationId xmlns:a16="http://schemas.microsoft.com/office/drawing/2014/main" id="{5E9D5D2A-DDB0-4C01-9683-D2CE019DE50C}"/>
              </a:ext>
            </a:extLst>
          </p:cNvPr>
          <p:cNvSpPr>
            <a:spLocks noGrp="1"/>
          </p:cNvSpPr>
          <p:nvPr/>
        </p:nvSpPr>
        <p:spPr>
          <a:xfrm>
            <a:off x="5124450" y="3429000"/>
            <a:ext cx="1047750" cy="953"/>
          </a:xfrm>
          <a:custGeom>
            <a:avLst/>
            <a:gdLst/>
            <a:ahLst/>
            <a:cxnLst/>
            <a:rect l="0" t="0" r="0" b="0"/>
            <a:pathLst>
              <a:path w="1047750" h="953">
                <a:moveTo>
                  <a:pt x="0" y="0"/>
                </a:moveTo>
                <a:lnTo>
                  <a:pt x="1047750" y="0"/>
                </a:lnTo>
              </a:path>
            </a:pathLst>
          </a:custGeom>
          <a:noFill/>
          <a:ln w="15240">
            <a:solidFill>
              <a:srgbClr val="11344E"/>
            </a:solidFill>
            <a:prstDash val="solid"/>
          </a:ln>
        </p:spPr>
        <p:txBody>
          <a:bodyPr/>
          <a:lstStyle/>
          <a:p>
            <a:endParaRPr lang="en-US"/>
          </a:p>
        </p:txBody>
      </p:sp>
      <p:sp>
        <p:nvSpPr>
          <p:cNvPr id="15" name="Rectangle 14">
            <a:extLst>
              <a:ext uri="{FF2B5EF4-FFF2-40B4-BE49-F238E27FC236}">
                <a16:creationId xmlns:a16="http://schemas.microsoft.com/office/drawing/2014/main" id="{DBA2A054-C1EB-4DDC-AA50-D556E83A9D0B}"/>
              </a:ext>
            </a:extLst>
          </p:cNvPr>
          <p:cNvSpPr>
            <a:spLocks noGrp="1"/>
          </p:cNvSpPr>
          <p:nvPr/>
        </p:nvSpPr>
        <p:spPr>
          <a:xfrm>
            <a:off x="6762750" y="3324225"/>
            <a:ext cx="4381500" cy="476250"/>
          </a:xfrm>
          <a:prstGeom prst="rect">
            <a:avLst/>
          </a:prstGeom>
          <a:noFill/>
          <a:ln w="0">
            <a:noFill/>
          </a:ln>
        </p:spPr>
        <p:txBody>
          <a:bodyPr wrap="square" lIns="0" tIns="0" rIns="0" bIns="0" anchor="ctr">
            <a:noAutofit/>
          </a:bodyPr>
          <a:lstStyle/>
          <a:p>
            <a:pPr>
              <a:defRPr sz="2025" b="0">
                <a:solidFill>
                  <a:srgbClr val="11344E"/>
                </a:solidFill>
                <a:latin typeface="Arial"/>
                <a:ea typeface="Arial"/>
                <a:cs typeface="Arial"/>
              </a:defRPr>
            </a:pPr>
            <a:r>
              <a:rPr sz="2025" b="0">
                <a:solidFill>
                  <a:srgbClr val="11344E"/>
                </a:solidFill>
                <a:latin typeface="Arial"/>
                <a:ea typeface="Arial"/>
                <a:cs typeface="Arial"/>
              </a:rPr>
              <a:t>State the original restrictions.</a:t>
            </a:r>
          </a:p>
        </p:txBody>
      </p:sp>
      <p:sp>
        <p:nvSpPr>
          <p:cNvPr id="16" name="Rectangle 15">
            <a:extLst>
              <a:ext uri="{FF2B5EF4-FFF2-40B4-BE49-F238E27FC236}">
                <a16:creationId xmlns:a16="http://schemas.microsoft.com/office/drawing/2014/main" id="{01C8C93F-0213-4ACC-9974-91FEC1AE4B16}"/>
              </a:ext>
            </a:extLst>
          </p:cNvPr>
          <p:cNvSpPr>
            <a:spLocks noGrp="1"/>
          </p:cNvSpPr>
          <p:nvPr/>
        </p:nvSpPr>
        <p:spPr>
          <a:xfrm>
            <a:off x="714375" y="4800600"/>
            <a:ext cx="476250" cy="428625"/>
          </a:xfrm>
          <a:prstGeom prst="rect">
            <a:avLst/>
          </a:prstGeom>
          <a:noFill/>
          <a:ln w="0">
            <a:noFill/>
          </a:ln>
        </p:spPr>
        <p:txBody>
          <a:bodyPr wrap="square" lIns="0" tIns="0" rIns="0" bIns="0" anchor="ctr">
            <a:noAutofit/>
          </a:bodyPr>
          <a:lstStyle/>
          <a:p>
            <a:pPr>
              <a:defRPr sz="2250" b="1">
                <a:solidFill>
                  <a:srgbClr val="1777B4"/>
                </a:solidFill>
                <a:latin typeface="Arial"/>
                <a:ea typeface="Arial"/>
                <a:cs typeface="Arial"/>
              </a:defRPr>
            </a:pPr>
            <a:r>
              <a:rPr sz="2250" b="1">
                <a:solidFill>
                  <a:srgbClr val="1777B4"/>
                </a:solidFill>
                <a:latin typeface="Arial"/>
                <a:ea typeface="Arial"/>
                <a:cs typeface="Arial"/>
              </a:rPr>
              <a:t>3</a:t>
            </a:r>
          </a:p>
        </p:txBody>
      </p:sp>
      <p:sp>
        <p:nvSpPr>
          <p:cNvPr id="17" name="Rectangle 16">
            <a:extLst>
              <a:ext uri="{FF2B5EF4-FFF2-40B4-BE49-F238E27FC236}">
                <a16:creationId xmlns:a16="http://schemas.microsoft.com/office/drawing/2014/main" id="{81198DBB-CD18-4DDB-89D0-5C7C7563817B}"/>
              </a:ext>
            </a:extLst>
          </p:cNvPr>
          <p:cNvSpPr>
            <a:spLocks noGrp="1"/>
          </p:cNvSpPr>
          <p:nvPr/>
        </p:nvSpPr>
        <p:spPr>
          <a:xfrm>
            <a:off x="1381125" y="4705350"/>
            <a:ext cx="9906000" cy="609600"/>
          </a:xfrm>
          <a:prstGeom prst="rect">
            <a:avLst/>
          </a:prstGeom>
          <a:noFill/>
          <a:ln w="0">
            <a:noFill/>
          </a:ln>
        </p:spPr>
        <p:txBody>
          <a:bodyPr wrap="square" lIns="0" tIns="0" rIns="0" bIns="0" anchor="ctr">
            <a:noAutofit/>
          </a:bodyPr>
          <a:lstStyle/>
          <a:p>
            <a:pPr>
              <a:defRPr sz="2850" b="0">
                <a:solidFill>
                  <a:srgbClr val="11344E"/>
                </a:solidFill>
                <a:latin typeface="Cambria Math"/>
                <a:ea typeface="Cambria Math"/>
                <a:cs typeface="Cambria Math"/>
              </a:defRPr>
            </a:pPr>
            <a:r>
              <a:rPr sz="2850" b="0">
                <a:solidFill>
                  <a:srgbClr val="11344E"/>
                </a:solidFill>
                <a:latin typeface="Cambria Math"/>
                <a:ea typeface="Cambria Math"/>
                <a:cs typeface="Cambria Math"/>
              </a:rPr>
              <a:t>Find both intercepts: 3x + 2y = 12</a:t>
            </a:r>
          </a:p>
        </p:txBody>
      </p:sp>
    </p:spTree>
    <p:extLst>
      <p:ext uri="{BB962C8B-B14F-4D97-AF65-F5344CB8AC3E}">
        <p14:creationId xmlns:p14="http://schemas.microsoft.com/office/powerpoint/2010/main" val="1201607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B31FEA-3FAA-45D6-B3B7-43BDB9FD993C}"/>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Cumulative practice: solutions</a:t>
            </a:r>
          </a:p>
        </p:txBody>
      </p:sp>
      <p:sp>
        <p:nvSpPr>
          <p:cNvPr id="2" name="Rectangle 1">
            <a:extLst>
              <a:ext uri="{FF2B5EF4-FFF2-40B4-BE49-F238E27FC236}">
                <a16:creationId xmlns:a16="http://schemas.microsoft.com/office/drawing/2014/main" id="{C2931BC7-53A7-4AC9-B750-696DB9064103}"/>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Earlier quadratic equation solving remains in the review</a:t>
            </a:r>
          </a:p>
        </p:txBody>
      </p:sp>
      <p:sp>
        <p:nvSpPr>
          <p:cNvPr id="3" name="Rectangle 2">
            <a:extLst>
              <a:ext uri="{FF2B5EF4-FFF2-40B4-BE49-F238E27FC236}">
                <a16:creationId xmlns:a16="http://schemas.microsoft.com/office/drawing/2014/main" id="{25CA5B5E-5986-44B6-9483-B9406BE500C9}"/>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19</a:t>
            </a:r>
          </a:p>
        </p:txBody>
      </p:sp>
      <p:sp>
        <p:nvSpPr>
          <p:cNvPr id="4" name="Rectangle 3">
            <a:extLst>
              <a:ext uri="{FF2B5EF4-FFF2-40B4-BE49-F238E27FC236}">
                <a16:creationId xmlns:a16="http://schemas.microsoft.com/office/drawing/2014/main" id="{959A33DD-B83C-4440-90C7-92B2041572C4}"/>
              </a:ext>
            </a:extLst>
          </p:cNvPr>
          <p:cNvSpPr>
            <a:spLocks noGrp="1"/>
          </p:cNvSpPr>
          <p:nvPr/>
        </p:nvSpPr>
        <p:spPr>
          <a:xfrm>
            <a:off x="762000" y="1866900"/>
            <a:ext cx="10191750" cy="609600"/>
          </a:xfrm>
          <a:prstGeom prst="rect">
            <a:avLst/>
          </a:prstGeom>
          <a:noFill/>
          <a:ln w="0">
            <a:noFill/>
          </a:ln>
        </p:spPr>
        <p:txBody>
          <a:bodyPr wrap="square" lIns="0" tIns="0" rIns="0" bIns="0" anchor="ctr">
            <a:noAutofit/>
          </a:bodyPr>
          <a:lstStyle/>
          <a:p>
            <a:pPr>
              <a:defRPr sz="2850" b="0">
                <a:solidFill>
                  <a:srgbClr val="11344E"/>
                </a:solidFill>
                <a:latin typeface="Cambria Math"/>
                <a:ea typeface="Cambria Math"/>
                <a:cs typeface="Cambria Math"/>
              </a:defRPr>
            </a:pPr>
            <a:r>
              <a:rPr sz="2850" b="0">
                <a:solidFill>
                  <a:srgbClr val="11344E"/>
                </a:solidFill>
                <a:latin typeface="Cambria Math"/>
                <a:ea typeface="Cambria Math"/>
                <a:cs typeface="Cambria Math"/>
              </a:rPr>
              <a:t>1.  (2x + 1)(x − 3) = 0</a:t>
            </a:r>
          </a:p>
        </p:txBody>
      </p:sp>
      <p:sp>
        <p:nvSpPr>
          <p:cNvPr id="5" name="Rectangle 4">
            <a:extLst>
              <a:ext uri="{FF2B5EF4-FFF2-40B4-BE49-F238E27FC236}">
                <a16:creationId xmlns:a16="http://schemas.microsoft.com/office/drawing/2014/main" id="{90DD7261-B44F-47EF-8D08-DB559D1E8900}"/>
              </a:ext>
            </a:extLst>
          </p:cNvPr>
          <p:cNvSpPr>
            <a:spLocks noGrp="1"/>
          </p:cNvSpPr>
          <p:nvPr/>
        </p:nvSpPr>
        <p:spPr>
          <a:xfrm>
            <a:off x="6381750" y="1866900"/>
            <a:ext cx="4762500" cy="609600"/>
          </a:xfrm>
          <a:prstGeom prst="rect">
            <a:avLst/>
          </a:prstGeom>
          <a:noFill/>
          <a:ln w="0">
            <a:noFill/>
          </a:ln>
        </p:spPr>
        <p:txBody>
          <a:bodyPr wrap="square" lIns="0" tIns="0" rIns="0" bIns="0" anchor="ctr">
            <a:noAutofit/>
          </a:bodyPr>
          <a:lstStyle/>
          <a:p>
            <a:pPr>
              <a:defRPr sz="2850" b="0">
                <a:solidFill>
                  <a:srgbClr val="148A68"/>
                </a:solidFill>
                <a:latin typeface="Cambria Math"/>
                <a:ea typeface="Cambria Math"/>
                <a:cs typeface="Cambria Math"/>
              </a:defRPr>
            </a:pPr>
            <a:r>
              <a:rPr sz="2850" b="0">
                <a:solidFill>
                  <a:srgbClr val="148A68"/>
                </a:solidFill>
                <a:latin typeface="Cambria Math"/>
                <a:ea typeface="Cambria Math"/>
                <a:cs typeface="Cambria Math"/>
              </a:rPr>
              <a:t>x = −½  or  x = 3</a:t>
            </a:r>
          </a:p>
        </p:txBody>
      </p:sp>
      <p:sp>
        <p:nvSpPr>
          <p:cNvPr id="6" name="Rectangle 5">
            <a:extLst>
              <a:ext uri="{FF2B5EF4-FFF2-40B4-BE49-F238E27FC236}">
                <a16:creationId xmlns:a16="http://schemas.microsoft.com/office/drawing/2014/main" id="{722DC738-1792-4B11-9567-AA360A5DE7E9}"/>
              </a:ext>
            </a:extLst>
          </p:cNvPr>
          <p:cNvSpPr>
            <a:spLocks noGrp="1"/>
          </p:cNvSpPr>
          <p:nvPr/>
        </p:nvSpPr>
        <p:spPr>
          <a:xfrm>
            <a:off x="762000" y="3019425"/>
            <a:ext cx="571500" cy="476250"/>
          </a:xfrm>
          <a:prstGeom prst="rect">
            <a:avLst/>
          </a:prstGeom>
          <a:noFill/>
          <a:ln w="0">
            <a:noFill/>
          </a:ln>
        </p:spPr>
        <p:txBody>
          <a:bodyPr wrap="square" lIns="0" tIns="0" rIns="0" bIns="0" anchor="ctr">
            <a:noAutofit/>
          </a:bodyPr>
          <a:lstStyle/>
          <a:p>
            <a:pPr>
              <a:defRPr sz="2550" b="0">
                <a:solidFill>
                  <a:srgbClr val="11344E"/>
                </a:solidFill>
                <a:latin typeface="Arial"/>
                <a:ea typeface="Arial"/>
                <a:cs typeface="Arial"/>
              </a:defRPr>
            </a:pPr>
            <a:r>
              <a:rPr sz="2550" b="0">
                <a:solidFill>
                  <a:srgbClr val="11344E"/>
                </a:solidFill>
                <a:latin typeface="Arial"/>
                <a:ea typeface="Arial"/>
                <a:cs typeface="Arial"/>
              </a:rPr>
              <a:t>2.</a:t>
            </a:r>
          </a:p>
        </p:txBody>
      </p:sp>
      <p:sp>
        <p:nvSpPr>
          <p:cNvPr id="7" name="Rectangle 6">
            <a:extLst>
              <a:ext uri="{FF2B5EF4-FFF2-40B4-BE49-F238E27FC236}">
                <a16:creationId xmlns:a16="http://schemas.microsoft.com/office/drawing/2014/main" id="{85F4AB11-187D-401A-B873-9F530FFCA1FB}"/>
              </a:ext>
            </a:extLst>
          </p:cNvPr>
          <p:cNvSpPr>
            <a:spLocks noGrp="1"/>
          </p:cNvSpPr>
          <p:nvPr/>
        </p:nvSpPr>
        <p:spPr>
          <a:xfrm>
            <a:off x="1524000" y="2714625"/>
            <a:ext cx="4286250" cy="609600"/>
          </a:xfrm>
          <a:prstGeom prst="rect">
            <a:avLst/>
          </a:prstGeom>
          <a:noFill/>
          <a:ln w="0">
            <a:noFill/>
          </a:ln>
        </p:spPr>
        <p:txBody>
          <a:bodyPr wrap="square" lIns="0" tIns="0" rIns="0" bIns="0" anchor="ctr">
            <a:noAutofit/>
          </a:bodyPr>
          <a:lstStyle/>
          <a:p>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2(x + 1) + 3(x − 1)</a:t>
            </a:r>
          </a:p>
        </p:txBody>
      </p:sp>
      <p:sp>
        <p:nvSpPr>
          <p:cNvPr id="8" name="Rectangle 7">
            <a:extLst>
              <a:ext uri="{FF2B5EF4-FFF2-40B4-BE49-F238E27FC236}">
                <a16:creationId xmlns:a16="http://schemas.microsoft.com/office/drawing/2014/main" id="{5974C107-5A26-4222-BC01-DB2D191D2F8D}"/>
              </a:ext>
            </a:extLst>
          </p:cNvPr>
          <p:cNvSpPr>
            <a:spLocks noGrp="1"/>
          </p:cNvSpPr>
          <p:nvPr/>
        </p:nvSpPr>
        <p:spPr>
          <a:xfrm>
            <a:off x="1524000" y="3133725"/>
            <a:ext cx="4286250" cy="609600"/>
          </a:xfrm>
          <a:prstGeom prst="rect">
            <a:avLst/>
          </a:prstGeom>
          <a:noFill/>
          <a:ln w="0">
            <a:noFill/>
          </a:ln>
        </p:spPr>
        <p:txBody>
          <a:bodyPr wrap="square" lIns="0" tIns="0" rIns="0" bIns="0" anchor="ctr">
            <a:noAutofit/>
          </a:bodyPr>
          <a:lstStyle/>
          <a:p>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(x − 1)(x + 1)</a:t>
            </a:r>
          </a:p>
        </p:txBody>
      </p:sp>
      <p:sp>
        <p:nvSpPr>
          <p:cNvPr id="9" name="Freeform: Shape 8">
            <a:extLst>
              <a:ext uri="{FF2B5EF4-FFF2-40B4-BE49-F238E27FC236}">
                <a16:creationId xmlns:a16="http://schemas.microsoft.com/office/drawing/2014/main" id="{9EE3D95F-49B2-429B-B517-E0AAB37B4718}"/>
              </a:ext>
            </a:extLst>
          </p:cNvPr>
          <p:cNvSpPr>
            <a:spLocks noGrp="1"/>
          </p:cNvSpPr>
          <p:nvPr/>
        </p:nvSpPr>
        <p:spPr>
          <a:xfrm>
            <a:off x="1524000" y="3257550"/>
            <a:ext cx="4286250" cy="953"/>
          </a:xfrm>
          <a:custGeom>
            <a:avLst/>
            <a:gdLst/>
            <a:ahLst/>
            <a:cxnLst/>
            <a:rect l="0" t="0" r="0" b="0"/>
            <a:pathLst>
              <a:path w="4286250" h="953">
                <a:moveTo>
                  <a:pt x="0" y="0"/>
                </a:moveTo>
                <a:lnTo>
                  <a:pt x="4286250" y="0"/>
                </a:lnTo>
              </a:path>
            </a:pathLst>
          </a:custGeom>
          <a:noFill/>
          <a:ln w="15240">
            <a:solidFill>
              <a:srgbClr val="11344E"/>
            </a:solidFill>
            <a:prstDash val="solid"/>
          </a:ln>
        </p:spPr>
        <p:txBody>
          <a:bodyPr/>
          <a:lstStyle/>
          <a:p>
            <a:endParaRPr lang="en-US"/>
          </a:p>
        </p:txBody>
      </p:sp>
      <p:sp>
        <p:nvSpPr>
          <p:cNvPr id="10" name="Rectangle 9">
            <a:extLst>
              <a:ext uri="{FF2B5EF4-FFF2-40B4-BE49-F238E27FC236}">
                <a16:creationId xmlns:a16="http://schemas.microsoft.com/office/drawing/2014/main" id="{ED41B3AA-045A-43AB-86CA-25B8B73E7436}"/>
              </a:ext>
            </a:extLst>
          </p:cNvPr>
          <p:cNvSpPr>
            <a:spLocks noGrp="1"/>
          </p:cNvSpPr>
          <p:nvPr/>
        </p:nvSpPr>
        <p:spPr>
          <a:xfrm>
            <a:off x="6191250" y="2952750"/>
            <a:ext cx="476250" cy="609600"/>
          </a:xfrm>
          <a:prstGeom prst="rect">
            <a:avLst/>
          </a:prstGeom>
          <a:noFill/>
          <a:ln w="0">
            <a:noFill/>
          </a:ln>
        </p:spPr>
        <p:txBody>
          <a:bodyPr wrap="square" lIns="0" tIns="0" rIns="0" bIns="0" anchor="ctr">
            <a:noAutofit/>
          </a:bodyPr>
          <a:lstStyle/>
          <a:p>
            <a:pPr>
              <a:defRPr sz="3000" b="0">
                <a:solidFill>
                  <a:srgbClr val="11344E"/>
                </a:solidFill>
                <a:latin typeface="Cambria Math"/>
                <a:ea typeface="Cambria Math"/>
                <a:cs typeface="Cambria Math"/>
              </a:defRPr>
            </a:pPr>
            <a:r>
              <a:rPr sz="3000" b="0">
                <a:solidFill>
                  <a:srgbClr val="11344E"/>
                </a:solidFill>
                <a:latin typeface="Cambria Math"/>
                <a:ea typeface="Cambria Math"/>
                <a:cs typeface="Cambria Math"/>
              </a:rPr>
              <a:t>=</a:t>
            </a:r>
          </a:p>
        </p:txBody>
      </p:sp>
      <p:sp>
        <p:nvSpPr>
          <p:cNvPr id="11" name="Rectangle 10">
            <a:extLst>
              <a:ext uri="{FF2B5EF4-FFF2-40B4-BE49-F238E27FC236}">
                <a16:creationId xmlns:a16="http://schemas.microsoft.com/office/drawing/2014/main" id="{D26AE3BE-FB97-45CE-A1E4-1887633D3BB7}"/>
              </a:ext>
            </a:extLst>
          </p:cNvPr>
          <p:cNvSpPr>
            <a:spLocks noGrp="1"/>
          </p:cNvSpPr>
          <p:nvPr/>
        </p:nvSpPr>
        <p:spPr>
          <a:xfrm>
            <a:off x="7000875" y="2714625"/>
            <a:ext cx="3857625" cy="609600"/>
          </a:xfrm>
          <a:prstGeom prst="rect">
            <a:avLst/>
          </a:prstGeom>
          <a:noFill/>
          <a:ln w="0">
            <a:noFill/>
          </a:ln>
        </p:spPr>
        <p:txBody>
          <a:bodyPr wrap="square" lIns="0" tIns="0" rIns="0" bIns="0" anchor="ctr">
            <a:noAutofit/>
          </a:bodyPr>
          <a:lstStyle/>
          <a:p>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5x − 1</a:t>
            </a:r>
          </a:p>
        </p:txBody>
      </p:sp>
      <p:sp>
        <p:nvSpPr>
          <p:cNvPr id="12" name="Rectangle 11">
            <a:extLst>
              <a:ext uri="{FF2B5EF4-FFF2-40B4-BE49-F238E27FC236}">
                <a16:creationId xmlns:a16="http://schemas.microsoft.com/office/drawing/2014/main" id="{2F360C9F-8A32-4302-9878-09B72A149EE7}"/>
              </a:ext>
            </a:extLst>
          </p:cNvPr>
          <p:cNvSpPr>
            <a:spLocks noGrp="1"/>
          </p:cNvSpPr>
          <p:nvPr/>
        </p:nvSpPr>
        <p:spPr>
          <a:xfrm>
            <a:off x="7000875" y="3133725"/>
            <a:ext cx="3857625" cy="609600"/>
          </a:xfrm>
          <a:prstGeom prst="rect">
            <a:avLst/>
          </a:prstGeom>
          <a:noFill/>
          <a:ln w="0">
            <a:noFill/>
          </a:ln>
        </p:spPr>
        <p:txBody>
          <a:bodyPr wrap="square" lIns="0" tIns="0" rIns="0" bIns="0" anchor="ctr">
            <a:noAutofit/>
          </a:bodyPr>
          <a:lstStyle/>
          <a:p>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(x − 1)(x + 1)</a:t>
            </a:r>
          </a:p>
        </p:txBody>
      </p:sp>
      <p:sp>
        <p:nvSpPr>
          <p:cNvPr id="13" name="Freeform: Shape 12">
            <a:extLst>
              <a:ext uri="{FF2B5EF4-FFF2-40B4-BE49-F238E27FC236}">
                <a16:creationId xmlns:a16="http://schemas.microsoft.com/office/drawing/2014/main" id="{68C13372-51E6-4E7D-8A41-6E591F73ACD7}"/>
              </a:ext>
            </a:extLst>
          </p:cNvPr>
          <p:cNvSpPr>
            <a:spLocks noGrp="1"/>
          </p:cNvSpPr>
          <p:nvPr/>
        </p:nvSpPr>
        <p:spPr>
          <a:xfrm>
            <a:off x="7000875" y="3257550"/>
            <a:ext cx="3857625" cy="953"/>
          </a:xfrm>
          <a:custGeom>
            <a:avLst/>
            <a:gdLst/>
            <a:ahLst/>
            <a:cxnLst/>
            <a:rect l="0" t="0" r="0" b="0"/>
            <a:pathLst>
              <a:path w="3857625" h="953">
                <a:moveTo>
                  <a:pt x="0" y="0"/>
                </a:moveTo>
                <a:lnTo>
                  <a:pt x="3857625" y="0"/>
                </a:lnTo>
              </a:path>
            </a:pathLst>
          </a:custGeom>
          <a:noFill/>
          <a:ln w="15240">
            <a:solidFill>
              <a:srgbClr val="11344E"/>
            </a:solidFill>
            <a:prstDash val="solid"/>
          </a:ln>
        </p:spPr>
        <p:txBody>
          <a:bodyPr/>
          <a:lstStyle/>
          <a:p>
            <a:endParaRPr lang="en-US"/>
          </a:p>
        </p:txBody>
      </p:sp>
      <p:sp>
        <p:nvSpPr>
          <p:cNvPr id="14" name="Rectangle 13">
            <a:extLst>
              <a:ext uri="{FF2B5EF4-FFF2-40B4-BE49-F238E27FC236}">
                <a16:creationId xmlns:a16="http://schemas.microsoft.com/office/drawing/2014/main" id="{1BC88A24-E334-4BEA-B5EE-E4F01060221E}"/>
              </a:ext>
            </a:extLst>
          </p:cNvPr>
          <p:cNvSpPr>
            <a:spLocks noGrp="1"/>
          </p:cNvSpPr>
          <p:nvPr/>
        </p:nvSpPr>
        <p:spPr>
          <a:xfrm>
            <a:off x="1524000" y="4238625"/>
            <a:ext cx="9620250" cy="438150"/>
          </a:xfrm>
          <a:prstGeom prst="rect">
            <a:avLst/>
          </a:prstGeom>
          <a:noFill/>
          <a:ln w="0">
            <a:noFill/>
          </a:ln>
        </p:spPr>
        <p:txBody>
          <a:bodyPr wrap="square" lIns="0" tIns="0" rIns="0" bIns="0" anchor="ctr">
            <a:noAutofit/>
          </a:bodyPr>
          <a:lstStyle/>
          <a:p>
            <a:pPr>
              <a:defRPr sz="2175" b="0">
                <a:solidFill>
                  <a:srgbClr val="148A68"/>
                </a:solidFill>
                <a:latin typeface="Arial"/>
                <a:ea typeface="Arial"/>
                <a:cs typeface="Arial"/>
              </a:defRPr>
            </a:pPr>
            <a:r>
              <a:rPr sz="2175" b="0">
                <a:solidFill>
                  <a:srgbClr val="148A68"/>
                </a:solidFill>
                <a:latin typeface="Arial"/>
                <a:ea typeface="Arial"/>
                <a:cs typeface="Arial"/>
              </a:rPr>
              <a:t>Restrictions: x ≠ 1 and x ≠ −1</a:t>
            </a:r>
          </a:p>
        </p:txBody>
      </p:sp>
      <p:sp>
        <p:nvSpPr>
          <p:cNvPr id="15" name="Rectangle 14">
            <a:extLst>
              <a:ext uri="{FF2B5EF4-FFF2-40B4-BE49-F238E27FC236}">
                <a16:creationId xmlns:a16="http://schemas.microsoft.com/office/drawing/2014/main" id="{8A2488A3-E8A8-42A2-B34A-5DC2A2AB103C}"/>
              </a:ext>
            </a:extLst>
          </p:cNvPr>
          <p:cNvSpPr>
            <a:spLocks noGrp="1"/>
          </p:cNvSpPr>
          <p:nvPr/>
        </p:nvSpPr>
        <p:spPr>
          <a:xfrm>
            <a:off x="762000" y="5095875"/>
            <a:ext cx="10668000" cy="609600"/>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3.  x-intercept: (4, 0)     y-intercept: (0, 6)</a:t>
            </a:r>
          </a:p>
        </p:txBody>
      </p:sp>
    </p:spTree>
    <p:extLst>
      <p:ext uri="{BB962C8B-B14F-4D97-AF65-F5344CB8AC3E}">
        <p14:creationId xmlns:p14="http://schemas.microsoft.com/office/powerpoint/2010/main" val="1153408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DC8D881-C1D7-4D3C-9FE7-AE2B15742E6F}"/>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My review notes</a:t>
            </a:r>
          </a:p>
        </p:txBody>
      </p:sp>
      <p:sp>
        <p:nvSpPr>
          <p:cNvPr id="2" name="Rectangle 1">
            <a:extLst>
              <a:ext uri="{FF2B5EF4-FFF2-40B4-BE49-F238E27FC236}">
                <a16:creationId xmlns:a16="http://schemas.microsoft.com/office/drawing/2014/main" id="{6BC5C087-3D48-427D-9402-82472B1AAC35}"/>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Complete these prompts before the exit ticket</a:t>
            </a:r>
          </a:p>
        </p:txBody>
      </p:sp>
      <p:sp>
        <p:nvSpPr>
          <p:cNvPr id="3" name="Rectangle 2">
            <a:extLst>
              <a:ext uri="{FF2B5EF4-FFF2-40B4-BE49-F238E27FC236}">
                <a16:creationId xmlns:a16="http://schemas.microsoft.com/office/drawing/2014/main" id="{AF359366-000D-4726-AEDB-C3139C1A98E9}"/>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20</a:t>
            </a:r>
          </a:p>
        </p:txBody>
      </p:sp>
      <p:sp>
        <p:nvSpPr>
          <p:cNvPr id="4" name="Rectangle 3">
            <a:extLst>
              <a:ext uri="{FF2B5EF4-FFF2-40B4-BE49-F238E27FC236}">
                <a16:creationId xmlns:a16="http://schemas.microsoft.com/office/drawing/2014/main" id="{0D3844AD-E49F-4C42-8F37-12E1A5831BF1}"/>
              </a:ext>
            </a:extLst>
          </p:cNvPr>
          <p:cNvSpPr>
            <a:spLocks noGrp="1"/>
          </p:cNvSpPr>
          <p:nvPr/>
        </p:nvSpPr>
        <p:spPr>
          <a:xfrm>
            <a:off x="762000" y="1762125"/>
            <a:ext cx="1066800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My first step for a line equation</a:t>
            </a:r>
          </a:p>
        </p:txBody>
      </p:sp>
      <p:sp>
        <p:nvSpPr>
          <p:cNvPr id="5" name="Freeform: Shape 4">
            <a:extLst>
              <a:ext uri="{FF2B5EF4-FFF2-40B4-BE49-F238E27FC236}">
                <a16:creationId xmlns:a16="http://schemas.microsoft.com/office/drawing/2014/main" id="{8ADC9337-343F-4FD9-8DF8-E78BA698D716}"/>
              </a:ext>
            </a:extLst>
          </p:cNvPr>
          <p:cNvSpPr>
            <a:spLocks noGrp="1"/>
          </p:cNvSpPr>
          <p:nvPr/>
        </p:nvSpPr>
        <p:spPr>
          <a:xfrm>
            <a:off x="762000" y="2514600"/>
            <a:ext cx="10382250" cy="953"/>
          </a:xfrm>
          <a:custGeom>
            <a:avLst/>
            <a:gdLst/>
            <a:ahLst/>
            <a:cxnLst/>
            <a:rect l="0" t="0" r="0" b="0"/>
            <a:pathLst>
              <a:path w="10382250" h="953">
                <a:moveTo>
                  <a:pt x="0" y="0"/>
                </a:moveTo>
                <a:lnTo>
                  <a:pt x="10382250" y="0"/>
                </a:lnTo>
              </a:path>
            </a:pathLst>
          </a:custGeom>
          <a:noFill/>
          <a:ln w="9525">
            <a:solidFill>
              <a:srgbClr val="AABBC9"/>
            </a:solidFill>
            <a:prstDash val="solid"/>
          </a:ln>
        </p:spPr>
        <p:txBody>
          <a:bodyPr/>
          <a:lstStyle/>
          <a:p>
            <a:endParaRPr lang="en-US"/>
          </a:p>
        </p:txBody>
      </p:sp>
      <p:sp>
        <p:nvSpPr>
          <p:cNvPr id="6" name="Rectangle 5">
            <a:extLst>
              <a:ext uri="{FF2B5EF4-FFF2-40B4-BE49-F238E27FC236}">
                <a16:creationId xmlns:a16="http://schemas.microsoft.com/office/drawing/2014/main" id="{F5F1DFEC-0BDB-4179-8040-EC37BC169B62}"/>
              </a:ext>
            </a:extLst>
          </p:cNvPr>
          <p:cNvSpPr>
            <a:spLocks noGrp="1"/>
          </p:cNvSpPr>
          <p:nvPr/>
        </p:nvSpPr>
        <p:spPr>
          <a:xfrm>
            <a:off x="762000" y="2819400"/>
            <a:ext cx="1066800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What I need for a circle equation</a:t>
            </a:r>
          </a:p>
        </p:txBody>
      </p:sp>
      <p:sp>
        <p:nvSpPr>
          <p:cNvPr id="7" name="Freeform: Shape 6">
            <a:extLst>
              <a:ext uri="{FF2B5EF4-FFF2-40B4-BE49-F238E27FC236}">
                <a16:creationId xmlns:a16="http://schemas.microsoft.com/office/drawing/2014/main" id="{5DC303A0-88C9-48FD-B4A9-2C76E9D0F97F}"/>
              </a:ext>
            </a:extLst>
          </p:cNvPr>
          <p:cNvSpPr>
            <a:spLocks noGrp="1"/>
          </p:cNvSpPr>
          <p:nvPr/>
        </p:nvSpPr>
        <p:spPr>
          <a:xfrm>
            <a:off x="762000" y="3571875"/>
            <a:ext cx="10382250" cy="953"/>
          </a:xfrm>
          <a:custGeom>
            <a:avLst/>
            <a:gdLst/>
            <a:ahLst/>
            <a:cxnLst/>
            <a:rect l="0" t="0" r="0" b="0"/>
            <a:pathLst>
              <a:path w="10382250" h="953">
                <a:moveTo>
                  <a:pt x="0" y="0"/>
                </a:moveTo>
                <a:lnTo>
                  <a:pt x="10382250" y="0"/>
                </a:lnTo>
              </a:path>
            </a:pathLst>
          </a:custGeom>
          <a:noFill/>
          <a:ln w="9525">
            <a:solidFill>
              <a:srgbClr val="AABBC9"/>
            </a:solidFill>
            <a:prstDash val="solid"/>
          </a:ln>
        </p:spPr>
        <p:txBody>
          <a:bodyPr/>
          <a:lstStyle/>
          <a:p>
            <a:endParaRPr lang="en-US"/>
          </a:p>
        </p:txBody>
      </p:sp>
      <p:sp>
        <p:nvSpPr>
          <p:cNvPr id="8" name="Rectangle 7">
            <a:extLst>
              <a:ext uri="{FF2B5EF4-FFF2-40B4-BE49-F238E27FC236}">
                <a16:creationId xmlns:a16="http://schemas.microsoft.com/office/drawing/2014/main" id="{72DBB189-39D5-4270-825C-B6CB0B6BF05E}"/>
              </a:ext>
            </a:extLst>
          </p:cNvPr>
          <p:cNvSpPr>
            <a:spLocks noGrp="1"/>
          </p:cNvSpPr>
          <p:nvPr/>
        </p:nvSpPr>
        <p:spPr>
          <a:xfrm>
            <a:off x="762000" y="3876675"/>
            <a:ext cx="10668000" cy="381000"/>
          </a:xfrm>
          <a:prstGeom prst="rect">
            <a:avLst/>
          </a:prstGeom>
          <a:noFill/>
          <a:ln w="0">
            <a:noFill/>
          </a:ln>
        </p:spPr>
        <p:txBody>
          <a:bodyPr wrap="square" lIns="0" tIns="0" rIns="0" bIns="0" anchor="ctr">
            <a:noAutofit/>
          </a:bodyPr>
          <a:lstStyle/>
          <a:p>
            <a:pPr>
              <a:defRPr sz="2100" b="0">
                <a:solidFill>
                  <a:srgbClr val="11344E"/>
                </a:solidFill>
                <a:latin typeface="Arial"/>
                <a:ea typeface="Arial"/>
                <a:cs typeface="Arial"/>
              </a:defRPr>
            </a:pPr>
            <a:r>
              <a:rPr sz="2100" b="0">
                <a:solidFill>
                  <a:srgbClr val="11344E"/>
                </a:solidFill>
                <a:latin typeface="Arial"/>
                <a:ea typeface="Arial"/>
                <a:cs typeface="Arial"/>
              </a:rPr>
              <a:t>An error I corrected today</a:t>
            </a:r>
          </a:p>
        </p:txBody>
      </p:sp>
      <p:sp>
        <p:nvSpPr>
          <p:cNvPr id="9" name="Freeform: Shape 8">
            <a:extLst>
              <a:ext uri="{FF2B5EF4-FFF2-40B4-BE49-F238E27FC236}">
                <a16:creationId xmlns:a16="http://schemas.microsoft.com/office/drawing/2014/main" id="{125E66E9-78E7-4965-B126-580EFCCDC50E}"/>
              </a:ext>
            </a:extLst>
          </p:cNvPr>
          <p:cNvSpPr>
            <a:spLocks noGrp="1"/>
          </p:cNvSpPr>
          <p:nvPr/>
        </p:nvSpPr>
        <p:spPr>
          <a:xfrm>
            <a:off x="762000" y="4629150"/>
            <a:ext cx="10382250" cy="953"/>
          </a:xfrm>
          <a:custGeom>
            <a:avLst/>
            <a:gdLst/>
            <a:ahLst/>
            <a:cxnLst/>
            <a:rect l="0" t="0" r="0" b="0"/>
            <a:pathLst>
              <a:path w="10382250" h="953">
                <a:moveTo>
                  <a:pt x="0" y="0"/>
                </a:moveTo>
                <a:lnTo>
                  <a:pt x="10382250" y="0"/>
                </a:lnTo>
              </a:path>
            </a:pathLst>
          </a:custGeom>
          <a:noFill/>
          <a:ln w="9525">
            <a:solidFill>
              <a:srgbClr val="AABBC9"/>
            </a:solidFill>
            <a:prstDash val="solid"/>
          </a:ln>
        </p:spPr>
        <p:txBody>
          <a:bodyPr/>
          <a:lstStyle/>
          <a:p>
            <a:endParaRPr lang="en-US"/>
          </a:p>
        </p:txBody>
      </p:sp>
      <p:sp>
        <p:nvSpPr>
          <p:cNvPr id="10" name="Rectangle 9">
            <a:extLst>
              <a:ext uri="{FF2B5EF4-FFF2-40B4-BE49-F238E27FC236}">
                <a16:creationId xmlns:a16="http://schemas.microsoft.com/office/drawing/2014/main" id="{CFED71C6-446E-47BB-B616-1B44D190D51B}"/>
              </a:ext>
            </a:extLst>
          </p:cNvPr>
          <p:cNvSpPr>
            <a:spLocks noGrp="1"/>
          </p:cNvSpPr>
          <p:nvPr/>
        </p:nvSpPr>
        <p:spPr>
          <a:xfrm>
            <a:off x="762000" y="4933950"/>
            <a:ext cx="10668000" cy="381000"/>
          </a:xfrm>
          <a:prstGeom prst="rect">
            <a:avLst/>
          </a:prstGeom>
          <a:noFill/>
          <a:ln w="0">
            <a:noFill/>
          </a:ln>
        </p:spPr>
        <p:txBody>
          <a:bodyPr wrap="square" lIns="0" tIns="0" rIns="0" bIns="0" anchor="ctr">
            <a:noAutofit/>
          </a:bodyPr>
          <a:lstStyle/>
          <a:p>
            <a:pPr>
              <a:defRPr sz="2100" b="0">
                <a:solidFill>
                  <a:srgbClr val="148A68"/>
                </a:solidFill>
                <a:latin typeface="Arial"/>
                <a:ea typeface="Arial"/>
                <a:cs typeface="Arial"/>
              </a:defRPr>
            </a:pPr>
            <a:r>
              <a:rPr sz="2100" b="0">
                <a:solidFill>
                  <a:srgbClr val="148A68"/>
                </a:solidFill>
                <a:latin typeface="Arial"/>
                <a:ea typeface="Arial"/>
                <a:cs typeface="Arial"/>
              </a:rPr>
              <a:t>My next practice priority</a:t>
            </a:r>
          </a:p>
        </p:txBody>
      </p:sp>
      <p:sp>
        <p:nvSpPr>
          <p:cNvPr id="11" name="Freeform: Shape 10">
            <a:extLst>
              <a:ext uri="{FF2B5EF4-FFF2-40B4-BE49-F238E27FC236}">
                <a16:creationId xmlns:a16="http://schemas.microsoft.com/office/drawing/2014/main" id="{E5CF5079-483D-4164-95B9-478A12CA0C6A}"/>
              </a:ext>
            </a:extLst>
          </p:cNvPr>
          <p:cNvSpPr>
            <a:spLocks noGrp="1"/>
          </p:cNvSpPr>
          <p:nvPr/>
        </p:nvSpPr>
        <p:spPr>
          <a:xfrm>
            <a:off x="762000" y="5686425"/>
            <a:ext cx="10382250" cy="953"/>
          </a:xfrm>
          <a:custGeom>
            <a:avLst/>
            <a:gdLst/>
            <a:ahLst/>
            <a:cxnLst/>
            <a:rect l="0" t="0" r="0" b="0"/>
            <a:pathLst>
              <a:path w="10382250" h="953">
                <a:moveTo>
                  <a:pt x="0" y="0"/>
                </a:moveTo>
                <a:lnTo>
                  <a:pt x="10382250" y="0"/>
                </a:lnTo>
              </a:path>
            </a:pathLst>
          </a:custGeom>
          <a:noFill/>
          <a:ln w="9525">
            <a:solidFill>
              <a:srgbClr val="AABBC9"/>
            </a:solidFill>
            <a:prstDash val="solid"/>
          </a:ln>
        </p:spPr>
        <p:txBody>
          <a:bodyPr/>
          <a:lstStyle/>
          <a:p>
            <a:endParaRPr lang="en-US"/>
          </a:p>
        </p:txBody>
      </p:sp>
    </p:spTree>
    <p:extLst>
      <p:ext uri="{BB962C8B-B14F-4D97-AF65-F5344CB8AC3E}">
        <p14:creationId xmlns:p14="http://schemas.microsoft.com/office/powerpoint/2010/main" val="605963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1219901-0F73-4BCC-BED1-FF14F860887F}"/>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Exit ticket</a:t>
            </a:r>
          </a:p>
        </p:txBody>
      </p:sp>
      <p:sp>
        <p:nvSpPr>
          <p:cNvPr id="2" name="Rectangle 1">
            <a:extLst>
              <a:ext uri="{FF2B5EF4-FFF2-40B4-BE49-F238E27FC236}">
                <a16:creationId xmlns:a16="http://schemas.microsoft.com/office/drawing/2014/main" id="{8C646799-1F2D-4EC0-99B5-31E470F7157E}"/>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3 minutes. Write an equation and one check for each.</a:t>
            </a:r>
          </a:p>
        </p:txBody>
      </p:sp>
      <p:sp>
        <p:nvSpPr>
          <p:cNvPr id="3" name="Rectangle 2">
            <a:extLst>
              <a:ext uri="{FF2B5EF4-FFF2-40B4-BE49-F238E27FC236}">
                <a16:creationId xmlns:a16="http://schemas.microsoft.com/office/drawing/2014/main" id="{CB78DF36-3C06-40A1-ABB3-30967D303265}"/>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21</a:t>
            </a:r>
          </a:p>
        </p:txBody>
      </p:sp>
      <p:sp>
        <p:nvSpPr>
          <p:cNvPr id="4" name="Rectangle 3">
            <a:extLst>
              <a:ext uri="{FF2B5EF4-FFF2-40B4-BE49-F238E27FC236}">
                <a16:creationId xmlns:a16="http://schemas.microsoft.com/office/drawing/2014/main" id="{930C957F-2BCA-4BD8-BD4D-CDC2025B6490}"/>
              </a:ext>
            </a:extLst>
          </p:cNvPr>
          <p:cNvSpPr>
            <a:spLocks noGrp="1"/>
          </p:cNvSpPr>
          <p:nvPr/>
        </p:nvSpPr>
        <p:spPr>
          <a:xfrm>
            <a:off x="762000" y="2085975"/>
            <a:ext cx="10668000" cy="1095375"/>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1. Perpendicular to 2x + y = 7, through (−2, 3).</a:t>
            </a:r>
          </a:p>
        </p:txBody>
      </p:sp>
      <p:sp>
        <p:nvSpPr>
          <p:cNvPr id="5" name="Rectangle 4">
            <a:extLst>
              <a:ext uri="{FF2B5EF4-FFF2-40B4-BE49-F238E27FC236}">
                <a16:creationId xmlns:a16="http://schemas.microsoft.com/office/drawing/2014/main" id="{3A202FF5-2843-4732-B6E5-D03F7C455BD4}"/>
              </a:ext>
            </a:extLst>
          </p:cNvPr>
          <p:cNvSpPr>
            <a:spLocks noGrp="1"/>
          </p:cNvSpPr>
          <p:nvPr/>
        </p:nvSpPr>
        <p:spPr>
          <a:xfrm>
            <a:off x="762000" y="3295650"/>
            <a:ext cx="10668000" cy="1095375"/>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2. Circle with diameter endpoints (0, −2) and (4, 4).</a:t>
            </a:r>
          </a:p>
        </p:txBody>
      </p:sp>
      <p:sp>
        <p:nvSpPr>
          <p:cNvPr id="6" name="Rectangle 5">
            <a:extLst>
              <a:ext uri="{FF2B5EF4-FFF2-40B4-BE49-F238E27FC236}">
                <a16:creationId xmlns:a16="http://schemas.microsoft.com/office/drawing/2014/main" id="{24D24A5C-2636-45EB-9783-D61007CF588D}"/>
              </a:ext>
            </a:extLst>
          </p:cNvPr>
          <p:cNvSpPr>
            <a:spLocks noGrp="1"/>
          </p:cNvSpPr>
          <p:nvPr/>
        </p:nvSpPr>
        <p:spPr>
          <a:xfrm>
            <a:off x="762000" y="4505325"/>
            <a:ext cx="10668000" cy="1095375"/>
          </a:xfrm>
          <a:prstGeom prst="rect">
            <a:avLst/>
          </a:prstGeom>
          <a:noFill/>
          <a:ln w="0">
            <a:noFill/>
          </a:ln>
        </p:spPr>
        <p:txBody>
          <a:bodyPr wrap="square" lIns="0" tIns="0" rIns="0" bIns="0" anchor="ctr">
            <a:noAutofit/>
          </a:bodyPr>
          <a:lstStyle/>
          <a:p>
            <a:pPr>
              <a:defRPr sz="2700" b="0">
                <a:solidFill>
                  <a:srgbClr val="11344E"/>
                </a:solidFill>
                <a:latin typeface="Cambria Math"/>
                <a:ea typeface="Cambria Math"/>
                <a:cs typeface="Cambria Math"/>
              </a:defRPr>
            </a:pPr>
            <a:r>
              <a:rPr sz="2700" b="0">
                <a:solidFill>
                  <a:srgbClr val="11344E"/>
                </a:solidFill>
                <a:latin typeface="Cambria Math"/>
                <a:ea typeface="Cambria Math"/>
                <a:cs typeface="Cambria Math"/>
              </a:rPr>
              <a:t>Which step still needs practice?</a:t>
            </a:r>
          </a:p>
        </p:txBody>
      </p:sp>
    </p:spTree>
    <p:extLst>
      <p:ext uri="{BB962C8B-B14F-4D97-AF65-F5344CB8AC3E}">
        <p14:creationId xmlns:p14="http://schemas.microsoft.com/office/powerpoint/2010/main" val="366829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F94BB8-77E7-41BE-BF83-40906C747942}"/>
              </a:ext>
            </a:extLst>
          </p:cNvPr>
          <p:cNvSpPr>
            <a:spLocks noGrp="1"/>
          </p:cNvSpPr>
          <p:nvPr/>
        </p:nvSpPr>
        <p:spPr>
          <a:xfrm>
            <a:off x="609600" y="342900"/>
            <a:ext cx="10972800" cy="723900"/>
          </a:xfrm>
          <a:prstGeom prst="rect">
            <a:avLst/>
          </a:prstGeom>
          <a:noFill/>
          <a:ln w="0">
            <a:noFill/>
          </a:ln>
        </p:spPr>
        <p:txBody>
          <a:bodyPr wrap="square" lIns="0" tIns="0" rIns="0" bIns="0" anchor="ctr">
            <a:noAutofit/>
          </a:bodyPr>
          <a:lstStyle/>
          <a:p>
            <a:pPr>
              <a:defRPr sz="3225" b="1">
                <a:solidFill>
                  <a:srgbClr val="11344E"/>
                </a:solidFill>
                <a:latin typeface="Arial"/>
                <a:ea typeface="Arial"/>
                <a:cs typeface="Arial"/>
              </a:defRPr>
            </a:pPr>
            <a:r>
              <a:rPr sz="3225" b="1">
                <a:solidFill>
                  <a:srgbClr val="11344E"/>
                </a:solidFill>
                <a:latin typeface="Arial"/>
                <a:ea typeface="Arial"/>
                <a:cs typeface="Arial"/>
              </a:rPr>
              <a:t>Preparation for Monday</a:t>
            </a:r>
          </a:p>
        </p:txBody>
      </p:sp>
      <p:sp>
        <p:nvSpPr>
          <p:cNvPr id="2" name="Rectangle 1">
            <a:extLst>
              <a:ext uri="{FF2B5EF4-FFF2-40B4-BE49-F238E27FC236}">
                <a16:creationId xmlns:a16="http://schemas.microsoft.com/office/drawing/2014/main" id="{462D27C9-121D-4213-865A-52D895F7E8A2}"/>
              </a:ext>
            </a:extLst>
          </p:cNvPr>
          <p:cNvSpPr>
            <a:spLocks noGrp="1"/>
          </p:cNvSpPr>
          <p:nvPr/>
        </p:nvSpPr>
        <p:spPr>
          <a:xfrm>
            <a:off x="609600" y="1123950"/>
            <a:ext cx="10972800" cy="400050"/>
          </a:xfrm>
          <a:prstGeom prst="rect">
            <a:avLst/>
          </a:prstGeom>
          <a:noFill/>
          <a:ln w="0">
            <a:noFill/>
          </a:ln>
        </p:spPr>
        <p:txBody>
          <a:bodyPr wrap="square" lIns="0" tIns="0" rIns="0" bIns="0" anchor="ctr">
            <a:noAutofit/>
          </a:bodyPr>
          <a:lstStyle/>
          <a:p>
            <a:pPr>
              <a:defRPr sz="1725" b="0">
                <a:solidFill>
                  <a:srgbClr val="687783"/>
                </a:solidFill>
                <a:latin typeface="Arial"/>
                <a:ea typeface="Arial"/>
                <a:cs typeface="Arial"/>
              </a:defRPr>
            </a:pPr>
            <a:r>
              <a:rPr sz="1725" b="0">
                <a:solidFill>
                  <a:srgbClr val="687783"/>
                </a:solidFill>
                <a:latin typeface="Arial"/>
                <a:ea typeface="Arial"/>
                <a:cs typeface="Arial"/>
              </a:rPr>
              <a:t>Your next steps in ALEKS and test review</a:t>
            </a:r>
          </a:p>
        </p:txBody>
      </p:sp>
      <p:sp>
        <p:nvSpPr>
          <p:cNvPr id="3" name="Rectangle 2">
            <a:extLst>
              <a:ext uri="{FF2B5EF4-FFF2-40B4-BE49-F238E27FC236}">
                <a16:creationId xmlns:a16="http://schemas.microsoft.com/office/drawing/2014/main" id="{1143E119-9BF6-4D4A-A0DE-0D4F8993C9A6}"/>
              </a:ext>
            </a:extLst>
          </p:cNvPr>
          <p:cNvSpPr>
            <a:spLocks noGrp="1"/>
          </p:cNvSpPr>
          <p:nvPr/>
        </p:nvSpPr>
        <p:spPr>
          <a:xfrm>
            <a:off x="609600" y="6429375"/>
            <a:ext cx="10972800" cy="228600"/>
          </a:xfrm>
          <a:prstGeom prst="rect">
            <a:avLst/>
          </a:prstGeom>
          <a:noFill/>
          <a:ln w="0">
            <a:noFill/>
          </a:ln>
        </p:spPr>
        <p:txBody>
          <a:bodyPr wrap="square" lIns="0" tIns="0" rIns="0" bIns="0" anchor="ctr">
            <a:noAutofit/>
          </a:bodyPr>
          <a:lstStyle/>
          <a:p>
            <a:pPr>
              <a:defRPr sz="1125" b="0">
                <a:solidFill>
                  <a:srgbClr val="687783"/>
                </a:solidFill>
                <a:latin typeface="Arial"/>
                <a:ea typeface="Arial"/>
                <a:cs typeface="Arial"/>
              </a:defRPr>
            </a:pPr>
            <a:r>
              <a:rPr sz="1125" b="0">
                <a:solidFill>
                  <a:srgbClr val="687783"/>
                </a:solidFill>
                <a:latin typeface="Arial"/>
                <a:ea typeface="Arial"/>
                <a:cs typeface="Arial"/>
              </a:rPr>
              <a:t>MATH 130    September 18, 2026    22</a:t>
            </a:r>
          </a:p>
        </p:txBody>
      </p:sp>
      <p:sp>
        <p:nvSpPr>
          <p:cNvPr id="4" name="Rectangle 3">
            <a:extLst>
              <a:ext uri="{FF2B5EF4-FFF2-40B4-BE49-F238E27FC236}">
                <a16:creationId xmlns:a16="http://schemas.microsoft.com/office/drawing/2014/main" id="{57E8F1CE-9338-45E5-8B50-2A3053D5D6E0}"/>
              </a:ext>
            </a:extLst>
          </p:cNvPr>
          <p:cNvSpPr>
            <a:spLocks noGrp="1"/>
          </p:cNvSpPr>
          <p:nvPr/>
        </p:nvSpPr>
        <p:spPr>
          <a:xfrm>
            <a:off x="762000" y="1924050"/>
            <a:ext cx="10668000" cy="695325"/>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Practice a parallel and a perpendicular line through a point.</a:t>
            </a:r>
          </a:p>
        </p:txBody>
      </p:sp>
      <p:sp>
        <p:nvSpPr>
          <p:cNvPr id="5" name="Rectangle 4">
            <a:extLst>
              <a:ext uri="{FF2B5EF4-FFF2-40B4-BE49-F238E27FC236}">
                <a16:creationId xmlns:a16="http://schemas.microsoft.com/office/drawing/2014/main" id="{1A6931BB-900A-4FA5-9D0A-6E333690B1CD}"/>
              </a:ext>
            </a:extLst>
          </p:cNvPr>
          <p:cNvSpPr>
            <a:spLocks noGrp="1"/>
          </p:cNvSpPr>
          <p:nvPr/>
        </p:nvSpPr>
        <p:spPr>
          <a:xfrm>
            <a:off x="762000" y="2733675"/>
            <a:ext cx="10668000" cy="695325"/>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Practice a circle from the endpoints of a diameter.</a:t>
            </a:r>
          </a:p>
        </p:txBody>
      </p:sp>
      <p:sp>
        <p:nvSpPr>
          <p:cNvPr id="6" name="Rectangle 5">
            <a:extLst>
              <a:ext uri="{FF2B5EF4-FFF2-40B4-BE49-F238E27FC236}">
                <a16:creationId xmlns:a16="http://schemas.microsoft.com/office/drawing/2014/main" id="{348E0B77-A8AC-464D-83AE-B64CD50AFE69}"/>
              </a:ext>
            </a:extLst>
          </p:cNvPr>
          <p:cNvSpPr>
            <a:spLocks noGrp="1"/>
          </p:cNvSpPr>
          <p:nvPr/>
        </p:nvSpPr>
        <p:spPr>
          <a:xfrm>
            <a:off x="762000" y="3543300"/>
            <a:ext cx="10668000" cy="695325"/>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Monday: receive Quiz 4, a take-home Test 1 review.</a:t>
            </a:r>
          </a:p>
        </p:txBody>
      </p:sp>
      <p:sp>
        <p:nvSpPr>
          <p:cNvPr id="7" name="Rectangle 6">
            <a:extLst>
              <a:ext uri="{FF2B5EF4-FFF2-40B4-BE49-F238E27FC236}">
                <a16:creationId xmlns:a16="http://schemas.microsoft.com/office/drawing/2014/main" id="{3DE3D954-86F4-4202-B88C-113CAEBB0148}"/>
              </a:ext>
            </a:extLst>
          </p:cNvPr>
          <p:cNvSpPr>
            <a:spLocks noGrp="1"/>
          </p:cNvSpPr>
          <p:nvPr/>
        </p:nvSpPr>
        <p:spPr>
          <a:xfrm>
            <a:off x="762000" y="4352925"/>
            <a:ext cx="10668000" cy="695325"/>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Wednesday: Test 1 at 2:10 PM. Quiz 4 due at 3:15 PM.</a:t>
            </a:r>
          </a:p>
        </p:txBody>
      </p:sp>
      <p:sp>
        <p:nvSpPr>
          <p:cNvPr id="8" name="Rectangle 7">
            <a:extLst>
              <a:ext uri="{FF2B5EF4-FFF2-40B4-BE49-F238E27FC236}">
                <a16:creationId xmlns:a16="http://schemas.microsoft.com/office/drawing/2014/main" id="{B84AEAAA-86CD-401F-89CE-6622AAE882BE}"/>
              </a:ext>
            </a:extLst>
          </p:cNvPr>
          <p:cNvSpPr>
            <a:spLocks noGrp="1"/>
          </p:cNvSpPr>
          <p:nvPr/>
        </p:nvSpPr>
        <p:spPr>
          <a:xfrm>
            <a:off x="762000" y="5162550"/>
            <a:ext cx="10668000" cy="695325"/>
          </a:xfrm>
          <a:prstGeom prst="rect">
            <a:avLst/>
          </a:prstGeom>
          <a:noFill/>
          <a:ln w="0">
            <a:noFill/>
          </a:ln>
        </p:spPr>
        <p:txBody>
          <a:bodyPr wrap="square" lIns="0" tIns="0" rIns="0" bIns="0" anchor="ctr">
            <a:noAutofit/>
          </a:bodyPr>
          <a:lstStyle/>
          <a:p>
            <a:pPr>
              <a:defRPr sz="2250" b="0">
                <a:solidFill>
                  <a:srgbClr val="11344E"/>
                </a:solidFill>
                <a:latin typeface="Arial"/>
                <a:ea typeface="Arial"/>
                <a:cs typeface="Arial"/>
              </a:defRPr>
            </a:pPr>
            <a:r>
              <a:rPr sz="2250" b="0">
                <a:solidFill>
                  <a:srgbClr val="11344E"/>
                </a:solidFill>
                <a:latin typeface="Arial"/>
                <a:ea typeface="Arial"/>
                <a:cs typeface="Arial"/>
              </a:rPr>
              <a:t>ALEKS 2.5/3.1 is due Wednesday at 2:10 PM.</a:t>
            </a:r>
          </a:p>
        </p:txBody>
      </p:sp>
    </p:spTree>
    <p:extLst>
      <p:ext uri="{BB962C8B-B14F-4D97-AF65-F5344CB8AC3E}">
        <p14:creationId xmlns:p14="http://schemas.microsoft.com/office/powerpoint/2010/main" val="13627317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3282</Words>
  <Application>Microsoft Office PowerPoint</Application>
  <DocSecurity>0</DocSecurity>
  <PresentationFormat>Widescreen</PresentationFormat>
  <Paragraphs>320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Volk, Andrew Harrison (General Math and Science)</cp:lastModifiedBy>
  <cp:revision>2</cp:revision>
  <dcterms:created xsi:type="dcterms:W3CDTF">2026-09-18T19:07:29Z</dcterms:created>
  <dcterms:modified xsi:type="dcterms:W3CDTF">2026-09-18T20:07:56Z</dcterms:modified>
</cp:coreProperties>
</file>