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ec94694be243d4" /><Relationship Type="http://schemas.openxmlformats.org/officeDocument/2006/relationships/extended-properties" Target="/docProps/app.xml" Id="R158bacb8cd36497f" /><Relationship Type="http://schemas.openxmlformats.org/officeDocument/2006/relationships/officeDocument" Target="/ppt/presentation.xml" Id="Rc71dc776348b41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927dc007f44782"/>
  </p:sldMasterIdLst>
  <p:notesMasterIdLst>
    <p:notesMasterId xmlns:r="http://schemas.openxmlformats.org/officeDocument/2006/relationships" r:id="Rf3652f163cb142b6"/>
  </p:notesMasterIdLst>
  <p:sldIdLst>
    <p:sldId xmlns:r="http://schemas.openxmlformats.org/officeDocument/2006/relationships" id="256" r:id="Rd7de9e5d449d4370"/>
    <p:sldId xmlns:r="http://schemas.openxmlformats.org/officeDocument/2006/relationships" id="257" r:id="R2da41b2ae5ef4a01"/>
    <p:sldId xmlns:r="http://schemas.openxmlformats.org/officeDocument/2006/relationships" id="258" r:id="R0ded70f6a4f54ce9"/>
    <p:sldId xmlns:r="http://schemas.openxmlformats.org/officeDocument/2006/relationships" id="259" r:id="R4f4328dc7a654c81"/>
    <p:sldId xmlns:r="http://schemas.openxmlformats.org/officeDocument/2006/relationships" id="260" r:id="R0d10ab1d7704418d"/>
    <p:sldId xmlns:r="http://schemas.openxmlformats.org/officeDocument/2006/relationships" id="261" r:id="Ra5875fdf127f4c1e"/>
    <p:sldId xmlns:r="http://schemas.openxmlformats.org/officeDocument/2006/relationships" id="262" r:id="R74738341ece745eb"/>
    <p:sldId xmlns:r="http://schemas.openxmlformats.org/officeDocument/2006/relationships" id="263" r:id="R65a2ba8bde214551"/>
    <p:sldId xmlns:r="http://schemas.openxmlformats.org/officeDocument/2006/relationships" id="264" r:id="R0bbea3f3960b4f36"/>
    <p:sldId xmlns:r="http://schemas.openxmlformats.org/officeDocument/2006/relationships" id="265" r:id="Rdeefbd8926d34d8a"/>
    <p:sldId xmlns:r="http://schemas.openxmlformats.org/officeDocument/2006/relationships" id="266" r:id="Rfff6e9a2df114ace"/>
    <p:sldId xmlns:r="http://schemas.openxmlformats.org/officeDocument/2006/relationships" id="267" r:id="R80431c965b2d4fc8"/>
    <p:sldId xmlns:r="http://schemas.openxmlformats.org/officeDocument/2006/relationships" id="268" r:id="Rf9c5a485e9a04cb6"/>
    <p:sldId xmlns:r="http://schemas.openxmlformats.org/officeDocument/2006/relationships" id="269" r:id="Rc9c7d52a40cb4a6e"/>
    <p:sldId xmlns:r="http://schemas.openxmlformats.org/officeDocument/2006/relationships" id="270" r:id="Rc655f7393e9142d9"/>
    <p:sldId xmlns:r="http://schemas.openxmlformats.org/officeDocument/2006/relationships" id="271" r:id="Rb71f9bd764e04aae"/>
    <p:sldId xmlns:r="http://schemas.openxmlformats.org/officeDocument/2006/relationships" id="272" r:id="Rf514f090770b4012"/>
    <p:sldId xmlns:r="http://schemas.openxmlformats.org/officeDocument/2006/relationships" id="273" r:id="R78b00b334d8544e3"/>
    <p:sldId xmlns:r="http://schemas.openxmlformats.org/officeDocument/2006/relationships" id="274" r:id="Rbf52529e908c411a"/>
    <p:sldId xmlns:r="http://schemas.openxmlformats.org/officeDocument/2006/relationships" id="275" r:id="Rc75c5b8fae674220"/>
    <p:sldId xmlns:r="http://schemas.openxmlformats.org/officeDocument/2006/relationships" id="276" r:id="R9ec24de37eb24c38"/>
    <p:sldId xmlns:r="http://schemas.openxmlformats.org/officeDocument/2006/relationships" id="277" r:id="R09002bac399d4836"/>
    <p:sldId xmlns:r="http://schemas.openxmlformats.org/officeDocument/2006/relationships" id="278" r:id="R7129fe521b7847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23e99f3bea4e74" /><Relationship Type="http://schemas.openxmlformats.org/officeDocument/2006/relationships/slideMaster" Target="/ppt/slideMasters/slideMaster1.xml" Id="R88927dc007f44782" /><Relationship Type="http://schemas.openxmlformats.org/officeDocument/2006/relationships/notesMaster" Target="/ppt/notesMasters/notesMaster1.xml" Id="Rf3652f163cb142b6" /><Relationship Type="http://schemas.openxmlformats.org/officeDocument/2006/relationships/presProps" Target="/ppt/presProps.xml" Id="Rad0ab4fd1e544a50" /><Relationship Type="http://schemas.openxmlformats.org/officeDocument/2006/relationships/tableStyles" Target="/ppt/tableStyles.xml" Id="R2fdafcf056ec4591" /><Relationship Type="http://schemas.openxmlformats.org/officeDocument/2006/relationships/slide" Target="/ppt/slides/slide1.xml" Id="Rd7de9e5d449d4370" /><Relationship Type="http://schemas.openxmlformats.org/officeDocument/2006/relationships/slide" Target="/ppt/slides/slide2.xml" Id="R2da41b2ae5ef4a01" /><Relationship Type="http://schemas.openxmlformats.org/officeDocument/2006/relationships/slide" Target="/ppt/slides/slide3.xml" Id="R0ded70f6a4f54ce9" /><Relationship Type="http://schemas.openxmlformats.org/officeDocument/2006/relationships/slide" Target="/ppt/slides/slide4.xml" Id="R4f4328dc7a654c81" /><Relationship Type="http://schemas.openxmlformats.org/officeDocument/2006/relationships/slide" Target="/ppt/slides/slide5.xml" Id="R0d10ab1d7704418d" /><Relationship Type="http://schemas.openxmlformats.org/officeDocument/2006/relationships/slide" Target="/ppt/slides/slide6.xml" Id="Ra5875fdf127f4c1e" /><Relationship Type="http://schemas.openxmlformats.org/officeDocument/2006/relationships/slide" Target="/ppt/slides/slide7.xml" Id="R74738341ece745eb" /><Relationship Type="http://schemas.openxmlformats.org/officeDocument/2006/relationships/slide" Target="/ppt/slides/slide8.xml" Id="R65a2ba8bde214551" /><Relationship Type="http://schemas.openxmlformats.org/officeDocument/2006/relationships/slide" Target="/ppt/slides/slide9.xml" Id="R0bbea3f3960b4f36" /><Relationship Type="http://schemas.openxmlformats.org/officeDocument/2006/relationships/slide" Target="/ppt/slides/slide10.xml" Id="Rdeefbd8926d34d8a" /><Relationship Type="http://schemas.openxmlformats.org/officeDocument/2006/relationships/slide" Target="/ppt/slides/slide11.xml" Id="Rfff6e9a2df114ace" /><Relationship Type="http://schemas.openxmlformats.org/officeDocument/2006/relationships/slide" Target="/ppt/slides/slide12.xml" Id="R80431c965b2d4fc8" /><Relationship Type="http://schemas.openxmlformats.org/officeDocument/2006/relationships/slide" Target="/ppt/slides/slide13.xml" Id="Rf9c5a485e9a04cb6" /><Relationship Type="http://schemas.openxmlformats.org/officeDocument/2006/relationships/slide" Target="/ppt/slides/slide14.xml" Id="Rc9c7d52a40cb4a6e" /><Relationship Type="http://schemas.openxmlformats.org/officeDocument/2006/relationships/slide" Target="/ppt/slides/slide15.xml" Id="Rc655f7393e9142d9" /><Relationship Type="http://schemas.openxmlformats.org/officeDocument/2006/relationships/slide" Target="/ppt/slides/slide16.xml" Id="Rb71f9bd764e04aae" /><Relationship Type="http://schemas.openxmlformats.org/officeDocument/2006/relationships/slide" Target="/ppt/slides/slide17.xml" Id="Rf514f090770b4012" /><Relationship Type="http://schemas.openxmlformats.org/officeDocument/2006/relationships/slide" Target="/ppt/slides/slide18.xml" Id="R78b00b334d8544e3" /><Relationship Type="http://schemas.openxmlformats.org/officeDocument/2006/relationships/slide" Target="/ppt/slides/slide19.xml" Id="Rbf52529e908c411a" /><Relationship Type="http://schemas.openxmlformats.org/officeDocument/2006/relationships/slide" Target="/ppt/slides/slide20.xml" Id="Rc75c5b8fae674220" /><Relationship Type="http://schemas.openxmlformats.org/officeDocument/2006/relationships/slide" Target="/ppt/slides/slide21.xml" Id="R9ec24de37eb24c38" /><Relationship Type="http://schemas.openxmlformats.org/officeDocument/2006/relationships/slide" Target="/ppt/slides/slide22.xml" Id="R09002bac399d4836" /><Relationship Type="http://schemas.openxmlformats.org/officeDocument/2006/relationships/slide" Target="/ppt/slides/slide23.xml" Id="R7129fe521b7847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d956c92a8741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dec25f67ff462f" /><Relationship Type="http://schemas.openxmlformats.org/officeDocument/2006/relationships/notesMaster" Target="/ppt/notesMasters/notesMaster1.xml" Id="Rda957637b15e42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91ef98205b49b9" /><Relationship Type="http://schemas.openxmlformats.org/officeDocument/2006/relationships/notesMaster" Target="/ppt/notesMasters/notesMaster1.xml" Id="R3e04c006a28a4e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4df4dd0cf94279" /><Relationship Type="http://schemas.openxmlformats.org/officeDocument/2006/relationships/notesMaster" Target="/ppt/notesMasters/notesMaster1.xml" Id="R7f243c47615f42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e951c6d10340d8" /><Relationship Type="http://schemas.openxmlformats.org/officeDocument/2006/relationships/notesMaster" Target="/ppt/notesMasters/notesMaster1.xml" Id="Radcf16131d7747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af3ec5ebc1456b" /><Relationship Type="http://schemas.openxmlformats.org/officeDocument/2006/relationships/notesMaster" Target="/ppt/notesMasters/notesMaster1.xml" Id="R2ccf95a1ca784d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443bebc3ea4164" /><Relationship Type="http://schemas.openxmlformats.org/officeDocument/2006/relationships/notesMaster" Target="/ppt/notesMasters/notesMaster1.xml" Id="R8839cef0f1c64c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781a60388f4ced" /><Relationship Type="http://schemas.openxmlformats.org/officeDocument/2006/relationships/notesMaster" Target="/ppt/notesMasters/notesMaster1.xml" Id="Rb2ae31a4b06b4e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a79bc9bb45416d" /><Relationship Type="http://schemas.openxmlformats.org/officeDocument/2006/relationships/notesMaster" Target="/ppt/notesMasters/notesMaster1.xml" Id="R38b03db4ad0241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3e1a2aecd047e0" /><Relationship Type="http://schemas.openxmlformats.org/officeDocument/2006/relationships/notesMaster" Target="/ppt/notesMasters/notesMaster1.xml" Id="Ra48229a0b07848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fa2c7946de4f21" /><Relationship Type="http://schemas.openxmlformats.org/officeDocument/2006/relationships/notesMaster" Target="/ppt/notesMasters/notesMaster1.xml" Id="R4d9629837aae41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9225f0b0224950" /><Relationship Type="http://schemas.openxmlformats.org/officeDocument/2006/relationships/notesMaster" Target="/ppt/notesMasters/notesMaster1.xml" Id="Rb58ce39c01b94e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409066aafb426e" /><Relationship Type="http://schemas.openxmlformats.org/officeDocument/2006/relationships/notesMaster" Target="/ppt/notesMasters/notesMaster1.xml" Id="R1f74e290b5e04f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3c7fe8d63840f1" /><Relationship Type="http://schemas.openxmlformats.org/officeDocument/2006/relationships/notesMaster" Target="/ppt/notesMasters/notesMaster1.xml" Id="Rb5f0fbac050b45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029cf82f714231" /><Relationship Type="http://schemas.openxmlformats.org/officeDocument/2006/relationships/notesMaster" Target="/ppt/notesMasters/notesMaster1.xml" Id="R048f931dcdac4e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30803005344e91" /><Relationship Type="http://schemas.openxmlformats.org/officeDocument/2006/relationships/notesMaster" Target="/ppt/notesMasters/notesMaster1.xml" Id="Rd67d75e4086f41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2a07212dab4d1b" /><Relationship Type="http://schemas.openxmlformats.org/officeDocument/2006/relationships/notesMaster" Target="/ppt/notesMasters/notesMaster1.xml" Id="R6f5edac649eb4a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2888bc95304014" /><Relationship Type="http://schemas.openxmlformats.org/officeDocument/2006/relationships/notesMaster" Target="/ppt/notesMasters/notesMaster1.xml" Id="Rf60f693a000e436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90ceb13d6e4aef" /><Relationship Type="http://schemas.openxmlformats.org/officeDocument/2006/relationships/notesMaster" Target="/ppt/notesMasters/notesMaster1.xml" Id="R630d732949ef406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0dc3fd25d14969" /><Relationship Type="http://schemas.openxmlformats.org/officeDocument/2006/relationships/notesMaster" Target="/ppt/notesMasters/notesMaster1.xml" Id="R9bc959744a02416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95ad98b40674bcb" /><Relationship Type="http://schemas.openxmlformats.org/officeDocument/2006/relationships/notesMaster" Target="/ppt/notesMasters/notesMaster1.xml" Id="R34575f7f564e4ff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31dd21a4ad340b7" /><Relationship Type="http://schemas.openxmlformats.org/officeDocument/2006/relationships/notesMaster" Target="/ppt/notesMasters/notesMaster1.xml" Id="Rc7e10a3936064df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a1f922950ab4899" /><Relationship Type="http://schemas.openxmlformats.org/officeDocument/2006/relationships/notesMaster" Target="/ppt/notesMasters/notesMaster1.xml" Id="R1cb70beafcf6411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11f167931244847" /><Relationship Type="http://schemas.openxmlformats.org/officeDocument/2006/relationships/notesMaster" Target="/ppt/notesMasters/notesMaster1.xml" Id="R9fe4a44b644c40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0:00–0:01. Open with the deadline and the goal: students will leave knowing the exact six quiz tasks and their next ALEKS target. Source: C:\Users\andre\Repos\andrewhvolk.github.io\130Test1.html and C:\Users\andre\Downloads\Quiz2.pdf.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0:01–0:03. Ask students to open ALEKS after class and verify that both module names appear in their path. Emphasize that the class percentages are aggregate progress, not predicted quiz scores. Source: C:\Users\andre\Downloads\itemsReport (1).xlsx, class_progress A62:F97.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0:03–0:05. Clarify that students still need the R.6 module even though the posted Quiz 2 versions do not directly ask standalone R.6 questions. The quiz requires supporting work. Source: C:\Users\andre\Downloads\Quiz2.pdf, Versions A and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0:05–0:07. Students should circle the named method before starting. The quiz awards points for the requested process, not only the final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0:07–0:11. Ask which factors 12 contributes to each denominator before showing step 2. Stress that 12 multiplies both fractions and the right side. Verify x = 25/7 in the original equation.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0:11–0:12:30. Circulate. Look for students who multiply only the denominators or fail to distribute the subtraction 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0:12:30–0:13. Quick check. Ask students to mark the exact line where their work first differs.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0:13–0:15:30. Model the left side, then give one minute for the right side. Ask students to name the operation undone at each 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0:15:30–0:16. Confirm that subtracting v comes last and that t cannot equal zero in the rearranged expression.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0:16–0:21. Build the equation from units: liters times decimal concentration equals liters of pure substance. Require a variable definition, an equation, and both final quantities with liters.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0:21–0:23:30. Listen for the complement 18 − x and for decimals rather than whole-number percent labels in the equation.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0:23:30–0:24. Check the complement and units. Point out that 30% lies closer to 40%, so the larger amount should be the 40% 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0:24–0:27:30. Keep the model brief because students practiced factoring in the prior lesson. Give one minute for the try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0:27:30–0:28. Ask whether both roots were stated. A fully factored expression without the roots does not finish the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0:28–0:33. Pause before step 2 and ask for half of 4 and its square. Explain why the same number must be added to both sides. Require the plus-minus symbol after taking square roots.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0:33–0:35:30. Check that students move +1 to the right as −1 before adding 9 to both sides.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0:35:30–0:36. Check exact radical simplification and the plus-minus 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0:36–0:41. Have students supply c = −4 before revealing the discriminant. Explain that D controls the radical and must be simplified.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0:41–0:43:30. Watch for c = −2 and denominator 2a =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0:43:30–0:44. Check that students simplified both the radical and the common factor in the fraction.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0:44–0:47:30. Students choose the two methods they most need. Encourage one equation/formula/mixture item and one quadratic item.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0:47:30–0:48. Students self-mark. Ask them to write the name of the method that caused the first incorrect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0:48–0:50. Students write one next topic. Remind them that both ALEKS modules remain part of the course work. Source: C:\Users\andre\Downloads\itemsReport (1).xlsx and C:\Users\andre\Downloads\Quiz2.pdf.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e729b53b34f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6aec64ec1e485b" /><Relationship Type="http://schemas.openxmlformats.org/officeDocument/2006/relationships/slideLayout" Target="/ppt/slideLayouts/slideLayout1.xml" Id="R133331f7c3234e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3331f7c3234e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51e0c63ff4cff" /><Relationship Type="http://schemas.openxmlformats.org/officeDocument/2006/relationships/notesSlide" Target="/ppt/notesSlides/notesSlide1.xml" Id="R840e4025f8d043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13c4c7fbd453e" /><Relationship Type="http://schemas.openxmlformats.org/officeDocument/2006/relationships/notesSlide" Target="/ppt/notesSlides/notesSlide2.xml" Id="R303137878b2040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6012df3ee423a" /><Relationship Type="http://schemas.openxmlformats.org/officeDocument/2006/relationships/notesSlide" Target="/ppt/notesSlides/notesSlide3.xml" Id="R2c913c3bfa5740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5fbcfef39443f" /><Relationship Type="http://schemas.openxmlformats.org/officeDocument/2006/relationships/notesSlide" Target="/ppt/notesSlides/notesSlide4.xml" Id="Re41fe9f18f4047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83d93ec5342f5" /><Relationship Type="http://schemas.openxmlformats.org/officeDocument/2006/relationships/notesSlide" Target="/ppt/notesSlides/notesSlide5.xml" Id="R0199aa69f70f42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9fbc5d2074c6d" /><Relationship Type="http://schemas.openxmlformats.org/officeDocument/2006/relationships/notesSlide" Target="/ppt/notesSlides/notesSlide6.xml" Id="Rb135063d121a4c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b4b6ea74f4e32" /><Relationship Type="http://schemas.openxmlformats.org/officeDocument/2006/relationships/notesSlide" Target="/ppt/notesSlides/notesSlide7.xml" Id="Rb32d1af4ed0947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90b5228494c8a" /><Relationship Type="http://schemas.openxmlformats.org/officeDocument/2006/relationships/notesSlide" Target="/ppt/notesSlides/notesSlide8.xml" Id="Raab5a3b4c83d4d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fe4860bd34d7f" /><Relationship Type="http://schemas.openxmlformats.org/officeDocument/2006/relationships/notesSlide" Target="/ppt/notesSlides/notesSlide9.xml" Id="R27deefb026ec4f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da83f8b244d51" /><Relationship Type="http://schemas.openxmlformats.org/officeDocument/2006/relationships/notesSlide" Target="/ppt/notesSlides/notesSlide10.xml" Id="R12915ac4080b43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4ea169fe14ddc" /><Relationship Type="http://schemas.openxmlformats.org/officeDocument/2006/relationships/notesSlide" Target="/ppt/notesSlides/notesSlide11.xml" Id="R406cb559ced348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9f694edfa422d" /><Relationship Type="http://schemas.openxmlformats.org/officeDocument/2006/relationships/notesSlide" Target="/ppt/notesSlides/notesSlide12.xml" Id="R3fc133a619af44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374885f704eb5" /><Relationship Type="http://schemas.openxmlformats.org/officeDocument/2006/relationships/notesSlide" Target="/ppt/notesSlides/notesSlide13.xml" Id="R84f124f45cbd43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ddc82e939444d" /><Relationship Type="http://schemas.openxmlformats.org/officeDocument/2006/relationships/notesSlide" Target="/ppt/notesSlides/notesSlide14.xml" Id="Rabde4877ee3e43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fe1ad1b56405f" /><Relationship Type="http://schemas.openxmlformats.org/officeDocument/2006/relationships/notesSlide" Target="/ppt/notesSlides/notesSlide15.xml" Id="R9d232dc4a97849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8eaf3af7f4e2c" /><Relationship Type="http://schemas.openxmlformats.org/officeDocument/2006/relationships/notesSlide" Target="/ppt/notesSlides/notesSlide16.xml" Id="R7d4c7f42fc0e475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e822c609d459d" /><Relationship Type="http://schemas.openxmlformats.org/officeDocument/2006/relationships/notesSlide" Target="/ppt/notesSlides/notesSlide17.xml" Id="R6f7dafe8452d436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dac7a23814568" /><Relationship Type="http://schemas.openxmlformats.org/officeDocument/2006/relationships/notesSlide" Target="/ppt/notesSlides/notesSlide18.xml" Id="Raea316304cf2485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5bebfe2254a52" /><Relationship Type="http://schemas.openxmlformats.org/officeDocument/2006/relationships/notesSlide" Target="/ppt/notesSlides/notesSlide19.xml" Id="R008b7e192e6c405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20806f8ef4851" /><Relationship Type="http://schemas.openxmlformats.org/officeDocument/2006/relationships/notesSlide" Target="/ppt/notesSlides/notesSlide20.xml" Id="R84be37b6de29423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e49dffec64c4c" /><Relationship Type="http://schemas.openxmlformats.org/officeDocument/2006/relationships/notesSlide" Target="/ppt/notesSlides/notesSlide21.xml" Id="R207fbb48776041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f6965c32d445f" /><Relationship Type="http://schemas.openxmlformats.org/officeDocument/2006/relationships/notesSlide" Target="/ppt/notesSlides/notesSlide22.xml" Id="Re53d794eb5eb4a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f6737bce54229" /><Relationship Type="http://schemas.openxmlformats.org/officeDocument/2006/relationships/notesSlide" Target="/ppt/notesSlides/notesSlide23.xml" Id="Ree05daea947d49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68970-FC74-4F99-A36E-0CE72D59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54833-7E7E-4718-B877-4E06F8F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24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0" b="1">
                <a:solidFill>
                  <a:srgbClr val="1A4668"/>
                </a:solidFill>
                <a:latin typeface="Arial"/>
                <a:ea typeface="Arial"/>
                <a:cs typeface="Arial"/>
              </a:defRPr>
            </a:pPr>
            <a:r>
              <a:rPr sz="11250" b="1">
                <a:solidFill>
                  <a:srgbClr val="1A4668"/>
                </a:solidFill>
                <a:latin typeface="Arial"/>
                <a:ea typeface="Arial"/>
                <a:cs typeface="Arial"/>
              </a:rPr>
              <a:t>x²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9CD32-5EC7-448A-92CF-9D0CE262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MATH 130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C45BE-A7EC-4A95-B5A8-1F971D00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Quiz 2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92BE1-28F7-48CA-9C9A-93F8E9C1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DCEEF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CEEF8"/>
                </a:solidFill>
                <a:latin typeface="Arial"/>
                <a:ea typeface="Arial"/>
                <a:cs typeface="Arial"/>
              </a:rPr>
              <a:t>Equations, formulas, mixtures, and quadratic 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65A45-F7B6-43D0-94C7-C5618FB8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6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871FA-8828-4F4F-8BA9-02065960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Monday, September 7, 2026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3:15–4:05 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F984F-164C-4677-AFCA-AA6A9965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Quiz 2: Wednesday, September 9 at 2:10 PM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FE7F0-84E8-4C0B-B4C9-CEA1CC7E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00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DCEE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CEEF8"/>
                </a:solidFill>
                <a:latin typeface="Arial"/>
                <a:ea typeface="Arial"/>
                <a:cs typeface="Arial"/>
              </a:rPr>
              <a:t>1 min</a:t>
            </a:r>
          </a:p>
        </p:txBody>
      </p:sp>
    </p:spTree>
    <p:extLst>
      <p:ext uri="{BB962C8B-B14F-4D97-AF65-F5344CB8AC3E}">
        <p14:creationId xmlns:p14="http://schemas.microsoft.com/office/powerpoint/2010/main" val="1564551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597AD-5A2C-46EA-A28A-A4E56A7C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86A68-C26B-4B53-9009-94DD278F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ALEKS completion before Quiz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6D32C-8204-43A8-A5DC-992AE7DF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C4FFF-FF95-414B-A40B-C3E6259F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D04DE-A1FE-439B-AC74-891B4400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C8FB9-3A7D-418C-A67D-3E521B03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6D102-248C-4B44-826A-41FF583D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Complete both modules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CE9BB-5378-47DC-8107-42FEC799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87230-23A5-4407-8AF2-766AA3DF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678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78B8"/>
                </a:solidFill>
                <a:latin typeface="Arial"/>
                <a:ea typeface="Arial"/>
                <a:cs typeface="Arial"/>
              </a:rPr>
              <a:t>CURRENT MODULE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44B57-B4D8-485F-B541-78A27C4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Sections 1.1, 1.2, 1.4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9C27E-1CDF-4A7F-90EC-01216E20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400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Finish every assigned topic. Give priority to percent mixtures, fractional equations, literal formulas, and quadratic roots.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3E5BE-4DD7-49F1-8258-FD96F859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EE526-4D55-46AD-8788-76A4E590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47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86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6A00"/>
                </a:solidFill>
                <a:latin typeface="Arial"/>
                <a:ea typeface="Arial"/>
                <a:cs typeface="Arial"/>
              </a:rPr>
              <a:t>REVIEW MODULE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41540-D173-4B0A-92E5-D9EDE064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Review R.6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4090C-5647-4625-9A8F-758E66E6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4400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Finish the remaining rational-expression topics. Focus on division, factoring and cancellation, LCDs, and complex fractions.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8E51A-0885-4EA2-B26F-4C75AA01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Class snapshot from Sept 7: current module 48% complete; R.6 69% complete. These percentages measure learning progress, not grades.</a:t>
            </a:r>
          </a:p>
        </p:txBody>
      </p:sp>
    </p:spTree>
    <p:extLst>
      <p:ext uri="{BB962C8B-B14F-4D97-AF65-F5344CB8AC3E}">
        <p14:creationId xmlns:p14="http://schemas.microsoft.com/office/powerpoint/2010/main" val="16943962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FBBCF-6CD1-4B69-9D6D-B78F05DE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34295-8F6C-46B9-AA1C-4DC57B87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Quiz 2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3BA80-6A63-4C2E-A19C-90BA1790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D95D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5D4F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C522B-5B70-4CC9-8767-27EB8993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DA94A-296C-412C-AC16-9A6FC5B7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11845-6D99-44B1-A259-FC19ACCF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12681-805C-4B01-A381-629C3EEA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385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856D"/>
                </a:solidFill>
                <a:latin typeface="Arial"/>
                <a:ea typeface="Arial"/>
                <a:cs typeface="Arial"/>
              </a:rPr>
              <a:t>DIRECTLY ASSESSED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7BB85-B96B-4424-AACE-73B04167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5810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14 pts  </a:t>
            </a: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Fractional linear equation</a:t>
            </a:r>
          </a:p>
          <a:p xmlns:a="http://schemas.openxmlformats.org/drawingml/2006/main">
            <a:pPr algn="l"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14 pts  </a:t>
            </a: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Literal formula rearrangement</a:t>
            </a:r>
          </a:p>
          <a:p xmlns:a="http://schemas.openxmlformats.org/drawingml/2006/main">
            <a:pPr algn="l"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16 pts  </a:t>
            </a: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Percent mixture model</a:t>
            </a:r>
          </a:p>
          <a:p xmlns:a="http://schemas.openxmlformats.org/drawingml/2006/main">
            <a:pPr algn="l"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16 pts  </a:t>
            </a: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Quadratic solved by factoring</a:t>
            </a:r>
          </a:p>
          <a:p xmlns:a="http://schemas.openxmlformats.org/drawingml/2006/main">
            <a:pPr algn="l"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20 pts  </a:t>
            </a: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Quadratic solved by completing the square</a:t>
            </a:r>
          </a:p>
          <a:p xmlns:a="http://schemas.openxmlformats.org/drawingml/2006/main">
            <a:pPr algn="l"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20 pts  </a:t>
            </a: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Quadratic formula with discriminant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21DCC-08AD-4328-ADF6-61563FA8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60BC6-02EA-492E-BD92-8FCDEC7F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1239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5D4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5D4F"/>
                </a:solidFill>
                <a:latin typeface="Arial"/>
                <a:ea typeface="Arial"/>
                <a:cs typeface="Arial"/>
              </a:rPr>
              <a:t>NOT A DIRECT QUIZ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D6390-633E-4CD7-BA67-A369CB1C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24000"/>
            <a:ext cx="44767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Standalone R.6 simplification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Restrictions and complex fractions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Zero, one, or infinitely many solutions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Rational equations with variable denominators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1B352-9459-4077-AE51-70D61567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questions   •   100 points   •   25 minutes   •   supporting work required</a:t>
            </a:r>
          </a:p>
        </p:txBody>
      </p:sp>
    </p:spTree>
    <p:extLst>
      <p:ext uri="{BB962C8B-B14F-4D97-AF65-F5344CB8AC3E}">
        <p14:creationId xmlns:p14="http://schemas.microsoft.com/office/powerpoint/2010/main" val="19370981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39817-00F5-4457-816F-E50D8F3C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3AC8E-F7CF-40B0-B54A-E2294FFA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method named in the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B4ECF-3F98-401D-94D7-F90F6688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678B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8B8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24D21-D0A9-4F1B-826D-60E14404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42B0C-3444-4EF4-BC98-5B37423A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9EBCC-DCB3-4F4F-9298-805D8F27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BEC55-3C88-4E5E-A2BF-5BA60933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78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78B8"/>
                </a:solidFill>
                <a:latin typeface="Arial"/>
                <a:ea typeface="Arial"/>
                <a:cs typeface="Arial"/>
              </a:rPr>
              <a:t>Clear the fractions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8FC5F-D923-4CB3-92A9-FCC8C29E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352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352E2-0175-4972-B604-F4C57F28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239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Find the LCD, then multiply every term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6D8C0-43CA-4157-A664-1ED90155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78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78B8"/>
                </a:solidFill>
                <a:latin typeface="Arial"/>
                <a:ea typeface="Arial"/>
                <a:cs typeface="Arial"/>
              </a:rPr>
              <a:t>Solve the formula for 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AA76D-85FF-49D5-AC42-B1AEC324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336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DEBA4-E73F-4115-8FA5-76ABEFEB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Undo operations and isolate the named letter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DEE3D-9F52-41F9-A142-27E6FE8D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78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78B8"/>
                </a:solidFill>
                <a:latin typeface="Arial"/>
                <a:ea typeface="Arial"/>
                <a:cs typeface="Arial"/>
              </a:rPr>
              <a:t>Mix two concentrations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F274B-371D-44F8-B168-E66B4BE4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146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8E795-E3B8-4A62-9E30-4B1FDFD1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Amount × concentration gives pure amount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1F907-C003-4D98-8D20-22AF6ECD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F5F"/>
                </a:solidFill>
                <a:latin typeface="Arial"/>
                <a:ea typeface="Arial"/>
                <a:cs typeface="Arial"/>
              </a:rPr>
              <a:t>Solve by factoring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4D02B-FAD0-4622-947C-C056819C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957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57D3E8-3F13-484D-9A04-737DBA3B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67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Factor completely, then use the zero-product property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55F30-CF92-4D2B-B14E-8AC0582B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F5F"/>
                </a:solidFill>
                <a:latin typeface="Arial"/>
                <a:ea typeface="Arial"/>
                <a:cs typeface="Arial"/>
              </a:rPr>
              <a:t>Complete the square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F5FCC-AEE4-42FE-A157-0B8A1A96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76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92750-359C-46F1-AC12-78525BE7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481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Add the square of half the x-coefficient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B88BC1-88F8-4621-ADCE-3213C43D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F5F"/>
                </a:solidFill>
                <a:latin typeface="Arial"/>
                <a:ea typeface="Arial"/>
                <a:cs typeface="Arial"/>
              </a:rPr>
              <a:t>Use the quadratic formula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C75860-8B4E-44FA-B867-E65D5BFC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578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60488A-9697-489B-850D-A98B24BF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Record a, b, c and the discriminant first</a:t>
            </a:r>
          </a:p>
        </p:txBody>
      </p:sp>
    </p:spTree>
    <p:extLst>
      <p:ext uri="{BB962C8B-B14F-4D97-AF65-F5344CB8AC3E}">
        <p14:creationId xmlns:p14="http://schemas.microsoft.com/office/powerpoint/2010/main" val="910321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B8EF1-29D1-4EA5-A6A7-7CDD5CD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C599B-9AD1-44F9-AEBB-6E1E7A70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Fractional linear equations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DCD4E-DE90-4702-98A9-A9CC9DB3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678B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8B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FDBFA-0688-45D7-B9FF-34C1F88B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42C71-6DA7-470A-9ADC-B21632A6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4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F60A8-E0F7-468B-94AE-73F7C1D7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65CDF-D841-4201-BC92-ADC5B7B8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678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78B8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CFC1F-8E9B-4B21-B847-64794E92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0E51D-1DE6-49CA-B80D-E1D42741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839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E6505-2F73-47C4-BBA2-418DF0EF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86585-1E35-49F6-971A-54CE629C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LCD = 12  </a:t>
            </a:r>
            <a:r>
              <a:rPr sz="1800">
                <a:solidFill>
                  <a:srgbClr val="102A43"/>
                </a:solidFill>
                <a:latin typeface="Arial"/>
                <a:ea typeface="Arial"/>
                <a:cs typeface="Arial"/>
              </a:rPr>
              <a:t>Multiply every term by 12.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C9270-7FD0-4E45-8486-E04A2602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38327-3AF5-4EF0-943F-13DACAD7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Distribute  </a:t>
            </a:r>
            <a:r>
              <a:rPr sz="1800">
                <a:solidFill>
                  <a:srgbClr val="102A43"/>
                </a:solidFill>
                <a:latin typeface="Arial"/>
                <a:ea typeface="Arial"/>
                <a:cs typeface="Arial"/>
              </a:rPr>
              <a:t>2(2x − 5) + 3(x + 1) = 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72AE7-FF59-41C0-85A2-CF587ABF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23BB7-4550-4F7F-936C-84C4CD30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Combine  </a:t>
            </a:r>
            <a:r>
              <a:rPr sz="1800">
                <a:solidFill>
                  <a:srgbClr val="102A43"/>
                </a:solidFill>
                <a:latin typeface="Arial"/>
                <a:ea typeface="Arial"/>
                <a:cs typeface="Arial"/>
              </a:rPr>
              <a:t>4x − 10 + 3x + 3 = 18, so 7x = 25.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69EB0-B99C-4B54-B697-E1670328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2A11C-E65D-4E5B-AB52-61EFC570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5D4F"/>
                </a:solidFill>
                <a:latin typeface="Arial"/>
                <a:ea typeface="Arial"/>
                <a:cs typeface="Arial"/>
              </a:rPr>
              <a:t>Keep every numerator grouped until the LCD has distributed.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81429E-B43D-4D16-8FB1-BCE47CAE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049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2𝑥 − 5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ECD22-9C2D-4408-A37F-8068C498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19275"/>
            <a:ext cx="167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CBFEB-891B-4967-8464-88186F4F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47850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652D0-3C76-44F3-AC66-42BAABC1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8115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7072A-E104-470D-BCD4-97C853C8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049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+ 1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DF782-A82C-4892-B7E4-9187B179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19275"/>
            <a:ext cx="1390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29C752-614B-4AC9-A5BE-D5F41D60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478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C8E527-ADAD-4664-A841-C5FBF208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58115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B5339-1E0A-422C-9F3F-CC21363A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504950"/>
            <a:ext cx="66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A99218-A0E8-4146-969C-CC8D45A0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192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6541D7-61AD-458D-A23E-A6603DF5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47850"/>
            <a:ext cx="66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6AB5F1-2164-464E-8EBD-08539256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Solve and check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5A0099-BD8D-4AC5-A7E9-DD460E3D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62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=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2D1B97-5E28-41C3-AF7B-19D6BB3D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29100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3F64EE-CAB0-4073-A6FE-4C7DC4B0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4342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97A46F-406B-41D2-ADFA-AB1E426E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72000"/>
            <a:ext cx="590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4DE60B-F02B-4F96-A871-EB0A3C38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62450"/>
            <a:ext cx="617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.  Substitute into the original equation.</a:t>
            </a:r>
          </a:p>
        </p:txBody>
      </p:sp>
    </p:spTree>
    <p:extLst>
      <p:ext uri="{BB962C8B-B14F-4D97-AF65-F5344CB8AC3E}">
        <p14:creationId xmlns:p14="http://schemas.microsoft.com/office/powerpoint/2010/main" val="93062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BAAFD-C7FF-4238-BED5-75870B4C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02747-9733-4D4A-AE03-50957F3C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Fraction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1CBBA-A7BE-44B8-9E86-4F233940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D4040-70F7-47F4-A877-6ADD3E72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2E589-EBB7-464D-8444-C8234A09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1.5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0235B-9509-4DE6-BCA7-3F68F43D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321C1-AE2D-4E15-B209-6D9EB381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Work for 90 seconds. Show the LCD step.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78809-51DE-4807-90E3-C40A422B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0E8C6-9144-40A5-B95D-73DEFDF4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9696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BC3A5-013B-418B-9AF4-D5DEC72C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Your work must show: LCD, distribution, 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7C390-03C0-4C47-946D-D79DACDA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267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78B8"/>
                </a:solidFill>
                <a:latin typeface="Arial"/>
                <a:ea typeface="Arial"/>
                <a:cs typeface="Arial"/>
              </a:rPr>
              <a:t>Next slide: answer and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B243F-AAB3-436F-9FB3-6D0C4814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47900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+ 4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2DBA1-D191-4147-A3F8-F99EE46C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62225"/>
            <a:ext cx="1533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C9446-A10A-4A20-A959-42452AC1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90800"/>
            <a:ext cx="1571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D8E9B-6B6E-40F4-891C-2A237EEC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24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B215D-592B-4142-BC44-F8E99397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47900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− 2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E50A9-E45C-4B47-85BC-A3584D79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62225"/>
            <a:ext cx="1533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1F7B0-4512-4CF6-9BF3-BE2FBE54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90800"/>
            <a:ext cx="1571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552267-AC72-4F32-B60C-460D8B57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D8A77-FCF0-448B-9D04-E1B1F20C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47900"/>
            <a:ext cx="685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0167E-44B4-4F4D-A734-C63D711E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6222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F81DB3-9D3E-4E1B-96B6-A73C3FFE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90800"/>
            <a:ext cx="685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40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EA1F6-58A0-4781-85BB-59D4A8F4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CA6A5-A17E-49B8-8EF6-53537D86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Fraction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A7613-CCD7-411C-B84C-4B2E0656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385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856D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A2C16-32F4-4FD8-B824-1993982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93585-FEF8-4573-8CC8-41E1D4ED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0.5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83D76-1CC8-4AB0-80D5-A4B69DF9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F03A7-FAF5-4207-8F76-F030949E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 AND DECISIVE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2CA8C-9316-481D-BBF1-821B6F5E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EB00A-A1C2-4B30-BD74-A31745F5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10458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6E11A-4823-4AFC-8E4B-D750676E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86050"/>
            <a:ext cx="857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2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66700" tIns="171450" rIns="266700" bIns="1714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6 × equation:  2(x + 4) − (x − 2)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2x + 8 − x + 2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x + 10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x =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4E8A9-A962-47A0-8716-3E31AE05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33550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+ 4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07E54-B6E6-4D2E-B3D8-D6C01AB1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47875"/>
            <a:ext cx="1533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9CE0C-8E82-40B8-A67B-5A5866B2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1571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43D95-23EE-4D9A-BEAC-F919D780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09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8698E-7A75-4CBB-9D5F-9BB90965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33550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− 2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77A50-E1C4-45AD-90C7-72F00365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047875"/>
            <a:ext cx="1533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585CF-09D9-4984-B6FD-28EF4DEA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76450"/>
            <a:ext cx="1571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18BF2-4281-4244-A535-22D88BFA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68576-9612-4CAC-96E1-AFD1FAAC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33550"/>
            <a:ext cx="685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822327-E9DE-41AD-ADED-E6BD00CB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4787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CCFFB2-E21C-4BF1-84B0-3CE0A6CF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685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46027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88892-3E63-43E5-93F6-59344DD1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8F60C-9FEA-425D-B501-38D745A9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Literal formula equations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FA513-2031-4054-BA69-57A6DBE0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678B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8B8"/>
                </a:solidFill>
                <a:latin typeface="Arial"/>
                <a:ea typeface="Arial"/>
                <a:cs typeface="Arial"/>
              </a:rPr>
              <a:t>MODEL +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FB30A-2089-4218-AD19-304D0E7D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4440A-7F66-4606-8D82-3E85FD2F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2.5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4538C-68D8-4E7C-9B8F-C9B801D9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CE7EF-F6F1-4B36-AC51-BAE34470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678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78B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49E82-FE96-464E-8F27-E04F740D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E1477-6F40-47EE-B0EF-5AE02282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493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D9C7E-756D-4374-A0C6-F2E2687C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4610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74BE6-6895-4212-B1AE-6FED8AA6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95D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5D4F"/>
                </a:solidFill>
                <a:latin typeface="Arial"/>
                <a:ea typeface="Arial"/>
                <a:cs typeface="Arial"/>
              </a:rPr>
              <a:t>B ≠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9A2E4-40C7-4B58-A1DA-51442951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0668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36500-00F5-4882-A2C7-DD08F84E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066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86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6A00"/>
                </a:solidFill>
                <a:latin typeface="Arial"/>
                <a:ea typeface="Arial"/>
                <a:cs typeface="Arial"/>
              </a:rPr>
              <a:t>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BD5D9-CD2E-4A8D-9AEC-76FB624B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906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1AD78-03C0-4E3E-A064-2D877490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90650"/>
            <a:ext cx="4991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3198A-E28C-44B5-89D2-2DCDD2B7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Write one legal operation per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Keep v + u grouped while clearing the 2 and 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8F384-F551-41AD-9994-36970FFB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104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requested letter may begin inside a numerator or a grouped expression.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FF416-62E0-4F4B-972A-3A027E8C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811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𝑉 =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BF34A3-6942-445D-8006-0DF4D8D6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38275"/>
            <a:ext cx="400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0667AC-07DA-4A43-B352-3F83C031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752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FCD40-0517-46DC-BCCF-CF26AD0A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7811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5E82B-F9F5-4518-A5FD-7651054D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811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𝐵ℎ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89FE5-7994-4D9A-918B-BD6A1E71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solve for 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7EB82-E00E-4FF4-925E-38198C9F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3𝑉 = 𝐵ℎ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AF0CAC-E2FF-4423-B040-054CC912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ℎ =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77557-7819-417F-AF6C-28077EEA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05150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3𝑉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151185-3819-4341-A5B9-FF078214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1947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9E99BA-5667-45B8-9AEB-D24182AD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48050"/>
            <a:ext cx="895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610BFB-0C35-410C-88A0-172F4A14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811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𝑑 =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D19E46-F817-49D7-804E-C0565520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38275"/>
            <a:ext cx="1485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(𝑣 + 𝑢)𝑡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15248F-68C2-4C85-AA25-0295371C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52600"/>
            <a:ext cx="144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D91F99-26A8-4B3D-8FBE-50A007D7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81175"/>
            <a:ext cx="1485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12F7D2-5FE5-4395-A4AE-BE5F2A48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5811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solve for u</a:t>
            </a:r>
          </a:p>
        </p:txBody>
      </p:sp>
    </p:spTree>
    <p:extLst>
      <p:ext uri="{BB962C8B-B14F-4D97-AF65-F5344CB8AC3E}">
        <p14:creationId xmlns:p14="http://schemas.microsoft.com/office/powerpoint/2010/main" val="1664535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A0CF0-4C07-4CF4-B609-3C39DF5B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80437-E8C4-42C4-B998-D0795F38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Literal formula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621F0-83F6-4A02-B3F6-2E630B99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385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856D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AD638-0F5B-4348-8FA7-8EBA756C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342FB-877C-44BE-9DCC-FFF901B4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0.5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A25F1-9014-497C-9CA9-8570F567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2687C-F0CA-476D-BB72-E7A5B4CC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 AND DECISIVE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D46EA-FA61-4AA9-BF74-ABAD7F6F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6406D-8E57-42D0-85CF-5A237305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14500"/>
            <a:ext cx="1007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F9F30-E15B-4229-A4DD-232C0005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857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2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66700" tIns="171450" rIns="266700" bIns="1714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5A41C-AF8A-4151-9E05-7EA05627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9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D95D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5D4F"/>
                </a:solidFill>
                <a:latin typeface="Arial"/>
                <a:ea typeface="Arial"/>
                <a:cs typeface="Arial"/>
              </a:rPr>
              <a:t>Restriction from division: t ≠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F7F4E-E466-41BA-B286-84357A51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478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𝑑 =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25606-579E-4076-9577-82C05E8F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04975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(𝑣 + 𝑢)𝑡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BFCA32-3693-4CD8-AB11-585531CA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19300"/>
            <a:ext cx="1771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4D5AC-D000-45A6-8138-0785B989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544EC-1F7A-4492-ADFA-08496C3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2𝑑 = (𝑣 + 𝑢)𝑡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08042-35D8-440C-BBE6-8185F2B7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78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382A1-8C17-451B-8430-A1A687D9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576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E9284-37DC-4E95-B691-B08AC822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86200"/>
            <a:ext cx="781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1C205F-7509-4845-9E25-B5ACCFC7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= 𝑣 + 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00DBD7-6694-4DF9-B7F8-A66E47A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958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𝑢 =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873247-873B-4BF3-81E8-E48E7C9C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24350"/>
            <a:ext cx="78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19EEE-E148-4A5A-B307-3BFCD891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3867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C4207F-0D8E-4748-B8F1-2DE41C7C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67250"/>
            <a:ext cx="781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6CBFA2-03F8-4456-90A2-FD94B4E4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− 𝑣</a:t>
            </a:r>
          </a:p>
        </p:txBody>
      </p:sp>
    </p:spTree>
    <p:extLst>
      <p:ext uri="{BB962C8B-B14F-4D97-AF65-F5344CB8AC3E}">
        <p14:creationId xmlns:p14="http://schemas.microsoft.com/office/powerpoint/2010/main" val="18597775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915C0-25B3-4DB1-B848-9393AFD3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30B8F-A9A8-4A01-A853-8E714AE3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Percent mixture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DAC6D-4E0B-4EAB-98E0-958E927D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D95D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5D4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DABC0-BA46-4912-935A-5853832B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5686B-C39A-42FC-B4E5-2F70432D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38504-12FA-4AC8-892D-AC668A4F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C27C6-BB92-43BF-9167-B5FE0C3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How much 25% solution and 55% solution makes 20 L of 40% solution?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59E98-8E7D-492F-92D0-FD3689D2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EA2A1-B435-42B9-A6BC-3C71E2E5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288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Define  </a:t>
            </a: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x = liters of 25% solution; 20 − x = liters of 55% solution.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44354-4CF2-4CFA-B5DC-86DFCAF0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0E1A9-AE5A-4A4C-9600-E8899B36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Model pure amount  </a:t>
            </a: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0.25x + 0.55(20 − x) = 0.40(20)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ED165-59D6-41D6-A264-26FE80AE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0EED4-5FB1-408B-87F7-40F9052F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Solve  </a:t>
            </a: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0.25x + 11 − 0.55x = 8, so −0.30x = −3 and x = 10.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4B83A-3F76-4043-B9B6-4E7AA110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A8772-2D24-41F1-86C2-7063E18E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State both quantities  </a:t>
            </a: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10 L of 25% solution and 10 L of 55% solution.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BCEC1-805A-41A7-B973-F1F85001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2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385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856D"/>
                </a:solidFill>
                <a:latin typeface="Arial"/>
                <a:ea typeface="Arial"/>
                <a:cs typeface="Arial"/>
              </a:rPr>
              <a:t>Check: 0.25(10) + 0.55(10) = 8 liters of pure solution, which equals 0.40(20).</a:t>
            </a:r>
          </a:p>
        </p:txBody>
      </p:sp>
    </p:spTree>
    <p:extLst>
      <p:ext uri="{BB962C8B-B14F-4D97-AF65-F5344CB8AC3E}">
        <p14:creationId xmlns:p14="http://schemas.microsoft.com/office/powerpoint/2010/main" val="4819725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D2363-4811-4EE4-A26F-C3D79E25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7F80F-8552-4415-8C10-86B65BB8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Mixture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AF9E5-E672-4778-94CA-37E5E69B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14F08-8359-4A54-8A73-0F45959C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75B6F-C9AB-4C61-9E42-2868FD76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2.5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17FE6-E206-4E05-9AE3-795C3E6C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3E4FA-BA59-4251-8C4D-DDD66C22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Work for 2 minutes. Define one variable and state both amounts.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BADE7-F0DF-41C1-AC86-C3D61F59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lab technician mixes a 10% solution with a 40% solution to make 18 liters of a 30% solution.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8FE4E-9922-45A6-8129-245B8A0C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2800"/>
            <a:ext cx="5524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Variable definition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Pure-amount equation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Two final quantities with units</a:t>
            </a:r>
          </a:p>
        </p:txBody>
      </p:sp>
    </p:spTree>
    <p:extLst>
      <p:ext uri="{BB962C8B-B14F-4D97-AF65-F5344CB8AC3E}">
        <p14:creationId xmlns:p14="http://schemas.microsoft.com/office/powerpoint/2010/main" val="9216272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F422B-457E-4651-842C-1B7E08E8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1FA14-9DDB-44DE-9550-6CBF697D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Mixture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F1222-A705-4D18-B5A9-FD58D1B2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385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856D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2A8EE-D377-4B2C-AB49-1FB5F570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D64F2-11C1-4490-920A-43304452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0.5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903A1-200A-41E9-8576-6E1EC494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AF3CA-E9E4-4B39-AC0E-4F550076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 AND DECISIVE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E49B8-5770-4793-81C6-D7D0516E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14500"/>
            <a:ext cx="9525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2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66700" tIns="190500" rIns="266700" bIns="1905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Let x = liters of 10% solution. Then 18 − x = liters of 40% solution.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0.10x + 0.40(18 − x) = 0.30(18)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0.10x + 7.2 − 0.40x = 5.4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−0.30x = −1.8, so x =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Answer: 6 L of 10% solution and 12 L of 40% solution</a:t>
            </a:r>
          </a:p>
        </p:txBody>
      </p:sp>
    </p:spTree>
    <p:extLst>
      <p:ext uri="{BB962C8B-B14F-4D97-AF65-F5344CB8AC3E}">
        <p14:creationId xmlns:p14="http://schemas.microsoft.com/office/powerpoint/2010/main" val="19064296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8585D-B896-44AD-A1B0-A785C2AC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54164-9CA5-408D-A0D2-C00AF535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Quadratic equations by factoring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82225-5AB9-4E4D-A94B-DF156F48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678B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8B8"/>
                </a:solidFill>
                <a:latin typeface="Arial"/>
                <a:ea typeface="Arial"/>
                <a:cs typeface="Arial"/>
              </a:rPr>
              <a:t>MODEL +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045B9-DBCE-44F3-A02B-CB744A80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5D94D-7902-47D7-8402-872794DE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3.5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FA93F-DA63-4977-994D-4C87AE55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F691E-A5EC-4287-A016-2EB4F69D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678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78B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5434E-08DB-4312-BB16-8CB70607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40883-D9CB-473C-9E24-42B33070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493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6x² + x − 2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2CBF0-BDA8-4AF6-9FD2-C6BC707B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6x² + 4x − 3x − 2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2x(3x + 2) − 1(3x + 2)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(2x − 1)(3x + 2)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𝑥 = ½ or 𝑥 = −⅔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DE196-75B6-4745-A12E-7333208A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06680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B230A-BAFD-418B-A63C-D498616D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066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86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6A00"/>
                </a:solidFill>
                <a:latin typeface="Arial"/>
                <a:ea typeface="Arial"/>
                <a:cs typeface="Arial"/>
              </a:rPr>
              <a:t>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8B5F7-1F9F-4C28-BC94-AA4637E2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906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38625-B3B5-4277-8276-57E58D31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90650"/>
            <a:ext cx="4991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2x² − 7x + 3 =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45EBD-11D2-451E-8E28-708AA4B3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4191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Product ac = 6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Sum b = −7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Split the middle term, group, then set each factor equal to zero.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BAB1A-24EF-4073-8E1E-78AE480D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5D4F"/>
                </a:solidFill>
                <a:latin typeface="Arial"/>
                <a:ea typeface="Arial"/>
                <a:cs typeface="Arial"/>
              </a:rPr>
              <a:t>The equation must equal zero before using the zero-product property.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21291-6337-499D-819F-468B6932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68700-9F9B-434E-AFFC-ADD2BC67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=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108A4-5912-432F-B8B5-1AA62871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0525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63473-E3A6-441A-8472-71FE486F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95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660D0-A5D2-4D22-9A2D-9A74CD1C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48150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8DB3AB-001F-4DCA-B0A5-0A291FA9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5765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or  𝑥 =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FC531-54AD-4B04-A2EA-F1AC3FB6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514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−2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42E3FE-9E6E-45AD-B2B6-944D6E54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195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0EFD8-F0DD-439A-A3A4-24871B05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514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19013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28517-1AAE-4BCB-8E69-82DE9B58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A9FF9-AC14-4913-B353-90388500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Factoring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F44CF-8D8E-4FA5-8DE4-57654B91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385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856D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F49FA-4A45-4BA5-B3EE-7EAA5155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27DC1-11C2-477E-A63C-E652978A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0.5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30ED7-594A-4698-9D0A-076BEF53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AA810-AB80-46A0-A7A8-B1DEFBE2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 AND DECISIVE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E1B6E-4BDD-4798-925D-3D059DDF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14500"/>
            <a:ext cx="7620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2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28600" tIns="152400" rIns="228600" bIns="152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2x² − 7x + 3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2x² − 6x − x + 3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2x(x − 3) − 1(x − 3)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(2x − 1)(x − 3)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𝑥 = ½ or 𝑥 =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F256D-CF8C-4E9C-B8BC-0DD46E57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2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CF196-BD52-4341-96C6-CC7CD8EE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44B4C-97C4-45B0-91C9-D92E4403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7675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93A92-ACDE-4ABF-BDAA-1BF7459D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910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1D066-7B74-4521-AFC9-686EEF6F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19650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C97C9-EF2D-4E31-AF32-FE451D05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29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or  𝑥 = 3</a:t>
            </a:r>
          </a:p>
        </p:txBody>
      </p:sp>
    </p:spTree>
    <p:extLst>
      <p:ext uri="{BB962C8B-B14F-4D97-AF65-F5344CB8AC3E}">
        <p14:creationId xmlns:p14="http://schemas.microsoft.com/office/powerpoint/2010/main" val="7208546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6D68B5-BA9E-4D34-B8EA-F0C95455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31ADC-24E0-459A-A2CB-24A1721C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Completing the square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1F08F-B733-414D-B61B-024F1209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D95D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5D4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B9612-28B4-442B-B3E0-B31BBE9F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05062-C8D9-4DBC-8E9C-83B7617F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E7178-13BF-47A9-9680-13118DCB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22173-CA8F-45C4-A9B0-9BBF6F83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5D4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5D4F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DD6A2-A3F6-401B-9FE7-5A0ACBBB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F8F94-27E1-433A-B8B4-DFB4ABCB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839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x² + 4x − 1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564D8-4344-437F-A6B6-2BA537D9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39596-ADC0-49E9-8501-43412E32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03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Move the constant  </a:t>
            </a:r>
            <a:r>
              <a:rPr sz="1800">
                <a:solidFill>
                  <a:srgbClr val="102A43"/>
                </a:solidFill>
                <a:latin typeface="Arial"/>
                <a:ea typeface="Arial"/>
                <a:cs typeface="Arial"/>
              </a:rPr>
              <a:t>x² + 4x =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C4402-F89B-4885-B69D-0503B688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D409C-F816-4995-A61E-7978C91D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908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Half b, then square  </a:t>
            </a:r>
            <a:r>
              <a:rPr sz="1800">
                <a:solidFill>
                  <a:srgbClr val="102A43"/>
                </a:solidFill>
                <a:latin typeface="Arial"/>
                <a:ea typeface="Arial"/>
                <a:cs typeface="Arial"/>
              </a:rPr>
              <a:t>(4 ÷ 2)² = 4</a:t>
            </a:r>
            <a:r>
              <a:rPr sz="1800">
                <a:solidFill>
                  <a:srgbClr val="102A43"/>
                </a:solidFill>
                <a:latin typeface="Arial"/>
                <a:ea typeface="Arial"/>
                <a:cs typeface="Arial"/>
              </a:rPr>
              <a:t>. Add 4 to both sides.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F78E4-ABDE-4F22-AE53-B7BE2A6C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07EEC-209A-4FE7-8453-42C5D7F6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Factor the perfect square  </a:t>
            </a:r>
            <a:r>
              <a:rPr sz="1800">
                <a:solidFill>
                  <a:srgbClr val="102A43"/>
                </a:solidFill>
                <a:latin typeface="Arial"/>
                <a:ea typeface="Arial"/>
                <a:cs typeface="Arial"/>
              </a:rPr>
              <a:t>x² + 4x + 4 = 5, so (x + 2)² = 5.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A6700-7185-4FD1-91ED-A7AAF389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1EC79-6E1D-4E4C-90CF-2716B123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719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both square roots  </a:t>
            </a:r>
            <a:r>
              <a:rPr sz="1800">
                <a:solidFill>
                  <a:srgbClr val="102A43"/>
                </a:solidFill>
                <a:latin typeface="Arial"/>
                <a:ea typeface="Arial"/>
                <a:cs typeface="Arial"/>
              </a:rPr>
              <a:t>x + 2 = ±√5, so x = −2 ± √5.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616BE-B8C4-4F32-97B4-AA46C4F5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47625" rIns="15240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If the coefficient of x² is not 1, divide every term by that coefficient first.</a:t>
            </a:r>
          </a:p>
        </p:txBody>
      </p:sp>
    </p:spTree>
    <p:extLst>
      <p:ext uri="{BB962C8B-B14F-4D97-AF65-F5344CB8AC3E}">
        <p14:creationId xmlns:p14="http://schemas.microsoft.com/office/powerpoint/2010/main" val="15757663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BA95D-3B5D-4BFC-B963-F2EA694B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A17D1-737A-4D16-A95C-8057345A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Completing-square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317EB-34A3-4D3C-8160-1C873E00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D2FCB-6F69-4CAD-A3D8-E4018F30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AC970-DC66-4E21-9FBE-3A605063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2.5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795F2-0AA9-420C-8B81-9D1720DA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0FE13-CA51-4462-89C4-5B78CCD7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Work for 2 minutes. Show the number added to both sides.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BB4D0-4E20-4E90-B723-0D079A0E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39788-249B-4CAE-8C48-2D9960F2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57400"/>
            <a:ext cx="8934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x² − 6x + 1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C1A04-3B52-423F-8FD6-4CB5AF75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Checkpoint: half of −6 is ______, and its square is ______.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E125A-F588-4CBB-B8AD-CFB03D6E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053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Give exact solutions.</a:t>
            </a:r>
          </a:p>
        </p:txBody>
      </p:sp>
    </p:spTree>
    <p:extLst>
      <p:ext uri="{BB962C8B-B14F-4D97-AF65-F5344CB8AC3E}">
        <p14:creationId xmlns:p14="http://schemas.microsoft.com/office/powerpoint/2010/main" val="6163499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74AE3-BC54-4520-BC27-2067821E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BA0B4-DF22-4712-8156-5BFCFBDF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Completing-square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8B366-387D-4109-98BA-7A8E907F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385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856D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BF46F-EC92-4F80-A953-DF86CB7F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A49A1-6346-4F0B-8FF8-EECD830B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0.5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3E84F-8DAB-4538-8B7B-8DD4B290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1F6C6-6B54-4D1D-8F25-AAC5885C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 AND DECISIVE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C0095-ADA4-4660-A051-A5A3232E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95450"/>
            <a:ext cx="74295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2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28600" tIns="152400" rIns="228600" bIns="152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x² − 6x = −1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x² − 6x + 9 =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(x − 3)² =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x − 3 = ±√8 = ±2√2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x = 3 ± 2√2</a:t>
            </a:r>
          </a:p>
        </p:txBody>
      </p:sp>
    </p:spTree>
    <p:extLst>
      <p:ext uri="{BB962C8B-B14F-4D97-AF65-F5344CB8AC3E}">
        <p14:creationId xmlns:p14="http://schemas.microsoft.com/office/powerpoint/2010/main" val="20136887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53E50-A7C2-4DE9-8E07-126C7CE8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3B483-329B-4CA5-B5A0-D4B148DA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quadratic formula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E8FF4-C16B-4817-81E6-E7AA3CC1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678B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8B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2A0FB-647B-4F2B-920C-A174AB5B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B7005-C366-43B4-A006-C500F7F8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7B2AD-660D-4914-8880-4D318854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35D21-28A1-4114-B8BB-37386635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509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55E41-3241-47A0-840F-D14E46DE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35276-9B25-4EF6-8B5A-4B2E03C3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10839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ED60F7-AB95-498D-9007-399C2FA8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333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𝑥 =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9E5F34-23E5-4AB7-BD79-C50A45E7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4300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−𝑏 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B8ACB9-3142-4E06-8341-3D940B97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1430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9280A5-FE59-4C18-8597-788C4AA8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162050"/>
            <a:ext cx="2105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8A5668-6484-447A-8378-96FC0112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1811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𝑏² − 4𝑎𝑐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C39C02-740B-492A-8E6E-8031F212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430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F655E-2D50-4C19-889E-C56C8341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2𝑎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406291-11CD-466C-8F6A-48891B2C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Solve  2𝑥² + 3𝑥 − 4 = 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1307F-3107-474D-99C1-FBADB86A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678B8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2678B8"/>
                </a:solidFill>
                <a:latin typeface="Cambria Math"/>
                <a:ea typeface="Cambria Math"/>
                <a:cs typeface="Cambria Math"/>
              </a:rPr>
              <a:t>𝑎 = 2      𝑏 = 3      𝑐 = −4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28DD6E-E35E-4C40-9C3A-9755B801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𝐷 = 𝑏² − 4𝑎𝑐 = 3² − 4(2)(−4) = 41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E7236A-0C58-49F9-A779-2AD7E8D5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=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2FD0FB-6073-4337-9636-EFDB6B08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14800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−3 ± √41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9E5F7B-289B-470A-8162-D4224A75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29125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838EA1-4547-4AB7-8F6E-4622FD54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2(2)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7758C5-961B-4BCA-9405-D66375E6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243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0AF7C8-B448-4A97-808E-F6B94B1D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−3 ± √41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CF20FA-AB1A-4915-B298-ABBB3BAB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29125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B5053C-DC73-4314-B899-6CA0B2E7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5770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2E0408-55BA-47CF-B6DE-4D1B888A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05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3856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3856D"/>
                </a:solidFill>
                <a:latin typeface="Arial"/>
                <a:ea typeface="Arial"/>
                <a:cs typeface="Arial"/>
              </a:rPr>
              <a:t>Exact form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584E00-E6C2-4E0C-88F6-F80808B2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911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D95D4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95D4F"/>
                </a:solidFill>
                <a:latin typeface="Arial"/>
                <a:ea typeface="Arial"/>
                <a:cs typeface="Arial"/>
              </a:rPr>
              <a:t>Record 𝑎, 𝑏, 𝑐 and 𝐷 before substitution. Keep the sign of 𝑐.</a:t>
            </a:r>
          </a:p>
        </p:txBody>
      </p:sp>
    </p:spTree>
    <p:extLst>
      <p:ext uri="{BB962C8B-B14F-4D97-AF65-F5344CB8AC3E}">
        <p14:creationId xmlns:p14="http://schemas.microsoft.com/office/powerpoint/2010/main" val="10274456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F94A5-C39F-413E-B00E-5CDBA187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D38CF-8C69-43D3-8B49-15F3D64C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Quadratic-formula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2F898-FBB8-402D-A0A1-EE1DBFDD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7CDC4-03A0-446A-9CCE-346A9411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2E4E1-C1B1-408F-B7CB-D279F8CC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2.5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4E794-B52B-4F9E-9E5A-192C53D1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06C70-6692-4F78-BD26-1B1CFA6E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Work for 2 minutes. Record a, b, c and 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3F902-E067-4560-98D6-15B3975B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81200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F8C77-5104-4C4B-9B03-2D385AC2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81200"/>
            <a:ext cx="8934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3x² + 2x − 2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20E0F-EA2B-479A-87F0-464426BA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00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= ______     b = ______     c = 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 = b² − 4ac = 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8AED1-3874-45F9-9B21-33E8AC1B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Give exact simplified solutions.</a:t>
            </a:r>
          </a:p>
        </p:txBody>
      </p:sp>
    </p:spTree>
    <p:extLst>
      <p:ext uri="{BB962C8B-B14F-4D97-AF65-F5344CB8AC3E}">
        <p14:creationId xmlns:p14="http://schemas.microsoft.com/office/powerpoint/2010/main" val="2260276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9A4C4-86C3-407D-A83F-190D8ED9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00454-7774-4DDA-B0DF-0B6A5C33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Quadratic-formula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25A7E-3226-4F59-A9A6-6777E40B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385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856D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6EE8D-42F3-4F15-A128-CAD2C9F4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CBD9F-4F38-4571-B928-D4318B94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0.5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12CC0-CFD2-4101-8440-7B91F13D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739C1-DDAF-4D46-A5B9-246D8F8C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 AND DECISIVE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AD61D-5599-4D9D-956E-EE8ADEA3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0"/>
            <a:ext cx="7429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2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28600" tIns="152400" rIns="228600" bIns="152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0D3AA-3493-43A6-83ED-1C01548F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𝑎 = 3,   𝑏 = 2,   𝑐 = −2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81E8F-66C0-4C95-AE7B-F0569E0F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𝐷 = 2² − 4(3)(−2) = 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9ED61-1FF7-4E4E-BE94-D592B1B3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95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=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1B008-32D2-4FDA-800A-1C835879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8615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−2 ± √28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000AD-424D-4047-9353-4AB1FAE5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00475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29678-73BB-4B5C-9C35-EED5D944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290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25011-AAB9-4935-A0B6-B5E6B0CF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√28 = 2√7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2D4B3-B888-4533-87F3-BC0832CB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95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=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ABEC8-31E7-418C-BCAF-CE14D282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8630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−1 ± √7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79385-6789-419D-9748-A42C9EAA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00625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332EF-DB48-4A26-B084-E9B0665C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412517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754CF-4E56-47EA-9534-8909B981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C100D-7357-434F-B765-051DD5BB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Mixed readiness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99383-0C30-44B5-99FC-655DD13C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45FCA-7970-4947-A959-A0E90A11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7B69B-AB14-4B87-9014-BA3B2B05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3.5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89597-FF3D-49F6-B4D2-D7AEB4B3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BA2CD-8C32-4863-8D1B-46FD13E2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Choose any two. Show the method named in each prompt.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DD45B-75D7-406C-A590-94197B98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BB190-D85F-4811-860C-781CAB3F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FCFB1-FC7A-45CB-A156-92FA1C0B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   Mix 15% and 45% to make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     12 L of 35% 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1894A-5157-498D-803D-5515A67D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   Factor: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     4x² − 4x − 3 =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ED23A-56C9-4A69-A46E-C5A75B83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   Complete the square: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     x² + 2x − 7 =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C120D-3EE0-4743-833F-EFFEAEDC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6   Use the quadratic formula: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     x² − 4x − 1 =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B987A-1F5A-4DEB-8036-BEA3FE7E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  Clear fractions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8A98F-EFD3-47A2-8448-7C3F1A61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87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− 1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D6630-21C8-4083-B4AE-657EA25E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193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F8522-0DCC-4FB4-89C3-6F750938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87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92474-F8DC-4992-B4C8-2EE54F06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812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7FE7F-87A3-403B-9DCC-B2C6CB7A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05050"/>
            <a:ext cx="87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+ 3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ABB8E-6BE3-411A-8331-B983EA47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193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DDF8E4-D162-43FD-9140-D1A52416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47950"/>
            <a:ext cx="87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D8357B-1397-4758-A175-B19325DE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81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=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88252-BB1C-4A9E-9158-B524F668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2   Solve for 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677FFC-3E58-4A1D-A7DE-35094DDF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718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𝐹 =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24E8D-272D-45C4-8CA1-A1F309F2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9BC6C0-C86C-45A5-8188-7833FBA4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337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DBDF44-1C72-4F71-9F88-DFBE3175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8036C2-14FB-4C11-8416-93707E60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7185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𝐶 + 32</a:t>
            </a:r>
          </a:p>
        </p:txBody>
      </p:sp>
    </p:spTree>
    <p:extLst>
      <p:ext uri="{BB962C8B-B14F-4D97-AF65-F5344CB8AC3E}">
        <p14:creationId xmlns:p14="http://schemas.microsoft.com/office/powerpoint/2010/main" val="15704489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ECD00-5376-4C55-9D69-CACE9685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1674B-5B20-4211-BBAB-C1C3678C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Mixed readiness key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CA63F-88CF-4F51-B62B-668D9A6F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2385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856D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EF0E5-7D58-47E3-AB53-2B517263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17AF1-41BF-49A6-8639-26BD11E6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0.5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14FA8-08AD-459B-8A22-F09AA45A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9A0E6-62A5-401A-9E3B-F040377A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 AND DECISIVE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37547-4FFF-4D2B-BFF0-AD7757E7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8CD67-ECCA-48E6-B92C-CA251D0D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9545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5F32C-90FB-400F-9DB6-3A963007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6C136-A955-4FB4-AC63-EE1F8144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87E06-3C88-47CB-9572-FB4CE63C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7EAA7-CB23-4941-9CB1-641A31B5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 L at 15%; 8 L at 45%</a:t>
            </a:r>
          </a:p>
          <a:p xmlns:a="http://schemas.openxmlformats.org/drawingml/2006/main">
            <a:pPr algn="l">
              <a:buNone/>
              <a:defRPr sz="15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43"/>
                </a:solidFill>
                <a:latin typeface="Arial"/>
                <a:ea typeface="Arial"/>
                <a:cs typeface="Arial"/>
              </a:rPr>
              <a:t>0.15x + 0.45(12 − x) = 0.35(12)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FC6D5-839C-4B55-A442-71839436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C9F88-F00F-4002-86BA-C1527513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9545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65B0F-ED8E-4E51-B0C2-78B58369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E46A8-8B18-4966-A455-91C8D884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5275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x = −1 ± 2√2</a:t>
            </a:r>
          </a:p>
          <a:p xmlns:a="http://schemas.openxmlformats.org/drawingml/2006/main">
            <a:pPr algn="l">
              <a:buNone/>
              <a:defRPr sz="15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43"/>
                </a:solidFill>
                <a:latin typeface="Arial"/>
                <a:ea typeface="Arial"/>
                <a:cs typeface="Arial"/>
              </a:rPr>
              <a:t>(x + 1)² = 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F6605-671B-4DA2-A7A4-D0CABF66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32C9C3-D2DB-443E-8E26-5A44B470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1005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x = 2 − √5 or 2 + √5</a:t>
            </a:r>
          </a:p>
          <a:p xmlns:a="http://schemas.openxmlformats.org/drawingml/2006/main">
            <a:pPr algn="l">
              <a:buNone/>
              <a:defRPr sz="15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43"/>
                </a:solidFill>
                <a:latin typeface="Arial"/>
                <a:ea typeface="Arial"/>
                <a:cs typeface="Arial"/>
              </a:rPr>
              <a:t>D = 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DE5CF2-D7EF-40F9-A86D-80C6D624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05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=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7D551-B69B-4D5B-97E4-6A4C5B96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71650"/>
            <a:ext cx="552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3C2125-671C-4C3A-99F6-CAE7C54B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859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D9D120-AEF3-4F0C-AC67-4E5DB27D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1455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1AD8FB-68AC-4692-B4C0-10A2F775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669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LCD 4:  2(𝑥 − 1) + (𝑥 + 3) = 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979FF-F664-45D5-BD64-2621C5C2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𝐶 =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3941B0-E0A8-4C56-AC06-25F612C4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5(𝐹 − 32)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802320-E237-4BDA-A9DF-8C06E511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05175"/>
            <a:ext cx="1390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9A6F6A-CA74-45CC-990F-E39CABC7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845FEE-C533-44CB-829E-5E64F24B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Subtract 32, then multiply by 5/9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BB8FA-CE21-47D3-B7E1-BCB9D776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05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𝑥 =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B33E30-31C8-4EF2-B1B3-496868D4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7165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4A978D-4F3C-4654-9A56-BFE414F3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859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6B38AA-B7D6-4554-8E5D-D11FAD4F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5F2D8C-9FC7-4291-8070-F2DCC85A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14E274-9B34-4854-9A8F-08BC10FD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71650"/>
            <a:ext cx="514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−1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D3DE61-67B9-4F22-A59C-8BA7ED03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859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0C094D-EA8A-427D-AA53-78E48525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14550"/>
            <a:ext cx="514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A6550D-539A-4F09-A57A-D588B4B4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669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(2𝑥 − 3)(2𝑥 + 1) = 0</a:t>
            </a:r>
          </a:p>
        </p:txBody>
      </p:sp>
    </p:spTree>
    <p:extLst>
      <p:ext uri="{BB962C8B-B14F-4D97-AF65-F5344CB8AC3E}">
        <p14:creationId xmlns:p14="http://schemas.microsoft.com/office/powerpoint/2010/main" val="623952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1943B-08BE-4A4B-B739-0F450C9D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143EA-D4A0-4A78-808B-3F17140D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Your next ALEKS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5F3B2-2384-4950-B713-7A8E5360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CD000-D110-428B-A9F2-B128471F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06695-9C49-419F-8849-CC3DF66A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3862E-F88D-47DD-9ADC-BBA23F7D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777"/>
                </a:solidFill>
                <a:latin typeface="Arial"/>
                <a:ea typeface="Arial"/>
                <a:cs typeface="Arial"/>
              </a:rPr>
              <a:t>MATH 130   •   QUIZ 2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36C88-58EA-4A22-B282-F30AA45B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Before Wednesday's quiz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A6AD1-D489-435C-9F99-814F8F8C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03C3D-C205-4AB4-B18D-D2D61709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335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Finish Sections 1.1, 1.2, 1.4  </a:t>
            </a:r>
            <a:r>
              <a:rPr sz="1800">
                <a:solidFill>
                  <a:srgbClr val="102A43"/>
                </a:solidFill>
                <a:latin typeface="Arial"/>
                <a:ea typeface="Arial"/>
                <a:cs typeface="Arial"/>
              </a:rPr>
              <a:t>Start with mixtures and quadratic methods.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AAE7E-F367-455C-99B4-BF040179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E96F3-B179-4B05-8F4D-A59910EE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098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Finish Review R.6  </a:t>
            </a:r>
            <a:r>
              <a:rPr sz="1800">
                <a:solidFill>
                  <a:srgbClr val="102A43"/>
                </a:solidFill>
                <a:latin typeface="Arial"/>
                <a:ea typeface="Arial"/>
                <a:cs typeface="Arial"/>
              </a:rPr>
              <a:t>Prioritize division, LCDs, and complex fractions.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E36EC-F45B-48C6-8CEB-0F220396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C96CE-F2AF-45C8-83BF-7F725E44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86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Practice written solutions  </a:t>
            </a:r>
            <a:r>
              <a:rPr sz="180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quiz gives no credit for an unsupported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0629F-4C0C-40E7-976F-F8D7CDA3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3BA41-00CA-430E-9E1C-2DC6D47D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Plan for 25 minutes  </a:t>
            </a:r>
            <a:r>
              <a:rPr sz="1800">
                <a:solidFill>
                  <a:srgbClr val="102A43"/>
                </a:solidFill>
                <a:latin typeface="Arial"/>
                <a:ea typeface="Arial"/>
                <a:cs typeface="Arial"/>
              </a:rPr>
              <a:t>About four minutes per question, with a final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C8B41-F270-489E-A265-6616D11B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Write one specific ALEKS topic you will complete next.</a:t>
            </a:r>
          </a:p>
        </p:txBody>
      </p:sp>
    </p:spTree>
    <p:extLst>
      <p:ext uri="{BB962C8B-B14F-4D97-AF65-F5344CB8AC3E}">
        <p14:creationId xmlns:p14="http://schemas.microsoft.com/office/powerpoint/2010/main" val="5916121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2026-09-07T18:50:18.6340000Z</dcterms:created>
  <dcterms:modified xsi:type="dcterms:W3CDTF">2026-09-07T18:50:18.6340000Z</dcterms:modified>
</coreProperties>
</file>