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ags/tag4.xml" ContentType="application/vnd.openxmlformats-officedocument.presentationml.tags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444" r:id="rId2"/>
    <p:sldId id="450" r:id="rId3"/>
    <p:sldId id="426" r:id="rId4"/>
    <p:sldId id="449" r:id="rId5"/>
    <p:sldId id="447" r:id="rId6"/>
    <p:sldId id="451" r:id="rId7"/>
    <p:sldId id="446" r:id="rId8"/>
    <p:sldId id="448" r:id="rId9"/>
    <p:sldId id="386" r:id="rId10"/>
    <p:sldId id="399" r:id="rId11"/>
    <p:sldId id="400" r:id="rId12"/>
    <p:sldId id="403" r:id="rId13"/>
    <p:sldId id="402" r:id="rId14"/>
    <p:sldId id="445" r:id="rId15"/>
    <p:sldId id="411" r:id="rId16"/>
    <p:sldId id="385" r:id="rId17"/>
    <p:sldId id="412" r:id="rId18"/>
    <p:sldId id="413" r:id="rId19"/>
    <p:sldId id="414" r:id="rId20"/>
    <p:sldId id="424" r:id="rId21"/>
    <p:sldId id="415" r:id="rId22"/>
    <p:sldId id="416" r:id="rId23"/>
    <p:sldId id="417" r:id="rId24"/>
    <p:sldId id="406" r:id="rId25"/>
    <p:sldId id="418" r:id="rId26"/>
    <p:sldId id="419" r:id="rId27"/>
    <p:sldId id="420" r:id="rId28"/>
    <p:sldId id="421" r:id="rId29"/>
  </p:sldIdLst>
  <p:sldSz cx="9144000" cy="6858000" type="screen4x3"/>
  <p:notesSz cx="7315200" cy="96012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0066"/>
    <a:srgbClr val="FFFF00"/>
    <a:srgbClr val="0066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8" autoAdjust="0"/>
    <p:restoredTop sz="85827" autoAdjust="0"/>
  </p:normalViewPr>
  <p:slideViewPr>
    <p:cSldViewPr>
      <p:cViewPr varScale="1">
        <p:scale>
          <a:sx n="71" d="100"/>
          <a:sy n="71" d="100"/>
        </p:scale>
        <p:origin x="1642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91C066D-3AF1-4B4F-9031-B75B3FD2C054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4D49327-9843-45D3-98E9-241379F73B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1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23.4</m:t>
                    </m:r>
                    <m:r>
                      <a:rPr lang="en-US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dirty="0" smtClean="0">
                    <a:solidFill>
                      <a:srgbClr val="0000CC"/>
                    </a:solidFill>
                  </a:rPr>
                  <a:t> </a:t>
                </a:r>
                <a:r>
                  <a:rPr lang="en-US" b="0" i="0" dirty="0" smtClean="0">
                    <a:solidFill>
                      <a:srgbClr val="0000CC"/>
                    </a:solidFill>
                    <a:latin typeface="Cambria Math" panose="02040503050406030204" pitchFamily="18" charset="0"/>
                  </a:rPr>
                  <a:t>23.4</a:t>
                </a:r>
                <a:r>
                  <a:rPr lang="en-US" b="0" i="0" dirty="0" smtClean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°</a:t>
                </a:r>
                <a:endParaRPr lang="en-US" dirty="0">
                  <a:solidFill>
                    <a:srgbClr val="0000CC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86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23.4</m:t>
                    </m:r>
                    <m:r>
                      <a:rPr lang="en-US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dirty="0" smtClean="0">
                    <a:solidFill>
                      <a:srgbClr val="0000CC"/>
                    </a:solidFill>
                  </a:rPr>
                  <a:t> </a:t>
                </a:r>
                <a:r>
                  <a:rPr lang="en-US" b="0" i="0" dirty="0" smtClean="0">
                    <a:solidFill>
                      <a:srgbClr val="0000CC"/>
                    </a:solidFill>
                    <a:latin typeface="Cambria Math" panose="02040503050406030204" pitchFamily="18" charset="0"/>
                  </a:rPr>
                  <a:t>23.4</a:t>
                </a:r>
                <a:r>
                  <a:rPr lang="en-US" b="0" i="0" dirty="0" smtClean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°</a:t>
                </a:r>
                <a:endParaRPr lang="en-US" dirty="0">
                  <a:solidFill>
                    <a:srgbClr val="0000CC"/>
                  </a:solidFill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424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32)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1.08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       42)  709 E,  554 N	44)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=62°</m:t>
                    </m:r>
                  </m:oMath>
                </a14:m>
                <a:r>
                  <a:rPr lang="en-US" dirty="0"/>
                  <a:t>; bearing</a:t>
                </a:r>
                <a:r>
                  <a:rPr lang="en-US" baseline="0" dirty="0"/>
                  <a:t> </a:t>
                </a:r>
                <a14:m>
                  <m:oMath xmlns:m="http://schemas.openxmlformats.org/officeDocument/2006/math">
                    <m:r>
                      <a:rPr lang="en-US" b="0" i="1" baseline="0" smtClean="0">
                        <a:latin typeface="Cambria Math" panose="02040503050406030204" pitchFamily="18" charset="0"/>
                      </a:rPr>
                      <m:t>208</m:t>
                    </m:r>
                    <m:r>
                      <a:rPr lang="en-US" b="0" i="1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b="0" baseline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Last slide on 12 Nov 2025. Only finished the first example.</a:t>
                </a:r>
              </a:p>
              <a:p>
                <a:r>
                  <a:rPr lang="en-US" dirty="0"/>
                  <a:t>Last slide on 9 Apr 2025.  THE ANSWER IN CLASS FOR 32 WAS INCORRECT.  MENTION THIS FRIDAY.</a:t>
                </a:r>
              </a:p>
              <a:p>
                <a:r>
                  <a:rPr lang="en-US" dirty="0"/>
                  <a:t>Last slide on 13 Nov 2024.  Did first example and set up second but did not finish.</a:t>
                </a:r>
              </a:p>
              <a:p>
                <a:r>
                  <a:rPr lang="en-US" dirty="0"/>
                  <a:t>Last slide on 18 Nov 2022.  Did 32 and 42 only.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32) 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1.08</a:t>
                </a:r>
                <a:r>
                  <a:rPr lang="en-US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°</a:t>
                </a:r>
                <a:r>
                  <a:rPr lang="en-US" dirty="0" smtClean="0"/>
                  <a:t>       42)  709 E,  554 N	44)  </a:t>
                </a:r>
                <a:r>
                  <a:rPr lang="en-US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=62°</a:t>
                </a:r>
                <a:r>
                  <a:rPr lang="en-US" dirty="0" smtClean="0"/>
                  <a:t>; bearing</a:t>
                </a:r>
                <a:r>
                  <a:rPr lang="en-US" baseline="0" dirty="0" smtClean="0"/>
                  <a:t> </a:t>
                </a:r>
                <a:r>
                  <a:rPr lang="en-US" b="0" i="0" baseline="0" smtClean="0">
                    <a:latin typeface="Cambria Math" panose="02040503050406030204" pitchFamily="18" charset="0"/>
                  </a:rPr>
                  <a:t>242</a:t>
                </a:r>
                <a:r>
                  <a:rPr lang="en-US" b="0" i="0" baseline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°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81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23F8-AD58-02F8-3C21-A39718B0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DB534-2B11-4AAE-A80A-614576D26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83B00F-6DD8-D22B-4CCE-FB3651C17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8 Apr 2024 before eclipse.  Only did </a:t>
            </a:r>
            <a:r>
              <a:rPr lang="en-US"/>
              <a:t>first example.</a:t>
            </a:r>
          </a:p>
          <a:p>
            <a:r>
              <a:rPr lang="en-US" dirty="0"/>
              <a:t>Steeple: s = 21.2 ft;   Ships are 1933 ft apart.</a:t>
            </a:r>
          </a:p>
          <a:p>
            <a:r>
              <a:rPr lang="en-US" dirty="0"/>
              <a:t>Last slide on 21 Apr 2023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F0DEC-272C-D56F-F1BB-D81A8E6B86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82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8 Apr 2024 before eclipse.  Only did </a:t>
            </a:r>
            <a:r>
              <a:rPr lang="en-US"/>
              <a:t>first example.</a:t>
            </a:r>
          </a:p>
          <a:p>
            <a:r>
              <a:rPr lang="en-US" dirty="0"/>
              <a:t>Steeple: s = 21.2 ft;   Ships are 1933 ft apart.</a:t>
            </a:r>
          </a:p>
          <a:p>
            <a:r>
              <a:rPr lang="en-US" dirty="0"/>
              <a:t>Last slide on 21 Apr 2023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5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=500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US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</m:oMath>
                </a14:m>
                <a:r>
                  <a:rPr lang="en-US" dirty="0"/>
                  <a:t>,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500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44°</m:t>
                                </m:r>
                              </m:e>
                            </m:func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720</m:t>
                            </m:r>
                          </m:den>
                        </m:f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=60°</m:t>
                    </m:r>
                  </m:oMath>
                </a14:m>
                <a:r>
                  <a:rPr lang="en-US" dirty="0"/>
                  <a:t>, bearing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240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Last slide on 4 Apr 2022</a:t>
                </a:r>
              </a:p>
              <a:p>
                <a:r>
                  <a:rPr lang="en-US" dirty="0"/>
                  <a:t>Last slide on 23 Apr 2021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 smtClean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𝑦=500 cos⁡〖44</a:t>
                </a:r>
                <a:r>
                  <a:rPr lang="en-US" b="0" i="0" smtClean="0">
                    <a:solidFill>
                      <a:srgbClr val="0000FF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°〗</a:t>
                </a:r>
                <a:r>
                  <a:rPr lang="en-US" dirty="0" smtClean="0"/>
                  <a:t>,  </a:t>
                </a:r>
                <a:r>
                  <a:rPr lang="en-US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𝜃</a:t>
                </a:r>
                <a:r>
                  <a:rPr lang="en-US" b="0" i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=cos^(−1)⁡〖(500 cos⁡〖44°〗)/720〗=60°</a:t>
                </a:r>
                <a:endParaRPr lang="en-US" dirty="0" smtClean="0"/>
              </a:p>
              <a:p>
                <a:r>
                  <a:rPr lang="en-US" smtClean="0"/>
                  <a:t>Last slide on 23 Apr 2021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91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10 Apr 2024.  Just showed the two triangles approach but did not calculate.</a:t>
            </a:r>
          </a:p>
          <a:p>
            <a:r>
              <a:rPr lang="en-US" dirty="0"/>
              <a:t>Last slide on 10 Nov 2023.  Found distance but not bearing.</a:t>
            </a:r>
          </a:p>
          <a:p>
            <a:r>
              <a:rPr lang="en-US" dirty="0"/>
              <a:t>Last slide on 24 Apr 2023.  Used two triangles since we have not covered Law of Sines.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04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170.0 ft</a:t>
            </a:r>
          </a:p>
          <a:p>
            <a:r>
              <a:rPr lang="en-US"/>
              <a:t>Last slide on 14 Nov 2025</a:t>
            </a:r>
          </a:p>
          <a:p>
            <a:r>
              <a:rPr lang="en-US" dirty="0"/>
              <a:t>Last slide on 7 Apr 2023</a:t>
            </a:r>
          </a:p>
          <a:p>
            <a:r>
              <a:rPr lang="en-US" dirty="0"/>
              <a:t>Last slide on 4 Nov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889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3 Nov 2021</a:t>
            </a:r>
          </a:p>
          <a:p>
            <a:r>
              <a:rPr lang="en-US" dirty="0"/>
              <a:t>Last</a:t>
            </a:r>
            <a:r>
              <a:rPr lang="en-US" baseline="0" dirty="0"/>
              <a:t> slide on 18 Oct 2019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87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61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17 Apr 2019</a:t>
            </a:r>
          </a:p>
          <a:p>
            <a:r>
              <a:rPr lang="en-US" dirty="0"/>
              <a:t>Last slide</a:t>
            </a:r>
            <a:r>
              <a:rPr lang="en-US" baseline="0" dirty="0"/>
              <a:t> on 10 Oct 2018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44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15 Nov 2024</a:t>
            </a:r>
          </a:p>
          <a:p>
            <a:r>
              <a:rPr lang="en-US" dirty="0"/>
              <a:t>Last slide on 17 Apr 2019</a:t>
            </a:r>
          </a:p>
          <a:p>
            <a:r>
              <a:rPr lang="en-US" dirty="0"/>
              <a:t>Last slide</a:t>
            </a:r>
            <a:r>
              <a:rPr lang="en-US" baseline="0" dirty="0"/>
              <a:t> on 10 Oct 2018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6173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Last slide on </a:t>
            </a:r>
            <a:r>
              <a:rPr lang="en-US"/>
              <a:t>11 Apr 2025.</a:t>
            </a:r>
          </a:p>
          <a:p>
            <a:r>
              <a:rPr lang="en-US"/>
              <a:t>Last</a:t>
            </a:r>
            <a:r>
              <a:rPr lang="en-US" baseline="0"/>
              <a:t> </a:t>
            </a:r>
            <a:r>
              <a:rPr lang="en-US" baseline="0" dirty="0"/>
              <a:t>slide on 26 Feb 2018.  Did not answer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40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7 Nov 2022.  Did </a:t>
            </a:r>
            <a:r>
              <a:rPr lang="en-US"/>
              <a:t>not explain any.</a:t>
            </a:r>
          </a:p>
          <a:p>
            <a:r>
              <a:rPr lang="en-US" dirty="0"/>
              <a:t>Last slide on</a:t>
            </a:r>
            <a:r>
              <a:rPr lang="en-US" baseline="0" dirty="0"/>
              <a:t> 23 Oct 2019.  Did not explain 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414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567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12 Oct 2018.  Assign homework for angles and Larson 4.4.  Quiz Monday over previous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562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9 Nov 2022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7033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14 Apr 2023.  Move on to 5.3.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896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659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</a:t>
            </a:r>
            <a:r>
              <a:rPr lang="en-US"/>
              <a:t>12 Apr 2024</a:t>
            </a:r>
            <a:endParaRPr lang="en-US" dirty="0"/>
          </a:p>
          <a:p>
            <a:r>
              <a:rPr lang="en-US" dirty="0"/>
              <a:t>Last slide on 13 Nov 2023</a:t>
            </a:r>
          </a:p>
          <a:p>
            <a:r>
              <a:rPr lang="en-US" dirty="0"/>
              <a:t>Last slide on 5 Nov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73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48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906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906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11/14/2025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11/14/2025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grpSp>
        <p:nvGrpSpPr>
          <p:cNvPr id="13" name="Group 2"/>
          <p:cNvGrpSpPr>
            <a:grpSpLocks/>
          </p:cNvGrpSpPr>
          <p:nvPr userDrawn="1"/>
        </p:nvGrpSpPr>
        <p:grpSpPr bwMode="auto">
          <a:xfrm>
            <a:off x="228600" y="381000"/>
            <a:ext cx="533400" cy="6096000"/>
            <a:chOff x="144" y="240"/>
            <a:chExt cx="336" cy="3840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144" y="240"/>
              <a:ext cx="288" cy="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336" y="240"/>
              <a:ext cx="96" cy="384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432" y="240"/>
              <a:ext cx="48" cy="38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000066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0.png"/><Relationship Id="rId10" Type="http://schemas.openxmlformats.org/officeDocument/2006/relationships/image" Target="../media/image60.png"/><Relationship Id="rId4" Type="http://schemas.openxmlformats.org/officeDocument/2006/relationships/image" Target="../media/image640.png"/><Relationship Id="rId9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8.jpg"/><Relationship Id="rId7" Type="http://schemas.openxmlformats.org/officeDocument/2006/relationships/image" Target="../media/image2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4" Type="http://schemas.openxmlformats.org/officeDocument/2006/relationships/image" Target="../media/image76.png"/><Relationship Id="rId9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370.png"/><Relationship Id="rId5" Type="http://schemas.openxmlformats.org/officeDocument/2006/relationships/image" Target="../media/image10.png"/><Relationship Id="rId4" Type="http://schemas.openxmlformats.org/officeDocument/2006/relationships/image" Target="../media/image28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3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380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dropbox.com/s/ugldgn2ur7e0mfh/Aviation%20Math%20Formulas.pdf?dl=0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600325"/>
            <a:ext cx="5638800" cy="2286000"/>
          </a:xfrm>
        </p:spPr>
        <p:txBody>
          <a:bodyPr>
            <a:normAutofit/>
          </a:bodyPr>
          <a:lstStyle/>
          <a:p>
            <a:r>
              <a:rPr lang="en-US" sz="2800" dirty="0"/>
              <a:t>Applications and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8400" y="1066800"/>
            <a:ext cx="6400800" cy="1509712"/>
          </a:xfrm>
        </p:spPr>
        <p:txBody>
          <a:bodyPr>
            <a:normAutofit/>
          </a:bodyPr>
          <a:lstStyle/>
          <a:p>
            <a:r>
              <a:rPr lang="en-US" sz="3600" dirty="0"/>
              <a:t>7.1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0539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8AD0-483F-3131-6598-F23D2EE3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Trigonometry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5E232-7F37-10F1-921C-A23968B47B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8153400" cy="4800600"/>
              </a:xfrm>
            </p:spPr>
            <p:txBody>
              <a:bodyPr>
                <a:noAutofit/>
              </a:bodyPr>
              <a:lstStyle/>
              <a:p>
                <a:pPr marL="0" marR="0">
                  <a:spcAft>
                    <a:spcPts val="1000"/>
                  </a:spcAft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Using a Calculator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35508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 sure to set your calculator to the correct mode for angle measure.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635508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 find values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sec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csc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cot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⁡</m:t>
                    </m:r>
                    <m:r>
                      <a:rPr lang="en-US" sz="2000" i="1" dirty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we use the </a:t>
                </a:r>
                <a:r>
                  <a:rPr lang="en-US" sz="2000" i="1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reciprocal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(not the inverse!).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spcAft>
                    <a:spcPts val="1000"/>
                  </a:spcAft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Definitions: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57250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Line of Sight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line from the observer to the object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57250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Angle of Elevation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angle between the line of sight and the horizontal for object above observer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57250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Angle of Depression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angle between the line of sight and the horizontal for object below 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57250" lvl="2" indent="-342900"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en-US" sz="2000" u="sng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Angle of Inclination</a:t>
                </a:r>
                <a:r>
                  <a:rPr lang="en-US" sz="20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– line of sight follows an inclined plane or hillside</a:t>
                </a:r>
                <a:endParaRPr lang="en-US" sz="20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5E232-7F37-10F1-921C-A23968B47B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8153400" cy="4800600"/>
              </a:xfrm>
              <a:blipFill>
                <a:blip r:embed="rId2"/>
                <a:stretch>
                  <a:fillRect l="-224" t="-635" r="-673" b="-16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60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1066800"/>
            <a:ext cx="4800601" cy="54102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/>
              <a:t>The Incline in Manitou Springs, CO, </a:t>
            </a:r>
            <a:r>
              <a:rPr lang="en-US" dirty="0"/>
              <a:t>consists of approximately </a:t>
            </a:r>
            <a:r>
              <a:rPr lang="en-US" dirty="0">
                <a:solidFill>
                  <a:srgbClr val="0000CC"/>
                </a:solidFill>
              </a:rPr>
              <a:t>2,744</a:t>
            </a:r>
            <a:r>
              <a:rPr lang="en-US" dirty="0"/>
              <a:t> steps made entirely of railroad ties, and gains </a:t>
            </a:r>
            <a:r>
              <a:rPr lang="en-US" dirty="0">
                <a:solidFill>
                  <a:srgbClr val="0000CC"/>
                </a:solidFill>
              </a:rPr>
              <a:t>2,011 ft</a:t>
            </a:r>
            <a:r>
              <a:rPr lang="en-US" dirty="0"/>
              <a:t> (</a:t>
            </a:r>
            <a:r>
              <a:rPr lang="en-US" dirty="0">
                <a:solidFill>
                  <a:srgbClr val="0000CC"/>
                </a:solidFill>
              </a:rPr>
              <a:t>613 m</a:t>
            </a:r>
            <a:r>
              <a:rPr lang="en-US" dirty="0"/>
              <a:t>) of elevation in a horizontal distance of  </a:t>
            </a:r>
            <a:r>
              <a:rPr lang="en-US" dirty="0">
                <a:solidFill>
                  <a:srgbClr val="0000CC"/>
                </a:solidFill>
              </a:rPr>
              <a:t>.88 mi </a:t>
            </a:r>
            <a:r>
              <a:rPr lang="en-US" dirty="0"/>
              <a:t>(</a:t>
            </a:r>
            <a:r>
              <a:rPr lang="en-US" dirty="0">
                <a:solidFill>
                  <a:srgbClr val="0000CC"/>
                </a:solidFill>
              </a:rPr>
              <a:t>1.42 km</a:t>
            </a:r>
            <a:r>
              <a:rPr lang="en-US" dirty="0"/>
              <a:t>).</a:t>
            </a:r>
          </a:p>
          <a:p>
            <a:pPr marL="82296" indent="0">
              <a:buNone/>
            </a:pPr>
            <a:r>
              <a:rPr lang="en-US" sz="2200" dirty="0"/>
              <a:t>What is the angle of incline from the base to the top?</a:t>
            </a:r>
          </a:p>
          <a:p>
            <a:pPr marL="82296" indent="0">
              <a:buNone/>
            </a:pPr>
            <a:endParaRPr lang="en-US" sz="2200" dirty="0"/>
          </a:p>
        </p:txBody>
      </p:sp>
      <p:pic>
        <p:nvPicPr>
          <p:cNvPr id="4098" name="Picture 2" descr="https://lh3.googleusercontent.com/5F77MDHZYhTl-zqpT2JzOoPXFCT-Kw7NUP37a_gUulu8VcRSTk_JHDJ1wPecoftG54pZDoaD5eIJ7Ro_t19XdiNLPWGhud1s67pwA2NveL13YCFGyjh9tBXORrqpvj1c8wBModNS86musc5tObL5gRC7H9nArVNezJVx9q6uzo3oNlDdk_usNGxlmA2GXtvNq9aAbk-vag8kdUPV9VsMb-xXZvPcNtIPwL6cWkOVf8WcXkJSfCgeADusi3oqk2Qm800-yreMSDVlfxDwpjgLNfr11irMfWbKptK-QvTypcBlGuu5fBzJ_g3_i_MtRsXoV32PdjQb8pAjnXZruNgP2bGhDK8WM9YjK6hJI1fXSzWLQPdkO9pA1C5k6OWYDJXm5NJiBzk9b7AVWB6B7ErSHUD8TtqD_E0OzKNcUwtnj8iWqDfed2BNmkq2zvwnVvyGUr3DeF_k5sA3p5jIFOBfJq0xiofLGyn4VAgLcDy4uXYAMgc8HW51tq2zM4FkSzHweSYMB_wIcEqudB70lr8dOZdEIcZzoRZ2qug3qbyJ-jmew1eTm9Rl5FuXyWVjqMBpp30oo8kMhcmEWkTO4yYCT7BsPV5mXY5q8ZCZfFujYphTCSkU_R8MBDqHQ3tLEQl972nb6-r6YZ1IHTgjUzc_Fx5LBj9Pei2PY5aShf0L_Nyi5WjkiAkH2kg=w489-h867-n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1" y="76200"/>
            <a:ext cx="3556000" cy="631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MARTInkShape-10"/>
          <p:cNvSpPr/>
          <p:nvPr/>
        </p:nvSpPr>
        <p:spPr>
          <a:xfrm>
            <a:off x="7264423" y="2921002"/>
            <a:ext cx="266598" cy="170690"/>
          </a:xfrm>
          <a:custGeom>
            <a:avLst/>
            <a:gdLst/>
            <a:ahLst/>
            <a:cxnLst/>
            <a:rect l="0" t="0" r="0" b="0"/>
            <a:pathLst>
              <a:path w="266598" h="170690">
                <a:moveTo>
                  <a:pt x="234927" y="57148"/>
                </a:moveTo>
                <a:lnTo>
                  <a:pt x="220622" y="48310"/>
                </a:lnTo>
                <a:lnTo>
                  <a:pt x="213912" y="38850"/>
                </a:lnTo>
                <a:lnTo>
                  <a:pt x="206540" y="23533"/>
                </a:lnTo>
                <a:lnTo>
                  <a:pt x="194634" y="10603"/>
                </a:lnTo>
                <a:lnTo>
                  <a:pt x="190443" y="8239"/>
                </a:lnTo>
                <a:lnTo>
                  <a:pt x="186228" y="6483"/>
                </a:lnTo>
                <a:lnTo>
                  <a:pt x="179889" y="2233"/>
                </a:lnTo>
                <a:lnTo>
                  <a:pt x="173542" y="660"/>
                </a:lnTo>
                <a:lnTo>
                  <a:pt x="137974" y="0"/>
                </a:lnTo>
                <a:lnTo>
                  <a:pt x="101675" y="7837"/>
                </a:lnTo>
                <a:lnTo>
                  <a:pt x="54597" y="29649"/>
                </a:lnTo>
                <a:lnTo>
                  <a:pt x="37996" y="39983"/>
                </a:lnTo>
                <a:lnTo>
                  <a:pt x="21969" y="53738"/>
                </a:lnTo>
                <a:lnTo>
                  <a:pt x="17277" y="55632"/>
                </a:lnTo>
                <a:lnTo>
                  <a:pt x="15743" y="56843"/>
                </a:lnTo>
                <a:lnTo>
                  <a:pt x="12880" y="61212"/>
                </a:lnTo>
                <a:lnTo>
                  <a:pt x="9710" y="62482"/>
                </a:lnTo>
                <a:lnTo>
                  <a:pt x="8583" y="63526"/>
                </a:lnTo>
                <a:lnTo>
                  <a:pt x="7329" y="66568"/>
                </a:lnTo>
                <a:lnTo>
                  <a:pt x="5819" y="74270"/>
                </a:lnTo>
                <a:lnTo>
                  <a:pt x="2022" y="81193"/>
                </a:lnTo>
                <a:lnTo>
                  <a:pt x="0" y="115455"/>
                </a:lnTo>
                <a:lnTo>
                  <a:pt x="1869" y="120222"/>
                </a:lnTo>
                <a:lnTo>
                  <a:pt x="21176" y="147274"/>
                </a:lnTo>
                <a:lnTo>
                  <a:pt x="25392" y="150121"/>
                </a:lnTo>
                <a:lnTo>
                  <a:pt x="49033" y="157732"/>
                </a:lnTo>
                <a:lnTo>
                  <a:pt x="94658" y="163094"/>
                </a:lnTo>
                <a:lnTo>
                  <a:pt x="137614" y="170542"/>
                </a:lnTo>
                <a:lnTo>
                  <a:pt x="169300" y="170689"/>
                </a:lnTo>
                <a:lnTo>
                  <a:pt x="213904" y="157374"/>
                </a:lnTo>
                <a:lnTo>
                  <a:pt x="245313" y="135449"/>
                </a:lnTo>
                <a:lnTo>
                  <a:pt x="251097" y="129110"/>
                </a:lnTo>
                <a:lnTo>
                  <a:pt x="255289" y="120647"/>
                </a:lnTo>
                <a:lnTo>
                  <a:pt x="256968" y="118530"/>
                </a:lnTo>
                <a:lnTo>
                  <a:pt x="258835" y="112416"/>
                </a:lnTo>
                <a:lnTo>
                  <a:pt x="260835" y="97953"/>
                </a:lnTo>
                <a:lnTo>
                  <a:pt x="265314" y="89014"/>
                </a:lnTo>
                <a:lnTo>
                  <a:pt x="266597" y="74088"/>
                </a:lnTo>
                <a:lnTo>
                  <a:pt x="264760" y="69851"/>
                </a:lnTo>
                <a:lnTo>
                  <a:pt x="254430" y="54195"/>
                </a:lnTo>
                <a:lnTo>
                  <a:pt x="206863" y="16176"/>
                </a:lnTo>
                <a:lnTo>
                  <a:pt x="204816" y="14244"/>
                </a:lnTo>
                <a:lnTo>
                  <a:pt x="202024" y="13385"/>
                </a:lnTo>
                <a:lnTo>
                  <a:pt x="196827" y="12698"/>
                </a:lnTo>
              </a:path>
            </a:pathLst>
          </a:cu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5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066800"/>
                <a:ext cx="4800601" cy="54102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The Incline in Manitou Springs, CO, </a:t>
                </a:r>
                <a:r>
                  <a:rPr lang="en-US" dirty="0"/>
                  <a:t>consists of approximately </a:t>
                </a:r>
                <a:r>
                  <a:rPr lang="en-US" dirty="0">
                    <a:solidFill>
                      <a:srgbClr val="0000CC"/>
                    </a:solidFill>
                  </a:rPr>
                  <a:t>2,744</a:t>
                </a:r>
                <a:r>
                  <a:rPr lang="en-US" dirty="0"/>
                  <a:t> steps made entirely of railroad ties, and gains </a:t>
                </a:r>
                <a:r>
                  <a:rPr lang="en-US" dirty="0">
                    <a:solidFill>
                      <a:srgbClr val="0000CC"/>
                    </a:solidFill>
                  </a:rPr>
                  <a:t>2,011 ft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0000CC"/>
                    </a:solidFill>
                  </a:rPr>
                  <a:t>613 m</a:t>
                </a:r>
                <a:r>
                  <a:rPr lang="en-US" dirty="0"/>
                  <a:t>) of elevation in a horizontal distance of  </a:t>
                </a:r>
                <a:r>
                  <a:rPr lang="en-US" dirty="0">
                    <a:solidFill>
                      <a:srgbClr val="0000CC"/>
                    </a:solidFill>
                  </a:rPr>
                  <a:t>.88 mi 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0000CC"/>
                    </a:solidFill>
                  </a:rPr>
                  <a:t>1.42 km</a:t>
                </a:r>
                <a:r>
                  <a:rPr lang="en-US" dirty="0"/>
                  <a:t>).</a:t>
                </a:r>
              </a:p>
              <a:p>
                <a:pPr marL="82296" indent="0">
                  <a:buNone/>
                </a:pPr>
                <a:r>
                  <a:rPr lang="en-US" sz="2200" dirty="0"/>
                  <a:t>What is the angle of incline from the base to the top?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Solution: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2011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.88</m:t>
                          </m:r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5280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2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200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sz="2200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200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200" b="0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200" b="0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2011</m:t>
                                  </m:r>
                                </m:num>
                                <m:den>
                                  <m:r>
                                    <a:rPr lang="en-US" sz="2200" b="0" i="1" smtClean="0">
                                      <a:solidFill>
                                        <a:srgbClr val="0000CC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.88</m:t>
                                  </m:r>
                                  <m:d>
                                    <m:dPr>
                                      <m:ctrlPr>
                                        <a:rPr lang="en-US" sz="2200" b="0" i="1" smtClean="0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solidFill>
                                            <a:srgbClr val="0000CC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5280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2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=23.4°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066800"/>
                <a:ext cx="4800601" cy="5410200"/>
              </a:xfrm>
              <a:blipFill>
                <a:blip r:embed="rId3"/>
                <a:stretch>
                  <a:fillRect l="-127" t="-788" r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https://lh3.googleusercontent.com/5F77MDHZYhTl-zqpT2JzOoPXFCT-Kw7NUP37a_gUulu8VcRSTk_JHDJ1wPecoftG54pZDoaD5eIJ7Ro_t19XdiNLPWGhud1s67pwA2NveL13YCFGyjh9tBXORrqpvj1c8wBModNS86musc5tObL5gRC7H9nArVNezJVx9q6uzo3oNlDdk_usNGxlmA2GXtvNq9aAbk-vag8kdUPV9VsMb-xXZvPcNtIPwL6cWkOVf8WcXkJSfCgeADusi3oqk2Qm800-yreMSDVlfxDwpjgLNfr11irMfWbKptK-QvTypcBlGuu5fBzJ_g3_i_MtRsXoV32PdjQb8pAjnXZruNgP2bGhDK8WM9YjK6hJI1fXSzWLQPdkO9pA1C5k6OWYDJXm5NJiBzk9b7AVWB6B7ErSHUD8TtqD_E0OzKNcUwtnj8iWqDfed2BNmkq2zvwnVvyGUr3DeF_k5sA3p5jIFOBfJq0xiofLGyn4VAgLcDy4uXYAMgc8HW51tq2zM4FkSzHweSYMB_wIcEqudB70lr8dOZdEIcZzoRZ2qug3qbyJ-jmew1eTm9Rl5FuXyWVjqMBpp30oo8kMhcmEWkTO4yYCT7BsPV5mXY5q8ZCZfFujYphTCSkU_R8MBDqHQ3tLEQl972nb6-r6YZ1IHTgjUzc_Fx5LBj9Pei2PY5aShf0L_Nyi5WjkiAkH2kg=w489-h867-n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1" y="76200"/>
            <a:ext cx="3556000" cy="631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66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64375" t="40830" r="13740" b="50416"/>
          <a:stretch/>
        </p:blipFill>
        <p:spPr>
          <a:xfrm>
            <a:off x="990599" y="1524000"/>
            <a:ext cx="8004313" cy="9004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64366" t="42592" r="13750" b="32963"/>
          <a:stretch/>
        </p:blipFill>
        <p:spPr>
          <a:xfrm>
            <a:off x="1063486" y="3138597"/>
            <a:ext cx="8004314" cy="25146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3809999"/>
            <a:ext cx="8382000" cy="11717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0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8251-4DBE-2A83-8C5B-F7FE8E995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335FB-4D6F-F5FA-716F-466F9EDC1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F28F0F-FBA8-A909-F4FE-0331F7AB70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927" t="30835" r="11042" b="47952"/>
          <a:stretch>
            <a:fillRect/>
          </a:stretch>
        </p:blipFill>
        <p:spPr>
          <a:xfrm>
            <a:off x="883920" y="1219200"/>
            <a:ext cx="816009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1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66927" t="52779" r="11042" b="17961"/>
          <a:stretch>
            <a:fillRect/>
          </a:stretch>
        </p:blipFill>
        <p:spPr>
          <a:xfrm>
            <a:off x="762000" y="1219200"/>
            <a:ext cx="8160095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40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64477" t="22899" r="14122" b="44579"/>
          <a:stretch/>
        </p:blipFill>
        <p:spPr>
          <a:xfrm>
            <a:off x="1143000" y="1371600"/>
            <a:ext cx="8022770" cy="34290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3124199" y="4800600"/>
            <a:ext cx="3733801" cy="1524000"/>
            <a:chOff x="3124199" y="4800600"/>
            <a:chExt cx="3733801" cy="1524000"/>
          </a:xfrm>
        </p:grpSpPr>
        <p:grpSp>
          <p:nvGrpSpPr>
            <p:cNvPr id="14" name="Group 13"/>
            <p:cNvGrpSpPr/>
            <p:nvPr/>
          </p:nvGrpSpPr>
          <p:grpSpPr>
            <a:xfrm>
              <a:off x="3124199" y="4800600"/>
              <a:ext cx="3733801" cy="1524000"/>
              <a:chOff x="2286000" y="4572000"/>
              <a:chExt cx="3733801" cy="1524000"/>
            </a:xfrm>
          </p:grpSpPr>
          <p:sp>
            <p:nvSpPr>
              <p:cNvPr id="3" name="Right Triangle 2"/>
              <p:cNvSpPr/>
              <p:nvPr/>
            </p:nvSpPr>
            <p:spPr>
              <a:xfrm flipH="1">
                <a:off x="2286000" y="4572000"/>
                <a:ext cx="2286000" cy="1524000"/>
              </a:xfrm>
              <a:prstGeom prst="rt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ight Triangle 4"/>
              <p:cNvSpPr/>
              <p:nvPr/>
            </p:nvSpPr>
            <p:spPr>
              <a:xfrm>
                <a:off x="4572000" y="4572000"/>
                <a:ext cx="1219200" cy="1524000"/>
              </a:xfrm>
              <a:prstGeom prst="rt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ight Triangle 5"/>
              <p:cNvSpPr/>
              <p:nvPr/>
            </p:nvSpPr>
            <p:spPr>
              <a:xfrm rot="10800000">
                <a:off x="4572000" y="4572000"/>
                <a:ext cx="1219200" cy="1524000"/>
              </a:xfrm>
              <a:prstGeom prst="rtTriangle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419600" y="5943600"/>
                <a:ext cx="274320" cy="152400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5654040" y="4575245"/>
                <a:ext cx="137160" cy="152400"/>
              </a:xfrm>
              <a:prstGeom prst="rect">
                <a:avLst/>
              </a:prstGeom>
              <a:noFill/>
              <a:ln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5828275" y="5199791"/>
                    <a:ext cx="1915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8275" y="5199791"/>
                    <a:ext cx="191526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032" r="-29032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4343400" y="5209401"/>
                    <a:ext cx="19152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lang="en-US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43400" y="5209401"/>
                    <a:ext cx="19152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032" r="-29032" b="-260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4352937" y="4703802"/>
                    <a:ext cx="194284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oMath>
                      </m:oMathPara>
                    </a14:m>
                    <a:endParaRPr lang="en-US" dirty="0">
                      <a:solidFill>
                        <a:srgbClr val="0000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2937" y="4703802"/>
                    <a:ext cx="194284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9032" r="-25806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5486400" y="5499556"/>
                    <a:ext cx="31098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44</m:t>
                        </m:r>
                        <m:r>
                          <a:rPr lang="en-US" sz="1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a14:m>
                    <a:r>
                      <a:rPr lang="en-US" sz="1400" dirty="0">
                        <a:solidFill>
                          <a:srgbClr val="0000FF"/>
                        </a:solidFill>
                      </a:rPr>
                      <a:t> </a:t>
                    </a:r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86400" y="5499556"/>
                    <a:ext cx="310983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308" r="-1923" b="-857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67400" y="5181600"/>
                  <a:ext cx="38792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500</m:t>
                      </m:r>
                    </m:oMath>
                  </a14:m>
                  <a:r>
                    <a:rPr lang="en-US" sz="1400" dirty="0">
                      <a:solidFill>
                        <a:srgbClr val="0000FF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7400" y="5181600"/>
                  <a:ext cx="387927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7460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3883108" y="5347156"/>
                  <a:ext cx="387927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720</m:t>
                      </m:r>
                    </m:oMath>
                  </a14:m>
                  <a:r>
                    <a:rPr lang="en-US" sz="1400" dirty="0">
                      <a:solidFill>
                        <a:srgbClr val="0000FF"/>
                      </a:solidFill>
                    </a:rPr>
                    <a:t>  </a:t>
                  </a: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3108" y="5347156"/>
                  <a:ext cx="387927" cy="215444"/>
                </a:xfrm>
                <a:prstGeom prst="rect">
                  <a:avLst/>
                </a:prstGeom>
                <a:blipFill>
                  <a:blip r:embed="rId9"/>
                  <a:stretch>
                    <a:fillRect l="-15625"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5955C6-D2C6-C8DC-022A-41941FE96D13}"/>
              </a:ext>
            </a:extLst>
          </p:cNvPr>
          <p:cNvGrpSpPr/>
          <p:nvPr/>
        </p:nvGrpSpPr>
        <p:grpSpPr>
          <a:xfrm>
            <a:off x="2209800" y="4800600"/>
            <a:ext cx="3200399" cy="1905000"/>
            <a:chOff x="2286000" y="4800600"/>
            <a:chExt cx="3124199" cy="190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D8451B4-DECE-B4A0-D141-A0FCC96C7182}"/>
                    </a:ext>
                  </a:extLst>
                </p:cNvPr>
                <p:cNvSpPr txBox="1"/>
                <p:nvPr/>
              </p:nvSpPr>
              <p:spPr>
                <a:xfrm>
                  <a:off x="2286000" y="6490156"/>
                  <a:ext cx="58990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240</m:t>
                      </m:r>
                      <m:r>
                        <a:rPr lang="en-US" sz="1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1400" dirty="0">
                      <a:solidFill>
                        <a:srgbClr val="00B050"/>
                      </a:solidFill>
                    </a:rPr>
                    <a:t>    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D8451B4-DECE-B4A0-D141-A0FCC96C71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0" y="6490156"/>
                  <a:ext cx="589905" cy="215444"/>
                </a:xfrm>
                <a:prstGeom prst="rect">
                  <a:avLst/>
                </a:prstGeom>
                <a:blipFill>
                  <a:blip r:embed="rId10"/>
                  <a:stretch>
                    <a:fillRect l="-10101"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42B3ED8-7252-681D-7424-E919BC439192}"/>
                </a:ext>
              </a:extLst>
            </p:cNvPr>
            <p:cNvCxnSpPr>
              <a:cxnSpLocks/>
              <a:stCxn id="3" idx="0"/>
              <a:endCxn id="10" idx="2"/>
            </p:cNvCxnSpPr>
            <p:nvPr/>
          </p:nvCxnSpPr>
          <p:spPr>
            <a:xfrm flipH="1">
              <a:off x="2580953" y="4800600"/>
              <a:ext cx="2829246" cy="190500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51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53340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dirty="0"/>
              <a:t>To avoid a storm, a jet travels at </a:t>
            </a:r>
            <a:r>
              <a:rPr lang="en-US" dirty="0">
                <a:solidFill>
                  <a:srgbClr val="0000CC"/>
                </a:solidFill>
              </a:rPr>
              <a:t>60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r>
              <a:rPr lang="en-US" dirty="0"/>
              <a:t> north of east from Detroit for </a:t>
            </a:r>
            <a:r>
              <a:rPr lang="en-US" dirty="0">
                <a:solidFill>
                  <a:srgbClr val="0000CC"/>
                </a:solidFill>
              </a:rPr>
              <a:t>190 mi </a:t>
            </a:r>
            <a:r>
              <a:rPr lang="en-US" dirty="0"/>
              <a:t>and then turns to a direction of </a:t>
            </a:r>
            <a:r>
              <a:rPr lang="en-US" dirty="0">
                <a:solidFill>
                  <a:srgbClr val="0000CC"/>
                </a:solidFill>
              </a:rPr>
              <a:t>10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r>
              <a:rPr lang="en-US" dirty="0"/>
              <a:t> north of east for </a:t>
            </a:r>
            <a:r>
              <a:rPr lang="en-US" dirty="0">
                <a:solidFill>
                  <a:srgbClr val="0000CC"/>
                </a:solidFill>
              </a:rPr>
              <a:t>280 mi </a:t>
            </a:r>
            <a:r>
              <a:rPr lang="en-US" dirty="0"/>
              <a:t>to Ottawa.  Find the displacement of Ottawa from Detroit.  </a:t>
            </a: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  <a:p>
            <a:pPr marL="82296" indent="0">
              <a:buNone/>
            </a:pPr>
            <a:r>
              <a:rPr lang="en-US" dirty="0"/>
              <a:t>Solution:  (on the board)</a:t>
            </a:r>
          </a:p>
          <a:p>
            <a:pPr marL="82296" indent="0">
              <a:buNone/>
            </a:pPr>
            <a:r>
              <a:rPr lang="en-US" dirty="0">
                <a:solidFill>
                  <a:srgbClr val="0000CC"/>
                </a:solidFill>
              </a:rPr>
              <a:t>428 mi </a:t>
            </a:r>
            <a:r>
              <a:rPr lang="en-US" dirty="0"/>
              <a:t>at </a:t>
            </a:r>
            <a:r>
              <a:rPr lang="en-US" dirty="0">
                <a:solidFill>
                  <a:srgbClr val="0000CC"/>
                </a:solidFill>
              </a:rPr>
              <a:t>30</a:t>
            </a:r>
            <a:r>
              <a:rPr lang="en-US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r>
              <a:rPr lang="en-US" dirty="0"/>
              <a:t> north of east</a:t>
            </a:r>
          </a:p>
          <a:p>
            <a:pPr marL="82296" indent="0">
              <a:buNone/>
            </a:pPr>
            <a:endParaRPr lang="en-US" b="1" i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64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066800"/>
                <a:ext cx="7924800" cy="54102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In order to determine the length of a proposed tunnel through a mountain, a surveyor places poles at points </a:t>
                </a:r>
                <a:r>
                  <a:rPr lang="en-US" sz="2200" i="1" dirty="0"/>
                  <a:t>A</a:t>
                </a:r>
                <a:r>
                  <a:rPr lang="en-US" sz="2200" dirty="0"/>
                  <a:t>, </a:t>
                </a:r>
                <a:r>
                  <a:rPr lang="en-US" sz="2200" i="1" dirty="0"/>
                  <a:t>B</a:t>
                </a:r>
                <a:r>
                  <a:rPr lang="en-US" sz="2200" dirty="0"/>
                  <a:t>, and </a:t>
                </a:r>
                <a:r>
                  <a:rPr lang="en-US" sz="2200" i="1" dirty="0"/>
                  <a:t>C</a:t>
                </a:r>
                <a:r>
                  <a:rPr lang="en-US" sz="2200" dirty="0"/>
                  <a:t> and determines the measurements as shown.  </a:t>
                </a:r>
              </a:p>
              <a:p>
                <a:r>
                  <a:rPr lang="en-US" sz="2200" dirty="0"/>
                  <a:t>Determine the length of the proposed tunnel.</a:t>
                </a:r>
              </a:p>
              <a:p>
                <a:pPr marL="82296" indent="0">
                  <a:buNone/>
                </a:pPr>
                <a:r>
                  <a:rPr lang="en-US" sz="2200" dirty="0"/>
                  <a:t>    (Round to the nearest tenth of a foot.)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24.55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117.5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79.6+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+33.2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117.5</m:t>
                        </m:r>
                      </m:num>
                      <m:den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24.55</m:t>
                            </m:r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func>
                      </m:den>
                    </m:f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−79.6−33.2</m:t>
                    </m:r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 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=170.0</m:t>
                    </m:r>
                  </m:oMath>
                </a14:m>
                <a:r>
                  <a:rPr lang="en-US" sz="2200" dirty="0"/>
                  <a:t> ft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066800"/>
                <a:ext cx="7924800" cy="5410200"/>
              </a:xfrm>
              <a:blipFill>
                <a:blip r:embed="rId3"/>
                <a:stretch>
                  <a:fillRect t="-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/>
          <p:cNvGrpSpPr/>
          <p:nvPr/>
        </p:nvGrpSpPr>
        <p:grpSpPr>
          <a:xfrm>
            <a:off x="3262172" y="2743200"/>
            <a:ext cx="5424628" cy="3600510"/>
            <a:chOff x="1280972" y="2977736"/>
            <a:chExt cx="5424628" cy="3600510"/>
          </a:xfrm>
        </p:grpSpPr>
        <p:sp>
          <p:nvSpPr>
            <p:cNvPr id="8" name="Right Triangle 7"/>
            <p:cNvSpPr/>
            <p:nvPr/>
          </p:nvSpPr>
          <p:spPr>
            <a:xfrm rot="1529208" flipH="1">
              <a:off x="1893638" y="3477368"/>
              <a:ext cx="4226165" cy="2032532"/>
            </a:xfrm>
            <a:prstGeom prst="rt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3338372" y="2977736"/>
              <a:ext cx="2760315" cy="2572230"/>
            </a:xfrm>
            <a:custGeom>
              <a:avLst/>
              <a:gdLst>
                <a:gd name="connsiteX0" fmla="*/ 2896881 w 3264900"/>
                <a:gd name="connsiteY0" fmla="*/ 261257 h 3319502"/>
                <a:gd name="connsiteX1" fmla="*/ 2858461 w 3264900"/>
                <a:gd name="connsiteY1" fmla="*/ 253573 h 3319502"/>
                <a:gd name="connsiteX2" fmla="*/ 2835409 w 3264900"/>
                <a:gd name="connsiteY2" fmla="*/ 238205 h 3319502"/>
                <a:gd name="connsiteX3" fmla="*/ 2789304 w 3264900"/>
                <a:gd name="connsiteY3" fmla="*/ 215153 h 3319502"/>
                <a:gd name="connsiteX4" fmla="*/ 2750884 w 3264900"/>
                <a:gd name="connsiteY4" fmla="*/ 176733 h 3319502"/>
                <a:gd name="connsiteX5" fmla="*/ 2720148 w 3264900"/>
                <a:gd name="connsiteY5" fmla="*/ 169048 h 3319502"/>
                <a:gd name="connsiteX6" fmla="*/ 2689412 w 3264900"/>
                <a:gd name="connsiteY6" fmla="*/ 153680 h 3319502"/>
                <a:gd name="connsiteX7" fmla="*/ 2666360 w 3264900"/>
                <a:gd name="connsiteY7" fmla="*/ 138312 h 3319502"/>
                <a:gd name="connsiteX8" fmla="*/ 2635624 w 3264900"/>
                <a:gd name="connsiteY8" fmla="*/ 130628 h 3319502"/>
                <a:gd name="connsiteX9" fmla="*/ 2597203 w 3264900"/>
                <a:gd name="connsiteY9" fmla="*/ 107576 h 3319502"/>
                <a:gd name="connsiteX10" fmla="*/ 2497311 w 3264900"/>
                <a:gd name="connsiteY10" fmla="*/ 84524 h 3319502"/>
                <a:gd name="connsiteX11" fmla="*/ 2428155 w 3264900"/>
                <a:gd name="connsiteY11" fmla="*/ 61472 h 3319502"/>
                <a:gd name="connsiteX12" fmla="*/ 2358998 w 3264900"/>
                <a:gd name="connsiteY12" fmla="*/ 53788 h 3319502"/>
                <a:gd name="connsiteX13" fmla="*/ 2305210 w 3264900"/>
                <a:gd name="connsiteY13" fmla="*/ 46104 h 3319502"/>
                <a:gd name="connsiteX14" fmla="*/ 2189950 w 3264900"/>
                <a:gd name="connsiteY14" fmla="*/ 23052 h 3319502"/>
                <a:gd name="connsiteX15" fmla="*/ 2013217 w 3264900"/>
                <a:gd name="connsiteY15" fmla="*/ 15368 h 3319502"/>
                <a:gd name="connsiteX16" fmla="*/ 1728908 w 3264900"/>
                <a:gd name="connsiteY16" fmla="*/ 0 h 3319502"/>
                <a:gd name="connsiteX17" fmla="*/ 1475335 w 3264900"/>
                <a:gd name="connsiteY17" fmla="*/ 15368 h 3319502"/>
                <a:gd name="connsiteX18" fmla="*/ 1406178 w 3264900"/>
                <a:gd name="connsiteY18" fmla="*/ 46104 h 3319502"/>
                <a:gd name="connsiteX19" fmla="*/ 1367758 w 3264900"/>
                <a:gd name="connsiteY19" fmla="*/ 53788 h 3319502"/>
                <a:gd name="connsiteX20" fmla="*/ 1298602 w 3264900"/>
                <a:gd name="connsiteY20" fmla="*/ 84524 h 3319502"/>
                <a:gd name="connsiteX21" fmla="*/ 1267866 w 3264900"/>
                <a:gd name="connsiteY21" fmla="*/ 99892 h 3319502"/>
                <a:gd name="connsiteX22" fmla="*/ 1244814 w 3264900"/>
                <a:gd name="connsiteY22" fmla="*/ 115260 h 3319502"/>
                <a:gd name="connsiteX23" fmla="*/ 1206393 w 3264900"/>
                <a:gd name="connsiteY23" fmla="*/ 122944 h 3319502"/>
                <a:gd name="connsiteX24" fmla="*/ 1175657 w 3264900"/>
                <a:gd name="connsiteY24" fmla="*/ 176733 h 3319502"/>
                <a:gd name="connsiteX25" fmla="*/ 1160289 w 3264900"/>
                <a:gd name="connsiteY25" fmla="*/ 199785 h 3319502"/>
                <a:gd name="connsiteX26" fmla="*/ 1137237 w 3264900"/>
                <a:gd name="connsiteY26" fmla="*/ 268941 h 3319502"/>
                <a:gd name="connsiteX27" fmla="*/ 1137237 w 3264900"/>
                <a:gd name="connsiteY27" fmla="*/ 430306 h 3319502"/>
                <a:gd name="connsiteX28" fmla="*/ 1129553 w 3264900"/>
                <a:gd name="connsiteY28" fmla="*/ 468726 h 3319502"/>
                <a:gd name="connsiteX29" fmla="*/ 1114185 w 3264900"/>
                <a:gd name="connsiteY29" fmla="*/ 491778 h 3319502"/>
                <a:gd name="connsiteX30" fmla="*/ 1098817 w 3264900"/>
                <a:gd name="connsiteY30" fmla="*/ 583986 h 3319502"/>
                <a:gd name="connsiteX31" fmla="*/ 1091133 w 3264900"/>
                <a:gd name="connsiteY31" fmla="*/ 614722 h 3319502"/>
                <a:gd name="connsiteX32" fmla="*/ 1075765 w 3264900"/>
                <a:gd name="connsiteY32" fmla="*/ 630091 h 3319502"/>
                <a:gd name="connsiteX33" fmla="*/ 1060397 w 3264900"/>
                <a:gd name="connsiteY33" fmla="*/ 653143 h 3319502"/>
                <a:gd name="connsiteX34" fmla="*/ 1052713 w 3264900"/>
                <a:gd name="connsiteY34" fmla="*/ 683879 h 3319502"/>
                <a:gd name="connsiteX35" fmla="*/ 1006609 w 3264900"/>
                <a:gd name="connsiteY35" fmla="*/ 722299 h 3319502"/>
                <a:gd name="connsiteX36" fmla="*/ 975872 w 3264900"/>
                <a:gd name="connsiteY36" fmla="*/ 768403 h 3319502"/>
                <a:gd name="connsiteX37" fmla="*/ 929768 w 3264900"/>
                <a:gd name="connsiteY37" fmla="*/ 799139 h 3319502"/>
                <a:gd name="connsiteX38" fmla="*/ 883664 w 3264900"/>
                <a:gd name="connsiteY38" fmla="*/ 814507 h 3319502"/>
                <a:gd name="connsiteX39" fmla="*/ 860612 w 3264900"/>
                <a:gd name="connsiteY39" fmla="*/ 822191 h 3319502"/>
                <a:gd name="connsiteX40" fmla="*/ 814508 w 3264900"/>
                <a:gd name="connsiteY40" fmla="*/ 845243 h 3319502"/>
                <a:gd name="connsiteX41" fmla="*/ 791456 w 3264900"/>
                <a:gd name="connsiteY41" fmla="*/ 868296 h 3319502"/>
                <a:gd name="connsiteX42" fmla="*/ 768403 w 3264900"/>
                <a:gd name="connsiteY42" fmla="*/ 875980 h 3319502"/>
                <a:gd name="connsiteX43" fmla="*/ 683879 w 3264900"/>
                <a:gd name="connsiteY43" fmla="*/ 883664 h 3319502"/>
                <a:gd name="connsiteX44" fmla="*/ 645459 w 3264900"/>
                <a:gd name="connsiteY44" fmla="*/ 922084 h 3319502"/>
                <a:gd name="connsiteX45" fmla="*/ 614723 w 3264900"/>
                <a:gd name="connsiteY45" fmla="*/ 929768 h 3319502"/>
                <a:gd name="connsiteX46" fmla="*/ 591671 w 3264900"/>
                <a:gd name="connsiteY46" fmla="*/ 937452 h 3319502"/>
                <a:gd name="connsiteX47" fmla="*/ 537882 w 3264900"/>
                <a:gd name="connsiteY47" fmla="*/ 952820 h 3319502"/>
                <a:gd name="connsiteX48" fmla="*/ 484094 w 3264900"/>
                <a:gd name="connsiteY48" fmla="*/ 983556 h 3319502"/>
                <a:gd name="connsiteX49" fmla="*/ 461042 w 3264900"/>
                <a:gd name="connsiteY49" fmla="*/ 998924 h 3319502"/>
                <a:gd name="connsiteX50" fmla="*/ 391886 w 3264900"/>
                <a:gd name="connsiteY50" fmla="*/ 1021976 h 3319502"/>
                <a:gd name="connsiteX51" fmla="*/ 368834 w 3264900"/>
                <a:gd name="connsiteY51" fmla="*/ 1037344 h 3319502"/>
                <a:gd name="connsiteX52" fmla="*/ 345782 w 3264900"/>
                <a:gd name="connsiteY52" fmla="*/ 1060396 h 3319502"/>
                <a:gd name="connsiteX53" fmla="*/ 268941 w 3264900"/>
                <a:gd name="connsiteY53" fmla="*/ 1098817 h 3319502"/>
                <a:gd name="connsiteX54" fmla="*/ 238205 w 3264900"/>
                <a:gd name="connsiteY54" fmla="*/ 1114185 h 3319502"/>
                <a:gd name="connsiteX55" fmla="*/ 222837 w 3264900"/>
                <a:gd name="connsiteY55" fmla="*/ 1137237 h 3319502"/>
                <a:gd name="connsiteX56" fmla="*/ 169049 w 3264900"/>
                <a:gd name="connsiteY56" fmla="*/ 1175657 h 3319502"/>
                <a:gd name="connsiteX57" fmla="*/ 145997 w 3264900"/>
                <a:gd name="connsiteY57" fmla="*/ 1252497 h 3319502"/>
                <a:gd name="connsiteX58" fmla="*/ 122945 w 3264900"/>
                <a:gd name="connsiteY58" fmla="*/ 1275549 h 3319502"/>
                <a:gd name="connsiteX59" fmla="*/ 99893 w 3264900"/>
                <a:gd name="connsiteY59" fmla="*/ 1352390 h 3319502"/>
                <a:gd name="connsiteX60" fmla="*/ 92209 w 3264900"/>
                <a:gd name="connsiteY60" fmla="*/ 1429230 h 3319502"/>
                <a:gd name="connsiteX61" fmla="*/ 84524 w 3264900"/>
                <a:gd name="connsiteY61" fmla="*/ 1467650 h 3319502"/>
                <a:gd name="connsiteX62" fmla="*/ 69156 w 3264900"/>
                <a:gd name="connsiteY62" fmla="*/ 1552175 h 3319502"/>
                <a:gd name="connsiteX63" fmla="*/ 53788 w 3264900"/>
                <a:gd name="connsiteY63" fmla="*/ 1598279 h 3319502"/>
                <a:gd name="connsiteX64" fmla="*/ 38420 w 3264900"/>
                <a:gd name="connsiteY64" fmla="*/ 1644383 h 3319502"/>
                <a:gd name="connsiteX65" fmla="*/ 30736 w 3264900"/>
                <a:gd name="connsiteY65" fmla="*/ 1698171 h 3319502"/>
                <a:gd name="connsiteX66" fmla="*/ 15368 w 3264900"/>
                <a:gd name="connsiteY66" fmla="*/ 1736591 h 3319502"/>
                <a:gd name="connsiteX67" fmla="*/ 7684 w 3264900"/>
                <a:gd name="connsiteY67" fmla="*/ 1798064 h 3319502"/>
                <a:gd name="connsiteX68" fmla="*/ 0 w 3264900"/>
                <a:gd name="connsiteY68" fmla="*/ 1844168 h 3319502"/>
                <a:gd name="connsiteX69" fmla="*/ 23052 w 3264900"/>
                <a:gd name="connsiteY69" fmla="*/ 2405102 h 3319502"/>
                <a:gd name="connsiteX70" fmla="*/ 46104 w 3264900"/>
                <a:gd name="connsiteY70" fmla="*/ 2451206 h 3319502"/>
                <a:gd name="connsiteX71" fmla="*/ 84524 w 3264900"/>
                <a:gd name="connsiteY71" fmla="*/ 2504995 h 3319502"/>
                <a:gd name="connsiteX72" fmla="*/ 115261 w 3264900"/>
                <a:gd name="connsiteY72" fmla="*/ 2558783 h 3319502"/>
                <a:gd name="connsiteX73" fmla="*/ 145997 w 3264900"/>
                <a:gd name="connsiteY73" fmla="*/ 2612571 h 3319502"/>
                <a:gd name="connsiteX74" fmla="*/ 169049 w 3264900"/>
                <a:gd name="connsiteY74" fmla="*/ 2643307 h 3319502"/>
                <a:gd name="connsiteX75" fmla="*/ 192101 w 3264900"/>
                <a:gd name="connsiteY75" fmla="*/ 2650991 h 3319502"/>
                <a:gd name="connsiteX76" fmla="*/ 215153 w 3264900"/>
                <a:gd name="connsiteY76" fmla="*/ 2666359 h 3319502"/>
                <a:gd name="connsiteX77" fmla="*/ 222837 w 3264900"/>
                <a:gd name="connsiteY77" fmla="*/ 2697096 h 3319502"/>
                <a:gd name="connsiteX78" fmla="*/ 253573 w 3264900"/>
                <a:gd name="connsiteY78" fmla="*/ 2720148 h 3319502"/>
                <a:gd name="connsiteX79" fmla="*/ 291993 w 3264900"/>
                <a:gd name="connsiteY79" fmla="*/ 2766252 h 3319502"/>
                <a:gd name="connsiteX80" fmla="*/ 315046 w 3264900"/>
                <a:gd name="connsiteY80" fmla="*/ 2781620 h 3319502"/>
                <a:gd name="connsiteX81" fmla="*/ 361150 w 3264900"/>
                <a:gd name="connsiteY81" fmla="*/ 2820040 h 3319502"/>
                <a:gd name="connsiteX82" fmla="*/ 407254 w 3264900"/>
                <a:gd name="connsiteY82" fmla="*/ 2873828 h 3319502"/>
                <a:gd name="connsiteX83" fmla="*/ 507146 w 3264900"/>
                <a:gd name="connsiteY83" fmla="*/ 2996773 h 3319502"/>
                <a:gd name="connsiteX84" fmla="*/ 537882 w 3264900"/>
                <a:gd name="connsiteY84" fmla="*/ 3027509 h 3319502"/>
                <a:gd name="connsiteX85" fmla="*/ 553251 w 3264900"/>
                <a:gd name="connsiteY85" fmla="*/ 3042877 h 3319502"/>
                <a:gd name="connsiteX86" fmla="*/ 560935 w 3264900"/>
                <a:gd name="connsiteY86" fmla="*/ 3073613 h 3319502"/>
                <a:gd name="connsiteX87" fmla="*/ 583987 w 3264900"/>
                <a:gd name="connsiteY87" fmla="*/ 3088981 h 3319502"/>
                <a:gd name="connsiteX88" fmla="*/ 637775 w 3264900"/>
                <a:gd name="connsiteY88" fmla="*/ 3119717 h 3319502"/>
                <a:gd name="connsiteX89" fmla="*/ 706931 w 3264900"/>
                <a:gd name="connsiteY89" fmla="*/ 3165822 h 3319502"/>
                <a:gd name="connsiteX90" fmla="*/ 745351 w 3264900"/>
                <a:gd name="connsiteY90" fmla="*/ 3188874 h 3319502"/>
                <a:gd name="connsiteX91" fmla="*/ 852928 w 3264900"/>
                <a:gd name="connsiteY91" fmla="*/ 3227294 h 3319502"/>
                <a:gd name="connsiteX92" fmla="*/ 868296 w 3264900"/>
                <a:gd name="connsiteY92" fmla="*/ 3258030 h 3319502"/>
                <a:gd name="connsiteX93" fmla="*/ 968188 w 3264900"/>
                <a:gd name="connsiteY93" fmla="*/ 3281082 h 3319502"/>
                <a:gd name="connsiteX94" fmla="*/ 991240 w 3264900"/>
                <a:gd name="connsiteY94" fmla="*/ 3296450 h 3319502"/>
                <a:gd name="connsiteX95" fmla="*/ 1121869 w 3264900"/>
                <a:gd name="connsiteY95" fmla="*/ 3311818 h 3319502"/>
                <a:gd name="connsiteX96" fmla="*/ 1206393 w 3264900"/>
                <a:gd name="connsiteY96" fmla="*/ 3319502 h 3319502"/>
                <a:gd name="connsiteX97" fmla="*/ 1698172 w 3264900"/>
                <a:gd name="connsiteY97" fmla="*/ 3311818 h 3319502"/>
                <a:gd name="connsiteX98" fmla="*/ 1713540 w 3264900"/>
                <a:gd name="connsiteY98" fmla="*/ 3288766 h 3319502"/>
                <a:gd name="connsiteX99" fmla="*/ 1790380 w 3264900"/>
                <a:gd name="connsiteY99" fmla="*/ 3258030 h 3319502"/>
                <a:gd name="connsiteX100" fmla="*/ 1867220 w 3264900"/>
                <a:gd name="connsiteY100" fmla="*/ 3181190 h 3319502"/>
                <a:gd name="connsiteX101" fmla="*/ 1936377 w 3264900"/>
                <a:gd name="connsiteY101" fmla="*/ 3119717 h 3319502"/>
                <a:gd name="connsiteX102" fmla="*/ 1959429 w 3264900"/>
                <a:gd name="connsiteY102" fmla="*/ 3112033 h 3319502"/>
                <a:gd name="connsiteX103" fmla="*/ 2020901 w 3264900"/>
                <a:gd name="connsiteY103" fmla="*/ 3050561 h 3319502"/>
                <a:gd name="connsiteX104" fmla="*/ 2059321 w 3264900"/>
                <a:gd name="connsiteY104" fmla="*/ 2996773 h 3319502"/>
                <a:gd name="connsiteX105" fmla="*/ 2113109 w 3264900"/>
                <a:gd name="connsiteY105" fmla="*/ 2935301 h 3319502"/>
                <a:gd name="connsiteX106" fmla="*/ 2136161 w 3264900"/>
                <a:gd name="connsiteY106" fmla="*/ 2927617 h 3319502"/>
                <a:gd name="connsiteX107" fmla="*/ 2159214 w 3264900"/>
                <a:gd name="connsiteY107" fmla="*/ 2889196 h 3319502"/>
                <a:gd name="connsiteX108" fmla="*/ 2174582 w 3264900"/>
                <a:gd name="connsiteY108" fmla="*/ 2858460 h 3319502"/>
                <a:gd name="connsiteX109" fmla="*/ 2205318 w 3264900"/>
                <a:gd name="connsiteY109" fmla="*/ 2835408 h 3319502"/>
                <a:gd name="connsiteX110" fmla="*/ 2228370 w 3264900"/>
                <a:gd name="connsiteY110" fmla="*/ 2727832 h 3319502"/>
                <a:gd name="connsiteX111" fmla="*/ 2243738 w 3264900"/>
                <a:gd name="connsiteY111" fmla="*/ 2674043 h 3319502"/>
                <a:gd name="connsiteX112" fmla="*/ 2274474 w 3264900"/>
                <a:gd name="connsiteY112" fmla="*/ 2650991 h 3319502"/>
                <a:gd name="connsiteX113" fmla="*/ 2282158 w 3264900"/>
                <a:gd name="connsiteY113" fmla="*/ 2620255 h 3319502"/>
                <a:gd name="connsiteX114" fmla="*/ 2297526 w 3264900"/>
                <a:gd name="connsiteY114" fmla="*/ 2589519 h 3319502"/>
                <a:gd name="connsiteX115" fmla="*/ 2312894 w 3264900"/>
                <a:gd name="connsiteY115" fmla="*/ 2551099 h 3319502"/>
                <a:gd name="connsiteX116" fmla="*/ 2328262 w 3264900"/>
                <a:gd name="connsiteY116" fmla="*/ 2520363 h 3319502"/>
                <a:gd name="connsiteX117" fmla="*/ 2366682 w 3264900"/>
                <a:gd name="connsiteY117" fmla="*/ 2397418 h 3319502"/>
                <a:gd name="connsiteX118" fmla="*/ 2382051 w 3264900"/>
                <a:gd name="connsiteY118" fmla="*/ 2366682 h 3319502"/>
                <a:gd name="connsiteX119" fmla="*/ 2389735 w 3264900"/>
                <a:gd name="connsiteY119" fmla="*/ 2343630 h 3319502"/>
                <a:gd name="connsiteX120" fmla="*/ 2420471 w 3264900"/>
                <a:gd name="connsiteY120" fmla="*/ 2312894 h 3319502"/>
                <a:gd name="connsiteX121" fmla="*/ 2451207 w 3264900"/>
                <a:gd name="connsiteY121" fmla="*/ 2251422 h 3319502"/>
                <a:gd name="connsiteX122" fmla="*/ 2481943 w 3264900"/>
                <a:gd name="connsiteY122" fmla="*/ 2228369 h 3319502"/>
                <a:gd name="connsiteX123" fmla="*/ 2520363 w 3264900"/>
                <a:gd name="connsiteY123" fmla="*/ 2166897 h 3319502"/>
                <a:gd name="connsiteX124" fmla="*/ 2551099 w 3264900"/>
                <a:gd name="connsiteY124" fmla="*/ 2151529 h 3319502"/>
                <a:gd name="connsiteX125" fmla="*/ 2581835 w 3264900"/>
                <a:gd name="connsiteY125" fmla="*/ 2120793 h 3319502"/>
                <a:gd name="connsiteX126" fmla="*/ 2627940 w 3264900"/>
                <a:gd name="connsiteY126" fmla="*/ 2090057 h 3319502"/>
                <a:gd name="connsiteX127" fmla="*/ 2681728 w 3264900"/>
                <a:gd name="connsiteY127" fmla="*/ 2036269 h 3319502"/>
                <a:gd name="connsiteX128" fmla="*/ 2720148 w 3264900"/>
                <a:gd name="connsiteY128" fmla="*/ 1967112 h 3319502"/>
                <a:gd name="connsiteX129" fmla="*/ 2743200 w 3264900"/>
                <a:gd name="connsiteY129" fmla="*/ 1944060 h 3319502"/>
                <a:gd name="connsiteX130" fmla="*/ 2758568 w 3264900"/>
                <a:gd name="connsiteY130" fmla="*/ 1921008 h 3319502"/>
                <a:gd name="connsiteX131" fmla="*/ 2781620 w 3264900"/>
                <a:gd name="connsiteY131" fmla="*/ 1844168 h 3319502"/>
                <a:gd name="connsiteX132" fmla="*/ 2804672 w 3264900"/>
                <a:gd name="connsiteY132" fmla="*/ 1821116 h 3319502"/>
                <a:gd name="connsiteX133" fmla="*/ 2820040 w 3264900"/>
                <a:gd name="connsiteY133" fmla="*/ 1798064 h 3319502"/>
                <a:gd name="connsiteX134" fmla="*/ 2843093 w 3264900"/>
                <a:gd name="connsiteY134" fmla="*/ 1767327 h 3319502"/>
                <a:gd name="connsiteX135" fmla="*/ 2873829 w 3264900"/>
                <a:gd name="connsiteY135" fmla="*/ 1698171 h 3319502"/>
                <a:gd name="connsiteX136" fmla="*/ 2896881 w 3264900"/>
                <a:gd name="connsiteY136" fmla="*/ 1675119 h 3319502"/>
                <a:gd name="connsiteX137" fmla="*/ 2904565 w 3264900"/>
                <a:gd name="connsiteY137" fmla="*/ 1652067 h 3319502"/>
                <a:gd name="connsiteX138" fmla="*/ 2927617 w 3264900"/>
                <a:gd name="connsiteY138" fmla="*/ 1644383 h 3319502"/>
                <a:gd name="connsiteX139" fmla="*/ 2973721 w 3264900"/>
                <a:gd name="connsiteY139" fmla="*/ 1613647 h 3319502"/>
                <a:gd name="connsiteX140" fmla="*/ 2996773 w 3264900"/>
                <a:gd name="connsiteY140" fmla="*/ 1590595 h 3319502"/>
                <a:gd name="connsiteX141" fmla="*/ 3050561 w 3264900"/>
                <a:gd name="connsiteY141" fmla="*/ 1552175 h 3319502"/>
                <a:gd name="connsiteX142" fmla="*/ 3065930 w 3264900"/>
                <a:gd name="connsiteY142" fmla="*/ 1529122 h 3319502"/>
                <a:gd name="connsiteX143" fmla="*/ 3112034 w 3264900"/>
                <a:gd name="connsiteY143" fmla="*/ 1467650 h 3319502"/>
                <a:gd name="connsiteX144" fmla="*/ 3158138 w 3264900"/>
                <a:gd name="connsiteY144" fmla="*/ 1452282 h 3319502"/>
                <a:gd name="connsiteX145" fmla="*/ 3173506 w 3264900"/>
                <a:gd name="connsiteY145" fmla="*/ 1421546 h 3319502"/>
                <a:gd name="connsiteX146" fmla="*/ 3227294 w 3264900"/>
                <a:gd name="connsiteY146" fmla="*/ 1344706 h 3319502"/>
                <a:gd name="connsiteX147" fmla="*/ 3234978 w 3264900"/>
                <a:gd name="connsiteY147" fmla="*/ 1267865 h 3319502"/>
                <a:gd name="connsiteX148" fmla="*/ 3258030 w 3264900"/>
                <a:gd name="connsiteY148" fmla="*/ 1175657 h 3319502"/>
                <a:gd name="connsiteX149" fmla="*/ 3242662 w 3264900"/>
                <a:gd name="connsiteY149" fmla="*/ 791455 h 3319502"/>
                <a:gd name="connsiteX150" fmla="*/ 3258030 w 3264900"/>
                <a:gd name="connsiteY150" fmla="*/ 768403 h 3319502"/>
                <a:gd name="connsiteX151" fmla="*/ 3234978 w 3264900"/>
                <a:gd name="connsiteY151" fmla="*/ 729983 h 3319502"/>
                <a:gd name="connsiteX152" fmla="*/ 3204242 w 3264900"/>
                <a:gd name="connsiteY152" fmla="*/ 676195 h 3319502"/>
                <a:gd name="connsiteX153" fmla="*/ 3196558 w 3264900"/>
                <a:gd name="connsiteY153" fmla="*/ 622406 h 3319502"/>
                <a:gd name="connsiteX154" fmla="*/ 3173506 w 3264900"/>
                <a:gd name="connsiteY154" fmla="*/ 607038 h 3319502"/>
                <a:gd name="connsiteX155" fmla="*/ 3158138 w 3264900"/>
                <a:gd name="connsiteY155" fmla="*/ 545566 h 3319502"/>
                <a:gd name="connsiteX156" fmla="*/ 3112034 w 3264900"/>
                <a:gd name="connsiteY156" fmla="*/ 491778 h 3319502"/>
                <a:gd name="connsiteX157" fmla="*/ 3088982 w 3264900"/>
                <a:gd name="connsiteY157" fmla="*/ 453358 h 3319502"/>
                <a:gd name="connsiteX158" fmla="*/ 3042877 w 3264900"/>
                <a:gd name="connsiteY158" fmla="*/ 407254 h 3319502"/>
                <a:gd name="connsiteX159" fmla="*/ 2966037 w 3264900"/>
                <a:gd name="connsiteY159" fmla="*/ 322729 h 3319502"/>
                <a:gd name="connsiteX160" fmla="*/ 2889197 w 3264900"/>
                <a:gd name="connsiteY160" fmla="*/ 261257 h 3319502"/>
                <a:gd name="connsiteX161" fmla="*/ 2843093 w 3264900"/>
                <a:gd name="connsiteY161" fmla="*/ 245889 h 3319502"/>
                <a:gd name="connsiteX162" fmla="*/ 2820040 w 3264900"/>
                <a:gd name="connsiteY162" fmla="*/ 207469 h 3319502"/>
                <a:gd name="connsiteX163" fmla="*/ 2820040 w 3264900"/>
                <a:gd name="connsiteY163" fmla="*/ 215153 h 3319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3264900" h="3319502">
                  <a:moveTo>
                    <a:pt x="2896881" y="261257"/>
                  </a:moveTo>
                  <a:cubicBezTo>
                    <a:pt x="2884074" y="258696"/>
                    <a:pt x="2870690" y="258159"/>
                    <a:pt x="2858461" y="253573"/>
                  </a:cubicBezTo>
                  <a:cubicBezTo>
                    <a:pt x="2849814" y="250330"/>
                    <a:pt x="2843482" y="242690"/>
                    <a:pt x="2835409" y="238205"/>
                  </a:cubicBezTo>
                  <a:cubicBezTo>
                    <a:pt x="2820389" y="229861"/>
                    <a:pt x="2804672" y="222837"/>
                    <a:pt x="2789304" y="215153"/>
                  </a:cubicBezTo>
                  <a:cubicBezTo>
                    <a:pt x="2776497" y="202346"/>
                    <a:pt x="2765953" y="186780"/>
                    <a:pt x="2750884" y="176733"/>
                  </a:cubicBezTo>
                  <a:cubicBezTo>
                    <a:pt x="2742097" y="170875"/>
                    <a:pt x="2730036" y="172756"/>
                    <a:pt x="2720148" y="169048"/>
                  </a:cubicBezTo>
                  <a:cubicBezTo>
                    <a:pt x="2709423" y="165026"/>
                    <a:pt x="2699357" y="159363"/>
                    <a:pt x="2689412" y="153680"/>
                  </a:cubicBezTo>
                  <a:cubicBezTo>
                    <a:pt x="2681394" y="149098"/>
                    <a:pt x="2674848" y="141950"/>
                    <a:pt x="2666360" y="138312"/>
                  </a:cubicBezTo>
                  <a:cubicBezTo>
                    <a:pt x="2656653" y="134152"/>
                    <a:pt x="2645869" y="133189"/>
                    <a:pt x="2635624" y="130628"/>
                  </a:cubicBezTo>
                  <a:cubicBezTo>
                    <a:pt x="2622817" y="122944"/>
                    <a:pt x="2610800" y="113756"/>
                    <a:pt x="2597203" y="107576"/>
                  </a:cubicBezTo>
                  <a:cubicBezTo>
                    <a:pt x="2558528" y="89996"/>
                    <a:pt x="2539620" y="90568"/>
                    <a:pt x="2497311" y="84524"/>
                  </a:cubicBezTo>
                  <a:cubicBezTo>
                    <a:pt x="2474259" y="76840"/>
                    <a:pt x="2451875" y="66743"/>
                    <a:pt x="2428155" y="61472"/>
                  </a:cubicBezTo>
                  <a:cubicBezTo>
                    <a:pt x="2405513" y="56441"/>
                    <a:pt x="2382013" y="56665"/>
                    <a:pt x="2358998" y="53788"/>
                  </a:cubicBezTo>
                  <a:cubicBezTo>
                    <a:pt x="2341026" y="51542"/>
                    <a:pt x="2323029" y="49344"/>
                    <a:pt x="2305210" y="46104"/>
                  </a:cubicBezTo>
                  <a:cubicBezTo>
                    <a:pt x="2239061" y="34077"/>
                    <a:pt x="2305558" y="33253"/>
                    <a:pt x="2189950" y="23052"/>
                  </a:cubicBezTo>
                  <a:cubicBezTo>
                    <a:pt x="2131212" y="17869"/>
                    <a:pt x="2072110" y="18313"/>
                    <a:pt x="2013217" y="15368"/>
                  </a:cubicBezTo>
                  <a:lnTo>
                    <a:pt x="1728908" y="0"/>
                  </a:lnTo>
                  <a:cubicBezTo>
                    <a:pt x="1644384" y="5123"/>
                    <a:pt x="1559573" y="6728"/>
                    <a:pt x="1475335" y="15368"/>
                  </a:cubicBezTo>
                  <a:cubicBezTo>
                    <a:pt x="1398338" y="23265"/>
                    <a:pt x="1455325" y="27674"/>
                    <a:pt x="1406178" y="46104"/>
                  </a:cubicBezTo>
                  <a:cubicBezTo>
                    <a:pt x="1393949" y="50690"/>
                    <a:pt x="1380565" y="51227"/>
                    <a:pt x="1367758" y="53788"/>
                  </a:cubicBezTo>
                  <a:cubicBezTo>
                    <a:pt x="1284750" y="103593"/>
                    <a:pt x="1368952" y="58143"/>
                    <a:pt x="1298602" y="84524"/>
                  </a:cubicBezTo>
                  <a:cubicBezTo>
                    <a:pt x="1287877" y="88546"/>
                    <a:pt x="1277811" y="94209"/>
                    <a:pt x="1267866" y="99892"/>
                  </a:cubicBezTo>
                  <a:cubicBezTo>
                    <a:pt x="1259848" y="104474"/>
                    <a:pt x="1253461" y="112017"/>
                    <a:pt x="1244814" y="115260"/>
                  </a:cubicBezTo>
                  <a:cubicBezTo>
                    <a:pt x="1232585" y="119846"/>
                    <a:pt x="1219200" y="120383"/>
                    <a:pt x="1206393" y="122944"/>
                  </a:cubicBezTo>
                  <a:cubicBezTo>
                    <a:pt x="1164641" y="150779"/>
                    <a:pt x="1196230" y="121871"/>
                    <a:pt x="1175657" y="176733"/>
                  </a:cubicBezTo>
                  <a:cubicBezTo>
                    <a:pt x="1172414" y="185380"/>
                    <a:pt x="1164419" y="191525"/>
                    <a:pt x="1160289" y="199785"/>
                  </a:cubicBezTo>
                  <a:cubicBezTo>
                    <a:pt x="1145821" y="228720"/>
                    <a:pt x="1144574" y="239593"/>
                    <a:pt x="1137237" y="268941"/>
                  </a:cubicBezTo>
                  <a:cubicBezTo>
                    <a:pt x="1151145" y="519292"/>
                    <a:pt x="1158510" y="345214"/>
                    <a:pt x="1137237" y="430306"/>
                  </a:cubicBezTo>
                  <a:cubicBezTo>
                    <a:pt x="1134069" y="442976"/>
                    <a:pt x="1134139" y="456497"/>
                    <a:pt x="1129553" y="468726"/>
                  </a:cubicBezTo>
                  <a:cubicBezTo>
                    <a:pt x="1126310" y="477373"/>
                    <a:pt x="1119308" y="484094"/>
                    <a:pt x="1114185" y="491778"/>
                  </a:cubicBezTo>
                  <a:cubicBezTo>
                    <a:pt x="1101697" y="604171"/>
                    <a:pt x="1115201" y="526642"/>
                    <a:pt x="1098817" y="583986"/>
                  </a:cubicBezTo>
                  <a:cubicBezTo>
                    <a:pt x="1095916" y="594140"/>
                    <a:pt x="1095856" y="605276"/>
                    <a:pt x="1091133" y="614722"/>
                  </a:cubicBezTo>
                  <a:cubicBezTo>
                    <a:pt x="1087893" y="621202"/>
                    <a:pt x="1080291" y="624434"/>
                    <a:pt x="1075765" y="630091"/>
                  </a:cubicBezTo>
                  <a:cubicBezTo>
                    <a:pt x="1069996" y="637302"/>
                    <a:pt x="1065520" y="645459"/>
                    <a:pt x="1060397" y="653143"/>
                  </a:cubicBezTo>
                  <a:cubicBezTo>
                    <a:pt x="1057836" y="663388"/>
                    <a:pt x="1057953" y="674710"/>
                    <a:pt x="1052713" y="683879"/>
                  </a:cubicBezTo>
                  <a:cubicBezTo>
                    <a:pt x="1043611" y="699808"/>
                    <a:pt x="1021298" y="712506"/>
                    <a:pt x="1006609" y="722299"/>
                  </a:cubicBezTo>
                  <a:cubicBezTo>
                    <a:pt x="996363" y="737667"/>
                    <a:pt x="991240" y="758158"/>
                    <a:pt x="975872" y="768403"/>
                  </a:cubicBezTo>
                  <a:cubicBezTo>
                    <a:pt x="960504" y="778648"/>
                    <a:pt x="947290" y="793298"/>
                    <a:pt x="929768" y="799139"/>
                  </a:cubicBezTo>
                  <a:lnTo>
                    <a:pt x="883664" y="814507"/>
                  </a:lnTo>
                  <a:cubicBezTo>
                    <a:pt x="875980" y="817068"/>
                    <a:pt x="867351" y="817698"/>
                    <a:pt x="860612" y="822191"/>
                  </a:cubicBezTo>
                  <a:cubicBezTo>
                    <a:pt x="830821" y="842052"/>
                    <a:pt x="846321" y="834639"/>
                    <a:pt x="814508" y="845243"/>
                  </a:cubicBezTo>
                  <a:cubicBezTo>
                    <a:pt x="806824" y="852927"/>
                    <a:pt x="800498" y="862268"/>
                    <a:pt x="791456" y="868296"/>
                  </a:cubicBezTo>
                  <a:cubicBezTo>
                    <a:pt x="784716" y="872789"/>
                    <a:pt x="776422" y="874835"/>
                    <a:pt x="768403" y="875980"/>
                  </a:cubicBezTo>
                  <a:cubicBezTo>
                    <a:pt x="740396" y="879981"/>
                    <a:pt x="712054" y="881103"/>
                    <a:pt x="683879" y="883664"/>
                  </a:cubicBezTo>
                  <a:cubicBezTo>
                    <a:pt x="671072" y="896471"/>
                    <a:pt x="660529" y="912038"/>
                    <a:pt x="645459" y="922084"/>
                  </a:cubicBezTo>
                  <a:cubicBezTo>
                    <a:pt x="636672" y="927942"/>
                    <a:pt x="624877" y="926867"/>
                    <a:pt x="614723" y="929768"/>
                  </a:cubicBezTo>
                  <a:cubicBezTo>
                    <a:pt x="606935" y="931993"/>
                    <a:pt x="599459" y="935227"/>
                    <a:pt x="591671" y="937452"/>
                  </a:cubicBezTo>
                  <a:cubicBezTo>
                    <a:pt x="524123" y="956752"/>
                    <a:pt x="593162" y="934394"/>
                    <a:pt x="537882" y="952820"/>
                  </a:cubicBezTo>
                  <a:cubicBezTo>
                    <a:pt x="481719" y="990262"/>
                    <a:pt x="552337" y="944560"/>
                    <a:pt x="484094" y="983556"/>
                  </a:cubicBezTo>
                  <a:cubicBezTo>
                    <a:pt x="476076" y="988138"/>
                    <a:pt x="469567" y="995372"/>
                    <a:pt x="461042" y="998924"/>
                  </a:cubicBezTo>
                  <a:cubicBezTo>
                    <a:pt x="438612" y="1008270"/>
                    <a:pt x="412104" y="1008497"/>
                    <a:pt x="391886" y="1021976"/>
                  </a:cubicBezTo>
                  <a:cubicBezTo>
                    <a:pt x="384202" y="1027099"/>
                    <a:pt x="375929" y="1031432"/>
                    <a:pt x="368834" y="1037344"/>
                  </a:cubicBezTo>
                  <a:cubicBezTo>
                    <a:pt x="360486" y="1044301"/>
                    <a:pt x="354476" y="1053876"/>
                    <a:pt x="345782" y="1060396"/>
                  </a:cubicBezTo>
                  <a:cubicBezTo>
                    <a:pt x="311970" y="1085755"/>
                    <a:pt x="306048" y="1082324"/>
                    <a:pt x="268941" y="1098817"/>
                  </a:cubicBezTo>
                  <a:cubicBezTo>
                    <a:pt x="258474" y="1103469"/>
                    <a:pt x="248450" y="1109062"/>
                    <a:pt x="238205" y="1114185"/>
                  </a:cubicBezTo>
                  <a:cubicBezTo>
                    <a:pt x="233082" y="1121869"/>
                    <a:pt x="229367" y="1130707"/>
                    <a:pt x="222837" y="1137237"/>
                  </a:cubicBezTo>
                  <a:cubicBezTo>
                    <a:pt x="213306" y="1146768"/>
                    <a:pt x="182138" y="1166931"/>
                    <a:pt x="169049" y="1175657"/>
                  </a:cubicBezTo>
                  <a:cubicBezTo>
                    <a:pt x="164088" y="1195500"/>
                    <a:pt x="154500" y="1237191"/>
                    <a:pt x="145997" y="1252497"/>
                  </a:cubicBezTo>
                  <a:cubicBezTo>
                    <a:pt x="140720" y="1261996"/>
                    <a:pt x="130629" y="1267865"/>
                    <a:pt x="122945" y="1275549"/>
                  </a:cubicBezTo>
                  <a:cubicBezTo>
                    <a:pt x="115573" y="1297665"/>
                    <a:pt x="103192" y="1333695"/>
                    <a:pt x="99893" y="1352390"/>
                  </a:cubicBezTo>
                  <a:cubicBezTo>
                    <a:pt x="95420" y="1377739"/>
                    <a:pt x="95611" y="1403715"/>
                    <a:pt x="92209" y="1429230"/>
                  </a:cubicBezTo>
                  <a:cubicBezTo>
                    <a:pt x="90483" y="1442176"/>
                    <a:pt x="86931" y="1454813"/>
                    <a:pt x="84524" y="1467650"/>
                  </a:cubicBezTo>
                  <a:cubicBezTo>
                    <a:pt x="79246" y="1495796"/>
                    <a:pt x="75715" y="1524299"/>
                    <a:pt x="69156" y="1552175"/>
                  </a:cubicBezTo>
                  <a:cubicBezTo>
                    <a:pt x="65446" y="1567944"/>
                    <a:pt x="58911" y="1582911"/>
                    <a:pt x="53788" y="1598279"/>
                  </a:cubicBezTo>
                  <a:lnTo>
                    <a:pt x="38420" y="1644383"/>
                  </a:lnTo>
                  <a:cubicBezTo>
                    <a:pt x="35859" y="1662312"/>
                    <a:pt x="35129" y="1680600"/>
                    <a:pt x="30736" y="1698171"/>
                  </a:cubicBezTo>
                  <a:cubicBezTo>
                    <a:pt x="27391" y="1711552"/>
                    <a:pt x="18470" y="1723151"/>
                    <a:pt x="15368" y="1736591"/>
                  </a:cubicBezTo>
                  <a:cubicBezTo>
                    <a:pt x="10725" y="1756713"/>
                    <a:pt x="10604" y="1777621"/>
                    <a:pt x="7684" y="1798064"/>
                  </a:cubicBezTo>
                  <a:cubicBezTo>
                    <a:pt x="5481" y="1813487"/>
                    <a:pt x="2561" y="1828800"/>
                    <a:pt x="0" y="1844168"/>
                  </a:cubicBezTo>
                  <a:cubicBezTo>
                    <a:pt x="7684" y="2031146"/>
                    <a:pt x="13216" y="2218225"/>
                    <a:pt x="23052" y="2405102"/>
                  </a:cubicBezTo>
                  <a:cubicBezTo>
                    <a:pt x="24188" y="2426688"/>
                    <a:pt x="37039" y="2433075"/>
                    <a:pt x="46104" y="2451206"/>
                  </a:cubicBezTo>
                  <a:cubicBezTo>
                    <a:pt x="71951" y="2502901"/>
                    <a:pt x="45275" y="2478829"/>
                    <a:pt x="84524" y="2504995"/>
                  </a:cubicBezTo>
                  <a:cubicBezTo>
                    <a:pt x="94770" y="2522924"/>
                    <a:pt x="105372" y="2540654"/>
                    <a:pt x="115261" y="2558783"/>
                  </a:cubicBezTo>
                  <a:cubicBezTo>
                    <a:pt x="136043" y="2596882"/>
                    <a:pt x="123240" y="2580712"/>
                    <a:pt x="145997" y="2612571"/>
                  </a:cubicBezTo>
                  <a:cubicBezTo>
                    <a:pt x="153441" y="2622992"/>
                    <a:pt x="159211" y="2635108"/>
                    <a:pt x="169049" y="2643307"/>
                  </a:cubicBezTo>
                  <a:cubicBezTo>
                    <a:pt x="175271" y="2648492"/>
                    <a:pt x="184856" y="2647369"/>
                    <a:pt x="192101" y="2650991"/>
                  </a:cubicBezTo>
                  <a:cubicBezTo>
                    <a:pt x="200361" y="2655121"/>
                    <a:pt x="207469" y="2661236"/>
                    <a:pt x="215153" y="2666359"/>
                  </a:cubicBezTo>
                  <a:cubicBezTo>
                    <a:pt x="217714" y="2676605"/>
                    <a:pt x="216699" y="2688502"/>
                    <a:pt x="222837" y="2697096"/>
                  </a:cubicBezTo>
                  <a:cubicBezTo>
                    <a:pt x="230281" y="2707517"/>
                    <a:pt x="243849" y="2711814"/>
                    <a:pt x="253573" y="2720148"/>
                  </a:cubicBezTo>
                  <a:cubicBezTo>
                    <a:pt x="341706" y="2795690"/>
                    <a:pt x="220839" y="2695100"/>
                    <a:pt x="291993" y="2766252"/>
                  </a:cubicBezTo>
                  <a:cubicBezTo>
                    <a:pt x="298523" y="2772782"/>
                    <a:pt x="307362" y="2776497"/>
                    <a:pt x="315046" y="2781620"/>
                  </a:cubicBezTo>
                  <a:cubicBezTo>
                    <a:pt x="368208" y="2861362"/>
                    <a:pt x="283158" y="2742048"/>
                    <a:pt x="361150" y="2820040"/>
                  </a:cubicBezTo>
                  <a:cubicBezTo>
                    <a:pt x="444560" y="2903450"/>
                    <a:pt x="337391" y="2827253"/>
                    <a:pt x="407254" y="2873828"/>
                  </a:cubicBezTo>
                  <a:cubicBezTo>
                    <a:pt x="454164" y="2955922"/>
                    <a:pt x="423388" y="2913015"/>
                    <a:pt x="507146" y="2996773"/>
                  </a:cubicBezTo>
                  <a:lnTo>
                    <a:pt x="537882" y="3027509"/>
                  </a:lnTo>
                  <a:lnTo>
                    <a:pt x="553251" y="3042877"/>
                  </a:lnTo>
                  <a:cubicBezTo>
                    <a:pt x="555812" y="3053122"/>
                    <a:pt x="555077" y="3064826"/>
                    <a:pt x="560935" y="3073613"/>
                  </a:cubicBezTo>
                  <a:cubicBezTo>
                    <a:pt x="566058" y="3081297"/>
                    <a:pt x="576892" y="3083069"/>
                    <a:pt x="583987" y="3088981"/>
                  </a:cubicBezTo>
                  <a:cubicBezTo>
                    <a:pt x="623226" y="3121680"/>
                    <a:pt x="588022" y="3107279"/>
                    <a:pt x="637775" y="3119717"/>
                  </a:cubicBezTo>
                  <a:cubicBezTo>
                    <a:pt x="689162" y="3171105"/>
                    <a:pt x="644684" y="3134699"/>
                    <a:pt x="706931" y="3165822"/>
                  </a:cubicBezTo>
                  <a:cubicBezTo>
                    <a:pt x="720289" y="3172501"/>
                    <a:pt x="731817" y="3182558"/>
                    <a:pt x="745351" y="3188874"/>
                  </a:cubicBezTo>
                  <a:cubicBezTo>
                    <a:pt x="805336" y="3216867"/>
                    <a:pt x="805635" y="3215471"/>
                    <a:pt x="852928" y="3227294"/>
                  </a:cubicBezTo>
                  <a:cubicBezTo>
                    <a:pt x="858051" y="3237539"/>
                    <a:pt x="859599" y="3250575"/>
                    <a:pt x="868296" y="3258030"/>
                  </a:cubicBezTo>
                  <a:cubicBezTo>
                    <a:pt x="889929" y="3276572"/>
                    <a:pt x="946867" y="3278417"/>
                    <a:pt x="968188" y="3281082"/>
                  </a:cubicBezTo>
                  <a:cubicBezTo>
                    <a:pt x="975872" y="3286205"/>
                    <a:pt x="982752" y="3292812"/>
                    <a:pt x="991240" y="3296450"/>
                  </a:cubicBezTo>
                  <a:cubicBezTo>
                    <a:pt x="1022367" y="3309790"/>
                    <a:pt x="1112665" y="3311051"/>
                    <a:pt x="1121869" y="3311818"/>
                  </a:cubicBezTo>
                  <a:lnTo>
                    <a:pt x="1206393" y="3319502"/>
                  </a:lnTo>
                  <a:lnTo>
                    <a:pt x="1698172" y="3311818"/>
                  </a:lnTo>
                  <a:cubicBezTo>
                    <a:pt x="1707390" y="3311259"/>
                    <a:pt x="1705563" y="3293419"/>
                    <a:pt x="1713540" y="3288766"/>
                  </a:cubicBezTo>
                  <a:cubicBezTo>
                    <a:pt x="1737369" y="3274866"/>
                    <a:pt x="1790380" y="3258030"/>
                    <a:pt x="1790380" y="3258030"/>
                  </a:cubicBezTo>
                  <a:cubicBezTo>
                    <a:pt x="1864022" y="3169660"/>
                    <a:pt x="1792911" y="3248745"/>
                    <a:pt x="1867220" y="3181190"/>
                  </a:cubicBezTo>
                  <a:cubicBezTo>
                    <a:pt x="1892117" y="3158556"/>
                    <a:pt x="1907026" y="3134392"/>
                    <a:pt x="1936377" y="3119717"/>
                  </a:cubicBezTo>
                  <a:cubicBezTo>
                    <a:pt x="1943622" y="3116095"/>
                    <a:pt x="1951745" y="3114594"/>
                    <a:pt x="1959429" y="3112033"/>
                  </a:cubicBezTo>
                  <a:cubicBezTo>
                    <a:pt x="1979920" y="3091542"/>
                    <a:pt x="2004827" y="3074672"/>
                    <a:pt x="2020901" y="3050561"/>
                  </a:cubicBezTo>
                  <a:cubicBezTo>
                    <a:pt x="2057119" y="2996234"/>
                    <a:pt x="2011666" y="3063490"/>
                    <a:pt x="2059321" y="2996773"/>
                  </a:cubicBezTo>
                  <a:cubicBezTo>
                    <a:pt x="2079830" y="2968061"/>
                    <a:pt x="2077779" y="2961798"/>
                    <a:pt x="2113109" y="2935301"/>
                  </a:cubicBezTo>
                  <a:cubicBezTo>
                    <a:pt x="2119589" y="2930441"/>
                    <a:pt x="2128477" y="2930178"/>
                    <a:pt x="2136161" y="2927617"/>
                  </a:cubicBezTo>
                  <a:cubicBezTo>
                    <a:pt x="2143845" y="2914810"/>
                    <a:pt x="2151961" y="2902252"/>
                    <a:pt x="2159214" y="2889196"/>
                  </a:cubicBezTo>
                  <a:cubicBezTo>
                    <a:pt x="2164777" y="2879183"/>
                    <a:pt x="2167127" y="2867157"/>
                    <a:pt x="2174582" y="2858460"/>
                  </a:cubicBezTo>
                  <a:cubicBezTo>
                    <a:pt x="2182916" y="2848736"/>
                    <a:pt x="2195073" y="2843092"/>
                    <a:pt x="2205318" y="2835408"/>
                  </a:cubicBezTo>
                  <a:cubicBezTo>
                    <a:pt x="2213002" y="2799549"/>
                    <a:pt x="2218295" y="2763094"/>
                    <a:pt x="2228370" y="2727832"/>
                  </a:cubicBezTo>
                  <a:cubicBezTo>
                    <a:pt x="2233493" y="2709902"/>
                    <a:pt x="2234144" y="2690033"/>
                    <a:pt x="2243738" y="2674043"/>
                  </a:cubicBezTo>
                  <a:cubicBezTo>
                    <a:pt x="2250327" y="2663061"/>
                    <a:pt x="2264229" y="2658675"/>
                    <a:pt x="2274474" y="2650991"/>
                  </a:cubicBezTo>
                  <a:cubicBezTo>
                    <a:pt x="2277035" y="2640746"/>
                    <a:pt x="2278450" y="2630143"/>
                    <a:pt x="2282158" y="2620255"/>
                  </a:cubicBezTo>
                  <a:cubicBezTo>
                    <a:pt x="2286180" y="2609530"/>
                    <a:pt x="2292874" y="2599986"/>
                    <a:pt x="2297526" y="2589519"/>
                  </a:cubicBezTo>
                  <a:cubicBezTo>
                    <a:pt x="2303128" y="2576915"/>
                    <a:pt x="2307292" y="2563703"/>
                    <a:pt x="2312894" y="2551099"/>
                  </a:cubicBezTo>
                  <a:cubicBezTo>
                    <a:pt x="2317546" y="2540632"/>
                    <a:pt x="2324347" y="2531128"/>
                    <a:pt x="2328262" y="2520363"/>
                  </a:cubicBezTo>
                  <a:cubicBezTo>
                    <a:pt x="2342726" y="2480588"/>
                    <a:pt x="2347611" y="2435558"/>
                    <a:pt x="2366682" y="2397418"/>
                  </a:cubicBezTo>
                  <a:cubicBezTo>
                    <a:pt x="2371805" y="2387173"/>
                    <a:pt x="2377539" y="2377211"/>
                    <a:pt x="2382051" y="2366682"/>
                  </a:cubicBezTo>
                  <a:cubicBezTo>
                    <a:pt x="2385242" y="2359237"/>
                    <a:pt x="2385027" y="2350221"/>
                    <a:pt x="2389735" y="2343630"/>
                  </a:cubicBezTo>
                  <a:cubicBezTo>
                    <a:pt x="2398157" y="2331840"/>
                    <a:pt x="2410226" y="2323139"/>
                    <a:pt x="2420471" y="2312894"/>
                  </a:cubicBezTo>
                  <a:cubicBezTo>
                    <a:pt x="2427809" y="2294549"/>
                    <a:pt x="2435861" y="2266769"/>
                    <a:pt x="2451207" y="2251422"/>
                  </a:cubicBezTo>
                  <a:cubicBezTo>
                    <a:pt x="2460263" y="2242366"/>
                    <a:pt x="2471698" y="2236053"/>
                    <a:pt x="2481943" y="2228369"/>
                  </a:cubicBezTo>
                  <a:cubicBezTo>
                    <a:pt x="2491886" y="2208483"/>
                    <a:pt x="2502907" y="2181859"/>
                    <a:pt x="2520363" y="2166897"/>
                  </a:cubicBezTo>
                  <a:cubicBezTo>
                    <a:pt x="2529060" y="2159442"/>
                    <a:pt x="2541935" y="2158402"/>
                    <a:pt x="2551099" y="2151529"/>
                  </a:cubicBezTo>
                  <a:cubicBezTo>
                    <a:pt x="2562690" y="2142836"/>
                    <a:pt x="2570521" y="2129844"/>
                    <a:pt x="2581835" y="2120793"/>
                  </a:cubicBezTo>
                  <a:cubicBezTo>
                    <a:pt x="2596258" y="2109255"/>
                    <a:pt x="2627940" y="2090057"/>
                    <a:pt x="2627940" y="2090057"/>
                  </a:cubicBezTo>
                  <a:cubicBezTo>
                    <a:pt x="2659032" y="2027874"/>
                    <a:pt x="2621693" y="2088799"/>
                    <a:pt x="2681728" y="2036269"/>
                  </a:cubicBezTo>
                  <a:cubicBezTo>
                    <a:pt x="2716446" y="2005890"/>
                    <a:pt x="2696372" y="2005154"/>
                    <a:pt x="2720148" y="1967112"/>
                  </a:cubicBezTo>
                  <a:cubicBezTo>
                    <a:pt x="2725907" y="1957897"/>
                    <a:pt x="2736243" y="1952408"/>
                    <a:pt x="2743200" y="1944060"/>
                  </a:cubicBezTo>
                  <a:cubicBezTo>
                    <a:pt x="2749112" y="1936965"/>
                    <a:pt x="2753445" y="1928692"/>
                    <a:pt x="2758568" y="1921008"/>
                  </a:cubicBezTo>
                  <a:cubicBezTo>
                    <a:pt x="2763890" y="1894400"/>
                    <a:pt x="2766753" y="1867954"/>
                    <a:pt x="2781620" y="1844168"/>
                  </a:cubicBezTo>
                  <a:cubicBezTo>
                    <a:pt x="2787379" y="1834953"/>
                    <a:pt x="2797715" y="1829464"/>
                    <a:pt x="2804672" y="1821116"/>
                  </a:cubicBezTo>
                  <a:cubicBezTo>
                    <a:pt x="2810584" y="1814021"/>
                    <a:pt x="2814672" y="1805579"/>
                    <a:pt x="2820040" y="1798064"/>
                  </a:cubicBezTo>
                  <a:cubicBezTo>
                    <a:pt x="2827484" y="1787642"/>
                    <a:pt x="2836873" y="1778522"/>
                    <a:pt x="2843093" y="1767327"/>
                  </a:cubicBezTo>
                  <a:cubicBezTo>
                    <a:pt x="2858155" y="1740216"/>
                    <a:pt x="2856080" y="1723020"/>
                    <a:pt x="2873829" y="1698171"/>
                  </a:cubicBezTo>
                  <a:cubicBezTo>
                    <a:pt x="2880145" y="1689328"/>
                    <a:pt x="2889197" y="1682803"/>
                    <a:pt x="2896881" y="1675119"/>
                  </a:cubicBezTo>
                  <a:cubicBezTo>
                    <a:pt x="2899442" y="1667435"/>
                    <a:pt x="2898838" y="1657794"/>
                    <a:pt x="2904565" y="1652067"/>
                  </a:cubicBezTo>
                  <a:cubicBezTo>
                    <a:pt x="2910292" y="1646340"/>
                    <a:pt x="2920537" y="1648317"/>
                    <a:pt x="2927617" y="1644383"/>
                  </a:cubicBezTo>
                  <a:cubicBezTo>
                    <a:pt x="2943763" y="1635413"/>
                    <a:pt x="2959142" y="1624987"/>
                    <a:pt x="2973721" y="1613647"/>
                  </a:cubicBezTo>
                  <a:cubicBezTo>
                    <a:pt x="2982299" y="1606975"/>
                    <a:pt x="2988425" y="1597552"/>
                    <a:pt x="2996773" y="1590595"/>
                  </a:cubicBezTo>
                  <a:cubicBezTo>
                    <a:pt x="3022951" y="1568780"/>
                    <a:pt x="3022879" y="1579857"/>
                    <a:pt x="3050561" y="1552175"/>
                  </a:cubicBezTo>
                  <a:cubicBezTo>
                    <a:pt x="3057091" y="1545645"/>
                    <a:pt x="3060498" y="1536591"/>
                    <a:pt x="3065930" y="1529122"/>
                  </a:cubicBezTo>
                  <a:cubicBezTo>
                    <a:pt x="3080995" y="1508408"/>
                    <a:pt x="3092357" y="1484047"/>
                    <a:pt x="3112034" y="1467650"/>
                  </a:cubicBezTo>
                  <a:cubicBezTo>
                    <a:pt x="3124479" y="1457279"/>
                    <a:pt x="3158138" y="1452282"/>
                    <a:pt x="3158138" y="1452282"/>
                  </a:cubicBezTo>
                  <a:cubicBezTo>
                    <a:pt x="3163261" y="1442037"/>
                    <a:pt x="3167613" y="1431368"/>
                    <a:pt x="3173506" y="1421546"/>
                  </a:cubicBezTo>
                  <a:cubicBezTo>
                    <a:pt x="3192426" y="1390013"/>
                    <a:pt x="3206279" y="1372727"/>
                    <a:pt x="3227294" y="1344706"/>
                  </a:cubicBezTo>
                  <a:cubicBezTo>
                    <a:pt x="3229855" y="1319092"/>
                    <a:pt x="3230373" y="1293191"/>
                    <a:pt x="3234978" y="1267865"/>
                  </a:cubicBezTo>
                  <a:cubicBezTo>
                    <a:pt x="3240645" y="1236694"/>
                    <a:pt x="3256919" y="1207319"/>
                    <a:pt x="3258030" y="1175657"/>
                  </a:cubicBezTo>
                  <a:cubicBezTo>
                    <a:pt x="3267551" y="904296"/>
                    <a:pt x="3270974" y="933016"/>
                    <a:pt x="3242662" y="791455"/>
                  </a:cubicBezTo>
                  <a:cubicBezTo>
                    <a:pt x="3247785" y="783771"/>
                    <a:pt x="3259175" y="777567"/>
                    <a:pt x="3258030" y="768403"/>
                  </a:cubicBezTo>
                  <a:cubicBezTo>
                    <a:pt x="3256178" y="753583"/>
                    <a:pt x="3242231" y="743039"/>
                    <a:pt x="3234978" y="729983"/>
                  </a:cubicBezTo>
                  <a:cubicBezTo>
                    <a:pt x="3202481" y="671489"/>
                    <a:pt x="3236444" y="724498"/>
                    <a:pt x="3204242" y="676195"/>
                  </a:cubicBezTo>
                  <a:cubicBezTo>
                    <a:pt x="3201681" y="658265"/>
                    <a:pt x="3203914" y="638957"/>
                    <a:pt x="3196558" y="622406"/>
                  </a:cubicBezTo>
                  <a:cubicBezTo>
                    <a:pt x="3192807" y="613967"/>
                    <a:pt x="3177636" y="615298"/>
                    <a:pt x="3173506" y="607038"/>
                  </a:cubicBezTo>
                  <a:cubicBezTo>
                    <a:pt x="3164060" y="588147"/>
                    <a:pt x="3173073" y="560501"/>
                    <a:pt x="3158138" y="545566"/>
                  </a:cubicBezTo>
                  <a:cubicBezTo>
                    <a:pt x="3134395" y="521823"/>
                    <a:pt x="3131749" y="521350"/>
                    <a:pt x="3112034" y="491778"/>
                  </a:cubicBezTo>
                  <a:cubicBezTo>
                    <a:pt x="3103750" y="479351"/>
                    <a:pt x="3098439" y="464917"/>
                    <a:pt x="3088982" y="453358"/>
                  </a:cubicBezTo>
                  <a:cubicBezTo>
                    <a:pt x="3075219" y="436537"/>
                    <a:pt x="3054932" y="425338"/>
                    <a:pt x="3042877" y="407254"/>
                  </a:cubicBezTo>
                  <a:cubicBezTo>
                    <a:pt x="3011435" y="360089"/>
                    <a:pt x="3034039" y="390731"/>
                    <a:pt x="2966037" y="322729"/>
                  </a:cubicBezTo>
                  <a:cubicBezTo>
                    <a:pt x="2945053" y="301745"/>
                    <a:pt x="2918277" y="270950"/>
                    <a:pt x="2889197" y="261257"/>
                  </a:cubicBezTo>
                  <a:lnTo>
                    <a:pt x="2843093" y="245889"/>
                  </a:lnTo>
                  <a:cubicBezTo>
                    <a:pt x="2837835" y="230114"/>
                    <a:pt x="2836918" y="215907"/>
                    <a:pt x="2820040" y="207469"/>
                  </a:cubicBezTo>
                  <a:cubicBezTo>
                    <a:pt x="2817749" y="206324"/>
                    <a:pt x="2820040" y="212592"/>
                    <a:pt x="2820040" y="215153"/>
                  </a:cubicBezTo>
                </a:path>
              </a:pathLst>
            </a:cu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3338372" y="4501736"/>
              <a:ext cx="2286000" cy="0"/>
            </a:xfrm>
            <a:prstGeom prst="line">
              <a:avLst/>
            </a:prstGeom>
            <a:ln w="57150"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 rot="1500000">
              <a:off x="5370707" y="6153071"/>
              <a:ext cx="152400" cy="152400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c 11"/>
            <p:cNvSpPr/>
            <p:nvPr/>
          </p:nvSpPr>
          <p:spPr>
            <a:xfrm rot="11587730">
              <a:off x="6084459" y="4384079"/>
              <a:ext cx="341758" cy="311514"/>
            </a:xfrm>
            <a:prstGeom prst="arc">
              <a:avLst>
                <a:gd name="adj1" fmla="val 15788114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c 12"/>
            <p:cNvSpPr/>
            <p:nvPr/>
          </p:nvSpPr>
          <p:spPr>
            <a:xfrm rot="4054737">
              <a:off x="1928851" y="4410947"/>
              <a:ext cx="341758" cy="311514"/>
            </a:xfrm>
            <a:prstGeom prst="arc">
              <a:avLst>
                <a:gd name="adj1" fmla="val 15965106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95372" y="4437204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24.55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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471972" y="4589604"/>
              <a:ext cx="7970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65.45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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049257" y="4032832"/>
              <a:ext cx="7873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79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.6 ft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776772" y="4132404"/>
              <a:ext cx="8451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33.2 ft 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 rot="17636758">
              <a:off x="5606435" y="5422024"/>
              <a:ext cx="894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CC"/>
                  </a:solidFill>
                </a:rPr>
                <a:t>117</a:t>
              </a:r>
              <a:r>
                <a:rPr lang="en-US" dirty="0">
                  <a:solidFill>
                    <a:srgbClr val="0000CC"/>
                  </a:solidFill>
                  <a:sym typeface="Symbol" panose="05050102010706020507" pitchFamily="18" charset="2"/>
                </a:rPr>
                <a:t>.5 ft</a:t>
              </a:r>
              <a:endParaRPr lang="en-US" dirty="0">
                <a:solidFill>
                  <a:srgbClr val="0000CC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280972" y="4349336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054012" y="6178136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49412" y="4349336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>
                  <a:solidFill>
                    <a:srgbClr val="0000CC"/>
                  </a:solidFill>
                </a:rPr>
                <a:t>C</a:t>
              </a:r>
            </a:p>
          </p:txBody>
        </p:sp>
      </p:grpSp>
      <p:sp>
        <p:nvSpPr>
          <p:cNvPr id="3" name="SMARTInkShape-1"/>
          <p:cNvSpPr/>
          <p:nvPr/>
        </p:nvSpPr>
        <p:spPr>
          <a:xfrm>
            <a:off x="8699500" y="6344610"/>
            <a:ext cx="95251" cy="11741"/>
          </a:xfrm>
          <a:custGeom>
            <a:avLst/>
            <a:gdLst/>
            <a:ahLst/>
            <a:cxnLst/>
            <a:rect l="0" t="0" r="0" b="0"/>
            <a:pathLst>
              <a:path w="95251" h="11741">
                <a:moveTo>
                  <a:pt x="0" y="11740"/>
                </a:moveTo>
                <a:lnTo>
                  <a:pt x="0" y="8369"/>
                </a:lnTo>
                <a:lnTo>
                  <a:pt x="705" y="7376"/>
                </a:lnTo>
                <a:lnTo>
                  <a:pt x="1881" y="6714"/>
                </a:lnTo>
                <a:lnTo>
                  <a:pt x="3370" y="6273"/>
                </a:lnTo>
                <a:lnTo>
                  <a:pt x="11537" y="1200"/>
                </a:lnTo>
                <a:lnTo>
                  <a:pt x="18297" y="0"/>
                </a:lnTo>
                <a:lnTo>
                  <a:pt x="61026" y="4299"/>
                </a:lnTo>
                <a:lnTo>
                  <a:pt x="95250" y="11740"/>
                </a:lnTo>
              </a:path>
            </a:pathLst>
          </a:custGeom>
          <a:ln w="190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070605" y="3810000"/>
                <a:ext cx="5138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</a:rPr>
                  <a:t> ft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605" y="3810000"/>
                <a:ext cx="513859" cy="369332"/>
              </a:xfrm>
              <a:prstGeom prst="rect">
                <a:avLst/>
              </a:prstGeom>
              <a:blipFill>
                <a:blip r:embed="rId4"/>
                <a:stretch>
                  <a:fillRect t="-8197" r="-83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Image result for 30 sided polyg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743200"/>
            <a:ext cx="2949948" cy="2936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9200" y="3146719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CC"/>
                </a:solidFill>
              </a:rPr>
              <a:t>6.15 m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6781800" y="3200401"/>
            <a:ext cx="479796" cy="497817"/>
            <a:chOff x="6781800" y="3200400"/>
            <a:chExt cx="479796" cy="517656"/>
          </a:xfrm>
        </p:grpSpPr>
        <p:sp>
          <p:nvSpPr>
            <p:cNvPr id="12" name="TextBox 11"/>
            <p:cNvSpPr txBox="1"/>
            <p:nvPr/>
          </p:nvSpPr>
          <p:spPr>
            <a:xfrm>
              <a:off x="6781800" y="3200400"/>
              <a:ext cx="399468" cy="2880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0000CC"/>
                  </a:solidFill>
                </a:rPr>
                <a:t>12</a:t>
              </a:r>
              <a:r>
                <a:rPr lang="en-US" sz="1200" dirty="0">
                  <a:solidFill>
                    <a:srgbClr val="0000CC"/>
                  </a:solidFill>
                  <a:sym typeface="Symbol" panose="05050102010706020507" pitchFamily="18" charset="2"/>
                </a:rPr>
                <a:t></a:t>
              </a:r>
              <a:endParaRPr lang="en-US" sz="1200" dirty="0">
                <a:solidFill>
                  <a:srgbClr val="0000CC"/>
                </a:solidFill>
              </a:endParaRPr>
            </a:p>
          </p:txBody>
        </p:sp>
        <p:sp>
          <p:nvSpPr>
            <p:cNvPr id="11" name="Arc 10"/>
            <p:cNvSpPr/>
            <p:nvPr/>
          </p:nvSpPr>
          <p:spPr>
            <a:xfrm>
              <a:off x="6956796" y="3364857"/>
              <a:ext cx="304800" cy="353199"/>
            </a:xfrm>
            <a:prstGeom prst="arc">
              <a:avLst/>
            </a:prstGeom>
            <a:ln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120551" y="2875581"/>
            <a:ext cx="301857" cy="1280160"/>
            <a:chOff x="7120551" y="2875581"/>
            <a:chExt cx="301857" cy="1280160"/>
          </a:xfrm>
        </p:grpSpPr>
        <p:sp>
          <p:nvSpPr>
            <p:cNvPr id="7" name="Isosceles Triangle 6"/>
            <p:cNvSpPr/>
            <p:nvPr/>
          </p:nvSpPr>
          <p:spPr>
            <a:xfrm rot="10800000">
              <a:off x="7120551" y="2875581"/>
              <a:ext cx="301857" cy="1280160"/>
            </a:xfrm>
            <a:prstGeom prst="triangle">
              <a:avLst/>
            </a:prstGeom>
            <a:noFill/>
            <a:ln w="63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c 13"/>
            <p:cNvSpPr/>
            <p:nvPr/>
          </p:nvSpPr>
          <p:spPr>
            <a:xfrm>
              <a:off x="7162800" y="3581400"/>
              <a:ext cx="206400" cy="152400"/>
            </a:xfrm>
            <a:prstGeom prst="arc">
              <a:avLst>
                <a:gd name="adj1" fmla="val 13458436"/>
                <a:gd name="adj2" fmla="val 19246043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ontent Placeholder 4"/>
              <p:cNvSpPr txBox="1">
                <a:spLocks/>
              </p:cNvSpPr>
              <p:nvPr/>
            </p:nvSpPr>
            <p:spPr>
              <a:xfrm>
                <a:off x="762000" y="1219200"/>
                <a:ext cx="7924800" cy="5334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Font typeface="Wingdings 2"/>
                  <a:buNone/>
                </a:pPr>
                <a:r>
                  <a:rPr lang="en-US" sz="2200" dirty="0"/>
                  <a:t>A guardrail is to be constructed around the top of a circular observation tower.  The diameter of the observation area is 12.3 m.  </a:t>
                </a:r>
              </a:p>
              <a:p>
                <a:r>
                  <a:rPr lang="en-US" sz="2200" dirty="0"/>
                  <a:t>If the railing is constructed with 30 equal straight sections, what should be the length of each section? </a:t>
                </a:r>
              </a:p>
              <a:p>
                <a:pPr marL="82296" indent="0">
                  <a:buNone/>
                </a:pPr>
                <a:r>
                  <a:rPr lang="en-US" sz="2200" dirty="0"/>
                  <a:t>    (Round to 3 decimal places.) 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6.15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=6.15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  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=.64285</m:t>
                    </m:r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=1.286</m:t>
                    </m:r>
                  </m:oMath>
                </a14:m>
                <a:r>
                  <a:rPr lang="en-US" sz="2200" dirty="0"/>
                  <a:t> m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Check: 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30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1.286</m:t>
                        </m:r>
                      </m:e>
                    </m:d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=38.58</m:t>
                    </m:r>
                  </m:oMath>
                </a14:m>
                <a:r>
                  <a:rPr lang="en-US" sz="2200" dirty="0"/>
                  <a:t>        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2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6.15</m:t>
                        </m:r>
                      </m:e>
                    </m:d>
                    <m:r>
                      <a:rPr lang="en-US" sz="22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=38.64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7" name="Content Placeholder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219200"/>
                <a:ext cx="7924800" cy="5334000"/>
              </a:xfrm>
              <a:prstGeom prst="rect">
                <a:avLst/>
              </a:prstGeom>
              <a:blipFill>
                <a:blip r:embed="rId4"/>
                <a:stretch>
                  <a:fillRect t="-800" r="-462" b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4953000" y="3146718"/>
            <a:ext cx="295716" cy="2533022"/>
            <a:chOff x="4953000" y="3146718"/>
            <a:chExt cx="295716" cy="2533022"/>
          </a:xfrm>
        </p:grpSpPr>
        <p:sp>
          <p:nvSpPr>
            <p:cNvPr id="3" name="Right Triangle 2"/>
            <p:cNvSpPr/>
            <p:nvPr/>
          </p:nvSpPr>
          <p:spPr>
            <a:xfrm rot="10800000" flipH="1">
              <a:off x="4953001" y="3146718"/>
              <a:ext cx="295715" cy="2533022"/>
            </a:xfrm>
            <a:prstGeom prst="rtTriangl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953000" y="3146719"/>
              <a:ext cx="109728" cy="10972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062728" y="4136230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CC"/>
                </a:solidFill>
              </a:rPr>
              <a:t>6.15 m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190998" y="4114800"/>
            <a:ext cx="914400" cy="457200"/>
            <a:chOff x="4274127" y="4038600"/>
            <a:chExt cx="831273" cy="533400"/>
          </a:xfrm>
        </p:grpSpPr>
        <p:grpSp>
          <p:nvGrpSpPr>
            <p:cNvPr id="18" name="Group 17"/>
            <p:cNvGrpSpPr/>
            <p:nvPr/>
          </p:nvGrpSpPr>
          <p:grpSpPr>
            <a:xfrm>
              <a:off x="4274127" y="4038600"/>
              <a:ext cx="755073" cy="497820"/>
              <a:chOff x="6506523" y="3200400"/>
              <a:chExt cx="755073" cy="517660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575796" y="3200400"/>
                <a:ext cx="399468" cy="288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00CC"/>
                    </a:solidFill>
                  </a:rPr>
                  <a:t>  6</a:t>
                </a:r>
                <a:r>
                  <a:rPr lang="en-US" sz="12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endParaRPr lang="en-US" sz="12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20" name="Arc 19"/>
              <p:cNvSpPr/>
              <p:nvPr/>
            </p:nvSpPr>
            <p:spPr>
              <a:xfrm>
                <a:off x="6506523" y="3364860"/>
                <a:ext cx="755073" cy="353200"/>
              </a:xfrm>
              <a:prstGeom prst="arc">
                <a:avLst>
                  <a:gd name="adj1" fmla="val 16020805"/>
                  <a:gd name="adj2" fmla="val 0"/>
                </a:avLst>
              </a:prstGeom>
              <a:ln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1" name="Arc 20"/>
            <p:cNvSpPr/>
            <p:nvPr/>
          </p:nvSpPr>
          <p:spPr>
            <a:xfrm>
              <a:off x="4953000" y="4419600"/>
              <a:ext cx="152400" cy="152400"/>
            </a:xfrm>
            <a:prstGeom prst="arc">
              <a:avLst>
                <a:gd name="adj1" fmla="val 12356417"/>
                <a:gd name="adj2" fmla="val 1980429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948228" y="2879882"/>
                <a:ext cx="3095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2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228" y="2879882"/>
                <a:ext cx="3095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 flipH="1">
            <a:off x="4657284" y="3146718"/>
            <a:ext cx="295716" cy="2533022"/>
            <a:chOff x="4953000" y="3146718"/>
            <a:chExt cx="295716" cy="2533022"/>
          </a:xfrm>
        </p:grpSpPr>
        <p:sp>
          <p:nvSpPr>
            <p:cNvPr id="24" name="Right Triangle 23"/>
            <p:cNvSpPr/>
            <p:nvPr/>
          </p:nvSpPr>
          <p:spPr>
            <a:xfrm rot="10800000" flipH="1">
              <a:off x="4953001" y="3146718"/>
              <a:ext cx="295715" cy="2533022"/>
            </a:xfrm>
            <a:prstGeom prst="rtTriangl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953000" y="3146719"/>
              <a:ext cx="109728" cy="109728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010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6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696200" cy="4800600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US" sz="2200" dirty="0"/>
              <a:t>Standard formation position in the T-37 “Tweet” was </a:t>
            </a:r>
            <a:r>
              <a:rPr lang="en-US" sz="2200" dirty="0">
                <a:solidFill>
                  <a:srgbClr val="0000CC"/>
                </a:solidFill>
              </a:rPr>
              <a:t>30</a:t>
            </a:r>
            <a:r>
              <a:rPr 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r>
              <a:rPr lang="en-US" sz="2200" dirty="0">
                <a:sym typeface="Symbol" panose="05050102010706020507" pitchFamily="18" charset="2"/>
              </a:rPr>
              <a:t> aft of abeam with a </a:t>
            </a:r>
            <a:r>
              <a:rPr 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10 ft </a:t>
            </a:r>
            <a:r>
              <a:rPr lang="en-US" sz="2200" dirty="0">
                <a:sym typeface="Symbol" panose="05050102010706020507" pitchFamily="18" charset="2"/>
              </a:rPr>
              <a:t>wingtip clearance.  The wingspan of the Tweet was approximately </a:t>
            </a:r>
            <a:r>
              <a:rPr lang="en-US" sz="2200" dirty="0">
                <a:solidFill>
                  <a:srgbClr val="0000CC"/>
                </a:solidFill>
                <a:sym typeface="Symbol" panose="05050102010706020507" pitchFamily="18" charset="2"/>
              </a:rPr>
              <a:t>33 ft 8 in</a:t>
            </a:r>
            <a:r>
              <a:rPr lang="en-US" sz="2200" dirty="0">
                <a:sym typeface="Symbol" panose="05050102010706020507" pitchFamily="18" charset="2"/>
              </a:rPr>
              <a:t>.  </a:t>
            </a:r>
          </a:p>
          <a:p>
            <a:r>
              <a:rPr lang="en-US" sz="2200" dirty="0">
                <a:sym typeface="Symbol" panose="05050102010706020507" pitchFamily="18" charset="2"/>
              </a:rPr>
              <a:t>How far apart were the pilots?</a:t>
            </a:r>
            <a:endParaRPr lang="en-US" sz="2200" dirty="0"/>
          </a:p>
        </p:txBody>
      </p:sp>
      <p:grpSp>
        <p:nvGrpSpPr>
          <p:cNvPr id="11" name="Group 10"/>
          <p:cNvGrpSpPr/>
          <p:nvPr/>
        </p:nvGrpSpPr>
        <p:grpSpPr>
          <a:xfrm>
            <a:off x="3729286" y="3276600"/>
            <a:ext cx="5033714" cy="3222334"/>
            <a:chOff x="2472744" y="3276600"/>
            <a:chExt cx="5033714" cy="322233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2472744" y="3276600"/>
              <a:ext cx="2251896" cy="225366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5153778" y="3861718"/>
              <a:ext cx="2251896" cy="2253669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132775" y="4811604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34260" y="5290738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0843" y="5817189"/>
              <a:ext cx="1349386" cy="431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29648" y="6245018"/>
              <a:ext cx="444826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/>
                <a:t>https://commons.wikimedia.org/wiki/File%3ATweet_and_Super_Tweet.jpg</a:t>
              </a:r>
            </a:p>
          </p:txBody>
        </p: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079" y="2948059"/>
            <a:ext cx="5714871" cy="372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33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4876800" y="3352800"/>
            <a:ext cx="2717910" cy="563890"/>
            <a:chOff x="4876800" y="3352800"/>
            <a:chExt cx="2717910" cy="563890"/>
          </a:xfrm>
        </p:grpSpPr>
        <p:sp>
          <p:nvSpPr>
            <p:cNvPr id="3" name="Right Triangle 2"/>
            <p:cNvSpPr/>
            <p:nvPr/>
          </p:nvSpPr>
          <p:spPr>
            <a:xfrm flipH="1" flipV="1">
              <a:off x="4876800" y="3352800"/>
              <a:ext cx="2717910" cy="563890"/>
            </a:xfrm>
            <a:prstGeom prst="rtTriangle">
              <a:avLst/>
            </a:prstGeom>
            <a:noFill/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c 17"/>
            <p:cNvSpPr/>
            <p:nvPr/>
          </p:nvSpPr>
          <p:spPr>
            <a:xfrm>
              <a:off x="5943600" y="3352800"/>
              <a:ext cx="113782" cy="228600"/>
            </a:xfrm>
            <a:prstGeom prst="arc">
              <a:avLst>
                <a:gd name="adj1" fmla="val 16200000"/>
                <a:gd name="adj2" fmla="val 5010986"/>
              </a:avLst>
            </a:prstGeom>
            <a:ln>
              <a:solidFill>
                <a:srgbClr val="00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00CC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6096000" y="3352800"/>
                  <a:ext cx="35372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5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sz="105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en-US" sz="1050" dirty="0"/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352800"/>
                  <a:ext cx="353726" cy="2616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762000" y="1219200"/>
            <a:ext cx="7696200" cy="4800600"/>
          </a:xfrm>
          <a:prstGeom prst="rect">
            <a:avLst/>
          </a:prstGeom>
        </p:spPr>
        <p:txBody>
          <a:bodyPr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550"/>
              </a:spcBef>
              <a:buClr>
                <a:schemeClr val="accent1"/>
              </a:buClr>
              <a:buFont typeface="Verdana"/>
              <a:buChar char="◦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2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82296" indent="0">
              <a:buFont typeface="Wingdings 2"/>
              <a:buNone/>
            </a:pPr>
            <a:r>
              <a:rPr lang="en-US" sz="2200" dirty="0"/>
              <a:t>Standard formation position in the T-37 “Tweet” was 30</a:t>
            </a:r>
            <a:r>
              <a:rPr lang="en-US" sz="2200" dirty="0">
                <a:sym typeface="Symbol" panose="05050102010706020507" pitchFamily="18" charset="2"/>
              </a:rPr>
              <a:t> aft of abeam with a 10 ft wingtip clearance.  The wingspan of the Tweet was approximately 33 ft 8 in.  </a:t>
            </a:r>
          </a:p>
          <a:p>
            <a:r>
              <a:rPr lang="en-US" sz="2200" dirty="0">
                <a:sym typeface="Symbol" panose="05050102010706020507" pitchFamily="18" charset="2"/>
              </a:rPr>
              <a:t>How far apart were the pilots?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3169910"/>
            <a:ext cx="457200" cy="7924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3729286" y="3276600"/>
            <a:ext cx="5033714" cy="3222334"/>
            <a:chOff x="2472744" y="3276600"/>
            <a:chExt cx="5033714" cy="322233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2472744" y="3276600"/>
              <a:ext cx="2251896" cy="225366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5153778" y="3861718"/>
              <a:ext cx="2251896" cy="2253669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132775" y="4811604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34260" y="5290738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0843" y="5817189"/>
              <a:ext cx="1349386" cy="431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29648" y="6245018"/>
              <a:ext cx="444826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/>
                <a:t>https://commons.wikimedia.org/wiki/File%3ATweet_and_Super_Tweet.jpg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867400" y="4114800"/>
            <a:ext cx="609600" cy="873753"/>
            <a:chOff x="5867400" y="4114800"/>
            <a:chExt cx="609600" cy="873753"/>
          </a:xfrm>
        </p:grpSpPr>
        <p:cxnSp>
          <p:nvCxnSpPr>
            <p:cNvPr id="27" name="Straight Arrow Connector 26"/>
            <p:cNvCxnSpPr/>
            <p:nvPr/>
          </p:nvCxnSpPr>
          <p:spPr>
            <a:xfrm>
              <a:off x="5867400" y="4343400"/>
              <a:ext cx="594360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6477000" y="4114800"/>
              <a:ext cx="0" cy="873753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5867400" y="4114800"/>
              <a:ext cx="0" cy="873753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5970874" y="4386590"/>
                  <a:ext cx="506126" cy="2539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a14:m>
                  <a:r>
                    <a:rPr lang="en-US" sz="1050" dirty="0"/>
                    <a:t> ft </a:t>
                  </a: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0874" y="4386590"/>
                  <a:ext cx="506126" cy="253916"/>
                </a:xfrm>
                <a:prstGeom prst="rect">
                  <a:avLst/>
                </a:prstGeom>
                <a:blipFill>
                  <a:blip r:embed="rId5"/>
                  <a:stretch>
                    <a:fillRect b="-146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1501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729286" y="3276600"/>
            <a:ext cx="5033714" cy="3222334"/>
            <a:chOff x="2472744" y="3276600"/>
            <a:chExt cx="5033714" cy="322233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2472744" y="3276600"/>
              <a:ext cx="2251896" cy="225366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BEBEBE"/>
                </a:clrFrom>
                <a:clrTo>
                  <a:srgbClr val="BEBEB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17" t="1955" r="45924" b="32370"/>
            <a:stretch/>
          </p:blipFill>
          <p:spPr>
            <a:xfrm>
              <a:off x="5153778" y="3861718"/>
              <a:ext cx="2251896" cy="2253669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4132775" y="4811604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34260" y="5290738"/>
              <a:ext cx="772198" cy="12081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720843" y="5817189"/>
              <a:ext cx="1349386" cy="431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29648" y="6245018"/>
              <a:ext cx="4448260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dirty="0"/>
                <a:t>https://commons.wikimedia.org/wiki/File%3ATweet_and_Super_Tweet.jpg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762000" y="1219200"/>
                <a:ext cx="7696200" cy="48006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Font typeface="Wingdings 2"/>
                  <a:buNone/>
                </a:pPr>
                <a:r>
                  <a:rPr lang="en-US" sz="2200" dirty="0"/>
                  <a:t>Standard formation position in the T-37 “Tweet” was 30</a:t>
                </a:r>
                <a:r>
                  <a:rPr lang="en-US" sz="2200" dirty="0">
                    <a:sym typeface="Symbol" panose="05050102010706020507" pitchFamily="18" charset="2"/>
                  </a:rPr>
                  <a:t> aft of abeam with a 10 ft wingtip clearance.  The wingspan of the tweet was approximately 33 ft 8 in.  </a:t>
                </a:r>
              </a:p>
              <a:p>
                <a:r>
                  <a:rPr lang="en-US" sz="2200" dirty="0">
                    <a:sym typeface="Symbol" panose="05050102010706020507" pitchFamily="18" charset="2"/>
                  </a:rPr>
                  <a:t>How far apart were the pilots?</a:t>
                </a:r>
              </a:p>
              <a:p>
                <a:endParaRPr lang="en-US" sz="2200" dirty="0">
                  <a:sym typeface="Symbol" panose="05050102010706020507" pitchFamily="18" charset="2"/>
                </a:endParaRPr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131</m:t>
                            </m:r>
                          </m:num>
                          <m:den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US" sz="2200" b="0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131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131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200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func>
                      </m:den>
                    </m:f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=50.4</m:t>
                    </m:r>
                  </m:oMath>
                </a14:m>
                <a:r>
                  <a:rPr lang="en-US" sz="2200" dirty="0"/>
                  <a:t> ft</a:t>
                </a:r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219200"/>
                <a:ext cx="7696200" cy="4800600"/>
              </a:xfrm>
              <a:prstGeom prst="rect">
                <a:avLst/>
              </a:prstGeom>
              <a:blipFill>
                <a:blip r:embed="rId4"/>
                <a:stretch>
                  <a:fillRect t="-1015" r="-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3810000" y="3962400"/>
            <a:ext cx="2667000" cy="563890"/>
            <a:chOff x="4876800" y="3886200"/>
            <a:chExt cx="2718816" cy="563890"/>
          </a:xfrm>
        </p:grpSpPr>
        <p:sp>
          <p:nvSpPr>
            <p:cNvPr id="3" name="Right Triangle 2"/>
            <p:cNvSpPr/>
            <p:nvPr/>
          </p:nvSpPr>
          <p:spPr>
            <a:xfrm flipH="1" flipV="1">
              <a:off x="4876800" y="3886200"/>
              <a:ext cx="2717910" cy="563890"/>
            </a:xfrm>
            <a:prstGeom prst="rtTriangle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467600" y="3886200"/>
              <a:ext cx="128016" cy="124071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Straight Arrow Connector 14"/>
          <p:cNvCxnSpPr/>
          <p:nvPr/>
        </p:nvCxnSpPr>
        <p:spPr>
          <a:xfrm>
            <a:off x="3810000" y="3810000"/>
            <a:ext cx="2057400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867400" y="3810000"/>
            <a:ext cx="594360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810000" y="3733800"/>
            <a:ext cx="2651760" cy="0"/>
          </a:xfrm>
          <a:prstGeom prst="straightConnector1">
            <a:avLst/>
          </a:prstGeom>
          <a:ln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ectangle 77"/>
              <p:cNvSpPr/>
              <p:nvPr/>
            </p:nvSpPr>
            <p:spPr>
              <a:xfrm>
                <a:off x="4343400" y="3012795"/>
                <a:ext cx="705642" cy="441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2296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/>
                  <a:t> ft</a:t>
                </a:r>
              </a:p>
            </p:txBody>
          </p:sp>
        </mc:Choice>
        <mc:Fallback xmlns="">
          <p:sp>
            <p:nvSpPr>
              <p:cNvPr id="78" name="Rectangle 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012795"/>
                <a:ext cx="705642" cy="441788"/>
              </a:xfrm>
              <a:prstGeom prst="rect">
                <a:avLst/>
              </a:prstGeom>
              <a:blipFill>
                <a:blip r:embed="rId5"/>
                <a:stretch>
                  <a:fillRect r="-2609" b="-4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5869256" y="3017468"/>
                <a:ext cx="619080" cy="441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2296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/>
                  <a:t> ft</a:t>
                </a: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256" y="3017468"/>
                <a:ext cx="619080" cy="441788"/>
              </a:xfrm>
              <a:prstGeom prst="rect">
                <a:avLst/>
              </a:prstGeom>
              <a:blipFill>
                <a:blip r:embed="rId6"/>
                <a:stretch>
                  <a:fillRect r="-2970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856958" y="2590800"/>
                <a:ext cx="705642" cy="441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2296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131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1600" dirty="0"/>
                  <a:t> ft</a:t>
                </a: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6958" y="2590800"/>
                <a:ext cx="705642" cy="441788"/>
              </a:xfrm>
              <a:prstGeom prst="rect">
                <a:avLst/>
              </a:prstGeom>
              <a:blipFill>
                <a:blip r:embed="rId7"/>
                <a:stretch>
                  <a:fillRect r="-172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5943600" y="4248896"/>
                <a:ext cx="4625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248896"/>
                <a:ext cx="46256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944415" y="6019800"/>
                <a:ext cx="2664512" cy="485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33+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ft</a:t>
                </a: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15" y="6019800"/>
                <a:ext cx="2664512" cy="485454"/>
              </a:xfrm>
              <a:prstGeom prst="rect">
                <a:avLst/>
              </a:prstGeom>
              <a:blipFill>
                <a:blip r:embed="rId9"/>
                <a:stretch>
                  <a:fillRect b="-6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081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14688 0.0011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44" y="4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44444E-6 L 0.12084 -4.44444E-6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42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022E-16 L 0.11875 0.00347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8" grpId="1"/>
      <p:bldP spid="79" grpId="0"/>
      <p:bldP spid="79" grpId="1"/>
      <p:bldP spid="80" grpId="0"/>
      <p:bldP spid="80" grpId="1"/>
      <p:bldP spid="8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1066800"/>
                <a:ext cx="7498080" cy="525780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How many feet per nautical mile (NM) will you lose in altitude if you descend on a 3.0</a:t>
                </a:r>
                <a:r>
                  <a:rPr lang="en-US" sz="2400" dirty="0">
                    <a:sym typeface="Symbol" panose="05050102010706020507" pitchFamily="18" charset="2"/>
                  </a:rPr>
                  <a:t> </a:t>
                </a:r>
                <a:r>
                  <a:rPr lang="en-US" sz="2400" dirty="0" err="1">
                    <a:sym typeface="Symbol" panose="05050102010706020507" pitchFamily="18" charset="2"/>
                  </a:rPr>
                  <a:t>glidepath</a:t>
                </a:r>
                <a:r>
                  <a:rPr lang="en-US" sz="2400" dirty="0">
                    <a:sym typeface="Symbol" panose="05050102010706020507" pitchFamily="18" charset="2"/>
                  </a:rPr>
                  <a:t>?</a:t>
                </a:r>
              </a:p>
              <a:p>
                <a:pPr lvl="1"/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1 NM = 6076 ft  (1852 m)</a:t>
                </a:r>
              </a:p>
              <a:p>
                <a:pPr lvl="1"/>
                <a:endParaRPr lang="en-US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402336" lvl="1" indent="0">
                  <a:buNone/>
                </a:pPr>
                <a:r>
                  <a:rPr lang="en-US" sz="2400" b="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h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6076</m:t>
                        </m:r>
                      </m:den>
                    </m:f>
                  </m:oMath>
                </a14:m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marL="402336" lvl="1" indent="0">
                  <a:buNone/>
                </a:pPr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h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=6076</m:t>
                    </m:r>
                    <m:func>
                      <m:funcPr>
                        <m:ctrlP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tan</m:t>
                        </m:r>
                      </m:fName>
                      <m:e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3</m:t>
                        </m:r>
                        <m:r>
                          <a:rPr lang="en-US" sz="24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Symbol" panose="05050102010706020507" pitchFamily="18" charset="2"/>
                          </a:rPr>
                          <m:t>°</m:t>
                        </m:r>
                      </m:e>
                    </m:func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≈</m:t>
                    </m:r>
                    <m:r>
                      <a:rPr lang="en-US" sz="24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318</m:t>
                    </m:r>
                  </m:oMath>
                </a14:m>
                <a:r>
                  <a:rPr lang="en-US" sz="2400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 ft</a:t>
                </a:r>
              </a:p>
              <a:p>
                <a:pPr lvl="1"/>
                <a:endParaRPr lang="en-US" sz="2400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1"/>
                <a:endParaRPr lang="en-US" sz="240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066800"/>
                <a:ext cx="7498080" cy="5257800"/>
              </a:xfrm>
              <a:blipFill>
                <a:blip r:embed="rId4"/>
                <a:stretch>
                  <a:fillRect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95750"/>
            <a:ext cx="7391400" cy="222885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800600" y="2250043"/>
            <a:ext cx="3905725" cy="1178957"/>
            <a:chOff x="4800600" y="2250043"/>
            <a:chExt cx="3905725" cy="1178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8331735" y="2819400"/>
                  <a:ext cx="37459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h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1735" y="2819400"/>
                  <a:ext cx="37459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Group 10"/>
            <p:cNvGrpSpPr/>
            <p:nvPr/>
          </p:nvGrpSpPr>
          <p:grpSpPr>
            <a:xfrm>
              <a:off x="4800600" y="2250043"/>
              <a:ext cx="3581400" cy="1178957"/>
              <a:chOff x="4800600" y="2250043"/>
              <a:chExt cx="3581400" cy="1178957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4800600" y="2250043"/>
                <a:ext cx="3581400" cy="1178957"/>
                <a:chOff x="4800600" y="2250043"/>
                <a:chExt cx="3581400" cy="1178957"/>
              </a:xfrm>
            </p:grpSpPr>
            <p:sp>
              <p:nvSpPr>
                <p:cNvPr id="3" name="Right Triangle 2"/>
                <p:cNvSpPr/>
                <p:nvPr/>
              </p:nvSpPr>
              <p:spPr>
                <a:xfrm rot="10800000">
                  <a:off x="4800600" y="2590800"/>
                  <a:ext cx="3581400" cy="838200"/>
                </a:xfrm>
                <a:prstGeom prst="rtTriangl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" name="Rectangle 3"/>
                <p:cNvSpPr/>
                <p:nvPr/>
              </p:nvSpPr>
              <p:spPr>
                <a:xfrm>
                  <a:off x="6364012" y="2250043"/>
                  <a:ext cx="90281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>
                      <a:solidFill>
                        <a:srgbClr val="0000CC"/>
                      </a:solidFill>
                      <a:sym typeface="Symbol" panose="05050102010706020507" pitchFamily="18" charset="2"/>
                    </a:rPr>
                    <a:t>6076 ft </a:t>
                  </a:r>
                  <a:endParaRPr lang="en-US" dirty="0"/>
                </a:p>
              </p:txBody>
            </p:sp>
            <p:sp>
              <p:nvSpPr>
                <p:cNvPr id="6" name="Rectangle 5"/>
                <p:cNvSpPr/>
                <p:nvPr/>
              </p:nvSpPr>
              <p:spPr>
                <a:xfrm>
                  <a:off x="5974241" y="2583418"/>
                  <a:ext cx="56618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dirty="0"/>
                    <a:t>3.0</a:t>
                  </a:r>
                  <a:r>
                    <a:rPr lang="en-US" dirty="0">
                      <a:sym typeface="Symbol" panose="05050102010706020507" pitchFamily="18" charset="2"/>
                    </a:rPr>
                    <a:t></a:t>
                  </a:r>
                  <a:endParaRPr lang="en-US" dirty="0"/>
                </a:p>
              </p:txBody>
            </p:sp>
            <p:sp>
              <p:nvSpPr>
                <p:cNvPr id="7" name="Arc 6"/>
                <p:cNvSpPr/>
                <p:nvPr/>
              </p:nvSpPr>
              <p:spPr>
                <a:xfrm rot="2384256">
                  <a:off x="5588971" y="2505234"/>
                  <a:ext cx="376440" cy="434535"/>
                </a:xfrm>
                <a:prstGeom prst="arc">
                  <a:avLst>
                    <a:gd name="adj1" fmla="val 17254264"/>
                    <a:gd name="adj2" fmla="val 21585317"/>
                  </a:avLst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" name="Rectangle 8"/>
              <p:cNvSpPr/>
              <p:nvPr/>
            </p:nvSpPr>
            <p:spPr>
              <a:xfrm>
                <a:off x="8229600" y="2590799"/>
                <a:ext cx="152400" cy="15240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63800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Aviation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382000" cy="4800600"/>
          </a:xfrm>
        </p:spPr>
        <p:txBody>
          <a:bodyPr/>
          <a:lstStyle/>
          <a:p>
            <a:r>
              <a:rPr lang="en-US" dirty="0"/>
              <a:t>A common ratio used in calculations is the “60:1 rule”:</a:t>
            </a:r>
          </a:p>
          <a:p>
            <a:pPr lvl="1"/>
            <a:r>
              <a:rPr lang="en-US" dirty="0"/>
              <a:t>1</a:t>
            </a:r>
            <a:r>
              <a:rPr lang="en-US" dirty="0">
                <a:sym typeface="Symbol" panose="05050102010706020507" pitchFamily="18" charset="2"/>
              </a:rPr>
              <a:t> = 1 NM at 60 DME</a:t>
            </a:r>
            <a:endParaRPr lang="en-US" dirty="0"/>
          </a:p>
          <a:p>
            <a:pPr lvl="1"/>
            <a:r>
              <a:rPr lang="en-US" dirty="0"/>
              <a:t>1</a:t>
            </a:r>
            <a:r>
              <a:rPr lang="en-US" dirty="0">
                <a:sym typeface="Symbol" panose="05050102010706020507" pitchFamily="18" charset="2"/>
              </a:rPr>
              <a:t> pitch change = 100 ft altitude change at 1 NM ≈ 6000 ft.</a:t>
            </a:r>
          </a:p>
          <a:p>
            <a:pPr marL="402336" lvl="1" indent="0">
              <a:buNone/>
            </a:pPr>
            <a:endParaRPr lang="en-US" dirty="0">
              <a:sym typeface="Symbol" panose="05050102010706020507" pitchFamily="18" charset="2"/>
            </a:endParaRPr>
          </a:p>
          <a:p>
            <a:pPr marL="402336" lvl="1" indent="0">
              <a:buNone/>
            </a:pPr>
            <a:r>
              <a:rPr lang="en-US" dirty="0">
                <a:sym typeface="Symbol" panose="05050102010706020507" pitchFamily="18" charset="2"/>
              </a:rPr>
              <a:t>Why does the 60:1 rule work?</a:t>
            </a:r>
          </a:p>
          <a:p>
            <a:pPr lvl="1"/>
            <a:endParaRPr lang="en-US" dirty="0">
              <a:sym typeface="Symbol" panose="05050102010706020507" pitchFamily="18" charset="2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219200"/>
            <a:ext cx="8153400" cy="5562600"/>
          </a:xfrm>
        </p:spPr>
        <p:txBody>
          <a:bodyPr>
            <a:normAutofit fontScale="92500"/>
          </a:bodyPr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i="1" dirty="0">
                <a:solidFill>
                  <a:srgbClr val="0000CC"/>
                </a:solidFill>
                <a:sym typeface="Symbol" panose="05050102010706020507" pitchFamily="18" charset="2"/>
              </a:rPr>
              <a:t>Mr. Reichard’s Aviation Formulas and 60-1 Rules (AVIA 350)</a:t>
            </a:r>
          </a:p>
          <a:p>
            <a:pPr lvl="1"/>
            <a:r>
              <a:rPr lang="en-US" sz="2400" i="1" dirty="0">
                <a:solidFill>
                  <a:srgbClr val="0000CC"/>
                </a:solidFill>
                <a:sym typeface="Symbol" panose="05050102010706020507" pitchFamily="18" charset="2"/>
              </a:rPr>
              <a:t>Note: No calculators permitted on math portion of final exam.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299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2590800"/>
            <a:ext cx="8153400" cy="31242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200" dirty="0"/>
              <a:t>Why “</a:t>
            </a:r>
            <a:r>
              <a:rPr lang="en-US" sz="2200" dirty="0">
                <a:solidFill>
                  <a:srgbClr val="0000FF"/>
                </a:solidFill>
              </a:rPr>
              <a:t>60:1</a:t>
            </a:r>
            <a:r>
              <a:rPr lang="en-US" sz="2200" dirty="0"/>
              <a:t>”?</a:t>
            </a:r>
          </a:p>
          <a:p>
            <a:endParaRPr lang="en-US" sz="2200" dirty="0"/>
          </a:p>
          <a:p>
            <a:pPr marL="82296" indent="0">
              <a:buNone/>
            </a:pPr>
            <a:r>
              <a:rPr lang="en-US" sz="2200" dirty="0"/>
              <a:t>Compare: 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2" name="Rectangle 1"/>
          <p:cNvSpPr/>
          <p:nvPr/>
        </p:nvSpPr>
        <p:spPr>
          <a:xfrm>
            <a:off x="914400" y="1828800"/>
            <a:ext cx="7924800" cy="76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1295400" y="4284967"/>
            <a:ext cx="3581493" cy="2514600"/>
            <a:chOff x="1295400" y="4284967"/>
            <a:chExt cx="3581493" cy="2514600"/>
          </a:xfrm>
        </p:grpSpPr>
        <p:sp>
          <p:nvSpPr>
            <p:cNvPr id="6" name="Oval 5"/>
            <p:cNvSpPr/>
            <p:nvPr/>
          </p:nvSpPr>
          <p:spPr>
            <a:xfrm>
              <a:off x="1295400" y="4284967"/>
              <a:ext cx="2495875" cy="2514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543338" y="5257800"/>
              <a:ext cx="2305838" cy="284467"/>
            </a:xfrm>
            <a:prstGeom prst="triangle">
              <a:avLst>
                <a:gd name="adj" fmla="val 10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58256" y="5209533"/>
              <a:ext cx="418637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1</a:t>
              </a:r>
              <a:r>
                <a:rPr lang="en-US" sz="1600" dirty="0">
                  <a:solidFill>
                    <a:srgbClr val="0000FF"/>
                  </a:solidFill>
                  <a:sym typeface="Symbol" panose="05050102010706020507" pitchFamily="18" charset="2"/>
                </a:rPr>
                <a:t>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991012" y="5571261"/>
              <a:ext cx="69572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1</a:t>
              </a:r>
              <a:r>
                <a:rPr lang="en-US" sz="1600" dirty="0">
                  <a:solidFill>
                    <a:srgbClr val="0000FF"/>
                  </a:solidFill>
                  <a:sym typeface="Symbol" panose="05050102010706020507" pitchFamily="18" charset="2"/>
                </a:rPr>
                <a:t> NM 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971800" y="3353218"/>
            <a:ext cx="5334000" cy="970267"/>
            <a:chOff x="3505200" y="3353218"/>
            <a:chExt cx="5334000" cy="970267"/>
          </a:xfrm>
        </p:grpSpPr>
        <p:grpSp>
          <p:nvGrpSpPr>
            <p:cNvPr id="22" name="Group 21"/>
            <p:cNvGrpSpPr/>
            <p:nvPr/>
          </p:nvGrpSpPr>
          <p:grpSpPr>
            <a:xfrm>
              <a:off x="3505200" y="3353218"/>
              <a:ext cx="5334000" cy="970267"/>
              <a:chOff x="3657600" y="3353218"/>
              <a:chExt cx="5334000" cy="970267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5943600" y="3505199"/>
                <a:ext cx="418637" cy="4853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0000FF"/>
                    </a:solidFill>
                  </a:rPr>
                  <a:t>1</a:t>
                </a:r>
                <a:r>
                  <a:rPr lang="en-US" sz="16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</a:t>
                </a:r>
                <a:endParaRPr lang="en-US" sz="16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4" name="Right Triangle 3"/>
              <p:cNvSpPr/>
              <p:nvPr/>
            </p:nvSpPr>
            <p:spPr>
              <a:xfrm flipH="1">
                <a:off x="3657600" y="3353218"/>
                <a:ext cx="5334000" cy="533400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6781800" y="3942485"/>
                <a:ext cx="695720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dirty="0">
                    <a:solidFill>
                      <a:srgbClr val="0000FF"/>
                    </a:solidFill>
                  </a:rPr>
                  <a:t>1</a:t>
                </a:r>
                <a:r>
                  <a:rPr lang="en-US" sz="16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NM </a:t>
                </a:r>
                <a:endParaRPr lang="en-US" sz="1600" dirty="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>
            <a:xfrm>
              <a:off x="8686800" y="3733800"/>
              <a:ext cx="152400" cy="15281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/>
          <p:cNvSpPr/>
          <p:nvPr/>
        </p:nvSpPr>
        <p:spPr>
          <a:xfrm>
            <a:off x="5715000" y="1828800"/>
            <a:ext cx="1371600" cy="304800"/>
          </a:xfrm>
          <a:prstGeom prst="rect">
            <a:avLst/>
          </a:prstGeom>
          <a:solidFill>
            <a:srgbClr val="FFFF00">
              <a:alpha val="12941"/>
            </a:srgbClr>
          </a:solidFill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343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2590800"/>
            <a:ext cx="8153400" cy="31242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200" dirty="0"/>
              <a:t>Why “</a:t>
            </a:r>
            <a:r>
              <a:rPr lang="en-US" sz="2200" dirty="0">
                <a:solidFill>
                  <a:srgbClr val="0000FF"/>
                </a:solidFill>
              </a:rPr>
              <a:t>60:1</a:t>
            </a:r>
            <a:r>
              <a:rPr lang="en-US" sz="2200" dirty="0"/>
              <a:t>”?</a:t>
            </a:r>
          </a:p>
          <a:p>
            <a:endParaRPr lang="en-US" sz="2200" dirty="0"/>
          </a:p>
          <a:p>
            <a:pPr marL="82296" indent="0">
              <a:buNone/>
            </a:pPr>
            <a:r>
              <a:rPr lang="en-US" sz="2200" dirty="0"/>
              <a:t>Compare: </a:t>
            </a:r>
          </a:p>
          <a:p>
            <a:r>
              <a:rPr lang="en-US" sz="2200" dirty="0"/>
              <a:t>What about </a:t>
            </a:r>
            <a:r>
              <a:rPr lang="en-US" sz="2200" dirty="0">
                <a:solidFill>
                  <a:srgbClr val="0000CC"/>
                </a:solidFill>
              </a:rPr>
              <a:t>30 NM</a:t>
            </a:r>
            <a:r>
              <a:rPr lang="en-US" sz="2200" dirty="0"/>
              <a:t>?</a:t>
            </a:r>
          </a:p>
          <a:p>
            <a:r>
              <a:rPr lang="en-US" sz="2200" dirty="0"/>
              <a:t>What about </a:t>
            </a:r>
            <a:r>
              <a:rPr lang="en-US" sz="2200" dirty="0">
                <a:solidFill>
                  <a:srgbClr val="0000CC"/>
                </a:solidFill>
              </a:rPr>
              <a:t>20 NM</a:t>
            </a:r>
            <a:r>
              <a:rPr lang="en-US" sz="2200" dirty="0"/>
              <a:t>?</a:t>
            </a:r>
          </a:p>
          <a:p>
            <a:endParaRPr lang="en-US" sz="2200" dirty="0"/>
          </a:p>
        </p:txBody>
      </p:sp>
      <p:sp>
        <p:nvSpPr>
          <p:cNvPr id="2" name="Rectangle 1"/>
          <p:cNvSpPr/>
          <p:nvPr/>
        </p:nvSpPr>
        <p:spPr>
          <a:xfrm>
            <a:off x="914400" y="1828800"/>
            <a:ext cx="7924800" cy="76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5181507" y="3352800"/>
            <a:ext cx="3581493" cy="2514600"/>
            <a:chOff x="1295400" y="4284967"/>
            <a:chExt cx="3581493" cy="2514600"/>
          </a:xfrm>
        </p:grpSpPr>
        <p:sp>
          <p:nvSpPr>
            <p:cNvPr id="6" name="Oval 5"/>
            <p:cNvSpPr/>
            <p:nvPr/>
          </p:nvSpPr>
          <p:spPr>
            <a:xfrm>
              <a:off x="1295400" y="4284967"/>
              <a:ext cx="2495875" cy="25146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Isosceles Triangle 14"/>
            <p:cNvSpPr/>
            <p:nvPr/>
          </p:nvSpPr>
          <p:spPr>
            <a:xfrm>
              <a:off x="2543338" y="5257800"/>
              <a:ext cx="2305838" cy="284467"/>
            </a:xfrm>
            <a:prstGeom prst="triangle">
              <a:avLst>
                <a:gd name="adj" fmla="val 10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458256" y="5209533"/>
              <a:ext cx="418637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1</a:t>
              </a:r>
              <a:r>
                <a:rPr lang="en-US" sz="1600" dirty="0">
                  <a:solidFill>
                    <a:srgbClr val="0000FF"/>
                  </a:solidFill>
                  <a:sym typeface="Symbol" panose="05050102010706020507" pitchFamily="18" charset="2"/>
                </a:rPr>
                <a:t>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19401" y="5571261"/>
              <a:ext cx="8382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0000FF"/>
                  </a:solidFill>
                </a:rPr>
                <a:t>60</a:t>
              </a:r>
              <a:r>
                <a:rPr lang="en-US" sz="1600" dirty="0">
                  <a:solidFill>
                    <a:srgbClr val="0000FF"/>
                  </a:solidFill>
                  <a:sym typeface="Symbol" panose="05050102010706020507" pitchFamily="18" charset="2"/>
                </a:rPr>
                <a:t> NM </a:t>
              </a:r>
              <a:endParaRPr lang="en-US" sz="1600" dirty="0">
                <a:solidFill>
                  <a:srgbClr val="0000FF"/>
                </a:solidFill>
              </a:endParaRPr>
            </a:p>
          </p:txBody>
        </p:sp>
      </p:grpSp>
      <p:sp>
        <p:nvSpPr>
          <p:cNvPr id="11" name="Rectangle 10"/>
          <p:cNvSpPr/>
          <p:nvPr/>
        </p:nvSpPr>
        <p:spPr>
          <a:xfrm>
            <a:off x="3048000" y="1828800"/>
            <a:ext cx="1447800" cy="304800"/>
          </a:xfrm>
          <a:prstGeom prst="rect">
            <a:avLst/>
          </a:prstGeom>
          <a:solidFill>
            <a:srgbClr val="FFFF00">
              <a:alpha val="12941"/>
            </a:srgbClr>
          </a:solidFill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8849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90800"/>
                <a:ext cx="8229600" cy="3124200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Why “</a:t>
                </a:r>
                <a:r>
                  <a:rPr lang="en-US" sz="2200" dirty="0">
                    <a:solidFill>
                      <a:srgbClr val="0000FF"/>
                    </a:solidFill>
                  </a:rPr>
                  <a:t>60:1</a:t>
                </a:r>
                <a:r>
                  <a:rPr lang="en-US" sz="2200" dirty="0"/>
                  <a:t>”?</a:t>
                </a:r>
              </a:p>
              <a:p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Compare: </a:t>
                </a:r>
              </a:p>
              <a:p>
                <a:r>
                  <a:rPr lang="en-US" sz="2200" dirty="0"/>
                  <a:t>What about 30 NM?</a:t>
                </a:r>
              </a:p>
              <a:p>
                <a:r>
                  <a:rPr lang="en-US" sz="2200" dirty="0"/>
                  <a:t>What about 20 NM?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DME</m:t>
                        </m:r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degrees per NM on an arc</a:t>
                </a:r>
              </a:p>
              <a:p>
                <a:endParaRPr lang="en-US" sz="22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90800"/>
                <a:ext cx="8229600" cy="3124200"/>
              </a:xfrm>
              <a:blipFill>
                <a:blip r:embed="rId4"/>
                <a:stretch>
                  <a:fillRect t="-1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914400" y="1828800"/>
            <a:ext cx="7924800" cy="76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048000" y="1828800"/>
            <a:ext cx="1447800" cy="304800"/>
          </a:xfrm>
          <a:prstGeom prst="rect">
            <a:avLst/>
          </a:prstGeom>
          <a:solidFill>
            <a:srgbClr val="FFFF00">
              <a:alpha val="12941"/>
            </a:srgbClr>
          </a:solidFill>
          <a:ln w="57150"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e 12"/>
          <p:cNvSpPr/>
          <p:nvPr/>
        </p:nvSpPr>
        <p:spPr>
          <a:xfrm>
            <a:off x="5410200" y="3124200"/>
            <a:ext cx="3108960" cy="3108960"/>
          </a:xfrm>
          <a:prstGeom prst="pie">
            <a:avLst>
              <a:gd name="adj1" fmla="val 0"/>
              <a:gd name="adj2" fmla="val 21597498"/>
            </a:avLst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Pie 11"/>
          <p:cNvSpPr/>
          <p:nvPr/>
        </p:nvSpPr>
        <p:spPr>
          <a:xfrm>
            <a:off x="5410200" y="3124200"/>
            <a:ext cx="3108960" cy="3108960"/>
          </a:xfrm>
          <a:prstGeom prst="pie">
            <a:avLst>
              <a:gd name="adj1" fmla="val 0"/>
              <a:gd name="adj2" fmla="val 1836734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375759" y="4628147"/>
                <a:ext cx="8382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US" sz="16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NM </a:t>
                </a:r>
                <a:endParaRPr lang="en-US" sz="1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759" y="4628147"/>
                <a:ext cx="838200" cy="381000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8069580" y="3352800"/>
                <a:ext cx="8382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𝑟</m:t>
                    </m:r>
                  </m:oMath>
                </a14:m>
                <a:r>
                  <a:rPr lang="en-US" sz="16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NM</a:t>
                </a:r>
                <a:endParaRPr lang="en-US" sz="1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9580" y="3352800"/>
                <a:ext cx="838200" cy="381000"/>
              </a:xfrm>
              <a:prstGeom prst="rect">
                <a:avLst/>
              </a:prstGeom>
              <a:blipFill>
                <a:blip r:embed="rId6"/>
                <a:stretch>
                  <a:fillRect b="-142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7038474" y="4315243"/>
                <a:ext cx="1828800" cy="381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𝜃</m:t>
                    </m:r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=1</m:t>
                    </m:r>
                  </m:oMath>
                </a14:m>
                <a:r>
                  <a:rPr lang="en-US" sz="1600" dirty="0">
                    <a:solidFill>
                      <a:srgbClr val="0000FF"/>
                    </a:solidFill>
                    <a:sym typeface="Symbol" panose="05050102010706020507" pitchFamily="18" charset="2"/>
                  </a:rPr>
                  <a:t> rad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≈</m:t>
                    </m:r>
                    <m:r>
                      <a:rPr lang="en-US" sz="16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60°</m:t>
                    </m:r>
                  </m:oMath>
                </a14:m>
                <a:endParaRPr lang="en-US" sz="1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474" y="4315243"/>
                <a:ext cx="1828800" cy="381000"/>
              </a:xfrm>
              <a:prstGeom prst="rect">
                <a:avLst/>
              </a:prstGeom>
              <a:blipFill>
                <a:blip r:embed="rId7"/>
                <a:stretch>
                  <a:fillRect b="-161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77240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429000"/>
            <a:ext cx="8229600" cy="31242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VVI </a:t>
            </a:r>
            <a:r>
              <a:rPr lang="en-US" sz="2200" dirty="0"/>
              <a:t>– vertical velocity indicator</a:t>
            </a:r>
          </a:p>
          <a:p>
            <a:pPr lvl="1"/>
            <a:r>
              <a:rPr lang="en-US" sz="2200" dirty="0"/>
              <a:t>(also VSI, RCDI)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712" y="3831266"/>
            <a:ext cx="2653968" cy="2704762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492250" y="4416425"/>
          <a:ext cx="3687763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1218960" progId="Equation.3">
                  <p:embed/>
                </p:oleObj>
              </mc:Choice>
              <mc:Fallback>
                <p:oleObj name="Equation" r:id="rId6" imgW="1904760" imgH="121896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92250" y="4416425"/>
                        <a:ext cx="3687763" cy="236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828800" y="5257800"/>
            <a:ext cx="2209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14400" y="2551658"/>
            <a:ext cx="7924800" cy="8601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295400" cy="228600"/>
          </a:xfrm>
          <a:prstGeom prst="roundRect">
            <a:avLst/>
          </a:prstGeom>
          <a:solidFill>
            <a:srgbClr val="FFFF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971800" y="3959225"/>
            <a:ext cx="381000" cy="228600"/>
          </a:xfrm>
          <a:prstGeom prst="roundRect">
            <a:avLst/>
          </a:prstGeom>
          <a:solidFill>
            <a:srgbClr val="FFFF00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1828800" y="2895600"/>
            <a:ext cx="2895600" cy="533400"/>
          </a:xfrm>
          <a:prstGeom prst="round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28800" y="6002629"/>
            <a:ext cx="2209800" cy="779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966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7" grpId="1" animBg="1"/>
      <p:bldP spid="10" grpId="0" animBg="1"/>
      <p:bldP spid="10" grpId="1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3429000"/>
            <a:ext cx="8229600" cy="31242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VVI </a:t>
            </a:r>
            <a:r>
              <a:rPr lang="en-US" sz="2200" dirty="0"/>
              <a:t>– vertical velocity indicator</a:t>
            </a:r>
          </a:p>
          <a:p>
            <a:pPr lvl="1"/>
            <a:r>
              <a:rPr lang="en-US" sz="2200" dirty="0"/>
              <a:t>(also VSI, RCDI)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712" y="3831266"/>
            <a:ext cx="2653968" cy="2704762"/>
          </a:xfrm>
          <a:prstGeom prst="rect">
            <a:avLst/>
          </a:prstGeom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492250" y="4416425"/>
          <a:ext cx="3687763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1218960" progId="Equation.3">
                  <p:embed/>
                </p:oleObj>
              </mc:Choice>
              <mc:Fallback>
                <p:oleObj name="Equation" r:id="rId6" imgW="1904760" imgH="121896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492250" y="4416425"/>
                        <a:ext cx="3687763" cy="236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/>
        </p:nvSpPr>
        <p:spPr>
          <a:xfrm>
            <a:off x="914400" y="2551658"/>
            <a:ext cx="7924800" cy="8601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1828800" y="2895600"/>
            <a:ext cx="2895600" cy="533400"/>
          </a:xfrm>
          <a:prstGeom prst="round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732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048000" y="2667000"/>
            <a:ext cx="3581400" cy="31474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8200" y="1066800"/>
            <a:ext cx="8153400" cy="45918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- Example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9000"/>
                <a:ext cx="8153400" cy="3124200"/>
              </a:xfrm>
              <a:solidFill>
                <a:schemeClr val="bg1"/>
              </a:solidFill>
            </p:spPr>
            <p:txBody>
              <a:bodyPr>
                <a:normAutofit/>
              </a:bodyPr>
              <a:lstStyle/>
              <a:p>
                <a:r>
                  <a:rPr lang="en-US" sz="2200" dirty="0">
                    <a:solidFill>
                      <a:srgbClr val="0000CC"/>
                    </a:solidFill>
                  </a:rPr>
                  <a:t>VVI </a:t>
                </a:r>
                <a:r>
                  <a:rPr lang="en-US" sz="2200" dirty="0"/>
                  <a:t>– vertical velocity indicator</a:t>
                </a:r>
              </a:p>
              <a:p>
                <a:pPr lvl="1"/>
                <a:r>
                  <a:rPr lang="en-US" sz="2200" dirty="0"/>
                  <a:t>(also VSI, RCDI)</a:t>
                </a:r>
              </a:p>
              <a:p>
                <a:pPr marL="402336" lvl="1" indent="0">
                  <a:buNone/>
                </a:pPr>
                <a:endParaRPr lang="en-US" sz="2200" dirty="0"/>
              </a:p>
              <a:p>
                <a:pPr marL="402336" lvl="1" indent="0">
                  <a:buNone/>
                </a:pPr>
                <a:r>
                  <a:rPr lang="en-US" sz="2200" b="0" dirty="0"/>
                  <a:t>VVI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𝐺𝑟𝑎𝑑𝑖𝑒𝑛𝑡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𝑇𝐴𝑆</m:t>
                    </m:r>
                  </m:oMath>
                </a14:m>
                <a:endParaRPr lang="en-US" sz="2200" dirty="0"/>
              </a:p>
              <a:p>
                <a:pPr marL="402336" lvl="1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=300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ft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NM</m:t>
                        </m:r>
                      </m:den>
                    </m:f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𝑇𝐴𝑆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den>
                    </m:f>
                  </m:oMath>
                </a14:m>
                <a:endParaRPr lang="en-US" sz="2200" b="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02336" lvl="1" indent="0">
                  <a:buNone/>
                </a:pPr>
                <a:r>
                  <a:rPr lang="en-US" sz="2200" i="1" dirty="0">
                    <a:solidFill>
                      <a:srgbClr val="0000CC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=300∙</m:t>
                    </m:r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𝑇𝐴𝑆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ft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den>
                    </m:f>
                  </m:oMath>
                </a14:m>
                <a:endParaRPr lang="en-US" sz="2200" b="0" i="1" dirty="0">
                  <a:solidFill>
                    <a:srgbClr val="0000CC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9000"/>
                <a:ext cx="8153400" cy="3124200"/>
              </a:xfrm>
              <a:blipFill>
                <a:blip r:embed="rId5"/>
                <a:stretch>
                  <a:fillRect t="-1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712" y="3831266"/>
            <a:ext cx="2653968" cy="27047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2551658"/>
            <a:ext cx="7924800" cy="8601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487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Aviation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At what rate (in ft/min) will you climb if you climb at </a:t>
                </a:r>
                <a:r>
                  <a:rPr lang="en-US" dirty="0">
                    <a:solidFill>
                      <a:srgbClr val="0000CC"/>
                    </a:solidFill>
                  </a:rPr>
                  <a:t>7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r>
                  <a:rPr lang="en-US" dirty="0">
                    <a:sym typeface="Symbol" panose="05050102010706020507" pitchFamily="18" charset="2"/>
                  </a:rPr>
                  <a:t> above level flight at 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300 </a:t>
                </a:r>
                <a:r>
                  <a:rPr lang="en-US" dirty="0">
                    <a:sym typeface="Symbol" panose="05050102010706020507" pitchFamily="18" charset="2"/>
                  </a:rPr>
                  <a:t>knots?</a:t>
                </a:r>
              </a:p>
              <a:p>
                <a:endParaRPr lang="en-US" dirty="0">
                  <a:sym typeface="Symbol" panose="05050102010706020507" pitchFamily="18" charset="2"/>
                </a:endParaRPr>
              </a:p>
              <a:p>
                <a:r>
                  <a:rPr lang="en-US" dirty="0">
                    <a:sym typeface="Symbol" panose="05050102010706020507" pitchFamily="18" charset="2"/>
                  </a:rPr>
                  <a:t>Solution: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700 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ft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sym typeface="Symbol" panose="05050102010706020507" pitchFamily="18" charset="2"/>
                            </a:rPr>
                            <m:t>NM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5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NM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min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3500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ft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 panose="05050102010706020507" pitchFamily="18" charset="2"/>
                            </a:rPr>
                            <m:t>min</m:t>
                          </m:r>
                        </m:den>
                      </m:f>
                    </m:oMath>
                  </m:oMathPara>
                </a14:m>
                <a:endParaRPr lang="en-US" dirty="0">
                  <a:sym typeface="Symbol" panose="05050102010706020507" pitchFamily="18" charset="2"/>
                </a:endParaRPr>
              </a:p>
              <a:p>
                <a:endParaRPr lang="en-US" dirty="0">
                  <a:sym typeface="Symbol" panose="05050102010706020507" pitchFamily="18" charset="2"/>
                </a:endParaRPr>
              </a:p>
              <a:p>
                <a:endParaRPr lang="en-US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142" r="-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258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Aviation “Formulas”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Other formulas used in AVIA 350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514600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HMN HI-TACAN X RWY 22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90600" y="1600200"/>
          <a:ext cx="2603500" cy="28003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617401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455569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3144358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398871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Distance (DME)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Altitude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Feet per NM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Descent 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17782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13,000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87204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10,100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83588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3311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58288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16397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6877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92704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6600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20691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95864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97884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4980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35715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4620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645464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600200"/>
          <a:ext cx="2438400" cy="28003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8280382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495747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0048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0792243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Distance (DME)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Altitude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Feet per NM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Descent 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44836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13,000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09071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0547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5985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99586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22073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69005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676459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5552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13560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44744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4980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84090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4620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598220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914400"/>
            <a:ext cx="5490573" cy="5638800"/>
          </a:xfrm>
          <a:prstGeom prst="rect">
            <a:avLst/>
          </a:prstGeom>
        </p:spPr>
      </p:pic>
      <p:pic>
        <p:nvPicPr>
          <p:cNvPr id="3074" name="Picture 2" descr="https://img.tfd.com/mgh/av/f0265-0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4552949"/>
            <a:ext cx="3181350" cy="2000251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67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HMN HI-TACAN X RWY 22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90600" y="1600200"/>
          <a:ext cx="2603500" cy="28003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6174012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56455569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31443584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83398871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Distance (DME)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Altitude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Feet per NM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Descent 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917782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13,000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7872048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10,100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835881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9700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33111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858288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10.3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16397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68776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9.5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7000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92704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6600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206915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958646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697884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4980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035715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4620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645464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0" y="1600200"/>
          <a:ext cx="2438400" cy="280035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8280382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4957475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700486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207922438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Distance (DME)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Altitude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Feet per NM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effectLst/>
                        </a:rPr>
                        <a:t>Descent angle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44836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13,000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090714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40547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005985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99586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222073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69005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676459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85552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6200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504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13560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5800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267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1447448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2.9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4980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390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3.7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840906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0.8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4620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effectLst/>
                        </a:rPr>
                        <a:t>171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 dirty="0">
                          <a:effectLst/>
                        </a:rPr>
                        <a:t>1.6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598220"/>
                  </a:ext>
                </a:extLst>
              </a:tr>
            </a:tbl>
          </a:graphicData>
        </a:graphic>
      </p:graphicFrame>
      <p:pic>
        <p:nvPicPr>
          <p:cNvPr id="6" name="Picture 2" descr="https://img.tfd.com/mgh/av/f0265-0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4552949"/>
            <a:ext cx="3181350" cy="2000251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657600" y="6291590"/>
            <a:ext cx="5689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An Illustrated Dictionary of Aviation. (2005). Retrieved October 25 2019 from https://encyclopedia2.thefreedictionary.com/false+glide-slope</a:t>
            </a:r>
          </a:p>
        </p:txBody>
      </p:sp>
    </p:spTree>
    <p:extLst>
      <p:ext uri="{BB962C8B-B14F-4D97-AF65-F5344CB8AC3E}">
        <p14:creationId xmlns:p14="http://schemas.microsoft.com/office/powerpoint/2010/main" val="417893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229600" cy="1143000"/>
          </a:xfrm>
        </p:spPr>
        <p:txBody>
          <a:bodyPr/>
          <a:lstStyle/>
          <a:p>
            <a:r>
              <a:rPr lang="en-US" dirty="0"/>
              <a:t>Example: HMN HI-ILS or LOC Z RWY 22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2974" y="914400"/>
            <a:ext cx="7518961" cy="57912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4648200" y="4191000"/>
            <a:ext cx="1752600" cy="0"/>
          </a:xfrm>
          <a:prstGeom prst="line">
            <a:avLst/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724400" y="4212265"/>
                <a:ext cx="1420838" cy="36933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effectLst/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dirty="0" smtClean="0">
                        <a:solidFill>
                          <a:srgbClr val="0000CC"/>
                        </a:solidFill>
                        <a:effectLst/>
                        <a:latin typeface="Cambria Math" panose="02040503050406030204" pitchFamily="18" charset="0"/>
                      </a:rPr>
                      <m:t>=17 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  <a:effectLst/>
                  </a:rPr>
                  <a:t>DME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212265"/>
                <a:ext cx="1420838" cy="369332"/>
              </a:xfrm>
              <a:prstGeom prst="rect">
                <a:avLst/>
              </a:prstGeom>
              <a:blipFill>
                <a:blip r:embed="rId4"/>
                <a:stretch>
                  <a:fillRect t="-9836" r="-25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958920" y="4737511"/>
                <a:ext cx="1835759" cy="484492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dirty="0" smtClean="0">
                            <a:solidFill>
                              <a:srgbClr val="0000CC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00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60</m:t>
                        </m:r>
                      </m:num>
                      <m:den>
                        <m:r>
                          <a:rPr lang="en-US" b="0" i="1" dirty="0" smtClean="0">
                            <a:solidFill>
                              <a:srgbClr val="0000CC"/>
                            </a:solidFill>
                            <a:effectLst/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00CC"/>
                    </a:solidFill>
                    <a:effectLst/>
                  </a:rPr>
                  <a:t> radials per NM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8920" y="4737511"/>
                <a:ext cx="1835759" cy="484492"/>
              </a:xfrm>
              <a:prstGeom prst="rect">
                <a:avLst/>
              </a:prstGeom>
              <a:blipFill>
                <a:blip r:embed="rId5"/>
                <a:stretch>
                  <a:fillRect r="-1987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 rot="19575694">
            <a:off x="6254585" y="2642018"/>
            <a:ext cx="725642" cy="30647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 rot="18956258">
            <a:off x="5298095" y="3039634"/>
            <a:ext cx="725642" cy="306479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2133600" y="2970962"/>
            <a:ext cx="2057400" cy="381838"/>
          </a:xfrm>
          <a:prstGeom prst="round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22" y="3412870"/>
            <a:ext cx="3346378" cy="126457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3692" y="4056350"/>
            <a:ext cx="777308" cy="323116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5" y="4182765"/>
            <a:ext cx="1230626" cy="46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26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 animBg="1"/>
      <p:bldP spid="9" grpId="0" animBg="1"/>
      <p:bldP spid="1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40d5cd3d-514c-467f-b0f2-50def1ba4a48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1"/>
  <p:tag name="CHARTSCALE" val="True"/>
  <p:tag name="FIBDISPLAYKEYWORDS" val="True"/>
  <p:tag name="PRRESPONSE6" val="5"/>
  <p:tag name="SHOWFLASHWARNING" val="False"/>
  <p:tag name="EXPANDSHOWBAR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False"/>
  <p:tag name="AUTOADJUSTPARTRANGE" val="True"/>
  <p:tag name="PRRESPONSE2" val="9"/>
  <p:tag name="PRRESPONSE8" val="3"/>
  <p:tag name="POWERPOINTVERSION" val="14.0"/>
  <p:tag name="RESPCOUNTERFORMAT" val="0"/>
  <p:tag name="AUTOADVANCE" val="True"/>
  <p:tag name="SKIPREMAININGRACESLIDES" val="True"/>
  <p:tag name="CUSTOMCELLBACKCOLOR1" val="-657956"/>
  <p:tag name="GRIDROTATIONINTERVAL" val="2"/>
  <p:tag name="MULTIRESPDIVISOR" val="1"/>
  <p:tag name="ADVANCEDSETTINGSVIEW" val="True"/>
  <p:tag name="PRRESPONSE4" val="7"/>
  <p:tag name="TPVERSION" val="2008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False"/>
  <p:tag name="ANSWERNOWSTYLE" val="3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FULLVERSION" val="4.3.2.1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20934</TotalTime>
  <Words>1662</Words>
  <Application>Microsoft Office PowerPoint</Application>
  <PresentationFormat>On-screen Show (4:3)</PresentationFormat>
  <Paragraphs>388</Paragraphs>
  <Slides>28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Calibri</vt:lpstr>
      <vt:lpstr>Cambria Math</vt:lpstr>
      <vt:lpstr>Symbol</vt:lpstr>
      <vt:lpstr>Times New Roman</vt:lpstr>
      <vt:lpstr>Verdana</vt:lpstr>
      <vt:lpstr>Wingdings</vt:lpstr>
      <vt:lpstr>Wingdings 2</vt:lpstr>
      <vt:lpstr>Solstice</vt:lpstr>
      <vt:lpstr>Equation</vt:lpstr>
      <vt:lpstr>Applications and models</vt:lpstr>
      <vt:lpstr>Applications of Trigonometry </vt:lpstr>
      <vt:lpstr>Example</vt:lpstr>
      <vt:lpstr>Example</vt:lpstr>
      <vt:lpstr>Applications</vt:lpstr>
      <vt:lpstr>Applications</vt:lpstr>
      <vt:lpstr>Applications</vt:lpstr>
      <vt:lpstr>Applications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Aviation 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Aviation Examples</vt:lpstr>
      <vt:lpstr>Aviation “Formulas”</vt:lpstr>
      <vt:lpstr>Example: HMN HI-TACAN X RWY 22</vt:lpstr>
      <vt:lpstr>Example: HMN HI-TACAN X RWY 22</vt:lpstr>
      <vt:lpstr>Example: HMN HI-ILS or LOC Z RWY 22</vt:lpstr>
    </vt:vector>
  </TitlesOfParts>
  <Company>Liberty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rbyoung</dc:creator>
  <cp:lastModifiedBy>Young, Robert Breen</cp:lastModifiedBy>
  <cp:revision>404</cp:revision>
  <cp:lastPrinted>2015-09-03T15:09:13Z</cp:lastPrinted>
  <dcterms:created xsi:type="dcterms:W3CDTF">2008-01-31T05:19:00Z</dcterms:created>
  <dcterms:modified xsi:type="dcterms:W3CDTF">2025-11-14T20:01:59Z</dcterms:modified>
</cp:coreProperties>
</file>