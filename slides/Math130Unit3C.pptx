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73" r:id="rId2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4" r:id="rId27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5CE9CF-3D04-4E3A-BFCC-DE1F19C2B57D}" v="2" dt="2026-04-15T19:10:35.2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7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openxmlformats.org/officeDocument/2006/relationships/slide" Target="slides/slide18.xml"/><Relationship Id="rId27" Type="http://schemas.openxmlformats.org/officeDocument/2006/relationships/slide" Target="slides/slide1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olk, Andrew Harrison (General Math and Science)" userId="d2898ccd-3028-4ee4-8f2f-5598df4c43dc" providerId="ADAL" clId="{D0EF2AF6-1D9C-4815-94DD-A346A16C3C87}"/>
    <pc:docChg chg="undo custSel modSld">
      <pc:chgData name="Volk, Andrew Harrison (General Math and Science)" userId="d2898ccd-3028-4ee4-8f2f-5598df4c43dc" providerId="ADAL" clId="{D0EF2AF6-1D9C-4815-94DD-A346A16C3C87}" dt="2026-04-15T19:12:55.913" v="11" actId="1076"/>
      <pc:docMkLst>
        <pc:docMk/>
      </pc:docMkLst>
      <pc:sldChg chg="modSp mod">
        <pc:chgData name="Volk, Andrew Harrison (General Math and Science)" userId="d2898ccd-3028-4ee4-8f2f-5598df4c43dc" providerId="ADAL" clId="{D0EF2AF6-1D9C-4815-94DD-A346A16C3C87}" dt="2026-04-15T19:09:51.547" v="1" actId="1076"/>
        <pc:sldMkLst>
          <pc:docMk/>
          <pc:sldMk cId="0" sldId="258"/>
        </pc:sldMkLst>
        <pc:spChg chg="mod">
          <ac:chgData name="Volk, Andrew Harrison (General Math and Science)" userId="d2898ccd-3028-4ee4-8f2f-5598df4c43dc" providerId="ADAL" clId="{D0EF2AF6-1D9C-4815-94DD-A346A16C3C87}" dt="2026-04-15T19:09:51.547" v="1" actId="1076"/>
          <ac:spMkLst>
            <pc:docMk/>
            <pc:sldMk cId="0" sldId="258"/>
            <ac:spMk id="24" creationId="{00000000-0000-0000-0000-000000000000}"/>
          </ac:spMkLst>
        </pc:spChg>
      </pc:sldChg>
      <pc:sldChg chg="modSp mod modAnim">
        <pc:chgData name="Volk, Andrew Harrison (General Math and Science)" userId="d2898ccd-3028-4ee4-8f2f-5598df4c43dc" providerId="ADAL" clId="{D0EF2AF6-1D9C-4815-94DD-A346A16C3C87}" dt="2026-04-15T19:10:53.752" v="8" actId="1076"/>
        <pc:sldMkLst>
          <pc:docMk/>
          <pc:sldMk cId="0" sldId="260"/>
        </pc:sldMkLst>
        <pc:spChg chg="mod">
          <ac:chgData name="Volk, Andrew Harrison (General Math and Science)" userId="d2898ccd-3028-4ee4-8f2f-5598df4c43dc" providerId="ADAL" clId="{D0EF2AF6-1D9C-4815-94DD-A346A16C3C87}" dt="2026-04-15T19:10:24.149" v="4" actId="14100"/>
          <ac:spMkLst>
            <pc:docMk/>
            <pc:sldMk cId="0" sldId="260"/>
            <ac:spMk id="5" creationId="{00000000-0000-0000-0000-000000000000}"/>
          </ac:spMkLst>
        </pc:spChg>
        <pc:spChg chg="mod">
          <ac:chgData name="Volk, Andrew Harrison (General Math and Science)" userId="d2898ccd-3028-4ee4-8f2f-5598df4c43dc" providerId="ADAL" clId="{D0EF2AF6-1D9C-4815-94DD-A346A16C3C87}" dt="2026-04-15T19:10:53.752" v="8" actId="1076"/>
          <ac:spMkLst>
            <pc:docMk/>
            <pc:sldMk cId="0" sldId="260"/>
            <ac:spMk id="6" creationId="{00000000-0000-0000-0000-000000000000}"/>
          </ac:spMkLst>
        </pc:spChg>
      </pc:sldChg>
      <pc:sldChg chg="modSp mod">
        <pc:chgData name="Volk, Andrew Harrison (General Math and Science)" userId="d2898ccd-3028-4ee4-8f2f-5598df4c43dc" providerId="ADAL" clId="{D0EF2AF6-1D9C-4815-94DD-A346A16C3C87}" dt="2026-04-15T19:11:39.954" v="9" actId="14100"/>
        <pc:sldMkLst>
          <pc:docMk/>
          <pc:sldMk cId="0" sldId="265"/>
        </pc:sldMkLst>
        <pc:picChg chg="mod">
          <ac:chgData name="Volk, Andrew Harrison (General Math and Science)" userId="d2898ccd-3028-4ee4-8f2f-5598df4c43dc" providerId="ADAL" clId="{D0EF2AF6-1D9C-4815-94DD-A346A16C3C87}" dt="2026-04-15T19:11:39.954" v="9" actId="14100"/>
          <ac:picMkLst>
            <pc:docMk/>
            <pc:sldMk cId="0" sldId="265"/>
            <ac:picMk id="5" creationId="{00000000-0000-0000-0000-000000000000}"/>
          </ac:picMkLst>
        </pc:picChg>
      </pc:sldChg>
      <pc:sldChg chg="modSp mod">
        <pc:chgData name="Volk, Andrew Harrison (General Math and Science)" userId="d2898ccd-3028-4ee4-8f2f-5598df4c43dc" providerId="ADAL" clId="{D0EF2AF6-1D9C-4815-94DD-A346A16C3C87}" dt="2026-04-15T19:12:55.913" v="11" actId="1076"/>
        <pc:sldMkLst>
          <pc:docMk/>
          <pc:sldMk cId="0" sldId="266"/>
        </pc:sldMkLst>
        <pc:picChg chg="mod">
          <ac:chgData name="Volk, Andrew Harrison (General Math and Science)" userId="d2898ccd-3028-4ee4-8f2f-5598df4c43dc" providerId="ADAL" clId="{D0EF2AF6-1D9C-4815-94DD-A346A16C3C87}" dt="2026-04-15T19:12:55.913" v="11" actId="1076"/>
          <ac:picMkLst>
            <pc:docMk/>
            <pc:sldMk cId="0" sldId="266"/>
            <ac:picMk id="5" creationId="{00000000-0000-0000-0000-000000000000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19542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E3A5F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2286000"/>
            <a:ext cx="3200400" cy="3200400"/>
          </a:xfrm>
          <a:prstGeom prst="ellipse">
            <a:avLst/>
          </a:prstGeom>
          <a:solidFill>
            <a:srgbClr val="0891B2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12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7.1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of Right Triangle Trigonometry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130: Advanced Technical Mathematics  |  Unit 3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7.1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and Models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ALEKS Skills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7.1 — Skills Overview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234440" y="1051560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trig ratio to find a side length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1581912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problem with one right triangle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157984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112264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 functions and d = rt in real-world problems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2642616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trig ratio to find an angle measure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3218688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3172968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of elevation or depression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3749040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34440" y="3703320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a right triangle completely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4279392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34440" y="4233672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problem with two right triangles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57200" y="4653715"/>
            <a:ext cx="8229600" cy="411480"/>
          </a:xfrm>
          <a:prstGeom prst="rect">
            <a:avLst/>
          </a:prstGeom>
          <a:solidFill>
            <a:srgbClr val="E0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40080" y="45720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Skills 1 &amp; 2 also appeared in Module 10 (Section 5.2) — counted once toward your ALEKS total.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Problem-Solving Strategy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078992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078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0058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carefully — identify what is given and what is asked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719072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16459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diagram — label all known sides and angles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35915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359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2860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right triangle(s) in the problem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299923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29260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trig ratio: SOH CAH TOA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3639312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566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the equation and solve for the unknown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" y="4279392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1520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71600" y="42062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— does the answer make sense? Include units.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a Side Length with Trig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Hypotenuse = 20 m, angle = 42°. Find the opposite side.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1"/>
            <a:ext cx="8229600" cy="30313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1: Identify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Know: hypotenuse = 20, angle = 42°.  Need: opposite side → use sin (SOH)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2: Set up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42° = opposite / 20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3: Solve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opposite = 20 × sin 42° = 20 × 0.6691 ≈ 13.38 m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13.38 &lt; 20 ✓ (opposite &lt; hypotenuse)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an Angle Using Inverse Trig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029200" cy="50292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= 7, hypotenuse = 15. Find angle A.</a:t>
            </a:r>
            <a:endParaRPr lang="en-US" sz="1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640080"/>
            <a:ext cx="3200400" cy="2560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600200"/>
            <a:ext cx="502920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173736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sz="1800">
                <a:latin typeface="Calibri"/>
              </a:rPr>
              <a:t>sin A = opp / hyp = 7 / 15 ≈ 0.4667</a:t>
            </a:r>
            <a:endParaRPr lang="en-US" sz="1500" dirty="0"/>
          </a:p>
          <a:p/>
          <a:p>
            <a:r>
              <a:rPr sz="1800">
                <a:latin typeface="Calibri"/>
              </a:rPr>
              <a:t>A = sin⁻¹(0.4667)</a:t>
            </a:r>
          </a:p>
          <a:p>
            <a:r>
              <a:rPr sz="2000" b="1">
                <a:solidFill>
                  <a:srgbClr val="F97316"/>
                </a:solidFill>
                <a:latin typeface="Calibri"/>
              </a:rPr>
              <a:t>A ≈ 27.8°</a:t>
            </a:r>
          </a:p>
          <a:p/>
          <a:p>
            <a:r>
              <a:rPr sz="1400" b="0">
                <a:solidFill>
                  <a:srgbClr val="64748B"/>
                </a:solidFill>
                <a:latin typeface="Calibri"/>
              </a:rPr>
              <a:t>Use sin⁻¹ (arcsin), cos⁻¹, or tan⁻¹ to find angles.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4572000" cy="594360"/>
          </a:xfrm>
          <a:prstGeom prst="rect">
            <a:avLst/>
          </a:prstGeom>
          <a:solidFill>
            <a:srgbClr val="FFEDED"/>
          </a:solidFill>
          <a:ln w="19050">
            <a:solidFill>
              <a:srgbClr val="DC2626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DC2626"/>
                </a:solidFill>
                <a:latin typeface="Calibri"/>
              </a:rPr>
              <a:t>⚠  Calculator must be in DEGREE mode when using inverse trig!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Angles of Elevation and Depression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40080"/>
            <a:ext cx="502920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303520" y="914400"/>
            <a:ext cx="356616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486400" y="960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Facts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0" y="1417320"/>
            <a:ext cx="3200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Elevation: looking UP from horizontal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Depression: looking DOWN from horizontal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measured from the horizontal (never from vertical)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of elevation = angle of depression (alternate interior angles)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draw the horizontal at the observer's eye level.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Angle of Depression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4572000" cy="50292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120 ft lighthouse top, depression to a ship is 15°. Find the distance.</a:t>
            </a:r>
            <a:endParaRPr lang="en-US" sz="1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457200"/>
            <a:ext cx="3931920" cy="3108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508760"/>
            <a:ext cx="43891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1645920"/>
            <a:ext cx="40233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 from top = elevation from ship = 15°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up: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15° = opposite / adjacent = 120 / d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Solve: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120 / tan 15°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120 / 0.2679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≈ 447.9 ft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 Functions and d = rt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731520"/>
            <a:ext cx="3840480" cy="2926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914400"/>
            <a:ext cx="4389120" cy="914400"/>
          </a:xfrm>
          <a:prstGeom prst="rect">
            <a:avLst/>
          </a:prstGeom>
          <a:solidFill>
            <a:srgbClr val="0F2B46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96012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= rt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with trig lets us resolve motion into horizontal and vertical components.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57200" y="2103120"/>
            <a:ext cx="438912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457200" y="2103120"/>
            <a:ext cx="64008" cy="640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85800" y="21214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Horizontal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dₓ = v cos θ × t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438912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57200" y="2880360"/>
            <a:ext cx="64008" cy="640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85800" y="2898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3172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dᵧ = v sin θ × 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Trig and d = rt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4572000" cy="50292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plane flies at 250 mph, 30° north of east, for 2 hours. How far N and E?</a:t>
            </a:r>
            <a:endParaRPr lang="en-US" sz="1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40080"/>
            <a:ext cx="3840480" cy="3291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600200"/>
            <a:ext cx="43891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1737360"/>
            <a:ext cx="4023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 distance: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rt = 250 × 2 = 500 miles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East (horizontal):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dₓ = 500 cos 30° = 500 × 0.866 ≈ 433 mi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North (vertical):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dᵧ = 500 sin 30° = 500 × 0.5 = 250 mi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√(433² + 250²) = √250,000 = 500 ✓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Solving a Right Triangle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731520"/>
          </a:xfrm>
          <a:prstGeom prst="rect">
            <a:avLst/>
          </a:prstGeom>
          <a:solidFill>
            <a:srgbClr val="0F2B46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"Solve" a triangle: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all 3 sides and all 3 angles. You need at least one side plus one other known part.</a:t>
            </a:r>
            <a:endParaRPr lang="en-US" sz="1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816138"/>
            <a:ext cx="3474720" cy="2926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929384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48640" y="1929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97280" y="1874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angle: A + B = 90° → B = 90° − 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2569464"/>
            <a:ext cx="365760" cy="36576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48640" y="2569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97280" y="2514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trig ratios to find unknown sides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3209544"/>
            <a:ext cx="365760" cy="36576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48640" y="3209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97280" y="3154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with a² + b² = c²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Solving a Right Triangle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Given: A = 35°, c = 24 (hypotenuse), C = 90°. Find B, a, and b.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82296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76809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B: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= 90° − 35° = 55°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a (opposite A):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c sin A = 24 × sin 35° = 24 × 0.5736 ≈ 13.77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b (adjacent to A):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c cos A = 24 × cos 35° = 24 × 0.8192 ≈ 19.66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13.77² + 19.66² = 189.6 + 386.5 = 576.1 ≈ 24² = 576 ✓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E0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 A = 35°,  B = 55°,  C = 90°,  a ≈ 13.77,  b ≈ 19.66,  c = 24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Problem — Two Right Triangles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 to a building top is 31° from one point, 53° from 50 ft closer. Find the height.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188720"/>
            <a:ext cx="4206240" cy="3108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1417320"/>
            <a:ext cx="429768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1554480"/>
            <a:ext cx="39319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sz="1650" b="1">
                <a:solidFill>
                  <a:srgbClr val="0891B2"/>
                </a:solidFill>
                <a:latin typeface="Calibri"/>
              </a:rPr>
              <a:t>Set up two equations:</a:t>
            </a:r>
            <a:endParaRPr lang="en-US" sz="1300" dirty="0"/>
          </a:p>
          <a:p>
            <a:r>
              <a:rPr sz="1650" b="0">
                <a:solidFill>
                  <a:srgbClr val="0891B2"/>
                </a:solidFill>
                <a:latin typeface="Calibri"/>
              </a:rPr>
              <a:t>Closer: tan 53° = h / d</a:t>
            </a:r>
          </a:p>
          <a:p>
            <a:r>
              <a:rPr sz="1650" b="0">
                <a:solidFill>
                  <a:srgbClr val="F97316"/>
                </a:solidFill>
                <a:latin typeface="Calibri"/>
              </a:rPr>
              <a:t>Farther: tan 31° = h / (d + 50)</a:t>
            </a:r>
          </a:p>
          <a:p/>
          <a:p>
            <a:r>
              <a:rPr sz="1650" b="1">
                <a:solidFill>
                  <a:srgbClr val="7C3AED"/>
                </a:solidFill>
                <a:latin typeface="Calibri"/>
              </a:rPr>
              <a:t>Solve: h = d tan 53° = (d+50) tan 31°</a:t>
            </a:r>
          </a:p>
          <a:p>
            <a:r>
              <a:rPr sz="1500">
                <a:latin typeface="Calibri"/>
              </a:rPr>
              <a:t>d(1.327) = d(0.601) + 50(0.601)</a:t>
            </a:r>
          </a:p>
          <a:p>
            <a:r>
              <a:rPr sz="1400" b="0">
                <a:solidFill>
                  <a:srgbClr val="64748B"/>
                </a:solidFill>
                <a:latin typeface="Calibri"/>
              </a:rPr>
              <a:t>d(1.327 − 0.601) = 50 × 0.601</a:t>
            </a:r>
          </a:p>
          <a:p>
            <a:r>
              <a:rPr sz="1500">
                <a:latin typeface="Calibri"/>
              </a:rPr>
              <a:t>d(0.726) = 30.04</a:t>
            </a:r>
          </a:p>
          <a:p>
            <a:r>
              <a:rPr sz="1500">
                <a:latin typeface="Calibri"/>
              </a:rPr>
              <a:t>d ≈ 41.4 ft</a:t>
            </a:r>
          </a:p>
          <a:p/>
          <a:p>
            <a:r>
              <a:rPr sz="1500" b="0">
                <a:solidFill>
                  <a:srgbClr val="0891B2"/>
                </a:solidFill>
                <a:latin typeface="Calibri"/>
              </a:rPr>
              <a:t>h = 41.4 × tan 53° ≈ 41.4 × 1.327</a:t>
            </a:r>
          </a:p>
          <a:p>
            <a:r>
              <a:rPr sz="1650" b="1">
                <a:solidFill>
                  <a:srgbClr val="F97316"/>
                </a:solidFill>
                <a:latin typeface="Calibri"/>
              </a:rPr>
              <a:t>h ≈ 54.9 ft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Prep — Solving Triangles (Exact Values)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solidFill>
            <a:srgbClr val="F97316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3, Problem 5:  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special triangles to find exact side lengths (not decimal approximations).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41148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64008" cy="32004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30-60-90 with adj = 5, θ = 60°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96596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60° = opp / 5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 = 5 tan 60° = 5√3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 60° = 5 / hyp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 = 5 / cos 60° = 5 / (1/2) = 10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Use exact trig values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60° = √3,  cos 60° = 1/2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1148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64008" cy="32004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45-45-90 with hyp = 14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92040" y="196596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45° = opp / 14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 = 14 sin 45° = 14 × √2/2 = 7√2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legs equal in 45-45-90: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adj = opp = 7√2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Use exact trig values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45° = cos 45° = √2/2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Prep — Solve a Right Triangle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solidFill>
            <a:srgbClr val="F97316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3, Problem 6:  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two sides, find all angles and the third side. Example: a = 11, c = 35.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508760"/>
            <a:ext cx="73152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97280" y="1645920"/>
            <a:ext cx="69494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1: Find angle A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 = a/c = 11/35 ≈ 0.3143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= sin⁻¹(0.3143) ≈ 18.3°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2: Find angle B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= 90° − 18.3° = 71.7°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3: Find side b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√(c² − a²) = √(1225 − 121) = √1104 ≈ 33.2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A ≈ 18.3°,  B ≈ 71.7°,  C = 90°,  a = 11,  b ≈ 33.2,  c = 35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Prep — Elevation &amp; Depression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solidFill>
            <a:srgbClr val="F97316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3, Problem 8:  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two points, angles of elevation to a tower give two right triangles with a shared height.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822960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6809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approach for two-triangle elevation problems: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Let h = unknown height, d = closer distance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Closer:   tan(large angle) = h / d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Farther:  tan(small angle) = h / (d + gap)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Both equal h, so set right sides equal: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 d × tan(large) = (d + gap) × tan(small)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Solve for d, then h = d × tan(large angle)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pattern appears on the test — practice setting up the two equations!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1E3A5F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-1371600"/>
            <a:ext cx="3200400" cy="3200400"/>
          </a:xfrm>
          <a:prstGeom prst="ellipse">
            <a:avLst/>
          </a:prstGeom>
          <a:solidFill>
            <a:srgbClr val="0891B2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12 Summary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ALEKS Topics  |  Section 7.1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7680960" cy="7772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1572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Skills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190195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sides (SOH CAH TOA), find angles (inverse trig), solve complete right triangles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468880"/>
            <a:ext cx="7680960" cy="7772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24871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81635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Elevation/depression word problems, d = rt with trig components, two-triangle problems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383280"/>
            <a:ext cx="7680960" cy="7772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34015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for Test 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73075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5 (exact values with special triangles), Problem 6 (solve right triangle from two sides), Problem 8 (two-triangle elevation)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440740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0" dirty="0" b="1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13 — Section 8.4 (Vectors in Component Form)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300" b="1">
                <a:solidFill>
                  <a:srgbClr val="1E3A5F"/>
                </a:solidFill>
                <a:latin typeface="Georgia"/>
              </a:rPr>
              <a:t>Word Problem — One Right Triangle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700" b="0">
                <a:solidFill>
                  <a:srgbClr val="FFFFFF"/>
                </a:solidFill>
                <a:latin typeface="Calibri"/>
              </a:rPr>
              <a:t>A 20 ft ladder leans against a wall at 65° from the ground. How high up the wall does it reach?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sz="1700" b="1">
                <a:solidFill>
                  <a:srgbClr val="0891B2"/>
                </a:solidFill>
                <a:latin typeface="Calibri"/>
              </a:rPr>
              <a:t>Step 1: Identify</a:t>
            </a:r>
            <a:endParaRPr lang="en-US" sz="1500" dirty="0"/>
          </a:p>
          <a:p>
            <a:r>
              <a:rPr sz="1600">
                <a:latin typeface="Calibri"/>
              </a:rPr>
              <a:t>Hyp = 20 ft,  angle = 65°,  find opposite (wall height) → use sin (SOH)</a:t>
            </a:r>
          </a:p>
          <a:p/>
          <a:p>
            <a:r>
              <a:rPr sz="1700" b="1">
                <a:solidFill>
                  <a:srgbClr val="F97316"/>
                </a:solidFill>
                <a:latin typeface="Calibri"/>
              </a:rPr>
              <a:t>Step 2: Set up</a:t>
            </a:r>
          </a:p>
          <a:p>
            <a:r>
              <a:rPr sz="1700">
                <a:latin typeface="Calibri"/>
              </a:rPr>
              <a:t>sin 65° = h / 20</a:t>
            </a:r>
          </a:p>
          <a:p/>
          <a:p>
            <a:r>
              <a:rPr sz="1700" b="1">
                <a:solidFill>
                  <a:srgbClr val="7C3AED"/>
                </a:solidFill>
                <a:latin typeface="Calibri"/>
              </a:rPr>
              <a:t>Step 3: Solve</a:t>
            </a:r>
          </a:p>
          <a:p>
            <a:r>
              <a:rPr sz="1700">
                <a:latin typeface="Calibri"/>
              </a:rPr>
              <a:t>h = 20 × sin 65° = 20 × 0.9063 ≈ 18.1 ft</a:t>
            </a:r>
          </a:p>
          <a:p/>
          <a:p>
            <a:r>
              <a:rPr sz="1700" b="1">
                <a:solidFill>
                  <a:srgbClr val="059669"/>
                </a:solidFill>
                <a:latin typeface="Calibri"/>
              </a:rPr>
              <a:t>Check:</a:t>
            </a:r>
          </a:p>
          <a:p>
            <a:r>
              <a:rPr sz="1500" b="0">
                <a:latin typeface="Calibri"/>
              </a:rPr>
              <a:t>18.1 &lt; 20 ✓ (opposite &lt; hypotenuse)</a:t>
            </a:r>
          </a:p>
        </p:txBody>
      </p:sp>
      <p:pic>
        <p:nvPicPr>
          <p:cNvPr id="7" name="Picture 6" descr="s_skill2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1"/>
            <a:ext cx="8229600" cy="303130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600" b="1">
                <a:solidFill>
                  <a:srgbClr val="1E3A5F"/>
                </a:solidFill>
                <a:latin typeface="Georgia"/>
              </a:rPr>
              <a:t>You Try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solidFill>
            <a:srgbClr val="0F2B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600" b="0">
                <a:solidFill>
                  <a:srgbClr val="FFFFFF"/>
                </a:solidFill>
                <a:latin typeface="Calibri"/>
              </a:rPr>
              <a:t>A surveyor stands 80 ft from a building. The angle of elevation to the roof is 42°. Find the building height.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274320" y="1417320"/>
            <a:ext cx="429768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1554480"/>
            <a:ext cx="39319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sz="1700" b="1">
                <a:solidFill>
                  <a:srgbClr val="0891B2"/>
                </a:solidFill>
                <a:latin typeface="Calibri"/>
              </a:rPr>
              <a:t>Set up:</a:t>
            </a:r>
            <a:endParaRPr lang="en-US" sz="1300" dirty="0"/>
          </a:p>
          <a:p>
            <a:r>
              <a:rPr sz="1700">
                <a:latin typeface="Calibri"/>
              </a:rPr>
              <a:t>tan 42° = h / 80</a:t>
            </a:r>
          </a:p>
          <a:p/>
          <a:p>
            <a:r>
              <a:rPr sz="1700" b="1">
                <a:solidFill>
                  <a:srgbClr val="7C3AED"/>
                </a:solidFill>
                <a:latin typeface="Calibri"/>
              </a:rPr>
              <a:t>Solve:</a:t>
            </a:r>
          </a:p>
          <a:p>
            <a:r>
              <a:rPr sz="1700">
                <a:latin typeface="Calibri"/>
              </a:rPr>
              <a:t>h = 80 × tan 42°</a:t>
            </a:r>
          </a:p>
          <a:p>
            <a:r>
              <a:rPr sz="1700">
                <a:latin typeface="Calibri"/>
              </a:rPr>
              <a:t>h = 80 × 0.9004</a:t>
            </a:r>
          </a:p>
          <a:p>
            <a:r>
              <a:rPr sz="1800" b="1">
                <a:solidFill>
                  <a:srgbClr val="F97316"/>
                </a:solidFill>
                <a:latin typeface="Calibri"/>
              </a:rPr>
              <a:t>h ≈ 72.0 ft</a:t>
            </a:r>
          </a:p>
          <a:p/>
          <a:p>
            <a:r>
              <a:rPr sz="1700" b="1">
                <a:solidFill>
                  <a:srgbClr val="059669"/>
                </a:solidFill>
                <a:latin typeface="Calibri"/>
              </a:rPr>
              <a:t>Check:</a:t>
            </a:r>
          </a:p>
          <a:p>
            <a:r>
              <a:rPr sz="1400" b="0">
                <a:latin typeface="Calibri"/>
              </a:rPr>
              <a:t>72.0 ft &lt; 80 ft  ✓  (height &lt; base distance for 42° &lt; 45°)</a:t>
            </a:r>
          </a:p>
        </p:txBody>
      </p:sp>
      <p:pic>
        <p:nvPicPr>
          <p:cNvPr id="8" name="Picture 7" descr="s_you_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420624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1404</Words>
  <Application>Microsoft Office PowerPoint</Application>
  <PresentationFormat>On-screen Show (16:9)</PresentationFormat>
  <Paragraphs>202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12 — Section 7.1</dc:title>
  <dc:subject>PptxGenJS Presentation</dc:subject>
  <dc:creator>Math 130</dc:creator>
  <cp:lastModifiedBy>Volk, Andrew Harrison (General Math and Science)</cp:lastModifiedBy>
  <cp:revision>1</cp:revision>
  <dcterms:created xsi:type="dcterms:W3CDTF">2026-03-12T18:10:07Z</dcterms:created>
  <dcterms:modified xsi:type="dcterms:W3CDTF">2026-04-15T19:13:05Z</dcterms:modified>
</cp:coreProperties>
</file>