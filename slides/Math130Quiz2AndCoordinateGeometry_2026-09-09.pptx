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7fb9e132b94c8b" /><Relationship Type="http://schemas.openxmlformats.org/officeDocument/2006/relationships/extended-properties" Target="/docProps/app.xml" Id="R5b8a8ed6948245c8" /><Relationship Type="http://schemas.openxmlformats.org/officeDocument/2006/relationships/officeDocument" Target="/ppt/presentation.xml" Id="Rac8ca2aeaf8d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0a7bdb6fe482e"/>
  </p:sldMasterIdLst>
  <p:notesMasterIdLst>
    <p:notesMasterId xmlns:r="http://schemas.openxmlformats.org/officeDocument/2006/relationships" r:id="Ra36a570862ae40ef"/>
  </p:notesMasterIdLst>
  <p:sldIdLst>
    <p:sldId xmlns:r="http://schemas.openxmlformats.org/officeDocument/2006/relationships" id="256" r:id="Rf9fae028d58c42c0"/>
    <p:sldId xmlns:r="http://schemas.openxmlformats.org/officeDocument/2006/relationships" id="257" r:id="R35f1cda212c043da"/>
    <p:sldId xmlns:r="http://schemas.openxmlformats.org/officeDocument/2006/relationships" id="258" r:id="R16886f8090a44ce8"/>
    <p:sldId xmlns:r="http://schemas.openxmlformats.org/officeDocument/2006/relationships" id="259" r:id="R943dc25c9af04565"/>
    <p:sldId xmlns:r="http://schemas.openxmlformats.org/officeDocument/2006/relationships" id="260" r:id="Rcccc2b9db8c342e8"/>
    <p:sldId xmlns:r="http://schemas.openxmlformats.org/officeDocument/2006/relationships" id="261" r:id="Rc74b5855f2be4f0a"/>
    <p:sldId xmlns:r="http://schemas.openxmlformats.org/officeDocument/2006/relationships" id="262" r:id="R0b922237df4c4383"/>
    <p:sldId xmlns:r="http://schemas.openxmlformats.org/officeDocument/2006/relationships" id="263" r:id="R93151e7113db42ab"/>
    <p:sldId xmlns:r="http://schemas.openxmlformats.org/officeDocument/2006/relationships" id="264" r:id="R8f56cc3aed1f4779"/>
    <p:sldId xmlns:r="http://schemas.openxmlformats.org/officeDocument/2006/relationships" id="265" r:id="R79a394a3df464139"/>
    <p:sldId xmlns:r="http://schemas.openxmlformats.org/officeDocument/2006/relationships" id="266" r:id="R31ff7ee6280b4cd1"/>
    <p:sldId xmlns:r="http://schemas.openxmlformats.org/officeDocument/2006/relationships" id="267" r:id="Rfbbb6e1cdb5d4aff"/>
    <p:sldId xmlns:r="http://schemas.openxmlformats.org/officeDocument/2006/relationships" id="268" r:id="Rb30808f2752a40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8ffca0ad614add" /><Relationship Type="http://schemas.openxmlformats.org/officeDocument/2006/relationships/slideMaster" Target="/ppt/slideMasters/slideMaster1.xml" Id="R5d00a7bdb6fe482e" /><Relationship Type="http://schemas.openxmlformats.org/officeDocument/2006/relationships/notesMaster" Target="/ppt/notesMasters/notesMaster1.xml" Id="Ra36a570862ae40ef" /><Relationship Type="http://schemas.openxmlformats.org/officeDocument/2006/relationships/presProps" Target="/ppt/presProps.xml" Id="Rc4f0e3bd9cc64050" /><Relationship Type="http://schemas.openxmlformats.org/officeDocument/2006/relationships/tableStyles" Target="/ppt/tableStyles.xml" Id="Ra2c4e33779ec42d8" /><Relationship Type="http://schemas.openxmlformats.org/officeDocument/2006/relationships/slide" Target="/ppt/slides/slide1.xml" Id="Rf9fae028d58c42c0" /><Relationship Type="http://schemas.openxmlformats.org/officeDocument/2006/relationships/slide" Target="/ppt/slides/slide2.xml" Id="R35f1cda212c043da" /><Relationship Type="http://schemas.openxmlformats.org/officeDocument/2006/relationships/slide" Target="/ppt/slides/slide3.xml" Id="R16886f8090a44ce8" /><Relationship Type="http://schemas.openxmlformats.org/officeDocument/2006/relationships/slide" Target="/ppt/slides/slide4.xml" Id="R943dc25c9af04565" /><Relationship Type="http://schemas.openxmlformats.org/officeDocument/2006/relationships/slide" Target="/ppt/slides/slide5.xml" Id="Rcccc2b9db8c342e8" /><Relationship Type="http://schemas.openxmlformats.org/officeDocument/2006/relationships/slide" Target="/ppt/slides/slide6.xml" Id="Rc74b5855f2be4f0a" /><Relationship Type="http://schemas.openxmlformats.org/officeDocument/2006/relationships/slide" Target="/ppt/slides/slide7.xml" Id="R0b922237df4c4383" /><Relationship Type="http://schemas.openxmlformats.org/officeDocument/2006/relationships/slide" Target="/ppt/slides/slide8.xml" Id="R93151e7113db42ab" /><Relationship Type="http://schemas.openxmlformats.org/officeDocument/2006/relationships/slide" Target="/ppt/slides/slide9.xml" Id="R8f56cc3aed1f4779" /><Relationship Type="http://schemas.openxmlformats.org/officeDocument/2006/relationships/slide" Target="/ppt/slides/slide10.xml" Id="R79a394a3df464139" /><Relationship Type="http://schemas.openxmlformats.org/officeDocument/2006/relationships/slide" Target="/ppt/slides/slide11.xml" Id="R31ff7ee6280b4cd1" /><Relationship Type="http://schemas.openxmlformats.org/officeDocument/2006/relationships/slide" Target="/ppt/slides/slide12.xml" Id="Rfbbb6e1cdb5d4aff" /><Relationship Type="http://schemas.openxmlformats.org/officeDocument/2006/relationships/slide" Target="/ppt/slides/slide13.xml" Id="Rb30808f2752a40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75173cbfc41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6e5dfcd2f4935" /><Relationship Type="http://schemas.openxmlformats.org/officeDocument/2006/relationships/notesMaster" Target="/ppt/notesMasters/notesMaster1.xml" Id="R1103b129df1f49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a72029ffe94290" /><Relationship Type="http://schemas.openxmlformats.org/officeDocument/2006/relationships/notesMaster" Target="/ppt/notesMasters/notesMaster1.xml" Id="R8b302c3255ec47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4c858ff8642d8" /><Relationship Type="http://schemas.openxmlformats.org/officeDocument/2006/relationships/notesMaster" Target="/ppt/notesMasters/notesMaster1.xml" Id="Rd8834681194b4e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e704a8a9cd43cd" /><Relationship Type="http://schemas.openxmlformats.org/officeDocument/2006/relationships/notesMaster" Target="/ppt/notesMasters/notesMaster1.xml" Id="Rf6fbf96ce3cd45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90143005e04dd3" /><Relationship Type="http://schemas.openxmlformats.org/officeDocument/2006/relationships/notesMaster" Target="/ppt/notesMasters/notesMaster1.xml" Id="R5e64966db5b447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8022db964d40a3" /><Relationship Type="http://schemas.openxmlformats.org/officeDocument/2006/relationships/notesMaster" Target="/ppt/notesMasters/notesMaster1.xml" Id="Rb5f76ec18e364a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553d4216e4160" /><Relationship Type="http://schemas.openxmlformats.org/officeDocument/2006/relationships/notesMaster" Target="/ppt/notesMasters/notesMaster1.xml" Id="R920b8938d4b7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f2ff09725e4c38" /><Relationship Type="http://schemas.openxmlformats.org/officeDocument/2006/relationships/notesMaster" Target="/ppt/notesMasters/notesMaster1.xml" Id="Rd22938b692884e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9454f7f8814f9f" /><Relationship Type="http://schemas.openxmlformats.org/officeDocument/2006/relationships/notesMaster" Target="/ppt/notesMasters/notesMaster1.xml" Id="R623a68bcf8d342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c259cb6e344bc" /><Relationship Type="http://schemas.openxmlformats.org/officeDocument/2006/relationships/notesMaster" Target="/ppt/notesMasters/notesMaster1.xml" Id="Rc8b608549b1b45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421a9730c4490a" /><Relationship Type="http://schemas.openxmlformats.org/officeDocument/2006/relationships/notesMaster" Target="/ppt/notesMasters/notesMaster1.xml" Id="R5722fffd02874a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fbd246a4394dd6" /><Relationship Type="http://schemas.openxmlformats.org/officeDocument/2006/relationships/notesMaster" Target="/ppt/notesMasters/notesMaster1.xml" Id="R32f43d8eb60040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2b02c546c44431" /><Relationship Type="http://schemas.openxmlformats.org/officeDocument/2006/relationships/notesMaster" Target="/ppt/notesMasters/notesMaster1.xml" Id="Rc7efbd32cbb8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3:15–3:16. Welcome students and have them clear desks. Keep this slide up during arrival. Source: Quiz2.pdf for the 25-minute quiz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3:16–3:18. Preview the structure and distribute the quiz. Start the timer at 3:18. The schedule totals 50 minutes: 3 + 25 + 3 + 17 + 2.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3:16–3:18. Read the directions aloud, answer procedural questions, and confirm that students understand the two-column order. Source: Quiz2.pdf.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3:18. Start the 25-minute timer. Keep the room quiet and circulate only for procedural issues. Source: Quiz2.pdf.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3:33. Advance to this slide when 10 minutes remain. Give only the time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3:38. Advance to this slide when 5 minutes remain. Give only the time cue.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3:43–3:46. End the quiz, collect all papers, and reset for the mini-lesson. Do not begin instruction until every quiz is collected.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3:46–3:48. Transition from the quiz. The chart averages the topic-level progress values in itemsReport (2).xlsx: current Sections 2.1/2.2/2.4 = 36.2%; R.6 = 80.5%; Sections 1.1/1.2/1.4 = 76.6%. Distance and midpoint have 85% and 66–73% ready-to-learn shares in the report. Use only aggregate data; do not identify students.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3:48–3:52. Define Δx = x₂ − x₁ and Δy = y₂ − y₁. Connect distance to the Pythagorean theorem and midpoint to coordinate-wise averages. Emphasize that endpoint order does not affect the final distance.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3:52–3:57. Work the example aloud. Ask students to supply Δx and Δy before revealing the formulas. Point out that squaring removes the negative sign on Δy.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3:57–4:00. Give 3 minutes. Circulate. Prompt with ‘What are Δx and Δy?’ rather than giving the formula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4:00–4:03. Ask students to compare each line with their work. Correct sign errors explicitly. If time is short, reveal the final answer but still ask for Δx and Δy aloud.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4:03–4:05. Collect or hear two exit-ticket responses. Remind students to complete every assigned ALEKS module. Schedule source: 130Test1.html; students should verify exact deadlines and quiz logistics in Canvas.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217ed79ed43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1582e0da746f6" /><Relationship Type="http://schemas.openxmlformats.org/officeDocument/2006/relationships/slideLayout" Target="/ppt/slideLayouts/slideLayout1.xml" Id="Re14c0ab8f3bd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4c0ab8f3bd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92540366947fc" /><Relationship Type="http://schemas.openxmlformats.org/officeDocument/2006/relationships/notesSlide" Target="/ppt/notesSlides/notesSlide1.xml" Id="Rc40cf137199744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ed8b07de48c3" /><Relationship Type="http://schemas.openxmlformats.org/officeDocument/2006/relationships/notesSlide" Target="/ppt/notesSlides/notesSlide2.xml" Id="R8d507cb3e14e45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a62242b48407f" /><Relationship Type="http://schemas.openxmlformats.org/officeDocument/2006/relationships/notesSlide" Target="/ppt/notesSlides/notesSlide3.xml" Id="R47325b94258843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2fb834a664ae4" /><Relationship Type="http://schemas.openxmlformats.org/officeDocument/2006/relationships/notesSlide" Target="/ppt/notesSlides/notesSlide4.xml" Id="R0fde82a355854e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2a32b60ed47cb" /><Relationship Type="http://schemas.openxmlformats.org/officeDocument/2006/relationships/notesSlide" Target="/ppt/notesSlides/notesSlide5.xml" Id="R1e32af1d2ab142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69baaa01f45e4" /><Relationship Type="http://schemas.openxmlformats.org/officeDocument/2006/relationships/notesSlide" Target="/ppt/notesSlides/notesSlide6.xml" Id="R738d8a7e79f44e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790797ca04b9a" /><Relationship Type="http://schemas.openxmlformats.org/officeDocument/2006/relationships/notesSlide" Target="/ppt/notesSlides/notesSlide7.xml" Id="Rbfa7ef918d9c42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c751d07dd4f8c" /><Relationship Type="http://schemas.openxmlformats.org/officeDocument/2006/relationships/chart" Target="/ppt/slides/charts/chart1.xml" Id="Rbf812fa4795c4849" /><Relationship Type="http://schemas.openxmlformats.org/officeDocument/2006/relationships/notesSlide" Target="/ppt/notesSlides/notesSlide8.xml" Id="R0fe98eac0bd94e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91261de6e4bb7" /><Relationship Type="http://schemas.openxmlformats.org/officeDocument/2006/relationships/notesSlide" Target="/ppt/notesSlides/notesSlide9.xml" Id="Rfac3d6fca67645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42f3acb554f84" /><Relationship Type="http://schemas.openxmlformats.org/officeDocument/2006/relationships/notesSlide" Target="/ppt/notesSlides/notesSlide10.xml" Id="R085f01d679314a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3c6912f5d4af5" /><Relationship Type="http://schemas.openxmlformats.org/officeDocument/2006/relationships/notesSlide" Target="/ppt/notesSlides/notesSlide11.xml" Id="R52bf97743591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74c92707445c7" /><Relationship Type="http://schemas.openxmlformats.org/officeDocument/2006/relationships/notesSlide" Target="/ppt/notesSlides/notesSlide12.xml" Id="R9edef4991e874e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b7726fc654c5d" /><Relationship Type="http://schemas.openxmlformats.org/officeDocument/2006/relationships/notesSlide" Target="/ppt/notesSlides/notesSlide13.xml" Id="R78c622e896fb4e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Complete</c:v>
          </c:tx>
          <c:spPr>
            <a:solidFill xmlns:a="http://schemas.openxmlformats.org/drawingml/2006/main">
              <a:srgbClr val="1777B4"/>
            </a:solidFill>
          </c:spPr>
          <c:cat>
            <c:strRef>
              <c:f>'Chart Data'!$A$2:$A$4</c:f>
              <c:strCache>
                <c:ptCount val="3"/>
                <c:pt idx="0">
                  <c:v>Current 2.1/2.2/2.4</c:v>
                </c:pt>
                <c:pt idx="1">
                  <c:v>Review R.6</c:v>
                </c:pt>
                <c:pt idx="2">
                  <c:v>Sections 1.1/1.2/1.4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36.2</c:v>
                </c:pt>
                <c:pt idx="1">
                  <c:v>80.5</c:v>
                </c:pt>
                <c:pt idx="2">
                  <c:v>76.6</c:v>
                </c:pt>
              </c:numCache>
            </c:numRef>
          </c:val>
        </c:ser>
        <c:ser>
          <c:idx val="1"/>
          <c:order val="1"/>
          <c:tx>
            <c:v>Remaining</c:v>
          </c:tx>
          <c:spPr>
            <a:solidFill xmlns:a="http://schemas.openxmlformats.org/drawingml/2006/main">
              <a:srgbClr val="8EA6B6"/>
            </a:solidFill>
          </c:spPr>
          <c:cat>
            <c:strRef>
              <c:f>'Chart Data'!$C$2:$C$4</c:f>
              <c:strCache>
                <c:ptCount val="3"/>
                <c:pt idx="0">
                  <c:v>Current 2.1/2.2/2.4</c:v>
                </c:pt>
                <c:pt idx="1">
                  <c:v>Review R.6</c:v>
                </c:pt>
                <c:pt idx="2">
                  <c:v>Sections 1.1/1.2/1.4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63.8</c:v>
                </c:pt>
                <c:pt idx="1">
                  <c:v>19.5</c:v>
                </c:pt>
                <c:pt idx="2">
                  <c:v>23.4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7447B-E221-488C-99ED-3234CF6F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560C4-2A71-473B-A998-CF400A0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C6F3E-BEB7-45FE-9DEE-2DE3777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981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Quiz 2 and coordinate geometry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25F8E-FE42-4196-AC16-3375B92C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6E4EC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D6E4EC"/>
                </a:solidFill>
                <a:latin typeface="Arial"/>
                <a:ea typeface="Arial"/>
                <a:cs typeface="Arial"/>
              </a:rPr>
              <a:t>A focused quiz block, then distance and midpoint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A5C3F-DEC6-46BB-956D-B55AEA81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9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D90B6-8C8A-4F11-B3E6-75D06AD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Wednesday, September 9, 2026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3:15–4:05 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73993-60F8-4A02-9FEB-0CF27B93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85900"/>
            <a:ext cx="1562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44276-ECDA-46E1-BC62-B1A9F46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D6E4E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6E4EC"/>
                </a:solidFill>
                <a:latin typeface="Arial"/>
                <a:ea typeface="Arial"/>
                <a:cs typeface="Arial"/>
              </a:rPr>
              <a:t>QUIZ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56890-A13B-4911-A878-1FC1AF38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Quiz 2 begins at 3:18 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C59216-C34E-4D94-83B0-910E1F31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1  slide</a:t>
            </a:r>
          </a:p>
        </p:txBody>
      </p:sp>
    </p:spTree>
    <p:extLst>
      <p:ext uri="{BB962C8B-B14F-4D97-AF65-F5344CB8AC3E}">
        <p14:creationId xmlns:p14="http://schemas.microsoft.com/office/powerpoint/2010/main" val="1459897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1CD26D-A4AB-4153-B61E-F2BFB8D9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06F43-D722-4B6D-B920-EDE8240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Today’s 50 minutes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C11FA-A351-461F-8588-5B5578D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The quiz receives its full stated 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70285-1CE3-464A-A618-B8483698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8B5DC-82B5-4E3A-849B-116237E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0AFA8-BD06-41E3-9278-2BAB9A8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FCADF-560A-47E2-8379-696DC705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2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1E8CF-8A49-4C1A-B9E2-F24EC9CA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08D49-BE0C-40D0-B29E-CF07F3DC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92C8E-D546-4295-99D9-06145E5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3:15–3:18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FE2416-1AD3-486F-AA8E-04BDD72C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Directions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FDE8A-BECA-4D82-AA07-655EBE4D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09750"/>
            <a:ext cx="542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9FD30-C604-4793-B349-98816D07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85950"/>
            <a:ext cx="535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CA064-4D3B-4EAE-B1F4-E058783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539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3:18–3:43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5996F-3B1D-4A40-9A7B-608D63CE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86050"/>
            <a:ext cx="554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Quiz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FCD2B-F280-409B-9360-68406808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09750"/>
            <a:ext cx="876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9CA70-6E06-4268-9A2D-2C7B24B0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C42B45-D60F-421E-B488-6F0A00E6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71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3:43–3:46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485C0-92BF-4A2D-A475-B9D80E5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ED031-9000-4E81-B4E0-8EA00B6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4FFFC8-B52C-4CB4-A3BA-E25C32E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D98D5-CFA6-45E4-8C7F-3876D3AE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3:46–4:03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756D7-A79C-4E6F-8606-DC816219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2971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+ midpoint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5B8EE-A733-4E87-AADE-C5968AB7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097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F4483-B67C-4238-8C1A-2F1099D2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1885950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267FD-4F85-445A-B2A2-B6C9FB4E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171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4:03–4:05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C379F3-6D97-422F-8813-C5C9825C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686050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E3281E-B442-4968-B68C-280344D3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972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454004-5D01-4FA3-959B-A6879D3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1040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Quiz first. New instruction starts only after all papers are collected.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AF0E39-B560-48D7-A1E0-0D816CE1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If you finish early, quietly check every answer and every line of work.</a:t>
            </a:r>
          </a:p>
        </p:txBody>
      </p:sp>
    </p:spTree>
    <p:extLst>
      <p:ext uri="{BB962C8B-B14F-4D97-AF65-F5344CB8AC3E}">
        <p14:creationId xmlns:p14="http://schemas.microsoft.com/office/powerpoint/2010/main" val="1134184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0B4FB-DDF9-4F61-85A0-5C3612CF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40A0E-7F3F-4E18-A3D1-D38819E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Quiz 2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189D5-2F3B-48F5-AF89-DE84EB9D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Six questions • 100 points • 25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E6B3E-8907-43F1-B257-4299A07A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B463B-E00A-4AFC-8A1D-A18A200F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15B5D-BB56-4D32-84CA-6DF47348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94714-4425-4F30-8882-6F5157C6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3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8D531-AB50-44E7-9783-F4B8CCF1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88553-EAD7-4877-958D-62C0DB92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E9AD0-716D-438B-8C9A-01A45058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668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Write your name, date, and section.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D8F00-0221-4B58-A955-CC04D85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28352-6194-40E8-9550-0C2DED51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43544-75A5-407C-BD29-4FA62FB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Show supporting work in the space provided.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68866-3FE1-47CF-B122-258347A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AFF0A8-7B72-44ED-83FB-E58B2AF5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0611D-5B43-4D66-A9FE-AFA7F83D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Complete the left column before the right where the page is divided.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A067E9-E186-4BC7-85CB-EDED8A92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98043-442E-4AC3-B6DC-63EAB56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F871D-35F3-4503-8B6E-531C2A4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Use the final minutes to check signs, arithmetic, and exact answers.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5DCB9-CA19-4408-B477-D7BF0DDA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744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85F8EE-99AC-440A-8C12-E5F450A9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1021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Ask procedural questions now. Once the quiz begins, work independently.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E2CDCD-42D4-4A39-BD49-ABBBFDE4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Supporting work is required for credit.</a:t>
            </a:r>
          </a:p>
        </p:txBody>
      </p:sp>
    </p:spTree>
    <p:extLst>
      <p:ext uri="{BB962C8B-B14F-4D97-AF65-F5344CB8AC3E}">
        <p14:creationId xmlns:p14="http://schemas.microsoft.com/office/powerpoint/2010/main" val="15502480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2D30E-76A1-4D33-B61D-CCEF2E6D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BB5A4D-CD7D-4AD6-988F-7A0A025D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3CA20-38BB-4470-AC9C-F4050C5E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Quiz 2 begins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0C987C-F733-4A93-9DE7-04189D2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3:18–3:43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D59D-E74A-4652-97C7-E8D01C50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1353D-07F2-44D0-BB48-C82E3DA2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E7EE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CE7EE"/>
                </a:solidFill>
                <a:latin typeface="Arial"/>
                <a:ea typeface="Arial"/>
                <a:cs typeface="Arial"/>
              </a:rPr>
              <a:t>You have 25 minutes. Show supporting work for every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F91BA-7DC9-4855-95C4-63D9D114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4  slide</a:t>
            </a:r>
          </a:p>
        </p:txBody>
      </p:sp>
    </p:spTree>
    <p:extLst>
      <p:ext uri="{BB962C8B-B14F-4D97-AF65-F5344CB8AC3E}">
        <p14:creationId xmlns:p14="http://schemas.microsoft.com/office/powerpoint/2010/main" val="542887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52127-3AD7-4E9E-8C99-AB10C18E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B32FD-8F33-47EC-9AB4-837C960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0E43D-B6F4-4C52-B4C5-78527521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 minutes remain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8163F-4892-4938-B0BA-226FA58F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3:33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9C62D-2051-4FB0-A035-F31E15DD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780EB-D64D-4C54-9A96-06E134BD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E7EE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CE7EE"/>
                </a:solidFill>
                <a:latin typeface="Arial"/>
                <a:ea typeface="Arial"/>
                <a:cs typeface="Arial"/>
              </a:rPr>
              <a:t>Move to any unfinished question, then return to check your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1A641-162A-4FDB-9638-9A291A83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5  slide</a:t>
            </a:r>
          </a:p>
        </p:txBody>
      </p:sp>
    </p:spTree>
    <p:extLst>
      <p:ext uri="{BB962C8B-B14F-4D97-AF65-F5344CB8AC3E}">
        <p14:creationId xmlns:p14="http://schemas.microsoft.com/office/powerpoint/2010/main" val="292557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45481-42BC-4AB6-94D4-A8F870A2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D5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84D2A-608B-4D78-84D2-69549DBF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A90CC-1480-49F0-9321-F3C2758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 minutes remain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A846D-0E8B-4D9F-BC15-A985F496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E45D50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E45D50"/>
                </a:solidFill>
                <a:latin typeface="Arial"/>
                <a:ea typeface="Arial"/>
                <a:cs typeface="Arial"/>
              </a:rPr>
              <a:t>3:38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F539B-8B92-4242-985D-6521285B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1DA1-E679-42D1-AF9F-2AA61D17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E7EE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CE7EE"/>
                </a:solidFill>
                <a:latin typeface="Arial"/>
                <a:ea typeface="Arial"/>
                <a:cs typeface="Arial"/>
              </a:rPr>
              <a:t>Check signs, arithmetic, exact forms, and that every answer is supported.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9BB24-D656-4E63-BF3E-1B45379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6  slide</a:t>
            </a:r>
          </a:p>
        </p:txBody>
      </p:sp>
    </p:spTree>
    <p:extLst>
      <p:ext uri="{BB962C8B-B14F-4D97-AF65-F5344CB8AC3E}">
        <p14:creationId xmlns:p14="http://schemas.microsoft.com/office/powerpoint/2010/main" val="1230078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F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80DAB-B190-43D6-97F7-F176E75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2AE4D-9E30-4C48-A697-5C491322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MATH 130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E2595-A8FC-4F1D-A646-685AEB99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B89B4-562A-409C-BDB8-0EC6170B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3:43 PM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EA57-1350-42E9-B7B5-BE775C9E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FFE03-02DB-4944-944F-64628FE7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E7EE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CE7EE"/>
                </a:solidFill>
                <a:latin typeface="Arial"/>
                <a:ea typeface="Arial"/>
                <a:cs typeface="Arial"/>
              </a:rPr>
              <a:t>Pencils down. Keep your paper face down while quizzes are collected.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BE5DB-064D-47E4-BFC1-FA7077A7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0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AFC2CF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AFC2CF"/>
                </a:solidFill>
                <a:latin typeface="Arial"/>
                <a:ea typeface="Arial"/>
                <a:cs typeface="Arial"/>
              </a:rPr>
              <a:t>7  slide</a:t>
            </a:r>
          </a:p>
        </p:txBody>
      </p:sp>
    </p:spTree>
    <p:extLst>
      <p:ext uri="{BB962C8B-B14F-4D97-AF65-F5344CB8AC3E}">
        <p14:creationId xmlns:p14="http://schemas.microsoft.com/office/powerpoint/2010/main" val="2150754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968E2-DAE6-4088-94C1-9B4EC9C4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E3AB8-5F96-4826-B0B0-7B55FA45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What the ALEKS report says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50FB2-75D3-4B6D-8C14-62DB6C33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Aggregate topic progress from the September 9 Module Topic Summary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AA9B5-71DB-4643-B7E4-D4D78B44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E5182-8718-430F-A572-B4BFFBB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6CA0D-5C67-4503-9A63-8BF1CEE8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108C1-4839-4DD9-860F-D7EBFA11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8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14BC9-3BD0-4BF2-BDE4-7B2C7B20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Average topic progress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7048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812fa4795c4849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1BBE4-9A0D-4659-AFD6-793B1D8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81150"/>
            <a:ext cx="3524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B3478-314A-4098-9C5D-CAC3A48D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Best next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F2137-7748-48E0-9DB7-F6B29794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between two points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Midpoint of a segment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425" b="0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Intercepts and coordinate signs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265B9-DE89-4F1C-94B5-F458D90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71950"/>
            <a:ext cx="3524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12E45-BDB8-40DC-BF19-9EF19326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33875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Today: distance + 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1887F-4563-4660-8412-763CEB36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3009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These are high-readiness skills in the current module.</a:t>
            </a:r>
          </a:p>
        </p:txBody>
      </p:sp>
    </p:spTree>
    <p:extLst>
      <p:ext uri="{BB962C8B-B14F-4D97-AF65-F5344CB8AC3E}">
        <p14:creationId xmlns:p14="http://schemas.microsoft.com/office/powerpoint/2010/main" val="1114769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12C16-8623-420D-B307-3023E64F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0F630-AC32-43CA-A4BC-6F60DF34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Distance and midpoint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CFC2D-1AD0-4896-A231-062C032C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Start with horizontal and vertical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AA038-02C9-498A-88CC-CF5858A4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343E9-1A42-4572-A377-B3E29E9D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C1CDF-C6DF-4D61-A984-0642B017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BA502-351F-415D-A39D-C29BF777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9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DB3A1-ADE3-41F2-9216-5185034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19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For A(x₁, y₁) and B(x₂, y₂)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46765-CE1D-4728-9590-FCCAB63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238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7D7EB-19D4-4D0A-934F-F385AFC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4C877-FC66-456E-8790-98B8603F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√((x₂ − x₁)² + (y₂ − y₁)²)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85E8E-EC98-4E40-9DE3-F9EBCDDF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Pythagorean theorem from the coordinate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0C123-4161-4C56-9A97-85B14B72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52387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624AE-C594-4CD8-B32C-3EC7D59F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470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D7370-0F66-4C3B-BC80-47E093A1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(½(x₁ + x₂), ½(y₁ + y₂))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9AEA6-2A77-4078-8766-2D77774F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90900"/>
            <a:ext cx="470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Average the x-coordinates and y-coordinates separately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6918D-9750-4EB9-B5C8-21AA64BA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363AA-1115-4A92-AC57-A10FA6F1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Always label Δx and Δy first. The same two differences power both the sketch and the distance formula.</a:t>
            </a:r>
          </a:p>
        </p:txBody>
      </p:sp>
    </p:spTree>
    <p:extLst>
      <p:ext uri="{BB962C8B-B14F-4D97-AF65-F5344CB8AC3E}">
        <p14:creationId xmlns:p14="http://schemas.microsoft.com/office/powerpoint/2010/main" val="7073322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816DA-9AFB-42FB-B5C1-41EBB9B1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7B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803A6-F32D-4900-84EA-6BA1A458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A5FF1-7D29-4470-A5DA-33AA829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Let A(−2, 3) and B(4, −5).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4C819-27A9-479D-8D87-BCA04A2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ACE19-2AD2-46BE-AB8C-8B25F63C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2AABC-B101-40BE-99C3-A5D54D1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379E4-976A-47A9-B68D-EE94CE6E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10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AD4C5-F25F-4D8E-8C30-CD016540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839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4BFC9-CDA1-41D8-A3D9-945EAB53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430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4 − (−2) = 6       Δy = −5 − 3 = −8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BB270-2D6B-46A5-A6E6-BC7B7504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257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4BF35-1800-49FC-9247-CA183E4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46443-90D1-4737-A6B0-4ABBD55F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4724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√(6² + (−8)²)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√(36 + 64)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√100 =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46EB2-5617-4356-A8FB-FA24AEC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5257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AA061-7DFA-4B46-A783-51755DA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4BF4C-DF59-496A-9F8C-2CFFC7A6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4724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(½(−2 + 4), ½(3 + (−5)))</a:t>
            </a:r>
          </a:p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 · 2, ½ · (−2))</a:t>
            </a:r>
          </a:p>
          <a:p xmlns:a="http://schemas.openxmlformats.org/drawingml/2006/main">
            <a:pPr algn="ctr">
              <a:def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(1, −1)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A22E9-3CB8-4822-87DE-CE65D29A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3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Quick check: the midpoint lies halfway between the endpoints in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19655754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E08D7-B268-4FB5-A663-23B3674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28F0E-E3FB-4E53-BDD5-7E8059F7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Your turn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24959-CFE0-40C8-9E61-EF68DB04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Work independently for 3 minutes, then compare with a neighbor.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0BD2-49BF-40F4-9B00-93B192D1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D44F8-AD69-4C35-8ABC-F4AE0446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28243-6258-4945-B0A2-30609C3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24135-C609-4F64-BC51-322925D7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11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9CB18-6397-4176-BAC2-4B48F738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10591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7E7E-4D2F-4A85-A2FB-343BFB3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C(−3, −2) and D(5, 4)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35FC5-D6F5-4760-BA74-8C4E5447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E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D4C5D-E5FC-428B-9A19-EC833160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D44F9-E59A-44F5-8DE3-9B2D8A8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051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exact distance CD.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F9486-B20D-4623-82D3-76FD4F2E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Show Δx, Δy, substitution, and simplification.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A9CF0-4605-4D11-A92E-900A937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4953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DE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6B785E-9C3B-4BDB-B00B-E2E28888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33725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A255C-A0A3-469C-AED5-1A9C6448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051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Find the midpoint of CD.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63A9F-AF07-4D3C-BF74-46D4D91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90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Show both coordinate averages.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91FA17-D2B3-431A-8107-40012CB0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Check before the next slide: distance must be positive; midpoint coordinates should fall between endpoint coordinates.</a:t>
            </a:r>
          </a:p>
        </p:txBody>
      </p:sp>
    </p:spTree>
    <p:extLst>
      <p:ext uri="{BB962C8B-B14F-4D97-AF65-F5344CB8AC3E}">
        <p14:creationId xmlns:p14="http://schemas.microsoft.com/office/powerpoint/2010/main" val="9735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67397-77FB-4864-A3A5-ED3A7AAD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3E20E-1633-4EE7-AACD-1E8D49D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Practice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59CCD-6B4B-4C93-B45E-CF0D1B8C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C(−3, −2) and D(5, 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A144F-07F1-4A6A-A339-CDBADB9A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DD162-1EC7-42A2-BAD4-249CCE8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65F7C-54CE-4C3D-B242-2A151CAE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DFED5-E8B0-477F-A4C6-5029D82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12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57B02-0EEC-4829-9A5D-E91EDD2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9FD54-B264-42A4-8F10-83938CCF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Δx = 5 − (−3) = 8       Δy = 4 − (−2) = 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DC6C-0B42-426C-8DE7-7999219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49911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4AE8A-7D99-4381-9A2C-55FF75C3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7B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77B4"/>
                </a:solidFill>
                <a:latin typeface="Arial"/>
                <a:ea typeface="Arial"/>
                <a:cs typeface="Arial"/>
              </a:rPr>
              <a:t>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87F4A-150F-4CC7-AB8B-62DB874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457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d = √(8² + 6²)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√(64 + 36)</a:t>
            </a:r>
          </a:p>
          <a:p xmlns:a="http://schemas.openxmlformats.org/drawingml/2006/main">
            <a:pPr algn="ctr">
              <a:def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√100 =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8864C-6C26-47D2-BEED-947B52E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49911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ADBDE-6204-413A-BAE7-06FB3E0A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717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Midpoint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94FCF-7534-4D23-903E-D3CAEF4A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4457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M = (½(−3 + 5), ½(−2 + 4))</a:t>
            </a:r>
          </a:p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(½ · 2, ½ · 2)</a:t>
            </a:r>
          </a:p>
          <a:p xmlns:a="http://schemas.openxmlformats.org/drawingml/2006/main">
            <a:pPr algn="ctr">
              <a:def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193B55"/>
                </a:solidFill>
                <a:latin typeface="Cambria Math"/>
                <a:ea typeface="Cambria Math"/>
                <a:cs typeface="Cambria Math"/>
              </a:rPr>
              <a:t>= (1, 1)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5283B-9941-4B3F-8F7E-D50D5D1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8A6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8A6B"/>
                </a:solidFill>
                <a:latin typeface="Arial"/>
                <a:ea typeface="Arial"/>
                <a:cs typeface="Arial"/>
              </a:rPr>
              <a:t>Both answers pass the reasonableness checks.</a:t>
            </a:r>
          </a:p>
        </p:txBody>
      </p:sp>
    </p:spTree>
    <p:extLst>
      <p:ext uri="{BB962C8B-B14F-4D97-AF65-F5344CB8AC3E}">
        <p14:creationId xmlns:p14="http://schemas.microsoft.com/office/powerpoint/2010/main" val="16799856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6E0E3-1DE2-4CC9-97CA-215E9BAB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E3673-7059-48A8-82EB-4BFF029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Before you leave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3012D-CF2C-46DF-981C-9C72A55D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Turn the quiz block into a concrete next step.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AD1D8-E205-4A7C-8604-C3F5D322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CLOSE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B6127-0D77-4D12-BB6D-ECF7178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341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E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5D8F6-238C-4792-ABB6-210ED65C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MATH 130  •  SEPT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3CEC4-FD2C-4FC3-B9CA-5136DD83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03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0798D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60798D"/>
                </a:solidFill>
                <a:latin typeface="Arial"/>
                <a:ea typeface="Arial"/>
                <a:cs typeface="Arial"/>
              </a:rPr>
              <a:t>13  slide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528DF-C1D0-4272-BC2E-2BBAAF70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F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E6C72-48A4-4EFF-8F3F-6E32E85B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4B52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52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4BF518-9D88-4B22-9223-3049149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does the midpoint formula use averages?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2B65C-3C16-4859-8C12-76966BA2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4B755-95BA-449F-A222-A097E43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14362-CB7B-4AD2-BD60-701359A2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Finish Review R.6 if it is still incomplete.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38F94-C268-44FF-B344-D91A6B2D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A08EC-48EC-4505-B3C6-D4AC35BB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DC7AD-381A-421D-B3B4-3E3178B1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Finish Sections 1.1, 1.2, and 1.4 if any work remains.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46DF3-4213-430B-A98A-673CBFC4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5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E761A-2160-41C2-A1C9-0FDD140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B75DB-482E-455F-B0EA-B64A1C0A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Continue Current Module Sections 2.1, 2.2, and 2.4.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5430B-C94C-44C7-B103-1FCC2548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591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174A0B-1772-48E5-9EB0-047AF1ED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95875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3B5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93B55"/>
                </a:solidFill>
                <a:latin typeface="Arial"/>
                <a:ea typeface="Arial"/>
                <a:cs typeface="Arial"/>
              </a:rPr>
              <a:t>Next class: Wednesday, September 16 • Quiz 3 follows Sections 2.1, 2.2, and 2.4</a:t>
            </a:r>
          </a:p>
        </p:txBody>
      </p:sp>
    </p:spTree>
    <p:extLst>
      <p:ext uri="{BB962C8B-B14F-4D97-AF65-F5344CB8AC3E}">
        <p14:creationId xmlns:p14="http://schemas.microsoft.com/office/powerpoint/2010/main" val="1570514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2026-09-09T19:16:16.7290000Z</dcterms:created>
  <dcterms:modified xsi:type="dcterms:W3CDTF">2026-09-09T19:16:16.7290000Z</dcterms:modified>
</coreProperties>
</file>