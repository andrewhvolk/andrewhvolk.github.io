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80" r:id="rId31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457200"/>
            <a:ext cx="2286000" cy="2286000"/>
          </a:xfrm>
          <a:prstGeom prst="ellipse">
            <a:avLst/>
          </a:prstGeom>
          <a:solidFill>
            <a:srgbClr val="2D4A7A"/>
          </a:solidFill>
          <a:ln/>
        </p:spPr>
      </p:sp>
      <p:sp>
        <p:nvSpPr>
          <p:cNvPr id="5" name="Shape 3"/>
          <p:cNvSpPr/>
          <p:nvPr/>
        </p:nvSpPr>
        <p:spPr>
          <a:xfrm>
            <a:off x="7589520" y="731520"/>
            <a:ext cx="1645920" cy="1645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05156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9144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800" kern="0" dirty="0">
                <a:solidFill>
                  <a:srgbClr val="67E8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MATH 130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31520" y="15544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2 Review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31520" y="2560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4.2, 4.3 &amp; Geometry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90-Minute Review Session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51560"/>
            <a:ext cx="64008" cy="5029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515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 min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86000" y="10515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Interest &amp; Logarithms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691640"/>
            <a:ext cx="64008" cy="50292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916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15–30 min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86000" y="16916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Exponential &amp; Log Equations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33172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331720"/>
            <a:ext cx="64008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331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Conversions (DMS, Radians)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971800"/>
            <a:ext cx="64008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971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50–65 min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86000" y="29718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Length &amp; Sector Area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611880"/>
            <a:ext cx="64008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65–80 min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0" y="36118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&amp; Trapezoid Area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804672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" y="4251960"/>
            <a:ext cx="64008" cy="502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251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80–90 min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86000" y="425196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Lines, Circles &amp; Linear Speed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Interest Formulas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Compounding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P(1 + r/n)^(nt)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principal (initial amount)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annual interest rate (decimal)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compounds per year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time in years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Compounding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554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Pe^(rt)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937760" y="21031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≈ 2.71828...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P, r, t as discrete formula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when interest compounds "continuously"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8229600" cy="64008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429000"/>
            <a:ext cx="365760" cy="3657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97280" y="33375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 values: monthly = 12, daily = 365, quarterly = 4, weekly = 52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4864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P = $2500, r = 3%, t = 20 years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8046720" cy="54864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(monthly)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 (daily)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$4,551.89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$4,555.18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$4,555.30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Example: Compound Interest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$2500 at 3% for 20 years, compounded monthly (n = 12)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384048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234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34440" y="1234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Identify: P=2500, r=0.03, n=12, t=20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384048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737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34440" y="1737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2500(1 + 0.03/12)^(12·20)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240280"/>
            <a:ext cx="384048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240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34440" y="2240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2500(1.0025)^(240)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384048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" y="2743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3444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2500(1.82075) = $4,551.89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777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compounding: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1234440"/>
            <a:ext cx="393192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1234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40680" y="12344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Pe^(rt) = 2500·e^(0.03·20)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1737360"/>
            <a:ext cx="393192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46320" y="1737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4068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2500·e^(0.6)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2240280"/>
            <a:ext cx="393192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46320" y="2240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40680" y="2240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2500 · 1.82212 = $4,555.30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474720"/>
            <a:ext cx="8229600" cy="59436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566160"/>
            <a:ext cx="320040" cy="3200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097280" y="34747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 tip: Use the y^x or ^ button. Enter (1.0025)^240 carefully — parentheses matter!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82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It!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0" y="228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Interest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91440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91440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0120" y="914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$3,000 invested at 5% for 15 years compounded quarterly. Find 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178308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178308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17830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60120" y="17830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$8,000 at 2.5% for 10 years compounded daily. Find A.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265176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26517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60120" y="2651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$1,500 at 4% for 6 years compounded continuously. Find A.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52044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352044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60120" y="3520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more does continuous earn vs. monthly for $5,000 at 3% over 25 years?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760720" y="914400"/>
            <a:ext cx="3017520" cy="33375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263640" y="960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943600" y="1371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$6,321.54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943600" y="1874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$10,272.12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594360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$1,906.87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5943600" y="2880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$9.90 more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Exponential ↔ Logarithmic 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1005840"/>
            <a:ext cx="7315200" cy="91440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0058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E8F9"/>
                </a:solidFill>
              </a:rPr>
              <a:t>b</a:t>
            </a:r>
            <a:pPr algn="ctr" indent="0" marL="0">
              <a:buNone/>
            </a:pPr>
            <a:r>
              <a:rPr lang="en-US" sz="1600" b="1" dirty="0">
                <a:solidFill>
                  <a:srgbClr val="67E8F9"/>
                </a:solidFill>
              </a:rPr>
              <a:t>^y</a:t>
            </a:r>
            <a:pPr algn="ctr" indent="0" marL="0">
              <a:buNone/>
            </a:pPr>
            <a:r>
              <a:rPr lang="en-US" sz="2400" b="1" dirty="0">
                <a:solidFill>
                  <a:srgbClr val="67E8F9"/>
                </a:solidFill>
              </a:rPr>
              <a:t xml:space="preserve"> = x</a:t>
            </a:r>
            <a:pPr algn="ctr" indent="0" marL="0">
              <a:buNone/>
            </a:pPr>
            <a:r>
              <a:rPr lang="en-US" sz="2400" dirty="0">
                <a:solidFill>
                  <a:srgbClr val="F59E0B"/>
                </a:solidFill>
              </a:rPr>
              <a:t xml:space="preserve">    ⟺    </a:t>
            </a:r>
            <a:pPr algn="ctr" indent="0" marL="0">
              <a:buNone/>
            </a:pPr>
            <a:r>
              <a:rPr lang="en-US" sz="2400" b="1" dirty="0">
                <a:solidFill>
                  <a:srgbClr val="67E8F9"/>
                </a:solidFill>
              </a:rPr>
              <a:t>log</a:t>
            </a:r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ᵦ</a:t>
            </a:r>
            <a:pPr algn="ctr" indent="0" marL="0">
              <a:buNone/>
            </a:pPr>
            <a:r>
              <a:rPr lang="en-US" sz="2400" b="1" dirty="0">
                <a:solidFill>
                  <a:srgbClr val="67E8F9"/>
                </a:solidFill>
              </a:rPr>
              <a:t>(x) = 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^exponent</a:t>
            </a:r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result     ↔     log</a:t>
            </a:r>
            <a:pPr algn="ctr" indent="0" marL="0">
              <a:buNone/>
            </a:pPr>
            <a:r>
              <a:rPr lang="en-US" sz="12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(result) = exponent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→ Log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25^(5/2) = 3125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log₂₅(3125) = 5/2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251460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→ Exp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28803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log₄(2048) = 5.5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4^5.5 = 2048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8229600" cy="100584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77640"/>
            <a:ext cx="365760" cy="36576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384048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Memory trick: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stays the base! The log answer is the exponent.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"The log asks: what power do I raise the base to, to get this number?"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Solving Exponential &amp; Log Equations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9319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60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 A:  ln x = 4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 x = 4  means  logₑ(x) = 4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exponential form: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e⁴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54.598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960120"/>
            <a:ext cx="39319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960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 B:  2^x = 13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5087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ln (or log) of both sides: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ln(2^x) = ln(13)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· ln(2) = ln(13)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ln(13) / ln(2)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≈ 3.700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8229600" cy="12801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57600"/>
            <a:ext cx="320040" cy="32004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3611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Log Properties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ln(aⁿ) = n·ln(a)     |     ln(e) = 1     |     e^(ln x) = x     |     log(10) = 1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82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It!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0" y="228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&amp; Exponentials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91440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91440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0120" y="914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8^(2/3) = 4 in logarithmic form.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178308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178308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17830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60120" y="17830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log₅(625) = 4 in exponential form.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265176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26517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60120" y="2651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Solve: ln x = 7  (round to 3 decimal places)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52044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352044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60120" y="3520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Solve: 5^x = 40  (round to 3 decimal places)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760720" y="914400"/>
            <a:ext cx="3017520" cy="33375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263640" y="960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943600" y="1371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log₈(4) = 2/3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943600" y="1874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5⁴ = 625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594360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x = e⁷ ≈ 1096.633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5943600" y="2880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x = ln40/ln5 ≈ 2.292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 Conversions: DMS ↔ Decimal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931920" cy="640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 → Decimal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9164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D° M' S" → D + M/60 + S/3600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37°41'11"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37 + 41/60 + 11/3600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37 + 0.6833 + 0.00306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37.6864°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960120"/>
            <a:ext cx="3931920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9601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→ DMS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160020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169164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part = Degrees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36.3492°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36°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0.3492 × 60 = 20.952 → M = 20'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0.952 × 60 = 57.12 → S ≈ 57"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36°20'57"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8229600" cy="59436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31920"/>
            <a:ext cx="320040" cy="32004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38404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1° = 60 minutes, 1 minute = 60 seconds. Always take only the decimal part for the next step!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Radians ↔ Degrees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73152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9144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π radians = 180°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64008" cy="1828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Radians → Degrees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180/π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2.7 rad × (180/π)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2.7 × 57.2958°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154.7°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754880" y="192024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920240"/>
            <a:ext cx="64008" cy="1828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 → Radians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π/180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2651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163.9° × (π/180)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163.9 × 0.01745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2.86 rad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914400"/>
          </a:xfrm>
          <a:prstGeom prst="rect">
            <a:avLst/>
          </a:prstGeom>
          <a:solidFill>
            <a:srgbClr val="F5F3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Values: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30° = π/6    45° = π/4    60° = π/3    90° = π/2    180° = π    360° = 2π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82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It!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0" y="228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Conversions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91440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91440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0120" y="914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52°15'30" to decimal degrees (4 places).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178308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178308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17830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60120" y="17830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128.4375° to DMS.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265176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26517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60120" y="2651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3.5 radians to degrees (1 decimal).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52044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352044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60120" y="3520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225° to radians (2 decimal places).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760720" y="914400"/>
            <a:ext cx="3017520" cy="33375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263640" y="960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943600" y="1371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52.2583°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943600" y="1874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128°26'15"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594360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200.5°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5943600" y="2880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3.93 rad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 Length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8229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9144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r · θ    (θ must be in RADIANS!)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931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65960"/>
            <a:ext cx="3931920" cy="411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a)  r = 5.7,  θ = 65°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convert 65° to radians: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θ = 65 × π/180 = 1.1345 rad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5.7 × 1.1345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≈ 6.5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965960"/>
            <a:ext cx="3931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965960"/>
            <a:ext cx="3931920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b)  r = 10,  θ = 3π/5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46888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is already in radians!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10 × (3π/5)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30π/5 = 6π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≈ 18.8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42976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#1 Mistake: Forgetting to convert degrees to radians before using s = rθ!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 Area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8229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9144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 · r² · θ    (θ must be in RADIANS!)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65960"/>
            <a:ext cx="3931920" cy="411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a)  r = 5.7,  θ = 65°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Convert: θ = 65 × π/180 = 1.1345 rad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 × 5.7² × 1.1345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 × 32.49 × 1.1345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≈ 18.4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96596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965960"/>
            <a:ext cx="3931920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b)  r = 10,  θ = 3π/5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46888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radians!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 × 10² × (3π/5)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 × 100 × 1.8850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≈ 94.2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" y="42062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 length: s = rθ  (linear)     vs.     Sector area: A = ½r²θ  (squared)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82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It!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0" y="228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Length &amp; Sector Area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91440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91440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0120" y="914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arc length: r = 8, θ = 72°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178308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178308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17830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60120" y="17830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arc length: r = 15, θ = 2π/3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265176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26517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60120" y="2651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sector area: r = 8, θ = 72°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52044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352044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60120" y="3520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sector area: r = 15, θ = 2π/3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760720" y="914400"/>
            <a:ext cx="3017520" cy="33375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263640" y="960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943600" y="1371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 ≈ 10.1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943600" y="1874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 ≈ 31.4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594360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A ≈ 40.2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5943600" y="2880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A ≈ 235.6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Triangle Area: Heron's Formula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(a + b + c) / 2</a:t>
            </a:r>
            <a:endParaRPr lang="en-US" sz="18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√[ s(s−a)(s−b)(s−c) 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= 1.5 cm, b = 1.3 cm, c = 2.1 cm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51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(1.5 + 1.3 + 2.1) / 2 = 4.9 / 2 = 2.45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− a = 0.95,  s − b = 1.15,  s − c = 0.35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474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√(2.45 × 0.95 × 1.15 × 0.35)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√(0.93734) ≈ 1.0 cm²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Area Formulas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68680"/>
            <a:ext cx="3931920" cy="411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Triangle: A = ½bh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base &amp; height are known.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example: b = 775m, h = 123m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 × 775 × 123</a:t>
            </a:r>
            <a:endParaRPr lang="en-US" sz="13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47,662.5 m²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868680"/>
            <a:ext cx="3931920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868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Trapezoid: A = ½(b₁+b₂)h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 &amp; b₂ = parallel sides, h = height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Test: b₁=2.05, b₂=6.25 cm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h using Pythagorean thm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≈ 1.96 cm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½(2.05+6.25)(1.96) ≈ 8.13 cm²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383280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8872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which formula: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2960" y="374904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½bh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→  you know base and perpendicular height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Heron's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→  you know all 3 sides but NOT the height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Trapezoid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→  two parallel bases + height (may need Pythagorean thm)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82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It!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0" y="228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&amp; Trapezoid Area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91440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91440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0120" y="914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Heron's: a = 5 cm, b = 7 cm, c = 9 cm. Find area.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178308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178308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17830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60120" y="17830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Triangle: base = 18 m, height = 11 m. Find area.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265176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26517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60120" y="2651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Trapezoid: bases 8 ft &amp; 14 ft, height 6 ft. Find area.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52044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352044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60120" y="3520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Heron's: a = 3.2 m, b = 4.1 m, c = 5.6 m. Find area.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760720" y="914400"/>
            <a:ext cx="3017520" cy="33375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263640" y="960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943600" y="1371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A ≈ 17.4 cm²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943600" y="1874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A = 99.0 m²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594360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A = 66.0 ft²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5943600" y="2880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A ≈ 6.5 m²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Parallel Lines &amp; Proportional Segments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7680960" cy="8229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9144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parallel lines cut transversals, corresponding segments are proportional.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1920240"/>
            <a:ext cx="7315200" cy="64008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920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 / BD = AC / CE    (corresponding segments on different transversals)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788920"/>
            <a:ext cx="3931920" cy="3657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Find 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= 40, BD = 45, AC = 37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40/45 = 37/CE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 = 37 × 45/40</a:t>
            </a:r>
            <a:endParaRPr lang="en-US" sz="13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 = 41.6 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7889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2788920"/>
            <a:ext cx="3931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Find DC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2461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is part of the transversal: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 = CE − AC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 = 41.6 − 37</a:t>
            </a:r>
            <a:endParaRPr lang="en-US" sz="13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 = 4.6 m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 Theorems: Arcs &amp; Angles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60120"/>
            <a:ext cx="64008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Inscribed Angle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9601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½ (intercepted arc)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63040"/>
            <a:ext cx="64008" cy="411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Angle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1463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intercepted arc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965960"/>
            <a:ext cx="822960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1965960"/>
            <a:ext cx="64008" cy="411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Intersecting chords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 = ½(arc₁ + arc₂) for vertical angles at intersection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468880"/>
            <a:ext cx="822960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468880"/>
            <a:ext cx="64008" cy="4114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468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Semicircle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2468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is diameter → arc AC = 180°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3063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Worked: ∠AED = 133°, arc AB = 52°, AC is diameter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474720"/>
            <a:ext cx="54864" cy="13716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∠AEB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840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pair with ∠AED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180° − 133°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47°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4612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46120" y="3474720"/>
            <a:ext cx="54864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7" name="Text 25"/>
          <p:cNvSpPr/>
          <p:nvPr/>
        </p:nvSpPr>
        <p:spPr>
          <a:xfrm>
            <a:off x="34290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∠ACB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840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Inscribed ∠, arc AB=52°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½ × 52°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26°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3504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3474720"/>
            <a:ext cx="54864" cy="13716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arc CD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17920" y="37947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BC=128°, intersecting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133=½(AD+128)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AD=138°, CD=180−138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42°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Linear &amp; Angular Speed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91440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1440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Angular speed: ω = θ/t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(radians per unit time)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91440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0" y="91440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Linear speed: v = rω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(distance per unit time)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371600" y="2011680"/>
            <a:ext cx="6400800" cy="45720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0116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revolution = 2π radians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350 RPM, blade = 3 ft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82296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15468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Step 1: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angular 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ω = 350 rev/min × 2π rad/rev = 700π rad/min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Step 2: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linear speed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v = rω = 3 × 700π = 2100π ≈ 6,597.3 ft/min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Step 3: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mph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6597.3 ft/min × 60 min/hr ÷ 5280 ft/mi ≈ 75.0 mph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82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It!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0" y="228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Circles &amp; Linear Speed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91440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91440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0120" y="914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Inscribed angle intercepts a 96° arc. What is the angle?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178308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178308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17830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60120" y="17830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chords intersect. One pair of vertical angles makes arcs of 80° and 50°. Find the angle.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265176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265176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26517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60120" y="2651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wheel spins at 500 RPM with radius 2 ft. Find ft/min.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5029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520440"/>
            <a:ext cx="64008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352044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960120" y="3520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12,566.4 ft/min to mph.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760720" y="914400"/>
            <a:ext cx="3017520" cy="3337560"/>
          </a:xfrm>
          <a:prstGeom prst="rect">
            <a:avLst/>
          </a:prstGeom>
          <a:solidFill>
            <a:srgbClr val="1B2A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263640" y="9601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943600" y="1371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48°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943600" y="1874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½(80+50) = 65°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594360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v = 2000π ≈ 6283.2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5943600" y="2880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≈ 142.8 mph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E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82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Quiz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0" y="274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problems — try them all before checking answers!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868680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868680"/>
            <a:ext cx="54864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86868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868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$4,000 at 6% for 10 years compounded monthly. Find 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673352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1673352"/>
            <a:ext cx="54864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1673352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14400" y="167335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log₃(81) = 4 in exponential form.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478024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2478024"/>
            <a:ext cx="54864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2478024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14400" y="2478024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Solve: e^x = 20  (3 decimal places).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282696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282696"/>
            <a:ext cx="54864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3282696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14400" y="3282696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45°22'18" to decimal degrees (4 places).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087368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57200" y="4087368"/>
            <a:ext cx="54864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4087368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14400" y="408736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128.75° to DMS (nearest second).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846320" y="868680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846320" y="868680"/>
            <a:ext cx="54864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Text 25"/>
          <p:cNvSpPr/>
          <p:nvPr/>
        </p:nvSpPr>
        <p:spPr>
          <a:xfrm>
            <a:off x="4983480" y="868680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303520" y="8686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5π/6 radians to degrees (exact).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846320" y="1673352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846320" y="1673352"/>
            <a:ext cx="54864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Text 29"/>
          <p:cNvSpPr/>
          <p:nvPr/>
        </p:nvSpPr>
        <p:spPr>
          <a:xfrm>
            <a:off x="4983480" y="1673352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5303520" y="167335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length: r = 12, θ = 40°.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846320" y="2478024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4846320" y="2478024"/>
            <a:ext cx="54864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6" name="Text 33"/>
          <p:cNvSpPr/>
          <p:nvPr/>
        </p:nvSpPr>
        <p:spPr>
          <a:xfrm>
            <a:off x="4983480" y="2478024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8.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303520" y="2478024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area: r = 7, θ = 2π/3.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846320" y="3282696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846320" y="3282696"/>
            <a:ext cx="54864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0" name="Text 37"/>
          <p:cNvSpPr/>
          <p:nvPr/>
        </p:nvSpPr>
        <p:spPr>
          <a:xfrm>
            <a:off x="4983480" y="3282696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9.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5303520" y="3282696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Heron's formula: a = 5, b = 7, c = 9. Find area.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846320" y="4087368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4846320" y="4087368"/>
            <a:ext cx="54864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4" name="Text 41"/>
          <p:cNvSpPr/>
          <p:nvPr/>
        </p:nvSpPr>
        <p:spPr>
          <a:xfrm>
            <a:off x="4983480" y="4087368"/>
            <a:ext cx="320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303520" y="408736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RPM, radius 1.5 ft. Find linear speed in mph.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E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51560" y="182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Quiz — Answers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86868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8686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8686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$4,000 at 6%, n=12, t=10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8686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$7,277.59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1673352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1673352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1673352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167335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log₃(81) = 4 → exponential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926080" y="167335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3⁴ = 81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57200" y="2478024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478024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4"/>
          <p:cNvSpPr/>
          <p:nvPr/>
        </p:nvSpPr>
        <p:spPr>
          <a:xfrm>
            <a:off x="594360" y="2478024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68680" y="2478024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e^x = 20 → x = ln(20)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2926080" y="2478024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≈ 2.996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82696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" y="3282696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594360" y="3282696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68680" y="328269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45°22'18" → decimal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926080" y="3282696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45.3717°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087368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7200" y="4087368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4087368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68680" y="408736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128.75° → DMS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26080" y="408736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128°45'00"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846320" y="868680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846320" y="86868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29"/>
          <p:cNvSpPr/>
          <p:nvPr/>
        </p:nvSpPr>
        <p:spPr>
          <a:xfrm>
            <a:off x="4983480" y="86868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257800" y="8686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5π/6 → degrees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315200" y="8686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150°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4846320" y="1673352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4846320" y="1673352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4"/>
          <p:cNvSpPr/>
          <p:nvPr/>
        </p:nvSpPr>
        <p:spPr>
          <a:xfrm>
            <a:off x="4983480" y="1673352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5257800" y="167335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Arc: r=12, θ=40°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315200" y="167335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≈ 8.4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846320" y="2478024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4846320" y="2478024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2" name="Text 39"/>
          <p:cNvSpPr/>
          <p:nvPr/>
        </p:nvSpPr>
        <p:spPr>
          <a:xfrm>
            <a:off x="4983480" y="2478024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8.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5257800" y="2478024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Sector: r=7, θ=2π/3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7315200" y="2478024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≈ 51.3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4846320" y="3282696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4846320" y="3282696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7" name="Text 44"/>
          <p:cNvSpPr/>
          <p:nvPr/>
        </p:nvSpPr>
        <p:spPr>
          <a:xfrm>
            <a:off x="4983480" y="3282696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9.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5257800" y="3282696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Heron's: 5, 7, 9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7315200" y="3282696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≈ 17.4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4846320" y="4087368"/>
            <a:ext cx="41148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4846320" y="4087368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2" name="Text 49"/>
          <p:cNvSpPr/>
          <p:nvPr/>
        </p:nvSpPr>
        <p:spPr>
          <a:xfrm>
            <a:off x="4983480" y="4087368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5257800" y="408736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RPM, r=1.5 ft → mph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7315200" y="408736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64.3 mph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Formula Cheat Sheet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77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Interest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011680" y="777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P(1 + r/n)^(nt)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35608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3560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11680" y="14356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Pe^(rt)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93976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0939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↔ Exp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09397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b^y = x  ⟺  logᵦ(x) = 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752344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75234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 → Decimal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11680" y="275234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+ M/60 + S/3600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10712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107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 → Deg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11680" y="341071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180/π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069080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069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 → Rad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0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π/180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777240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777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Length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63640" y="777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rθ  (rad)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1435608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143560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Area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63640" y="14356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½r²θ  (rad)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09160" y="2093976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29" name="Text 27"/>
          <p:cNvSpPr/>
          <p:nvPr/>
        </p:nvSpPr>
        <p:spPr>
          <a:xfrm>
            <a:off x="4800600" y="20939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Heron's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63640" y="209397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√[s(s-a)(s-b)(s-c)]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709160" y="2752344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2" name="Text 30"/>
          <p:cNvSpPr/>
          <p:nvPr/>
        </p:nvSpPr>
        <p:spPr>
          <a:xfrm>
            <a:off x="4800600" y="275234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Trapezoid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63640" y="275234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½(b₁+b₂)h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709160" y="3410712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5" name="Text 33"/>
          <p:cNvSpPr/>
          <p:nvPr/>
        </p:nvSpPr>
        <p:spPr>
          <a:xfrm>
            <a:off x="4800600" y="34107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Inscribed ∠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63640" y="341071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½ (intercepted arc)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09160" y="4069080"/>
            <a:ext cx="3977640" cy="54864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8" name="Text 36"/>
          <p:cNvSpPr/>
          <p:nvPr/>
        </p:nvSpPr>
        <p:spPr>
          <a:xfrm>
            <a:off x="4800600" y="4069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Speed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63640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 = rω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luck on the test! Remember: show all work for full credit.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Example: Multi-Step Trapezoid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868680"/>
            <a:ext cx="3931920" cy="411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Find the Height (Pythagorean Thm)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b₁ = 4.5 m, b₂ = 10.1 m, slant = 7.0 m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10.1 − 4.5 = 5.6 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h² + 5.6² = 7.0²  →  h² = 49 − 31.36 = 17.64</a:t>
            </a:r>
            <a:endParaRPr lang="en-US" sz="13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√17.64 = 4.2 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39319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868680"/>
            <a:ext cx="3931920" cy="411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868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Compute the Area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½(4.5 + 10.1)(4.2)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½(14.6)(4.2)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30.66 m²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8229600" cy="146304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383280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8872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strategy for trapezoid problems: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2960" y="374904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1: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Find the horizontal difference d = b₂ − b₁. This is one leg of the hidden right triangle.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2: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Use Pythagorean theorem: h² + d² = slant², solve for h.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3: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Plug into A = ½(b₁ + b₂)h. Don’t forget square units!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 130 Test 2 Review</dc:title>
  <dc:subject>PptxGenJS Presentation</dc:subject>
  <dc:creator>Math 130</dc:creator>
  <cp:lastModifiedBy>Math 130</cp:lastModifiedBy>
  <cp:revision>1</cp:revision>
  <dcterms:created xsi:type="dcterms:W3CDTF">2026-03-01T17:20:16Z</dcterms:created>
  <dcterms:modified xsi:type="dcterms:W3CDTF">2026-03-01T17:20:16Z</dcterms:modified>
</cp:coreProperties>
</file>