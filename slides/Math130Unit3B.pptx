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13547A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3657600" cy="3657600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5.3  |  Trigonometric Functions of Any Angle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130: Advanced Technical Mathematics  |  Unit 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4206240"/>
            <a:ext cx="2286000" cy="54864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54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1C7293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Trigonometric Functions of Any Angle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5.3 — Topics Covered (8 Skills)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 angle |θ| &lt; 360° and its reference angle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55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angles in degrees: Problem type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5798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 angle |θ| &gt; 360° and its reference angle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6090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angles in degrees: Problem type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 angle |θ| &lt; 2π and its reference angle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655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angles in radians: Problem type 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215798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point location from trig sign info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66090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trig values given angle information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 Functions of Any Angle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Definition: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angle θ in standard position with point P(x, y) on the terminal side at distance r from the origin (r = √(x² + y²)):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θ = y/r          csc θ = r/y   (y ≠ 0)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θ = x/r          sec θ = r/x   (x ≠ 0)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θ = y/x   (x ≠ 0)     cot θ = x/y   (y ≠ 0)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 is always positive, so the signs of trig functions depend on the signs of x and 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Angles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Angle: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acute angle (between 0° and 90°) formed between the terminal side of an angle and the x-axis. Always measured to the nearest part of the x-axis.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I:   θ' = 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II:  θ' = 180° − θ          (or π − θ in radians)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III: θ' = θ − 180°          (or θ − π in radians)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IV:  θ' = 360° − θ          (or 2π − θ in radians)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Angle &lt; 360° and Its Reference Angle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θ = 225° in standard position and find its reference angle.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225° is in Quadrant III (between 180° and 270°)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angle: θ' = 225° − 180° = 45°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side makes a 45° angle with the negative x-axis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 trig values for 225° equal those for 45° (with appropriate signs)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Reference Angles in Degrees (Type 1)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reference angle for each: (a) 150°   (b) 310°   (c) 240°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150° is in Q II: θ' = 180° − 150° = 30°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310° is in Q IV: θ' = 360° − 310° = 50°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240° is in Q III: θ' = 240° − 180° = 60°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Angle &gt; 360° and Its Reference Angle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θ = 495° in standard position and find its reference angle.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First, find the coterminal angle: 495° − 360° = 135°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135° is in Quadrant II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angle: θ' = 180° − 135° = 45°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495° has the same terminal side as 135° with reference angle 45°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Reference Angles in Degrees (Type 2)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reference angle for each: (a) −120°   (b) 580°   (c) −315°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−120°: coterminal = −120° + 360° = 240° → Q III → θ' = 240° − 180° = 60°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580°: coterminal = 580° − 360° = 220° → Q III → θ' = 220° − 180° = 40°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−315°: coterminal = −315° + 360° = 45° → Q I → θ' = 45°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Angle &lt; 2π and Its Reference Angle (Radians)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θ = 5π/6 in standard position and find its reference angle.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5π/6 ≈ 150° → Quadrant II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angle: θ' = π − 5π/6 = π/6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sin(5π/6) = sin(π/6) = 1/2   (positive in Q II)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cos(5π/6) = −cos(π/6) = −√3/2   (negative in Q II)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Reference Angles in Radians (Type 1)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reference angle: (a) 2π/3   (b) 7π/4   (c) 4π/3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2π/3 is in Q II: θ' = π − 2π/3 = π/3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7π/4 is in Q IV: θ' = 2π − 7π/4 = π/4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4π/3 is in Q III: θ' = 4π/3 − π = π/3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of Trigonometric Functions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3566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Quadrant I (x &gt; 0, y &gt; 0):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All functions are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Quadrant II (x &lt; 0, y &gt; 0):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sin and csc are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cos, sec, tan, cot are negative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2801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54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Quadrants III and IV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Quadrant III (x &lt; 0, y &lt; 0):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tan and cot are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sin, cos, csc, sec are negative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Quadrant IV (x &gt; 0, y &lt; 0):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cos and sec are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sin, csc, tan, cot are negative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Aid: "All Students Take Calculus"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mnemonic for which functions are positive in each quadrant: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I:  All (A) — all trig functions are positive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II: Students (S) — Sine (and cosecant) are positive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III: Take (T) — Tangent (and cotangent) are positive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IV: Calculus (C) — Cosine (and secant) are positive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mnemonic goes counterclockwise starting from Q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Determining Terminal Point Location from Signs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quadrant of θ given: (a) tan θ &gt; 0 and cos θ &lt; 0   (b) sin θ &gt; 0 and sec θ &lt;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tan &gt; 0 in Q I or Q III; cos &lt; 0 in Q II or Q III → Answer: Quadrant III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sin &gt; 0 in Q I or Q II; sec &lt; 0 means cos &lt; 0, in Q II or Q III → Answer: Quadrant II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List where each condition is true, then find the intersection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Finding Trig Values Given Information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the terminal side of θ passes through (−3, 4). Find all six trig values.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−3, y = 4 → r = √(9 + 16) = √25 =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θ = y/r = 4/5          csc θ = r/y = 5/4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θ = x/r = −3/5          sec θ = r/x = −5/3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θ = y/x = −4/3          cot θ = x/y = −3/4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is in Q II, so sin is positive, cos and tan are negative ✓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Given One Trig Value, Find Others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tan θ = −3/4 and sin θ &lt; 0, find cos θ and sin θ.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&lt; 0 and sin &lt; 0 → θ is in Quadrant IV (tan negative, sin negative)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 IV: x &gt; 0, y &lt; 0 → use point (4, −3)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√(16 + 9) = √25 =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θ = −3/5          cos θ = 4/5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use identity sin²θ + cos²θ = 1 after finding one value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Values at Common Angles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30° = 1/2      cos 30° = √3/2      tan 30° = √3/3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45° = √2/2    cos 45° = √2/2      tan 45° = 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60° = √3/2    cos 60° = 1/2        tan 60° = √3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520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0° = 0          cos 0° = 1            tan 0° = 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2976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90° = 1        cos 90° = 0          tan 90° = undefined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51663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reference angles and quadrant signs to evaluate trig functions at any multiple of 30° or 45°.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Evaluating with Reference Angles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exact value of sin 240° and cos 315°.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240°: Reference angle = 240° − 180° = 60°, Q III → sin is negative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sin 240° = −sin 60° = −√3/2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315°: Reference angle = 360° − 315° = 45°, Q IV → cos is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cos 315° = cos 45° = √2/2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of a Triangle Using Trigonometry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(1/2) b c sin A    (two sides and the included angle)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(1/2) a b sin C    (equivalent with different labeling)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(1/2) a c sin B    (equivalent with different labeling)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formula works for any triangle (not just right triangles) when you know two sides and the included angle. Since sin θ &gt; 0 for 0° &lt; θ &lt; 180°, the area is always positive.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Area of a Triangle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area of a triangle with sides a = 19, b = 17, and included angle C = 40°.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(1/2)(19)(17) sin 40°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(1/2)(323)(0.6428)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≈ 103.8 square units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3547A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11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angles: always acute, always measured to the x-axis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of trig functions: remember 'All Students Take Calculus'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general definitions (x, y, r) for trig functions at any angle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angle + quadrant sign = exact trig values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a triangle = (1/2) ab sin C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ALEKS topics total for this module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11: Sections 5.3, 5.7</dc:title>
  <dc:subject>PptxGenJS Presentation</dc:subject>
  <dc:creator>Math 130</dc:creator>
  <cp:lastModifiedBy>Math 130</cp:lastModifiedBy>
  <cp:revision>1</cp:revision>
  <dcterms:created xsi:type="dcterms:W3CDTF">2026-03-11T16:37:54Z</dcterms:created>
  <dcterms:modified xsi:type="dcterms:W3CDTF">2026-03-11T16:37:54Z</dcterms:modified>
</cp:coreProperties>
</file>