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408" r:id="rId2"/>
    <p:sldId id="440" r:id="rId3"/>
    <p:sldId id="321" r:id="rId4"/>
    <p:sldId id="326" r:id="rId5"/>
    <p:sldId id="329" r:id="rId6"/>
    <p:sldId id="365" r:id="rId7"/>
    <p:sldId id="336" r:id="rId8"/>
    <p:sldId id="427" r:id="rId9"/>
    <p:sldId id="428" r:id="rId10"/>
    <p:sldId id="412" r:id="rId11"/>
    <p:sldId id="413" r:id="rId12"/>
    <p:sldId id="441" r:id="rId13"/>
    <p:sldId id="414" r:id="rId14"/>
    <p:sldId id="415" r:id="rId15"/>
    <p:sldId id="416" r:id="rId16"/>
    <p:sldId id="433" r:id="rId17"/>
    <p:sldId id="449" r:id="rId18"/>
    <p:sldId id="417" r:id="rId19"/>
    <p:sldId id="451" r:id="rId20"/>
    <p:sldId id="450" r:id="rId21"/>
    <p:sldId id="418" r:id="rId22"/>
    <p:sldId id="434" r:id="rId23"/>
    <p:sldId id="425" r:id="rId24"/>
    <p:sldId id="452" r:id="rId25"/>
    <p:sldId id="439" r:id="rId26"/>
    <p:sldId id="436" r:id="rId27"/>
    <p:sldId id="437" r:id="rId28"/>
    <p:sldId id="442" r:id="rId29"/>
    <p:sldId id="443" r:id="rId30"/>
    <p:sldId id="438" r:id="rId31"/>
    <p:sldId id="424" r:id="rId32"/>
  </p:sldIdLst>
  <p:sldSz cx="9144000" cy="6858000" type="screen4x3"/>
  <p:notesSz cx="7315200" cy="9601200"/>
  <p:custDataLst>
    <p:tags r:id="rId3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00FF"/>
    <a:srgbClr val="000066"/>
    <a:srgbClr val="FFFF00"/>
    <a:srgbClr val="00660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58" autoAdjust="0"/>
    <p:restoredTop sz="85827" autoAdjust="0"/>
  </p:normalViewPr>
  <p:slideViewPr>
    <p:cSldViewPr>
      <p:cViewPr varScale="1">
        <p:scale>
          <a:sx n="71" d="100"/>
          <a:sy n="71" d="100"/>
        </p:scale>
        <p:origin x="1642" y="4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130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391C066D-3AF1-4B4F-9031-B75B3FD2C054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A4D49327-9843-45D3-98E9-241379F73B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12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</a:t>
            </a:r>
            <a:r>
              <a:rPr lang="en-US"/>
              <a:t>slide before TAP on 4 Nov 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38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473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227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552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slide on </a:t>
            </a:r>
            <a:r>
              <a:rPr lang="en-US"/>
              <a:t>17 Oct 2018</a:t>
            </a:r>
          </a:p>
          <a:p>
            <a:r>
              <a:rPr lang="en-US" dirty="0"/>
              <a:t>Last slide on 9 Oct 2017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2160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slide on 3 Nov 2025</a:t>
            </a:r>
          </a:p>
          <a:p>
            <a:r>
              <a:rPr lang="en-US" dirty="0"/>
              <a:t>Last slide on 11 Nov 2022</a:t>
            </a:r>
          </a:p>
          <a:p>
            <a:r>
              <a:rPr lang="en-US" dirty="0"/>
              <a:t>Last slide on 28 Mar 2022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192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slide on 19 Apr 2021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547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Last slide on 3 Nov 2023</a:t>
            </a:r>
          </a:p>
          <a:p>
            <a:r>
              <a:rPr lang="en-US" dirty="0"/>
              <a:t>Last slide on 6 Apr</a:t>
            </a:r>
            <a:r>
              <a:rPr lang="en-US" baseline="0" dirty="0"/>
              <a:t> 2020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698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slide on 17 Apr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9804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slide on 3 Apr 2024.  Give take-home 5.2-5.3 quiz on Friday.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0415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Last slide on 5 Nov 2025</a:t>
            </a:r>
          </a:p>
          <a:p>
            <a:r>
              <a:rPr lang="en-US" dirty="0"/>
              <a:t>Last slide on 4 Apr 2025</a:t>
            </a:r>
          </a:p>
          <a:p>
            <a:r>
              <a:rPr lang="en-US" dirty="0"/>
              <a:t>Last slide on 6 Nov 2024.  Gave Quiz 10 as a take-home.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1822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values of sin(0.4), sin(pi – 0.4), sin(pi+0.4), sin(-0.4)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46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Last slide on 26 Mar 2018.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7187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Last slide on 7 Apr 2025.  Either no quiz or </a:t>
            </a:r>
            <a:r>
              <a:rPr lang="en-US"/>
              <a:t>a take-home </a:t>
            </a:r>
            <a:r>
              <a:rPr lang="en-US" dirty="0"/>
              <a:t>quiz on Wednesday.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Last slide on 8 Nov 2024.  Only did first example.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Last slide on 19 Apr 2023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Last slide on 10 Nov 2021.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Last slide on 11 Nov 2020</a:t>
            </a:r>
          </a:p>
          <a:p>
            <a:r>
              <a:rPr lang="en-US" dirty="0"/>
              <a:t>Last slide on 28 Mar 2018.  These take a while.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9262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0EE51-4D59-3EEB-5C41-A76617452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150C42-036B-8246-3AE7-4C484F3B9D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DD91E-0A81-7D5E-8401-578B1FC54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Last slide on 7 Nov 2025.  </a:t>
            </a:r>
            <a:r>
              <a:rPr lang="en-US"/>
              <a:t>Only finished a).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Last slide on 7 Apr 2025.  Either no quiz or a take-home quiz on Wednesday.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Last slide on 8 Nov 2024.  Only did first example.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Last slide on 19 Apr 2023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Last slide on 10 Nov 2021.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Last slide on 11 Nov 2020</a:t>
            </a:r>
          </a:p>
          <a:p>
            <a:r>
              <a:rPr lang="en-US" dirty="0"/>
              <a:t>Last slide on 28 Mar 2018.  These take a while.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06EA92-D0E3-926D-2537-F6943FA7B3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694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8598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6567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Last slide on 5 Apr 2024  Did not do an example.</a:t>
            </a:r>
          </a:p>
          <a:p>
            <a:r>
              <a:rPr lang="en-US" dirty="0"/>
              <a:t>Last slide on 1 Apr 2022  Did not do an example.</a:t>
            </a:r>
          </a:p>
          <a:p>
            <a:r>
              <a:rPr lang="en-US" dirty="0"/>
              <a:t>Last slide on 21 Apr 2021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8172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slide on 10 Nov 2025.  Don’t put this on the quiz (unless it’s in the practice questions).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3988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slide on 8 Apr 2020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9892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Last slide on 8 Nov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485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"/>
            <a:ext cx="7498080" cy="1143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498080" cy="4800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906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906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54AB02A5-4FE5-49D9-9E24-09F23B90C450}" type="datetimeFigureOut">
              <a:rPr lang="en-US" smtClean="0"/>
              <a:pPr algn="r" eaLnBrk="1" latinLnBrk="0" hangingPunct="1"/>
              <a:t>11/10/2025</a:t>
            </a:fld>
            <a:endParaRPr lang="en-US" sz="120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sz="120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6294C92D-0306-4E69-9CD3-20855E849650}" type="slidenum">
              <a:rPr kumimoji="0" lang="en-US" smtClean="0"/>
              <a:pPr algn="ctr" eaLnBrk="1" latinLnBrk="0" hangingPunct="1"/>
              <a:t>‹#›</a:t>
            </a:fld>
            <a:endParaRPr kumimoji="0" lang="en-US" sz="120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762000" y="76200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762000" y="12192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 algn="r" eaLnBrk="1" latinLnBrk="0" hangingPunct="1"/>
            <a:fld id="{54AB02A5-4FE5-49D9-9E24-09F23B90C450}" type="datetimeFigureOut">
              <a:rPr lang="en-US" smtClean="0"/>
              <a:pPr algn="r" eaLnBrk="1" latinLnBrk="0" hangingPunct="1"/>
              <a:t>11/10/2025</a:t>
            </a:fld>
            <a:endParaRPr lang="en-US" sz="120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kumimoji="0" lang="en-US" sz="120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ctr" eaLnBrk="1" latinLnBrk="0" hangingPunct="1"/>
            <a:fld id="{6294C92D-0306-4E69-9CD3-20855E849650}" type="slidenum">
              <a:rPr kumimoji="0" lang="en-US" smtClean="0"/>
              <a:pPr algn="ctr" eaLnBrk="1" latinLnBrk="0" hangingPunct="1"/>
              <a:t>‹#›</a:t>
            </a:fld>
            <a:endParaRPr kumimoji="0" lang="en-US" sz="120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grpSp>
        <p:nvGrpSpPr>
          <p:cNvPr id="13" name="Group 2"/>
          <p:cNvGrpSpPr>
            <a:grpSpLocks/>
          </p:cNvGrpSpPr>
          <p:nvPr userDrawn="1"/>
        </p:nvGrpSpPr>
        <p:grpSpPr bwMode="auto">
          <a:xfrm>
            <a:off x="228600" y="381000"/>
            <a:ext cx="533400" cy="6096000"/>
            <a:chOff x="144" y="240"/>
            <a:chExt cx="336" cy="3840"/>
          </a:xfrm>
        </p:grpSpPr>
        <p:sp>
          <p:nvSpPr>
            <p:cNvPr id="14" name="Rectangle 3"/>
            <p:cNvSpPr>
              <a:spLocks noChangeArrowheads="1"/>
            </p:cNvSpPr>
            <p:nvPr/>
          </p:nvSpPr>
          <p:spPr bwMode="auto">
            <a:xfrm>
              <a:off x="144" y="240"/>
              <a:ext cx="288" cy="38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4"/>
            <p:cNvSpPr>
              <a:spLocks noChangeArrowheads="1"/>
            </p:cNvSpPr>
            <p:nvPr/>
          </p:nvSpPr>
          <p:spPr bwMode="auto">
            <a:xfrm>
              <a:off x="336" y="240"/>
              <a:ext cx="96" cy="3840"/>
            </a:xfrm>
            <a:prstGeom prst="rect">
              <a:avLst/>
            </a:prstGeom>
            <a:solidFill>
              <a:srgbClr val="0099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Rectangle 5"/>
            <p:cNvSpPr>
              <a:spLocks noChangeArrowheads="1"/>
            </p:cNvSpPr>
            <p:nvPr/>
          </p:nvSpPr>
          <p:spPr bwMode="auto">
            <a:xfrm>
              <a:off x="432" y="240"/>
              <a:ext cx="48" cy="384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rgbClr val="000066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7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90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9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3.png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0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5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600325"/>
            <a:ext cx="5638800" cy="2286000"/>
          </a:xfrm>
        </p:spPr>
        <p:txBody>
          <a:bodyPr>
            <a:normAutofit/>
          </a:bodyPr>
          <a:lstStyle/>
          <a:p>
            <a:r>
              <a:rPr lang="en-US" sz="2800" dirty="0"/>
              <a:t>trigonometric functions of any angle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8400" y="1066800"/>
            <a:ext cx="6400800" cy="1509712"/>
          </a:xfrm>
        </p:spPr>
        <p:txBody>
          <a:bodyPr>
            <a:normAutofit/>
          </a:bodyPr>
          <a:lstStyle/>
          <a:p>
            <a:r>
              <a:rPr lang="en-US" sz="3600" dirty="0"/>
              <a:t>5.3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1183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Trigonometric Functions at Any 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1219200"/>
                <a:ext cx="7924800" cy="4800600"/>
              </a:xfrm>
            </p:spPr>
            <p:txBody>
              <a:bodyPr>
                <a:normAutofit/>
              </a:bodyPr>
              <a:lstStyle/>
              <a:p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Let </a:t>
                </a:r>
                <a:r>
                  <a:rPr lang="en-US" sz="2200" i="1" dirty="0">
                    <a:solidFill>
                      <a:srgbClr val="0000CC"/>
                    </a:solidFill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</a:t>
                </a:r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 be an angle in </a:t>
                </a:r>
                <a:r>
                  <a:rPr lang="en-US" sz="2200" i="1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standard position </a:t>
                </a:r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sym typeface="Symbol" panose="05050102010706020507" pitchFamily="18" charset="2"/>
                      </a:rPr>
                      <m:t>(</m:t>
                    </m:r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sym typeface="Symbol" panose="05050102010706020507" pitchFamily="18" charset="2"/>
                      </a:rPr>
                      <m:t>𝑦</m:t>
                    </m:r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 a point on the terminal side.  </a:t>
                </a:r>
              </a:p>
              <a:p>
                <a:pPr marL="344488" indent="-263525">
                  <a:buNone/>
                  <a:tabLst>
                    <a:tab pos="341313" algn="l"/>
                  </a:tabLst>
                </a:pPr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	The distance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sym typeface="Symbol" panose="05050102010706020507" pitchFamily="18" charset="2"/>
                      </a:rPr>
                      <m:t>𝑟</m:t>
                    </m:r>
                  </m:oMath>
                </a14:m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 from the point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sym typeface="Symbol" panose="05050102010706020507" pitchFamily="18" charset="2"/>
                      </a:rPr>
                      <m:t>(</m:t>
                    </m:r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sym typeface="Symbol" panose="05050102010706020507" pitchFamily="18" charset="2"/>
                      </a:rPr>
                      <m:t>𝑦</m:t>
                    </m:r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en-US" sz="22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to the origin </a:t>
                </a:r>
                <a:r>
                  <a:rPr lang="en-US" sz="2200" dirty="0">
                    <a:solidFill>
                      <a:srgbClr val="0000CC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(0,0)</a:t>
                </a:r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is given by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𝑟</m:t>
                    </m:r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2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2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−0</m:t>
                                </m:r>
                              </m:e>
                            </m:d>
                          </m:e>
                          <m:sup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2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2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−0</m:t>
                                </m:r>
                              </m:e>
                            </m:d>
                          </m:e>
                          <m:sup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22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pPr marL="344488" indent="-263525">
                  <a:buNone/>
                  <a:tabLst>
                    <a:tab pos="341313" algn="l"/>
                  </a:tabLst>
                </a:pPr>
                <a:endParaRPr lang="en-US" sz="2200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219200"/>
                <a:ext cx="7924800" cy="4800600"/>
              </a:xfrm>
              <a:blipFill>
                <a:blip r:embed="rId2"/>
                <a:stretch>
                  <a:fillRect t="-888" r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90B5130-7865-54EF-B726-7D9C2DC990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5682"/>
          <a:stretch/>
        </p:blipFill>
        <p:spPr>
          <a:xfrm>
            <a:off x="2286000" y="4682639"/>
            <a:ext cx="2792110" cy="213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921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Trigonometric Functions at Any 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1219200"/>
                <a:ext cx="7924800" cy="4800600"/>
              </a:xfrm>
            </p:spPr>
            <p:txBody>
              <a:bodyPr>
                <a:normAutofit/>
              </a:bodyPr>
              <a:lstStyle/>
              <a:p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Let </a:t>
                </a:r>
                <a:r>
                  <a:rPr lang="en-US" sz="2200" i="1" dirty="0">
                    <a:solidFill>
                      <a:srgbClr val="0000CC"/>
                    </a:solidFill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</a:t>
                </a:r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 be an angle in </a:t>
                </a:r>
                <a:r>
                  <a:rPr lang="en-US" sz="2200" i="1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standard position </a:t>
                </a:r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sym typeface="Symbol" panose="05050102010706020507" pitchFamily="18" charset="2"/>
                      </a:rPr>
                      <m:t>(</m:t>
                    </m:r>
                    <m:r>
                      <a:rPr lang="en-US" sz="22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US" sz="22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  <m:r>
                      <a:rPr lang="en-US" sz="22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sym typeface="Symbol" panose="05050102010706020507" pitchFamily="18" charset="2"/>
                      </a:rPr>
                      <m:t>𝑦</m:t>
                    </m:r>
                    <m:r>
                      <a:rPr lang="en-US" sz="22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 a point on the terminal side.  </a:t>
                </a:r>
              </a:p>
              <a:p>
                <a:pPr marL="342900" indent="-261938">
                  <a:buNone/>
                  <a:tabLst>
                    <a:tab pos="341313" algn="l"/>
                  </a:tabLst>
                </a:pPr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	We define the six trigonometric functions as follows, with 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sym typeface="Symbol" panose="05050102010706020507" pitchFamily="18" charset="2"/>
                      </a:rPr>
                      <m:t>𝑟</m:t>
                    </m:r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sym typeface="Symbol" panose="05050102010706020507" pitchFamily="18" charset="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p>
                        </m:sSup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sym typeface="Symbol" panose="05050102010706020507" pitchFamily="18" charset="2"/>
                          </a:rPr>
                          <m:t>+</m:t>
                        </m:r>
                        <m:sSup>
                          <m:sSupPr>
                            <m:ctrlP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 :</a:t>
                </a:r>
              </a:p>
              <a:p>
                <a:pPr marL="342900" indent="-261938">
                  <a:buNone/>
                  <a:tabLst>
                    <a:tab pos="341313" algn="l"/>
                  </a:tabLst>
                </a:pPr>
                <a:endParaRPr lang="en-US" sz="2200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219200"/>
                <a:ext cx="7924800" cy="4800600"/>
              </a:xfrm>
              <a:blipFill>
                <a:blip r:embed="rId3"/>
                <a:stretch>
                  <a:fillRect t="-8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3313" name="Picture 801" descr=" 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725" y="4718875"/>
            <a:ext cx="2256217" cy="1970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5204478"/>
                  </p:ext>
                </p:extLst>
              </p:nvPr>
            </p:nvGraphicFramePr>
            <p:xfrm>
              <a:off x="1981200" y="2819400"/>
              <a:ext cx="6040578" cy="183546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13526">
                      <a:extLst>
                        <a:ext uri="{9D8B030D-6E8A-4147-A177-3AD203B41FA5}">
                          <a16:colId xmlns:a16="http://schemas.microsoft.com/office/drawing/2014/main" val="1844905867"/>
                        </a:ext>
                      </a:extLst>
                    </a:gridCol>
                    <a:gridCol w="2013526">
                      <a:extLst>
                        <a:ext uri="{9D8B030D-6E8A-4147-A177-3AD203B41FA5}">
                          <a16:colId xmlns:a16="http://schemas.microsoft.com/office/drawing/2014/main" val="374076033"/>
                        </a:ext>
                      </a:extLst>
                    </a:gridCol>
                    <a:gridCol w="2013526">
                      <a:extLst>
                        <a:ext uri="{9D8B030D-6E8A-4147-A177-3AD203B41FA5}">
                          <a16:colId xmlns:a16="http://schemas.microsoft.com/office/drawing/2014/main" val="3911912400"/>
                        </a:ext>
                      </a:extLst>
                    </a:gridCol>
                  </a:tblGrid>
                  <a:tr h="87937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sz="24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sz="24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</m:fName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sz="24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1991977"/>
                      </a:ext>
                    </a:extLst>
                  </a:tr>
                  <a:tr h="95609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csc</m:t>
                                    </m:r>
                                  </m:fName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sz="24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sec</m:t>
                                    </m:r>
                                  </m:fName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sz="24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cot</m:t>
                                    </m:r>
                                  </m:fName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sz="24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571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5204478"/>
                  </p:ext>
                </p:extLst>
              </p:nvPr>
            </p:nvGraphicFramePr>
            <p:xfrm>
              <a:off x="1981200" y="2819400"/>
              <a:ext cx="6040578" cy="183546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13526">
                      <a:extLst>
                        <a:ext uri="{9D8B030D-6E8A-4147-A177-3AD203B41FA5}">
                          <a16:colId xmlns:a16="http://schemas.microsoft.com/office/drawing/2014/main" val="1844905867"/>
                        </a:ext>
                      </a:extLst>
                    </a:gridCol>
                    <a:gridCol w="2013526">
                      <a:extLst>
                        <a:ext uri="{9D8B030D-6E8A-4147-A177-3AD203B41FA5}">
                          <a16:colId xmlns:a16="http://schemas.microsoft.com/office/drawing/2014/main" val="374076033"/>
                        </a:ext>
                      </a:extLst>
                    </a:gridCol>
                    <a:gridCol w="2013526">
                      <a:extLst>
                        <a:ext uri="{9D8B030D-6E8A-4147-A177-3AD203B41FA5}">
                          <a16:colId xmlns:a16="http://schemas.microsoft.com/office/drawing/2014/main" val="3911912400"/>
                        </a:ext>
                      </a:extLst>
                    </a:gridCol>
                  </a:tblGrid>
                  <a:tr h="8793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606" t="-690" r="-200909" b="-109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0302" t="-690" r="-100302" b="-109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0909" t="-690" r="-606" b="-1096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1991977"/>
                      </a:ext>
                    </a:extLst>
                  </a:tr>
                  <a:tr h="9560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606" t="-92994" r="-200909" b="-12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0302" t="-92994" r="-100302" b="-12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0909" t="-92994" r="-606" b="-12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57118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6"/>
          <a:srcRect b="15682"/>
          <a:stretch/>
        </p:blipFill>
        <p:spPr>
          <a:xfrm>
            <a:off x="2286000" y="4682639"/>
            <a:ext cx="2792110" cy="213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667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3"/>
          <a:srcRect b="15682"/>
          <a:stretch/>
        </p:blipFill>
        <p:spPr>
          <a:xfrm>
            <a:off x="3541712" y="4866243"/>
            <a:ext cx="2189072" cy="1676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 – Finding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924800" cy="4800600"/>
          </a:xfrm>
        </p:spPr>
        <p:txBody>
          <a:bodyPr>
            <a:normAutofit/>
          </a:bodyPr>
          <a:lstStyle/>
          <a:p>
            <a:r>
              <a:rPr lang="en-US" sz="2200" dirty="0"/>
              <a:t>Let </a:t>
            </a:r>
            <a:r>
              <a:rPr lang="en-US" sz="2200" i="1" dirty="0">
                <a:solidFill>
                  <a:srgbClr val="0000CC"/>
                </a:solidFill>
                <a:sym typeface="Symbol" panose="05050102010706020507" pitchFamily="18" charset="2"/>
              </a:rPr>
              <a:t></a:t>
            </a:r>
            <a:r>
              <a:rPr lang="en-US" sz="2200" dirty="0">
                <a:sym typeface="Symbol" panose="05050102010706020507" pitchFamily="18" charset="2"/>
              </a:rPr>
              <a:t> be an angle in standard position whose terminal side goes through the point </a:t>
            </a:r>
            <a:r>
              <a:rPr lang="en-US" sz="2200" dirty="0">
                <a:solidFill>
                  <a:srgbClr val="0000CC"/>
                </a:solidFill>
                <a:sym typeface="Symbol" panose="05050102010706020507" pitchFamily="18" charset="2"/>
              </a:rPr>
              <a:t>(3, 4)</a:t>
            </a:r>
            <a:r>
              <a:rPr lang="en-US" sz="2200" dirty="0">
                <a:sym typeface="Symbol" panose="05050102010706020507" pitchFamily="18" charset="2"/>
              </a:rPr>
              <a:t>.  </a:t>
            </a:r>
          </a:p>
          <a:p>
            <a:pPr marL="82296" indent="0">
              <a:buNone/>
              <a:tabLst>
                <a:tab pos="341313" algn="l"/>
              </a:tabLst>
            </a:pPr>
            <a:r>
              <a:rPr lang="en-US" sz="2200" dirty="0">
                <a:sym typeface="Symbol" panose="05050102010706020507" pitchFamily="18" charset="2"/>
              </a:rPr>
              <a:t>	Find the values of the six trigonometric functions of </a:t>
            </a:r>
            <a:r>
              <a:rPr lang="en-US" sz="2200" i="1" dirty="0">
                <a:solidFill>
                  <a:srgbClr val="0000CC"/>
                </a:solidFill>
                <a:sym typeface="Symbol" panose="05050102010706020507" pitchFamily="18" charset="2"/>
              </a:rPr>
              <a:t></a:t>
            </a:r>
            <a:r>
              <a:rPr lang="en-US" sz="2200" dirty="0">
                <a:sym typeface="Symbol" panose="05050102010706020507" pitchFamily="18" charset="2"/>
              </a:rPr>
              <a:t>.</a:t>
            </a:r>
            <a:endParaRPr lang="en-US" sz="2200" i="1" dirty="0"/>
          </a:p>
        </p:txBody>
      </p:sp>
      <p:sp>
        <p:nvSpPr>
          <p:cNvPr id="13" name="Rectangle 12"/>
          <p:cNvSpPr/>
          <p:nvPr/>
        </p:nvSpPr>
        <p:spPr>
          <a:xfrm rot="19317208">
            <a:off x="4506002" y="5074426"/>
            <a:ext cx="507142" cy="3280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419600" y="4964668"/>
            <a:ext cx="73289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i="1" dirty="0">
                <a:solidFill>
                  <a:srgbClr val="0000CC"/>
                </a:solidFill>
                <a:sym typeface="Symbol" panose="05050102010706020507" pitchFamily="18" charset="2"/>
              </a:rPr>
              <a:t>  </a:t>
            </a:r>
            <a:r>
              <a:rPr lang="en-US" sz="1600" dirty="0">
                <a:solidFill>
                  <a:srgbClr val="0000CC"/>
                </a:solidFill>
                <a:sym typeface="Symbol" panose="05050102010706020507" pitchFamily="18" charset="2"/>
              </a:rPr>
              <a:t>(3, 4)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270972" y="4953000"/>
                <a:ext cx="1720727" cy="11285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200" b="0" dirty="0">
                    <a:solidFill>
                      <a:srgbClr val="0000CC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sz="2200" dirty="0">
                  <a:solidFill>
                    <a:srgbClr val="0000CC"/>
                  </a:solidFill>
                </a:endParaRPr>
              </a:p>
              <a:p>
                <a:r>
                  <a:rPr lang="en-US" sz="2200" b="0" dirty="0">
                    <a:solidFill>
                      <a:srgbClr val="0000CC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sz="2200" b="0" i="1" dirty="0">
                  <a:solidFill>
                    <a:srgbClr val="0000CC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2200" b="0" dirty="0">
                    <a:solidFill>
                      <a:srgbClr val="0000CC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sz="2200" dirty="0">
                  <a:solidFill>
                    <a:srgbClr val="0000CC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0972" y="4953000"/>
                <a:ext cx="1720727" cy="1128579"/>
              </a:xfrm>
              <a:prstGeom prst="rect">
                <a:avLst/>
              </a:prstGeom>
              <a:blipFill>
                <a:blip r:embed="rId4"/>
                <a:stretch>
                  <a:fillRect b="-21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le 2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5763785"/>
                  </p:ext>
                </p:extLst>
              </p:nvPr>
            </p:nvGraphicFramePr>
            <p:xfrm>
              <a:off x="2040058" y="2828997"/>
              <a:ext cx="6040578" cy="183546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13526">
                      <a:extLst>
                        <a:ext uri="{9D8B030D-6E8A-4147-A177-3AD203B41FA5}">
                          <a16:colId xmlns:a16="http://schemas.microsoft.com/office/drawing/2014/main" val="1844905867"/>
                        </a:ext>
                      </a:extLst>
                    </a:gridCol>
                    <a:gridCol w="2013526">
                      <a:extLst>
                        <a:ext uri="{9D8B030D-6E8A-4147-A177-3AD203B41FA5}">
                          <a16:colId xmlns:a16="http://schemas.microsoft.com/office/drawing/2014/main" val="374076033"/>
                        </a:ext>
                      </a:extLst>
                    </a:gridCol>
                    <a:gridCol w="2013526">
                      <a:extLst>
                        <a:ext uri="{9D8B030D-6E8A-4147-A177-3AD203B41FA5}">
                          <a16:colId xmlns:a16="http://schemas.microsoft.com/office/drawing/2014/main" val="3911912400"/>
                        </a:ext>
                      </a:extLst>
                    </a:gridCol>
                  </a:tblGrid>
                  <a:tr h="879379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</m:fName>
                                  <m:e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51991977"/>
                      </a:ext>
                    </a:extLst>
                  </a:tr>
                  <a:tr h="95609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csc</m:t>
                                    </m:r>
                                  </m:fName>
                                  <m:e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sec</m:t>
                                    </m:r>
                                  </m:fName>
                                  <m:e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cot</m:t>
                                    </m:r>
                                  </m:fName>
                                  <m:e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3571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le 2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5763785"/>
                  </p:ext>
                </p:extLst>
              </p:nvPr>
            </p:nvGraphicFramePr>
            <p:xfrm>
              <a:off x="2040058" y="2828997"/>
              <a:ext cx="6040578" cy="183546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13526">
                      <a:extLst>
                        <a:ext uri="{9D8B030D-6E8A-4147-A177-3AD203B41FA5}">
                          <a16:colId xmlns:a16="http://schemas.microsoft.com/office/drawing/2014/main" val="1844905867"/>
                        </a:ext>
                      </a:extLst>
                    </a:gridCol>
                    <a:gridCol w="2013526">
                      <a:extLst>
                        <a:ext uri="{9D8B030D-6E8A-4147-A177-3AD203B41FA5}">
                          <a16:colId xmlns:a16="http://schemas.microsoft.com/office/drawing/2014/main" val="374076033"/>
                        </a:ext>
                      </a:extLst>
                    </a:gridCol>
                    <a:gridCol w="2013526">
                      <a:extLst>
                        <a:ext uri="{9D8B030D-6E8A-4147-A177-3AD203B41FA5}">
                          <a16:colId xmlns:a16="http://schemas.microsoft.com/office/drawing/2014/main" val="3911912400"/>
                        </a:ext>
                      </a:extLst>
                    </a:gridCol>
                  </a:tblGrid>
                  <a:tr h="8793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02" t="-690" r="-200302" b="-109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0606" t="-690" r="-100909" b="-109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0000" t="-690" r="-604" b="-1096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1991977"/>
                      </a:ext>
                    </a:extLst>
                  </a:tr>
                  <a:tr h="9560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02" t="-92994" r="-200302" b="-12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0606" t="-92994" r="-100909" b="-12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0000" t="-92994" r="-604" b="-12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5711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276600" y="2892313"/>
                <a:ext cx="699038" cy="7271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2892313"/>
                <a:ext cx="699038" cy="7271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5396962" y="2892313"/>
                <a:ext cx="699038" cy="7284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962" y="2892313"/>
                <a:ext cx="699038" cy="7284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7454362" y="2895600"/>
                <a:ext cx="699038" cy="7271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362" y="2895600"/>
                <a:ext cx="699038" cy="72712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3339562" y="3767395"/>
                <a:ext cx="699038" cy="7284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562" y="3767395"/>
                <a:ext cx="699038" cy="72840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5410200" y="3810000"/>
                <a:ext cx="699038" cy="7284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0" y="3810000"/>
                <a:ext cx="699038" cy="72840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7454362" y="3767395"/>
                <a:ext cx="699038" cy="7284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362" y="3767395"/>
                <a:ext cx="699038" cy="72840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5562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28" grpId="0"/>
      <p:bldP spid="29" grpId="0"/>
      <p:bldP spid="30" grpId="0"/>
      <p:bldP spid="31" grpId="0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"/>
            <a:ext cx="800100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Example – Given One Value, Find Others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1143000"/>
                <a:ext cx="7924800" cy="4800600"/>
              </a:xfrm>
            </p:spPr>
            <p:txBody>
              <a:bodyPr>
                <a:normAutofit/>
              </a:bodyPr>
              <a:lstStyle/>
              <a:p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and </a:t>
                </a:r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the terminal side of </a:t>
                </a:r>
                <a14:m>
                  <m:oMath xmlns:m="http://schemas.openxmlformats.org/officeDocument/2006/math">
                    <m:r>
                      <a:rPr lang="en-US" sz="220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𝜃</m:t>
                    </m:r>
                  </m:oMath>
                </a14:m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 is in the first quadrant, find the values of the remaining trigonometric functions of </a:t>
                </a:r>
                <a:r>
                  <a:rPr lang="en-US" sz="2200" i="1" dirty="0">
                    <a:solidFill>
                      <a:srgbClr val="0000CC"/>
                    </a:solidFill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</a:t>
                </a:r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.</a:t>
                </a:r>
              </a:p>
              <a:p>
                <a:r>
                  <a:rPr lang="en-US" sz="220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Note:  It does not matter what the length of </a:t>
                </a:r>
                <a:r>
                  <a:rPr lang="en-US" sz="2200" i="1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sz="220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 and </a:t>
                </a:r>
                <a:r>
                  <a:rPr lang="en-US" sz="2200" i="1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r</a:t>
                </a:r>
                <a:r>
                  <a:rPr lang="en-US" sz="220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 are at this time.  The </a:t>
                </a:r>
                <a:r>
                  <a:rPr lang="en-US" sz="2200" i="1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ratio</a:t>
                </a:r>
                <a:r>
                  <a:rPr lang="en-US" sz="220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 of </a:t>
                </a:r>
                <a:r>
                  <a:rPr lang="en-US" sz="2200" i="1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sz="220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 to </a:t>
                </a:r>
                <a:r>
                  <a:rPr lang="en-US" sz="2200" i="1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r</a:t>
                </a:r>
                <a:r>
                  <a:rPr lang="en-US" sz="220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 is important.</a:t>
                </a:r>
                <a:endParaRPr lang="en-US" sz="2200" dirty="0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143000"/>
                <a:ext cx="7924800" cy="4800600"/>
              </a:xfrm>
              <a:blipFill>
                <a:blip r:embed="rId3"/>
                <a:stretch>
                  <a:fillRect r="-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b="15682"/>
          <a:stretch/>
        </p:blipFill>
        <p:spPr>
          <a:xfrm>
            <a:off x="3288672" y="4985812"/>
            <a:ext cx="2444735" cy="187218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 rot="19317208">
            <a:off x="4506002" y="5150626"/>
            <a:ext cx="507142" cy="3280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3657600" y="4191000"/>
            <a:ext cx="2895600" cy="228600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553200" y="4191000"/>
            <a:ext cx="0" cy="228600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657600" y="6477000"/>
            <a:ext cx="3276600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57800" y="573143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6006" y="562284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66102" y="45836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15189" y="53340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94688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3" grpId="0"/>
      <p:bldP spid="34" grpId="0"/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"/>
            <a:ext cx="800100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Example – Given One Value, Find Others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1066800"/>
                <a:ext cx="7924800" cy="5562600"/>
              </a:xfrm>
            </p:spPr>
            <p:txBody>
              <a:bodyPr>
                <a:normAutofit/>
              </a:bodyPr>
              <a:lstStyle/>
              <a:p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2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sz="22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and </a:t>
                </a:r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the terminal side of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𝜃</m:t>
                    </m:r>
                  </m:oMath>
                </a14:m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 is in the first quadrant, find the values of the remaining trigonometric functions of </a:t>
                </a:r>
                <a:r>
                  <a:rPr lang="en-US" sz="2200" i="1" dirty="0">
                    <a:solidFill>
                      <a:srgbClr val="0000CC"/>
                    </a:solidFill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</a:t>
                </a:r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.</a:t>
                </a:r>
              </a:p>
              <a:p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Solution: The </a:t>
                </a:r>
                <a:r>
                  <a:rPr lang="en-US" sz="2200" i="1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ratio</a:t>
                </a:r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sym typeface="Symbol" panose="05050102010706020507" pitchFamily="18" charset="2"/>
                      </a:rPr>
                      <m:t>𝑦</m:t>
                    </m:r>
                  </m:oMath>
                </a14:m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sym typeface="Symbol" panose="05050102010706020507" pitchFamily="18" charset="2"/>
                      </a:rPr>
                      <m:t>𝑟</m:t>
                    </m:r>
                  </m:oMath>
                </a14:m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 is given by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2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sz="22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.  </a:t>
                </a:r>
              </a:p>
              <a:p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We can find a point on the terminal side of </a:t>
                </a:r>
                <a:r>
                  <a:rPr lang="en-US" sz="2200" i="1" dirty="0">
                    <a:solidFill>
                      <a:srgbClr val="0000CC"/>
                    </a:solidFill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</a:t>
                </a:r>
                <a:r>
                  <a:rPr lang="en-US" sz="2200" dirty="0">
                    <a:solidFill>
                      <a:srgbClr val="0000CC"/>
                    </a:solidFill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sz="2200" dirty="0">
                    <a:latin typeface="Cambria" panose="02040503050406030204" pitchFamily="18" charset="0"/>
                    <a:ea typeface="Cambria" panose="02040503050406030204" pitchFamily="18" charset="0"/>
                    <a:sym typeface="Symbol" panose="05050102010706020507" pitchFamily="18" charset="2"/>
                  </a:rPr>
                  <a:t> using the Pythagorean theorem.</a:t>
                </a:r>
                <a:endParaRPr lang="en-US" sz="22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066800"/>
                <a:ext cx="7924800" cy="55626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b="15682"/>
          <a:stretch/>
        </p:blipFill>
        <p:spPr>
          <a:xfrm>
            <a:off x="3288672" y="4985812"/>
            <a:ext cx="2444735" cy="187218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 rot="19317208">
            <a:off x="4506002" y="5150626"/>
            <a:ext cx="507142" cy="3280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114800" y="5410200"/>
            <a:ext cx="28725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0000CC"/>
                </a:solidFill>
                <a:sym typeface="Symbol" panose="05050102010706020507" pitchFamily="18" charset="2"/>
              </a:rPr>
              <a:t>2</a:t>
            </a:r>
            <a:endParaRPr lang="en-US" sz="1600" dirty="0"/>
          </a:p>
        </p:txBody>
      </p:sp>
      <p:sp>
        <p:nvSpPr>
          <p:cNvPr id="31" name="Rectangle 30"/>
          <p:cNvSpPr/>
          <p:nvPr/>
        </p:nvSpPr>
        <p:spPr>
          <a:xfrm>
            <a:off x="5256220" y="5757446"/>
            <a:ext cx="33855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0000CC"/>
                </a:solidFill>
                <a:sym typeface="Symbol" panose="05050102010706020507" pitchFamily="18" charset="2"/>
              </a:rPr>
              <a:t> 1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4087444" y="6420034"/>
                <a:ext cx="484556" cy="3617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radPr>
                      <m:deg/>
                      <m:e>
                        <m:r>
                          <a:rPr lang="en-US" sz="16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sz="1600" dirty="0"/>
                  <a:t> </a:t>
                </a: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444" y="6420034"/>
                <a:ext cx="484556" cy="3617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136289" y="5276941"/>
                <a:ext cx="1924694" cy="1047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200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200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200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200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200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200" dirty="0">
                  <a:solidFill>
                    <a:srgbClr val="0000CC"/>
                  </a:solidFill>
                </a:endParaRPr>
              </a:p>
              <a:p>
                <a:r>
                  <a:rPr lang="en-US" sz="2200" b="0" dirty="0">
                    <a:solidFill>
                      <a:srgbClr val="0000CC"/>
                    </a:solidFill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200" b="0" i="1" dirty="0">
                  <a:solidFill>
                    <a:srgbClr val="0000CC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2200" b="0" dirty="0">
                    <a:solidFill>
                      <a:srgbClr val="0000CC"/>
                    </a:solidFill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lang="en-US" sz="2200" dirty="0">
                  <a:solidFill>
                    <a:srgbClr val="0000CC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289" y="5276941"/>
                <a:ext cx="1924694" cy="1047659"/>
              </a:xfrm>
              <a:prstGeom prst="rect">
                <a:avLst/>
              </a:prstGeom>
              <a:blipFill>
                <a:blip r:embed="rId6"/>
                <a:stretch>
                  <a:fillRect t="-581" r="-952"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3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7284561"/>
                  </p:ext>
                </p:extLst>
              </p:nvPr>
            </p:nvGraphicFramePr>
            <p:xfrm>
              <a:off x="1828800" y="3331191"/>
              <a:ext cx="5964378" cy="163768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88126">
                      <a:extLst>
                        <a:ext uri="{9D8B030D-6E8A-4147-A177-3AD203B41FA5}">
                          <a16:colId xmlns:a16="http://schemas.microsoft.com/office/drawing/2014/main" val="1844905867"/>
                        </a:ext>
                      </a:extLst>
                    </a:gridCol>
                    <a:gridCol w="1988126">
                      <a:extLst>
                        <a:ext uri="{9D8B030D-6E8A-4147-A177-3AD203B41FA5}">
                          <a16:colId xmlns:a16="http://schemas.microsoft.com/office/drawing/2014/main" val="374076033"/>
                        </a:ext>
                      </a:extLst>
                    </a:gridCol>
                    <a:gridCol w="1988126">
                      <a:extLst>
                        <a:ext uri="{9D8B030D-6E8A-4147-A177-3AD203B41FA5}">
                          <a16:colId xmlns:a16="http://schemas.microsoft.com/office/drawing/2014/main" val="3911912400"/>
                        </a:ext>
                      </a:extLst>
                    </a:gridCol>
                  </a:tblGrid>
                  <a:tr h="784619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2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200" b="0" i="0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sz="22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sz="22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2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200" b="0" i="0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sz="22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sz="22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2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200" b="0" i="0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</m:fName>
                                  <m:e>
                                    <m:r>
                                      <a:rPr lang="en-US" sz="22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sz="22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51991977"/>
                      </a:ext>
                    </a:extLst>
                  </a:tr>
                  <a:tr h="853064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2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200" b="0" i="0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csc</m:t>
                                    </m:r>
                                  </m:fName>
                                  <m:e>
                                    <m:r>
                                      <a:rPr lang="en-US" sz="22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sz="22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2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200" b="0" i="0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sec</m:t>
                                    </m:r>
                                  </m:fName>
                                  <m:e>
                                    <m:r>
                                      <a:rPr lang="en-US" sz="22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sz="22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2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200" b="0" i="0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cot</m:t>
                                    </m:r>
                                  </m:fName>
                                  <m:e>
                                    <m:r>
                                      <a:rPr lang="en-US" sz="22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sz="22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3571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3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7284561"/>
                  </p:ext>
                </p:extLst>
              </p:nvPr>
            </p:nvGraphicFramePr>
            <p:xfrm>
              <a:off x="1828800" y="3331191"/>
              <a:ext cx="5964378" cy="163768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88126">
                      <a:extLst>
                        <a:ext uri="{9D8B030D-6E8A-4147-A177-3AD203B41FA5}">
                          <a16:colId xmlns:a16="http://schemas.microsoft.com/office/drawing/2014/main" val="1844905867"/>
                        </a:ext>
                      </a:extLst>
                    </a:gridCol>
                    <a:gridCol w="1988126">
                      <a:extLst>
                        <a:ext uri="{9D8B030D-6E8A-4147-A177-3AD203B41FA5}">
                          <a16:colId xmlns:a16="http://schemas.microsoft.com/office/drawing/2014/main" val="374076033"/>
                        </a:ext>
                      </a:extLst>
                    </a:gridCol>
                    <a:gridCol w="1988126">
                      <a:extLst>
                        <a:ext uri="{9D8B030D-6E8A-4147-A177-3AD203B41FA5}">
                          <a16:colId xmlns:a16="http://schemas.microsoft.com/office/drawing/2014/main" val="3911912400"/>
                        </a:ext>
                      </a:extLst>
                    </a:gridCol>
                  </a:tblGrid>
                  <a:tr h="7846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613" t="-775" r="-200920" b="-1108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0306" t="-775" r="-100306" b="-1108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00920" t="-775" r="-613" b="-1108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1991977"/>
                      </a:ext>
                    </a:extLst>
                  </a:tr>
                  <a:tr h="8530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613" t="-92199" r="-200920" b="-14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0306" t="-92199" r="-100306" b="-14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00920" t="-92199" r="-613" b="-14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5711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2819400" y="3468187"/>
                <a:ext cx="373820" cy="5704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20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dirty="0"/>
                  <a:t> </a:t>
                </a: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468187"/>
                <a:ext cx="373820" cy="57041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4724400" y="3407722"/>
                <a:ext cx="509050" cy="6308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200" dirty="0">
                    <a:solidFill>
                      <a:srgbClr val="0000CC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20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3407722"/>
                <a:ext cx="509050" cy="63087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6755678" y="3467921"/>
                <a:ext cx="509050" cy="5919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200" dirty="0">
                    <a:solidFill>
                      <a:srgbClr val="0000CC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20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5678" y="3467921"/>
                <a:ext cx="509050" cy="59195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2789710" y="4343400"/>
                <a:ext cx="410690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710" y="4343400"/>
                <a:ext cx="410690" cy="430887"/>
              </a:xfrm>
              <a:prstGeom prst="rect">
                <a:avLst/>
              </a:prstGeom>
              <a:blipFill>
                <a:blip r:embed="rId11"/>
                <a:stretch>
                  <a:fillRect l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4748750" y="4267200"/>
                <a:ext cx="509050" cy="592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200" dirty="0">
                    <a:solidFill>
                      <a:srgbClr val="0000CC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8750" y="4267200"/>
                <a:ext cx="509050" cy="59266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6705600" y="4267200"/>
                <a:ext cx="595997" cy="4628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200" dirty="0">
                    <a:solidFill>
                      <a:srgbClr val="0000CC"/>
                    </a:solidFill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20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4267200"/>
                <a:ext cx="595997" cy="46288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411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"/>
            <a:ext cx="807720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Example – Given One Value, Find Others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924800" cy="4800600"/>
          </a:xfrm>
        </p:spPr>
        <p:txBody>
          <a:bodyPr>
            <a:normAutofit/>
          </a:bodyPr>
          <a:lstStyle/>
          <a:p>
            <a:r>
              <a:rPr lang="en-US" sz="2200" dirty="0"/>
              <a:t>Given </a:t>
            </a:r>
            <a:r>
              <a:rPr lang="en-US" sz="2200" dirty="0">
                <a:solidFill>
                  <a:srgbClr val="0000CC"/>
                </a:solidFill>
              </a:rPr>
              <a:t>csc</a:t>
            </a:r>
            <a:r>
              <a:rPr lang="en-US" sz="2200" i="1" dirty="0">
                <a:solidFill>
                  <a:srgbClr val="0000CC"/>
                </a:solidFill>
                <a:sym typeface="Symbol" panose="05050102010706020507" pitchFamily="18" charset="2"/>
              </a:rPr>
              <a:t></a:t>
            </a:r>
            <a:r>
              <a:rPr lang="en-US" sz="2200" dirty="0">
                <a:solidFill>
                  <a:srgbClr val="0000CC"/>
                </a:solidFill>
                <a:sym typeface="Symbol" panose="05050102010706020507" pitchFamily="18" charset="2"/>
              </a:rPr>
              <a:t> = 1.2 </a:t>
            </a:r>
            <a:r>
              <a:rPr lang="en-US" sz="2200" dirty="0">
                <a:sym typeface="Symbol" panose="05050102010706020507" pitchFamily="18" charset="2"/>
              </a:rPr>
              <a:t>and the terminal side of </a:t>
            </a:r>
            <a:r>
              <a:rPr lang="en-US" sz="2200" i="1" dirty="0">
                <a:solidFill>
                  <a:srgbClr val="0000CC"/>
                </a:solidFill>
                <a:sym typeface="Symbol" panose="05050102010706020507" pitchFamily="18" charset="2"/>
              </a:rPr>
              <a:t></a:t>
            </a:r>
            <a:r>
              <a:rPr lang="en-US" sz="2200" dirty="0">
                <a:sym typeface="Symbol" panose="05050102010706020507" pitchFamily="18" charset="2"/>
              </a:rPr>
              <a:t> is in the first quadrant, find the values of the remaining trigonometric functions of </a:t>
            </a:r>
            <a:r>
              <a:rPr lang="en-US" sz="2200" i="1" dirty="0">
                <a:solidFill>
                  <a:srgbClr val="0000CC"/>
                </a:solidFill>
                <a:sym typeface="Symbol" panose="05050102010706020507" pitchFamily="18" charset="2"/>
              </a:rPr>
              <a:t></a:t>
            </a:r>
            <a:r>
              <a:rPr lang="en-US" sz="2200" dirty="0">
                <a:sym typeface="Symbol" panose="05050102010706020507" pitchFamily="18" charset="2"/>
              </a:rPr>
              <a:t>.</a:t>
            </a:r>
          </a:p>
          <a:p>
            <a:r>
              <a:rPr lang="en-US" sz="2200" dirty="0">
                <a:sym typeface="Symbol" panose="05050102010706020507" pitchFamily="18" charset="2"/>
              </a:rPr>
              <a:t>Solution: In your notes.</a:t>
            </a:r>
            <a:endParaRPr lang="en-US" sz="2200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6604059"/>
              </p:ext>
            </p:extLst>
          </p:nvPr>
        </p:nvGraphicFramePr>
        <p:xfrm>
          <a:off x="2386012" y="2917825"/>
          <a:ext cx="1155700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96880" imgH="393480" progId="Equation.3">
                  <p:embed/>
                </p:oleObj>
              </mc:Choice>
              <mc:Fallback>
                <p:oleObj name="Equation" r:id="rId3" imgW="596880" imgH="393480" progId="Equation.3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6012" y="2917825"/>
                        <a:ext cx="1155700" cy="763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3083690"/>
              </p:ext>
            </p:extLst>
          </p:nvPr>
        </p:nvGraphicFramePr>
        <p:xfrm>
          <a:off x="4267200" y="2919412"/>
          <a:ext cx="1179512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09480" imgH="393480" progId="Equation.3">
                  <p:embed/>
                </p:oleObj>
              </mc:Choice>
              <mc:Fallback>
                <p:oleObj name="Equation" r:id="rId5" imgW="609480" imgH="393480" progId="Equation.3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67200" y="2919412"/>
                        <a:ext cx="1179512" cy="763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8282519"/>
              </p:ext>
            </p:extLst>
          </p:nvPr>
        </p:nvGraphicFramePr>
        <p:xfrm>
          <a:off x="6094412" y="2919412"/>
          <a:ext cx="1181100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09480" imgH="393480" progId="Equation.3">
                  <p:embed/>
                </p:oleObj>
              </mc:Choice>
              <mc:Fallback>
                <p:oleObj name="Equation" r:id="rId7" imgW="609480" imgH="393480" progId="Equation.3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94412" y="2919412"/>
                        <a:ext cx="1181100" cy="763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8582715"/>
              </p:ext>
            </p:extLst>
          </p:nvPr>
        </p:nvGraphicFramePr>
        <p:xfrm>
          <a:off x="2374900" y="3959225"/>
          <a:ext cx="1179512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09480" imgH="419040" progId="Equation.3">
                  <p:embed/>
                </p:oleObj>
              </mc:Choice>
              <mc:Fallback>
                <p:oleObj name="Equation" r:id="rId9" imgW="609480" imgH="419040" progId="Equation.3">
                  <p:embed/>
                  <p:pic>
                    <p:nvPicPr>
                      <p:cNvPr id="10" name="Object 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74900" y="3959225"/>
                        <a:ext cx="1179512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1207128"/>
              </p:ext>
            </p:extLst>
          </p:nvPr>
        </p:nvGraphicFramePr>
        <p:xfrm>
          <a:off x="4278312" y="3984625"/>
          <a:ext cx="1155700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96880" imgH="393480" progId="Equation.3">
                  <p:embed/>
                </p:oleObj>
              </mc:Choice>
              <mc:Fallback>
                <p:oleObj name="Equation" r:id="rId11" imgW="596880" imgH="393480" progId="Equation.3">
                  <p:embed/>
                  <p:pic>
                    <p:nvPicPr>
                      <p:cNvPr id="11" name="Object 1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78312" y="3984625"/>
                        <a:ext cx="1155700" cy="763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8564825"/>
              </p:ext>
            </p:extLst>
          </p:nvPr>
        </p:nvGraphicFramePr>
        <p:xfrm>
          <a:off x="6094412" y="3960812"/>
          <a:ext cx="1181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09480" imgH="419040" progId="Equation.3">
                  <p:embed/>
                </p:oleObj>
              </mc:Choice>
              <mc:Fallback>
                <p:oleObj name="Equation" r:id="rId13" imgW="609480" imgH="419040" progId="Equation.3">
                  <p:embed/>
                  <p:pic>
                    <p:nvPicPr>
                      <p:cNvPr id="12" name="Object 1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94412" y="3960812"/>
                        <a:ext cx="11811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5"/>
          <a:srcRect b="15682"/>
          <a:stretch/>
        </p:blipFill>
        <p:spPr>
          <a:xfrm>
            <a:off x="3288672" y="4985812"/>
            <a:ext cx="2444735" cy="187218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 rot="19317208">
            <a:off x="4506002" y="5150626"/>
            <a:ext cx="507142" cy="3280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419600" y="5040868"/>
            <a:ext cx="71045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i="1" dirty="0">
                <a:solidFill>
                  <a:srgbClr val="0000CC"/>
                </a:solidFill>
                <a:sym typeface="Symbol" panose="05050102010706020507" pitchFamily="18" charset="2"/>
              </a:rPr>
              <a:t>  </a:t>
            </a:r>
            <a:r>
              <a:rPr lang="en-US" sz="1600" dirty="0">
                <a:solidFill>
                  <a:srgbClr val="0000CC"/>
                </a:solidFill>
                <a:sym typeface="Symbol" panose="05050102010706020507" pitchFamily="18" charset="2"/>
              </a:rPr>
              <a:t>(</a:t>
            </a:r>
            <a:r>
              <a:rPr lang="en-US" sz="1600" i="1" dirty="0">
                <a:solidFill>
                  <a:srgbClr val="0000CC"/>
                </a:solidFill>
                <a:sym typeface="Symbol" panose="05050102010706020507" pitchFamily="18" charset="2"/>
              </a:rPr>
              <a:t>x,</a:t>
            </a:r>
            <a:r>
              <a:rPr lang="en-US" sz="1600" dirty="0">
                <a:solidFill>
                  <a:srgbClr val="0000CC"/>
                </a:solidFill>
                <a:sym typeface="Symbol" panose="05050102010706020507" pitchFamily="18" charset="2"/>
              </a:rPr>
              <a:t> </a:t>
            </a:r>
            <a:r>
              <a:rPr lang="en-US" sz="1600" i="1" dirty="0">
                <a:solidFill>
                  <a:srgbClr val="0000CC"/>
                </a:solidFill>
                <a:sym typeface="Symbol" panose="05050102010706020507" pitchFamily="18" charset="2"/>
              </a:rPr>
              <a:t>y</a:t>
            </a:r>
            <a:r>
              <a:rPr lang="en-US" sz="1600" dirty="0">
                <a:solidFill>
                  <a:srgbClr val="0000CC"/>
                </a:solidFill>
                <a:sym typeface="Symbol" panose="05050102010706020507" pitchFamily="18" charset="2"/>
              </a:rPr>
              <a:t>)</a:t>
            </a:r>
            <a:endParaRPr lang="en-US" sz="1600" dirty="0"/>
          </a:p>
        </p:txBody>
      </p:sp>
      <p:grpSp>
        <p:nvGrpSpPr>
          <p:cNvPr id="25" name="Group 24"/>
          <p:cNvGrpSpPr/>
          <p:nvPr/>
        </p:nvGrpSpPr>
        <p:grpSpPr>
          <a:xfrm>
            <a:off x="2057400" y="2819400"/>
            <a:ext cx="5867401" cy="2046843"/>
            <a:chOff x="2057400" y="2819400"/>
            <a:chExt cx="5867401" cy="2046843"/>
          </a:xfrm>
        </p:grpSpPr>
        <p:sp>
          <p:nvSpPr>
            <p:cNvPr id="26" name="Rectangle 25"/>
            <p:cNvSpPr/>
            <p:nvPr/>
          </p:nvSpPr>
          <p:spPr>
            <a:xfrm>
              <a:off x="2057400" y="2819400"/>
              <a:ext cx="5867400" cy="204684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029325" y="2819400"/>
              <a:ext cx="1895476" cy="204684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137025" y="2819400"/>
              <a:ext cx="3787776" cy="204684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057400" y="2819401"/>
              <a:ext cx="5867400" cy="102179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53586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Values at 30</a:t>
            </a:r>
            <a:r>
              <a:rPr lang="en-US" dirty="0">
                <a:sym typeface="Symbol" panose="05050102010706020507" pitchFamily="18" charset="2"/>
              </a:rPr>
              <a:t>, 45, and 60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62000" y="1219200"/>
            <a:ext cx="8001000" cy="5334000"/>
          </a:xfrm>
        </p:spPr>
        <p:txBody>
          <a:bodyPr>
            <a:norm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We can calculate the exact trigonometric function values for a few “common” angles.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02336" lvl="1" indent="0">
              <a:buNone/>
            </a:pP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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 = 45</a:t>
            </a:r>
          </a:p>
          <a:p>
            <a:pPr marL="402336" lvl="1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sym typeface="Symbol" panose="05050102010706020507" pitchFamily="18" charset="2"/>
            </a:endParaRPr>
          </a:p>
          <a:p>
            <a:pPr marL="402336" lvl="1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sym typeface="Symbol" panose="05050102010706020507" pitchFamily="18" charset="2"/>
            </a:endParaRPr>
          </a:p>
          <a:p>
            <a:pPr marL="402336" lvl="1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sym typeface="Symbol" panose="05050102010706020507" pitchFamily="18" charset="2"/>
            </a:endParaRPr>
          </a:p>
          <a:p>
            <a:pPr marL="402336" lvl="1" indent="0">
              <a:buNone/>
            </a:pP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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 = 30				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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 = 60</a:t>
            </a:r>
          </a:p>
          <a:p>
            <a:pPr lvl="1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921" y="4854860"/>
            <a:ext cx="2286520" cy="179745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761052"/>
            <a:ext cx="2235675" cy="294454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4435" y="2042441"/>
            <a:ext cx="2389966" cy="263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214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Values at 30</a:t>
            </a:r>
            <a:r>
              <a:rPr lang="en-US" dirty="0">
                <a:sym typeface="Symbol" panose="05050102010706020507" pitchFamily="18" charset="2"/>
              </a:rPr>
              <a:t>, 45, and 60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62000" y="1219200"/>
            <a:ext cx="8001000" cy="5334000"/>
          </a:xfrm>
        </p:spPr>
        <p:txBody>
          <a:bodyPr>
            <a:norm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We can calculate the exact trigonometric function values for a few “common” angles.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62199"/>
            <a:ext cx="8153400" cy="327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85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Signs of the Trigonometric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924800" cy="480060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2200" dirty="0">
                <a:ea typeface="Cambria" panose="02040503050406030204" pitchFamily="18" charset="0"/>
              </a:rPr>
              <a:t>So far we have limited our examples to points on terminal sides of angles in the first quadrant of the plane.  </a:t>
            </a:r>
          </a:p>
          <a:p>
            <a:r>
              <a:rPr lang="en-US" sz="2200" dirty="0">
                <a:ea typeface="Cambria" panose="02040503050406030204" pitchFamily="18" charset="0"/>
              </a:rPr>
              <a:t>These definitions can apply to any angle in standard position.  </a:t>
            </a:r>
          </a:p>
        </p:txBody>
      </p:sp>
      <p:sp>
        <p:nvSpPr>
          <p:cNvPr id="13" name="Rectangle 12"/>
          <p:cNvSpPr/>
          <p:nvPr/>
        </p:nvSpPr>
        <p:spPr>
          <a:xfrm rot="19317208">
            <a:off x="4506002" y="5074426"/>
            <a:ext cx="507142" cy="3280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 rot="19317208">
            <a:off x="4466803" y="5189342"/>
            <a:ext cx="507142" cy="3280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419600" y="4964668"/>
            <a:ext cx="73289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i="1" dirty="0">
                <a:solidFill>
                  <a:srgbClr val="0000CC"/>
                </a:solidFill>
                <a:sym typeface="Symbol" panose="05050102010706020507" pitchFamily="18" charset="2"/>
              </a:rPr>
              <a:t>P</a:t>
            </a:r>
            <a:r>
              <a:rPr lang="en-US" sz="1600" dirty="0">
                <a:solidFill>
                  <a:srgbClr val="0000CC"/>
                </a:solidFill>
                <a:sym typeface="Symbol" panose="05050102010706020507" pitchFamily="18" charset="2"/>
              </a:rPr>
              <a:t>(</a:t>
            </a:r>
            <a:r>
              <a:rPr lang="en-US" sz="1600" i="1" dirty="0">
                <a:solidFill>
                  <a:srgbClr val="0000CC"/>
                </a:solidFill>
                <a:sym typeface="Symbol" panose="05050102010706020507" pitchFamily="18" charset="2"/>
              </a:rPr>
              <a:t>x</a:t>
            </a:r>
            <a:r>
              <a:rPr lang="en-US" sz="1600" dirty="0">
                <a:solidFill>
                  <a:srgbClr val="0000CC"/>
                </a:solidFill>
                <a:sym typeface="Symbol" panose="05050102010706020507" pitchFamily="18" charset="2"/>
              </a:rPr>
              <a:t>, </a:t>
            </a:r>
            <a:r>
              <a:rPr lang="en-US" sz="1600" i="1" dirty="0">
                <a:solidFill>
                  <a:srgbClr val="0000CC"/>
                </a:solidFill>
                <a:sym typeface="Symbol" panose="05050102010706020507" pitchFamily="18" charset="2"/>
              </a:rPr>
              <a:t>y</a:t>
            </a:r>
            <a:r>
              <a:rPr lang="en-US" sz="1600" dirty="0">
                <a:solidFill>
                  <a:srgbClr val="0000CC"/>
                </a:solidFill>
                <a:sym typeface="Symbol" panose="05050102010706020507" pitchFamily="18" charset="2"/>
              </a:rPr>
              <a:t>)</a:t>
            </a:r>
            <a:endParaRPr lang="en-US" sz="16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83135" y="4663278"/>
            <a:ext cx="2590172" cy="208989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b="15682"/>
          <a:stretch/>
        </p:blipFill>
        <p:spPr>
          <a:xfrm>
            <a:off x="1600200" y="4909612"/>
            <a:ext cx="2444735" cy="187218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 rot="19317208">
            <a:off x="2817530" y="5074426"/>
            <a:ext cx="507142" cy="3280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731128" y="4964668"/>
            <a:ext cx="6078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0000CC"/>
                </a:solidFill>
                <a:sym typeface="Symbol" panose="05050102010706020507" pitchFamily="18" charset="2"/>
              </a:rPr>
              <a:t>(</a:t>
            </a:r>
            <a:r>
              <a:rPr lang="en-US" sz="1600" i="1" dirty="0">
                <a:solidFill>
                  <a:srgbClr val="0000CC"/>
                </a:solidFill>
                <a:sym typeface="Symbol" panose="05050102010706020507" pitchFamily="18" charset="2"/>
              </a:rPr>
              <a:t>x</a:t>
            </a:r>
            <a:r>
              <a:rPr lang="en-US" sz="1600" dirty="0">
                <a:solidFill>
                  <a:srgbClr val="0000CC"/>
                </a:solidFill>
                <a:sym typeface="Symbol" panose="05050102010706020507" pitchFamily="18" charset="2"/>
              </a:rPr>
              <a:t>, </a:t>
            </a:r>
            <a:r>
              <a:rPr lang="en-US" sz="1600" i="1" dirty="0">
                <a:solidFill>
                  <a:srgbClr val="0000CC"/>
                </a:solidFill>
                <a:sym typeface="Symbol" panose="05050102010706020507" pitchFamily="18" charset="2"/>
              </a:rPr>
              <a:t>y</a:t>
            </a:r>
            <a:r>
              <a:rPr lang="en-US" sz="1600" dirty="0">
                <a:solidFill>
                  <a:srgbClr val="0000CC"/>
                </a:solidFill>
                <a:sym typeface="Symbol" panose="05050102010706020507" pitchFamily="18" charset="2"/>
              </a:rPr>
              <a:t>)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2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8537868"/>
                  </p:ext>
                </p:extLst>
              </p:nvPr>
            </p:nvGraphicFramePr>
            <p:xfrm>
              <a:off x="1752600" y="2667000"/>
              <a:ext cx="6040578" cy="183546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13526">
                      <a:extLst>
                        <a:ext uri="{9D8B030D-6E8A-4147-A177-3AD203B41FA5}">
                          <a16:colId xmlns:a16="http://schemas.microsoft.com/office/drawing/2014/main" val="1844905867"/>
                        </a:ext>
                      </a:extLst>
                    </a:gridCol>
                    <a:gridCol w="2013526">
                      <a:extLst>
                        <a:ext uri="{9D8B030D-6E8A-4147-A177-3AD203B41FA5}">
                          <a16:colId xmlns:a16="http://schemas.microsoft.com/office/drawing/2014/main" val="374076033"/>
                        </a:ext>
                      </a:extLst>
                    </a:gridCol>
                    <a:gridCol w="2013526">
                      <a:extLst>
                        <a:ext uri="{9D8B030D-6E8A-4147-A177-3AD203B41FA5}">
                          <a16:colId xmlns:a16="http://schemas.microsoft.com/office/drawing/2014/main" val="3911912400"/>
                        </a:ext>
                      </a:extLst>
                    </a:gridCol>
                  </a:tblGrid>
                  <a:tr h="87937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sz="24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sz="24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</m:fName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sz="24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1991977"/>
                      </a:ext>
                    </a:extLst>
                  </a:tr>
                  <a:tr h="95609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csc</m:t>
                                    </m:r>
                                  </m:fName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sz="24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sec</m:t>
                                    </m:r>
                                  </m:fName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sz="24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cot</m:t>
                                    </m:r>
                                  </m:fName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sz="24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rgbClr val="0000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571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2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8537868"/>
                  </p:ext>
                </p:extLst>
              </p:nvPr>
            </p:nvGraphicFramePr>
            <p:xfrm>
              <a:off x="1752600" y="2667000"/>
              <a:ext cx="6040578" cy="183546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13526">
                      <a:extLst>
                        <a:ext uri="{9D8B030D-6E8A-4147-A177-3AD203B41FA5}">
                          <a16:colId xmlns:a16="http://schemas.microsoft.com/office/drawing/2014/main" val="1844905867"/>
                        </a:ext>
                      </a:extLst>
                    </a:gridCol>
                    <a:gridCol w="2013526">
                      <a:extLst>
                        <a:ext uri="{9D8B030D-6E8A-4147-A177-3AD203B41FA5}">
                          <a16:colId xmlns:a16="http://schemas.microsoft.com/office/drawing/2014/main" val="374076033"/>
                        </a:ext>
                      </a:extLst>
                    </a:gridCol>
                    <a:gridCol w="2013526">
                      <a:extLst>
                        <a:ext uri="{9D8B030D-6E8A-4147-A177-3AD203B41FA5}">
                          <a16:colId xmlns:a16="http://schemas.microsoft.com/office/drawing/2014/main" val="3911912400"/>
                        </a:ext>
                      </a:extLst>
                    </a:gridCol>
                  </a:tblGrid>
                  <a:tr h="8793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2" t="-690" r="-200302" b="-109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606" t="-690" r="-100909" b="-109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690" r="-604" b="-1096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1991977"/>
                      </a:ext>
                    </a:extLst>
                  </a:tr>
                  <a:tr h="9560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2" t="-92994" r="-200302" b="-12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606" t="-92994" r="-100909" b="-12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92994" r="-604" b="-12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57118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9661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7" grpId="0" animBg="1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Signs of the Trigonometric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924800" cy="480060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2200" dirty="0"/>
              <a:t>So far we have limited our examples to points on terminal sides of angles in the first quadrant of the plane.  </a:t>
            </a:r>
          </a:p>
          <a:p>
            <a:r>
              <a:rPr lang="en-US" sz="2200" dirty="0"/>
              <a:t>These definitions can apply to any angle in standard position.  </a:t>
            </a:r>
          </a:p>
          <a:p>
            <a:r>
              <a:rPr lang="en-US" sz="2200" dirty="0"/>
              <a:t>The values of the trigonometric functions at any angle can be determined if we know a point on the terminal side.</a:t>
            </a:r>
          </a:p>
          <a:p>
            <a:pPr lvl="1"/>
            <a:r>
              <a:rPr lang="en-US" sz="2200" dirty="0"/>
              <a:t>The </a:t>
            </a:r>
            <a:r>
              <a:rPr lang="en-US" sz="2200" i="1" dirty="0"/>
              <a:t>sign</a:t>
            </a:r>
            <a:r>
              <a:rPr lang="en-US" sz="2200" dirty="0"/>
              <a:t> of the trigonometric function will be determined by the signs of </a:t>
            </a:r>
            <a:r>
              <a:rPr lang="en-US" sz="2200" i="1" dirty="0">
                <a:solidFill>
                  <a:srgbClr val="0000CC"/>
                </a:solidFill>
              </a:rPr>
              <a:t>x</a:t>
            </a:r>
            <a:r>
              <a:rPr lang="en-US" sz="2200" dirty="0"/>
              <a:t> and </a:t>
            </a:r>
            <a:r>
              <a:rPr lang="en-US" sz="2200" i="1" dirty="0">
                <a:solidFill>
                  <a:srgbClr val="0000CC"/>
                </a:solidFill>
              </a:rPr>
              <a:t>y</a:t>
            </a:r>
            <a:r>
              <a:rPr lang="en-US" sz="2200" dirty="0"/>
              <a:t> in each quadrant.</a:t>
            </a:r>
            <a:endParaRPr lang="en-US" sz="2200" i="1" dirty="0"/>
          </a:p>
        </p:txBody>
      </p:sp>
      <p:pic>
        <p:nvPicPr>
          <p:cNvPr id="192" name="Picture 19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225" y="4263555"/>
            <a:ext cx="7143750" cy="220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409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Signs of the Trigonometric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924800" cy="480060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2200" dirty="0"/>
              <a:t>So far we have limited our examples to points on terminal sides of angles in the first quadrant of the plane.  </a:t>
            </a:r>
          </a:p>
          <a:p>
            <a:r>
              <a:rPr lang="en-US" sz="2200" dirty="0"/>
              <a:t>These definitions can apply to any angle in standard position.  </a:t>
            </a:r>
          </a:p>
          <a:p>
            <a:r>
              <a:rPr lang="en-US" sz="2200" dirty="0"/>
              <a:t>The values of the trigonometric functions at any angle can be determined if we know a point on the terminal side.</a:t>
            </a:r>
          </a:p>
          <a:p>
            <a:pPr lvl="1"/>
            <a:r>
              <a:rPr lang="en-US" sz="2200" dirty="0"/>
              <a:t>The </a:t>
            </a:r>
            <a:r>
              <a:rPr lang="en-US" sz="2200" i="1" dirty="0"/>
              <a:t>sign</a:t>
            </a:r>
            <a:r>
              <a:rPr lang="en-US" sz="2200" dirty="0"/>
              <a:t> of the trigonometric function will be determined by the signs of </a:t>
            </a:r>
            <a:r>
              <a:rPr lang="en-US" sz="2200" i="1" dirty="0">
                <a:solidFill>
                  <a:srgbClr val="0000CC"/>
                </a:solidFill>
              </a:rPr>
              <a:t>x</a:t>
            </a:r>
            <a:r>
              <a:rPr lang="en-US" sz="2200" dirty="0"/>
              <a:t> and </a:t>
            </a:r>
            <a:r>
              <a:rPr lang="en-US" sz="2200" i="1" dirty="0">
                <a:solidFill>
                  <a:srgbClr val="0000CC"/>
                </a:solidFill>
              </a:rPr>
              <a:t>y</a:t>
            </a:r>
            <a:r>
              <a:rPr lang="en-US" sz="2200" dirty="0"/>
              <a:t> in each quadrant.</a:t>
            </a:r>
            <a:endParaRPr lang="en-US" sz="2200" i="1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19" y="4408187"/>
            <a:ext cx="2877561" cy="245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95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772400" cy="4800600"/>
          </a:xfrm>
        </p:spPr>
        <p:txBody>
          <a:bodyPr/>
          <a:lstStyle/>
          <a:p>
            <a:r>
              <a:rPr lang="en-US" dirty="0"/>
              <a:t>Determine the signs (positive or negative) of the functions.</a:t>
            </a:r>
          </a:p>
          <a:p>
            <a:pPr lvl="1"/>
            <a:r>
              <a:rPr lang="en-US" dirty="0"/>
              <a:t>tan 135</a:t>
            </a:r>
            <a:r>
              <a:rPr lang="en-US" dirty="0">
                <a:sym typeface="Symbol" panose="05050102010706020507" pitchFamily="18" charset="2"/>
              </a:rPr>
              <a:t>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tan 460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sin 335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cos 539</a:t>
            </a:r>
          </a:p>
          <a:p>
            <a:pPr lvl="1"/>
            <a:r>
              <a:rPr lang="en-US" dirty="0" err="1">
                <a:sym typeface="Symbol" panose="05050102010706020507" pitchFamily="18" charset="2"/>
              </a:rPr>
              <a:t>csc</a:t>
            </a:r>
            <a:r>
              <a:rPr lang="en-US" dirty="0">
                <a:sym typeface="Symbol" panose="05050102010706020507" pitchFamily="18" charset="2"/>
              </a:rPr>
              <a:t> (–200)</a:t>
            </a:r>
          </a:p>
          <a:p>
            <a:pPr lvl="1"/>
            <a:r>
              <a:rPr lang="en-US" dirty="0"/>
              <a:t>cot (–95</a:t>
            </a:r>
            <a:r>
              <a:rPr lang="en-US" dirty="0">
                <a:sym typeface="Symbol" panose="05050102010706020507" pitchFamily="18" charset="2"/>
              </a:rPr>
              <a:t>)</a:t>
            </a:r>
            <a:endParaRPr lang="en-US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19" y="4408187"/>
            <a:ext cx="2877561" cy="245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27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Determine the quadrant in which the terminal side of </a:t>
            </a:r>
            <a:r>
              <a:rPr lang="en-US" i="1" dirty="0">
                <a:solidFill>
                  <a:srgbClr val="0000CC"/>
                </a:solidFill>
                <a:sym typeface="Symbol" panose="05050102010706020507" pitchFamily="18" charset="2"/>
              </a:rPr>
              <a:t> </a:t>
            </a:r>
            <a:r>
              <a:rPr lang="en-US" dirty="0">
                <a:sym typeface="Symbol" panose="05050102010706020507" pitchFamily="18" charset="2"/>
              </a:rPr>
              <a:t>lies, subject to the given conditions.</a:t>
            </a:r>
            <a:endParaRPr lang="en-US" dirty="0"/>
          </a:p>
          <a:p>
            <a:pPr lvl="1"/>
            <a:r>
              <a:rPr lang="en-US" dirty="0">
                <a:solidFill>
                  <a:srgbClr val="0000CC"/>
                </a:solidFill>
              </a:rPr>
              <a:t>tan </a:t>
            </a:r>
            <a:r>
              <a:rPr lang="en-US" i="1" dirty="0">
                <a:solidFill>
                  <a:srgbClr val="0000CC"/>
                </a:solidFill>
                <a:sym typeface="Symbol" panose="05050102010706020507" pitchFamily="18" charset="2"/>
              </a:rPr>
              <a:t> 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&gt; 0, cos</a:t>
            </a:r>
            <a:r>
              <a:rPr lang="en-US" i="1" dirty="0">
                <a:solidFill>
                  <a:srgbClr val="0000CC"/>
                </a:solidFill>
                <a:sym typeface="Symbol" panose="05050102010706020507" pitchFamily="18" charset="2"/>
              </a:rPr>
              <a:t> 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 &lt; 0</a:t>
            </a:r>
          </a:p>
          <a:p>
            <a:pPr lvl="1"/>
            <a:r>
              <a:rPr lang="en-US" dirty="0">
                <a:solidFill>
                  <a:srgbClr val="0000CC"/>
                </a:solidFill>
              </a:rPr>
              <a:t>cos </a:t>
            </a:r>
            <a:r>
              <a:rPr lang="en-US" i="1" dirty="0">
                <a:solidFill>
                  <a:srgbClr val="0000CC"/>
                </a:solidFill>
                <a:sym typeface="Symbol" panose="05050102010706020507" pitchFamily="18" charset="2"/>
              </a:rPr>
              <a:t> 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&gt; 0, </a:t>
            </a:r>
            <a:r>
              <a:rPr lang="en-US" dirty="0" err="1">
                <a:solidFill>
                  <a:srgbClr val="0000CC"/>
                </a:solidFill>
                <a:sym typeface="Symbol" panose="05050102010706020507" pitchFamily="18" charset="2"/>
              </a:rPr>
              <a:t>csc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 </a:t>
            </a:r>
            <a:r>
              <a:rPr lang="en-US" i="1" dirty="0">
                <a:solidFill>
                  <a:srgbClr val="0000CC"/>
                </a:solidFill>
                <a:sym typeface="Symbol" panose="05050102010706020507" pitchFamily="18" charset="2"/>
              </a:rPr>
              <a:t>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 &lt; 0</a:t>
            </a:r>
          </a:p>
          <a:p>
            <a:pPr lvl="1"/>
            <a:r>
              <a:rPr lang="en-US" dirty="0">
                <a:solidFill>
                  <a:srgbClr val="0000CC"/>
                </a:solidFill>
              </a:rPr>
              <a:t>sec </a:t>
            </a:r>
            <a:r>
              <a:rPr lang="en-US" i="1" dirty="0">
                <a:solidFill>
                  <a:srgbClr val="0000CC"/>
                </a:solidFill>
                <a:sym typeface="Symbol" panose="05050102010706020507" pitchFamily="18" charset="2"/>
              </a:rPr>
              <a:t> 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&gt; 0, </a:t>
            </a:r>
            <a:r>
              <a:rPr lang="en-US" dirty="0" err="1">
                <a:solidFill>
                  <a:srgbClr val="0000CC"/>
                </a:solidFill>
                <a:sym typeface="Symbol" panose="05050102010706020507" pitchFamily="18" charset="2"/>
              </a:rPr>
              <a:t>csc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 </a:t>
            </a:r>
            <a:r>
              <a:rPr lang="en-US" i="1" dirty="0">
                <a:solidFill>
                  <a:srgbClr val="0000CC"/>
                </a:solidFill>
                <a:sym typeface="Symbol" panose="05050102010706020507" pitchFamily="18" charset="2"/>
              </a:rPr>
              <a:t>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 &lt; 0</a:t>
            </a:r>
          </a:p>
          <a:p>
            <a:pPr lvl="1"/>
            <a:r>
              <a:rPr lang="en-US" dirty="0">
                <a:solidFill>
                  <a:srgbClr val="0000CC"/>
                </a:solidFill>
              </a:rPr>
              <a:t>sin </a:t>
            </a:r>
            <a:r>
              <a:rPr lang="en-US" i="1" dirty="0">
                <a:solidFill>
                  <a:srgbClr val="0000CC"/>
                </a:solidFill>
                <a:sym typeface="Symbol" panose="05050102010706020507" pitchFamily="18" charset="2"/>
              </a:rPr>
              <a:t> 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&gt; 0, sec </a:t>
            </a:r>
            <a:r>
              <a:rPr lang="en-US" i="1" dirty="0">
                <a:solidFill>
                  <a:srgbClr val="0000CC"/>
                </a:solidFill>
                <a:sym typeface="Symbol" panose="05050102010706020507" pitchFamily="18" charset="2"/>
              </a:rPr>
              <a:t>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 &lt; 0</a:t>
            </a:r>
          </a:p>
          <a:p>
            <a:pPr lvl="1"/>
            <a:r>
              <a:rPr lang="en-US" dirty="0">
                <a:solidFill>
                  <a:srgbClr val="0000CC"/>
                </a:solidFill>
              </a:rPr>
              <a:t>sin </a:t>
            </a:r>
            <a:r>
              <a:rPr lang="en-US" i="1" dirty="0">
                <a:solidFill>
                  <a:srgbClr val="0000CC"/>
                </a:solidFill>
                <a:sym typeface="Symbol" panose="05050102010706020507" pitchFamily="18" charset="2"/>
              </a:rPr>
              <a:t> &lt;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 0, sec </a:t>
            </a:r>
            <a:r>
              <a:rPr lang="en-US" i="1" dirty="0">
                <a:solidFill>
                  <a:srgbClr val="0000CC"/>
                </a:solidFill>
                <a:sym typeface="Symbol" panose="05050102010706020507" pitchFamily="18" charset="2"/>
              </a:rPr>
              <a:t>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 &lt; 0</a:t>
            </a:r>
          </a:p>
          <a:p>
            <a:pPr lvl="1"/>
            <a:endParaRPr lang="en-US" dirty="0">
              <a:solidFill>
                <a:srgbClr val="0000CC"/>
              </a:solidFill>
              <a:sym typeface="Symbol" panose="05050102010706020507" pitchFamily="18" charset="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38600" y="1600200"/>
            <a:ext cx="4572000" cy="2693045"/>
          </a:xfrm>
          <a:prstGeom prst="rect">
            <a:avLst/>
          </a:prstGeom>
        </p:spPr>
        <p:txBody>
          <a:bodyPr>
            <a:spAutoFit/>
          </a:bodyPr>
          <a:lstStyle/>
          <a:p>
            <a:pPr marL="402336" lvl="1">
              <a:spcBef>
                <a:spcPts val="550"/>
              </a:spcBef>
              <a:buClr>
                <a:srgbClr val="3891A7"/>
              </a:buClr>
            </a:pPr>
            <a:endParaRPr lang="en-US" sz="2400" b="1" dirty="0">
              <a:solidFill>
                <a:srgbClr val="0000CC"/>
              </a:solidFill>
              <a:sym typeface="Symbol" panose="05050102010706020507" pitchFamily="18" charset="2"/>
            </a:endParaRPr>
          </a:p>
          <a:p>
            <a:pPr marL="402336" lvl="1">
              <a:spcBef>
                <a:spcPts val="550"/>
              </a:spcBef>
              <a:buClr>
                <a:srgbClr val="3891A7"/>
              </a:buClr>
            </a:pPr>
            <a:r>
              <a:rPr lang="en-US" sz="2400" b="1" dirty="0">
                <a:solidFill>
                  <a:srgbClr val="0000CC"/>
                </a:solidFill>
                <a:sym typeface="Symbol" panose="05050102010706020507" pitchFamily="18" charset="2"/>
              </a:rPr>
              <a:t>III </a:t>
            </a:r>
          </a:p>
          <a:p>
            <a:pPr marL="402336" lvl="1">
              <a:spcBef>
                <a:spcPts val="550"/>
              </a:spcBef>
              <a:buClr>
                <a:srgbClr val="3891A7"/>
              </a:buClr>
            </a:pPr>
            <a:r>
              <a:rPr lang="en-US" sz="2400" b="1" dirty="0">
                <a:solidFill>
                  <a:srgbClr val="0000CC"/>
                </a:solidFill>
                <a:sym typeface="Symbol" panose="05050102010706020507" pitchFamily="18" charset="2"/>
              </a:rPr>
              <a:t>IV</a:t>
            </a:r>
          </a:p>
          <a:p>
            <a:pPr marL="402336" lvl="1">
              <a:spcBef>
                <a:spcPts val="550"/>
              </a:spcBef>
              <a:buClr>
                <a:srgbClr val="3891A7"/>
              </a:buClr>
            </a:pPr>
            <a:r>
              <a:rPr lang="en-US" sz="2400" b="1" dirty="0">
                <a:solidFill>
                  <a:srgbClr val="0000CC"/>
                </a:solidFill>
                <a:sym typeface="Symbol" panose="05050102010706020507" pitchFamily="18" charset="2"/>
              </a:rPr>
              <a:t>IV</a:t>
            </a:r>
          </a:p>
          <a:p>
            <a:pPr marL="402336" lvl="1">
              <a:spcBef>
                <a:spcPts val="550"/>
              </a:spcBef>
              <a:buClr>
                <a:srgbClr val="3891A7"/>
              </a:buClr>
            </a:pPr>
            <a:r>
              <a:rPr lang="en-US" sz="2400" b="1" dirty="0">
                <a:solidFill>
                  <a:srgbClr val="0000CC"/>
                </a:solidFill>
                <a:sym typeface="Symbol" panose="05050102010706020507" pitchFamily="18" charset="2"/>
              </a:rPr>
              <a:t>II</a:t>
            </a:r>
          </a:p>
          <a:p>
            <a:pPr marL="402336" lvl="1">
              <a:spcBef>
                <a:spcPts val="550"/>
              </a:spcBef>
              <a:buClr>
                <a:srgbClr val="3891A7"/>
              </a:buClr>
            </a:pPr>
            <a:r>
              <a:rPr lang="en-US" sz="2400" b="1" dirty="0">
                <a:solidFill>
                  <a:srgbClr val="0000CC"/>
                </a:solidFill>
                <a:sym typeface="Symbol" panose="05050102010706020507" pitchFamily="18" charset="2"/>
              </a:rPr>
              <a:t>III</a:t>
            </a:r>
            <a:endParaRPr lang="en-US" sz="2400" b="1" dirty="0">
              <a:solidFill>
                <a:srgbClr val="0000CC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19" y="4408187"/>
            <a:ext cx="2877561" cy="2456901"/>
          </a:xfrm>
          <a:prstGeom prst="rect">
            <a:avLst/>
          </a:prstGeom>
        </p:spPr>
      </p:pic>
      <p:grpSp>
        <p:nvGrpSpPr>
          <p:cNvPr id="7" name="SMARTInkShape-Group54"/>
          <p:cNvGrpSpPr/>
          <p:nvPr/>
        </p:nvGrpSpPr>
        <p:grpSpPr>
          <a:xfrm>
            <a:off x="5113020" y="5166360"/>
            <a:ext cx="15241" cy="365761"/>
            <a:chOff x="5113020" y="5166360"/>
            <a:chExt cx="15241" cy="365761"/>
          </a:xfrm>
        </p:grpSpPr>
        <p:sp>
          <p:nvSpPr>
            <p:cNvPr id="4" name="SMARTInkShape-185"/>
            <p:cNvSpPr/>
            <p:nvPr/>
          </p:nvSpPr>
          <p:spPr>
            <a:xfrm>
              <a:off x="5113020" y="5166360"/>
              <a:ext cx="1" cy="7621"/>
            </a:xfrm>
            <a:custGeom>
              <a:avLst/>
              <a:gdLst/>
              <a:ahLst/>
              <a:cxnLst/>
              <a:rect l="0" t="0" r="0" b="0"/>
              <a:pathLst>
                <a:path w="1" h="7621">
                  <a:moveTo>
                    <a:pt x="0" y="762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SMARTInkShape-186"/>
            <p:cNvSpPr/>
            <p:nvPr/>
          </p:nvSpPr>
          <p:spPr>
            <a:xfrm>
              <a:off x="5128260" y="5524500"/>
              <a:ext cx="1" cy="7621"/>
            </a:xfrm>
            <a:custGeom>
              <a:avLst/>
              <a:gdLst/>
              <a:ahLst/>
              <a:cxnLst/>
              <a:rect l="0" t="0" r="0" b="0"/>
              <a:pathLst>
                <a:path w="1" h="7621">
                  <a:moveTo>
                    <a:pt x="0" y="762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03341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the given values, determine the quadrant(s) in which the terminal side of the angle lies.</a:t>
            </a:r>
          </a:p>
          <a:p>
            <a:pPr lvl="1"/>
            <a:r>
              <a:rPr lang="en-US" dirty="0">
                <a:solidFill>
                  <a:srgbClr val="0000CC"/>
                </a:solidFill>
              </a:rPr>
              <a:t>tan </a:t>
            </a:r>
            <a:r>
              <a:rPr lang="en-US" i="1" dirty="0">
                <a:solidFill>
                  <a:srgbClr val="0000CC"/>
                </a:solidFill>
                <a:sym typeface="Symbol" panose="05050102010706020507" pitchFamily="18" charset="2"/>
              </a:rPr>
              <a:t> 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= –2.500</a:t>
            </a:r>
          </a:p>
          <a:p>
            <a:pPr lvl="1"/>
            <a:r>
              <a:rPr lang="en-US" dirty="0">
                <a:solidFill>
                  <a:srgbClr val="0000CC"/>
                </a:solidFill>
              </a:rPr>
              <a:t>cos </a:t>
            </a:r>
            <a:r>
              <a:rPr lang="en-US" i="1" dirty="0">
                <a:solidFill>
                  <a:srgbClr val="0000CC"/>
                </a:solidFill>
                <a:sym typeface="Symbol" panose="05050102010706020507" pitchFamily="18" charset="2"/>
              </a:rPr>
              <a:t> 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= 0.866</a:t>
            </a:r>
          </a:p>
          <a:p>
            <a:pPr lvl="1"/>
            <a:r>
              <a:rPr lang="en-US" dirty="0" err="1">
                <a:solidFill>
                  <a:srgbClr val="0000CC"/>
                </a:solidFill>
              </a:rPr>
              <a:t>csc</a:t>
            </a:r>
            <a:r>
              <a:rPr lang="en-US" dirty="0">
                <a:solidFill>
                  <a:srgbClr val="0000CC"/>
                </a:solidFill>
              </a:rPr>
              <a:t> </a:t>
            </a:r>
            <a:r>
              <a:rPr lang="en-US" i="1" dirty="0">
                <a:solidFill>
                  <a:srgbClr val="0000CC"/>
                </a:solidFill>
                <a:sym typeface="Symbol" panose="05050102010706020507" pitchFamily="18" charset="2"/>
              </a:rPr>
              <a:t> 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= –5.55</a:t>
            </a:r>
          </a:p>
          <a:p>
            <a:pPr lvl="1"/>
            <a:endParaRPr lang="en-US" dirty="0">
              <a:solidFill>
                <a:srgbClr val="0000CC"/>
              </a:solidFill>
              <a:sym typeface="Symbol" panose="05050102010706020507" pitchFamily="18" charset="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38600" y="1600200"/>
            <a:ext cx="4572000" cy="1800493"/>
          </a:xfrm>
          <a:prstGeom prst="rect">
            <a:avLst/>
          </a:prstGeom>
        </p:spPr>
        <p:txBody>
          <a:bodyPr>
            <a:spAutoFit/>
          </a:bodyPr>
          <a:lstStyle/>
          <a:p>
            <a:pPr marL="402336" lvl="1">
              <a:spcBef>
                <a:spcPts val="550"/>
              </a:spcBef>
              <a:buClr>
                <a:srgbClr val="3891A7"/>
              </a:buClr>
            </a:pPr>
            <a:endParaRPr lang="en-US" sz="2400" b="1" dirty="0">
              <a:solidFill>
                <a:srgbClr val="0000CC"/>
              </a:solidFill>
              <a:sym typeface="Symbol" panose="05050102010706020507" pitchFamily="18" charset="2"/>
            </a:endParaRPr>
          </a:p>
          <a:p>
            <a:pPr marL="402336" lvl="1">
              <a:spcBef>
                <a:spcPts val="550"/>
              </a:spcBef>
              <a:buClr>
                <a:srgbClr val="3891A7"/>
              </a:buClr>
            </a:pPr>
            <a:r>
              <a:rPr lang="en-US" sz="2400" b="1" dirty="0">
                <a:solidFill>
                  <a:srgbClr val="0000CC"/>
                </a:solidFill>
                <a:sym typeface="Symbol" panose="05050102010706020507" pitchFamily="18" charset="2"/>
              </a:rPr>
              <a:t>II </a:t>
            </a:r>
            <a:r>
              <a:rPr lang="en-US" sz="2400" dirty="0">
                <a:solidFill>
                  <a:srgbClr val="0000CC"/>
                </a:solidFill>
                <a:sym typeface="Symbol" panose="05050102010706020507" pitchFamily="18" charset="2"/>
              </a:rPr>
              <a:t>or</a:t>
            </a:r>
            <a:r>
              <a:rPr lang="en-US" sz="2400" b="1" dirty="0">
                <a:solidFill>
                  <a:srgbClr val="0000CC"/>
                </a:solidFill>
                <a:sym typeface="Symbol" panose="05050102010706020507" pitchFamily="18" charset="2"/>
              </a:rPr>
              <a:t> IV </a:t>
            </a:r>
          </a:p>
          <a:p>
            <a:pPr marL="402336" lvl="1">
              <a:spcBef>
                <a:spcPts val="550"/>
              </a:spcBef>
              <a:buClr>
                <a:srgbClr val="3891A7"/>
              </a:buClr>
            </a:pPr>
            <a:r>
              <a:rPr lang="en-US" sz="2400" b="1" dirty="0">
                <a:solidFill>
                  <a:srgbClr val="0000CC"/>
                </a:solidFill>
                <a:sym typeface="Symbol" panose="05050102010706020507" pitchFamily="18" charset="2"/>
              </a:rPr>
              <a:t>I </a:t>
            </a:r>
            <a:r>
              <a:rPr lang="en-US" sz="2400" dirty="0">
                <a:solidFill>
                  <a:srgbClr val="0000CC"/>
                </a:solidFill>
                <a:sym typeface="Symbol" panose="05050102010706020507" pitchFamily="18" charset="2"/>
              </a:rPr>
              <a:t>or</a:t>
            </a:r>
            <a:r>
              <a:rPr lang="en-US" sz="2400" b="1" dirty="0">
                <a:solidFill>
                  <a:srgbClr val="0000CC"/>
                </a:solidFill>
                <a:sym typeface="Symbol" panose="05050102010706020507" pitchFamily="18" charset="2"/>
              </a:rPr>
              <a:t> IV</a:t>
            </a:r>
          </a:p>
          <a:p>
            <a:pPr marL="402336" lvl="1">
              <a:spcBef>
                <a:spcPts val="550"/>
              </a:spcBef>
              <a:buClr>
                <a:srgbClr val="3891A7"/>
              </a:buClr>
            </a:pPr>
            <a:r>
              <a:rPr lang="en-US" sz="2400" b="1" dirty="0">
                <a:solidFill>
                  <a:srgbClr val="0000CC"/>
                </a:solidFill>
                <a:sym typeface="Symbol" panose="05050102010706020507" pitchFamily="18" charset="2"/>
              </a:rPr>
              <a:t>III </a:t>
            </a:r>
            <a:r>
              <a:rPr lang="en-US" sz="2400" dirty="0">
                <a:solidFill>
                  <a:srgbClr val="0000CC"/>
                </a:solidFill>
                <a:sym typeface="Symbol" panose="05050102010706020507" pitchFamily="18" charset="2"/>
              </a:rPr>
              <a:t>or</a:t>
            </a:r>
            <a:r>
              <a:rPr lang="en-US" sz="2400" b="1" dirty="0">
                <a:solidFill>
                  <a:srgbClr val="0000CC"/>
                </a:solidFill>
                <a:sym typeface="Symbol" panose="05050102010706020507" pitchFamily="18" charset="2"/>
              </a:rPr>
              <a:t> IV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19" y="4408187"/>
            <a:ext cx="2877561" cy="245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32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/>
          <p:cNvCxnSpPr/>
          <p:nvPr/>
        </p:nvCxnSpPr>
        <p:spPr>
          <a:xfrm>
            <a:off x="5486400" y="2730321"/>
            <a:ext cx="3048000" cy="18161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</a:t>
            </a:r>
            <a:r>
              <a:rPr lang="en-US" dirty="0">
                <a:solidFill>
                  <a:srgbClr val="0000CC"/>
                </a:solidFill>
              </a:rPr>
              <a:t>tan </a:t>
            </a:r>
            <a:r>
              <a:rPr lang="en-US" i="1" dirty="0">
                <a:solidFill>
                  <a:srgbClr val="0000CC"/>
                </a:solidFill>
                <a:sym typeface="Symbol" panose="05050102010706020507" pitchFamily="18" charset="2"/>
              </a:rPr>
              <a:t>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 = – 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¾</a:t>
            </a:r>
            <a:r>
              <a:rPr lang="en-US" dirty="0"/>
              <a:t> and </a:t>
            </a:r>
            <a:r>
              <a:rPr lang="en-US" dirty="0">
                <a:solidFill>
                  <a:srgbClr val="0000CC"/>
                </a:solidFill>
              </a:rPr>
              <a:t>sin </a:t>
            </a:r>
            <a:r>
              <a:rPr lang="en-US" i="1" dirty="0">
                <a:solidFill>
                  <a:srgbClr val="0000CC"/>
                </a:solidFill>
                <a:sym typeface="Symbol" panose="05050102010706020507" pitchFamily="18" charset="2"/>
              </a:rPr>
              <a:t>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 &lt; 0</a:t>
            </a:r>
            <a:r>
              <a:rPr lang="en-US" dirty="0"/>
              <a:t>, find </a:t>
            </a:r>
            <a:r>
              <a:rPr lang="en-US" dirty="0">
                <a:solidFill>
                  <a:srgbClr val="0000CC"/>
                </a:solidFill>
              </a:rPr>
              <a:t>cos </a:t>
            </a:r>
            <a:r>
              <a:rPr lang="en-US" i="1" dirty="0">
                <a:solidFill>
                  <a:srgbClr val="0000CC"/>
                </a:solidFill>
                <a:sym typeface="Symbol" panose="05050102010706020507" pitchFamily="18" charset="2"/>
              </a:rPr>
              <a:t></a:t>
            </a:r>
            <a:r>
              <a:rPr lang="en-US" dirty="0"/>
              <a:t> and </a:t>
            </a:r>
            <a:r>
              <a:rPr lang="en-US" dirty="0">
                <a:solidFill>
                  <a:srgbClr val="0000CC"/>
                </a:solidFill>
              </a:rPr>
              <a:t>sin </a:t>
            </a:r>
            <a:r>
              <a:rPr lang="en-US" i="1" dirty="0">
                <a:solidFill>
                  <a:srgbClr val="0000CC"/>
                </a:solidFill>
                <a:sym typeface="Symbol" panose="05050102010706020507" pitchFamily="18" charset="2"/>
              </a:rPr>
              <a:t></a:t>
            </a:r>
            <a:r>
              <a:rPr lang="en-US" dirty="0"/>
              <a:t>.</a:t>
            </a:r>
          </a:p>
          <a:p>
            <a:endParaRPr lang="en-US" dirty="0"/>
          </a:p>
          <a:p>
            <a:pPr marL="82296" indent="0">
              <a:buNone/>
            </a:pPr>
            <a:r>
              <a:rPr lang="en-US" dirty="0"/>
              <a:t>Solution:</a:t>
            </a:r>
          </a:p>
          <a:p>
            <a:pPr marL="82296" indent="0">
              <a:buNone/>
            </a:pPr>
            <a:r>
              <a:rPr lang="en-US" dirty="0"/>
              <a:t>We could choose </a:t>
            </a:r>
            <a:r>
              <a:rPr lang="en-US" dirty="0">
                <a:solidFill>
                  <a:srgbClr val="0000CC"/>
                </a:solidFill>
              </a:rPr>
              <a:t>(1, 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–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¾</a:t>
            </a:r>
            <a:r>
              <a:rPr lang="en-US" dirty="0">
                <a:solidFill>
                  <a:srgbClr val="0000CC"/>
                </a:solidFill>
              </a:rPr>
              <a:t>)</a:t>
            </a:r>
          </a:p>
          <a:p>
            <a:pPr marL="82296" indent="0">
              <a:buNone/>
            </a:pPr>
            <a:r>
              <a:rPr lang="en-US" dirty="0"/>
              <a:t>or </a:t>
            </a:r>
            <a:r>
              <a:rPr lang="en-US" dirty="0">
                <a:solidFill>
                  <a:srgbClr val="0000CC"/>
                </a:solidFill>
              </a:rPr>
              <a:t>(4, 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–3</a:t>
            </a:r>
            <a:r>
              <a:rPr lang="en-US" dirty="0">
                <a:solidFill>
                  <a:srgbClr val="0000CC"/>
                </a:solidFill>
              </a:rPr>
              <a:t>)</a:t>
            </a:r>
            <a:r>
              <a:rPr lang="en-US" dirty="0"/>
              <a:t> (or any other point </a:t>
            </a:r>
          </a:p>
          <a:p>
            <a:pPr marL="82296" indent="0">
              <a:buNone/>
            </a:pPr>
            <a:r>
              <a:rPr lang="en-US" dirty="0"/>
              <a:t>on the terminal side) to calculate</a:t>
            </a:r>
          </a:p>
          <a:p>
            <a:pPr marL="82296" indent="0">
              <a:buNone/>
            </a:pP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dirty="0"/>
              <a:t> and find the function values.</a:t>
            </a:r>
          </a:p>
          <a:p>
            <a:pPr marL="82296" indent="0">
              <a:buNone/>
            </a:pPr>
            <a:endParaRPr lang="en-US" i="1" dirty="0"/>
          </a:p>
          <a:p>
            <a:pPr marL="82296" indent="0">
              <a:buNone/>
            </a:pPr>
            <a:r>
              <a:rPr lang="en-US" dirty="0"/>
              <a:t>If we choose </a:t>
            </a:r>
            <a:r>
              <a:rPr lang="en-US" dirty="0">
                <a:solidFill>
                  <a:srgbClr val="0000CC"/>
                </a:solidFill>
              </a:rPr>
              <a:t>(4, 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– 3</a:t>
            </a:r>
            <a:r>
              <a:rPr lang="en-US" dirty="0">
                <a:solidFill>
                  <a:srgbClr val="0000CC"/>
                </a:solidFill>
              </a:rPr>
              <a:t>)</a:t>
            </a:r>
            <a:r>
              <a:rPr lang="en-US" dirty="0"/>
              <a:t>, then </a:t>
            </a: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dirty="0">
                <a:solidFill>
                  <a:srgbClr val="0000FF"/>
                </a:solidFill>
              </a:rPr>
              <a:t> = 5</a:t>
            </a:r>
            <a:r>
              <a:rPr lang="en-US" dirty="0"/>
              <a:t>, and we have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CC"/>
                </a:solidFill>
              </a:rPr>
              <a:t>cos </a:t>
            </a:r>
            <a:r>
              <a:rPr lang="en-US" i="1" dirty="0">
                <a:solidFill>
                  <a:srgbClr val="0000CC"/>
                </a:solidFill>
                <a:sym typeface="Symbol" panose="05050102010706020507" pitchFamily="18" charset="2"/>
              </a:rPr>
              <a:t>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 = 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⅘</a:t>
            </a:r>
            <a:r>
              <a:rPr lang="en-US" dirty="0"/>
              <a:t> and </a:t>
            </a:r>
            <a:r>
              <a:rPr lang="en-US" dirty="0">
                <a:solidFill>
                  <a:srgbClr val="0000CC"/>
                </a:solidFill>
              </a:rPr>
              <a:t>sin </a:t>
            </a:r>
            <a:r>
              <a:rPr lang="en-US" i="1" dirty="0">
                <a:solidFill>
                  <a:srgbClr val="0000CC"/>
                </a:solidFill>
                <a:sym typeface="Symbol" panose="05050102010706020507" pitchFamily="18" charset="2"/>
              </a:rPr>
              <a:t>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 = –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⅗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.</a:t>
            </a:r>
            <a:endParaRPr lang="en-US" i="1" dirty="0"/>
          </a:p>
        </p:txBody>
      </p:sp>
      <p:sp>
        <p:nvSpPr>
          <p:cNvPr id="9" name="Arc 8"/>
          <p:cNvSpPr/>
          <p:nvPr/>
        </p:nvSpPr>
        <p:spPr>
          <a:xfrm>
            <a:off x="5943600" y="2678219"/>
            <a:ext cx="359134" cy="445981"/>
          </a:xfrm>
          <a:prstGeom prst="arc">
            <a:avLst>
              <a:gd name="adj1" fmla="val 18178459"/>
              <a:gd name="adj2" fmla="val 5461333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588490" y="2819400"/>
            <a:ext cx="4219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>
                <a:solidFill>
                  <a:srgbClr val="0000CC"/>
                </a:solidFill>
                <a:sym typeface="Symbol" panose="05050102010706020507" pitchFamily="18" charset="2"/>
              </a:rPr>
              <a:t>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495800" y="2730321"/>
            <a:ext cx="39624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5486400" y="1828802"/>
            <a:ext cx="0" cy="281939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324600" y="2581395"/>
            <a:ext cx="4572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rgbClr val="0000CC"/>
                </a:solidFill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83810" y="3444630"/>
            <a:ext cx="9156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(1, 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– 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¾</a:t>
            </a:r>
            <a:r>
              <a:rPr lang="en-US" dirty="0">
                <a:solidFill>
                  <a:srgbClr val="0000CC"/>
                </a:solidFill>
              </a:rPr>
              <a:t>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4800" y="3530768"/>
            <a:ext cx="4572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rgbClr val="0000CC"/>
                </a:solidFill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39645" y="4310528"/>
            <a:ext cx="8579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(4, 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– 3</a:t>
            </a:r>
            <a:r>
              <a:rPr lang="en-US" dirty="0">
                <a:solidFill>
                  <a:srgbClr val="0000CC"/>
                </a:solidFill>
              </a:rPr>
              <a:t>)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5696254" y="1924735"/>
            <a:ext cx="2466765" cy="666065"/>
            <a:chOff x="5696254" y="1924735"/>
            <a:chExt cx="2466765" cy="666065"/>
          </a:xfrm>
        </p:grpSpPr>
        <p:sp>
          <p:nvSpPr>
            <p:cNvPr id="23" name="Rectangle 22"/>
            <p:cNvSpPr/>
            <p:nvPr/>
          </p:nvSpPr>
          <p:spPr>
            <a:xfrm>
              <a:off x="5696254" y="2044096"/>
              <a:ext cx="220765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CC"/>
                  </a:solidFill>
                </a:rPr>
                <a:t>tan </a:t>
              </a:r>
              <a:r>
                <a:rPr lang="en-US" i="1" dirty="0">
                  <a:solidFill>
                    <a:srgbClr val="0000CC"/>
                  </a:solidFill>
                  <a:sym typeface="Symbol" panose="05050102010706020507" pitchFamily="18" charset="2"/>
                </a:rPr>
                <a:t></a:t>
              </a:r>
              <a:r>
                <a:rPr lang="en-US" dirty="0">
                  <a:solidFill>
                    <a:srgbClr val="0000CC"/>
                  </a:solidFill>
                  <a:sym typeface="Symbol" panose="05050102010706020507" pitchFamily="18" charset="2"/>
                </a:rPr>
                <a:t> =      =           = </a:t>
              </a:r>
              <a:endParaRPr lang="en-US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442927" y="1924735"/>
              <a:ext cx="287258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i="1" u="sng" dirty="0">
                  <a:solidFill>
                    <a:srgbClr val="0000CC"/>
                  </a:solidFill>
                </a:rPr>
                <a:t>y</a:t>
              </a:r>
              <a:endParaRPr lang="en-US" i="1" dirty="0">
                <a:solidFill>
                  <a:srgbClr val="0000CC"/>
                </a:solidFill>
              </a:endParaRPr>
            </a:p>
            <a:p>
              <a:r>
                <a:rPr lang="en-US" i="1" dirty="0">
                  <a:solidFill>
                    <a:srgbClr val="0000CC"/>
                  </a:solidFill>
                </a:rPr>
                <a:t>x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927068" y="1937887"/>
              <a:ext cx="55015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u="sng" dirty="0">
                  <a:solidFill>
                    <a:srgbClr val="00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-¾ </a:t>
              </a:r>
            </a:p>
            <a:p>
              <a:pPr algn="ctr"/>
              <a:r>
                <a:rPr lang="en-US" dirty="0">
                  <a:solidFill>
                    <a:srgbClr val="0000CC"/>
                  </a:solidFill>
                </a:rPr>
                <a:t>1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612867" y="1944469"/>
              <a:ext cx="55015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u="sng" dirty="0">
                  <a:solidFill>
                    <a:srgbClr val="0000CC"/>
                  </a:solidFill>
                  <a:sym typeface="Symbol" panose="05050102010706020507" pitchFamily="18" charset="2"/>
                </a:rPr>
                <a:t>  -3 </a:t>
              </a:r>
              <a:endParaRPr lang="en-US" u="sng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  <a:p>
              <a:pPr algn="ctr"/>
              <a:r>
                <a:rPr lang="en-US" dirty="0">
                  <a:solidFill>
                    <a:srgbClr val="0000CC"/>
                  </a:solidFill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4209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4" grpId="0"/>
      <p:bldP spid="15" grpId="0"/>
      <p:bldP spid="16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/>
          <p:cNvCxnSpPr/>
          <p:nvPr/>
        </p:nvCxnSpPr>
        <p:spPr>
          <a:xfrm>
            <a:off x="5486400" y="2730321"/>
            <a:ext cx="3048000" cy="18161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</a:t>
            </a:r>
            <a:r>
              <a:rPr lang="en-US" dirty="0">
                <a:solidFill>
                  <a:srgbClr val="0000CC"/>
                </a:solidFill>
              </a:rPr>
              <a:t>tan </a:t>
            </a:r>
            <a:r>
              <a:rPr lang="en-US" i="1" dirty="0">
                <a:solidFill>
                  <a:srgbClr val="0000CC"/>
                </a:solidFill>
                <a:sym typeface="Symbol" panose="05050102010706020507" pitchFamily="18" charset="2"/>
              </a:rPr>
              <a:t>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 = – 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¾</a:t>
            </a:r>
            <a:r>
              <a:rPr lang="en-US" dirty="0"/>
              <a:t> and </a:t>
            </a:r>
            <a:r>
              <a:rPr lang="en-US" dirty="0">
                <a:solidFill>
                  <a:srgbClr val="0000CC"/>
                </a:solidFill>
              </a:rPr>
              <a:t>sin </a:t>
            </a:r>
            <a:r>
              <a:rPr lang="en-US" i="1" dirty="0">
                <a:solidFill>
                  <a:srgbClr val="0000CC"/>
                </a:solidFill>
                <a:sym typeface="Symbol" panose="05050102010706020507" pitchFamily="18" charset="2"/>
              </a:rPr>
              <a:t>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 &lt; 0</a:t>
            </a:r>
            <a:r>
              <a:rPr lang="en-US" dirty="0"/>
              <a:t>, find </a:t>
            </a:r>
            <a:r>
              <a:rPr lang="en-US" dirty="0">
                <a:solidFill>
                  <a:srgbClr val="0000CC"/>
                </a:solidFill>
              </a:rPr>
              <a:t>cos </a:t>
            </a:r>
            <a:r>
              <a:rPr lang="en-US" i="1" dirty="0">
                <a:solidFill>
                  <a:srgbClr val="0000CC"/>
                </a:solidFill>
                <a:sym typeface="Symbol" panose="05050102010706020507" pitchFamily="18" charset="2"/>
              </a:rPr>
              <a:t></a:t>
            </a:r>
            <a:r>
              <a:rPr lang="en-US" dirty="0"/>
              <a:t> and </a:t>
            </a:r>
            <a:r>
              <a:rPr lang="en-US" dirty="0">
                <a:solidFill>
                  <a:srgbClr val="0000CC"/>
                </a:solidFill>
              </a:rPr>
              <a:t>sin </a:t>
            </a:r>
            <a:r>
              <a:rPr lang="en-US" i="1" dirty="0">
                <a:solidFill>
                  <a:srgbClr val="0000CC"/>
                </a:solidFill>
                <a:sym typeface="Symbol" panose="05050102010706020507" pitchFamily="18" charset="2"/>
              </a:rPr>
              <a:t></a:t>
            </a:r>
            <a:r>
              <a:rPr lang="en-US" dirty="0"/>
              <a:t>.</a:t>
            </a:r>
          </a:p>
          <a:p>
            <a:endParaRPr lang="en-US" dirty="0"/>
          </a:p>
          <a:p>
            <a:pPr marL="82296" indent="0">
              <a:buNone/>
            </a:pPr>
            <a:r>
              <a:rPr lang="en-US" dirty="0"/>
              <a:t>Solution:</a:t>
            </a:r>
          </a:p>
          <a:p>
            <a:pPr marL="82296" indent="0">
              <a:buNone/>
            </a:pPr>
            <a:r>
              <a:rPr lang="en-US" dirty="0"/>
              <a:t>We could choose </a:t>
            </a:r>
            <a:r>
              <a:rPr lang="en-US" dirty="0">
                <a:solidFill>
                  <a:srgbClr val="0000CC"/>
                </a:solidFill>
              </a:rPr>
              <a:t>(1, 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–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¾</a:t>
            </a:r>
            <a:r>
              <a:rPr lang="en-US" dirty="0">
                <a:solidFill>
                  <a:srgbClr val="0000CC"/>
                </a:solidFill>
              </a:rPr>
              <a:t>)</a:t>
            </a:r>
          </a:p>
          <a:p>
            <a:pPr marL="82296" indent="0">
              <a:buNone/>
            </a:pPr>
            <a:r>
              <a:rPr lang="en-US" dirty="0"/>
              <a:t>or </a:t>
            </a:r>
            <a:r>
              <a:rPr lang="en-US" dirty="0">
                <a:solidFill>
                  <a:srgbClr val="0000CC"/>
                </a:solidFill>
              </a:rPr>
              <a:t>(4, 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–3</a:t>
            </a:r>
            <a:r>
              <a:rPr lang="en-US" dirty="0">
                <a:solidFill>
                  <a:srgbClr val="0000CC"/>
                </a:solidFill>
              </a:rPr>
              <a:t>)</a:t>
            </a:r>
            <a:r>
              <a:rPr lang="en-US" dirty="0"/>
              <a:t> (or any other point </a:t>
            </a:r>
          </a:p>
          <a:p>
            <a:pPr marL="82296" indent="0">
              <a:buNone/>
            </a:pPr>
            <a:r>
              <a:rPr lang="en-US" dirty="0"/>
              <a:t>on the terminal side) to calculate</a:t>
            </a:r>
          </a:p>
          <a:p>
            <a:pPr marL="82296" indent="0">
              <a:buNone/>
            </a:pPr>
            <a:r>
              <a:rPr lang="en-US" i="1" dirty="0">
                <a:solidFill>
                  <a:srgbClr val="0000FF"/>
                </a:solidFill>
              </a:rPr>
              <a:t>r</a:t>
            </a:r>
            <a:r>
              <a:rPr lang="en-US" dirty="0"/>
              <a:t> and find the function values.</a:t>
            </a:r>
          </a:p>
          <a:p>
            <a:pPr marL="82296" indent="0">
              <a:buNone/>
            </a:pPr>
            <a:endParaRPr lang="en-US" i="1" dirty="0"/>
          </a:p>
          <a:p>
            <a:pPr marL="82296" indent="0">
              <a:buNone/>
            </a:pPr>
            <a:r>
              <a:rPr lang="en-US" dirty="0"/>
              <a:t>Note that we could also use trigonometric identities to find the value of the other trigonometric functions.</a:t>
            </a:r>
          </a:p>
          <a:p>
            <a:pPr marL="82296" indent="0">
              <a:buNone/>
            </a:pPr>
            <a:r>
              <a:rPr lang="en-US" dirty="0"/>
              <a:t>(also see Example 6 in the text.)</a:t>
            </a:r>
          </a:p>
        </p:txBody>
      </p:sp>
      <p:sp>
        <p:nvSpPr>
          <p:cNvPr id="9" name="Arc 8"/>
          <p:cNvSpPr/>
          <p:nvPr/>
        </p:nvSpPr>
        <p:spPr>
          <a:xfrm>
            <a:off x="5943600" y="2678219"/>
            <a:ext cx="359134" cy="445981"/>
          </a:xfrm>
          <a:prstGeom prst="arc">
            <a:avLst>
              <a:gd name="adj1" fmla="val 18178459"/>
              <a:gd name="adj2" fmla="val 5461333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588490" y="2819400"/>
            <a:ext cx="4219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>
                <a:solidFill>
                  <a:srgbClr val="0000CC"/>
                </a:solidFill>
                <a:sym typeface="Symbol" panose="05050102010706020507" pitchFamily="18" charset="2"/>
              </a:rPr>
              <a:t></a:t>
            </a:r>
            <a:r>
              <a:rPr lang="en-US" sz="2400" dirty="0">
                <a:solidFill>
                  <a:prstClr val="black"/>
                </a:solidFill>
              </a:rPr>
              <a:t> </a:t>
            </a: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495800" y="2730321"/>
            <a:ext cx="39624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5486400" y="1828802"/>
            <a:ext cx="0" cy="281939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324600" y="2581395"/>
            <a:ext cx="4572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rgbClr val="0000CC"/>
                </a:solidFill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83810" y="3444630"/>
            <a:ext cx="9156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(1, 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– 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¾</a:t>
            </a:r>
            <a:r>
              <a:rPr lang="en-US" dirty="0">
                <a:solidFill>
                  <a:srgbClr val="0000CC"/>
                </a:solidFill>
              </a:rPr>
              <a:t>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4800" y="3530768"/>
            <a:ext cx="4572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rgbClr val="0000CC"/>
                </a:solidFill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39645" y="4310528"/>
            <a:ext cx="8579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(4, 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– 3</a:t>
            </a:r>
            <a:r>
              <a:rPr lang="en-US" dirty="0">
                <a:solidFill>
                  <a:srgbClr val="0000CC"/>
                </a:solidFill>
              </a:rPr>
              <a:t>)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5696254" y="1924735"/>
            <a:ext cx="2428292" cy="666065"/>
            <a:chOff x="5696254" y="1924735"/>
            <a:chExt cx="2428292" cy="666065"/>
          </a:xfrm>
        </p:grpSpPr>
        <p:sp>
          <p:nvSpPr>
            <p:cNvPr id="23" name="Rectangle 22"/>
            <p:cNvSpPr/>
            <p:nvPr/>
          </p:nvSpPr>
          <p:spPr>
            <a:xfrm>
              <a:off x="5696254" y="2044096"/>
              <a:ext cx="21307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CC"/>
                  </a:solidFill>
                </a:rPr>
                <a:t>tan </a:t>
              </a:r>
              <a:r>
                <a:rPr lang="en-US" i="1" dirty="0">
                  <a:solidFill>
                    <a:srgbClr val="0000CC"/>
                  </a:solidFill>
                  <a:sym typeface="Symbol" panose="05050102010706020507" pitchFamily="18" charset="2"/>
                </a:rPr>
                <a:t></a:t>
              </a:r>
              <a:r>
                <a:rPr lang="en-US" dirty="0">
                  <a:solidFill>
                    <a:srgbClr val="0000CC"/>
                  </a:solidFill>
                  <a:sym typeface="Symbol" panose="05050102010706020507" pitchFamily="18" charset="2"/>
                </a:rPr>
                <a:t> =      =           = </a:t>
              </a:r>
              <a:endParaRPr lang="en-US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442927" y="1924735"/>
              <a:ext cx="287258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i="1" u="sng" dirty="0">
                  <a:solidFill>
                    <a:srgbClr val="0000CC"/>
                  </a:solidFill>
                </a:rPr>
                <a:t>y</a:t>
              </a:r>
              <a:endParaRPr lang="en-US" i="1" dirty="0">
                <a:solidFill>
                  <a:srgbClr val="0000CC"/>
                </a:solidFill>
              </a:endParaRPr>
            </a:p>
            <a:p>
              <a:r>
                <a:rPr lang="en-US" i="1" dirty="0">
                  <a:solidFill>
                    <a:srgbClr val="0000CC"/>
                  </a:solidFill>
                </a:rPr>
                <a:t>x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965541" y="1937887"/>
              <a:ext cx="47320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u="sng" dirty="0">
                  <a:solidFill>
                    <a:srgbClr val="00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¾ </a:t>
              </a:r>
            </a:p>
            <a:p>
              <a:pPr algn="ctr"/>
              <a:r>
                <a:rPr lang="en-US" dirty="0">
                  <a:solidFill>
                    <a:srgbClr val="0000CC"/>
                  </a:solidFill>
                </a:rPr>
                <a:t>–1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651340" y="1944469"/>
              <a:ext cx="47320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u="sng" dirty="0">
                  <a:solidFill>
                    <a:srgbClr val="0000CC"/>
                  </a:solidFill>
                  <a:sym typeface="Symbol" panose="05050102010706020507" pitchFamily="18" charset="2"/>
                </a:rPr>
                <a:t>  3 </a:t>
              </a:r>
              <a:endParaRPr lang="en-US" u="sng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  <a:p>
              <a:pPr algn="ctr"/>
              <a:r>
                <a:rPr lang="en-US" dirty="0">
                  <a:solidFill>
                    <a:srgbClr val="0000CC"/>
                  </a:solidFill>
                </a:rPr>
                <a:t>– 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5816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Trigonometric Functions of Any 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1214907"/>
                <a:ext cx="8077200" cy="4800600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The </a:t>
                </a:r>
                <a:r>
                  <a:rPr lang="en-US" sz="2400" b="1" dirty="0"/>
                  <a:t>reference</a:t>
                </a:r>
                <a:r>
                  <a:rPr lang="en-US" sz="2400" dirty="0"/>
                  <a:t> angle, labeled </a:t>
                </a:r>
                <a:r>
                  <a:rPr lang="en-US" sz="2400" i="1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</a:t>
                </a:r>
                <a:r>
                  <a:rPr lang="en-US" sz="2400" dirty="0">
                    <a:sym typeface="Symbol" panose="05050102010706020507" pitchFamily="18" charset="2"/>
                  </a:rPr>
                  <a:t> (“</a:t>
                </a:r>
                <a:r>
                  <a:rPr lang="en-US" sz="2400" i="1" dirty="0">
                    <a:sym typeface="Symbol" panose="05050102010706020507" pitchFamily="18" charset="2"/>
                  </a:rPr>
                  <a:t>theta-prime</a:t>
                </a:r>
                <a:r>
                  <a:rPr lang="en-US" sz="2400" dirty="0">
                    <a:sym typeface="Symbol" panose="05050102010706020507" pitchFamily="18" charset="2"/>
                  </a:rPr>
                  <a:t>”), of a given angle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dirty="0">
                    <a:sym typeface="Symbol" panose="05050102010706020507" pitchFamily="18" charset="2"/>
                  </a:rPr>
                  <a:t> is the positive, acute angle formed </a:t>
                </a:r>
                <a:r>
                  <a:rPr lang="en-US" sz="2400" u="sng" dirty="0">
                    <a:sym typeface="Symbol" panose="05050102010706020507" pitchFamily="18" charset="2"/>
                  </a:rPr>
                  <a:t>between the terminal side of </a:t>
                </a:r>
                <a:r>
                  <a:rPr lang="en-US" i="1" u="sng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</a:t>
                </a:r>
                <a:r>
                  <a:rPr lang="en-US" u="sng" dirty="0">
                    <a:sym typeface="Symbol" panose="05050102010706020507" pitchFamily="18" charset="2"/>
                  </a:rPr>
                  <a:t>  and the </a:t>
                </a:r>
                <a:r>
                  <a:rPr lang="en-US" i="1" u="sng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x</a:t>
                </a:r>
                <a:r>
                  <a:rPr lang="en-US" u="sng" dirty="0">
                    <a:sym typeface="Symbol" panose="05050102010706020507" pitchFamily="18" charset="2"/>
                  </a:rPr>
                  <a:t>-axis</a:t>
                </a:r>
                <a:r>
                  <a:rPr lang="en-US" dirty="0">
                    <a:sym typeface="Symbol" panose="05050102010706020507" pitchFamily="18" charset="2"/>
                  </a:rPr>
                  <a:t>.</a:t>
                </a:r>
              </a:p>
              <a:p>
                <a:endParaRPr lang="en-US" dirty="0">
                  <a:sym typeface="Symbol" panose="05050102010706020507" pitchFamily="18" charset="2"/>
                </a:endParaRPr>
              </a:p>
              <a:p>
                <a:r>
                  <a:rPr lang="en-US" dirty="0">
                    <a:sym typeface="Symbol" panose="05050102010706020507" pitchFamily="18" charset="2"/>
                  </a:rPr>
                  <a:t>Consider the angle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𝜃</m:t>
                    </m:r>
                  </m:oMath>
                </a14:m>
                <a:r>
                  <a:rPr lang="en-US" dirty="0">
                    <a:sym typeface="Symbol" panose="05050102010706020507" pitchFamily="18" charset="2"/>
                  </a:rPr>
                  <a:t> in Quadrant I with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tan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𝜃</m:t>
                        </m:r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4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7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dirty="0">
                    <a:sym typeface="Symbol" panose="05050102010706020507" pitchFamily="18" charset="2"/>
                  </a:rPr>
                  <a:t>.</a:t>
                </a:r>
              </a:p>
              <a:p>
                <a:pPr lvl="1"/>
                <a:r>
                  <a:rPr lang="en-US" dirty="0">
                    <a:sym typeface="Symbol" panose="05050102010706020507" pitchFamily="18" charset="2"/>
                  </a:rPr>
                  <a:t>The point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(7,4)</m:t>
                    </m:r>
                  </m:oMath>
                </a14:m>
                <a:r>
                  <a:rPr lang="en-US" dirty="0">
                    <a:sym typeface="Symbol" panose="05050102010706020507" pitchFamily="18" charset="2"/>
                  </a:rPr>
                  <a:t> lies on the terminal side. (on whiteboard)</a:t>
                </a:r>
              </a:p>
              <a:p>
                <a:pPr lvl="1"/>
                <a:r>
                  <a:rPr lang="en-US" dirty="0">
                    <a:sym typeface="Symbol" panose="05050102010706020507" pitchFamily="18" charset="2"/>
                  </a:rPr>
                  <a:t>Consider the angles through the points in the other quadrants when we reflect the point over the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</m:oMath>
                </a14:m>
                <a:r>
                  <a:rPr lang="en-US" dirty="0">
                    <a:sym typeface="Symbol" panose="05050102010706020507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𝑦</m:t>
                    </m:r>
                  </m:oMath>
                </a14:m>
                <a:r>
                  <a:rPr lang="en-US" dirty="0">
                    <a:sym typeface="Symbol" panose="05050102010706020507" pitchFamily="18" charset="2"/>
                  </a:rPr>
                  <a:t>-axes.</a:t>
                </a:r>
              </a:p>
              <a:p>
                <a:pPr lvl="1"/>
                <a:r>
                  <a:rPr lang="en-US" dirty="0">
                    <a:sym typeface="Symbol" panose="05050102010706020507" pitchFamily="18" charset="2"/>
                  </a:rPr>
                  <a:t>Note that the tangent of these new angles is either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4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dirty="0">
                    <a:sym typeface="Symbol" panose="05050102010706020507" pitchFamily="18" charset="2"/>
                  </a:rPr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4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dirty="0">
                    <a:sym typeface="Symbol" panose="05050102010706020507" pitchFamily="18" charset="2"/>
                  </a:rPr>
                  <a:t>.</a:t>
                </a:r>
              </a:p>
              <a:p>
                <a:pPr lvl="1"/>
                <a:r>
                  <a:rPr lang="en-US" dirty="0">
                    <a:sym typeface="Symbol" panose="05050102010706020507" pitchFamily="18" charset="2"/>
                  </a:rPr>
                  <a:t>Each of these new angles have the same </a:t>
                </a:r>
                <a:r>
                  <a:rPr lang="en-US" i="1" dirty="0">
                    <a:sym typeface="Symbol" panose="05050102010706020507" pitchFamily="18" charset="2"/>
                  </a:rPr>
                  <a:t>reference</a:t>
                </a:r>
                <a:r>
                  <a:rPr lang="en-US" dirty="0">
                    <a:sym typeface="Symbol" panose="05050102010706020507" pitchFamily="18" charset="2"/>
                  </a:rPr>
                  <a:t> angle.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214907"/>
                <a:ext cx="8077200" cy="4800600"/>
              </a:xfrm>
              <a:blipFill>
                <a:blip r:embed="rId3"/>
                <a:stretch>
                  <a:fillRect t="-1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156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Trigonometric Functions of Any 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1214907"/>
                <a:ext cx="7924800" cy="4800600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The </a:t>
                </a:r>
                <a:r>
                  <a:rPr lang="en-US" sz="2400" b="1" dirty="0"/>
                  <a:t>reference</a:t>
                </a:r>
                <a:r>
                  <a:rPr lang="en-US" sz="2400" dirty="0"/>
                  <a:t> angle, labeled </a:t>
                </a:r>
                <a:r>
                  <a:rPr lang="en-US" sz="2400" i="1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</a:t>
                </a:r>
                <a:r>
                  <a:rPr lang="en-US" sz="2400" dirty="0">
                    <a:sym typeface="Symbol" panose="05050102010706020507" pitchFamily="18" charset="2"/>
                  </a:rPr>
                  <a:t> (“</a:t>
                </a:r>
                <a:r>
                  <a:rPr lang="en-US" sz="2400" i="1" dirty="0">
                    <a:sym typeface="Symbol" panose="05050102010706020507" pitchFamily="18" charset="2"/>
                  </a:rPr>
                  <a:t>theta-prime</a:t>
                </a:r>
                <a:r>
                  <a:rPr lang="en-US" sz="2400" dirty="0">
                    <a:sym typeface="Symbol" panose="05050102010706020507" pitchFamily="18" charset="2"/>
                  </a:rPr>
                  <a:t>”), of a given angle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dirty="0">
                    <a:sym typeface="Symbol" panose="05050102010706020507" pitchFamily="18" charset="2"/>
                  </a:rPr>
                  <a:t> is the positive, acute angle formed </a:t>
                </a:r>
                <a:r>
                  <a:rPr lang="en-US" sz="2400" u="sng" dirty="0">
                    <a:sym typeface="Symbol" panose="05050102010706020507" pitchFamily="18" charset="2"/>
                  </a:rPr>
                  <a:t>between the terminal side of </a:t>
                </a:r>
                <a:r>
                  <a:rPr lang="en-US" i="1" u="sng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</a:t>
                </a:r>
                <a:r>
                  <a:rPr lang="en-US" u="sng" dirty="0">
                    <a:sym typeface="Symbol" panose="05050102010706020507" pitchFamily="18" charset="2"/>
                  </a:rPr>
                  <a:t>  and the </a:t>
                </a:r>
                <a:r>
                  <a:rPr lang="en-US" i="1" u="sng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x</a:t>
                </a:r>
                <a:r>
                  <a:rPr lang="en-US" u="sng" dirty="0">
                    <a:sym typeface="Symbol" panose="05050102010706020507" pitchFamily="18" charset="2"/>
                  </a:rPr>
                  <a:t>-axis</a:t>
                </a:r>
                <a:r>
                  <a:rPr lang="en-US" dirty="0">
                    <a:sym typeface="Symbol" panose="05050102010706020507" pitchFamily="18" charset="2"/>
                  </a:rPr>
                  <a:t>.</a:t>
                </a:r>
              </a:p>
              <a:p>
                <a:pPr lvl="1"/>
                <a:r>
                  <a:rPr lang="en-US" dirty="0">
                    <a:sym typeface="Symbol" panose="05050102010706020507" pitchFamily="18" charset="2"/>
                  </a:rPr>
                  <a:t>Examples:  Find the reference angle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𝜃</m:t>
                    </m:r>
                  </m:oMath>
                </a14:m>
                <a:r>
                  <a:rPr lang="en-US" dirty="0">
                    <a:sym typeface="Symbol" panose="05050102010706020507" pitchFamily="18" charset="2"/>
                  </a:rPr>
                  <a:t>.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=150°</m:t>
                    </m:r>
                  </m:oMath>
                </a14:m>
                <a:endParaRPr lang="en-US" b="0" dirty="0">
                  <a:ea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lvl="2"/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=230°</m:t>
                    </m:r>
                  </m:oMath>
                </a14:m>
                <a:r>
                  <a:rPr lang="en-US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     </m:t>
                    </m:r>
                  </m:oMath>
                </a14:m>
                <a:endParaRPr lang="en-US" dirty="0">
                  <a:sym typeface="Symbol" panose="05050102010706020507" pitchFamily="18" charset="2"/>
                </a:endParaRPr>
              </a:p>
              <a:p>
                <a:pPr lvl="2"/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=285°</m:t>
                    </m:r>
                  </m:oMath>
                </a14:m>
                <a:r>
                  <a:rPr lang="en-US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     </m:t>
                    </m:r>
                  </m:oMath>
                </a14:m>
                <a:endParaRPr lang="en-US" dirty="0">
                  <a:sym typeface="Symbol" panose="05050102010706020507" pitchFamily="18" charset="2"/>
                </a:endParaRPr>
              </a:p>
              <a:p>
                <a:pPr lvl="2"/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=420°</m:t>
                    </m:r>
                  </m:oMath>
                </a14:m>
                <a:r>
                  <a:rPr lang="en-US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      </m:t>
                    </m:r>
                  </m:oMath>
                </a14:m>
                <a:endParaRPr lang="en-US" dirty="0">
                  <a:sym typeface="Symbol" panose="05050102010706020507" pitchFamily="18" charset="2"/>
                </a:endParaRPr>
              </a:p>
              <a:p>
                <a:pPr lvl="2"/>
                <a:endParaRPr lang="en-US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214907"/>
                <a:ext cx="7924800" cy="4800600"/>
              </a:xfrm>
              <a:blipFill>
                <a:blip r:embed="rId2"/>
                <a:stretch>
                  <a:fillRect t="-1142" b="-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514600" y="2838987"/>
                <a:ext cx="4572000" cy="312553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658368" lvl="2">
                  <a:spcBef>
                    <a:spcPct val="20000"/>
                  </a:spcBef>
                  <a:buClr>
                    <a:srgbClr val="FEB80A"/>
                  </a:buClr>
                </a:pPr>
                <a:r>
                  <a:rPr lang="en-US" sz="2400" dirty="0">
                    <a:solidFill>
                      <a:srgbClr val="0000CC"/>
                    </a:solidFill>
                    <a:ea typeface="Cambria Math" panose="02040503050406030204" pitchFamily="18" charset="0"/>
                    <a:sym typeface="Symbol" panose="05050102010706020507" pitchFamily="18" charset="2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𝜃</m:t>
                    </m:r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′</m:t>
                    </m:r>
                    <m:r>
                      <a:rPr lang="en-US" sz="24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=30</m:t>
                    </m:r>
                    <m:r>
                      <a:rPr lang="en-US" sz="24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°</m:t>
                    </m:r>
                  </m:oMath>
                </a14:m>
                <a:r>
                  <a:rPr lang="en-US" sz="2400" dirty="0">
                    <a:solidFill>
                      <a:srgbClr val="0000CC"/>
                    </a:solidFill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</a:p>
              <a:p>
                <a:pPr marL="658368" lvl="2">
                  <a:spcBef>
                    <a:spcPct val="20000"/>
                  </a:spcBef>
                  <a:buClr>
                    <a:srgbClr val="FEB80A"/>
                  </a:buClr>
                </a:pPr>
                <a:endParaRPr lang="en-US" sz="2400" dirty="0">
                  <a:solidFill>
                    <a:srgbClr val="0000CC"/>
                  </a:solidFill>
                  <a:ea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marL="658368" lvl="2">
                  <a:spcBef>
                    <a:spcPct val="20000"/>
                  </a:spcBef>
                  <a:buClr>
                    <a:srgbClr val="FEB80A"/>
                  </a:buClr>
                </a:pPr>
                <a:r>
                  <a:rPr lang="en-US" sz="2400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 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sz="240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𝜃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sz="24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50</m:t>
                    </m:r>
                    <m:r>
                      <a:rPr lang="en-US" sz="24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°</m:t>
                    </m:r>
                  </m:oMath>
                </a14:m>
                <a:r>
                  <a:rPr lang="en-US" sz="2400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 </a:t>
                </a:r>
              </a:p>
              <a:p>
                <a:pPr marL="658368" lvl="2">
                  <a:spcBef>
                    <a:spcPct val="20000"/>
                  </a:spcBef>
                  <a:buClr>
                    <a:srgbClr val="FEB80A"/>
                  </a:buClr>
                </a:pPr>
                <a:endParaRPr lang="en-US" sz="2400" dirty="0">
                  <a:solidFill>
                    <a:srgbClr val="0000CC"/>
                  </a:solidFill>
                  <a:sym typeface="Symbol" panose="05050102010706020507" pitchFamily="18" charset="2"/>
                </a:endParaRPr>
              </a:p>
              <a:p>
                <a:pPr marL="658368" lvl="2">
                  <a:spcBef>
                    <a:spcPct val="20000"/>
                  </a:spcBef>
                  <a:buClr>
                    <a:srgbClr val="FEB80A"/>
                  </a:buClr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   </m:t>
                    </m:r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𝜃</m:t>
                    </m:r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′=75°</m:t>
                    </m:r>
                  </m:oMath>
                </a14:m>
                <a:r>
                  <a:rPr lang="en-US" sz="2400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 </a:t>
                </a:r>
              </a:p>
              <a:p>
                <a:pPr marL="658368" lvl="2">
                  <a:spcBef>
                    <a:spcPct val="20000"/>
                  </a:spcBef>
                  <a:buClr>
                    <a:srgbClr val="FEB80A"/>
                  </a:buClr>
                </a:pPr>
                <a:endParaRPr lang="en-US" sz="2400" dirty="0">
                  <a:solidFill>
                    <a:srgbClr val="0000CC"/>
                  </a:solidFill>
                  <a:sym typeface="Symbol" panose="05050102010706020507" pitchFamily="18" charset="2"/>
                </a:endParaRPr>
              </a:p>
              <a:p>
                <a:pPr marL="658368" lvl="2">
                  <a:spcBef>
                    <a:spcPct val="20000"/>
                  </a:spcBef>
                  <a:buClr>
                    <a:srgbClr val="FEB80A"/>
                  </a:buClr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 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sz="240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𝜃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sz="24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60</m:t>
                    </m:r>
                    <m:r>
                      <a:rPr lang="en-US" sz="24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°</m:t>
                    </m:r>
                  </m:oMath>
                </a14:m>
                <a:r>
                  <a:rPr lang="en-US" sz="2400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 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2838987"/>
                <a:ext cx="4572000" cy="31255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714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Trigonometric Functions of Any 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1214906"/>
                <a:ext cx="8001000" cy="5490693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The </a:t>
                </a:r>
                <a:r>
                  <a:rPr lang="en-US" sz="2400" b="1" dirty="0"/>
                  <a:t>reference</a:t>
                </a:r>
                <a:r>
                  <a:rPr lang="en-US" sz="2400" dirty="0"/>
                  <a:t> angle, labeled </a:t>
                </a:r>
                <a:r>
                  <a:rPr lang="en-US" sz="2400" i="1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</a:t>
                </a:r>
                <a:r>
                  <a:rPr lang="en-US" sz="2400" dirty="0">
                    <a:sym typeface="Symbol" panose="05050102010706020507" pitchFamily="18" charset="2"/>
                  </a:rPr>
                  <a:t> (“</a:t>
                </a:r>
                <a:r>
                  <a:rPr lang="en-US" sz="2400" i="1" dirty="0">
                    <a:sym typeface="Symbol" panose="05050102010706020507" pitchFamily="18" charset="2"/>
                  </a:rPr>
                  <a:t>theta-prime</a:t>
                </a:r>
                <a:r>
                  <a:rPr lang="en-US" sz="2400" dirty="0">
                    <a:sym typeface="Symbol" panose="05050102010706020507" pitchFamily="18" charset="2"/>
                  </a:rPr>
                  <a:t>”), of a given angle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dirty="0">
                    <a:sym typeface="Symbol" panose="05050102010706020507" pitchFamily="18" charset="2"/>
                  </a:rPr>
                  <a:t> is the positive, acute angle formed </a:t>
                </a:r>
                <a:r>
                  <a:rPr lang="en-US" sz="2400" u="sng" dirty="0">
                    <a:sym typeface="Symbol" panose="05050102010706020507" pitchFamily="18" charset="2"/>
                  </a:rPr>
                  <a:t>between the terminal side of </a:t>
                </a:r>
                <a:r>
                  <a:rPr lang="en-US" i="1" u="sng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</a:t>
                </a:r>
                <a:r>
                  <a:rPr lang="en-US" u="sng" dirty="0">
                    <a:sym typeface="Symbol" panose="05050102010706020507" pitchFamily="18" charset="2"/>
                  </a:rPr>
                  <a:t>  and the </a:t>
                </a:r>
                <a:r>
                  <a:rPr lang="en-US" i="1" u="sng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x</a:t>
                </a:r>
                <a:r>
                  <a:rPr lang="en-US" u="sng" dirty="0">
                    <a:sym typeface="Symbol" panose="05050102010706020507" pitchFamily="18" charset="2"/>
                  </a:rPr>
                  <a:t>-axis</a:t>
                </a:r>
                <a:r>
                  <a:rPr lang="en-US" dirty="0">
                    <a:sym typeface="Symbol" panose="05050102010706020507" pitchFamily="18" charset="2"/>
                  </a:rPr>
                  <a:t>.</a:t>
                </a:r>
              </a:p>
              <a:p>
                <a:pPr lvl="1"/>
                <a:r>
                  <a:rPr lang="en-US" dirty="0">
                    <a:sym typeface="Symbol" panose="05050102010706020507" pitchFamily="18" charset="2"/>
                  </a:rPr>
                  <a:t>Example:  Identify an angle for each quadrant (i.e., angles whose terminal sides are in each of the quadrants) that have a reference angle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=0.4 (</m:t>
                    </m:r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𝑟𝑎𝑑</m:t>
                    </m:r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en-US" dirty="0">
                    <a:sym typeface="Symbol" panose="05050102010706020507" pitchFamily="18" charset="2"/>
                  </a:rPr>
                  <a:t>.</a:t>
                </a:r>
              </a:p>
              <a:p>
                <a:pPr lvl="2"/>
                <a:r>
                  <a:rPr lang="en-US" dirty="0">
                    <a:ea typeface="Cambria Math" panose="02040503050406030204" pitchFamily="18" charset="0"/>
                    <a:sym typeface="Symbol" panose="05050102010706020507" pitchFamily="18" charset="2"/>
                  </a:rPr>
                  <a:t>Quadrant I: </a:t>
                </a:r>
              </a:p>
              <a:p>
                <a:pPr lvl="2"/>
                <a:endParaRPr lang="en-US" b="0" dirty="0">
                  <a:ea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lvl="2"/>
                <a:r>
                  <a:rPr lang="en-US" dirty="0">
                    <a:ea typeface="Cambria Math" panose="02040503050406030204" pitchFamily="18" charset="0"/>
                    <a:sym typeface="Symbol" panose="05050102010706020507" pitchFamily="18" charset="2"/>
                  </a:rPr>
                  <a:t>Quadrant II:</a:t>
                </a:r>
              </a:p>
              <a:p>
                <a:pPr lvl="2"/>
                <a:endParaRPr lang="en-US" b="0" dirty="0">
                  <a:ea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lvl="2"/>
                <a:r>
                  <a:rPr lang="en-US" dirty="0">
                    <a:ea typeface="Cambria Math" panose="02040503050406030204" pitchFamily="18" charset="0"/>
                    <a:sym typeface="Symbol" panose="05050102010706020507" pitchFamily="18" charset="2"/>
                  </a:rPr>
                  <a:t>Quadrant III:</a:t>
                </a:r>
              </a:p>
              <a:p>
                <a:pPr lvl="2"/>
                <a:endParaRPr lang="en-US" b="0" dirty="0">
                  <a:ea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lvl="2"/>
                <a:r>
                  <a:rPr lang="en-US" dirty="0">
                    <a:ea typeface="Cambria Math" panose="02040503050406030204" pitchFamily="18" charset="0"/>
                    <a:sym typeface="Symbol" panose="05050102010706020507" pitchFamily="18" charset="2"/>
                  </a:rPr>
                  <a:t>Quadrant IV:</a:t>
                </a:r>
                <a:endParaRPr lang="en-US" b="0" dirty="0">
                  <a:ea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lvl="2"/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lvl="2"/>
                <a:endParaRPr lang="en-US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214906"/>
                <a:ext cx="8001000" cy="5490693"/>
              </a:xfrm>
              <a:blipFill>
                <a:blip r:embed="rId3"/>
                <a:stretch>
                  <a:fillRect t="-999" r="-685" b="-1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667000" y="3546786"/>
                <a:ext cx="5410200" cy="31208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658368" lvl="2">
                  <a:spcBef>
                    <a:spcPct val="20000"/>
                  </a:spcBef>
                  <a:buClr>
                    <a:srgbClr val="FEB80A"/>
                  </a:buClr>
                </a:pPr>
                <a:r>
                  <a:rPr lang="en-US" sz="2400" dirty="0">
                    <a:solidFill>
                      <a:srgbClr val="0000CC"/>
                    </a:solidFill>
                    <a:ea typeface="Cambria Math" panose="02040503050406030204" pitchFamily="18" charset="0"/>
                    <a:sym typeface="Symbol" panose="05050102010706020507" pitchFamily="18" charset="2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𝜃</m:t>
                    </m:r>
                    <m:r>
                      <a:rPr lang="en-US" sz="24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0.4, </m:t>
                    </m:r>
                    <m:r>
                      <a:rPr lang="en-US" sz="240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0</m:t>
                    </m:r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.4+2</m:t>
                    </m:r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𝜋</m:t>
                    </m:r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,  0.4−2</m:t>
                    </m:r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𝜋</m:t>
                    </m:r>
                  </m:oMath>
                </a14:m>
                <a:endParaRPr lang="en-US" sz="2400" dirty="0">
                  <a:solidFill>
                    <a:srgbClr val="0000CC"/>
                  </a:solidFill>
                  <a:ea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marL="658368" lvl="2">
                  <a:spcBef>
                    <a:spcPct val="20000"/>
                  </a:spcBef>
                  <a:buClr>
                    <a:srgbClr val="FEB80A"/>
                  </a:buClr>
                </a:pPr>
                <a:endParaRPr lang="en-US" sz="2400" dirty="0">
                  <a:solidFill>
                    <a:srgbClr val="0000CC"/>
                  </a:solidFill>
                  <a:ea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marL="658368" lvl="2">
                  <a:spcBef>
                    <a:spcPct val="20000"/>
                  </a:spcBef>
                  <a:buClr>
                    <a:srgbClr val="FEB80A"/>
                  </a:buClr>
                </a:pPr>
                <a:r>
                  <a:rPr lang="en-US" sz="2400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 </m:t>
                    </m:r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𝜃</m:t>
                    </m:r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𝜋</m:t>
                    </m:r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−0.4,  −</m:t>
                    </m:r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𝜋</m:t>
                    </m:r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−0.4</m:t>
                    </m:r>
                  </m:oMath>
                </a14:m>
                <a:endParaRPr lang="en-US" sz="2400" dirty="0">
                  <a:solidFill>
                    <a:srgbClr val="0000CC"/>
                  </a:solidFill>
                  <a:sym typeface="Symbol" panose="05050102010706020507" pitchFamily="18" charset="2"/>
                </a:endParaRPr>
              </a:p>
              <a:p>
                <a:pPr marL="658368" lvl="2">
                  <a:spcBef>
                    <a:spcPct val="20000"/>
                  </a:spcBef>
                  <a:buClr>
                    <a:srgbClr val="FEB80A"/>
                  </a:buClr>
                </a:pPr>
                <a:endParaRPr lang="en-US" sz="2400" dirty="0">
                  <a:solidFill>
                    <a:srgbClr val="0000CC"/>
                  </a:solidFill>
                  <a:sym typeface="Symbol" panose="05050102010706020507" pitchFamily="18" charset="2"/>
                </a:endParaRPr>
              </a:p>
              <a:p>
                <a:pPr marL="658368" lvl="2">
                  <a:spcBef>
                    <a:spcPct val="20000"/>
                  </a:spcBef>
                  <a:buClr>
                    <a:srgbClr val="FEB80A"/>
                  </a:buClr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   </m:t>
                    </m:r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𝜃</m:t>
                    </m:r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𝜋</m:t>
                    </m:r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+0.4,  0.4−</m:t>
                    </m:r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𝜋</m:t>
                    </m:r>
                  </m:oMath>
                </a14:m>
                <a:r>
                  <a:rPr lang="en-US" sz="2400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 </a:t>
                </a:r>
              </a:p>
              <a:p>
                <a:pPr marL="658368" lvl="2">
                  <a:spcBef>
                    <a:spcPct val="20000"/>
                  </a:spcBef>
                  <a:buClr>
                    <a:srgbClr val="FEB80A"/>
                  </a:buClr>
                </a:pPr>
                <a:endParaRPr lang="en-US" sz="2400" dirty="0">
                  <a:solidFill>
                    <a:srgbClr val="0000CC"/>
                  </a:solidFill>
                  <a:sym typeface="Symbol" panose="05050102010706020507" pitchFamily="18" charset="2"/>
                </a:endParaRPr>
              </a:p>
              <a:p>
                <a:pPr marL="658368" lvl="2">
                  <a:spcBef>
                    <a:spcPct val="20000"/>
                  </a:spcBef>
                  <a:buClr>
                    <a:srgbClr val="FEB80A"/>
                  </a:buClr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 </m:t>
                    </m:r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𝜃</m:t>
                    </m:r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=−0.4,  2</m:t>
                    </m:r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𝜋</m:t>
                    </m:r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−0.4</m:t>
                    </m:r>
                  </m:oMath>
                </a14:m>
                <a:r>
                  <a:rPr lang="en-US" sz="2400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 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3546786"/>
                <a:ext cx="5410200" cy="31208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6117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Trigonometric Functions of Any 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1219200"/>
                <a:ext cx="7924800" cy="5638800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The </a:t>
                </a:r>
                <a:r>
                  <a:rPr lang="en-US" b="1" dirty="0"/>
                  <a:t>reference</a:t>
                </a:r>
                <a:r>
                  <a:rPr lang="en-US" dirty="0"/>
                  <a:t> angle, labeled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>
                    <a:sym typeface="Symbol" panose="05050102010706020507" pitchFamily="18" charset="2"/>
                  </a:rPr>
                  <a:t> (“</a:t>
                </a:r>
                <a:r>
                  <a:rPr lang="en-US" i="1" dirty="0">
                    <a:sym typeface="Symbol" panose="05050102010706020507" pitchFamily="18" charset="2"/>
                  </a:rPr>
                  <a:t>theta-prime</a:t>
                </a:r>
                <a:r>
                  <a:rPr lang="en-US" dirty="0">
                    <a:sym typeface="Symbol" panose="05050102010706020507" pitchFamily="18" charset="2"/>
                  </a:rPr>
                  <a:t>”), of a given angle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>
                    <a:sym typeface="Symbol" panose="05050102010706020507" pitchFamily="18" charset="2"/>
                  </a:rPr>
                  <a:t> is the positive, acute angle formed </a:t>
                </a:r>
                <a:r>
                  <a:rPr lang="en-US" u="sng" dirty="0">
                    <a:sym typeface="Symbol" panose="05050102010706020507" pitchFamily="18" charset="2"/>
                  </a:rPr>
                  <a:t>between the terminal side of </a:t>
                </a:r>
                <a:r>
                  <a:rPr lang="en-US" i="1" u="sng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</a:t>
                </a:r>
                <a:r>
                  <a:rPr lang="en-US" u="sng" dirty="0">
                    <a:sym typeface="Symbol" panose="05050102010706020507" pitchFamily="18" charset="2"/>
                  </a:rPr>
                  <a:t>  and the </a:t>
                </a:r>
                <a:r>
                  <a:rPr lang="en-US" i="1" u="sng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x</a:t>
                </a:r>
                <a:r>
                  <a:rPr lang="en-US" u="sng" dirty="0">
                    <a:sym typeface="Symbol" panose="05050102010706020507" pitchFamily="18" charset="2"/>
                  </a:rPr>
                  <a:t>-axis</a:t>
                </a:r>
                <a:r>
                  <a:rPr lang="en-US" dirty="0">
                    <a:sym typeface="Symbol" panose="05050102010706020507" pitchFamily="18" charset="2"/>
                  </a:rPr>
                  <a:t>.</a:t>
                </a:r>
              </a:p>
              <a:p>
                <a:endParaRPr lang="en-US" sz="2400" dirty="0">
                  <a:sym typeface="Symbol" panose="05050102010706020507" pitchFamily="18" charset="2"/>
                </a:endParaRPr>
              </a:p>
              <a:p>
                <a:r>
                  <a:rPr lang="en-US" dirty="0">
                    <a:sym typeface="Symbol" panose="05050102010706020507" pitchFamily="18" charset="2"/>
                  </a:rPr>
                  <a:t>Angles with the same reference angle will have the same trigonometric values except for possibly the sign, which is determined by the quadrant in which the terminal side lies.</a:t>
                </a:r>
                <a:endParaRPr lang="en-US" sz="2400" dirty="0"/>
              </a:p>
              <a:p>
                <a:pPr lvl="0">
                  <a:buClr>
                    <a:srgbClr val="3891A7"/>
                  </a:buClr>
                </a:pPr>
                <a:r>
                  <a:rPr lang="en-US" dirty="0">
                    <a:solidFill>
                      <a:prstClr val="black"/>
                    </a:solidFill>
                  </a:rPr>
                  <a:t>This means that a trigonometric function of any angle can be found by first finding the trigonometric function of its reference angle and then attaching the correct sign, depending on the quadrant.</a:t>
                </a:r>
              </a:p>
              <a:p>
                <a:pPr lvl="1">
                  <a:buClr>
                    <a:srgbClr val="3891A7"/>
                  </a:buClr>
                </a:pPr>
                <a:r>
                  <a:rPr lang="en-US" dirty="0">
                    <a:solidFill>
                      <a:prstClr val="black"/>
                    </a:solidFill>
                  </a:rPr>
                  <a:t>For example,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 or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</m:t>
                        </m:r>
                        <m:func>
                          <m:funcPr>
                            <m:ctrlPr>
                              <a:rPr lang="en-US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, depending on the quadrant where the terminal side of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 lies.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219200"/>
                <a:ext cx="7924800" cy="5638800"/>
              </a:xfrm>
              <a:blipFill>
                <a:blip r:embed="rId2"/>
                <a:stretch>
                  <a:fillRect t="-865" b="-3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027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Trigonometric Functions of Any 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1219200"/>
                <a:ext cx="7924800" cy="5257800"/>
              </a:xfrm>
            </p:spPr>
            <p:txBody>
              <a:bodyPr>
                <a:normAutofit/>
              </a:bodyPr>
              <a:lstStyle/>
              <a:p>
                <a:pPr marL="82296" indent="0">
                  <a:buNone/>
                </a:pPr>
                <a:r>
                  <a:rPr lang="en-US" sz="2200" dirty="0"/>
                  <a:t>To find the value of a trigonometric function of any angle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200" dirty="0"/>
                  <a:t>:</a:t>
                </a:r>
              </a:p>
              <a:p>
                <a:pPr marL="796925" indent="-339725">
                  <a:buNone/>
                </a:pPr>
                <a:r>
                  <a:rPr lang="en-US" sz="2200" dirty="0"/>
                  <a:t>1.  Determine the function value of the associated reference angle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marL="796925" indent="-339725">
                  <a:buNone/>
                </a:pPr>
                <a:r>
                  <a:rPr lang="en-US" sz="2200" dirty="0"/>
                  <a:t>2.  Depending on the quadrant in which the terminal side of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200" dirty="0"/>
                  <a:t> lies, affix the appropriate sign to the function value.</a:t>
                </a:r>
              </a:p>
              <a:p>
                <a:pPr marL="0" lvl="1" indent="0">
                  <a:buNone/>
                </a:pPr>
                <a:r>
                  <a:rPr lang="en-US" sz="2200" u="sng" dirty="0">
                    <a:sym typeface="Symbol" panose="05050102010706020507" pitchFamily="18" charset="2"/>
                  </a:rPr>
                  <a:t>Examples</a:t>
                </a:r>
                <a:r>
                  <a:rPr lang="en-US" sz="2200" dirty="0">
                    <a:sym typeface="Symbol" panose="05050102010706020507" pitchFamily="18" charset="2"/>
                  </a:rPr>
                  <a:t>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sin</m:t>
                    </m:r>
                    <m:r>
                      <a:rPr lang="en-US" sz="22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150°</m:t>
                    </m:r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</m:oMath>
                </a14:m>
                <a:endParaRPr lang="en-US" sz="2200" dirty="0">
                  <a:solidFill>
                    <a:srgbClr val="0000CC"/>
                  </a:solidFill>
                  <a:ea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lvl="2"/>
                <a:endParaRPr lang="en-US" sz="2200" i="1" dirty="0">
                  <a:solidFill>
                    <a:srgbClr val="0000CC"/>
                  </a:solidFill>
                  <a:latin typeface="Cambria Math" panose="02040503050406030204" pitchFamily="18" charset="0"/>
                  <a:ea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cos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230°</m:t>
                        </m:r>
                      </m:e>
                    </m:func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</m:oMath>
                </a14:m>
                <a:r>
                  <a:rPr lang="en-US" sz="2200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     </m:t>
                    </m:r>
                  </m:oMath>
                </a14:m>
                <a:endParaRPr lang="en-US" sz="2200" dirty="0">
                  <a:solidFill>
                    <a:srgbClr val="0000CC"/>
                  </a:solidFill>
                  <a:sym typeface="Symbol" panose="05050102010706020507" pitchFamily="18" charset="2"/>
                </a:endParaRPr>
              </a:p>
              <a:p>
                <a:pPr lvl="2"/>
                <a:endParaRPr lang="en-US" sz="2200" i="1" dirty="0">
                  <a:solidFill>
                    <a:srgbClr val="0000CC"/>
                  </a:solidFill>
                  <a:latin typeface="Cambria Math" panose="02040503050406030204" pitchFamily="18" charset="0"/>
                  <a:ea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tan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285°</m:t>
                        </m:r>
                      </m:e>
                    </m:func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</m:oMath>
                </a14:m>
                <a:r>
                  <a:rPr lang="en-US" sz="2200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     </m:t>
                    </m:r>
                  </m:oMath>
                </a14:m>
                <a:endParaRPr lang="en-US" sz="2200" dirty="0">
                  <a:solidFill>
                    <a:srgbClr val="0000CC"/>
                  </a:solidFill>
                  <a:sym typeface="Symbol" panose="05050102010706020507" pitchFamily="18" charset="2"/>
                </a:endParaRPr>
              </a:p>
              <a:p>
                <a:pPr lvl="2"/>
                <a:endParaRPr lang="en-US" sz="2200" i="1" dirty="0">
                  <a:solidFill>
                    <a:srgbClr val="0000CC"/>
                  </a:solidFill>
                  <a:latin typeface="Cambria Math" panose="02040503050406030204" pitchFamily="18" charset="0"/>
                  <a:ea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csc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420°</m:t>
                        </m:r>
                      </m:e>
                    </m:func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</m:oMath>
                </a14:m>
                <a:r>
                  <a:rPr lang="en-US" sz="2200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      </m:t>
                    </m:r>
                  </m:oMath>
                </a14:m>
                <a:endParaRPr lang="en-US" sz="2200" dirty="0">
                  <a:solidFill>
                    <a:srgbClr val="0000CC"/>
                  </a:solidFill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219200"/>
                <a:ext cx="7924800" cy="5257800"/>
              </a:xfrm>
              <a:blipFill>
                <a:blip r:embed="rId3"/>
                <a:stretch>
                  <a:fillRect l="-1000" t="-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362200" y="3515728"/>
                <a:ext cx="4572000" cy="290688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657225" lvl="2" indent="-25400">
                  <a:spcBef>
                    <a:spcPct val="20000"/>
                  </a:spcBef>
                  <a:buClr>
                    <a:srgbClr val="FEB80A"/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sin</m:t>
                    </m:r>
                    <m:r>
                      <a:rPr lang="en-US" sz="2200" b="0" i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30</m:t>
                    </m:r>
                    <m:r>
                      <a:rPr lang="en-US" sz="22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°=</m:t>
                    </m:r>
                  </m:oMath>
                </a14:m>
                <a:r>
                  <a:rPr lang="en-US" sz="2200" dirty="0">
                    <a:solidFill>
                      <a:srgbClr val="0000CC"/>
                    </a:solidFill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0" i="0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1</m:t>
                    </m:r>
                    <m:r>
                      <a:rPr lang="en-US" sz="2200" b="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/2</m:t>
                    </m:r>
                  </m:oMath>
                </a14:m>
                <a:endParaRPr lang="en-US" sz="2200" dirty="0">
                  <a:solidFill>
                    <a:srgbClr val="0000CC"/>
                  </a:solidFill>
                  <a:ea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marL="658368" lvl="2">
                  <a:spcBef>
                    <a:spcPct val="20000"/>
                  </a:spcBef>
                  <a:buClr>
                    <a:srgbClr val="FEB80A"/>
                  </a:buClr>
                </a:pPr>
                <a:endParaRPr lang="en-US" sz="2200" i="1" dirty="0">
                  <a:solidFill>
                    <a:srgbClr val="0000CC"/>
                  </a:solidFill>
                  <a:latin typeface="Cambria Math" panose="02040503050406030204" pitchFamily="18" charset="0"/>
                  <a:ea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marL="658368" lvl="2">
                  <a:spcBef>
                    <a:spcPct val="20000"/>
                  </a:spcBef>
                  <a:buClr>
                    <a:srgbClr val="FEB80A"/>
                  </a:buClr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uncPr>
                      <m:fName>
                        <m: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cos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5</m:t>
                        </m:r>
                        <m:r>
                          <a:rPr lang="en-US" sz="22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0°</m:t>
                        </m:r>
                      </m:e>
                    </m:func>
                    <m:r>
                      <a:rPr lang="en-US" sz="22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−0.6428</m:t>
                    </m:r>
                  </m:oMath>
                </a14:m>
                <a:r>
                  <a:rPr lang="en-US" sz="2200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     </m:t>
                    </m:r>
                  </m:oMath>
                </a14:m>
                <a:endParaRPr lang="en-US" sz="2200" dirty="0">
                  <a:solidFill>
                    <a:srgbClr val="0000CC"/>
                  </a:solidFill>
                  <a:sym typeface="Symbol" panose="05050102010706020507" pitchFamily="18" charset="2"/>
                </a:endParaRPr>
              </a:p>
              <a:p>
                <a:pPr marL="658368" lvl="2">
                  <a:spcBef>
                    <a:spcPct val="20000"/>
                  </a:spcBef>
                  <a:buClr>
                    <a:srgbClr val="FEB80A"/>
                  </a:buClr>
                </a:pPr>
                <a:endParaRPr lang="en-US" sz="2200" i="1" dirty="0">
                  <a:solidFill>
                    <a:srgbClr val="0000CC"/>
                  </a:solidFill>
                  <a:latin typeface="Cambria Math" panose="02040503050406030204" pitchFamily="18" charset="0"/>
                  <a:ea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marL="658368" lvl="2">
                  <a:spcBef>
                    <a:spcPct val="20000"/>
                  </a:spcBef>
                  <a:buClr>
                    <a:srgbClr val="FEB80A"/>
                  </a:buClr>
                </a:pP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  <m:func>
                      <m:funcPr>
                        <m:ctrlPr>
                          <a:rPr lang="en-US" sz="22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tan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7</m:t>
                        </m:r>
                        <m:r>
                          <a:rPr lang="en-US" sz="22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5°</m:t>
                        </m:r>
                      </m:e>
                    </m:func>
                    <m:r>
                      <a:rPr lang="en-US" sz="22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−3.7321</m:t>
                    </m:r>
                  </m:oMath>
                </a14:m>
                <a:r>
                  <a:rPr lang="en-US" sz="2200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     </m:t>
                    </m:r>
                  </m:oMath>
                </a14:m>
                <a:endParaRPr lang="en-US" sz="2200" dirty="0">
                  <a:solidFill>
                    <a:srgbClr val="0000CC"/>
                  </a:solidFill>
                  <a:sym typeface="Symbol" panose="05050102010706020507" pitchFamily="18" charset="2"/>
                </a:endParaRPr>
              </a:p>
              <a:p>
                <a:pPr marL="658368" lvl="2">
                  <a:spcBef>
                    <a:spcPct val="20000"/>
                  </a:spcBef>
                  <a:buClr>
                    <a:srgbClr val="FEB80A"/>
                  </a:buClr>
                </a:pPr>
                <a:endParaRPr lang="en-US" sz="2200" i="1" dirty="0">
                  <a:solidFill>
                    <a:srgbClr val="0000CC"/>
                  </a:solidFill>
                  <a:latin typeface="Cambria Math" panose="02040503050406030204" pitchFamily="18" charset="0"/>
                  <a:ea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marL="658368" lvl="2">
                  <a:spcBef>
                    <a:spcPct val="20000"/>
                  </a:spcBef>
                  <a:buClr>
                    <a:srgbClr val="FEB80A"/>
                  </a:buClr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csc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6</m:t>
                        </m:r>
                        <m:r>
                          <a:rPr lang="en-US" sz="22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0°</m:t>
                        </m:r>
                      </m:e>
                    </m:func>
                    <m:r>
                      <a:rPr lang="en-US" sz="22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</m:oMath>
                </a14:m>
                <a:r>
                  <a:rPr lang="en-US" sz="2200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2/</m:t>
                    </m:r>
                    <m:rad>
                      <m:radPr>
                        <m:degHide m:val="on"/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radPr>
                      <m:deg/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3</m:t>
                        </m:r>
                      </m:e>
                    </m:rad>
                    <m:r>
                      <a:rPr lang="en-US" sz="2200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      </m:t>
                    </m:r>
                  </m:oMath>
                </a14:m>
                <a:endParaRPr lang="en-US" sz="2200" dirty="0">
                  <a:solidFill>
                    <a:srgbClr val="0000CC"/>
                  </a:solidFill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3515728"/>
                <a:ext cx="4572000" cy="2906886"/>
              </a:xfrm>
              <a:prstGeom prst="rect">
                <a:avLst/>
              </a:prstGeom>
              <a:blipFill>
                <a:blip r:embed="rId4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984668" y="3512184"/>
                <a:ext cx="2720232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𝜃</m:t>
                    </m:r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′=30°</m:t>
                    </m:r>
                  </m:oMath>
                </a14:m>
                <a:r>
                  <a:rPr lang="en-US" sz="2200" dirty="0"/>
                  <a:t>, Quadrant II 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668" y="3512184"/>
                <a:ext cx="2720232" cy="430887"/>
              </a:xfrm>
              <a:prstGeom prst="rect">
                <a:avLst/>
              </a:prstGeom>
              <a:blipFill>
                <a:blip r:embed="rId5"/>
                <a:stretch>
                  <a:fillRect l="-673" t="-9859" r="-2018" b="-28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951599" y="4318457"/>
                <a:ext cx="2771400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l-GR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𝜃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p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=5</m:t>
                    </m:r>
                    <m:r>
                      <a:rPr lang="en-US" sz="22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0°</m:t>
                    </m:r>
                  </m:oMath>
                </a14:m>
                <a:r>
                  <a:rPr lang="en-US" sz="2200" dirty="0">
                    <a:solidFill>
                      <a:prstClr val="black"/>
                    </a:solidFill>
                  </a:rPr>
                  <a:t>, Quadrant III</a:t>
                </a:r>
                <a:endParaRPr lang="en-US" sz="22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599" y="4318457"/>
                <a:ext cx="2771400" cy="430887"/>
              </a:xfrm>
              <a:prstGeom prst="rect">
                <a:avLst/>
              </a:prstGeom>
              <a:blipFill>
                <a:blip r:embed="rId6"/>
                <a:stretch>
                  <a:fillRect l="-220" t="-8451" r="-1538" b="-28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973371" y="5105400"/>
                <a:ext cx="2785827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𝜃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p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=75</m:t>
                    </m:r>
                    <m:r>
                      <a:rPr lang="en-US" sz="22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°</m:t>
                    </m:r>
                  </m:oMath>
                </a14:m>
                <a:r>
                  <a:rPr lang="en-US" sz="2200" dirty="0">
                    <a:solidFill>
                      <a:prstClr val="black"/>
                    </a:solidFill>
                  </a:rPr>
                  <a:t>, Quadrant IV</a:t>
                </a:r>
                <a:endParaRPr lang="en-US" sz="22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3371" y="5105400"/>
                <a:ext cx="2785827" cy="430887"/>
              </a:xfrm>
              <a:prstGeom prst="rect">
                <a:avLst/>
              </a:prstGeom>
              <a:blipFill>
                <a:blip r:embed="rId7"/>
                <a:stretch>
                  <a:fillRect l="-219" t="-10000" r="-1532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984668" y="5892343"/>
                <a:ext cx="2582245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l-GR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𝜃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′</m:t>
                        </m:r>
                      </m:sup>
                    </m:sSup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=6</m:t>
                    </m:r>
                    <m:r>
                      <a:rPr lang="en-US" sz="22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0°</m:t>
                    </m:r>
                  </m:oMath>
                </a14:m>
                <a:r>
                  <a:rPr lang="en-US" sz="2200" dirty="0">
                    <a:solidFill>
                      <a:prstClr val="black"/>
                    </a:solidFill>
                  </a:rPr>
                  <a:t>, Quadrant I</a:t>
                </a:r>
                <a:endParaRPr lang="en-US" sz="22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668" y="5892343"/>
                <a:ext cx="2582245" cy="430887"/>
              </a:xfrm>
              <a:prstGeom prst="rect">
                <a:avLst/>
              </a:prstGeom>
              <a:blipFill>
                <a:blip r:embed="rId8"/>
                <a:stretch>
                  <a:fillRect l="-236" t="-10000" r="-2128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2048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733800"/>
            <a:ext cx="4991100" cy="10954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0" y="3244334"/>
            <a:ext cx="883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1219200"/>
                <a:ext cx="7498080" cy="5257800"/>
              </a:xfrm>
            </p:spPr>
            <p:txBody>
              <a:bodyPr>
                <a:normAutofit/>
              </a:bodyPr>
              <a:lstStyle/>
              <a:p>
                <a:pPr marL="82296" indent="0">
                  <a:buNone/>
                </a:pPr>
                <a:r>
                  <a:rPr lang="en-US" sz="2200" dirty="0"/>
                  <a:t>Find two solutions for each equation with </a:t>
                </a:r>
                <a:r>
                  <a:rPr lang="en-US" sz="2200" i="1" dirty="0">
                    <a:solidFill>
                      <a:srgbClr val="0000FF"/>
                    </a:solidFill>
                  </a:rPr>
                  <a:t>0</a:t>
                </a:r>
                <a:r>
                  <a:rPr lang="en-US" sz="2200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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≤ </a:t>
                </a:r>
                <a:r>
                  <a:rPr lang="en-US" sz="2200" i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&lt; 360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.</a:t>
                </a:r>
              </a:p>
              <a:p>
                <a:pPr marL="82296" indent="0"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Round your answers to two decimal places.</a:t>
                </a:r>
              </a:p>
              <a:p>
                <a:pPr marL="82296" indent="0">
                  <a:buNone/>
                </a:pP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 indent="0"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a)  </a:t>
                </a:r>
                <a:r>
                  <a:rPr lang="en-US" sz="22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sin </a:t>
                </a:r>
                <a:r>
                  <a:rPr lang="en-US" sz="2200" i="1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r>
                  <a:rPr lang="en-US" sz="22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=  –0.848</a:t>
                </a: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 indent="0">
                  <a:buNone/>
                </a:pP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 indent="0">
                  <a:buNone/>
                </a:pPr>
                <a:r>
                  <a:rPr lang="en-US" sz="2200" dirty="0">
                    <a:sym typeface="Symbol" panose="05050102010706020507" pitchFamily="18" charset="2"/>
                  </a:rPr>
                  <a:t>b)  </a:t>
                </a:r>
                <a:r>
                  <a:rPr lang="en-US" sz="22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tan </a:t>
                </a:r>
                <a:r>
                  <a:rPr lang="en-US" sz="2200" i="1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r>
                  <a:rPr lang="en-US" sz="22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=  –1.830</a:t>
                </a: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 indent="0">
                  <a:buNone/>
                </a:pP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 indent="0"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c)  </a:t>
                </a:r>
                <a:r>
                  <a:rPr lang="en-US" sz="22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cos </a:t>
                </a:r>
                <a:r>
                  <a:rPr lang="en-US" sz="2200" i="1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r>
                  <a:rPr lang="en-US" sz="22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=  0.4003</a:t>
                </a: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 indent="0">
                  <a:buNone/>
                </a:pP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 indent="0"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d)  </a:t>
                </a:r>
                <a:r>
                  <a:rPr lang="en-US" sz="22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sin </a:t>
                </a:r>
                <a:r>
                  <a:rPr lang="en-US" sz="2200" i="1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r>
                  <a:rPr lang="en-US" sz="22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=  –1.637</a:t>
                </a:r>
              </a:p>
              <a:p>
                <a:pPr marL="82296" indent="0">
                  <a:buNone/>
                </a:pP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 indent="0"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e)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cos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𝜃</m:t>
                        </m:r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=−0.75</m:t>
                        </m:r>
                      </m:e>
                    </m:func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11" name="Content Placeholder 10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219200"/>
                <a:ext cx="7498080" cy="5257800"/>
              </a:xfrm>
              <a:blipFill>
                <a:blip r:embed="rId4"/>
                <a:stretch>
                  <a:fillRect t="-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5727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B18D7-03CA-E968-251B-B7005FF98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1C85A-23DA-9327-0356-1D3D85B79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C61D73C0-CB3A-BEB7-58EA-CB2A81C747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219200"/>
                <a:ext cx="7498080" cy="5257800"/>
              </a:xfrm>
            </p:spPr>
            <p:txBody>
              <a:bodyPr>
                <a:normAutofit/>
              </a:bodyPr>
              <a:lstStyle/>
              <a:p>
                <a:pPr marL="82296" indent="0">
                  <a:buNone/>
                </a:pPr>
                <a:r>
                  <a:rPr lang="en-US" sz="2200" dirty="0"/>
                  <a:t>Find two solutions for each equation with </a:t>
                </a:r>
                <a:r>
                  <a:rPr lang="en-US" sz="2200" i="1" dirty="0">
                    <a:solidFill>
                      <a:srgbClr val="0000FF"/>
                    </a:solidFill>
                  </a:rPr>
                  <a:t>0</a:t>
                </a:r>
                <a:r>
                  <a:rPr lang="en-US" sz="2200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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≤ </a:t>
                </a:r>
                <a:r>
                  <a:rPr lang="en-US" sz="2200" i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&lt; 360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.</a:t>
                </a:r>
              </a:p>
              <a:p>
                <a:pPr marL="82296" indent="0"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Round your answers to two decimal places.</a:t>
                </a:r>
              </a:p>
              <a:p>
                <a:pPr marL="82296" indent="0">
                  <a:buNone/>
                </a:pP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 indent="0"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a)  </a:t>
                </a:r>
                <a:r>
                  <a:rPr lang="en-US" sz="22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sin </a:t>
                </a:r>
                <a:r>
                  <a:rPr lang="en-US" sz="2200" i="1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r>
                  <a:rPr lang="en-US" sz="22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=  –0.848</a:t>
                </a: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 indent="0">
                  <a:buNone/>
                </a:pP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 indent="0">
                  <a:buNone/>
                </a:pPr>
                <a:r>
                  <a:rPr lang="en-US" sz="2200" dirty="0">
                    <a:sym typeface="Symbol" panose="05050102010706020507" pitchFamily="18" charset="2"/>
                  </a:rPr>
                  <a:t>b)  </a:t>
                </a:r>
                <a:r>
                  <a:rPr lang="en-US" sz="22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tan </a:t>
                </a:r>
                <a:r>
                  <a:rPr lang="en-US" sz="2200" i="1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r>
                  <a:rPr lang="en-US" sz="22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=  –1.830</a:t>
                </a: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 indent="0">
                  <a:buNone/>
                </a:pP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 indent="0"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c)  </a:t>
                </a:r>
                <a:r>
                  <a:rPr lang="en-US" sz="22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cos </a:t>
                </a:r>
                <a:r>
                  <a:rPr lang="en-US" sz="2200" i="1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r>
                  <a:rPr lang="en-US" sz="22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=  0.4003</a:t>
                </a: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 indent="0">
                  <a:buNone/>
                </a:pP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 indent="0"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d)  </a:t>
                </a:r>
                <a:r>
                  <a:rPr lang="en-US" sz="22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sin </a:t>
                </a:r>
                <a:r>
                  <a:rPr lang="en-US" sz="2200" i="1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r>
                  <a:rPr lang="en-US" sz="22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=  –1.637</a:t>
                </a:r>
              </a:p>
              <a:p>
                <a:pPr marL="82296" indent="0">
                  <a:buNone/>
                </a:pP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 indent="0"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e)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cos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𝜃</m:t>
                        </m:r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=−0.75</m:t>
                        </m:r>
                      </m:e>
                    </m:func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C61D73C0-CB3A-BEB7-58EA-CB2A81C747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219200"/>
                <a:ext cx="7498080" cy="5257800"/>
              </a:xfrm>
              <a:blipFill>
                <a:blip r:embed="rId3"/>
                <a:stretch>
                  <a:fillRect t="-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F2A900B-D1A0-7D6A-D2E8-2F316B01912B}"/>
                  </a:ext>
                </a:extLst>
              </p:cNvPr>
              <p:cNvSpPr txBox="1"/>
              <p:nvPr/>
            </p:nvSpPr>
            <p:spPr>
              <a:xfrm>
                <a:off x="3276600" y="2394473"/>
                <a:ext cx="4572000" cy="37548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2296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3891A7"/>
                  </a:buClr>
                  <a:buSzPct val="80000"/>
                  <a:buFont typeface="Wingdings 2"/>
                  <a:buNone/>
                  <a:tabLst/>
                  <a:defRPr/>
                </a:pPr>
                <a:r>
                  <a:rPr kumimoji="0" lang="en-US" sz="22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 = </a:t>
                </a:r>
                <a14:m>
                  <m:oMath xmlns:m="http://schemas.openxmlformats.org/officeDocument/2006/math">
                    <m:r>
                      <a:rPr kumimoji="0" lang="en-US" sz="2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−57.99</m:t>
                    </m:r>
                    <m:r>
                      <a:rPr kumimoji="0" lang="en-US" sz="2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°; 237.99°, 302.01°</m:t>
                    </m:r>
                  </m:oMath>
                </a14:m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3891A7"/>
                  </a:buClr>
                  <a:buSzPct val="80000"/>
                  <a:buFont typeface="Wingdings 2"/>
                  <a:buNone/>
                  <a:tabLst/>
                  <a:defRPr/>
                </a:pPr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3891A7"/>
                  </a:buClr>
                  <a:buSzPct val="80000"/>
                  <a:buFont typeface="Wingdings 2"/>
                  <a:buNone/>
                  <a:tabLst/>
                  <a:defRPr/>
                </a:pPr>
                <a:r>
                  <a:rPr kumimoji="0" lang="en-US" sz="22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 =  </a:t>
                </a:r>
                <a14:m>
                  <m:oMath xmlns:m="http://schemas.openxmlformats.org/officeDocument/2006/math">
                    <m:r>
                      <a:rPr kumimoji="0" lang="en-US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−61.35</m:t>
                    </m:r>
                    <m:r>
                      <a:rPr kumimoji="0" lang="en-US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°;118.65° , 298.65° </m:t>
                    </m:r>
                  </m:oMath>
                </a14:m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3891A7"/>
                  </a:buClr>
                  <a:buSzPct val="80000"/>
                  <a:buFont typeface="Wingdings 2"/>
                  <a:buNone/>
                  <a:tabLst/>
                  <a:defRPr/>
                </a:pPr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3891A7"/>
                  </a:buClr>
                  <a:buSzPct val="80000"/>
                  <a:buFont typeface="Wingdings 2"/>
                  <a:buNone/>
                  <a:tabLst/>
                  <a:defRPr/>
                </a:pPr>
                <a:r>
                  <a:rPr kumimoji="0" lang="en-US" sz="22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 =  </a:t>
                </a:r>
                <a14:m>
                  <m:oMath xmlns:m="http://schemas.openxmlformats.org/officeDocument/2006/math">
                    <m:r>
                      <a:rPr kumimoji="0" lang="en-US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66.40</m:t>
                    </m:r>
                    <m:r>
                      <a:rPr kumimoji="0" lang="en-US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°, 293.60°</m:t>
                    </m:r>
                  </m:oMath>
                </a14:m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3891A7"/>
                  </a:buClr>
                  <a:buSzPct val="80000"/>
                  <a:buFont typeface="Wingdings 2"/>
                  <a:buNone/>
                  <a:tabLst/>
                  <a:defRPr/>
                </a:pPr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3891A7"/>
                  </a:buClr>
                  <a:buSzPct val="80000"/>
                  <a:buFont typeface="Wingdings 2"/>
                  <a:buNone/>
                  <a:tabLst/>
                  <a:defRPr/>
                </a:pPr>
                <a:r>
                  <a:rPr kumimoji="0" lang="en-US" sz="22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𝑛𝑜</m:t>
                    </m:r>
                    <m:r>
                      <a:rPr kumimoji="0" lang="en-US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kumimoji="0" lang="en-US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𝑠𝑜𝑙𝑢𝑡𝑖𝑜𝑛</m:t>
                    </m:r>
                  </m:oMath>
                </a14:m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3891A7"/>
                  </a:buClr>
                  <a:buSzPct val="80000"/>
                  <a:buFont typeface="Wingdings 2"/>
                  <a:buNone/>
                  <a:tabLst/>
                  <a:defRPr/>
                </a:pPr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>
                  <a:spcBef>
                    <a:spcPts val="600"/>
                  </a:spcBef>
                  <a:buClr>
                    <a:srgbClr val="3891A7"/>
                  </a:buClr>
                  <a:buSzPct val="80000"/>
                  <a:defRPr/>
                </a:pPr>
                <a:r>
                  <a:rPr lang="en-US" sz="2200" i="1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r>
                  <a:rPr lang="en-US" sz="2200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=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138.59</m:t>
                    </m:r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°</m:t>
                    </m:r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, 221.41</m:t>
                    </m:r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°</m:t>
                    </m:r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endParaRPr 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F2A900B-D1A0-7D6A-D2E8-2F316B019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2394473"/>
                <a:ext cx="4572000" cy="3754874"/>
              </a:xfrm>
              <a:prstGeom prst="rect">
                <a:avLst/>
              </a:prstGeom>
              <a:blipFill>
                <a:blip r:embed="rId4"/>
                <a:stretch>
                  <a:fillRect t="-1299" b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958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1219200"/>
                <a:ext cx="7848600" cy="5257800"/>
              </a:xfrm>
            </p:spPr>
            <p:txBody>
              <a:bodyPr>
                <a:normAutofit/>
              </a:bodyPr>
              <a:lstStyle/>
              <a:p>
                <a:pPr marL="82296" indent="0">
                  <a:buNone/>
                </a:pPr>
                <a:r>
                  <a:rPr lang="en-US" sz="2200" dirty="0"/>
                  <a:t>Find the exact value of each expression without using a calculator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.</a:t>
                </a:r>
              </a:p>
              <a:p>
                <a:pPr marL="82296" indent="0">
                  <a:buNone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(Hint:  Start by expressing each expression in terms of its reference angle.)</a:t>
                </a:r>
              </a:p>
              <a:p>
                <a:pPr marL="82296" indent="0"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a)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cos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60</m:t>
                        </m:r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°</m:t>
                        </m:r>
                      </m:e>
                    </m:func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+</m:t>
                    </m:r>
                    <m:func>
                      <m:func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cos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70</m:t>
                        </m:r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°</m:t>
                        </m:r>
                      </m:e>
                    </m:func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+</m:t>
                    </m:r>
                    <m:func>
                      <m:func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cos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110</m:t>
                        </m:r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°</m:t>
                        </m:r>
                      </m:e>
                    </m:func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 indent="0">
                  <a:buNone/>
                </a:pP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 indent="0">
                  <a:buNone/>
                </a:pPr>
                <a:r>
                  <a:rPr lang="en-US" sz="2200" dirty="0">
                    <a:sym typeface="Symbol" panose="05050102010706020507" pitchFamily="18" charset="2"/>
                  </a:rPr>
                  <a:t>b)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sin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200</m:t>
                        </m:r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°</m:t>
                        </m:r>
                      </m:e>
                    </m:func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  <m:func>
                      <m:func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sin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150</m:t>
                        </m:r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°</m:t>
                        </m:r>
                      </m:e>
                    </m:func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</m:t>
                    </m:r>
                    <m:func>
                      <m:func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sin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160</m:t>
                        </m:r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°</m:t>
                        </m:r>
                      </m:e>
                    </m:func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 indent="0">
                  <a:buNone/>
                </a:pP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 indent="0"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c)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tan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40</m:t>
                        </m:r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°</m:t>
                        </m:r>
                      </m:e>
                    </m:func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+</m:t>
                    </m:r>
                    <m:func>
                      <m:func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tan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135</m:t>
                        </m:r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°</m:t>
                        </m:r>
                      </m:e>
                    </m:func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−</m:t>
                    </m:r>
                    <m:func>
                      <m:func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tan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220</m:t>
                        </m:r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°</m:t>
                        </m:r>
                      </m:e>
                    </m:func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 indent="0">
                  <a:buNone/>
                </a:pP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82296" indent="0">
                  <a:buNone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d)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sec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130</m:t>
                        </m:r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°</m:t>
                        </m:r>
                      </m:e>
                    </m:func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−</m:t>
                    </m:r>
                    <m:func>
                      <m:func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sec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230</m:t>
                        </m:r>
                        <m:r>
                          <a:rPr lang="en-US" sz="22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°</m:t>
                        </m:r>
                      </m:e>
                    </m:func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+</m:t>
                    </m:r>
                    <m:func>
                      <m:func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sec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300</m:t>
                        </m:r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°</m:t>
                        </m:r>
                      </m:e>
                    </m:func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11" name="Content Placeholder 10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219200"/>
                <a:ext cx="7848600" cy="5257800"/>
              </a:xfrm>
              <a:blipFill>
                <a:blip r:embed="rId3"/>
                <a:stretch>
                  <a:fillRect t="-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8208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7696200" y="4876800"/>
            <a:ext cx="152400" cy="152400"/>
          </a:xfrm>
          <a:prstGeom prst="rect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 of a Triangle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Each of the interior angles of a triangle must be less than 180</a:t>
                </a:r>
                <a:r>
                  <a:rPr lang="en-US" dirty="0">
                    <a:sym typeface="Symbol" panose="05050102010706020507" pitchFamily="18" charset="2"/>
                  </a:rPr>
                  <a:t>.  </a:t>
                </a:r>
              </a:p>
              <a:p>
                <a:r>
                  <a:rPr lang="en-US" dirty="0">
                    <a:sym typeface="Symbol" panose="05050102010706020507" pitchFamily="18" charset="2"/>
                  </a:rPr>
                  <a:t>Since the sign of the sine function for angles between 0 and 180 is positive, we have the following:</a:t>
                </a:r>
              </a:p>
              <a:p>
                <a:endParaRPr lang="en-US" dirty="0">
                  <a:sym typeface="Symbol" panose="05050102010706020507" pitchFamily="18" charset="2"/>
                </a:endParaRPr>
              </a:p>
              <a:p>
                <a:r>
                  <a:rPr lang="en-US" dirty="0"/>
                  <a:t>Area of a triangle:  </a:t>
                </a:r>
                <a:r>
                  <a:rPr lang="en-US" i="1" dirty="0">
                    <a:solidFill>
                      <a:srgbClr val="0000CC"/>
                    </a:solidFill>
                  </a:rPr>
                  <a:t>Area</a:t>
                </a:r>
                <a:r>
                  <a:rPr lang="en-US" dirty="0">
                    <a:solidFill>
                      <a:srgbClr val="0000CC"/>
                    </a:solidFill>
                  </a:rPr>
                  <a:t> = ½ </a:t>
                </a:r>
                <a:r>
                  <a:rPr lang="en-US" i="1" dirty="0" err="1">
                    <a:solidFill>
                      <a:srgbClr val="0000CC"/>
                    </a:solidFill>
                  </a:rPr>
                  <a:t>bh</a:t>
                </a:r>
                <a:r>
                  <a:rPr lang="en-US" dirty="0">
                    <a:solidFill>
                      <a:srgbClr val="000066"/>
                    </a:solidFill>
                  </a:rPr>
                  <a:t>       (see sketch)</a:t>
                </a:r>
              </a:p>
              <a:p>
                <a:endParaRPr lang="en-US" i="1" dirty="0">
                  <a:solidFill>
                    <a:srgbClr val="000066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000066"/>
                    </a:solidFill>
                  </a:rPr>
                  <a:t>Notice that in the right triangle,</a:t>
                </a:r>
              </a:p>
              <a:p>
                <a:pPr marL="402336" lvl="1" indent="0">
                  <a:buNone/>
                </a:pPr>
                <a:r>
                  <a:rPr lang="en-US" dirty="0">
                    <a:solidFill>
                      <a:srgbClr val="0000CC"/>
                    </a:solidFill>
                  </a:rPr>
                  <a:t>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000066"/>
                    </a:solidFill>
                  </a:rPr>
                  <a:t>, and so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func>
                      <m:funcPr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</m:oMath>
                </a14:m>
                <a:endParaRPr lang="en-US" dirty="0">
                  <a:solidFill>
                    <a:srgbClr val="000066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1015" r="-1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/>
          <p:cNvGrpSpPr/>
          <p:nvPr/>
        </p:nvGrpSpPr>
        <p:grpSpPr>
          <a:xfrm>
            <a:off x="6227470" y="3352800"/>
            <a:ext cx="2629362" cy="2073533"/>
            <a:chOff x="6227470" y="3352800"/>
            <a:chExt cx="2629362" cy="2073533"/>
          </a:xfrm>
        </p:grpSpPr>
        <p:sp>
          <p:nvSpPr>
            <p:cNvPr id="6" name="Freeform 5"/>
            <p:cNvSpPr/>
            <p:nvPr/>
          </p:nvSpPr>
          <p:spPr>
            <a:xfrm>
              <a:off x="6629400" y="3826476"/>
              <a:ext cx="1828800" cy="1202724"/>
            </a:xfrm>
            <a:custGeom>
              <a:avLst/>
              <a:gdLst>
                <a:gd name="connsiteX0" fmla="*/ 0 w 1421027"/>
                <a:gd name="connsiteY0" fmla="*/ 815546 h 815546"/>
                <a:gd name="connsiteX1" fmla="*/ 951470 w 1421027"/>
                <a:gd name="connsiteY1" fmla="*/ 0 h 815546"/>
                <a:gd name="connsiteX2" fmla="*/ 1421027 w 1421027"/>
                <a:gd name="connsiteY2" fmla="*/ 815546 h 815546"/>
                <a:gd name="connsiteX3" fmla="*/ 0 w 1421027"/>
                <a:gd name="connsiteY3" fmla="*/ 815546 h 815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1027" h="815546">
                  <a:moveTo>
                    <a:pt x="0" y="815546"/>
                  </a:moveTo>
                  <a:lnTo>
                    <a:pt x="951470" y="0"/>
                  </a:lnTo>
                  <a:lnTo>
                    <a:pt x="1421027" y="815546"/>
                  </a:lnTo>
                  <a:lnTo>
                    <a:pt x="0" y="815546"/>
                  </a:lnTo>
                  <a:close/>
                </a:path>
              </a:pathLst>
            </a:custGeom>
            <a:noFill/>
            <a:ln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227470" y="4812268"/>
              <a:ext cx="37221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i="1" dirty="0">
                  <a:solidFill>
                    <a:srgbClr val="0000CC"/>
                  </a:solidFill>
                </a:rPr>
                <a:t>A</a:t>
              </a:r>
              <a:endParaRPr lang="en-US" sz="240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8466982" y="4876800"/>
              <a:ext cx="38985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i="1" dirty="0">
                  <a:solidFill>
                    <a:srgbClr val="0000CC"/>
                  </a:solidFill>
                </a:rPr>
                <a:t>C</a:t>
              </a:r>
              <a:endParaRPr lang="en-US" sz="24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7687350" y="3352800"/>
              <a:ext cx="37221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i="1" dirty="0">
                  <a:solidFill>
                    <a:srgbClr val="0000CC"/>
                  </a:solidFill>
                </a:rPr>
                <a:t>B</a:t>
              </a:r>
              <a:endParaRPr lang="en-US" sz="2400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7433846" y="4964668"/>
              <a:ext cx="33855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i="1" dirty="0">
                  <a:solidFill>
                    <a:srgbClr val="0000CC"/>
                  </a:solidFill>
                </a:rPr>
                <a:t>b</a:t>
              </a:r>
              <a:endParaRPr lang="en-US" sz="2400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994278" y="3962400"/>
              <a:ext cx="32092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i="1" dirty="0">
                  <a:solidFill>
                    <a:srgbClr val="0000CC"/>
                  </a:solidFill>
                </a:rPr>
                <a:t>c</a:t>
              </a:r>
              <a:endParaRPr lang="en-US" sz="2400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195846" y="4191000"/>
              <a:ext cx="33855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i="1" dirty="0">
                  <a:solidFill>
                    <a:srgbClr val="0000CC"/>
                  </a:solidFill>
                </a:rPr>
                <a:t>a</a:t>
              </a:r>
              <a:endParaRPr lang="en-US" sz="2400" dirty="0"/>
            </a:p>
          </p:txBody>
        </p:sp>
      </p:grpSp>
      <p:cxnSp>
        <p:nvCxnSpPr>
          <p:cNvPr id="13" name="Straight Connector 12"/>
          <p:cNvCxnSpPr>
            <a:stCxn id="6" idx="1"/>
          </p:cNvCxnSpPr>
          <p:nvPr/>
        </p:nvCxnSpPr>
        <p:spPr>
          <a:xfrm flipH="1">
            <a:off x="7848600" y="3826476"/>
            <a:ext cx="5301" cy="12027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433846" y="4191000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>
                <a:solidFill>
                  <a:srgbClr val="3891A7"/>
                </a:solidFill>
              </a:rPr>
              <a:t>h</a:t>
            </a:r>
            <a:endParaRPr lang="en-US" sz="2400" dirty="0">
              <a:solidFill>
                <a:srgbClr val="3891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14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7696200" y="4876800"/>
            <a:ext cx="152400" cy="152400"/>
          </a:xfrm>
          <a:prstGeom prst="rect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 of a Triangle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498080" cy="5181600"/>
          </a:xfrm>
        </p:spPr>
        <p:txBody>
          <a:bodyPr>
            <a:normAutofit/>
          </a:bodyPr>
          <a:lstStyle/>
          <a:p>
            <a:r>
              <a:rPr lang="en-US" dirty="0"/>
              <a:t>Each of the interior angles of a triangle must be less than 180</a:t>
            </a:r>
            <a:r>
              <a:rPr lang="en-US" dirty="0">
                <a:sym typeface="Symbol" panose="05050102010706020507" pitchFamily="18" charset="2"/>
              </a:rPr>
              <a:t>.  </a:t>
            </a:r>
          </a:p>
          <a:p>
            <a:r>
              <a:rPr lang="en-US" dirty="0">
                <a:sym typeface="Symbol" panose="05050102010706020507" pitchFamily="18" charset="2"/>
              </a:rPr>
              <a:t>Since the sign of the sine function for angles between 0 and 180 is positive, we have the following:</a:t>
            </a:r>
          </a:p>
          <a:p>
            <a:endParaRPr lang="en-US" dirty="0">
              <a:sym typeface="Symbol" panose="05050102010706020507" pitchFamily="18" charset="2"/>
            </a:endParaRPr>
          </a:p>
          <a:p>
            <a:r>
              <a:rPr lang="en-US" dirty="0"/>
              <a:t>Area of a triangle:  </a:t>
            </a:r>
            <a:r>
              <a:rPr lang="en-US" i="1" dirty="0">
                <a:solidFill>
                  <a:srgbClr val="0000CC"/>
                </a:solidFill>
              </a:rPr>
              <a:t>Area</a:t>
            </a:r>
            <a:r>
              <a:rPr lang="en-US" dirty="0">
                <a:solidFill>
                  <a:srgbClr val="0000CC"/>
                </a:solidFill>
              </a:rPr>
              <a:t> = ½ </a:t>
            </a:r>
            <a:r>
              <a:rPr lang="en-US" i="1" dirty="0" err="1">
                <a:solidFill>
                  <a:srgbClr val="0000CC"/>
                </a:solidFill>
              </a:rPr>
              <a:t>bh</a:t>
            </a:r>
            <a:r>
              <a:rPr lang="en-US" dirty="0">
                <a:solidFill>
                  <a:srgbClr val="000066"/>
                </a:solidFill>
              </a:rPr>
              <a:t>       (see sketch)</a:t>
            </a:r>
          </a:p>
          <a:p>
            <a:pPr marL="82296" indent="0">
              <a:buNone/>
            </a:pPr>
            <a:r>
              <a:rPr lang="en-US" i="1" dirty="0">
                <a:solidFill>
                  <a:srgbClr val="000066"/>
                </a:solidFill>
              </a:rPr>
              <a:t>			         </a:t>
            </a:r>
            <a:r>
              <a:rPr lang="en-US" dirty="0">
                <a:solidFill>
                  <a:srgbClr val="0000CC"/>
                </a:solidFill>
              </a:rPr>
              <a:t>= ½ </a:t>
            </a:r>
            <a:r>
              <a:rPr lang="en-US" i="1" dirty="0">
                <a:solidFill>
                  <a:srgbClr val="0000CC"/>
                </a:solidFill>
              </a:rPr>
              <a:t>b </a:t>
            </a:r>
            <a:r>
              <a:rPr lang="en-US" dirty="0">
                <a:solidFill>
                  <a:srgbClr val="0000CC"/>
                </a:solidFill>
              </a:rPr>
              <a:t>(</a:t>
            </a:r>
            <a:r>
              <a:rPr lang="en-US" i="1" dirty="0">
                <a:solidFill>
                  <a:srgbClr val="0000CC"/>
                </a:solidFill>
              </a:rPr>
              <a:t>c</a:t>
            </a:r>
            <a:r>
              <a:rPr lang="en-US" dirty="0">
                <a:solidFill>
                  <a:srgbClr val="0000CC"/>
                </a:solidFill>
              </a:rPr>
              <a:t> sin </a:t>
            </a:r>
            <a:r>
              <a:rPr lang="en-US" i="1" dirty="0">
                <a:solidFill>
                  <a:srgbClr val="0000CC"/>
                </a:solidFill>
              </a:rPr>
              <a:t>A</a:t>
            </a:r>
            <a:r>
              <a:rPr lang="en-US" dirty="0">
                <a:solidFill>
                  <a:srgbClr val="0000CC"/>
                </a:solidFill>
              </a:rPr>
              <a:t>)</a:t>
            </a:r>
          </a:p>
          <a:p>
            <a:pPr marL="82296" indent="0">
              <a:buNone/>
            </a:pPr>
            <a:r>
              <a:rPr lang="en-US" i="1" dirty="0">
                <a:solidFill>
                  <a:srgbClr val="000066"/>
                </a:solidFill>
              </a:rPr>
              <a:t>			         </a:t>
            </a:r>
            <a:r>
              <a:rPr lang="en-US" dirty="0">
                <a:solidFill>
                  <a:srgbClr val="0000CC"/>
                </a:solidFill>
              </a:rPr>
              <a:t>= ½ </a:t>
            </a:r>
            <a:r>
              <a:rPr lang="en-US" i="1" dirty="0" err="1">
                <a:solidFill>
                  <a:srgbClr val="0000CC"/>
                </a:solidFill>
              </a:rPr>
              <a:t>bc</a:t>
            </a:r>
            <a:r>
              <a:rPr lang="en-US" dirty="0">
                <a:solidFill>
                  <a:srgbClr val="0000CC"/>
                </a:solidFill>
              </a:rPr>
              <a:t> sin </a:t>
            </a:r>
            <a:r>
              <a:rPr lang="en-US" i="1" dirty="0">
                <a:solidFill>
                  <a:srgbClr val="0000CC"/>
                </a:solidFill>
              </a:rPr>
              <a:t>A</a:t>
            </a:r>
          </a:p>
          <a:p>
            <a:pPr marL="82296" indent="0">
              <a:buNone/>
            </a:pPr>
            <a:r>
              <a:rPr lang="en-US" i="1" dirty="0">
                <a:solidFill>
                  <a:srgbClr val="0000CC"/>
                </a:solidFill>
              </a:rPr>
              <a:t>		</a:t>
            </a:r>
            <a:r>
              <a:rPr lang="en-US" i="1" dirty="0"/>
              <a:t>or	        </a:t>
            </a:r>
            <a:r>
              <a:rPr lang="en-US" i="1" dirty="0">
                <a:solidFill>
                  <a:srgbClr val="000066"/>
                </a:solidFill>
              </a:rPr>
              <a:t> </a:t>
            </a:r>
            <a:r>
              <a:rPr lang="en-US" dirty="0">
                <a:solidFill>
                  <a:srgbClr val="0000CC"/>
                </a:solidFill>
              </a:rPr>
              <a:t>= ½ </a:t>
            </a:r>
            <a:r>
              <a:rPr lang="en-US" i="1" dirty="0">
                <a:solidFill>
                  <a:srgbClr val="0000CC"/>
                </a:solidFill>
              </a:rPr>
              <a:t>ab</a:t>
            </a:r>
            <a:r>
              <a:rPr lang="en-US" dirty="0">
                <a:solidFill>
                  <a:srgbClr val="0000CC"/>
                </a:solidFill>
              </a:rPr>
              <a:t> sin </a:t>
            </a:r>
            <a:r>
              <a:rPr lang="en-US" i="1" dirty="0">
                <a:solidFill>
                  <a:srgbClr val="0000CC"/>
                </a:solidFill>
              </a:rPr>
              <a:t>C</a:t>
            </a:r>
          </a:p>
          <a:p>
            <a:pPr marL="82296" indent="0">
              <a:buNone/>
            </a:pPr>
            <a:r>
              <a:rPr lang="en-US" i="1" dirty="0">
                <a:solidFill>
                  <a:srgbClr val="0000CC"/>
                </a:solidFill>
              </a:rPr>
              <a:t>		</a:t>
            </a:r>
            <a:r>
              <a:rPr lang="en-US" i="1" dirty="0"/>
              <a:t>or	        </a:t>
            </a:r>
            <a:r>
              <a:rPr lang="en-US" i="1" dirty="0">
                <a:solidFill>
                  <a:srgbClr val="000066"/>
                </a:solidFill>
              </a:rPr>
              <a:t> </a:t>
            </a:r>
            <a:r>
              <a:rPr lang="en-US" dirty="0">
                <a:solidFill>
                  <a:srgbClr val="0000CC"/>
                </a:solidFill>
              </a:rPr>
              <a:t>= ½ </a:t>
            </a:r>
            <a:r>
              <a:rPr lang="en-US" i="1" dirty="0">
                <a:solidFill>
                  <a:srgbClr val="0000CC"/>
                </a:solidFill>
              </a:rPr>
              <a:t>ac</a:t>
            </a:r>
            <a:r>
              <a:rPr lang="en-US" dirty="0">
                <a:solidFill>
                  <a:srgbClr val="0000CC"/>
                </a:solidFill>
              </a:rPr>
              <a:t> sin </a:t>
            </a:r>
            <a:r>
              <a:rPr lang="en-US" i="1" dirty="0">
                <a:solidFill>
                  <a:srgbClr val="0000CC"/>
                </a:solidFill>
              </a:rPr>
              <a:t>B</a:t>
            </a:r>
            <a:endParaRPr lang="en-US" i="1" dirty="0"/>
          </a:p>
          <a:p>
            <a:pPr marL="82296" indent="0">
              <a:buNone/>
            </a:pPr>
            <a:r>
              <a:rPr lang="en-US" dirty="0"/>
              <a:t>We can find the area if we know two sides and the included angle.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6227470" y="3352800"/>
            <a:ext cx="2629362" cy="2073533"/>
            <a:chOff x="6227470" y="3352800"/>
            <a:chExt cx="2629362" cy="2073533"/>
          </a:xfrm>
        </p:grpSpPr>
        <p:sp>
          <p:nvSpPr>
            <p:cNvPr id="4" name="Freeform 3"/>
            <p:cNvSpPr/>
            <p:nvPr/>
          </p:nvSpPr>
          <p:spPr>
            <a:xfrm>
              <a:off x="6629400" y="3826476"/>
              <a:ext cx="1828800" cy="1202724"/>
            </a:xfrm>
            <a:custGeom>
              <a:avLst/>
              <a:gdLst>
                <a:gd name="connsiteX0" fmla="*/ 0 w 1421027"/>
                <a:gd name="connsiteY0" fmla="*/ 815546 h 815546"/>
                <a:gd name="connsiteX1" fmla="*/ 951470 w 1421027"/>
                <a:gd name="connsiteY1" fmla="*/ 0 h 815546"/>
                <a:gd name="connsiteX2" fmla="*/ 1421027 w 1421027"/>
                <a:gd name="connsiteY2" fmla="*/ 815546 h 815546"/>
                <a:gd name="connsiteX3" fmla="*/ 0 w 1421027"/>
                <a:gd name="connsiteY3" fmla="*/ 815546 h 815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1027" h="815546">
                  <a:moveTo>
                    <a:pt x="0" y="815546"/>
                  </a:moveTo>
                  <a:lnTo>
                    <a:pt x="951470" y="0"/>
                  </a:lnTo>
                  <a:lnTo>
                    <a:pt x="1421027" y="815546"/>
                  </a:lnTo>
                  <a:lnTo>
                    <a:pt x="0" y="815546"/>
                  </a:lnTo>
                  <a:close/>
                </a:path>
              </a:pathLst>
            </a:custGeom>
            <a:noFill/>
            <a:ln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6227470" y="4812268"/>
              <a:ext cx="37221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i="1" dirty="0">
                  <a:solidFill>
                    <a:srgbClr val="0000CC"/>
                  </a:solidFill>
                </a:rPr>
                <a:t>A</a:t>
              </a:r>
              <a:endParaRPr lang="en-US" sz="2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466982" y="4876800"/>
              <a:ext cx="38985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i="1" dirty="0">
                  <a:solidFill>
                    <a:srgbClr val="0000CC"/>
                  </a:solidFill>
                </a:rPr>
                <a:t>C</a:t>
              </a:r>
              <a:endParaRPr lang="en-US" sz="2400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7687350" y="3352800"/>
              <a:ext cx="37221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i="1" dirty="0">
                  <a:solidFill>
                    <a:srgbClr val="0000CC"/>
                  </a:solidFill>
                </a:rPr>
                <a:t>B</a:t>
              </a:r>
              <a:endParaRPr lang="en-US" sz="240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433846" y="4964668"/>
              <a:ext cx="33855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i="1" dirty="0">
                  <a:solidFill>
                    <a:srgbClr val="0000CC"/>
                  </a:solidFill>
                </a:rPr>
                <a:t>b</a:t>
              </a:r>
              <a:endParaRPr lang="en-US" sz="24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994278" y="3962400"/>
              <a:ext cx="32092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i="1" dirty="0">
                  <a:solidFill>
                    <a:srgbClr val="0000CC"/>
                  </a:solidFill>
                </a:rPr>
                <a:t>c</a:t>
              </a:r>
              <a:endParaRPr lang="en-US" sz="2400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8195846" y="4191000"/>
              <a:ext cx="33855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i="1" dirty="0">
                  <a:solidFill>
                    <a:srgbClr val="0000CC"/>
                  </a:solidFill>
                </a:rPr>
                <a:t>a</a:t>
              </a:r>
              <a:endParaRPr lang="en-US" sz="2400" dirty="0"/>
            </a:p>
          </p:txBody>
        </p:sp>
        <p:cxnSp>
          <p:nvCxnSpPr>
            <p:cNvPr id="12" name="Straight Connector 11"/>
            <p:cNvCxnSpPr>
              <a:stCxn id="4" idx="1"/>
            </p:cNvCxnSpPr>
            <p:nvPr/>
          </p:nvCxnSpPr>
          <p:spPr>
            <a:xfrm flipH="1">
              <a:off x="7848600" y="3826476"/>
              <a:ext cx="5301" cy="12027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/>
          <p:cNvSpPr/>
          <p:nvPr/>
        </p:nvSpPr>
        <p:spPr>
          <a:xfrm>
            <a:off x="7433846" y="4191000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>
                <a:solidFill>
                  <a:srgbClr val="3891A7"/>
                </a:solidFill>
              </a:rPr>
              <a:t>h</a:t>
            </a:r>
            <a:endParaRPr lang="en-US" sz="2400" dirty="0">
              <a:solidFill>
                <a:srgbClr val="3891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155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7696200" y="4876800"/>
            <a:ext cx="152400" cy="152400"/>
          </a:xfrm>
          <a:prstGeom prst="rect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 of a Triangle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498080" cy="5181600"/>
          </a:xfrm>
        </p:spPr>
        <p:txBody>
          <a:bodyPr>
            <a:normAutofit/>
          </a:bodyPr>
          <a:lstStyle/>
          <a:p>
            <a:r>
              <a:rPr lang="en-US" dirty="0"/>
              <a:t>Each of the interior angles of a triangle must be less than 180</a:t>
            </a:r>
            <a:r>
              <a:rPr lang="en-US" dirty="0">
                <a:sym typeface="Symbol" panose="05050102010706020507" pitchFamily="18" charset="2"/>
              </a:rPr>
              <a:t>.  </a:t>
            </a:r>
          </a:p>
          <a:p>
            <a:r>
              <a:rPr lang="en-US" dirty="0">
                <a:sym typeface="Symbol" panose="05050102010706020507" pitchFamily="18" charset="2"/>
              </a:rPr>
              <a:t>Since the sign of the sine function for angles between 0 and 180 is positive, we have the following:</a:t>
            </a:r>
          </a:p>
          <a:p>
            <a:endParaRPr lang="en-US" dirty="0">
              <a:sym typeface="Symbol" panose="05050102010706020507" pitchFamily="18" charset="2"/>
            </a:endParaRPr>
          </a:p>
          <a:p>
            <a:r>
              <a:rPr lang="en-US" dirty="0"/>
              <a:t>Area of a triangle:  </a:t>
            </a:r>
            <a:r>
              <a:rPr lang="en-US" i="1" dirty="0">
                <a:solidFill>
                  <a:srgbClr val="0000CC"/>
                </a:solidFill>
              </a:rPr>
              <a:t>Area</a:t>
            </a:r>
            <a:r>
              <a:rPr lang="en-US" dirty="0">
                <a:solidFill>
                  <a:srgbClr val="0000CC"/>
                </a:solidFill>
              </a:rPr>
              <a:t> = ½ </a:t>
            </a:r>
            <a:r>
              <a:rPr lang="en-US" i="1" dirty="0" err="1">
                <a:solidFill>
                  <a:srgbClr val="0000CC"/>
                </a:solidFill>
              </a:rPr>
              <a:t>bh</a:t>
            </a:r>
            <a:r>
              <a:rPr lang="en-US" dirty="0">
                <a:solidFill>
                  <a:srgbClr val="000066"/>
                </a:solidFill>
              </a:rPr>
              <a:t>       (see sketch)</a:t>
            </a:r>
          </a:p>
          <a:p>
            <a:pPr marL="82296" indent="0">
              <a:buNone/>
            </a:pPr>
            <a:r>
              <a:rPr lang="en-US" i="1" dirty="0">
                <a:solidFill>
                  <a:srgbClr val="000066"/>
                </a:solidFill>
              </a:rPr>
              <a:t>			         </a:t>
            </a:r>
            <a:r>
              <a:rPr lang="en-US" dirty="0">
                <a:solidFill>
                  <a:srgbClr val="0000CC"/>
                </a:solidFill>
              </a:rPr>
              <a:t>= ½ </a:t>
            </a:r>
            <a:r>
              <a:rPr lang="en-US" i="1" dirty="0">
                <a:solidFill>
                  <a:srgbClr val="0000CC"/>
                </a:solidFill>
              </a:rPr>
              <a:t>b </a:t>
            </a:r>
            <a:r>
              <a:rPr lang="en-US" dirty="0">
                <a:solidFill>
                  <a:srgbClr val="0000CC"/>
                </a:solidFill>
              </a:rPr>
              <a:t>(</a:t>
            </a:r>
            <a:r>
              <a:rPr lang="en-US" i="1" dirty="0">
                <a:solidFill>
                  <a:srgbClr val="0000CC"/>
                </a:solidFill>
              </a:rPr>
              <a:t>c</a:t>
            </a:r>
            <a:r>
              <a:rPr lang="en-US" dirty="0">
                <a:solidFill>
                  <a:srgbClr val="0000CC"/>
                </a:solidFill>
              </a:rPr>
              <a:t> sin </a:t>
            </a:r>
            <a:r>
              <a:rPr lang="en-US" i="1" dirty="0">
                <a:solidFill>
                  <a:srgbClr val="0000CC"/>
                </a:solidFill>
              </a:rPr>
              <a:t>A</a:t>
            </a:r>
            <a:r>
              <a:rPr lang="en-US" dirty="0">
                <a:solidFill>
                  <a:srgbClr val="0000CC"/>
                </a:solidFill>
              </a:rPr>
              <a:t>)</a:t>
            </a:r>
          </a:p>
          <a:p>
            <a:pPr marL="82296" indent="0">
              <a:buNone/>
            </a:pPr>
            <a:r>
              <a:rPr lang="en-US" i="1" dirty="0">
                <a:solidFill>
                  <a:srgbClr val="000066"/>
                </a:solidFill>
              </a:rPr>
              <a:t>			         </a:t>
            </a:r>
            <a:r>
              <a:rPr lang="en-US" dirty="0">
                <a:solidFill>
                  <a:srgbClr val="0000CC"/>
                </a:solidFill>
              </a:rPr>
              <a:t>= ½ </a:t>
            </a:r>
            <a:r>
              <a:rPr lang="en-US" i="1" dirty="0" err="1">
                <a:solidFill>
                  <a:srgbClr val="0000CC"/>
                </a:solidFill>
              </a:rPr>
              <a:t>bc</a:t>
            </a:r>
            <a:r>
              <a:rPr lang="en-US" dirty="0">
                <a:solidFill>
                  <a:srgbClr val="0000CC"/>
                </a:solidFill>
              </a:rPr>
              <a:t> sin </a:t>
            </a:r>
            <a:r>
              <a:rPr lang="en-US" i="1" dirty="0">
                <a:solidFill>
                  <a:srgbClr val="0000CC"/>
                </a:solidFill>
              </a:rPr>
              <a:t>A</a:t>
            </a:r>
          </a:p>
          <a:p>
            <a:pPr marL="82296" indent="0">
              <a:buNone/>
            </a:pPr>
            <a:r>
              <a:rPr lang="en-US" i="1" dirty="0">
                <a:solidFill>
                  <a:srgbClr val="0000CC"/>
                </a:solidFill>
              </a:rPr>
              <a:t>		</a:t>
            </a:r>
            <a:r>
              <a:rPr lang="en-US" i="1" dirty="0"/>
              <a:t>or	        </a:t>
            </a:r>
            <a:r>
              <a:rPr lang="en-US" i="1" dirty="0">
                <a:solidFill>
                  <a:srgbClr val="000066"/>
                </a:solidFill>
              </a:rPr>
              <a:t> </a:t>
            </a:r>
            <a:r>
              <a:rPr lang="en-US" dirty="0">
                <a:solidFill>
                  <a:srgbClr val="0000CC"/>
                </a:solidFill>
              </a:rPr>
              <a:t>= ½ </a:t>
            </a:r>
            <a:r>
              <a:rPr lang="en-US" i="1" dirty="0">
                <a:solidFill>
                  <a:srgbClr val="0000CC"/>
                </a:solidFill>
              </a:rPr>
              <a:t>ab</a:t>
            </a:r>
            <a:r>
              <a:rPr lang="en-US" dirty="0">
                <a:solidFill>
                  <a:srgbClr val="0000CC"/>
                </a:solidFill>
              </a:rPr>
              <a:t> sin </a:t>
            </a:r>
            <a:r>
              <a:rPr lang="en-US" i="1" dirty="0">
                <a:solidFill>
                  <a:srgbClr val="0000CC"/>
                </a:solidFill>
              </a:rPr>
              <a:t>C</a:t>
            </a:r>
          </a:p>
          <a:p>
            <a:pPr marL="82296" indent="0">
              <a:buNone/>
            </a:pPr>
            <a:r>
              <a:rPr lang="en-US" i="1" dirty="0">
                <a:solidFill>
                  <a:srgbClr val="0000CC"/>
                </a:solidFill>
              </a:rPr>
              <a:t>		</a:t>
            </a:r>
            <a:r>
              <a:rPr lang="en-US" i="1" dirty="0"/>
              <a:t>or	        </a:t>
            </a:r>
            <a:r>
              <a:rPr lang="en-US" i="1" dirty="0">
                <a:solidFill>
                  <a:srgbClr val="000066"/>
                </a:solidFill>
              </a:rPr>
              <a:t> </a:t>
            </a:r>
            <a:r>
              <a:rPr lang="en-US" dirty="0">
                <a:solidFill>
                  <a:srgbClr val="0000CC"/>
                </a:solidFill>
              </a:rPr>
              <a:t>= ½ </a:t>
            </a:r>
            <a:r>
              <a:rPr lang="en-US" i="1" dirty="0">
                <a:solidFill>
                  <a:srgbClr val="0000CC"/>
                </a:solidFill>
              </a:rPr>
              <a:t>ac</a:t>
            </a:r>
            <a:r>
              <a:rPr lang="en-US" dirty="0">
                <a:solidFill>
                  <a:srgbClr val="0000CC"/>
                </a:solidFill>
              </a:rPr>
              <a:t> sin </a:t>
            </a:r>
            <a:r>
              <a:rPr lang="en-US" i="1" dirty="0">
                <a:solidFill>
                  <a:srgbClr val="0000CC"/>
                </a:solidFill>
              </a:rPr>
              <a:t>B</a:t>
            </a:r>
            <a:endParaRPr lang="en-US" i="1" dirty="0"/>
          </a:p>
          <a:p>
            <a:pPr marL="82296" indent="0">
              <a:buNone/>
            </a:pPr>
            <a:r>
              <a:rPr lang="en-US" dirty="0"/>
              <a:t>We can find the area if we know two sides and the included angle.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6227470" y="3352800"/>
            <a:ext cx="2629362" cy="2073533"/>
            <a:chOff x="6227470" y="3352800"/>
            <a:chExt cx="2629362" cy="2073533"/>
          </a:xfrm>
        </p:grpSpPr>
        <p:sp>
          <p:nvSpPr>
            <p:cNvPr id="4" name="Freeform 3"/>
            <p:cNvSpPr/>
            <p:nvPr/>
          </p:nvSpPr>
          <p:spPr>
            <a:xfrm>
              <a:off x="6629400" y="3826476"/>
              <a:ext cx="1828800" cy="1202724"/>
            </a:xfrm>
            <a:custGeom>
              <a:avLst/>
              <a:gdLst>
                <a:gd name="connsiteX0" fmla="*/ 0 w 1421027"/>
                <a:gd name="connsiteY0" fmla="*/ 815546 h 815546"/>
                <a:gd name="connsiteX1" fmla="*/ 951470 w 1421027"/>
                <a:gd name="connsiteY1" fmla="*/ 0 h 815546"/>
                <a:gd name="connsiteX2" fmla="*/ 1421027 w 1421027"/>
                <a:gd name="connsiteY2" fmla="*/ 815546 h 815546"/>
                <a:gd name="connsiteX3" fmla="*/ 0 w 1421027"/>
                <a:gd name="connsiteY3" fmla="*/ 815546 h 815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1027" h="815546">
                  <a:moveTo>
                    <a:pt x="0" y="815546"/>
                  </a:moveTo>
                  <a:lnTo>
                    <a:pt x="951470" y="0"/>
                  </a:lnTo>
                  <a:lnTo>
                    <a:pt x="1421027" y="815546"/>
                  </a:lnTo>
                  <a:lnTo>
                    <a:pt x="0" y="815546"/>
                  </a:lnTo>
                  <a:close/>
                </a:path>
              </a:pathLst>
            </a:custGeom>
            <a:noFill/>
            <a:ln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6227470" y="4812268"/>
              <a:ext cx="37221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i="1" dirty="0">
                  <a:solidFill>
                    <a:srgbClr val="0000CC"/>
                  </a:solidFill>
                </a:rPr>
                <a:t>A</a:t>
              </a:r>
              <a:endParaRPr lang="en-US" sz="2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466982" y="4876800"/>
              <a:ext cx="38985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i="1" dirty="0">
                  <a:solidFill>
                    <a:srgbClr val="0000CC"/>
                  </a:solidFill>
                </a:rPr>
                <a:t>C</a:t>
              </a:r>
              <a:endParaRPr lang="en-US" sz="2400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7687350" y="3352800"/>
              <a:ext cx="37221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i="1" dirty="0">
                  <a:solidFill>
                    <a:srgbClr val="0000CC"/>
                  </a:solidFill>
                </a:rPr>
                <a:t>B</a:t>
              </a:r>
              <a:endParaRPr lang="en-US" sz="240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433846" y="4964668"/>
              <a:ext cx="33855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i="1" dirty="0">
                  <a:solidFill>
                    <a:srgbClr val="0000CC"/>
                  </a:solidFill>
                </a:rPr>
                <a:t>b</a:t>
              </a:r>
              <a:endParaRPr lang="en-US" sz="24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994278" y="3962400"/>
              <a:ext cx="32092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i="1" dirty="0">
                  <a:solidFill>
                    <a:srgbClr val="0000CC"/>
                  </a:solidFill>
                </a:rPr>
                <a:t>c</a:t>
              </a:r>
              <a:endParaRPr lang="en-US" sz="2400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8195846" y="4191000"/>
              <a:ext cx="33855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i="1" dirty="0">
                  <a:solidFill>
                    <a:srgbClr val="0000CC"/>
                  </a:solidFill>
                </a:rPr>
                <a:t>a</a:t>
              </a:r>
              <a:endParaRPr lang="en-US" sz="2400" dirty="0"/>
            </a:p>
          </p:txBody>
        </p:sp>
        <p:cxnSp>
          <p:nvCxnSpPr>
            <p:cNvPr id="12" name="Straight Connector 11"/>
            <p:cNvCxnSpPr>
              <a:stCxn id="4" idx="1"/>
            </p:cNvCxnSpPr>
            <p:nvPr/>
          </p:nvCxnSpPr>
          <p:spPr>
            <a:xfrm flipH="1">
              <a:off x="7848600" y="3826476"/>
              <a:ext cx="5301" cy="12027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/>
          <p:cNvSpPr/>
          <p:nvPr/>
        </p:nvSpPr>
        <p:spPr>
          <a:xfrm>
            <a:off x="7433846" y="4191000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>
                <a:solidFill>
                  <a:srgbClr val="3891A7"/>
                </a:solidFill>
              </a:rPr>
              <a:t>h</a:t>
            </a:r>
            <a:endParaRPr lang="en-US" sz="2400" dirty="0">
              <a:solidFill>
                <a:srgbClr val="3891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1707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Area of a Triangle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498080" cy="5181600"/>
          </a:xfrm>
        </p:spPr>
        <p:txBody>
          <a:bodyPr>
            <a:normAutofit/>
          </a:bodyPr>
          <a:lstStyle/>
          <a:p>
            <a:r>
              <a:rPr lang="en-US" dirty="0"/>
              <a:t>Find the area of the triangle.</a:t>
            </a:r>
            <a:endParaRPr lang="en-US" dirty="0">
              <a:sym typeface="Symbol" panose="05050102010706020507" pitchFamily="18" charset="2"/>
            </a:endParaRPr>
          </a:p>
          <a:p>
            <a:pPr marL="82296" indent="0">
              <a:buNone/>
            </a:pPr>
            <a:endParaRPr lang="en-US" i="1" dirty="0">
              <a:solidFill>
                <a:srgbClr val="000066"/>
              </a:solidFill>
            </a:endParaRPr>
          </a:p>
          <a:p>
            <a:pPr marL="82296" indent="0">
              <a:buNone/>
            </a:pPr>
            <a:r>
              <a:rPr lang="en-US" dirty="0">
                <a:solidFill>
                  <a:srgbClr val="000066"/>
                </a:solidFill>
              </a:rPr>
              <a:t>Solution:</a:t>
            </a:r>
            <a:r>
              <a:rPr lang="en-US" i="1" dirty="0">
                <a:solidFill>
                  <a:srgbClr val="000066"/>
                </a:solidFill>
              </a:rPr>
              <a:t> </a:t>
            </a:r>
            <a:r>
              <a:rPr lang="en-US" i="1" dirty="0">
                <a:solidFill>
                  <a:srgbClr val="0000CC"/>
                </a:solidFill>
              </a:rPr>
              <a:t>Area </a:t>
            </a:r>
            <a:r>
              <a:rPr lang="en-US" dirty="0">
                <a:solidFill>
                  <a:srgbClr val="0000CC"/>
                </a:solidFill>
              </a:rPr>
              <a:t>= ½ </a:t>
            </a:r>
            <a:r>
              <a:rPr lang="en-US" i="1" dirty="0" err="1">
                <a:solidFill>
                  <a:srgbClr val="0000CC"/>
                </a:solidFill>
              </a:rPr>
              <a:t>bc</a:t>
            </a:r>
            <a:r>
              <a:rPr lang="en-US" dirty="0">
                <a:solidFill>
                  <a:srgbClr val="0000CC"/>
                </a:solidFill>
              </a:rPr>
              <a:t> sin </a:t>
            </a:r>
            <a:r>
              <a:rPr lang="en-US" i="1" dirty="0">
                <a:solidFill>
                  <a:srgbClr val="0000CC"/>
                </a:solidFill>
              </a:rPr>
              <a:t>A</a:t>
            </a:r>
          </a:p>
          <a:p>
            <a:pPr marL="82296" indent="0">
              <a:buNone/>
            </a:pPr>
            <a:r>
              <a:rPr lang="en-US" i="1" dirty="0">
                <a:solidFill>
                  <a:srgbClr val="0000CC"/>
                </a:solidFill>
              </a:rPr>
              <a:t>		 </a:t>
            </a:r>
            <a:r>
              <a:rPr lang="en-US" dirty="0">
                <a:solidFill>
                  <a:srgbClr val="0000CC"/>
                </a:solidFill>
              </a:rPr>
              <a:t>= ½ (19)(17)sin 40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</a:t>
            </a:r>
          </a:p>
          <a:p>
            <a:pPr marL="82296" indent="0">
              <a:buNone/>
            </a:pPr>
            <a:r>
              <a:rPr lang="en-US" i="1" dirty="0">
                <a:solidFill>
                  <a:srgbClr val="0000CC"/>
                </a:solidFill>
                <a:sym typeface="Symbol" panose="05050102010706020507" pitchFamily="18" charset="2"/>
              </a:rPr>
              <a:t>		 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 103.8</a:t>
            </a:r>
            <a:endParaRPr lang="en-US" dirty="0">
              <a:solidFill>
                <a:srgbClr val="0000CC"/>
              </a:solidFill>
            </a:endParaRPr>
          </a:p>
          <a:p>
            <a:pPr marL="82296" indent="0">
              <a:buNone/>
            </a:pPr>
            <a:endParaRPr lang="en-US" i="1" dirty="0">
              <a:solidFill>
                <a:srgbClr val="0000CC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5334000" y="1182624"/>
            <a:ext cx="1989137" cy="2057400"/>
            <a:chOff x="6629400" y="2971800"/>
            <a:chExt cx="1989137" cy="2057400"/>
          </a:xfrm>
        </p:grpSpPr>
        <p:sp>
          <p:nvSpPr>
            <p:cNvPr id="4" name="Freeform 3"/>
            <p:cNvSpPr/>
            <p:nvPr/>
          </p:nvSpPr>
          <p:spPr>
            <a:xfrm>
              <a:off x="6629400" y="2971800"/>
              <a:ext cx="1828800" cy="2057400"/>
            </a:xfrm>
            <a:custGeom>
              <a:avLst/>
              <a:gdLst>
                <a:gd name="connsiteX0" fmla="*/ 0 w 1421027"/>
                <a:gd name="connsiteY0" fmla="*/ 815546 h 815546"/>
                <a:gd name="connsiteX1" fmla="*/ 951470 w 1421027"/>
                <a:gd name="connsiteY1" fmla="*/ 0 h 815546"/>
                <a:gd name="connsiteX2" fmla="*/ 1421027 w 1421027"/>
                <a:gd name="connsiteY2" fmla="*/ 815546 h 815546"/>
                <a:gd name="connsiteX3" fmla="*/ 0 w 1421027"/>
                <a:gd name="connsiteY3" fmla="*/ 815546 h 815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1027" h="815546">
                  <a:moveTo>
                    <a:pt x="0" y="815546"/>
                  </a:moveTo>
                  <a:lnTo>
                    <a:pt x="951470" y="0"/>
                  </a:lnTo>
                  <a:lnTo>
                    <a:pt x="1421027" y="815546"/>
                  </a:lnTo>
                  <a:lnTo>
                    <a:pt x="0" y="815546"/>
                  </a:lnTo>
                  <a:close/>
                </a:path>
              </a:pathLst>
            </a:custGeom>
            <a:noFill/>
            <a:ln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/>
                <p:cNvSpPr/>
                <p:nvPr/>
              </p:nvSpPr>
              <p:spPr>
                <a:xfrm>
                  <a:off x="7467600" y="3276600"/>
                  <a:ext cx="63030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a:rPr lang="en-US" sz="20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7600" y="3276600"/>
                  <a:ext cx="630301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ectangle 8"/>
            <p:cNvSpPr/>
            <p:nvPr/>
          </p:nvSpPr>
          <p:spPr>
            <a:xfrm>
              <a:off x="6705600" y="3805535"/>
              <a:ext cx="44114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0000CC"/>
                  </a:solidFill>
                </a:rPr>
                <a:t>19</a:t>
              </a:r>
              <a:endParaRPr lang="en-US" sz="2000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8177391" y="3957935"/>
              <a:ext cx="44114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0000CC"/>
                  </a:solidFill>
                </a:rPr>
                <a:t>17</a:t>
              </a:r>
              <a:endParaRPr lang="en-US" sz="2000" dirty="0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6408947" y="702671"/>
            <a:ext cx="372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/>
              <a:t>A</a:t>
            </a:r>
            <a:endParaRPr lang="en-US" sz="2400" dirty="0"/>
          </a:p>
        </p:txBody>
      </p:sp>
      <p:sp>
        <p:nvSpPr>
          <p:cNvPr id="17" name="Rectangle 16"/>
          <p:cNvSpPr/>
          <p:nvPr/>
        </p:nvSpPr>
        <p:spPr>
          <a:xfrm>
            <a:off x="4953000" y="3048000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/>
              <a:t>C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7095382" y="3124200"/>
            <a:ext cx="372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/>
              <a:t>B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97591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Area of a Triangle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area of the polygon if angle </a:t>
            </a:r>
            <a:r>
              <a:rPr lang="en-US" i="1" dirty="0">
                <a:solidFill>
                  <a:srgbClr val="0000CC"/>
                </a:solidFill>
              </a:rPr>
              <a:t>A</a:t>
            </a:r>
            <a:r>
              <a:rPr lang="en-US" dirty="0">
                <a:solidFill>
                  <a:srgbClr val="0000CC"/>
                </a:solidFill>
              </a:rPr>
              <a:t> </a:t>
            </a:r>
            <a:r>
              <a:rPr lang="en-US" dirty="0"/>
              <a:t>is </a:t>
            </a:r>
            <a:r>
              <a:rPr lang="en-US" dirty="0">
                <a:solidFill>
                  <a:srgbClr val="0000CC"/>
                </a:solidFill>
              </a:rPr>
              <a:t>60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</a:t>
            </a:r>
            <a:r>
              <a:rPr lang="en-US"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8372" y="6286171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rgbClr val="0000CC"/>
                </a:solidFill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3066" y="3600719"/>
            <a:ext cx="328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rgbClr val="0000CC"/>
                </a:solidFill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13304" y="1009259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rgbClr val="0000CC"/>
                </a:solidFill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85417" y="3600719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rgbClr val="0000CC"/>
                </a:solidFill>
              </a:rP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7276" y="5105400"/>
            <a:ext cx="5325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CC"/>
                </a:solidFill>
              </a:rPr>
              <a:t>8 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6162" y="2257455"/>
            <a:ext cx="5325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CC"/>
                </a:solidFill>
              </a:rPr>
              <a:t>8 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5813" y="2286000"/>
            <a:ext cx="53251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CC"/>
                </a:solidFill>
              </a:rPr>
              <a:t>6 ft</a:t>
            </a:r>
          </a:p>
          <a:p>
            <a:endParaRPr lang="en-US" sz="2000" dirty="0">
              <a:solidFill>
                <a:srgbClr val="0000CC"/>
              </a:solidFill>
            </a:endParaRPr>
          </a:p>
          <a:p>
            <a:endParaRPr lang="en-US" sz="2000" dirty="0">
              <a:solidFill>
                <a:srgbClr val="0000CC"/>
              </a:solidFill>
            </a:endParaRPr>
          </a:p>
          <a:p>
            <a:endParaRPr lang="en-US" sz="2000" dirty="0">
              <a:solidFill>
                <a:srgbClr val="0000CC"/>
              </a:solidFill>
            </a:endParaRPr>
          </a:p>
          <a:p>
            <a:endParaRPr lang="en-US" sz="2000" dirty="0">
              <a:solidFill>
                <a:srgbClr val="0000CC"/>
              </a:solidFill>
            </a:endParaRPr>
          </a:p>
          <a:p>
            <a:endParaRPr lang="en-US" sz="2000" dirty="0">
              <a:solidFill>
                <a:srgbClr val="0000CC"/>
              </a:solidFill>
            </a:endParaRPr>
          </a:p>
          <a:p>
            <a:endParaRPr lang="en-US" sz="2000" dirty="0">
              <a:solidFill>
                <a:srgbClr val="0000CC"/>
              </a:solidFill>
            </a:endParaRPr>
          </a:p>
          <a:p>
            <a:endParaRPr lang="en-US" sz="2000" dirty="0">
              <a:solidFill>
                <a:srgbClr val="0000CC"/>
              </a:solidFill>
            </a:endParaRPr>
          </a:p>
          <a:p>
            <a:endParaRPr lang="en-US" sz="2000" dirty="0">
              <a:solidFill>
                <a:srgbClr val="0000CC"/>
              </a:solidFill>
            </a:endParaRPr>
          </a:p>
          <a:p>
            <a:r>
              <a:rPr lang="en-US" sz="2000" dirty="0">
                <a:solidFill>
                  <a:srgbClr val="0000CC"/>
                </a:solidFill>
              </a:rPr>
              <a:t>6 ft</a:t>
            </a:r>
          </a:p>
        </p:txBody>
      </p:sp>
      <p:grpSp>
        <p:nvGrpSpPr>
          <p:cNvPr id="7" name="Group 6"/>
          <p:cNvGrpSpPr/>
          <p:nvPr/>
        </p:nvGrpSpPr>
        <p:grpSpPr>
          <a:xfrm rot="16200000">
            <a:off x="4529122" y="2138049"/>
            <a:ext cx="4876800" cy="3419444"/>
            <a:chOff x="2907600" y="1724055"/>
            <a:chExt cx="4876800" cy="3419444"/>
          </a:xfrm>
          <a:solidFill>
            <a:srgbClr val="3891A7"/>
          </a:solidFill>
        </p:grpSpPr>
        <p:sp>
          <p:nvSpPr>
            <p:cNvPr id="5" name="Isosceles Triangle 4"/>
            <p:cNvSpPr/>
            <p:nvPr/>
          </p:nvSpPr>
          <p:spPr>
            <a:xfrm>
              <a:off x="2907600" y="1724055"/>
              <a:ext cx="4876800" cy="2133600"/>
            </a:xfrm>
            <a:prstGeom prst="triangle">
              <a:avLst/>
            </a:prstGeom>
            <a:grpFill/>
            <a:ln>
              <a:solidFill>
                <a:srgbClr val="3891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/>
            <p:cNvSpPr/>
            <p:nvPr/>
          </p:nvSpPr>
          <p:spPr>
            <a:xfrm rot="10800000">
              <a:off x="2907600" y="3857654"/>
              <a:ext cx="4876800" cy="1285845"/>
            </a:xfrm>
            <a:prstGeom prst="triangle">
              <a:avLst/>
            </a:prstGeom>
            <a:grpFill/>
            <a:ln>
              <a:solidFill>
                <a:srgbClr val="3891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5168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Area of a Triangle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Find the area of the polygon if angle </a:t>
                </a:r>
                <a:r>
                  <a:rPr lang="en-US" i="1" dirty="0">
                    <a:solidFill>
                      <a:srgbClr val="0000CC"/>
                    </a:solidFill>
                  </a:rPr>
                  <a:t>A</a:t>
                </a:r>
                <a:r>
                  <a:rPr lang="en-US" dirty="0">
                    <a:solidFill>
                      <a:srgbClr val="0000CC"/>
                    </a:solidFill>
                  </a:rPr>
                  <a:t> </a:t>
                </a:r>
                <a:r>
                  <a:rPr lang="en-US" dirty="0"/>
                  <a:t>is </a:t>
                </a:r>
                <a:r>
                  <a:rPr lang="en-US" dirty="0">
                    <a:solidFill>
                      <a:srgbClr val="0000CC"/>
                    </a:solidFill>
                  </a:rPr>
                  <a:t>60</a:t>
                </a:r>
                <a:r>
                  <a:rPr lang="en-US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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Solution:</a:t>
                </a:r>
              </a:p>
              <a:p>
                <a:pPr marL="82296" indent="0">
                  <a:buNone/>
                </a:pPr>
                <a:r>
                  <a:rPr lang="en-US" dirty="0"/>
                  <a:t>    The area of each triangle is </a:t>
                </a:r>
              </a:p>
              <a:p>
                <a:pPr marL="82296" indent="0">
                  <a:buNone/>
                </a:pPr>
                <a:r>
                  <a:rPr lang="en-US" dirty="0">
                    <a:solidFill>
                      <a:srgbClr val="0000CC"/>
                    </a:solidFill>
                  </a:rPr>
                  <a:t>    Area</a:t>
                </a:r>
                <a:r>
                  <a:rPr lang="en-US" baseline="-25000" dirty="0">
                    <a:solidFill>
                      <a:srgbClr val="0000CC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△</a:t>
                </a:r>
                <a:r>
                  <a:rPr lang="en-US" dirty="0">
                    <a:solidFill>
                      <a:srgbClr val="0000CC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 ½ (6)(8)sin 60</a:t>
                </a:r>
                <a:r>
                  <a:rPr lang="en-US" dirty="0">
                    <a:solidFill>
                      <a:srgbClr val="0000CC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</a:t>
                </a:r>
              </a:p>
              <a:p>
                <a:pPr marL="82296" indent="0">
                  <a:buNone/>
                </a:pPr>
                <a:r>
                  <a:rPr lang="en-US" dirty="0">
                    <a:solidFill>
                      <a:srgbClr val="0000CC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	   =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24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=12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3</m:t>
                        </m:r>
                      </m:e>
                    </m:rad>
                  </m:oMath>
                </a14:m>
                <a:endParaRPr lang="en-US" dirty="0">
                  <a:solidFill>
                    <a:srgbClr val="0000CC"/>
                  </a:solidFill>
                </a:endParaRPr>
              </a:p>
              <a:p>
                <a:pPr marL="82296" indent="0">
                  <a:buNone/>
                </a:pPr>
                <a:r>
                  <a:rPr lang="en-US" dirty="0">
                    <a:solidFill>
                      <a:srgbClr val="0000CC"/>
                    </a:solidFill>
                  </a:rPr>
                  <a:t>     </a:t>
                </a:r>
                <a:r>
                  <a:rPr lang="en-US" dirty="0"/>
                  <a:t>so the area of the polygon is</a:t>
                </a:r>
              </a:p>
              <a:p>
                <a:pPr marL="82296" indent="0">
                  <a:buNone/>
                </a:pPr>
                <a:r>
                  <a:rPr lang="en-US" dirty="0">
                    <a:solidFill>
                      <a:srgbClr val="0000CC"/>
                    </a:solidFill>
                  </a:rPr>
                  <a:t>    Area</a:t>
                </a:r>
                <a:r>
                  <a:rPr lang="en-US" baseline="-25000" dirty="0">
                    <a:solidFill>
                      <a:srgbClr val="0000CC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dirty="0">
                    <a:solidFill>
                      <a:srgbClr val="0000CC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2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12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=24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3</m:t>
                        </m:r>
                      </m:e>
                    </m:rad>
                  </m:oMath>
                </a14:m>
                <a:endParaRPr lang="en-US" dirty="0">
                  <a:solidFill>
                    <a:srgbClr val="0000CC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4783066" y="1009259"/>
            <a:ext cx="4372965" cy="5677022"/>
            <a:chOff x="4783066" y="1009259"/>
            <a:chExt cx="4372965" cy="5677022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249020" y="1357148"/>
              <a:ext cx="3448050" cy="4905375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208372" y="6286171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rgbClr val="0000CC"/>
                  </a:solidFill>
                </a:rPr>
                <a:t>A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783066" y="3600719"/>
              <a:ext cx="3288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>
                  <a:solidFill>
                    <a:srgbClr val="0000CC"/>
                  </a:solidFill>
                </a:rPr>
                <a:t>B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213304" y="1009259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rgbClr val="0000CC"/>
                  </a:solidFill>
                </a:rPr>
                <a:t>C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785417" y="3600719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rgbClr val="0000CC"/>
                  </a:solidFill>
                </a:rPr>
                <a:t>D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957276" y="5105400"/>
              <a:ext cx="5325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00CC"/>
                  </a:solidFill>
                </a:rPr>
                <a:t>8 ft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846162" y="2257455"/>
              <a:ext cx="5325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00CC"/>
                  </a:solidFill>
                </a:rPr>
                <a:t>8 ft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005813" y="2286000"/>
              <a:ext cx="532518" cy="31700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00CC"/>
                  </a:solidFill>
                </a:rPr>
                <a:t>6 ft</a:t>
              </a:r>
            </a:p>
            <a:p>
              <a:endParaRPr lang="en-US" sz="2000" dirty="0">
                <a:solidFill>
                  <a:srgbClr val="0000CC"/>
                </a:solidFill>
              </a:endParaRPr>
            </a:p>
            <a:p>
              <a:endParaRPr lang="en-US" sz="2000" dirty="0">
                <a:solidFill>
                  <a:srgbClr val="0000CC"/>
                </a:solidFill>
              </a:endParaRPr>
            </a:p>
            <a:p>
              <a:endParaRPr lang="en-US" sz="2000" dirty="0">
                <a:solidFill>
                  <a:srgbClr val="0000CC"/>
                </a:solidFill>
              </a:endParaRPr>
            </a:p>
            <a:p>
              <a:endParaRPr lang="en-US" sz="2000" dirty="0">
                <a:solidFill>
                  <a:srgbClr val="0000CC"/>
                </a:solidFill>
              </a:endParaRPr>
            </a:p>
            <a:p>
              <a:endParaRPr lang="en-US" sz="2000" dirty="0">
                <a:solidFill>
                  <a:srgbClr val="0000CC"/>
                </a:solidFill>
              </a:endParaRPr>
            </a:p>
            <a:p>
              <a:endParaRPr lang="en-US" sz="2000" dirty="0">
                <a:solidFill>
                  <a:srgbClr val="0000CC"/>
                </a:solidFill>
              </a:endParaRPr>
            </a:p>
            <a:p>
              <a:endParaRPr lang="en-US" sz="2000" dirty="0">
                <a:solidFill>
                  <a:srgbClr val="0000CC"/>
                </a:solidFill>
              </a:endParaRPr>
            </a:p>
            <a:p>
              <a:endParaRPr lang="en-US" sz="2000" dirty="0">
                <a:solidFill>
                  <a:srgbClr val="0000CC"/>
                </a:solidFill>
              </a:endParaRPr>
            </a:p>
            <a:p>
              <a:r>
                <a:rPr lang="en-US" sz="2000" dirty="0">
                  <a:solidFill>
                    <a:srgbClr val="0000CC"/>
                  </a:solidFill>
                </a:rPr>
                <a:t>6 ft</a:t>
              </a:r>
            </a:p>
          </p:txBody>
        </p:sp>
      </p:grpSp>
      <p:cxnSp>
        <p:nvCxnSpPr>
          <p:cNvPr id="20" name="Straight Connector 19"/>
          <p:cNvCxnSpPr>
            <a:endCxn id="4" idx="1"/>
          </p:cNvCxnSpPr>
          <p:nvPr/>
        </p:nvCxnSpPr>
        <p:spPr>
          <a:xfrm flipH="1">
            <a:off x="5249020" y="3809835"/>
            <a:ext cx="3429521" cy="1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162800" y="5498068"/>
            <a:ext cx="508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60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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7086600" y="1600200"/>
            <a:ext cx="508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60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30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OWBARVISIBLE" val="True"/>
  <p:tag name="CSVFORMAT" val="0"/>
  <p:tag name="COUNTDOWNSTYLE" val="-1"/>
  <p:tag name="COUNTDOWNSECONDS" val="10"/>
  <p:tag name="BACKUPSESSIONS" val="True"/>
  <p:tag name="REVIEWONLY" val="False"/>
  <p:tag name="RACEENDPOINTS" val="100"/>
  <p:tag name="PARTICIPANTSINLEADERBOARD" val="5"/>
  <p:tag name="BUBBLESIZEVISIBLE" val="True"/>
  <p:tag name="CUSTOMGRIDBACKCOLOR" val="-2830136"/>
  <p:tag name="CUSTOMCELLBACKCOLOR3" val="-268652"/>
  <p:tag name="DISPLAYDEVICENUMBER" val="True"/>
  <p:tag name="AUTOSIZEGRID" val="True"/>
  <p:tag name="POLLINGCYCLE" val="2"/>
  <p:tag name="INCLUDENONRESPONDERS" val="False"/>
  <p:tag name="CORRECTPOINTVALUE" val="1"/>
  <p:tag name="ZEROBASED" val="False"/>
  <p:tag name="FIBDISPLAYRESULTS" val="True"/>
  <p:tag name="PRRESPONSE1" val="10"/>
  <p:tag name="PRRESPONSE5" val="6"/>
  <p:tag name="PRRESPONSE9" val="2"/>
  <p:tag name="TASKPANEKEY" val="40d5cd3d-514c-467f-b0f2-50def1ba4a48"/>
  <p:tag name="USESECONDARYMONITOR" val="True"/>
  <p:tag name="ANSWERNOWTEXT" val="Answer Now"/>
  <p:tag name="INPUTSOURCE" val="1"/>
  <p:tag name="CHARTVALUEFORMAT" val="0%"/>
  <p:tag name="STDCHART" val="1"/>
  <p:tag name="TEAMSINLEADERBOARD" val="5"/>
  <p:tag name="BUBBLEGROUPING" val="3"/>
  <p:tag name="CUSTOMCELLBACKCOLOR2" val="-13395457"/>
  <p:tag name="DISPLAYDEVICEID" val="True"/>
  <p:tag name="GRIDPOSITION" val="1"/>
  <p:tag name="RESETCHARTS" val="True"/>
  <p:tag name="INCORRECTPOINTVALUE" val="1"/>
  <p:tag name="CHARTSCALE" val="True"/>
  <p:tag name="FIBDISPLAYKEYWORDS" val="True"/>
  <p:tag name="PRRESPONSE6" val="5"/>
  <p:tag name="SHOWFLASHWARNING" val="False"/>
  <p:tag name="EXPANDSHOWBAR" val="True"/>
  <p:tag name="RESPCOUNTERSTYLE" val="-1"/>
  <p:tag name="ALLOWDUPLICATES" val="False"/>
  <p:tag name="AUTOUPDATEALIASES" val="True"/>
  <p:tag name="MAXRESPONDERS" val="5"/>
  <p:tag name="CUSTOMCELLFORECOLOR" val="-16777216"/>
  <p:tag name="DISPLAYNAME" val="True"/>
  <p:tag name="GRIDFONTSIZE" val="12"/>
  <p:tag name="INCLUDEPPT" val="False"/>
  <p:tag name="AUTOADJUSTPARTRANGE" val="True"/>
  <p:tag name="PRRESPONSE2" val="9"/>
  <p:tag name="PRRESPONSE8" val="3"/>
  <p:tag name="POWERPOINTVERSION" val="14.0"/>
  <p:tag name="RESPCOUNTERFORMAT" val="0"/>
  <p:tag name="AUTOADVANCE" val="True"/>
  <p:tag name="SKIPREMAININGRACESLIDES" val="True"/>
  <p:tag name="CUSTOMCELLBACKCOLOR1" val="-657956"/>
  <p:tag name="GRIDROTATIONINTERVAL" val="2"/>
  <p:tag name="MULTIRESPDIVISOR" val="1"/>
  <p:tag name="ADVANCEDSETTINGSVIEW" val="True"/>
  <p:tag name="PRRESPONSE4" val="7"/>
  <p:tag name="TPVERSION" val="2008"/>
  <p:tag name="RESPTABLESTYLE" val="-1"/>
  <p:tag name="RACERSMAXDISPLAYED" val="5"/>
  <p:tag name="DEFAULTNUMTEAMS" val="5"/>
  <p:tag name="GRIDSIZE" val="{Width=800, Height=600}"/>
  <p:tag name="REALTIMEBACKUP" val="False"/>
  <p:tag name="PRRESPONSE3" val="8"/>
  <p:tag name="SAVECSVWITHSESSION" val="True"/>
  <p:tag name="BACKUPMAINTENANCE" val="7"/>
  <p:tag name="BUBBLEVALUEFORMAT" val="0.0"/>
  <p:tag name="CHARTCOLORS" val="0"/>
  <p:tag name="FIBNUMRESULTS" val="5"/>
  <p:tag name="ALWAYSOPENPOLL" val="False"/>
  <p:tag name="ROTATIONINTERVAL" val="2"/>
  <p:tag name="USESCHEMECOLORS" val="True"/>
  <p:tag name="REALTIMEBACKUPPATH" val="(None)"/>
  <p:tag name="BULLETTYPE" val="3"/>
  <p:tag name="BUBBLENAMEVISIBLE" val="True"/>
  <p:tag name="ALLOWUSERFEEDBACK" val="False"/>
  <p:tag name="ANSWERNOWSTYLE" val="3"/>
  <p:tag name="GRIDOPACITY" val="90"/>
  <p:tag name="PRRESPONSE10" val="1"/>
  <p:tag name="CHARTLABELS" val="1"/>
  <p:tag name="RACEANIMATIONSPEED" val="3"/>
  <p:tag name="NUMRESPONSES" val="1"/>
  <p:tag name="CUSTOMCELLBACKCOLOR4" val="-8355712"/>
  <p:tag name="PRRESPONSE7" val="4"/>
  <p:tag name="FIBINCLUDEOTHER" val="True"/>
  <p:tag name="DELIMITERS" val="3.1"/>
  <p:tag name="TPFULLVERSION" val="4.3.2.117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18082</TotalTime>
  <Words>2661</Words>
  <Application>Microsoft Office PowerPoint</Application>
  <PresentationFormat>On-screen Show (4:3)</PresentationFormat>
  <Paragraphs>452</Paragraphs>
  <Slides>31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Arial</vt:lpstr>
      <vt:lpstr>Calibri</vt:lpstr>
      <vt:lpstr>Cambria</vt:lpstr>
      <vt:lpstr>Cambria Math</vt:lpstr>
      <vt:lpstr>Symbol</vt:lpstr>
      <vt:lpstr>Times New Roman</vt:lpstr>
      <vt:lpstr>Verdana</vt:lpstr>
      <vt:lpstr>Wingdings 2</vt:lpstr>
      <vt:lpstr>Solstice</vt:lpstr>
      <vt:lpstr>Equation</vt:lpstr>
      <vt:lpstr>trigonometric functions of any angle</vt:lpstr>
      <vt:lpstr>Trigonometric Functions at Any Angle</vt:lpstr>
      <vt:lpstr>Trigonometric Functions at Any Angle</vt:lpstr>
      <vt:lpstr>Example – Finding Values</vt:lpstr>
      <vt:lpstr>Example – Given One Value, Find Others</vt:lpstr>
      <vt:lpstr>Example – Given One Value, Find Others</vt:lpstr>
      <vt:lpstr>Example – Given One Value, Find Others</vt:lpstr>
      <vt:lpstr>Function Values at 30, 45, and 60</vt:lpstr>
      <vt:lpstr>Function Values at 30, 45, and 60</vt:lpstr>
      <vt:lpstr>Signs of the Trigonometric Functions</vt:lpstr>
      <vt:lpstr>Signs of the Trigonometric Functions</vt:lpstr>
      <vt:lpstr>Signs of the Trigonometric Functions</vt:lpstr>
      <vt:lpstr>Examples</vt:lpstr>
      <vt:lpstr>Examples</vt:lpstr>
      <vt:lpstr>Examples</vt:lpstr>
      <vt:lpstr>Examples</vt:lpstr>
      <vt:lpstr>Examples</vt:lpstr>
      <vt:lpstr>Trigonometric Functions of Any Angle</vt:lpstr>
      <vt:lpstr>Trigonometric Functions of Any Angle</vt:lpstr>
      <vt:lpstr>Trigonometric Functions of Any Angle</vt:lpstr>
      <vt:lpstr>Trigonometric Functions of Any Angle</vt:lpstr>
      <vt:lpstr>Trigonometric Functions of Any Angle</vt:lpstr>
      <vt:lpstr>Examples</vt:lpstr>
      <vt:lpstr>Examples</vt:lpstr>
      <vt:lpstr>Examples</vt:lpstr>
      <vt:lpstr>Area of a Triangle</vt:lpstr>
      <vt:lpstr>Area of a Triangle</vt:lpstr>
      <vt:lpstr>Area of a Triangle</vt:lpstr>
      <vt:lpstr>Example – Area of a Triangle</vt:lpstr>
      <vt:lpstr>Example – Area of a Triangle</vt:lpstr>
      <vt:lpstr>Example – Area of a Triangle</vt:lpstr>
    </vt:vector>
  </TitlesOfParts>
  <Company>Liberty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creator>rbyoung</dc:creator>
  <cp:lastModifiedBy>Young, Robert Breen</cp:lastModifiedBy>
  <cp:revision>401</cp:revision>
  <cp:lastPrinted>2025-11-10T20:03:55Z</cp:lastPrinted>
  <dcterms:created xsi:type="dcterms:W3CDTF">2008-01-31T05:19:00Z</dcterms:created>
  <dcterms:modified xsi:type="dcterms:W3CDTF">2025-11-10T20:04:47Z</dcterms:modified>
</cp:coreProperties>
</file>