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 for today: every student leaves knowing what Friday's test covers, how work is graded, and which skills still need practice tonight. Remind students that Quiz 4 is due at 3:15 PM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overview short (about 5 minutes) so that most of class is spent working problems. Each practice round follows the same routine: students work individually for the posted time, compare with a neighbor, then we check the solution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grading consequences: valid work earns partial credit, so students should write every setup even when unsure. Exact answers means fractions and radicals rather than rounded decimals.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five clusters. These are also the five practice rounds for today. Ask students to star any skill they are not confident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Partial credit is awarded for valid mathematical progress, so a correct setup with an arithmetic slip still earns points. A bare answer with no supporting work may not earn full credit. Any valid method and any equivalent exact form is accepted.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start with a skill they know well to build momentum, and to skip and return rather than stall on one problem. Reserve the final minutes for checking signs, restrictions, and the requested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about 6 minutes. Circulate and look for two errors: stopping after the GCF, and treating a negative exponent as a negative coefficient.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5(x² + x − 6) is not complete; the trinomial still factors. In problem 2 the GCF includes x². In problem 4, simplify inside the parentheses first, then raise the coefficient and every exponent to the third power.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about 4 minutes. The key step is rewriting both fractions over the LCD before subtracting, and distributing the subtraction across the entire second numerator.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the numerator 5(x + 4) − 6x simplifies to 20 − x. Note that −x + 20 and 20 − x are equivalent; either is correct. In problem 6, the constant numerator 3 must be multiplied by 5b.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about 5 minutes. Ask students to sketch each set on a number line before combining. Intersection keeps only the overlap; union keeps everything in either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problem 2, A lies entirely inside B, so the union is simply B. For problem 7, the sets share no elements, so the intersection is the empty set. List each element of a union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about 8 minutes. Require students to write the restrictions before clearing denominators in problems 1 and 4. Problem 2 should be rewritten with zero on one side before factoring.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problem 1 the only candidate is excluded, so the equation has no solution. Students must write both the restriction and the conclusion. In problem 2 the trinomial is a perfect square, so there is exactly one 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problem 3, multiplying only some terms by 5 is the most common error. In problem 4, cross-multiplication pairs each numerator with the opposite denominator. Check that 7 is not a restricted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about 8 minutes. For the circle, remind students that the right side of the standard form is the square of the radius. For the lines, the given slope is read directly from slope-intercept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run of 8 and rise of −6 form a 6-8-10 right triangle, which is the geometric meaning of the distance formula. Show the check: substituting Q(6, −1) into the final equation gives −1.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Circle: the signs inside the parentheses are opposite to the center coordinates, and 7 must be squared. Lines: the parallel line keeps the slope −2 but not the intercept 7. The perpendicular slope flips and changes sign to 1/2.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about 4 minutes. The vertex formula gives the time at which the maximum occurs. Students must then substitute that time into h(t) to obtain the height, which is what the question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graph to show that t = 2 is where the maximum occurs and 64 feet is the maximum itself. In problem 2 the constant 6 is the initial height, and it contributes to the maximum.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identify which of these errors they made today and add it to their needs-practice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reminding students of the Quiz 4 deadline at 3:15 PM today. Point them to the Test 1 review page for mixed practice and the checkpoint.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andrewhvolk.github.io/130Test1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 review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Wednesday, September 23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1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Preparing for Friday’s test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65176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Test 1 covers and how work is graded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practice rounds matched to the test skills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errors and a test-day checklist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680960" y="169164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11344E"/>
          </a:solidFill>
          <a:ln w="12700">
            <a:solidFill>
              <a:srgbClr val="11344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C7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4231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25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8046720" y="3794760"/>
            <a:ext cx="3200400" cy="0"/>
          </a:xfrm>
          <a:prstGeom prst="line">
            <a:avLst/>
          </a:prstGeom>
          <a:noFill/>
          <a:ln w="12700">
            <a:solidFill>
              <a:srgbClr val="4E739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46720" y="39776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6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class, on paper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6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plan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parts, with practice in every round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2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276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OVERVIEW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93852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coverage  →  grading  →  pacing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920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83464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834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ROUNDS A–E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12724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  →  compare  →  check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31089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min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02336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005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AND CHECKLIST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31596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common errors  →  plan for tonight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42976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38160" y="1645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412480" y="1874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today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412480" y="2286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4 (take-home test review)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841248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3:15 PM</a:t>
            </a:r>
            <a:endParaRPr lang="en-US" sz="2600" dirty="0"/>
          </a:p>
        </p:txBody>
      </p:sp>
      <p:sp>
        <p:nvSpPr>
          <p:cNvPr id="25" name="Shape 22"/>
          <p:cNvSpPr/>
          <p:nvPr/>
        </p:nvSpPr>
        <p:spPr>
          <a:xfrm>
            <a:off x="8138160" y="397764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12480" y="4114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a “needs practice” list as we work. It becomes your study plan for tonight.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September 25, in class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3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Sep 25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class, on paper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83280" y="16002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11880" y="1828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minutes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361188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about four minutes per skill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0" y="16002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1828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work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progress earns partial credit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052560" y="16002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281160" y="1828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answers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928116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Fractions and radicals, not decimals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R, Chapter 1, and Chapter 2 through Section 2.5.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Section 3.1: the maximum height of a projectile (the vertex of a quadratic model).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each direction line. “Check solutions in the original equation” is part of the task.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 1 skills 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map to organize your review tonight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4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2860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Algebra foundations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017520"/>
            <a:ext cx="1783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 completely (GCF first)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 rules; positive exponents only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 rational expressions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816352" y="1554480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99232" y="173736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99232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99232" y="22860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999232" y="3017520"/>
            <a:ext cx="1783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Union and intersection of intervals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Union and intersection of finite sets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84064" y="1554480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266944" y="173736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66944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2860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Equations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3017520"/>
            <a:ext cx="1783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 equations and restrictions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Quadratic equations by factoring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Equations with fractions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351776" y="1554480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34656" y="173736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3465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534656" y="22860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geometry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534656" y="3017520"/>
            <a:ext cx="1783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Midpoint, distance, and a line through two points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from center and radius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and perpendicular lines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9619488" y="1554480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802368" y="1737360"/>
            <a:ext cx="420624" cy="420624"/>
          </a:xfrm>
          <a:prstGeom prst="ellipse">
            <a:avLst/>
          </a:prstGeom>
          <a:solidFill>
            <a:srgbClr val="1B7F5E"/>
          </a:solidFill>
          <a:ln w="12700">
            <a:solidFill>
              <a:srgbClr val="1B7F5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802368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802368" y="22860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Quadratic model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802368" y="3017520"/>
            <a:ext cx="1783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height of a projectile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your work is graded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for a reader who needs to see your reasoning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5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1920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earns credit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4688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progress with an error still earns partial credit. A final answer alone may not earn full credit.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72200" y="160020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1874520"/>
            <a:ext cx="548640" cy="548640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223760" y="1920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forms count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24688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correct method and any equivalent exact form is accepted. Factors may appear in any order.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384048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≠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Restrictions matter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1600200" y="470916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excluded values before solving. Check every candidate against the original denominators.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172200" y="384048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46520" y="4114800"/>
            <a:ext cx="548640" cy="548640"/>
          </a:xfrm>
          <a:prstGeom prst="ellipse">
            <a:avLst/>
          </a:prstGeom>
          <a:solidFill>
            <a:srgbClr val="1B7F5E"/>
          </a:solidFill>
          <a:ln w="12700">
            <a:solidFill>
              <a:srgbClr val="1B7F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4652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?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722376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question asked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7223760" y="470916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height is a height, not a time. A set is written as a set.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50-minute plan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your time before you begin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6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27278" cy="640080"/>
          </a:xfrm>
          <a:prstGeom prst="rect">
            <a:avLst/>
          </a:prstGeom>
          <a:solidFill>
            <a:srgbClr val="11344E"/>
          </a:solidFill>
          <a:ln w="12700">
            <a:solidFill>
              <a:srgbClr val="11344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212494" y="2011680"/>
            <a:ext cx="8814816" cy="640080"/>
          </a:xfrm>
          <a:prstGeom prst="rect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03934" y="2011680"/>
            <a:ext cx="8668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0063886" y="2011680"/>
            <a:ext cx="1512418" cy="640080"/>
          </a:xfrm>
          <a:prstGeom prst="rect">
            <a:avLst/>
          </a:prstGeom>
          <a:solidFill>
            <a:srgbClr val="1B7F5E"/>
          </a:solidFill>
          <a:ln w="12700">
            <a:solidFill>
              <a:srgbClr val="1B7F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155326" y="2011680"/>
            <a:ext cx="13661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7160" y="272491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min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01014" y="272491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9652406" y="272491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min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1201400" y="272491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342900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3611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every direction line. Start with your strongest skill.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0" y="3611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four minutes per skill. Skip and return rather than stall.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046720" y="342900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21040" y="3611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321040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Signs, restrictions, and the requested form.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A: algebra foundations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 completely. Simplify using positive exponents only.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7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9464040" y="411480"/>
            <a:ext cx="2148840" cy="457200"/>
          </a:xfrm>
          <a:prstGeom prst="roundRect">
            <a:avLst>
              <a:gd name="adj" fmla="val 16000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64040" y="4114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minutes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 completely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 5x² + 5x − 30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 3x⁴ − 21x³ + 30x²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1554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Simplify (all variables nonzero)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720840" y="2011680"/>
            <a:ext cx="219456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x⁻⁴ y⁶ z⁻²</a:t>
            </a:r>
            <a:endParaRPr lang="en-US" sz="2600" dirty="0"/>
          </a:p>
        </p:txBody>
      </p:sp>
      <p:sp>
        <p:nvSpPr>
          <p:cNvPr id="14" name="Shape 11"/>
          <p:cNvSpPr/>
          <p:nvPr/>
        </p:nvSpPr>
        <p:spPr>
          <a:xfrm>
            <a:off x="6766560" y="2468372"/>
            <a:ext cx="210312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20840" y="2504948"/>
            <a:ext cx="219456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x³ y⁻² z⁵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675120" y="3566160"/>
            <a:ext cx="274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3520440"/>
            <a:ext cx="155448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9x y⁻²</a:t>
            </a:r>
            <a:endParaRPr lang="en-US" sz="2600" dirty="0"/>
          </a:p>
        </p:txBody>
      </p:sp>
      <p:sp>
        <p:nvSpPr>
          <p:cNvPr id="19" name="Shape 16"/>
          <p:cNvSpPr/>
          <p:nvPr/>
        </p:nvSpPr>
        <p:spPr>
          <a:xfrm>
            <a:off x="6949440" y="3977132"/>
            <a:ext cx="146304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03720" y="4013708"/>
            <a:ext cx="155448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3z³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8412480" y="3566160"/>
            <a:ext cx="274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factoring is complete only when no factor can be factored again. Multiply back to verify.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A: solutions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GCF first, then factor the trinomial that remains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8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 5(x² + x − 6) = 5(x + 3)(x − 2)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317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 3x²(x² − 7x + 10) = 3x²(x − 2)(x − 5)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 Subtract exponents:  x⁻⁷ y⁸ z⁻⁷  =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3154680"/>
            <a:ext cx="10972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y⁸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983480" y="3545332"/>
            <a:ext cx="100584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937760" y="3581908"/>
            <a:ext cx="10972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x⁷ z⁷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572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 Inside first:  (3x / (y² z³))³  =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4297680"/>
            <a:ext cx="10972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27x³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8332"/>
            <a:ext cx="100584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937760" y="4724908"/>
            <a:ext cx="10972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y⁶ z⁹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949440" y="1600200"/>
            <a:ext cx="4663440" cy="4206240"/>
          </a:xfrm>
          <a:prstGeom prst="roundRect">
            <a:avLst>
              <a:gd name="adj" fmla="val 1739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2376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for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2286000"/>
            <a:ext cx="4114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after the GCF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Dropping the common power of x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x⁻⁴ as a negative coefficient; it means 1/x⁴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Forgetting to raise the coefficient: 3³ = 27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A: rational expressions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 each subtraction and simplify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9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9464040" y="411480"/>
            <a:ext cx="2148840" cy="457200"/>
          </a:xfrm>
          <a:prstGeom prst="roundRect">
            <a:avLst>
              <a:gd name="adj" fmla="val 16000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64040" y="4114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minutes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737360"/>
            <a:ext cx="9144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1325880" y="2227072"/>
            <a:ext cx="82296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80160" y="2263648"/>
            <a:ext cx="9144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2x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−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697480" y="1737360"/>
            <a:ext cx="13716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2743200" y="2227072"/>
            <a:ext cx="128016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697480" y="2263648"/>
            <a:ext cx="13716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+ 4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1737360"/>
            <a:ext cx="9144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812280" y="2227072"/>
            <a:ext cx="82296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766560" y="2263648"/>
            <a:ext cx="9144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5b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77266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−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183880" y="1737360"/>
            <a:ext cx="7315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229600" y="2227072"/>
            <a:ext cx="64008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183880" y="2263648"/>
            <a:ext cx="7315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31520" y="429768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31520" y="48006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 each denominator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2788920" y="41148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71800" y="429768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7180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2971800" y="48006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LCD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029200" y="41148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212080" y="429768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21208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5212080" y="48006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 both fractions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7269480" y="41148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452360" y="429768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45236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7452360" y="48006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 the entire numerator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9509760" y="41148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692640" y="429768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69264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9692640" y="48006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Simplify if possible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A: rational expression solutions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 the whole second numerator, not just its first term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10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 LCD = 2x(x + 4)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240280"/>
            <a:ext cx="265176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5(x + 4) − 3(2x)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51560" y="2630932"/>
            <a:ext cx="256032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5840" y="2667508"/>
            <a:ext cx="265176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2x(x + 4)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657600" y="2514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240280"/>
            <a:ext cx="173736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777B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20 − x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4069080" y="2630932"/>
            <a:ext cx="1645920" cy="0"/>
          </a:xfrm>
          <a:prstGeom prst="line">
            <a:avLst/>
          </a:prstGeom>
          <a:noFill/>
          <a:ln w="12700">
            <a:solidFill>
              <a:srgbClr val="1777B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23360" y="2667508"/>
            <a:ext cx="173736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777B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2x(x + 4)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931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 LCD = 10b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4572000"/>
            <a:ext cx="82296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1051560" y="4962652"/>
            <a:ext cx="73152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05840" y="4999228"/>
            <a:ext cx="82296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10b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828800" y="48463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−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2194560" y="4572000"/>
            <a:ext cx="82296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15b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2240280" y="4962652"/>
            <a:ext cx="73152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194560" y="4999228"/>
            <a:ext cx="82296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10b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3017520" y="48463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3383280" y="4572000"/>
            <a:ext cx="15544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777B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8 − 15b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429000" y="4962652"/>
            <a:ext cx="1463040" cy="0"/>
          </a:xfrm>
          <a:prstGeom prst="line">
            <a:avLst/>
          </a:prstGeom>
          <a:noFill/>
          <a:ln w="12700">
            <a:solidFill>
              <a:srgbClr val="1777B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383280" y="4999228"/>
            <a:ext cx="15544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777B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10b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6949440" y="1600200"/>
            <a:ext cx="4663440" cy="4206240"/>
          </a:xfrm>
          <a:prstGeom prst="roundRect">
            <a:avLst>
              <a:gd name="adj" fmla="val 1739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2376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for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223760" y="2286000"/>
            <a:ext cx="4114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Subtracting denominators: 2x − (x + 4) is never the LCD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Distributing only partly: 5(x + 4) is 5x + 20, not 5x + 4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Leaving the 3 unchanged instead of writing 3 · 5b = 15b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B: sets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interval answers in interval notation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11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9464040" y="411480"/>
            <a:ext cx="2148840" cy="457200"/>
          </a:xfrm>
          <a:prstGeom prst="roundRect">
            <a:avLst>
              <a:gd name="adj" fmla="val 16000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64040" y="4114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600200" y="1874520"/>
            <a:ext cx="4937760" cy="91"/>
          </a:xfrm>
          <a:prstGeom prst="line">
            <a:avLst/>
          </a:prstGeom>
          <a:noFill/>
          <a:ln w="15875">
            <a:solidFill>
              <a:srgbClr val="687783"/>
            </a:solidFill>
            <a:prstDash val="solid"/>
            <a:headEnd type="triangle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737360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54480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096086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913206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454812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271932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813538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630658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172265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89385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530991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48111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889717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06837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8443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65563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607169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24289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965895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3015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324622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141742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683348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500468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6042074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859194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400800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217920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685800" y="1691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A: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2813538" y="1874520"/>
            <a:ext cx="3228535" cy="0"/>
          </a:xfrm>
          <a:prstGeom prst="line">
            <a:avLst/>
          </a:prstGeom>
          <a:noFill/>
          <a:ln w="63500">
            <a:solidFill>
              <a:srgbClr val="1777B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731242" y="179222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777B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959778" y="1792224"/>
            <a:ext cx="164592" cy="164592"/>
          </a:xfrm>
          <a:prstGeom prst="ellipse">
            <a:avLst/>
          </a:prstGeom>
          <a:solidFill>
            <a:srgbClr val="1777B4"/>
          </a:solidFill>
          <a:ln w="25400">
            <a:solidFill>
              <a:srgbClr val="1777B4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20391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−3 &lt; x ≤ 6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1600200" y="2788920"/>
            <a:ext cx="4937760" cy="91"/>
          </a:xfrm>
          <a:prstGeom prst="line">
            <a:avLst/>
          </a:prstGeom>
          <a:noFill/>
          <a:ln w="15875">
            <a:solidFill>
              <a:srgbClr val="687783"/>
            </a:solidFill>
            <a:prstDash val="solid"/>
            <a:headEnd type="triangle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1737360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554480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2096086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913206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2454812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271932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2813538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630658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3172265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989385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3530991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348111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3889717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3706837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248443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065563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4607169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424289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4965895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4783015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5324622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141742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5683348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500468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042074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5859194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6400800" y="27340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217920" y="28803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1" name="Text 68"/>
          <p:cNvSpPr txBox="1"/>
          <p:nvPr/>
        </p:nvSpPr>
        <p:spPr>
          <a:xfrm>
            <a:off x="685800" y="26060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B:</a:t>
            </a:r>
            <a:endParaRPr lang="en-US" sz="1500" dirty="0"/>
          </a:p>
        </p:txBody>
      </p:sp>
      <p:sp>
        <p:nvSpPr>
          <p:cNvPr id="72" name="Shape 69"/>
          <p:cNvSpPr/>
          <p:nvPr/>
        </p:nvSpPr>
        <p:spPr>
          <a:xfrm>
            <a:off x="2096086" y="2788920"/>
            <a:ext cx="4441874" cy="0"/>
          </a:xfrm>
          <a:prstGeom prst="line">
            <a:avLst/>
          </a:prstGeom>
          <a:noFill/>
          <a:ln w="63500">
            <a:solidFill>
              <a:srgbClr val="1777B4"/>
            </a:solidFill>
            <a:prstDash val="solid"/>
            <a:tailEnd type="triangle"/>
          </a:ln>
        </p:spPr>
      </p:sp>
      <p:sp>
        <p:nvSpPr>
          <p:cNvPr id="73" name="Shape 70"/>
          <p:cNvSpPr/>
          <p:nvPr/>
        </p:nvSpPr>
        <p:spPr>
          <a:xfrm>
            <a:off x="2013790" y="2706624"/>
            <a:ext cx="164592" cy="164592"/>
          </a:xfrm>
          <a:prstGeom prst="ellipse">
            <a:avLst/>
          </a:prstGeom>
          <a:solidFill>
            <a:srgbClr val="1777B4"/>
          </a:solidFill>
          <a:ln w="25400">
            <a:solidFill>
              <a:srgbClr val="1777B4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48640" y="2953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≥ −5</a:t>
            </a:r>
            <a:endParaRPr lang="en-US" sz="1300" dirty="0"/>
          </a:p>
        </p:txBody>
      </p:sp>
      <p:sp>
        <p:nvSpPr>
          <p:cNvPr id="75" name="Shape 72"/>
          <p:cNvSpPr/>
          <p:nvPr/>
        </p:nvSpPr>
        <p:spPr>
          <a:xfrm>
            <a:off x="1600200" y="3703320"/>
            <a:ext cx="4937760" cy="91"/>
          </a:xfrm>
          <a:prstGeom prst="line">
            <a:avLst/>
          </a:prstGeom>
          <a:noFill/>
          <a:ln w="15875">
            <a:solidFill>
              <a:srgbClr val="687783"/>
            </a:solidFill>
            <a:prstDash val="solid"/>
            <a:headEnd type="triangle"/>
            <a:tailEnd type="triangle"/>
          </a:ln>
        </p:spPr>
      </p:sp>
      <p:sp>
        <p:nvSpPr>
          <p:cNvPr id="76" name="Shape 73"/>
          <p:cNvSpPr/>
          <p:nvPr/>
        </p:nvSpPr>
        <p:spPr>
          <a:xfrm>
            <a:off x="1737360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1554480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900" dirty="0"/>
          </a:p>
        </p:txBody>
      </p:sp>
      <p:sp>
        <p:nvSpPr>
          <p:cNvPr id="78" name="Shape 75"/>
          <p:cNvSpPr/>
          <p:nvPr/>
        </p:nvSpPr>
        <p:spPr>
          <a:xfrm>
            <a:off x="2096086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913206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900" dirty="0"/>
          </a:p>
        </p:txBody>
      </p:sp>
      <p:sp>
        <p:nvSpPr>
          <p:cNvPr id="80" name="Shape 77"/>
          <p:cNvSpPr/>
          <p:nvPr/>
        </p:nvSpPr>
        <p:spPr>
          <a:xfrm>
            <a:off x="2454812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2271932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900" dirty="0"/>
          </a:p>
        </p:txBody>
      </p:sp>
      <p:sp>
        <p:nvSpPr>
          <p:cNvPr id="82" name="Shape 79"/>
          <p:cNvSpPr/>
          <p:nvPr/>
        </p:nvSpPr>
        <p:spPr>
          <a:xfrm>
            <a:off x="2813538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2630658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3172265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2989385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3530991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3348111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00" dirty="0"/>
          </a:p>
        </p:txBody>
      </p:sp>
      <p:sp>
        <p:nvSpPr>
          <p:cNvPr id="88" name="Shape 85"/>
          <p:cNvSpPr/>
          <p:nvPr/>
        </p:nvSpPr>
        <p:spPr>
          <a:xfrm>
            <a:off x="3889717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3706837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90" name="Shape 87"/>
          <p:cNvSpPr/>
          <p:nvPr/>
        </p:nvSpPr>
        <p:spPr>
          <a:xfrm>
            <a:off x="4248443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065563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4607169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4424289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4" name="Shape 91"/>
          <p:cNvSpPr/>
          <p:nvPr/>
        </p:nvSpPr>
        <p:spPr>
          <a:xfrm>
            <a:off x="4965895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4783015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6" name="Shape 93"/>
          <p:cNvSpPr/>
          <p:nvPr/>
        </p:nvSpPr>
        <p:spPr>
          <a:xfrm>
            <a:off x="5324622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5141742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98" name="Shape 95"/>
          <p:cNvSpPr/>
          <p:nvPr/>
        </p:nvSpPr>
        <p:spPr>
          <a:xfrm>
            <a:off x="5683348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5500468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00" name="Shape 97"/>
          <p:cNvSpPr/>
          <p:nvPr/>
        </p:nvSpPr>
        <p:spPr>
          <a:xfrm>
            <a:off x="6042074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5859194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02" name="Shape 99"/>
          <p:cNvSpPr/>
          <p:nvPr/>
        </p:nvSpPr>
        <p:spPr>
          <a:xfrm>
            <a:off x="6400800" y="36484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217920" y="37947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04" name="Text 101"/>
          <p:cNvSpPr txBox="1"/>
          <p:nvPr/>
        </p:nvSpPr>
        <p:spPr>
          <a:xfrm>
            <a:off x="685800" y="35204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C:</a:t>
            </a:r>
            <a:endParaRPr lang="en-US" sz="1500" dirty="0"/>
          </a:p>
        </p:txBody>
      </p:sp>
      <p:sp>
        <p:nvSpPr>
          <p:cNvPr id="105" name="Shape 102"/>
          <p:cNvSpPr/>
          <p:nvPr/>
        </p:nvSpPr>
        <p:spPr>
          <a:xfrm>
            <a:off x="1600200" y="3703320"/>
            <a:ext cx="3006969" cy="0"/>
          </a:xfrm>
          <a:prstGeom prst="line">
            <a:avLst/>
          </a:prstGeom>
          <a:noFill/>
          <a:ln w="63500">
            <a:solidFill>
              <a:srgbClr val="1777B4"/>
            </a:solidFill>
            <a:prstDash val="solid"/>
            <a:headEnd type="triangle"/>
          </a:ln>
        </p:spPr>
      </p:sp>
      <p:sp>
        <p:nvSpPr>
          <p:cNvPr id="106" name="Shape 103"/>
          <p:cNvSpPr/>
          <p:nvPr/>
        </p:nvSpPr>
        <p:spPr>
          <a:xfrm>
            <a:off x="4524873" y="362102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777B4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548640" y="38679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&lt; 2</a:t>
            </a:r>
            <a:endParaRPr lang="en-US" sz="1300" dirty="0"/>
          </a:p>
        </p:txBody>
      </p:sp>
      <p:sp>
        <p:nvSpPr>
          <p:cNvPr id="108" name="Text 105"/>
          <p:cNvSpPr txBox="1"/>
          <p:nvPr/>
        </p:nvSpPr>
        <p:spPr>
          <a:xfrm>
            <a:off x="548640" y="4572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Find:</a:t>
            </a:r>
            <a:endParaRPr lang="en-US" sz="1600" dirty="0"/>
          </a:p>
        </p:txBody>
      </p:sp>
      <p:sp>
        <p:nvSpPr>
          <p:cNvPr id="109" name="Text 106"/>
          <p:cNvSpPr txBox="1"/>
          <p:nvPr/>
        </p:nvSpPr>
        <p:spPr>
          <a:xfrm>
            <a:off x="146304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A ∩ C        2.  A ∪ B        3.  B ∩ C</a:t>
            </a:r>
            <a:endParaRPr lang="en-US" sz="2200" dirty="0"/>
          </a:p>
        </p:txBody>
      </p:sp>
      <p:sp>
        <p:nvSpPr>
          <p:cNvPr id="110" name="Shape 107"/>
          <p:cNvSpPr/>
          <p:nvPr/>
        </p:nvSpPr>
        <p:spPr>
          <a:xfrm>
            <a:off x="7406640" y="155448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7680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Finite sets</a:t>
            </a:r>
            <a:endParaRPr lang="en-US" sz="1600" dirty="0"/>
          </a:p>
        </p:txBody>
      </p:sp>
      <p:sp>
        <p:nvSpPr>
          <p:cNvPr id="112" name="Text 109"/>
          <p:cNvSpPr txBox="1"/>
          <p:nvPr/>
        </p:nvSpPr>
        <p:spPr>
          <a:xfrm>
            <a:off x="7680960" y="21945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 = {2, 3, 5, 7, 11}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 = {1, 2, 3, 4, 5}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 = {3, 6, 9, 12}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 = {4, 6, 8}</a:t>
            </a:r>
            <a:endParaRPr lang="en-US" sz="2000" dirty="0"/>
          </a:p>
        </p:txBody>
      </p:sp>
      <p:sp>
        <p:nvSpPr>
          <p:cNvPr id="113" name="Text 110"/>
          <p:cNvSpPr txBox="1"/>
          <p:nvPr/>
        </p:nvSpPr>
        <p:spPr>
          <a:xfrm>
            <a:off x="768096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Find:</a:t>
            </a:r>
            <a:endParaRPr lang="en-US" sz="1600" dirty="0"/>
          </a:p>
        </p:txBody>
      </p:sp>
      <p:sp>
        <p:nvSpPr>
          <p:cNvPr id="114" name="Text 111"/>
          <p:cNvSpPr txBox="1"/>
          <p:nvPr/>
        </p:nvSpPr>
        <p:spPr>
          <a:xfrm>
            <a:off x="7680960" y="448056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 ∪ Q     5.  P ∩ Q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P ∩ R     7.  P ∩ S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B: solutions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circle ↔ parenthesis; closed circle ↔ bracket; ∞ always takes a parenthesis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12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1600200" y="1874520"/>
            <a:ext cx="4937760" cy="91"/>
          </a:xfrm>
          <a:prstGeom prst="line">
            <a:avLst/>
          </a:prstGeom>
          <a:noFill/>
          <a:ln w="15875">
            <a:solidFill>
              <a:srgbClr val="687783"/>
            </a:solidFill>
            <a:prstDash val="solid"/>
            <a:headEnd type="triangle"/>
            <a:tailEnd type="triangle"/>
          </a:ln>
        </p:spPr>
      </p:sp>
      <p:sp>
        <p:nvSpPr>
          <p:cNvPr id="7" name="Shape 4"/>
          <p:cNvSpPr/>
          <p:nvPr/>
        </p:nvSpPr>
        <p:spPr>
          <a:xfrm>
            <a:off x="1737360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554480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096086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13206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454812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71932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813538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30658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172265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9385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530991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48111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889717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06837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248443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65563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07169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24289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965895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83015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324622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41742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683348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00468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042074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859194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6400800" y="1819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1965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685800" y="1691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2813538" y="1874520"/>
            <a:ext cx="1793631" cy="0"/>
          </a:xfrm>
          <a:prstGeom prst="line">
            <a:avLst/>
          </a:prstGeom>
          <a:noFill/>
          <a:ln w="63500">
            <a:solidFill>
              <a:srgbClr val="1B7F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31242" y="179222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7F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524873" y="179222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7F5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73736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7F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∩ C = (−3, 2)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1600200" y="3017520"/>
            <a:ext cx="4937760" cy="91"/>
          </a:xfrm>
          <a:prstGeom prst="line">
            <a:avLst/>
          </a:prstGeom>
          <a:noFill/>
          <a:ln w="15875">
            <a:solidFill>
              <a:srgbClr val="687783"/>
            </a:solidFill>
            <a:prstDash val="solid"/>
            <a:headEnd type="triangle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1737360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554480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096086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913206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2454812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71932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2813538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630658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3172265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989385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3530991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348111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3889717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706837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4248443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065563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607169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424289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4965895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783015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324622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141742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5683348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500468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6042074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859194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400800" y="2962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217920" y="3108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69" name="Text 66"/>
          <p:cNvSpPr txBox="1"/>
          <p:nvPr/>
        </p:nvSpPr>
        <p:spPr>
          <a:xfrm>
            <a:off x="685800" y="2834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</a:t>
            </a:r>
            <a:endParaRPr lang="en-US" sz="1500" dirty="0"/>
          </a:p>
        </p:txBody>
      </p:sp>
      <p:sp>
        <p:nvSpPr>
          <p:cNvPr id="70" name="Shape 67"/>
          <p:cNvSpPr/>
          <p:nvPr/>
        </p:nvSpPr>
        <p:spPr>
          <a:xfrm>
            <a:off x="2096086" y="3017520"/>
            <a:ext cx="4441874" cy="0"/>
          </a:xfrm>
          <a:prstGeom prst="line">
            <a:avLst/>
          </a:prstGeom>
          <a:noFill/>
          <a:ln w="63500">
            <a:solidFill>
              <a:srgbClr val="1B7F5E"/>
            </a:solidFill>
            <a:prstDash val="solid"/>
            <a:tailEnd type="triangle"/>
          </a:ln>
        </p:spPr>
      </p:sp>
      <p:sp>
        <p:nvSpPr>
          <p:cNvPr id="71" name="Shape 68"/>
          <p:cNvSpPr/>
          <p:nvPr/>
        </p:nvSpPr>
        <p:spPr>
          <a:xfrm>
            <a:off x="2013790" y="2935224"/>
            <a:ext cx="164592" cy="164592"/>
          </a:xfrm>
          <a:prstGeom prst="ellipse">
            <a:avLst/>
          </a:prstGeom>
          <a:solidFill>
            <a:srgbClr val="1B7F5E"/>
          </a:solidFill>
          <a:ln w="25400">
            <a:solidFill>
              <a:srgbClr val="1B7F5E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73736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7F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∪ B = [−5, ∞)</a:t>
            </a:r>
            <a:endParaRPr lang="en-US" sz="1800" dirty="0"/>
          </a:p>
        </p:txBody>
      </p:sp>
      <p:sp>
        <p:nvSpPr>
          <p:cNvPr id="73" name="Shape 70"/>
          <p:cNvSpPr/>
          <p:nvPr/>
        </p:nvSpPr>
        <p:spPr>
          <a:xfrm>
            <a:off x="1600200" y="4160520"/>
            <a:ext cx="4937760" cy="91"/>
          </a:xfrm>
          <a:prstGeom prst="line">
            <a:avLst/>
          </a:prstGeom>
          <a:noFill/>
          <a:ln w="15875">
            <a:solidFill>
              <a:srgbClr val="687783"/>
            </a:solidFill>
            <a:prstDash val="solid"/>
            <a:headEnd type="triangle"/>
            <a:tailEnd type="triangle"/>
          </a:ln>
        </p:spPr>
      </p:sp>
      <p:sp>
        <p:nvSpPr>
          <p:cNvPr id="74" name="Shape 71"/>
          <p:cNvSpPr/>
          <p:nvPr/>
        </p:nvSpPr>
        <p:spPr>
          <a:xfrm>
            <a:off x="1737360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554480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900" dirty="0"/>
          </a:p>
        </p:txBody>
      </p:sp>
      <p:sp>
        <p:nvSpPr>
          <p:cNvPr id="76" name="Shape 73"/>
          <p:cNvSpPr/>
          <p:nvPr/>
        </p:nvSpPr>
        <p:spPr>
          <a:xfrm>
            <a:off x="2096086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1913206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900" dirty="0"/>
          </a:p>
        </p:txBody>
      </p:sp>
      <p:sp>
        <p:nvSpPr>
          <p:cNvPr id="78" name="Shape 75"/>
          <p:cNvSpPr/>
          <p:nvPr/>
        </p:nvSpPr>
        <p:spPr>
          <a:xfrm>
            <a:off x="2454812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2271932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900" dirty="0"/>
          </a:p>
        </p:txBody>
      </p:sp>
      <p:sp>
        <p:nvSpPr>
          <p:cNvPr id="80" name="Shape 77"/>
          <p:cNvSpPr/>
          <p:nvPr/>
        </p:nvSpPr>
        <p:spPr>
          <a:xfrm>
            <a:off x="2813538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2630658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900" dirty="0"/>
          </a:p>
        </p:txBody>
      </p:sp>
      <p:sp>
        <p:nvSpPr>
          <p:cNvPr id="82" name="Shape 79"/>
          <p:cNvSpPr/>
          <p:nvPr/>
        </p:nvSpPr>
        <p:spPr>
          <a:xfrm>
            <a:off x="3172265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2989385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3530991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3348111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3889717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3706837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88" name="Shape 85"/>
          <p:cNvSpPr/>
          <p:nvPr/>
        </p:nvSpPr>
        <p:spPr>
          <a:xfrm>
            <a:off x="4248443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065563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90" name="Shape 87"/>
          <p:cNvSpPr/>
          <p:nvPr/>
        </p:nvSpPr>
        <p:spPr>
          <a:xfrm>
            <a:off x="4607169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24289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4965895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4783015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4" name="Shape 91"/>
          <p:cNvSpPr/>
          <p:nvPr/>
        </p:nvSpPr>
        <p:spPr>
          <a:xfrm>
            <a:off x="5324622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141742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96" name="Shape 93"/>
          <p:cNvSpPr/>
          <p:nvPr/>
        </p:nvSpPr>
        <p:spPr>
          <a:xfrm>
            <a:off x="5683348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5500468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98" name="Shape 95"/>
          <p:cNvSpPr/>
          <p:nvPr/>
        </p:nvSpPr>
        <p:spPr>
          <a:xfrm>
            <a:off x="6042074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5859194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00" name="Shape 97"/>
          <p:cNvSpPr/>
          <p:nvPr/>
        </p:nvSpPr>
        <p:spPr>
          <a:xfrm>
            <a:off x="6400800" y="4105656"/>
            <a:ext cx="91" cy="109728"/>
          </a:xfrm>
          <a:prstGeom prst="line">
            <a:avLst/>
          </a:prstGeom>
          <a:noFill/>
          <a:ln w="12700">
            <a:solidFill>
              <a:srgbClr val="687783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6217920" y="4251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02" name="Text 99"/>
          <p:cNvSpPr txBox="1"/>
          <p:nvPr/>
        </p:nvSpPr>
        <p:spPr>
          <a:xfrm>
            <a:off x="685800" y="3977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</a:t>
            </a:r>
            <a:endParaRPr lang="en-US" sz="1500" dirty="0"/>
          </a:p>
        </p:txBody>
      </p:sp>
      <p:sp>
        <p:nvSpPr>
          <p:cNvPr id="103" name="Shape 100"/>
          <p:cNvSpPr/>
          <p:nvPr/>
        </p:nvSpPr>
        <p:spPr>
          <a:xfrm>
            <a:off x="2096086" y="4160520"/>
            <a:ext cx="2511083" cy="0"/>
          </a:xfrm>
          <a:prstGeom prst="line">
            <a:avLst/>
          </a:prstGeom>
          <a:noFill/>
          <a:ln w="63500">
            <a:solidFill>
              <a:srgbClr val="1B7F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013790" y="4078224"/>
            <a:ext cx="164592" cy="164592"/>
          </a:xfrm>
          <a:prstGeom prst="ellipse">
            <a:avLst/>
          </a:prstGeom>
          <a:solidFill>
            <a:srgbClr val="1B7F5E"/>
          </a:solidFill>
          <a:ln w="25400">
            <a:solidFill>
              <a:srgbClr val="1B7F5E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4524873" y="407822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7F5E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1737360" y="4526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7F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 ∩ C = [−5, 2)</a:t>
            </a:r>
            <a:endParaRPr lang="en-US" sz="1800" dirty="0"/>
          </a:p>
        </p:txBody>
      </p:sp>
      <p:sp>
        <p:nvSpPr>
          <p:cNvPr id="107" name="Shape 104"/>
          <p:cNvSpPr/>
          <p:nvPr/>
        </p:nvSpPr>
        <p:spPr>
          <a:xfrm>
            <a:off x="7406640" y="155448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7680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Finite sets</a:t>
            </a:r>
            <a:endParaRPr lang="en-US" sz="1600" dirty="0"/>
          </a:p>
        </p:txBody>
      </p:sp>
      <p:sp>
        <p:nvSpPr>
          <p:cNvPr id="109" name="Text 106"/>
          <p:cNvSpPr txBox="1"/>
          <p:nvPr/>
        </p:nvSpPr>
        <p:spPr>
          <a:xfrm>
            <a:off x="7680960" y="2240280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 ∪ Q = {1, 2, 3, 4, 5, 7, 11}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P ∩ Q = {2, 3, 5}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P ∩ R = {3}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P ∩ S = ∅</a:t>
            </a:r>
            <a:endParaRPr lang="en-US" sz="1900" dirty="0"/>
          </a:p>
        </p:txBody>
      </p:sp>
      <p:sp>
        <p:nvSpPr>
          <p:cNvPr id="110" name="Text 107"/>
          <p:cNvSpPr txBox="1"/>
          <p:nvPr/>
        </p:nvSpPr>
        <p:spPr>
          <a:xfrm>
            <a:off x="7680960" y="4800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Union: every element once. Intersection: shared elements only.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C: equations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 for x. Check solutions in the original equation.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13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9464040" y="411480"/>
            <a:ext cx="2148840" cy="457200"/>
          </a:xfrm>
          <a:prstGeom prst="roundRect">
            <a:avLst>
              <a:gd name="adj" fmla="val 16000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64040" y="4114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minutes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155448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72200" y="155448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374904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72200" y="374904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1874520"/>
            <a:ext cx="118872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2x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1325880" y="2265172"/>
            <a:ext cx="109728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80160" y="2301748"/>
            <a:ext cx="118872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− 1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2468880" y="2240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118872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880360" y="2265172"/>
            <a:ext cx="109728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834640" y="2301748"/>
            <a:ext cx="118872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− 1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069080" y="22402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+ 5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2240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   9x² = 30x − 25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069080"/>
            <a:ext cx="457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1280160" y="4459732"/>
            <a:ext cx="36576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234440" y="4496308"/>
            <a:ext cx="457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1691640" y="4434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x² + x =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2834640" y="4069080"/>
            <a:ext cx="54864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880360" y="4459732"/>
            <a:ext cx="45720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834640" y="4496308"/>
            <a:ext cx="54864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3383280" y="44348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− 2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4465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6903720" y="4069080"/>
            <a:ext cx="118872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6949440" y="4459732"/>
            <a:ext cx="109728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903720" y="4496308"/>
            <a:ext cx="118872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+ 3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8092440" y="4434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8458200" y="4069080"/>
            <a:ext cx="118872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8503920" y="4459732"/>
            <a:ext cx="1097280" cy="0"/>
          </a:xfrm>
          <a:prstGeom prst="line">
            <a:avLst/>
          </a:prstGeom>
          <a:noFill/>
          <a:ln w="12700">
            <a:solidFill>
              <a:srgbClr val="11344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458200" y="4496308"/>
            <a:ext cx="118872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− 1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C: solutions to 1 and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candidate that makes a denominator zero is not a solution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14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Restriction first:  x ≠ 1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Multiply every term by (x − 1):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2x = 2 + 5(x − 1)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2x = 5x − 3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= 1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822960" y="4572000"/>
            <a:ext cx="4892040" cy="1051560"/>
          </a:xfrm>
          <a:prstGeom prst="roundRect">
            <a:avLst>
              <a:gd name="adj" fmla="val 6957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= 1 is excluded.  No solution.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172200" y="155448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Zero on one side first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2860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9x² − 30x + 25 = 0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(3x − 5)² = 0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3x − 5 = 0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6446520" y="4572000"/>
            <a:ext cx="4892040" cy="1051560"/>
          </a:xfrm>
          <a:prstGeom prst="roundRect">
            <a:avLst>
              <a:gd name="adj" fmla="val 6957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= 5/3   (one repeated solution)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C: solutions to 3 and 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the fractions by multiplying every term by the LCD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15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Multiply every term by 5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x² + 5x = 12x − 10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x² − 7x + 10 = 0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(x − 2)(x − 5) = 0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822960" y="4572000"/>
            <a:ext cx="4892040" cy="1051560"/>
          </a:xfrm>
          <a:prstGeom prst="roundRect">
            <a:avLst>
              <a:gd name="adj" fmla="val 6957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7F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= 2  or  x = 5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6172200" y="155448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Restrictions:  x ≠ −3,  x ≠ 1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2860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10(x − 1) = 6(x + 3)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10x − 10 = 6x + 18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4x = 28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6446520" y="4572000"/>
            <a:ext cx="4892040" cy="1051560"/>
          </a:xfrm>
          <a:prstGeom prst="roundRect">
            <a:avLst>
              <a:gd name="adj" fmla="val 6957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 = 7   (allowed; check: 1 = 1)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D: coordinate geometry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exact answers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16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9464040" y="411480"/>
            <a:ext cx="2148840" cy="457200"/>
          </a:xfrm>
          <a:prstGeom prst="roundRect">
            <a:avLst>
              <a:gd name="adj" fmla="val 16000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64040" y="4114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minutes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155448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2402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P(−2, 5)  and  Q(6, −1)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004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Midpoint of PQ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Distance PQ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Equation of line PQ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circle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22402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Center (−3, 1),  radius 7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32004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Equation of the circle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046720" y="155448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line and a point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22402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 = −2x + 7,   point (4, −3)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2004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Parallel line through the point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Perpendicular line through the point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D: solutions for P and Q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for the midpoint; subtract and square for the distance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17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 M = ((−2 + 6)/2, (5 + (−1))/2) = (2, 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317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 d = √(8² + (−6)²) = √100 = 10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 m = (−1 − 5)/(6 − (−2)) = −6/8 = −3/4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  y − 5 = −(3/4)(x + 2)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3434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7B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  y = −(3/4)x + 7/2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5120640"/>
            <a:ext cx="6217920" cy="822960"/>
          </a:xfrm>
          <a:prstGeom prst="roundRect">
            <a:avLst>
              <a:gd name="adj" fmla="val 8889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51206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with Q:  −(3/4)(6) + 7/2 = −9/2 + 7/2 = −1  ✓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589520" y="1554480"/>
            <a:ext cx="91" cy="393192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982712" y="1554480"/>
            <a:ext cx="91" cy="393192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375904" y="1554480"/>
            <a:ext cx="91" cy="393192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769096" y="1554480"/>
            <a:ext cx="91" cy="393192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162288" y="1554480"/>
            <a:ext cx="91" cy="393192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555480" y="1554480"/>
            <a:ext cx="91" cy="393192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48672" y="1554480"/>
            <a:ext cx="91" cy="393192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341864" y="1554480"/>
            <a:ext cx="91" cy="393192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735056" y="1554480"/>
            <a:ext cx="91" cy="393192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128248" y="1554480"/>
            <a:ext cx="91" cy="393192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521440" y="1554480"/>
            <a:ext cx="91" cy="393192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89520" y="5486400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89520" y="5093208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589520" y="4700016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589520" y="4306824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89520" y="3913632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89520" y="3520440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589520" y="3127248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589520" y="2734056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589520" y="2340864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89520" y="1947672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89520" y="1554480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769096" y="1554480"/>
            <a:ext cx="91" cy="3931920"/>
          </a:xfrm>
          <a:prstGeom prst="line">
            <a:avLst/>
          </a:prstGeom>
          <a:noFill/>
          <a:ln w="12700">
            <a:solidFill>
              <a:srgbClr val="5B6B7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589520" y="4306824"/>
            <a:ext cx="3931920" cy="91"/>
          </a:xfrm>
          <a:prstGeom prst="line">
            <a:avLst/>
          </a:prstGeom>
          <a:noFill/>
          <a:ln w="12700">
            <a:solidFill>
              <a:srgbClr val="5B6B7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99832" y="43434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9372600" y="43434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10158984" y="43434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10945368" y="43434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8357616" y="500176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800" dirty="0"/>
          </a:p>
        </p:txBody>
      </p:sp>
      <p:sp>
        <p:nvSpPr>
          <p:cNvPr id="42" name="Text 39"/>
          <p:cNvSpPr txBox="1"/>
          <p:nvPr/>
        </p:nvSpPr>
        <p:spPr>
          <a:xfrm>
            <a:off x="8357616" y="34290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8357616" y="26426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4" name="Text 41"/>
          <p:cNvSpPr txBox="1"/>
          <p:nvPr/>
        </p:nvSpPr>
        <p:spPr>
          <a:xfrm>
            <a:off x="8357616" y="18562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982712" y="2340864"/>
            <a:ext cx="3145536" cy="2359152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982712" y="2340864"/>
            <a:ext cx="3145536" cy="91"/>
          </a:xfrm>
          <a:prstGeom prst="line">
            <a:avLst/>
          </a:prstGeom>
          <a:noFill/>
          <a:ln w="19050">
            <a:solidFill>
              <a:srgbClr val="1B7F5E"/>
            </a:solidFill>
            <a:prstDash val="dash"/>
          </a:ln>
        </p:spPr>
      </p:sp>
      <p:sp>
        <p:nvSpPr>
          <p:cNvPr id="47" name="Shape 44"/>
          <p:cNvSpPr/>
          <p:nvPr/>
        </p:nvSpPr>
        <p:spPr>
          <a:xfrm>
            <a:off x="11128248" y="2340864"/>
            <a:ext cx="91" cy="2359152"/>
          </a:xfrm>
          <a:prstGeom prst="line">
            <a:avLst/>
          </a:prstGeom>
          <a:noFill/>
          <a:ln w="19050">
            <a:solidFill>
              <a:srgbClr val="1B7F5E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>
            <a:off x="7918704" y="2276856"/>
            <a:ext cx="128016" cy="128016"/>
          </a:xfrm>
          <a:prstGeom prst="ellipse">
            <a:avLst/>
          </a:prstGeom>
          <a:solidFill>
            <a:srgbClr val="11344E"/>
          </a:solidFill>
          <a:ln w="12700">
            <a:solidFill>
              <a:srgbClr val="11344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064240" y="4636008"/>
            <a:ext cx="128016" cy="128016"/>
          </a:xfrm>
          <a:prstGeom prst="ellipse">
            <a:avLst/>
          </a:prstGeom>
          <a:solidFill>
            <a:srgbClr val="11344E"/>
          </a:solidFill>
          <a:ln w="12700">
            <a:solidFill>
              <a:srgbClr val="11344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491472" y="3456432"/>
            <a:ext cx="128016" cy="128016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662672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11219688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646920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9240926" y="20482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8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11201400" y="340248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 −6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D: circle and line solutions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circle equation uses r²; a perpendicular slope is the negative reciprocal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18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4846320" cy="4297680"/>
          </a:xfrm>
          <a:prstGeom prst="roundRect">
            <a:avLst>
              <a:gd name="adj" fmla="val 1702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737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Circle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8778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(x − h)² + (y − k)² = r²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17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777B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(x + 3)² + (y − 1)² = 49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84048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(−3, 1) gives x + 3 and y − 1.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Radius 7 gives 7² = 49 on the right.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577840" y="1554480"/>
            <a:ext cx="6035040" cy="4297680"/>
          </a:xfrm>
          <a:prstGeom prst="roundRect">
            <a:avLst>
              <a:gd name="adj" fmla="val 1702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0" y="1737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and 6.  Given slope m = −2, point (4, −3)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852160" y="2331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Parallel: same slope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852160" y="2697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 + 3 = −2(x − 4)   →   y = −2x + 5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85216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Perpendicular: flip and change the sign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852160" y="37947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 = 1/2:   y + 3 = (1/2)(x − 4)   →   y = (1/2)x − 5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852160" y="46634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35040" y="46634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keep the original intercept 7. Substitute (4, −3) to check both lines.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E: maximum height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3.1: the vertex of a quadratic model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19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9464040" y="411480"/>
            <a:ext cx="2148840" cy="457200"/>
          </a:xfrm>
          <a:prstGeom prst="roundRect">
            <a:avLst>
              <a:gd name="adj" fmla="val 16000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64040" y="4114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minutes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554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ball is thrown straight up. Its height h, in feet, after t seconds is given. Find the maximum height.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651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 h(t) = 64t − 16t²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566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 h(t) = −16t² + 96t + 6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7406640" y="155448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80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steps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680960" y="233172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80960" y="2331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23317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of the vertex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 = −b / (2a)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7680960" y="3566160"/>
            <a:ext cx="420624" cy="420624"/>
          </a:xfrm>
          <a:prstGeom prst="ellipse">
            <a:avLst/>
          </a:prstGeom>
          <a:solidFill>
            <a:srgbClr val="1777B4"/>
          </a:solidFill>
          <a:ln w="12700">
            <a:solidFill>
              <a:srgbClr val="1777B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680960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661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at that time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4023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maximum = h(t)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680960" y="4800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&lt; 0, so the parabola opens down and the vertex is a maximum.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E: solutions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is a height in feet, not a time in seconds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20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 a = −16, b = 64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  t = −64 / (2(−16)) = 2 s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889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77B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  h(2) = 128 − 64 = 64 ft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6576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1344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 t = −96 / (2(−16)) = 3 s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519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77B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  h(3) = −144 + 288 + 6 = 150 ft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8640" y="5074920"/>
            <a:ext cx="6035040" cy="868680"/>
          </a:xfrm>
          <a:prstGeom prst="roundRect">
            <a:avLst>
              <a:gd name="adj" fmla="val 8421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50749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at t = 2 answers “when,” not “how high.”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498080" y="1645920"/>
            <a:ext cx="91" cy="374904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481060" y="1645920"/>
            <a:ext cx="91" cy="374904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464040" y="1645920"/>
            <a:ext cx="91" cy="374904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447020" y="1645920"/>
            <a:ext cx="91" cy="374904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430000" y="1645920"/>
            <a:ext cx="91" cy="3749040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98080" y="5394960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0" y="4645152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0" y="3895344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0" y="3145536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0" y="2395728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0" y="1645920"/>
            <a:ext cx="3931920" cy="91"/>
          </a:xfrm>
          <a:prstGeom prst="line">
            <a:avLst/>
          </a:prstGeom>
          <a:noFill/>
          <a:ln w="6350">
            <a:solidFill>
              <a:srgbClr val="DCE3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0" y="1645920"/>
            <a:ext cx="91" cy="3749040"/>
          </a:xfrm>
          <a:prstGeom prst="line">
            <a:avLst/>
          </a:prstGeom>
          <a:noFill/>
          <a:ln w="12700">
            <a:solidFill>
              <a:srgbClr val="5B6B7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0" y="5394960"/>
            <a:ext cx="3931920" cy="91"/>
          </a:xfrm>
          <a:prstGeom prst="line">
            <a:avLst/>
          </a:prstGeom>
          <a:noFill/>
          <a:ln w="12700">
            <a:solidFill>
              <a:srgbClr val="5B6B7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98180" y="54406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9281160" y="54406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10264140" y="54406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54406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7040880" y="455371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7040880" y="380390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305409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7040880" y="230428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7040880" y="155448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0881360" y="56235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(s)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6995160" y="13716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(ft)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 flipV="1">
            <a:off x="7498080" y="5102535"/>
            <a:ext cx="98298" cy="292425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V="1">
            <a:off x="7596378" y="4825106"/>
            <a:ext cx="98298" cy="277429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7694676" y="4562673"/>
            <a:ext cx="98298" cy="262433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7792974" y="4315236"/>
            <a:ext cx="98298" cy="247437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7891272" y="4082796"/>
            <a:ext cx="98298" cy="232440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989570" y="3865352"/>
            <a:ext cx="98298" cy="217444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8087868" y="3662904"/>
            <a:ext cx="98298" cy="202448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8186166" y="3475452"/>
            <a:ext cx="98298" cy="187452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8284464" y="3302996"/>
            <a:ext cx="98298" cy="172456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8382762" y="3145536"/>
            <a:ext cx="98298" cy="157460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8481060" y="3003072"/>
            <a:ext cx="98298" cy="142464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579358" y="2875605"/>
            <a:ext cx="98298" cy="127467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8677656" y="2763134"/>
            <a:ext cx="98298" cy="112471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775954" y="2665659"/>
            <a:ext cx="98298" cy="97475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8874252" y="2583180"/>
            <a:ext cx="98298" cy="82479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972550" y="2515697"/>
            <a:ext cx="98298" cy="67483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9070848" y="2463211"/>
            <a:ext cx="98298" cy="52487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169146" y="2425720"/>
            <a:ext cx="98298" cy="37490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267444" y="2403226"/>
            <a:ext cx="98298" cy="22494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9365742" y="2395728"/>
            <a:ext cx="98298" cy="7498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464040" y="2395728"/>
            <a:ext cx="98298" cy="7498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562338" y="2403226"/>
            <a:ext cx="98298" cy="22494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660636" y="2425720"/>
            <a:ext cx="98298" cy="37490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758934" y="2463211"/>
            <a:ext cx="98298" cy="52487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857232" y="2515697"/>
            <a:ext cx="98298" cy="67483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955530" y="2583180"/>
            <a:ext cx="98298" cy="82479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053828" y="2665659"/>
            <a:ext cx="98298" cy="97475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152126" y="2763134"/>
            <a:ext cx="98298" cy="112471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250424" y="2875605"/>
            <a:ext cx="98298" cy="127467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348722" y="3003072"/>
            <a:ext cx="98298" cy="142464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0447020" y="3145536"/>
            <a:ext cx="98298" cy="157460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545318" y="3302996"/>
            <a:ext cx="98298" cy="172456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10643616" y="3475452"/>
            <a:ext cx="98298" cy="187452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741914" y="3662904"/>
            <a:ext cx="98298" cy="202448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840212" y="3865352"/>
            <a:ext cx="98298" cy="217444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0938510" y="4082796"/>
            <a:ext cx="98298" cy="232440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11036808" y="4315236"/>
            <a:ext cx="98298" cy="247437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1135106" y="4562673"/>
            <a:ext cx="98298" cy="262433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11233404" y="4825106"/>
            <a:ext cx="98298" cy="277429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1331702" y="5102535"/>
            <a:ext cx="98298" cy="292425"/>
          </a:xfrm>
          <a:prstGeom prst="line">
            <a:avLst/>
          </a:prstGeom>
          <a:noFill/>
          <a:ln w="28575">
            <a:solidFill>
              <a:srgbClr val="1777B4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9464040" y="2395728"/>
            <a:ext cx="91" cy="2999232"/>
          </a:xfrm>
          <a:prstGeom prst="line">
            <a:avLst/>
          </a:prstGeom>
          <a:noFill/>
          <a:ln w="15875">
            <a:solidFill>
              <a:srgbClr val="1B7F5E"/>
            </a:solidFill>
            <a:prstDash val="dash"/>
          </a:ln>
        </p:spPr>
      </p:sp>
      <p:sp>
        <p:nvSpPr>
          <p:cNvPr id="78" name="Shape 75"/>
          <p:cNvSpPr/>
          <p:nvPr/>
        </p:nvSpPr>
        <p:spPr>
          <a:xfrm>
            <a:off x="7498080" y="2395728"/>
            <a:ext cx="1965960" cy="91"/>
          </a:xfrm>
          <a:prstGeom prst="line">
            <a:avLst/>
          </a:prstGeom>
          <a:noFill/>
          <a:ln w="15875">
            <a:solidFill>
              <a:srgbClr val="B03A2E"/>
            </a:solidFill>
            <a:prstDash val="dash"/>
          </a:ln>
        </p:spPr>
      </p:sp>
      <p:sp>
        <p:nvSpPr>
          <p:cNvPr id="79" name="Shape 76"/>
          <p:cNvSpPr/>
          <p:nvPr/>
        </p:nvSpPr>
        <p:spPr>
          <a:xfrm>
            <a:off x="9400032" y="2331720"/>
            <a:ext cx="128016" cy="128016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9601200" y="2011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height 64 ft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9537192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= 2 s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errors to avoid on Friday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costs points on work that is otherwise correct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21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2624328" cy="2011680"/>
          </a:xfrm>
          <a:prstGeom prst="roundRect">
            <a:avLst>
              <a:gd name="adj" fmla="val 3636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83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Factoring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after the GCF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55848" y="1554480"/>
            <a:ext cx="2624328" cy="2011680"/>
          </a:xfrm>
          <a:prstGeom prst="roundRect">
            <a:avLst>
              <a:gd name="adj" fmla="val 3636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84448" y="1783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584448" y="22860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Including an excluded endpoint; treating a union as the overlap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63056" y="1554480"/>
            <a:ext cx="2624328" cy="2011680"/>
          </a:xfrm>
          <a:prstGeom prst="roundRect">
            <a:avLst>
              <a:gd name="adj" fmla="val 3636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91656" y="1783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391656" y="22860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 negative exponent as a negative number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970264" y="1554480"/>
            <a:ext cx="2624328" cy="2011680"/>
          </a:xfrm>
          <a:prstGeom prst="roundRect">
            <a:avLst>
              <a:gd name="adj" fmla="val 3636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98864" y="1783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 expressions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9198864" y="22860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Subtracting denominators or only part of a numerator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794760"/>
            <a:ext cx="2624328" cy="2011680"/>
          </a:xfrm>
          <a:prstGeom prst="roundRect">
            <a:avLst>
              <a:gd name="adj" fmla="val 3636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 equations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5262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a candidate that makes a denominator zero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355848" y="3794760"/>
            <a:ext cx="2624328" cy="2011680"/>
          </a:xfrm>
          <a:prstGeom prst="roundRect">
            <a:avLst>
              <a:gd name="adj" fmla="val 3636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584448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584448" y="45262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r instead of r² on the right side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63056" y="3794760"/>
            <a:ext cx="2624328" cy="2011680"/>
          </a:xfrm>
          <a:prstGeom prst="roundRect">
            <a:avLst>
              <a:gd name="adj" fmla="val 3636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91656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Perpendicular lines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391656" y="45262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the sign without taking the reciprocal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8970264" y="3794760"/>
            <a:ext cx="2624328" cy="2011680"/>
          </a:xfrm>
          <a:prstGeom prst="roundRect">
            <a:avLst>
              <a:gd name="adj" fmla="val 3636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98864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height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198864" y="45262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the time instead of the height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Friday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today’s “needs practice” list into a plan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87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130    September 23, 2026    22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520440" cy="3840480"/>
          </a:xfrm>
          <a:prstGeom prst="roundRect">
            <a:avLst>
              <a:gd name="adj" fmla="val 20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Quiz 4 by 3:15 PM.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the rounds where you made an error.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297680" y="1554480"/>
            <a:ext cx="3520440" cy="3840480"/>
          </a:xfrm>
          <a:prstGeom prst="roundRect">
            <a:avLst>
              <a:gd name="adj" fmla="val 20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Thursday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242316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Rework today’s problems without notes.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Mixed practice and the Test checkpoint on the Test 1 review page.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questions to office hours.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046720" y="1554480"/>
            <a:ext cx="3520440" cy="3840480"/>
          </a:xfrm>
          <a:prstGeom prst="roundRect">
            <a:avLst>
              <a:gd name="adj" fmla="val 2078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7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42316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Arrive on time with pencils and an eraser.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restrictions first; box final answers.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3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five minutes to check.</a:t>
            </a:r>
            <a:endParaRPr lang="en-US" sz="1500" dirty="0"/>
          </a:p>
        </p:txBody>
      </p:sp>
      <p:sp>
        <p:nvSpPr>
          <p:cNvPr id="15" name="Text 12">
            <a:hlinkClick r:id="rId1" tooltip=""/>
          </p:cNvPr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1777B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 1 review page:  andrewhvolk.github.io/130Test1.html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 130 Test 1 Review</dc:title>
  <dc:subject>PptxGenJS Presentation</dc:subject>
  <dc:creator>Andrew H. Volk</dc:creator>
  <cp:lastModifiedBy>Andrew H. Volk</cp:lastModifiedBy>
  <cp:revision>1</cp:revision>
  <dcterms:created xsi:type="dcterms:W3CDTF">2026-09-23T18:48:23Z</dcterms:created>
  <dcterms:modified xsi:type="dcterms:W3CDTF">2026-09-23T18:48:23Z</dcterms:modified>
</cp:coreProperties>
</file>