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for today: every student leaves knowing what Friday's test covers, how work is graded, and which skills still need practice tonight. Remind students that Quiz 4 is due at 3:15 PM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overview short (about 5 minutes) so that most of class is spent working problems. Each practice round follows the same routine: students work individually for the posted time, compare with a neighbor, then we check the solution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grading consequences: valid work earns partial credit, so students should write every setup even when unsure. Exact answers means fractions and radicals rather than rounded decimals.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no formula sheet is provided on Test 1. Ask students to cover this slide and write all nine formulas from memory, then check. Any formula they cannot reproduce goes on their needs-practice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clusters. These are also the five practice rounds for today. Ask students to star any skill they are not confident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credit is awarded for valid mathematical progress, so a correct setup with an arithmetic slip still earns points. A bare answer with no supporting work may not earn full credit. Any valid method and any equivalent exact form is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start with a skill they know well to build momentum, and to skip and return rather than stall on one problem. Reserve the final minutes for checking signs, restrictions, and the requested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about 6 minutes. Circulate and look for two errors: stopping after the GCF, and treating a negative exponent as a negative coefficient.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5(x² + x − 6) is not complete; the trinomial still factors. In problem 2 the GCF includes x². In problem 4, simplify inside the parentheses first, then raise the coefficient and every exponent to the third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about 4 minutes. The key step is rewriting both fractions over the LCD before subtracting, and distributing the subtraction across the entire second numerator.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numerator 5(x + 4) − 6x simplifies to 20 − x. Note that −x + 20 and 20 − x are equivalent; either is correct. In problem 6, the constant numerator 3 must be multiplied by 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about 5 minutes. Ask students to sketch each set on a number line before combining. Intersection keeps only the overlap; union keeps everything in either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problem 2, B and C do not overlap, so the union is written as two intervals joined by the union symbol. For problem 3, C extends A to the left, so the union runs from negative infinity to 3. For problem 7, the sets share no elements, so the intersection is the empty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about 8 minutes. Require students to write the restrictions before clearing denominators in problems 1 and 4. In problem 1, factor x² − 1 to find both restrictions and the LCD. Problem 2 should be rewritten with zero on one side before factoring.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problem 1, factoring x² − 1 = (x − 1)(x + 1) gives both restrictions and the LCD. Clearing denominators produces two candidates; x = 1 is excluded, so only x = −3 is a solution. Check it: 2/(−4) + 1 = 1/2 and 4/8 = 1/2. In problem 2, both factors give 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problem 3, multiplying only some terms by 5 is the most common error. In problem 4, cross-multiplication pairs each numerator with the opposite denominator. Check that 7 is not a restricted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about 8 minutes. For the circle, remind students that the right side of the standard form is the square of the radius. For the lines, the given slope is read directly from slope-intercept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run of 8 and rise of −6 form a 6-8-10 right triangle, which is the geometric meaning of the distance formula. Show the check: substituting Q(6, −1) into the final equation gives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Circle: the signs inside the parentheses are opposite to the center coordinates, and 7 must be squared. Lines: the parallel line keeps the slope −2 but not the intercept 7. The perpendicular slope flips and changes sign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about 4 minutes. The vertex formula gives the time at which the maximum occurs. Students must then substitute that time into h(t) to obtain the height, which is what the question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graph to show that t = 2 is where the maximum occurs and 64 feet is the maximum itself. In problem 2 the constant 6 is the initial height, and it contributes to the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identify which of these errors they made today and add it to their needs-practice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reminding students of the Quiz 4 deadline at 3:15 PM today. Point them to the Test 1 review page for mixed practice and the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andrewhvolk.github.io/130Test1.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Test 1 review</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Wednesday, September 23</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a:t>
            </a:r>
            <a:endParaRPr lang="en-US" sz="800" dirty="0"/>
          </a:p>
        </p:txBody>
      </p:sp>
      <p:sp>
        <p:nvSpPr>
          <p:cNvPr id="6" name="Text 3"/>
          <p:cNvSpPr txBox="1"/>
          <p:nvPr/>
        </p:nvSpPr>
        <p:spPr>
          <a:xfrm>
            <a:off x="548640" y="1691640"/>
            <a:ext cx="6583680" cy="731520"/>
          </a:xfrm>
          <a:prstGeom prst="rect">
            <a:avLst/>
          </a:prstGeom>
          <a:noFill/>
          <a:ln/>
        </p:spPr>
        <p:txBody>
          <a:bodyPr wrap="square" lIns="0" tIns="0" rIns="0" bIns="0" rtlCol="0" anchor="t"/>
          <a:lstStyle/>
          <a:p>
            <a:pPr indent="0" marL="0">
              <a:buNone/>
            </a:pPr>
            <a:r>
              <a:rPr lang="en-US" sz="3400" b="1" dirty="0">
                <a:solidFill>
                  <a:srgbClr val="1777B4"/>
                </a:solidFill>
                <a:latin typeface="Arial" pitchFamily="34" charset="0"/>
                <a:ea typeface="Arial" pitchFamily="34" charset="-122"/>
                <a:cs typeface="Arial" pitchFamily="34" charset="-120"/>
              </a:rPr>
              <a:t>Preparing for Friday’s test</a:t>
            </a:r>
            <a:endParaRPr lang="en-US" sz="3400" dirty="0"/>
          </a:p>
        </p:txBody>
      </p:sp>
      <p:sp>
        <p:nvSpPr>
          <p:cNvPr id="7" name="Text 4"/>
          <p:cNvSpPr txBox="1"/>
          <p:nvPr/>
        </p:nvSpPr>
        <p:spPr>
          <a:xfrm>
            <a:off x="548640" y="2651760"/>
            <a:ext cx="6400800" cy="1554480"/>
          </a:xfrm>
          <a:prstGeom prst="rect">
            <a:avLst/>
          </a:prstGeom>
          <a:noFill/>
          <a:ln/>
        </p:spPr>
        <p:txBody>
          <a:bodyPr wrap="square" lIns="0" tIns="0" rIns="0" bIns="0" rtlCol="0" anchor="t"/>
          <a:lstStyle/>
          <a:p>
            <a:pPr indent="0" marL="0">
              <a:spcAft>
                <a:spcPts val="1200"/>
              </a:spcAft>
              <a:buNone/>
            </a:pPr>
            <a:r>
              <a:rPr lang="en-US" sz="1800" dirty="0">
                <a:solidFill>
                  <a:srgbClr val="11344E"/>
                </a:solidFill>
                <a:latin typeface="Arial" pitchFamily="34" charset="0"/>
                <a:ea typeface="Arial" pitchFamily="34" charset="-122"/>
                <a:cs typeface="Arial" pitchFamily="34" charset="-120"/>
              </a:rPr>
              <a:t>What Test 1 covers and how work is graded</a:t>
            </a:r>
            <a:endParaRPr lang="en-US" sz="1800" dirty="0"/>
          </a:p>
          <a:p>
            <a:pPr indent="0" marL="0">
              <a:spcAft>
                <a:spcPts val="1200"/>
              </a:spcAft>
              <a:buNone/>
            </a:pPr>
            <a:r>
              <a:rPr lang="en-US" sz="1800" dirty="0">
                <a:solidFill>
                  <a:srgbClr val="11344E"/>
                </a:solidFill>
                <a:latin typeface="Arial" pitchFamily="34" charset="0"/>
                <a:ea typeface="Arial" pitchFamily="34" charset="-122"/>
                <a:cs typeface="Arial" pitchFamily="34" charset="-120"/>
              </a:rPr>
              <a:t>Five practice rounds matched to the test skills</a:t>
            </a:r>
            <a:endParaRPr lang="en-US" sz="1800" dirty="0"/>
          </a:p>
          <a:p>
            <a:pPr indent="0" marL="0">
              <a:spcAft>
                <a:spcPts val="1200"/>
              </a:spcAft>
              <a:buNone/>
            </a:pPr>
            <a:r>
              <a:rPr lang="en-US" sz="1800" dirty="0">
                <a:solidFill>
                  <a:srgbClr val="11344E"/>
                </a:solidFill>
                <a:latin typeface="Arial" pitchFamily="34" charset="0"/>
                <a:ea typeface="Arial" pitchFamily="34" charset="-122"/>
                <a:cs typeface="Arial" pitchFamily="34" charset="-120"/>
              </a:rPr>
              <a:t>Common errors and a test-day checklist</a:t>
            </a:r>
            <a:endParaRPr lang="en-US" sz="1800" dirty="0"/>
          </a:p>
        </p:txBody>
      </p:sp>
      <p:sp>
        <p:nvSpPr>
          <p:cNvPr id="8" name="Shape 5"/>
          <p:cNvSpPr/>
          <p:nvPr/>
        </p:nvSpPr>
        <p:spPr>
          <a:xfrm>
            <a:off x="7680960" y="1691640"/>
            <a:ext cx="3931920" cy="3566160"/>
          </a:xfrm>
          <a:prstGeom prst="roundRect">
            <a:avLst>
              <a:gd name="adj" fmla="val 2051"/>
            </a:avLst>
          </a:prstGeom>
          <a:solidFill>
            <a:srgbClr val="11344E"/>
          </a:solidFill>
          <a:ln w="12700">
            <a:solidFill>
              <a:srgbClr val="11344E"/>
            </a:solidFill>
            <a:prstDash val="solid"/>
          </a:ln>
        </p:spPr>
      </p:sp>
      <p:sp>
        <p:nvSpPr>
          <p:cNvPr id="9" name="Text 6"/>
          <p:cNvSpPr txBox="1"/>
          <p:nvPr/>
        </p:nvSpPr>
        <p:spPr>
          <a:xfrm>
            <a:off x="8046720" y="2011680"/>
            <a:ext cx="3200400" cy="320040"/>
          </a:xfrm>
          <a:prstGeom prst="rect">
            <a:avLst/>
          </a:prstGeom>
          <a:noFill/>
          <a:ln/>
        </p:spPr>
        <p:txBody>
          <a:bodyPr wrap="square" lIns="0" tIns="0" rIns="0" bIns="0" rtlCol="0" anchor="t"/>
          <a:lstStyle/>
          <a:p>
            <a:pPr indent="0" marL="0">
              <a:buNone/>
            </a:pPr>
            <a:r>
              <a:rPr lang="en-US" sz="1300" b="1" spc="300" kern="0" dirty="0">
                <a:solidFill>
                  <a:srgbClr val="9CC7E6"/>
                </a:solidFill>
                <a:latin typeface="Arial" pitchFamily="34" charset="0"/>
                <a:ea typeface="Arial" pitchFamily="34" charset="-122"/>
                <a:cs typeface="Arial" pitchFamily="34" charset="-120"/>
              </a:rPr>
              <a:t>TEST 1</a:t>
            </a:r>
            <a:endParaRPr lang="en-US" sz="1300" dirty="0"/>
          </a:p>
        </p:txBody>
      </p:sp>
      <p:sp>
        <p:nvSpPr>
          <p:cNvPr id="10" name="Text 7"/>
          <p:cNvSpPr txBox="1"/>
          <p:nvPr/>
        </p:nvSpPr>
        <p:spPr>
          <a:xfrm>
            <a:off x="8046720" y="2423160"/>
            <a:ext cx="3200400" cy="64008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Friday</a:t>
            </a:r>
            <a:endParaRPr lang="en-US" sz="3800" dirty="0"/>
          </a:p>
        </p:txBody>
      </p:sp>
      <p:sp>
        <p:nvSpPr>
          <p:cNvPr id="11" name="Text 8"/>
          <p:cNvSpPr txBox="1"/>
          <p:nvPr/>
        </p:nvSpPr>
        <p:spPr>
          <a:xfrm>
            <a:off x="8046720" y="3063240"/>
            <a:ext cx="3200400" cy="457200"/>
          </a:xfrm>
          <a:prstGeom prst="rect">
            <a:avLst/>
          </a:prstGeom>
          <a:noFill/>
          <a:ln/>
        </p:spPr>
        <p:txBody>
          <a:bodyPr wrap="square" lIns="0" tIns="0" rIns="0" bIns="0" rtlCol="0" anchor="t"/>
          <a:lstStyle/>
          <a:p>
            <a:pPr indent="0" marL="0">
              <a:buNone/>
            </a:pPr>
            <a:r>
              <a:rPr lang="en-US" sz="2400" dirty="0">
                <a:solidFill>
                  <a:srgbClr val="FFFFFF"/>
                </a:solidFill>
                <a:latin typeface="Arial" pitchFamily="34" charset="0"/>
                <a:ea typeface="Arial" pitchFamily="34" charset="-122"/>
                <a:cs typeface="Arial" pitchFamily="34" charset="-120"/>
              </a:rPr>
              <a:t>September 25</a:t>
            </a:r>
            <a:endParaRPr lang="en-US" sz="2400" dirty="0"/>
          </a:p>
        </p:txBody>
      </p:sp>
      <p:sp>
        <p:nvSpPr>
          <p:cNvPr id="12" name="Shape 9"/>
          <p:cNvSpPr/>
          <p:nvPr/>
        </p:nvSpPr>
        <p:spPr>
          <a:xfrm>
            <a:off x="8046720" y="3794760"/>
            <a:ext cx="3200400" cy="0"/>
          </a:xfrm>
          <a:prstGeom prst="line">
            <a:avLst/>
          </a:prstGeom>
          <a:noFill/>
          <a:ln w="12700">
            <a:solidFill>
              <a:srgbClr val="4E7390"/>
            </a:solidFill>
            <a:prstDash val="solid"/>
          </a:ln>
        </p:spPr>
      </p:sp>
      <p:sp>
        <p:nvSpPr>
          <p:cNvPr id="13" name="Text 10"/>
          <p:cNvSpPr txBox="1"/>
          <p:nvPr/>
        </p:nvSpPr>
        <p:spPr>
          <a:xfrm>
            <a:off x="8046720" y="3977640"/>
            <a:ext cx="3200400" cy="1188720"/>
          </a:xfrm>
          <a:prstGeom prst="rect">
            <a:avLst/>
          </a:prstGeom>
          <a:noFill/>
          <a:ln/>
        </p:spPr>
        <p:txBody>
          <a:bodyPr wrap="square" lIns="0" tIns="0" rIns="0" bIns="0" rtlCol="0" anchor="t"/>
          <a:lstStyle/>
          <a:p>
            <a:pPr indent="0" marL="0">
              <a:spcAft>
                <a:spcPts val="600"/>
              </a:spcAft>
              <a:buNone/>
            </a:pPr>
            <a:r>
              <a:rPr lang="en-US" sz="1600" dirty="0">
                <a:solidFill>
                  <a:srgbClr val="D6E6F2"/>
                </a:solidFill>
                <a:latin typeface="Arial" pitchFamily="34" charset="0"/>
                <a:ea typeface="Arial" pitchFamily="34" charset="-122"/>
                <a:cs typeface="Arial" pitchFamily="34" charset="-120"/>
              </a:rPr>
              <a:t>In class, on paper</a:t>
            </a:r>
            <a:endParaRPr lang="en-US" sz="1600" dirty="0"/>
          </a:p>
          <a:p>
            <a:pPr indent="0" marL="0">
              <a:spcAft>
                <a:spcPts val="600"/>
              </a:spcAft>
              <a:buNone/>
            </a:pPr>
            <a:r>
              <a:rPr lang="en-US" sz="1600" dirty="0">
                <a:solidFill>
                  <a:srgbClr val="D6E6F2"/>
                </a:solidFill>
                <a:latin typeface="Arial" pitchFamily="34" charset="0"/>
                <a:ea typeface="Arial" pitchFamily="34" charset="-122"/>
                <a:cs typeface="Arial" pitchFamily="34" charset="-120"/>
              </a:rPr>
              <a:t>50 minutes</a:t>
            </a:r>
            <a:endParaRPr lang="en-US" sz="1600" dirty="0"/>
          </a:p>
          <a:p>
            <a:pPr indent="0" marL="0">
              <a:spcAft>
                <a:spcPts val="600"/>
              </a:spcAft>
              <a:buNone/>
            </a:pPr>
            <a:r>
              <a:rPr lang="en-US" sz="1600" b="1" dirty="0">
                <a:solidFill>
                  <a:srgbClr val="FFD7D2"/>
                </a:solidFill>
                <a:latin typeface="Arial" pitchFamily="34" charset="0"/>
                <a:ea typeface="Arial" pitchFamily="34" charset="-122"/>
                <a:cs typeface="Arial" pitchFamily="34" charset="-120"/>
              </a:rPr>
              <a:t>No formulas provided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Today’s plan</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Three parts, with practice in every round</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2</a:t>
            </a:r>
            <a:endParaRPr lang="en-US" sz="800" dirty="0"/>
          </a:p>
        </p:txBody>
      </p:sp>
      <p:sp>
        <p:nvSpPr>
          <p:cNvPr id="6" name="Shape 3"/>
          <p:cNvSpPr/>
          <p:nvPr/>
        </p:nvSpPr>
        <p:spPr>
          <a:xfrm>
            <a:off x="548640" y="1645920"/>
            <a:ext cx="420624" cy="420624"/>
          </a:xfrm>
          <a:prstGeom prst="ellipse">
            <a:avLst/>
          </a:prstGeom>
          <a:solidFill>
            <a:srgbClr val="1777B4"/>
          </a:solidFill>
          <a:ln w="12700">
            <a:solidFill>
              <a:srgbClr val="1777B4"/>
            </a:solidFill>
            <a:prstDash val="solid"/>
          </a:ln>
        </p:spPr>
      </p:sp>
      <p:sp>
        <p:nvSpPr>
          <p:cNvPr id="7"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27632"/>
            <a:ext cx="4572000" cy="274320"/>
          </a:xfrm>
          <a:prstGeom prst="rect">
            <a:avLst/>
          </a:prstGeom>
          <a:noFill/>
          <a:ln/>
        </p:spPr>
        <p:txBody>
          <a:bodyPr wrap="square" lIns="0" tIns="0" rIns="0" bIns="0" rtlCol="0" anchor="t"/>
          <a:lstStyle/>
          <a:p>
            <a:pPr indent="0" marL="0">
              <a:buNone/>
            </a:pPr>
            <a:r>
              <a:rPr lang="en-US" sz="1200" b="1" spc="100" kern="0" dirty="0">
                <a:solidFill>
                  <a:srgbClr val="687783"/>
                </a:solidFill>
                <a:latin typeface="Arial" pitchFamily="34" charset="0"/>
                <a:ea typeface="Arial" pitchFamily="34" charset="-122"/>
                <a:cs typeface="Arial" pitchFamily="34" charset="-120"/>
              </a:rPr>
              <a:t>TEST OVERVIEW</a:t>
            </a:r>
            <a:endParaRPr lang="en-US" sz="1200" dirty="0"/>
          </a:p>
        </p:txBody>
      </p:sp>
      <p:sp>
        <p:nvSpPr>
          <p:cNvPr id="9" name="Text 6"/>
          <p:cNvSpPr txBox="1"/>
          <p:nvPr/>
        </p:nvSpPr>
        <p:spPr>
          <a:xfrm>
            <a:off x="1188720" y="1938528"/>
            <a:ext cx="5669280" cy="411480"/>
          </a:xfrm>
          <a:prstGeom prst="rect">
            <a:avLst/>
          </a:prstGeom>
          <a:noFill/>
          <a:ln/>
        </p:spPr>
        <p:txBody>
          <a:bodyPr wrap="square" lIns="0" tIns="0" rIns="0" bIns="0" rtlCol="0" anchor="t"/>
          <a:lstStyle/>
          <a:p>
            <a:pPr indent="0" marL="0">
              <a:buNone/>
            </a:pPr>
            <a:r>
              <a:rPr lang="en-US" sz="2100" dirty="0">
                <a:solidFill>
                  <a:srgbClr val="11344E"/>
                </a:solidFill>
                <a:latin typeface="Times New Roman" pitchFamily="34" charset="0"/>
                <a:ea typeface="Times New Roman" pitchFamily="34" charset="-122"/>
                <a:cs typeface="Times New Roman" pitchFamily="34" charset="-120"/>
              </a:rPr>
              <a:t>coverage  →  grading  →  pacing</a:t>
            </a:r>
            <a:endParaRPr lang="en-US" sz="2100" dirty="0"/>
          </a:p>
        </p:txBody>
      </p:sp>
      <p:sp>
        <p:nvSpPr>
          <p:cNvPr id="10" name="Text 7"/>
          <p:cNvSpPr txBox="1"/>
          <p:nvPr/>
        </p:nvSpPr>
        <p:spPr>
          <a:xfrm>
            <a:off x="6492240" y="1920240"/>
            <a:ext cx="1005840" cy="411480"/>
          </a:xfrm>
          <a:prstGeom prst="rect">
            <a:avLst/>
          </a:prstGeom>
          <a:noFill/>
          <a:ln/>
        </p:spPr>
        <p:txBody>
          <a:bodyPr wrap="square" lIns="0" tIns="0" rIns="0" bIns="0" rtlCol="0" anchor="t"/>
          <a:lstStyle/>
          <a:p>
            <a:pPr algn="r" indent="0" marL="0">
              <a:buNone/>
            </a:pPr>
            <a:r>
              <a:rPr lang="en-US" sz="1400" b="1" dirty="0">
                <a:solidFill>
                  <a:srgbClr val="1777B4"/>
                </a:solidFill>
                <a:latin typeface="Arial" pitchFamily="34" charset="0"/>
                <a:ea typeface="Arial" pitchFamily="34" charset="-122"/>
                <a:cs typeface="Arial" pitchFamily="34" charset="-120"/>
              </a:rPr>
              <a:t>5 min</a:t>
            </a:r>
            <a:endParaRPr lang="en-US" sz="1400" dirty="0"/>
          </a:p>
        </p:txBody>
      </p:sp>
      <p:sp>
        <p:nvSpPr>
          <p:cNvPr id="11" name="Shape 8"/>
          <p:cNvSpPr/>
          <p:nvPr/>
        </p:nvSpPr>
        <p:spPr>
          <a:xfrm>
            <a:off x="548640" y="2834640"/>
            <a:ext cx="420624" cy="420624"/>
          </a:xfrm>
          <a:prstGeom prst="ellipse">
            <a:avLst/>
          </a:prstGeom>
          <a:solidFill>
            <a:srgbClr val="1777B4"/>
          </a:solidFill>
          <a:ln w="12700">
            <a:solidFill>
              <a:srgbClr val="1777B4"/>
            </a:solidFill>
            <a:prstDash val="solid"/>
          </a:ln>
        </p:spPr>
      </p:sp>
      <p:sp>
        <p:nvSpPr>
          <p:cNvPr id="12" name="Text 9"/>
          <p:cNvSpPr txBox="1"/>
          <p:nvPr/>
        </p:nvSpPr>
        <p:spPr>
          <a:xfrm>
            <a:off x="548640" y="2834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188720" y="2816352"/>
            <a:ext cx="4572000" cy="274320"/>
          </a:xfrm>
          <a:prstGeom prst="rect">
            <a:avLst/>
          </a:prstGeom>
          <a:noFill/>
          <a:ln/>
        </p:spPr>
        <p:txBody>
          <a:bodyPr wrap="square" lIns="0" tIns="0" rIns="0" bIns="0" rtlCol="0" anchor="t"/>
          <a:lstStyle/>
          <a:p>
            <a:pPr indent="0" marL="0">
              <a:buNone/>
            </a:pPr>
            <a:r>
              <a:rPr lang="en-US" sz="1200" b="1" spc="100" kern="0" dirty="0">
                <a:solidFill>
                  <a:srgbClr val="687783"/>
                </a:solidFill>
                <a:latin typeface="Arial" pitchFamily="34" charset="0"/>
                <a:ea typeface="Arial" pitchFamily="34" charset="-122"/>
                <a:cs typeface="Arial" pitchFamily="34" charset="-120"/>
              </a:rPr>
              <a:t>PRACTICE ROUNDS A–E</a:t>
            </a:r>
            <a:endParaRPr lang="en-US" sz="1200" dirty="0"/>
          </a:p>
        </p:txBody>
      </p:sp>
      <p:sp>
        <p:nvSpPr>
          <p:cNvPr id="14" name="Text 11"/>
          <p:cNvSpPr txBox="1"/>
          <p:nvPr/>
        </p:nvSpPr>
        <p:spPr>
          <a:xfrm>
            <a:off x="1188720" y="3127248"/>
            <a:ext cx="5669280" cy="411480"/>
          </a:xfrm>
          <a:prstGeom prst="rect">
            <a:avLst/>
          </a:prstGeom>
          <a:noFill/>
          <a:ln/>
        </p:spPr>
        <p:txBody>
          <a:bodyPr wrap="square" lIns="0" tIns="0" rIns="0" bIns="0" rtlCol="0" anchor="t"/>
          <a:lstStyle/>
          <a:p>
            <a:pPr indent="0" marL="0">
              <a:buNone/>
            </a:pPr>
            <a:r>
              <a:rPr lang="en-US" sz="2100" dirty="0">
                <a:solidFill>
                  <a:srgbClr val="11344E"/>
                </a:solidFill>
                <a:latin typeface="Times New Roman" pitchFamily="34" charset="0"/>
                <a:ea typeface="Times New Roman" pitchFamily="34" charset="-122"/>
                <a:cs typeface="Times New Roman" pitchFamily="34" charset="-120"/>
              </a:rPr>
              <a:t>work  →  compare  →  check</a:t>
            </a:r>
            <a:endParaRPr lang="en-US" sz="2100" dirty="0"/>
          </a:p>
        </p:txBody>
      </p:sp>
      <p:sp>
        <p:nvSpPr>
          <p:cNvPr id="15" name="Text 12"/>
          <p:cNvSpPr txBox="1"/>
          <p:nvPr/>
        </p:nvSpPr>
        <p:spPr>
          <a:xfrm>
            <a:off x="6492240" y="3108960"/>
            <a:ext cx="1005840" cy="411480"/>
          </a:xfrm>
          <a:prstGeom prst="rect">
            <a:avLst/>
          </a:prstGeom>
          <a:noFill/>
          <a:ln/>
        </p:spPr>
        <p:txBody>
          <a:bodyPr wrap="square" lIns="0" tIns="0" rIns="0" bIns="0" rtlCol="0" anchor="t"/>
          <a:lstStyle/>
          <a:p>
            <a:pPr algn="r" indent="0" marL="0">
              <a:buNone/>
            </a:pPr>
            <a:r>
              <a:rPr lang="en-US" sz="1400" b="1" dirty="0">
                <a:solidFill>
                  <a:srgbClr val="1777B4"/>
                </a:solidFill>
                <a:latin typeface="Arial" pitchFamily="34" charset="0"/>
                <a:ea typeface="Arial" pitchFamily="34" charset="-122"/>
                <a:cs typeface="Arial" pitchFamily="34" charset="-120"/>
              </a:rPr>
              <a:t>35 min</a:t>
            </a:r>
            <a:endParaRPr lang="en-US" sz="1400" dirty="0"/>
          </a:p>
        </p:txBody>
      </p:sp>
      <p:sp>
        <p:nvSpPr>
          <p:cNvPr id="16" name="Shape 13"/>
          <p:cNvSpPr/>
          <p:nvPr/>
        </p:nvSpPr>
        <p:spPr>
          <a:xfrm>
            <a:off x="548640" y="4023360"/>
            <a:ext cx="420624" cy="420624"/>
          </a:xfrm>
          <a:prstGeom prst="ellipse">
            <a:avLst/>
          </a:prstGeom>
          <a:solidFill>
            <a:srgbClr val="1777B4"/>
          </a:solidFill>
          <a:ln w="12700">
            <a:solidFill>
              <a:srgbClr val="1777B4"/>
            </a:solidFill>
            <a:prstDash val="solid"/>
          </a:ln>
        </p:spPr>
      </p:sp>
      <p:sp>
        <p:nvSpPr>
          <p:cNvPr id="17" name="Text 14"/>
          <p:cNvSpPr txBox="1"/>
          <p:nvPr/>
        </p:nvSpPr>
        <p:spPr>
          <a:xfrm>
            <a:off x="548640" y="4023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4005072"/>
            <a:ext cx="4572000" cy="274320"/>
          </a:xfrm>
          <a:prstGeom prst="rect">
            <a:avLst/>
          </a:prstGeom>
          <a:noFill/>
          <a:ln/>
        </p:spPr>
        <p:txBody>
          <a:bodyPr wrap="square" lIns="0" tIns="0" rIns="0" bIns="0" rtlCol="0" anchor="t"/>
          <a:lstStyle/>
          <a:p>
            <a:pPr indent="0" marL="0">
              <a:buNone/>
            </a:pPr>
            <a:r>
              <a:rPr lang="en-US" sz="1200" b="1" spc="100" kern="0" dirty="0">
                <a:solidFill>
                  <a:srgbClr val="687783"/>
                </a:solidFill>
                <a:latin typeface="Arial" pitchFamily="34" charset="0"/>
                <a:ea typeface="Arial" pitchFamily="34" charset="-122"/>
                <a:cs typeface="Arial" pitchFamily="34" charset="-120"/>
              </a:rPr>
              <a:t>ERRORS AND CHECKLIST</a:t>
            </a:r>
            <a:endParaRPr lang="en-US" sz="1200" dirty="0"/>
          </a:p>
        </p:txBody>
      </p:sp>
      <p:sp>
        <p:nvSpPr>
          <p:cNvPr id="19" name="Text 16"/>
          <p:cNvSpPr txBox="1"/>
          <p:nvPr/>
        </p:nvSpPr>
        <p:spPr>
          <a:xfrm>
            <a:off x="1188720" y="4315968"/>
            <a:ext cx="5669280" cy="411480"/>
          </a:xfrm>
          <a:prstGeom prst="rect">
            <a:avLst/>
          </a:prstGeom>
          <a:noFill/>
          <a:ln/>
        </p:spPr>
        <p:txBody>
          <a:bodyPr wrap="square" lIns="0" tIns="0" rIns="0" bIns="0" rtlCol="0" anchor="t"/>
          <a:lstStyle/>
          <a:p>
            <a:pPr indent="0" marL="0">
              <a:buNone/>
            </a:pPr>
            <a:r>
              <a:rPr lang="en-US" sz="2100" dirty="0">
                <a:solidFill>
                  <a:srgbClr val="11344E"/>
                </a:solidFill>
                <a:latin typeface="Times New Roman" pitchFamily="34" charset="0"/>
                <a:ea typeface="Times New Roman" pitchFamily="34" charset="-122"/>
                <a:cs typeface="Times New Roman" pitchFamily="34" charset="-120"/>
              </a:rPr>
              <a:t>common errors  →  plan for tonight</a:t>
            </a:r>
            <a:endParaRPr lang="en-US" sz="2100" dirty="0"/>
          </a:p>
        </p:txBody>
      </p:sp>
      <p:sp>
        <p:nvSpPr>
          <p:cNvPr id="20" name="Text 17"/>
          <p:cNvSpPr txBox="1"/>
          <p:nvPr/>
        </p:nvSpPr>
        <p:spPr>
          <a:xfrm>
            <a:off x="6492240" y="4297680"/>
            <a:ext cx="1005840" cy="411480"/>
          </a:xfrm>
          <a:prstGeom prst="rect">
            <a:avLst/>
          </a:prstGeom>
          <a:noFill/>
          <a:ln/>
        </p:spPr>
        <p:txBody>
          <a:bodyPr wrap="square" lIns="0" tIns="0" rIns="0" bIns="0" rtlCol="0" anchor="t"/>
          <a:lstStyle/>
          <a:p>
            <a:pPr algn="r" indent="0" marL="0">
              <a:buNone/>
            </a:pPr>
            <a:r>
              <a:rPr lang="en-US" sz="1400" b="1" dirty="0">
                <a:solidFill>
                  <a:srgbClr val="1777B4"/>
                </a:solidFill>
                <a:latin typeface="Arial" pitchFamily="34" charset="0"/>
                <a:ea typeface="Arial" pitchFamily="34" charset="-122"/>
                <a:cs typeface="Arial" pitchFamily="34" charset="-120"/>
              </a:rPr>
              <a:t>5 min</a:t>
            </a:r>
            <a:endParaRPr lang="en-US" sz="1400" dirty="0"/>
          </a:p>
        </p:txBody>
      </p:sp>
      <p:sp>
        <p:nvSpPr>
          <p:cNvPr id="21" name="Shape 18"/>
          <p:cNvSpPr/>
          <p:nvPr/>
        </p:nvSpPr>
        <p:spPr>
          <a:xfrm>
            <a:off x="8138160" y="1645920"/>
            <a:ext cx="3474720" cy="2103120"/>
          </a:xfrm>
          <a:prstGeom prst="roundRect">
            <a:avLst>
              <a:gd name="adj" fmla="val 3478"/>
            </a:avLst>
          </a:prstGeom>
          <a:solidFill>
            <a:srgbClr val="FBEDEB"/>
          </a:solidFill>
          <a:ln w="12700">
            <a:solidFill>
              <a:srgbClr val="FBEDEB"/>
            </a:solidFill>
            <a:prstDash val="solid"/>
          </a:ln>
        </p:spPr>
      </p:sp>
      <p:sp>
        <p:nvSpPr>
          <p:cNvPr id="22" name="Text 19"/>
          <p:cNvSpPr txBox="1"/>
          <p:nvPr/>
        </p:nvSpPr>
        <p:spPr>
          <a:xfrm>
            <a:off x="8412480" y="1874520"/>
            <a:ext cx="2926080" cy="320040"/>
          </a:xfrm>
          <a:prstGeom prst="rect">
            <a:avLst/>
          </a:prstGeom>
          <a:noFill/>
          <a:ln/>
        </p:spPr>
        <p:txBody>
          <a:bodyPr wrap="square" lIns="0" tIns="0" rIns="0" bIns="0" rtlCol="0" anchor="t"/>
          <a:lstStyle/>
          <a:p>
            <a:pPr indent="0" marL="0">
              <a:buNone/>
            </a:pPr>
            <a:r>
              <a:rPr lang="en-US" sz="1400" b="1" dirty="0">
                <a:solidFill>
                  <a:srgbClr val="B03A2E"/>
                </a:solidFill>
                <a:latin typeface="Arial" pitchFamily="34" charset="0"/>
                <a:ea typeface="Arial" pitchFamily="34" charset="-122"/>
                <a:cs typeface="Arial" pitchFamily="34" charset="-120"/>
              </a:rPr>
              <a:t>Due today</a:t>
            </a:r>
            <a:endParaRPr lang="en-US" sz="1400" dirty="0"/>
          </a:p>
        </p:txBody>
      </p:sp>
      <p:sp>
        <p:nvSpPr>
          <p:cNvPr id="23" name="Text 20"/>
          <p:cNvSpPr txBox="1"/>
          <p:nvPr/>
        </p:nvSpPr>
        <p:spPr>
          <a:xfrm>
            <a:off x="8412480" y="2286000"/>
            <a:ext cx="2926080" cy="640080"/>
          </a:xfrm>
          <a:prstGeom prst="rect">
            <a:avLst/>
          </a:prstGeom>
          <a:noFill/>
          <a:ln/>
        </p:spPr>
        <p:txBody>
          <a:bodyPr wrap="square" lIns="0" tIns="0" rIns="0" bIns="0" rtlCol="0" anchor="t"/>
          <a:lstStyle/>
          <a:p>
            <a:pPr indent="0" marL="0">
              <a:buNone/>
            </a:pPr>
            <a:r>
              <a:rPr lang="en-US" sz="1700" b="1" dirty="0">
                <a:solidFill>
                  <a:srgbClr val="11344E"/>
                </a:solidFill>
                <a:latin typeface="Arial" pitchFamily="34" charset="0"/>
                <a:ea typeface="Arial" pitchFamily="34" charset="-122"/>
                <a:cs typeface="Arial" pitchFamily="34" charset="-120"/>
              </a:rPr>
              <a:t>Quiz 4 (take-home test review)</a:t>
            </a:r>
            <a:endParaRPr lang="en-US" sz="1700" dirty="0"/>
          </a:p>
        </p:txBody>
      </p:sp>
      <p:sp>
        <p:nvSpPr>
          <p:cNvPr id="24" name="Text 21"/>
          <p:cNvSpPr txBox="1"/>
          <p:nvPr/>
        </p:nvSpPr>
        <p:spPr>
          <a:xfrm>
            <a:off x="8412480" y="3017520"/>
            <a:ext cx="2926080" cy="457200"/>
          </a:xfrm>
          <a:prstGeom prst="rect">
            <a:avLst/>
          </a:prstGeom>
          <a:noFill/>
          <a:ln/>
        </p:spPr>
        <p:txBody>
          <a:bodyPr wrap="square" lIns="0" tIns="0" rIns="0" bIns="0" rtlCol="0" anchor="t"/>
          <a:lstStyle/>
          <a:p>
            <a:pPr indent="0" marL="0">
              <a:buNone/>
            </a:pPr>
            <a:r>
              <a:rPr lang="en-US" sz="2600" b="1" dirty="0">
                <a:solidFill>
                  <a:srgbClr val="B03A2E"/>
                </a:solidFill>
                <a:latin typeface="Arial" pitchFamily="34" charset="0"/>
                <a:ea typeface="Arial" pitchFamily="34" charset="-122"/>
                <a:cs typeface="Arial" pitchFamily="34" charset="-120"/>
              </a:rPr>
              <a:t>3:15 PM</a:t>
            </a:r>
            <a:endParaRPr lang="en-US" sz="2600" dirty="0"/>
          </a:p>
        </p:txBody>
      </p:sp>
      <p:sp>
        <p:nvSpPr>
          <p:cNvPr id="25" name="Shape 22"/>
          <p:cNvSpPr/>
          <p:nvPr/>
        </p:nvSpPr>
        <p:spPr>
          <a:xfrm>
            <a:off x="8138160" y="3977640"/>
            <a:ext cx="3474720" cy="1188720"/>
          </a:xfrm>
          <a:prstGeom prst="roundRect">
            <a:avLst>
              <a:gd name="adj" fmla="val 6154"/>
            </a:avLst>
          </a:prstGeom>
          <a:solidFill>
            <a:srgbClr val="EEF4F9"/>
          </a:solidFill>
          <a:ln w="12700">
            <a:solidFill>
              <a:srgbClr val="EEF4F9"/>
            </a:solidFill>
            <a:prstDash val="solid"/>
          </a:ln>
        </p:spPr>
      </p:sp>
      <p:sp>
        <p:nvSpPr>
          <p:cNvPr id="26" name="Text 23"/>
          <p:cNvSpPr txBox="1"/>
          <p:nvPr/>
        </p:nvSpPr>
        <p:spPr>
          <a:xfrm>
            <a:off x="8412480" y="4114800"/>
            <a:ext cx="2926080" cy="914400"/>
          </a:xfrm>
          <a:prstGeom prst="rect">
            <a:avLst/>
          </a:prstGeom>
          <a:noFill/>
          <a:ln/>
        </p:spPr>
        <p:txBody>
          <a:bodyPr wrap="square" lIns="0" tIns="0" rIns="0" bIns="0" rtlCol="0" anchor="ctr"/>
          <a:lstStyle/>
          <a:p>
            <a:pPr indent="0" marL="0">
              <a:buNone/>
            </a:pPr>
            <a:r>
              <a:rPr lang="en-US" sz="1300" dirty="0">
                <a:solidFill>
                  <a:srgbClr val="11344E"/>
                </a:solidFill>
                <a:latin typeface="Arial" pitchFamily="34" charset="0"/>
                <a:ea typeface="Arial" pitchFamily="34" charset="-122"/>
                <a:cs typeface="Arial" pitchFamily="34" charset="-120"/>
              </a:rPr>
              <a:t>Keep a “needs practice” list as we work. It becomes your study plan for tonight.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Test 1 at a glance</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Friday, September 25, in class</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3</a:t>
            </a:r>
            <a:endParaRPr lang="en-US" sz="800" dirty="0"/>
          </a:p>
        </p:txBody>
      </p:sp>
      <p:sp>
        <p:nvSpPr>
          <p:cNvPr id="6" name="Shape 3"/>
          <p:cNvSpPr/>
          <p:nvPr/>
        </p:nvSpPr>
        <p:spPr>
          <a:xfrm>
            <a:off x="548640" y="1600200"/>
            <a:ext cx="2606040" cy="1828800"/>
          </a:xfrm>
          <a:prstGeom prst="roundRect">
            <a:avLst>
              <a:gd name="adj" fmla="val 4000"/>
            </a:avLst>
          </a:prstGeom>
          <a:solidFill>
            <a:srgbClr val="EEF4F9"/>
          </a:solidFill>
          <a:ln w="12700">
            <a:solidFill>
              <a:srgbClr val="EEF4F9"/>
            </a:solidFill>
            <a:prstDash val="solid"/>
          </a:ln>
        </p:spPr>
      </p:sp>
      <p:sp>
        <p:nvSpPr>
          <p:cNvPr id="7" name="Text 4"/>
          <p:cNvSpPr txBox="1"/>
          <p:nvPr/>
        </p:nvSpPr>
        <p:spPr>
          <a:xfrm>
            <a:off x="777240" y="1828800"/>
            <a:ext cx="2194560" cy="548640"/>
          </a:xfrm>
          <a:prstGeom prst="rect">
            <a:avLst/>
          </a:prstGeom>
          <a:noFill/>
          <a:ln/>
        </p:spPr>
        <p:txBody>
          <a:bodyPr wrap="square" lIns="0" tIns="0" rIns="0" bIns="0" rtlCol="0" anchor="t"/>
          <a:lstStyle/>
          <a:p>
            <a:pPr indent="0" marL="0">
              <a:buNone/>
            </a:pPr>
            <a:r>
              <a:rPr lang="en-US" sz="2100" b="1" dirty="0">
                <a:solidFill>
                  <a:srgbClr val="1777B4"/>
                </a:solidFill>
                <a:latin typeface="Arial" pitchFamily="34" charset="0"/>
                <a:ea typeface="Arial" pitchFamily="34" charset="-122"/>
                <a:cs typeface="Arial" pitchFamily="34" charset="-120"/>
              </a:rPr>
              <a:t>Friday, Sep 25</a:t>
            </a:r>
            <a:endParaRPr lang="en-US" sz="2100" dirty="0"/>
          </a:p>
        </p:txBody>
      </p:sp>
      <p:sp>
        <p:nvSpPr>
          <p:cNvPr id="8" name="Text 5"/>
          <p:cNvSpPr txBox="1"/>
          <p:nvPr/>
        </p:nvSpPr>
        <p:spPr>
          <a:xfrm>
            <a:off x="777240" y="2468880"/>
            <a:ext cx="2194560" cy="73152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In class, on paper</a:t>
            </a:r>
            <a:endParaRPr lang="en-US" sz="1400" dirty="0"/>
          </a:p>
        </p:txBody>
      </p:sp>
      <p:sp>
        <p:nvSpPr>
          <p:cNvPr id="9" name="Shape 6"/>
          <p:cNvSpPr/>
          <p:nvPr/>
        </p:nvSpPr>
        <p:spPr>
          <a:xfrm>
            <a:off x="3383280" y="1600200"/>
            <a:ext cx="2606040" cy="1828800"/>
          </a:xfrm>
          <a:prstGeom prst="roundRect">
            <a:avLst>
              <a:gd name="adj" fmla="val 4000"/>
            </a:avLst>
          </a:prstGeom>
          <a:solidFill>
            <a:srgbClr val="EEF4F9"/>
          </a:solidFill>
          <a:ln w="12700">
            <a:solidFill>
              <a:srgbClr val="EEF4F9"/>
            </a:solidFill>
            <a:prstDash val="solid"/>
          </a:ln>
        </p:spPr>
      </p:sp>
      <p:sp>
        <p:nvSpPr>
          <p:cNvPr id="10" name="Text 7"/>
          <p:cNvSpPr txBox="1"/>
          <p:nvPr/>
        </p:nvSpPr>
        <p:spPr>
          <a:xfrm>
            <a:off x="3611880" y="1828800"/>
            <a:ext cx="2194560" cy="548640"/>
          </a:xfrm>
          <a:prstGeom prst="rect">
            <a:avLst/>
          </a:prstGeom>
          <a:noFill/>
          <a:ln/>
        </p:spPr>
        <p:txBody>
          <a:bodyPr wrap="square" lIns="0" tIns="0" rIns="0" bIns="0" rtlCol="0" anchor="t"/>
          <a:lstStyle/>
          <a:p>
            <a:pPr indent="0" marL="0">
              <a:buNone/>
            </a:pPr>
            <a:r>
              <a:rPr lang="en-US" sz="2100" b="1" dirty="0">
                <a:solidFill>
                  <a:srgbClr val="1777B4"/>
                </a:solidFill>
                <a:latin typeface="Arial" pitchFamily="34" charset="0"/>
                <a:ea typeface="Arial" pitchFamily="34" charset="-122"/>
                <a:cs typeface="Arial" pitchFamily="34" charset="-120"/>
              </a:rPr>
              <a:t>50 minutes</a:t>
            </a:r>
            <a:endParaRPr lang="en-US" sz="2100" dirty="0"/>
          </a:p>
        </p:txBody>
      </p:sp>
      <p:sp>
        <p:nvSpPr>
          <p:cNvPr id="11" name="Text 8"/>
          <p:cNvSpPr txBox="1"/>
          <p:nvPr/>
        </p:nvSpPr>
        <p:spPr>
          <a:xfrm>
            <a:off x="3611880" y="2468880"/>
            <a:ext cx="2194560" cy="73152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Plan about three minutes per skill</a:t>
            </a:r>
            <a:endParaRPr lang="en-US" sz="1400" dirty="0"/>
          </a:p>
        </p:txBody>
      </p:sp>
      <p:sp>
        <p:nvSpPr>
          <p:cNvPr id="12" name="Shape 9"/>
          <p:cNvSpPr/>
          <p:nvPr/>
        </p:nvSpPr>
        <p:spPr>
          <a:xfrm>
            <a:off x="6217920" y="1600200"/>
            <a:ext cx="2606040" cy="1828800"/>
          </a:xfrm>
          <a:prstGeom prst="roundRect">
            <a:avLst>
              <a:gd name="adj" fmla="val 4000"/>
            </a:avLst>
          </a:prstGeom>
          <a:solidFill>
            <a:srgbClr val="EEF4F9"/>
          </a:solidFill>
          <a:ln w="12700">
            <a:solidFill>
              <a:srgbClr val="EEF4F9"/>
            </a:solidFill>
            <a:prstDash val="solid"/>
          </a:ln>
        </p:spPr>
      </p:sp>
      <p:sp>
        <p:nvSpPr>
          <p:cNvPr id="13" name="Text 10"/>
          <p:cNvSpPr txBox="1"/>
          <p:nvPr/>
        </p:nvSpPr>
        <p:spPr>
          <a:xfrm>
            <a:off x="6446520" y="1828800"/>
            <a:ext cx="2194560" cy="548640"/>
          </a:xfrm>
          <a:prstGeom prst="rect">
            <a:avLst/>
          </a:prstGeom>
          <a:noFill/>
          <a:ln/>
        </p:spPr>
        <p:txBody>
          <a:bodyPr wrap="square" lIns="0" tIns="0" rIns="0" bIns="0" rtlCol="0" anchor="t"/>
          <a:lstStyle/>
          <a:p>
            <a:pPr indent="0" marL="0">
              <a:buNone/>
            </a:pPr>
            <a:r>
              <a:rPr lang="en-US" sz="2100" b="1" dirty="0">
                <a:solidFill>
                  <a:srgbClr val="1777B4"/>
                </a:solidFill>
                <a:latin typeface="Arial" pitchFamily="34" charset="0"/>
                <a:ea typeface="Arial" pitchFamily="34" charset="-122"/>
                <a:cs typeface="Arial" pitchFamily="34" charset="-120"/>
              </a:rPr>
              <a:t>Show your work</a:t>
            </a:r>
            <a:endParaRPr lang="en-US" sz="2100" dirty="0"/>
          </a:p>
        </p:txBody>
      </p:sp>
      <p:sp>
        <p:nvSpPr>
          <p:cNvPr id="14" name="Text 11"/>
          <p:cNvSpPr txBox="1"/>
          <p:nvPr/>
        </p:nvSpPr>
        <p:spPr>
          <a:xfrm>
            <a:off x="6446520" y="2468880"/>
            <a:ext cx="2194560" cy="73152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Valid progress earns partial credit</a:t>
            </a:r>
            <a:endParaRPr lang="en-US" sz="1400" dirty="0"/>
          </a:p>
        </p:txBody>
      </p:sp>
      <p:sp>
        <p:nvSpPr>
          <p:cNvPr id="15" name="Shape 12"/>
          <p:cNvSpPr/>
          <p:nvPr/>
        </p:nvSpPr>
        <p:spPr>
          <a:xfrm>
            <a:off x="9052560" y="1600200"/>
            <a:ext cx="2606040" cy="1828800"/>
          </a:xfrm>
          <a:prstGeom prst="roundRect">
            <a:avLst>
              <a:gd name="adj" fmla="val 4000"/>
            </a:avLst>
          </a:prstGeom>
          <a:solidFill>
            <a:srgbClr val="EEF4F9"/>
          </a:solidFill>
          <a:ln w="12700">
            <a:solidFill>
              <a:srgbClr val="EEF4F9"/>
            </a:solidFill>
            <a:prstDash val="solid"/>
          </a:ln>
        </p:spPr>
      </p:sp>
      <p:sp>
        <p:nvSpPr>
          <p:cNvPr id="16" name="Text 13"/>
          <p:cNvSpPr txBox="1"/>
          <p:nvPr/>
        </p:nvSpPr>
        <p:spPr>
          <a:xfrm>
            <a:off x="9281160" y="1828800"/>
            <a:ext cx="2194560" cy="548640"/>
          </a:xfrm>
          <a:prstGeom prst="rect">
            <a:avLst/>
          </a:prstGeom>
          <a:noFill/>
          <a:ln/>
        </p:spPr>
        <p:txBody>
          <a:bodyPr wrap="square" lIns="0" tIns="0" rIns="0" bIns="0" rtlCol="0" anchor="t"/>
          <a:lstStyle/>
          <a:p>
            <a:pPr indent="0" marL="0">
              <a:buNone/>
            </a:pPr>
            <a:r>
              <a:rPr lang="en-US" sz="2100" b="1" dirty="0">
                <a:solidFill>
                  <a:srgbClr val="1777B4"/>
                </a:solidFill>
                <a:latin typeface="Arial" pitchFamily="34" charset="0"/>
                <a:ea typeface="Arial" pitchFamily="34" charset="-122"/>
                <a:cs typeface="Arial" pitchFamily="34" charset="-120"/>
              </a:rPr>
              <a:t>Exact answers</a:t>
            </a:r>
            <a:endParaRPr lang="en-US" sz="2100" dirty="0"/>
          </a:p>
        </p:txBody>
      </p:sp>
      <p:sp>
        <p:nvSpPr>
          <p:cNvPr id="17" name="Text 14"/>
          <p:cNvSpPr txBox="1"/>
          <p:nvPr/>
        </p:nvSpPr>
        <p:spPr>
          <a:xfrm>
            <a:off x="9281160" y="2468880"/>
            <a:ext cx="2194560" cy="73152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Fractions and radicals, not decimals</a:t>
            </a:r>
            <a:endParaRPr lang="en-US" sz="1400" dirty="0"/>
          </a:p>
        </p:txBody>
      </p:sp>
      <p:sp>
        <p:nvSpPr>
          <p:cNvPr id="18" name="Shape 15"/>
          <p:cNvSpPr/>
          <p:nvPr/>
        </p:nvSpPr>
        <p:spPr>
          <a:xfrm>
            <a:off x="548640" y="3657600"/>
            <a:ext cx="11064240" cy="731520"/>
          </a:xfrm>
          <a:prstGeom prst="roundRect">
            <a:avLst>
              <a:gd name="adj" fmla="val 10000"/>
            </a:avLst>
          </a:prstGeom>
          <a:solidFill>
            <a:srgbClr val="FBEDEB"/>
          </a:solidFill>
          <a:ln w="12700">
            <a:solidFill>
              <a:srgbClr val="FBEDEB"/>
            </a:solidFill>
            <a:prstDash val="solid"/>
          </a:ln>
        </p:spPr>
      </p:sp>
      <p:sp>
        <p:nvSpPr>
          <p:cNvPr id="19" name="Text 16"/>
          <p:cNvSpPr txBox="1"/>
          <p:nvPr/>
        </p:nvSpPr>
        <p:spPr>
          <a:xfrm>
            <a:off x="822960" y="3657600"/>
            <a:ext cx="10515600" cy="731520"/>
          </a:xfrm>
          <a:prstGeom prst="rect">
            <a:avLst/>
          </a:prstGeom>
          <a:noFill/>
          <a:ln/>
        </p:spPr>
        <p:txBody>
          <a:bodyPr wrap="square" lIns="0" tIns="0" rIns="0" bIns="0" rtlCol="0" anchor="ctr"/>
          <a:lstStyle/>
          <a:p>
            <a:pPr indent="0" marL="0">
              <a:buNone/>
            </a:pPr>
            <a:r>
              <a:rPr lang="en-US" sz="1700" b="1" dirty="0">
                <a:solidFill>
                  <a:srgbClr val="B03A2E"/>
                </a:solidFill>
                <a:latin typeface="Arial" pitchFamily="34" charset="0"/>
                <a:ea typeface="Arial" pitchFamily="34" charset="-122"/>
                <a:cs typeface="Arial" pitchFamily="34" charset="-120"/>
              </a:rPr>
              <a:t>No formulas are provided on the test. Know every formula on the next slide from memory.</a:t>
            </a:r>
            <a:endParaRPr lang="en-US" sz="1700" dirty="0"/>
          </a:p>
        </p:txBody>
      </p:sp>
      <p:sp>
        <p:nvSpPr>
          <p:cNvPr id="20" name="Text 17"/>
          <p:cNvSpPr txBox="1"/>
          <p:nvPr/>
        </p:nvSpPr>
        <p:spPr>
          <a:xfrm>
            <a:off x="548640" y="4572000"/>
            <a:ext cx="3657600" cy="365760"/>
          </a:xfrm>
          <a:prstGeom prst="rect">
            <a:avLst/>
          </a:prstGeom>
          <a:noFill/>
          <a:ln/>
        </p:spPr>
        <p:txBody>
          <a:bodyPr wrap="square" lIns="0" tIns="0" rIns="0" bIns="0" rtlCol="0" anchor="t"/>
          <a:lstStyle/>
          <a:p>
            <a:pPr indent="0" marL="0">
              <a:buNone/>
            </a:pPr>
            <a:r>
              <a:rPr lang="en-US" sz="1800" b="1" dirty="0">
                <a:solidFill>
                  <a:srgbClr val="11344E"/>
                </a:solidFill>
                <a:latin typeface="Arial" pitchFamily="34" charset="0"/>
                <a:ea typeface="Arial" pitchFamily="34" charset="-122"/>
                <a:cs typeface="Arial" pitchFamily="34" charset="-120"/>
              </a:rPr>
              <a:t>Coverage</a:t>
            </a:r>
            <a:endParaRPr lang="en-US" sz="1800" dirty="0"/>
          </a:p>
        </p:txBody>
      </p:sp>
      <p:sp>
        <p:nvSpPr>
          <p:cNvPr id="21" name="Text 18"/>
          <p:cNvSpPr txBox="1"/>
          <p:nvPr/>
        </p:nvSpPr>
        <p:spPr>
          <a:xfrm>
            <a:off x="548640" y="4983480"/>
            <a:ext cx="11064240" cy="128016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rgbClr val="11344E"/>
                </a:solidFill>
                <a:latin typeface="Arial" pitchFamily="34" charset="0"/>
                <a:ea typeface="Arial" pitchFamily="34" charset="-122"/>
                <a:cs typeface="Arial" pitchFamily="34" charset="-120"/>
              </a:rPr>
              <a:t>Chapter R, Chapter 1, and Chapter 2 through Section 2.5.</a:t>
            </a:r>
            <a:endParaRPr lang="en-US" sz="1500" dirty="0"/>
          </a:p>
          <a:p>
            <a:pPr algn="l" marL="342900" indent="-342900">
              <a:spcAft>
                <a:spcPts val="600"/>
              </a:spcAft>
              <a:buSzPct val="100000"/>
              <a:buChar char="•"/>
            </a:pPr>
            <a:r>
              <a:rPr lang="en-US" sz="1500" dirty="0">
                <a:solidFill>
                  <a:srgbClr val="11344E"/>
                </a:solidFill>
                <a:latin typeface="Arial" pitchFamily="34" charset="0"/>
                <a:ea typeface="Arial" pitchFamily="34" charset="-122"/>
                <a:cs typeface="Arial" pitchFamily="34" charset="-120"/>
              </a:rPr>
              <a:t>From Section 3.1: the maximum height of a projectile (the vertex of a quadratic model).</a:t>
            </a:r>
            <a:endParaRPr lang="en-US" sz="1500" dirty="0"/>
          </a:p>
          <a:p>
            <a:pPr algn="l" marL="342900" indent="-342900">
              <a:spcAft>
                <a:spcPts val="600"/>
              </a:spcAft>
              <a:buSzPct val="100000"/>
              <a:buChar char="•"/>
            </a:pPr>
            <a:r>
              <a:rPr lang="en-US" sz="1500" dirty="0">
                <a:solidFill>
                  <a:srgbClr val="11344E"/>
                </a:solidFill>
                <a:latin typeface="Arial" pitchFamily="34" charset="0"/>
                <a:ea typeface="Arial" pitchFamily="34" charset="-122"/>
                <a:cs typeface="Arial" pitchFamily="34" charset="-120"/>
              </a:rPr>
              <a:t>Read each direction line. “Check solutions in the original equation” is part of the task.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Formulas to memorize</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No formulas are provided on the test. Write each one from memory tonight.</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4</a:t>
            </a:r>
            <a:endParaRPr lang="en-US" sz="800" dirty="0"/>
          </a:p>
        </p:txBody>
      </p:sp>
      <p:sp>
        <p:nvSpPr>
          <p:cNvPr id="6" name="Shape 3"/>
          <p:cNvSpPr/>
          <p:nvPr/>
        </p:nvSpPr>
        <p:spPr>
          <a:xfrm>
            <a:off x="548640" y="1508760"/>
            <a:ext cx="3566160" cy="1371600"/>
          </a:xfrm>
          <a:prstGeom prst="roundRect">
            <a:avLst>
              <a:gd name="adj" fmla="val 5333"/>
            </a:avLst>
          </a:prstGeom>
          <a:solidFill>
            <a:srgbClr val="EEF4F9"/>
          </a:solidFill>
          <a:ln w="12700">
            <a:solidFill>
              <a:srgbClr val="EEF4F9"/>
            </a:solidFill>
            <a:prstDash val="solid"/>
          </a:ln>
        </p:spPr>
      </p:sp>
      <p:sp>
        <p:nvSpPr>
          <p:cNvPr id="7" name="Text 4"/>
          <p:cNvSpPr txBox="1"/>
          <p:nvPr/>
        </p:nvSpPr>
        <p:spPr>
          <a:xfrm>
            <a:off x="777240" y="169164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Midpoint</a:t>
            </a:r>
            <a:endParaRPr lang="en-US" sz="1400" dirty="0"/>
          </a:p>
        </p:txBody>
      </p:sp>
      <p:sp>
        <p:nvSpPr>
          <p:cNvPr id="8" name="Text 5"/>
          <p:cNvSpPr txBox="1"/>
          <p:nvPr/>
        </p:nvSpPr>
        <p:spPr>
          <a:xfrm>
            <a:off x="777240" y="2194560"/>
            <a:ext cx="731520" cy="365760"/>
          </a:xfrm>
          <a:prstGeom prst="rect">
            <a:avLst/>
          </a:prstGeom>
          <a:noFill/>
          <a:ln/>
        </p:spPr>
        <p:txBody>
          <a:bodyPr wrap="square" lIns="0" tIns="0" rIns="0" bIns="0" rtlCol="0" anchor="t"/>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M = (</a:t>
            </a:r>
            <a:endParaRPr lang="en-US" sz="1800" dirty="0"/>
          </a:p>
        </p:txBody>
      </p:sp>
      <p:sp>
        <p:nvSpPr>
          <p:cNvPr id="9" name="Text 6"/>
          <p:cNvSpPr txBox="1"/>
          <p:nvPr/>
        </p:nvSpPr>
        <p:spPr>
          <a:xfrm>
            <a:off x="1435608" y="2011680"/>
            <a:ext cx="960120" cy="280670"/>
          </a:xfrm>
          <a:prstGeom prst="rect">
            <a:avLst/>
          </a:prstGeom>
          <a:noFill/>
          <a:ln/>
        </p:spPr>
        <p:txBody>
          <a:bodyPr wrap="square" lIns="0" tIns="0" rIns="0" bIns="0" rtlCol="0" anchor="b"/>
          <a:lstStyle/>
          <a:p>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x</a:t>
            </a:r>
            <a:pPr algn="ctr" indent="0" marL="0">
              <a:buNone/>
            </a:pPr>
            <a:r>
              <a:rPr lang="en-US" sz="1700" baseline="-40000" dirty="0">
                <a:solidFill>
                  <a:srgbClr val="11344E"/>
                </a:solidFill>
                <a:latin typeface="Times New Roman" pitchFamily="34" charset="0"/>
                <a:ea typeface="Times New Roman" pitchFamily="34" charset="-122"/>
                <a:cs typeface="Times New Roman" pitchFamily="34" charset="-120"/>
              </a:rPr>
              <a:t>1</a:t>
            </a:r>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 + x</a:t>
            </a:r>
            <a:pPr algn="ctr" indent="0" marL="0">
              <a:buNone/>
            </a:pPr>
            <a:r>
              <a:rPr lang="en-US" sz="1700" baseline="-40000" dirty="0">
                <a:solidFill>
                  <a:srgbClr val="11344E"/>
                </a:solidFill>
                <a:latin typeface="Times New Roman" pitchFamily="34" charset="0"/>
                <a:ea typeface="Times New Roman" pitchFamily="34" charset="-122"/>
                <a:cs typeface="Times New Roman" pitchFamily="34" charset="-120"/>
              </a:rPr>
              <a:t>2</a:t>
            </a:r>
            <a:endParaRPr lang="en-US" sz="1700" dirty="0"/>
          </a:p>
        </p:txBody>
      </p:sp>
      <p:sp>
        <p:nvSpPr>
          <p:cNvPr id="10" name="Shape 7"/>
          <p:cNvSpPr/>
          <p:nvPr/>
        </p:nvSpPr>
        <p:spPr>
          <a:xfrm>
            <a:off x="1481328" y="2319782"/>
            <a:ext cx="868680" cy="0"/>
          </a:xfrm>
          <a:prstGeom prst="line">
            <a:avLst/>
          </a:prstGeom>
          <a:noFill/>
          <a:ln w="12700">
            <a:solidFill>
              <a:srgbClr val="11344E"/>
            </a:solidFill>
            <a:prstDash val="solid"/>
          </a:ln>
        </p:spPr>
      </p:sp>
      <p:sp>
        <p:nvSpPr>
          <p:cNvPr id="11" name="Text 8"/>
          <p:cNvSpPr txBox="1"/>
          <p:nvPr/>
        </p:nvSpPr>
        <p:spPr>
          <a:xfrm>
            <a:off x="1435608" y="2356358"/>
            <a:ext cx="960120" cy="280670"/>
          </a:xfrm>
          <a:prstGeom prst="rect">
            <a:avLst/>
          </a:prstGeom>
          <a:noFill/>
          <a:ln/>
        </p:spPr>
        <p:txBody>
          <a:bodyPr wrap="square" lIns="0" tIns="0" rIns="0" bIns="0" rtlCol="0" anchor="t"/>
          <a:lstStyle/>
          <a:p>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2</a:t>
            </a:r>
            <a:endParaRPr lang="en-US" sz="1700" dirty="0"/>
          </a:p>
        </p:txBody>
      </p:sp>
      <p:sp>
        <p:nvSpPr>
          <p:cNvPr id="12" name="Text 9"/>
          <p:cNvSpPr txBox="1"/>
          <p:nvPr/>
        </p:nvSpPr>
        <p:spPr>
          <a:xfrm>
            <a:off x="2404872" y="2194560"/>
            <a:ext cx="182880" cy="365760"/>
          </a:xfrm>
          <a:prstGeom prst="rect">
            <a:avLst/>
          </a:prstGeom>
          <a:noFill/>
          <a:ln/>
        </p:spPr>
        <p:txBody>
          <a:bodyPr wrap="square" lIns="0" tIns="0" rIns="0" bIns="0" rtlCol="0" anchor="t"/>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a:t>
            </a:r>
            <a:endParaRPr lang="en-US" sz="1800" dirty="0"/>
          </a:p>
        </p:txBody>
      </p:sp>
      <p:sp>
        <p:nvSpPr>
          <p:cNvPr id="13" name="Text 10"/>
          <p:cNvSpPr txBox="1"/>
          <p:nvPr/>
        </p:nvSpPr>
        <p:spPr>
          <a:xfrm>
            <a:off x="2560320" y="2011680"/>
            <a:ext cx="960120" cy="280670"/>
          </a:xfrm>
          <a:prstGeom prst="rect">
            <a:avLst/>
          </a:prstGeom>
          <a:noFill/>
          <a:ln/>
        </p:spPr>
        <p:txBody>
          <a:bodyPr wrap="square" lIns="0" tIns="0" rIns="0" bIns="0" rtlCol="0" anchor="b"/>
          <a:lstStyle/>
          <a:p>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y</a:t>
            </a:r>
            <a:pPr algn="ctr" indent="0" marL="0">
              <a:buNone/>
            </a:pPr>
            <a:r>
              <a:rPr lang="en-US" sz="1700" baseline="-40000" dirty="0">
                <a:solidFill>
                  <a:srgbClr val="11344E"/>
                </a:solidFill>
                <a:latin typeface="Times New Roman" pitchFamily="34" charset="0"/>
                <a:ea typeface="Times New Roman" pitchFamily="34" charset="-122"/>
                <a:cs typeface="Times New Roman" pitchFamily="34" charset="-120"/>
              </a:rPr>
              <a:t>1</a:t>
            </a:r>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 + y</a:t>
            </a:r>
            <a:pPr algn="ctr" indent="0" marL="0">
              <a:buNone/>
            </a:pPr>
            <a:r>
              <a:rPr lang="en-US" sz="1700" baseline="-40000" dirty="0">
                <a:solidFill>
                  <a:srgbClr val="11344E"/>
                </a:solidFill>
                <a:latin typeface="Times New Roman" pitchFamily="34" charset="0"/>
                <a:ea typeface="Times New Roman" pitchFamily="34" charset="-122"/>
                <a:cs typeface="Times New Roman" pitchFamily="34" charset="-120"/>
              </a:rPr>
              <a:t>2</a:t>
            </a:r>
            <a:endParaRPr lang="en-US" sz="1700" dirty="0"/>
          </a:p>
        </p:txBody>
      </p:sp>
      <p:sp>
        <p:nvSpPr>
          <p:cNvPr id="14" name="Shape 11"/>
          <p:cNvSpPr/>
          <p:nvPr/>
        </p:nvSpPr>
        <p:spPr>
          <a:xfrm>
            <a:off x="2606040" y="2319782"/>
            <a:ext cx="868680" cy="0"/>
          </a:xfrm>
          <a:prstGeom prst="line">
            <a:avLst/>
          </a:prstGeom>
          <a:noFill/>
          <a:ln w="12700">
            <a:solidFill>
              <a:srgbClr val="11344E"/>
            </a:solidFill>
            <a:prstDash val="solid"/>
          </a:ln>
        </p:spPr>
      </p:sp>
      <p:sp>
        <p:nvSpPr>
          <p:cNvPr id="15" name="Text 12"/>
          <p:cNvSpPr txBox="1"/>
          <p:nvPr/>
        </p:nvSpPr>
        <p:spPr>
          <a:xfrm>
            <a:off x="2560320" y="2356358"/>
            <a:ext cx="960120" cy="280670"/>
          </a:xfrm>
          <a:prstGeom prst="rect">
            <a:avLst/>
          </a:prstGeom>
          <a:noFill/>
          <a:ln/>
        </p:spPr>
        <p:txBody>
          <a:bodyPr wrap="square" lIns="0" tIns="0" rIns="0" bIns="0" rtlCol="0" anchor="t"/>
          <a:lstStyle/>
          <a:p>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2</a:t>
            </a:r>
            <a:endParaRPr lang="en-US" sz="1700" dirty="0"/>
          </a:p>
        </p:txBody>
      </p:sp>
      <p:sp>
        <p:nvSpPr>
          <p:cNvPr id="16" name="Text 13"/>
          <p:cNvSpPr txBox="1"/>
          <p:nvPr/>
        </p:nvSpPr>
        <p:spPr>
          <a:xfrm>
            <a:off x="3520440" y="2194560"/>
            <a:ext cx="182880" cy="365760"/>
          </a:xfrm>
          <a:prstGeom prst="rect">
            <a:avLst/>
          </a:prstGeom>
          <a:noFill/>
          <a:ln/>
        </p:spPr>
        <p:txBody>
          <a:bodyPr wrap="square" lIns="0" tIns="0" rIns="0" bIns="0" rtlCol="0" anchor="t"/>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a:t>
            </a:r>
            <a:endParaRPr lang="en-US" sz="1800" dirty="0"/>
          </a:p>
        </p:txBody>
      </p:sp>
      <p:sp>
        <p:nvSpPr>
          <p:cNvPr id="17" name="Shape 14"/>
          <p:cNvSpPr/>
          <p:nvPr/>
        </p:nvSpPr>
        <p:spPr>
          <a:xfrm>
            <a:off x="4297680" y="1508760"/>
            <a:ext cx="3566160" cy="1371600"/>
          </a:xfrm>
          <a:prstGeom prst="roundRect">
            <a:avLst>
              <a:gd name="adj" fmla="val 5333"/>
            </a:avLst>
          </a:prstGeom>
          <a:solidFill>
            <a:srgbClr val="EEF4F9"/>
          </a:solidFill>
          <a:ln w="12700">
            <a:solidFill>
              <a:srgbClr val="EEF4F9"/>
            </a:solidFill>
            <a:prstDash val="solid"/>
          </a:ln>
        </p:spPr>
      </p:sp>
      <p:sp>
        <p:nvSpPr>
          <p:cNvPr id="18" name="Text 15"/>
          <p:cNvSpPr txBox="1"/>
          <p:nvPr/>
        </p:nvSpPr>
        <p:spPr>
          <a:xfrm>
            <a:off x="4526280" y="169164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Distance</a:t>
            </a:r>
            <a:endParaRPr lang="en-US" sz="1400" dirty="0"/>
          </a:p>
        </p:txBody>
      </p:sp>
      <p:sp>
        <p:nvSpPr>
          <p:cNvPr id="19" name="Text 16"/>
          <p:cNvSpPr txBox="1"/>
          <p:nvPr/>
        </p:nvSpPr>
        <p:spPr>
          <a:xfrm>
            <a:off x="4526280" y="2103120"/>
            <a:ext cx="3200400" cy="548640"/>
          </a:xfrm>
          <a:prstGeom prst="rect">
            <a:avLst/>
          </a:prstGeom>
          <a:noFill/>
          <a:ln/>
        </p:spPr>
        <p:txBody>
          <a:bodyPr wrap="square" lIns="0" tIns="0" rIns="0" bIns="0" rtlCol="0" anchor="ctr"/>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d = √((x</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2</a:t>
            </a:r>
            <a:pPr indent="0" marL="0">
              <a:buNone/>
            </a:pPr>
            <a:r>
              <a:rPr lang="en-US" sz="1800" dirty="0">
                <a:solidFill>
                  <a:srgbClr val="11344E"/>
                </a:solidFill>
                <a:latin typeface="Times New Roman" pitchFamily="34" charset="0"/>
                <a:ea typeface="Times New Roman" pitchFamily="34" charset="-122"/>
                <a:cs typeface="Times New Roman" pitchFamily="34" charset="-120"/>
              </a:rPr>
              <a:t> − x</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1</a:t>
            </a:r>
            <a:pPr indent="0" marL="0">
              <a:buNone/>
            </a:pPr>
            <a:r>
              <a:rPr lang="en-US" sz="1800" dirty="0">
                <a:solidFill>
                  <a:srgbClr val="11344E"/>
                </a:solidFill>
                <a:latin typeface="Times New Roman" pitchFamily="34" charset="0"/>
                <a:ea typeface="Times New Roman" pitchFamily="34" charset="-122"/>
                <a:cs typeface="Times New Roman" pitchFamily="34" charset="-120"/>
              </a:rPr>
              <a:t>)</a:t>
            </a:r>
            <a:pPr indent="0" marL="0">
              <a:buNone/>
            </a:pPr>
            <a:r>
              <a:rPr lang="en-US" sz="18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1800" dirty="0">
                <a:solidFill>
                  <a:srgbClr val="11344E"/>
                </a:solidFill>
                <a:latin typeface="Times New Roman" pitchFamily="34" charset="0"/>
                <a:ea typeface="Times New Roman" pitchFamily="34" charset="-122"/>
                <a:cs typeface="Times New Roman" pitchFamily="34" charset="-120"/>
              </a:rPr>
              <a:t> + (y</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2</a:t>
            </a:r>
            <a:pPr indent="0" marL="0">
              <a:buNone/>
            </a:pPr>
            <a:r>
              <a:rPr lang="en-US" sz="1800" dirty="0">
                <a:solidFill>
                  <a:srgbClr val="11344E"/>
                </a:solidFill>
                <a:latin typeface="Times New Roman" pitchFamily="34" charset="0"/>
                <a:ea typeface="Times New Roman" pitchFamily="34" charset="-122"/>
                <a:cs typeface="Times New Roman" pitchFamily="34" charset="-120"/>
              </a:rPr>
              <a:t> − y</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1</a:t>
            </a:r>
            <a:pPr indent="0" marL="0">
              <a:buNone/>
            </a:pPr>
            <a:r>
              <a:rPr lang="en-US" sz="1800" dirty="0">
                <a:solidFill>
                  <a:srgbClr val="11344E"/>
                </a:solidFill>
                <a:latin typeface="Times New Roman" pitchFamily="34" charset="0"/>
                <a:ea typeface="Times New Roman" pitchFamily="34" charset="-122"/>
                <a:cs typeface="Times New Roman" pitchFamily="34" charset="-120"/>
              </a:rPr>
              <a:t>)</a:t>
            </a:r>
            <a:pPr indent="0" marL="0">
              <a:buNone/>
            </a:pPr>
            <a:r>
              <a:rPr lang="en-US" sz="18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1800" dirty="0">
                <a:solidFill>
                  <a:srgbClr val="11344E"/>
                </a:solidFill>
                <a:latin typeface="Times New Roman" pitchFamily="34" charset="0"/>
                <a:ea typeface="Times New Roman" pitchFamily="34" charset="-122"/>
                <a:cs typeface="Times New Roman" pitchFamily="34" charset="-120"/>
              </a:rPr>
              <a:t>)</a:t>
            </a:r>
            <a:endParaRPr lang="en-US" sz="1800" dirty="0"/>
          </a:p>
        </p:txBody>
      </p:sp>
      <p:sp>
        <p:nvSpPr>
          <p:cNvPr id="20" name="Shape 17"/>
          <p:cNvSpPr/>
          <p:nvPr/>
        </p:nvSpPr>
        <p:spPr>
          <a:xfrm>
            <a:off x="8046720" y="1508760"/>
            <a:ext cx="3566160" cy="1371600"/>
          </a:xfrm>
          <a:prstGeom prst="roundRect">
            <a:avLst>
              <a:gd name="adj" fmla="val 5333"/>
            </a:avLst>
          </a:prstGeom>
          <a:solidFill>
            <a:srgbClr val="EEF4F9"/>
          </a:solidFill>
          <a:ln w="12700">
            <a:solidFill>
              <a:srgbClr val="EEF4F9"/>
            </a:solidFill>
            <a:prstDash val="solid"/>
          </a:ln>
        </p:spPr>
      </p:sp>
      <p:sp>
        <p:nvSpPr>
          <p:cNvPr id="21" name="Text 18"/>
          <p:cNvSpPr txBox="1"/>
          <p:nvPr/>
        </p:nvSpPr>
        <p:spPr>
          <a:xfrm>
            <a:off x="8275320" y="169164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Slope</a:t>
            </a:r>
            <a:endParaRPr lang="en-US" sz="1400" dirty="0"/>
          </a:p>
        </p:txBody>
      </p:sp>
      <p:sp>
        <p:nvSpPr>
          <p:cNvPr id="22" name="Text 19"/>
          <p:cNvSpPr txBox="1"/>
          <p:nvPr/>
        </p:nvSpPr>
        <p:spPr>
          <a:xfrm>
            <a:off x="8275320" y="2194560"/>
            <a:ext cx="548640" cy="365760"/>
          </a:xfrm>
          <a:prstGeom prst="rect">
            <a:avLst/>
          </a:prstGeom>
          <a:noFill/>
          <a:ln/>
        </p:spPr>
        <p:txBody>
          <a:bodyPr wrap="square" lIns="0" tIns="0" rIns="0" bIns="0" rtlCol="0" anchor="t"/>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m =</a:t>
            </a:r>
            <a:endParaRPr lang="en-US" sz="1800" dirty="0"/>
          </a:p>
        </p:txBody>
      </p:sp>
      <p:sp>
        <p:nvSpPr>
          <p:cNvPr id="23" name="Text 20"/>
          <p:cNvSpPr txBox="1"/>
          <p:nvPr/>
        </p:nvSpPr>
        <p:spPr>
          <a:xfrm>
            <a:off x="8823960" y="2011680"/>
            <a:ext cx="1097280" cy="280670"/>
          </a:xfrm>
          <a:prstGeom prst="rect">
            <a:avLst/>
          </a:prstGeom>
          <a:noFill/>
          <a:ln/>
        </p:spPr>
        <p:txBody>
          <a:bodyPr wrap="square" lIns="0" tIns="0" rIns="0" bIns="0" rtlCol="0" anchor="b"/>
          <a:lstStyle/>
          <a:p>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y</a:t>
            </a:r>
            <a:pPr algn="ctr" indent="0" marL="0">
              <a:buNone/>
            </a:pPr>
            <a:r>
              <a:rPr lang="en-US" sz="1700" baseline="-40000" dirty="0">
                <a:solidFill>
                  <a:srgbClr val="11344E"/>
                </a:solidFill>
                <a:latin typeface="Times New Roman" pitchFamily="34" charset="0"/>
                <a:ea typeface="Times New Roman" pitchFamily="34" charset="-122"/>
                <a:cs typeface="Times New Roman" pitchFamily="34" charset="-120"/>
              </a:rPr>
              <a:t>2</a:t>
            </a:r>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 − y</a:t>
            </a:r>
            <a:pPr algn="ctr" indent="0" marL="0">
              <a:buNone/>
            </a:pPr>
            <a:r>
              <a:rPr lang="en-US" sz="1700" baseline="-40000" dirty="0">
                <a:solidFill>
                  <a:srgbClr val="11344E"/>
                </a:solidFill>
                <a:latin typeface="Times New Roman" pitchFamily="34" charset="0"/>
                <a:ea typeface="Times New Roman" pitchFamily="34" charset="-122"/>
                <a:cs typeface="Times New Roman" pitchFamily="34" charset="-120"/>
              </a:rPr>
              <a:t>1</a:t>
            </a:r>
            <a:endParaRPr lang="en-US" sz="1700" dirty="0"/>
          </a:p>
        </p:txBody>
      </p:sp>
      <p:sp>
        <p:nvSpPr>
          <p:cNvPr id="24" name="Shape 21"/>
          <p:cNvSpPr/>
          <p:nvPr/>
        </p:nvSpPr>
        <p:spPr>
          <a:xfrm>
            <a:off x="8869680" y="2319782"/>
            <a:ext cx="1005840" cy="0"/>
          </a:xfrm>
          <a:prstGeom prst="line">
            <a:avLst/>
          </a:prstGeom>
          <a:noFill/>
          <a:ln w="12700">
            <a:solidFill>
              <a:srgbClr val="11344E"/>
            </a:solidFill>
            <a:prstDash val="solid"/>
          </a:ln>
        </p:spPr>
      </p:sp>
      <p:sp>
        <p:nvSpPr>
          <p:cNvPr id="25" name="Text 22"/>
          <p:cNvSpPr txBox="1"/>
          <p:nvPr/>
        </p:nvSpPr>
        <p:spPr>
          <a:xfrm>
            <a:off x="8823960" y="2356358"/>
            <a:ext cx="1097280" cy="280670"/>
          </a:xfrm>
          <a:prstGeom prst="rect">
            <a:avLst/>
          </a:prstGeom>
          <a:noFill/>
          <a:ln/>
        </p:spPr>
        <p:txBody>
          <a:bodyPr wrap="square" lIns="0" tIns="0" rIns="0" bIns="0" rtlCol="0" anchor="t"/>
          <a:lstStyle/>
          <a:p>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x</a:t>
            </a:r>
            <a:pPr algn="ctr" indent="0" marL="0">
              <a:buNone/>
            </a:pPr>
            <a:r>
              <a:rPr lang="en-US" sz="1700" baseline="-40000" dirty="0">
                <a:solidFill>
                  <a:srgbClr val="11344E"/>
                </a:solidFill>
                <a:latin typeface="Times New Roman" pitchFamily="34" charset="0"/>
                <a:ea typeface="Times New Roman" pitchFamily="34" charset="-122"/>
                <a:cs typeface="Times New Roman" pitchFamily="34" charset="-120"/>
              </a:rPr>
              <a:t>2</a:t>
            </a:r>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 − x</a:t>
            </a:r>
            <a:pPr algn="ctr" indent="0" marL="0">
              <a:buNone/>
            </a:pPr>
            <a:r>
              <a:rPr lang="en-US" sz="1700" baseline="-40000" dirty="0">
                <a:solidFill>
                  <a:srgbClr val="11344E"/>
                </a:solidFill>
                <a:latin typeface="Times New Roman" pitchFamily="34" charset="0"/>
                <a:ea typeface="Times New Roman" pitchFamily="34" charset="-122"/>
                <a:cs typeface="Times New Roman" pitchFamily="34" charset="-120"/>
              </a:rPr>
              <a:t>1</a:t>
            </a:r>
            <a:endParaRPr lang="en-US" sz="1700" dirty="0"/>
          </a:p>
        </p:txBody>
      </p:sp>
      <p:sp>
        <p:nvSpPr>
          <p:cNvPr id="26" name="Shape 23"/>
          <p:cNvSpPr/>
          <p:nvPr/>
        </p:nvSpPr>
        <p:spPr>
          <a:xfrm>
            <a:off x="548640" y="3063240"/>
            <a:ext cx="3566160" cy="1371600"/>
          </a:xfrm>
          <a:prstGeom prst="roundRect">
            <a:avLst>
              <a:gd name="adj" fmla="val 5333"/>
            </a:avLst>
          </a:prstGeom>
          <a:solidFill>
            <a:srgbClr val="EEF4F9"/>
          </a:solidFill>
          <a:ln w="12700">
            <a:solidFill>
              <a:srgbClr val="EEF4F9"/>
            </a:solidFill>
            <a:prstDash val="solid"/>
          </a:ln>
        </p:spPr>
      </p:sp>
      <p:sp>
        <p:nvSpPr>
          <p:cNvPr id="27" name="Text 24"/>
          <p:cNvSpPr txBox="1"/>
          <p:nvPr/>
        </p:nvSpPr>
        <p:spPr>
          <a:xfrm>
            <a:off x="777240" y="324612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Point-slope form</a:t>
            </a:r>
            <a:endParaRPr lang="en-US" sz="1400" dirty="0"/>
          </a:p>
        </p:txBody>
      </p:sp>
      <p:sp>
        <p:nvSpPr>
          <p:cNvPr id="28" name="Text 25"/>
          <p:cNvSpPr txBox="1"/>
          <p:nvPr/>
        </p:nvSpPr>
        <p:spPr>
          <a:xfrm>
            <a:off x="777240" y="3657600"/>
            <a:ext cx="3200400" cy="548640"/>
          </a:xfrm>
          <a:prstGeom prst="rect">
            <a:avLst/>
          </a:prstGeom>
          <a:noFill/>
          <a:ln/>
        </p:spPr>
        <p:txBody>
          <a:bodyPr wrap="square" lIns="0" tIns="0" rIns="0" bIns="0" rtlCol="0" anchor="ctr"/>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y − y</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1</a:t>
            </a:r>
            <a:pPr indent="0" marL="0">
              <a:buNone/>
            </a:pPr>
            <a:r>
              <a:rPr lang="en-US" sz="1800" dirty="0">
                <a:solidFill>
                  <a:srgbClr val="11344E"/>
                </a:solidFill>
                <a:latin typeface="Times New Roman" pitchFamily="34" charset="0"/>
                <a:ea typeface="Times New Roman" pitchFamily="34" charset="-122"/>
                <a:cs typeface="Times New Roman" pitchFamily="34" charset="-120"/>
              </a:rPr>
              <a:t> = m(x − x</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1</a:t>
            </a:r>
            <a:pPr indent="0" marL="0">
              <a:buNone/>
            </a:pPr>
            <a:r>
              <a:rPr lang="en-US" sz="1800" dirty="0">
                <a:solidFill>
                  <a:srgbClr val="11344E"/>
                </a:solidFill>
                <a:latin typeface="Times New Roman" pitchFamily="34" charset="0"/>
                <a:ea typeface="Times New Roman" pitchFamily="34" charset="-122"/>
                <a:cs typeface="Times New Roman" pitchFamily="34" charset="-120"/>
              </a:rPr>
              <a:t>)</a:t>
            </a:r>
            <a:endParaRPr lang="en-US" sz="1800" dirty="0"/>
          </a:p>
        </p:txBody>
      </p:sp>
      <p:sp>
        <p:nvSpPr>
          <p:cNvPr id="29" name="Shape 26"/>
          <p:cNvSpPr/>
          <p:nvPr/>
        </p:nvSpPr>
        <p:spPr>
          <a:xfrm>
            <a:off x="4297680" y="3063240"/>
            <a:ext cx="3566160" cy="1371600"/>
          </a:xfrm>
          <a:prstGeom prst="roundRect">
            <a:avLst>
              <a:gd name="adj" fmla="val 5333"/>
            </a:avLst>
          </a:prstGeom>
          <a:solidFill>
            <a:srgbClr val="EEF4F9"/>
          </a:solidFill>
          <a:ln w="12700">
            <a:solidFill>
              <a:srgbClr val="EEF4F9"/>
            </a:solidFill>
            <a:prstDash val="solid"/>
          </a:ln>
        </p:spPr>
      </p:sp>
      <p:sp>
        <p:nvSpPr>
          <p:cNvPr id="30" name="Text 27"/>
          <p:cNvSpPr txBox="1"/>
          <p:nvPr/>
        </p:nvSpPr>
        <p:spPr>
          <a:xfrm>
            <a:off x="4526280" y="324612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Parallel and perpendicular</a:t>
            </a:r>
            <a:endParaRPr lang="en-US" sz="1400" dirty="0"/>
          </a:p>
        </p:txBody>
      </p:sp>
      <p:sp>
        <p:nvSpPr>
          <p:cNvPr id="31" name="Text 28"/>
          <p:cNvSpPr txBox="1"/>
          <p:nvPr/>
        </p:nvSpPr>
        <p:spPr>
          <a:xfrm>
            <a:off x="4526280" y="3657600"/>
            <a:ext cx="3200400" cy="548640"/>
          </a:xfrm>
          <a:prstGeom prst="rect">
            <a:avLst/>
          </a:prstGeom>
          <a:noFill/>
          <a:ln/>
        </p:spPr>
        <p:txBody>
          <a:bodyPr wrap="square" lIns="0" tIns="0" rIns="0" bIns="0" rtlCol="0" anchor="ctr"/>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m</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1</a:t>
            </a:r>
            <a:pPr indent="0" marL="0">
              <a:buNone/>
            </a:pPr>
            <a:r>
              <a:rPr lang="en-US" sz="1800" dirty="0">
                <a:solidFill>
                  <a:srgbClr val="11344E"/>
                </a:solidFill>
                <a:latin typeface="Times New Roman" pitchFamily="34" charset="0"/>
                <a:ea typeface="Times New Roman" pitchFamily="34" charset="-122"/>
                <a:cs typeface="Times New Roman" pitchFamily="34" charset="-120"/>
              </a:rPr>
              <a:t> = m</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2</a:t>
            </a:r>
            <a:pPr indent="0" marL="0">
              <a:buNone/>
            </a:pPr>
            <a:r>
              <a:rPr lang="en-US" sz="1800" dirty="0">
                <a:solidFill>
                  <a:srgbClr val="11344E"/>
                </a:solidFill>
                <a:latin typeface="Times New Roman" pitchFamily="34" charset="0"/>
                <a:ea typeface="Times New Roman" pitchFamily="34" charset="-122"/>
                <a:cs typeface="Times New Roman" pitchFamily="34" charset="-120"/>
              </a:rPr>
              <a:t>        m</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1</a:t>
            </a:r>
            <a:pPr indent="0" marL="0">
              <a:buNone/>
            </a:pPr>
            <a:r>
              <a:rPr lang="en-US" sz="1800" dirty="0">
                <a:solidFill>
                  <a:srgbClr val="11344E"/>
                </a:solidFill>
                <a:latin typeface="Times New Roman" pitchFamily="34" charset="0"/>
                <a:ea typeface="Times New Roman" pitchFamily="34" charset="-122"/>
                <a:cs typeface="Times New Roman" pitchFamily="34" charset="-120"/>
              </a:rPr>
              <a:t> · m</a:t>
            </a:r>
            <a:pPr indent="0" marL="0">
              <a:buNone/>
            </a:pPr>
            <a:r>
              <a:rPr lang="en-US" sz="1800" baseline="-40000" dirty="0">
                <a:solidFill>
                  <a:srgbClr val="11344E"/>
                </a:solidFill>
                <a:latin typeface="Times New Roman" pitchFamily="34" charset="0"/>
                <a:ea typeface="Times New Roman" pitchFamily="34" charset="-122"/>
                <a:cs typeface="Times New Roman" pitchFamily="34" charset="-120"/>
              </a:rPr>
              <a:t>2</a:t>
            </a:r>
            <a:pPr indent="0" marL="0">
              <a:buNone/>
            </a:pPr>
            <a:r>
              <a:rPr lang="en-US" sz="1800" dirty="0">
                <a:solidFill>
                  <a:srgbClr val="11344E"/>
                </a:solidFill>
                <a:latin typeface="Times New Roman" pitchFamily="34" charset="0"/>
                <a:ea typeface="Times New Roman" pitchFamily="34" charset="-122"/>
                <a:cs typeface="Times New Roman" pitchFamily="34" charset="-120"/>
              </a:rPr>
              <a:t> = −1</a:t>
            </a:r>
            <a:endParaRPr lang="en-US" sz="1800" dirty="0"/>
          </a:p>
        </p:txBody>
      </p:sp>
      <p:sp>
        <p:nvSpPr>
          <p:cNvPr id="32" name="Shape 29"/>
          <p:cNvSpPr/>
          <p:nvPr/>
        </p:nvSpPr>
        <p:spPr>
          <a:xfrm>
            <a:off x="8046720" y="3063240"/>
            <a:ext cx="3566160" cy="1371600"/>
          </a:xfrm>
          <a:prstGeom prst="roundRect">
            <a:avLst>
              <a:gd name="adj" fmla="val 5333"/>
            </a:avLst>
          </a:prstGeom>
          <a:solidFill>
            <a:srgbClr val="EEF4F9"/>
          </a:solidFill>
          <a:ln w="12700">
            <a:solidFill>
              <a:srgbClr val="EEF4F9"/>
            </a:solidFill>
            <a:prstDash val="solid"/>
          </a:ln>
        </p:spPr>
      </p:sp>
      <p:sp>
        <p:nvSpPr>
          <p:cNvPr id="33" name="Text 30"/>
          <p:cNvSpPr txBox="1"/>
          <p:nvPr/>
        </p:nvSpPr>
        <p:spPr>
          <a:xfrm>
            <a:off x="8275320" y="324612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Circle</a:t>
            </a:r>
            <a:endParaRPr lang="en-US" sz="1400" dirty="0"/>
          </a:p>
        </p:txBody>
      </p:sp>
      <p:sp>
        <p:nvSpPr>
          <p:cNvPr id="34" name="Text 31"/>
          <p:cNvSpPr txBox="1"/>
          <p:nvPr/>
        </p:nvSpPr>
        <p:spPr>
          <a:xfrm>
            <a:off x="8275320" y="3657600"/>
            <a:ext cx="3200400" cy="548640"/>
          </a:xfrm>
          <a:prstGeom prst="rect">
            <a:avLst/>
          </a:prstGeom>
          <a:noFill/>
          <a:ln/>
        </p:spPr>
        <p:txBody>
          <a:bodyPr wrap="square" lIns="0" tIns="0" rIns="0" bIns="0" rtlCol="0" anchor="ctr"/>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(x − h)</a:t>
            </a:r>
            <a:pPr indent="0" marL="0">
              <a:buNone/>
            </a:pPr>
            <a:r>
              <a:rPr lang="en-US" sz="18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1800" dirty="0">
                <a:solidFill>
                  <a:srgbClr val="11344E"/>
                </a:solidFill>
                <a:latin typeface="Times New Roman" pitchFamily="34" charset="0"/>
                <a:ea typeface="Times New Roman" pitchFamily="34" charset="-122"/>
                <a:cs typeface="Times New Roman" pitchFamily="34" charset="-120"/>
              </a:rPr>
              <a:t> + (y − k)</a:t>
            </a:r>
            <a:pPr indent="0" marL="0">
              <a:buNone/>
            </a:pPr>
            <a:r>
              <a:rPr lang="en-US" sz="18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1800" dirty="0">
                <a:solidFill>
                  <a:srgbClr val="11344E"/>
                </a:solidFill>
                <a:latin typeface="Times New Roman" pitchFamily="34" charset="0"/>
                <a:ea typeface="Times New Roman" pitchFamily="34" charset="-122"/>
                <a:cs typeface="Times New Roman" pitchFamily="34" charset="-120"/>
              </a:rPr>
              <a:t> = r</a:t>
            </a:r>
            <a:pPr indent="0" marL="0">
              <a:buNone/>
            </a:pPr>
            <a:r>
              <a:rPr lang="en-US" sz="1800" baseline="30000" dirty="0">
                <a:solidFill>
                  <a:srgbClr val="11344E"/>
                </a:solidFill>
                <a:latin typeface="Times New Roman" pitchFamily="34" charset="0"/>
                <a:ea typeface="Times New Roman" pitchFamily="34" charset="-122"/>
                <a:cs typeface="Times New Roman" pitchFamily="34" charset="-120"/>
              </a:rPr>
              <a:t>2</a:t>
            </a:r>
            <a:endParaRPr lang="en-US" sz="1800" dirty="0"/>
          </a:p>
        </p:txBody>
      </p:sp>
      <p:sp>
        <p:nvSpPr>
          <p:cNvPr id="35" name="Shape 32"/>
          <p:cNvSpPr/>
          <p:nvPr/>
        </p:nvSpPr>
        <p:spPr>
          <a:xfrm>
            <a:off x="548640" y="4617720"/>
            <a:ext cx="3566160" cy="1371600"/>
          </a:xfrm>
          <a:prstGeom prst="roundRect">
            <a:avLst>
              <a:gd name="adj" fmla="val 5333"/>
            </a:avLst>
          </a:prstGeom>
          <a:solidFill>
            <a:srgbClr val="EEF4F9"/>
          </a:solidFill>
          <a:ln w="12700">
            <a:solidFill>
              <a:srgbClr val="EEF4F9"/>
            </a:solidFill>
            <a:prstDash val="solid"/>
          </a:ln>
        </p:spPr>
      </p:sp>
      <p:sp>
        <p:nvSpPr>
          <p:cNvPr id="36" name="Text 33"/>
          <p:cNvSpPr txBox="1"/>
          <p:nvPr/>
        </p:nvSpPr>
        <p:spPr>
          <a:xfrm>
            <a:off x="777240" y="480060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Maximum height</a:t>
            </a:r>
            <a:endParaRPr lang="en-US" sz="1400" dirty="0"/>
          </a:p>
        </p:txBody>
      </p:sp>
      <p:sp>
        <p:nvSpPr>
          <p:cNvPr id="37" name="Text 34"/>
          <p:cNvSpPr txBox="1"/>
          <p:nvPr/>
        </p:nvSpPr>
        <p:spPr>
          <a:xfrm>
            <a:off x="777240" y="5212080"/>
            <a:ext cx="3200400" cy="548640"/>
          </a:xfrm>
          <a:prstGeom prst="rect">
            <a:avLst/>
          </a:prstGeom>
          <a:noFill/>
          <a:ln/>
        </p:spPr>
        <p:txBody>
          <a:bodyPr wrap="square" lIns="0" tIns="0" rIns="0" bIns="0" rtlCol="0" anchor="ctr"/>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t = −b / (2a),  then find h(t)</a:t>
            </a:r>
            <a:endParaRPr lang="en-US" sz="1800" dirty="0"/>
          </a:p>
        </p:txBody>
      </p:sp>
      <p:sp>
        <p:nvSpPr>
          <p:cNvPr id="38" name="Shape 35"/>
          <p:cNvSpPr/>
          <p:nvPr/>
        </p:nvSpPr>
        <p:spPr>
          <a:xfrm>
            <a:off x="4297680" y="4617720"/>
            <a:ext cx="3566160" cy="1371600"/>
          </a:xfrm>
          <a:prstGeom prst="roundRect">
            <a:avLst>
              <a:gd name="adj" fmla="val 5333"/>
            </a:avLst>
          </a:prstGeom>
          <a:solidFill>
            <a:srgbClr val="EEF4F9"/>
          </a:solidFill>
          <a:ln w="12700">
            <a:solidFill>
              <a:srgbClr val="EEF4F9"/>
            </a:solidFill>
            <a:prstDash val="solid"/>
          </a:ln>
        </p:spPr>
      </p:sp>
      <p:sp>
        <p:nvSpPr>
          <p:cNvPr id="39" name="Text 36"/>
          <p:cNvSpPr txBox="1"/>
          <p:nvPr/>
        </p:nvSpPr>
        <p:spPr>
          <a:xfrm>
            <a:off x="4526280" y="480060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Exponent rules</a:t>
            </a:r>
            <a:endParaRPr lang="en-US" sz="1400" dirty="0"/>
          </a:p>
        </p:txBody>
      </p:sp>
      <p:sp>
        <p:nvSpPr>
          <p:cNvPr id="40" name="Text 37"/>
          <p:cNvSpPr txBox="1"/>
          <p:nvPr/>
        </p:nvSpPr>
        <p:spPr>
          <a:xfrm>
            <a:off x="4526280" y="5212080"/>
            <a:ext cx="3200400" cy="548640"/>
          </a:xfrm>
          <a:prstGeom prst="rect">
            <a:avLst/>
          </a:prstGeom>
          <a:noFill/>
          <a:ln/>
        </p:spPr>
        <p:txBody>
          <a:bodyPr wrap="square" lIns="0" tIns="0" rIns="0" bIns="0" rtlCol="0" anchor="ctr"/>
          <a:lstStyle/>
          <a:p>
            <a:pPr indent="0" marL="0">
              <a:buNone/>
            </a:pPr>
            <a:r>
              <a:rPr lang="en-US" sz="1700" dirty="0">
                <a:solidFill>
                  <a:srgbClr val="11344E"/>
                </a:solidFill>
                <a:latin typeface="Times New Roman" pitchFamily="34" charset="0"/>
                <a:ea typeface="Times New Roman" pitchFamily="34" charset="-122"/>
                <a:cs typeface="Times New Roman" pitchFamily="34" charset="-120"/>
              </a:rPr>
              <a:t>a</a:t>
            </a:r>
            <a:pP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m</a:t>
            </a:r>
            <a:pPr indent="0" marL="0">
              <a:buNone/>
            </a:pPr>
            <a:r>
              <a:rPr lang="en-US" sz="1700" dirty="0">
                <a:solidFill>
                  <a:srgbClr val="11344E"/>
                </a:solidFill>
                <a:latin typeface="Times New Roman" pitchFamily="34" charset="0"/>
                <a:ea typeface="Times New Roman" pitchFamily="34" charset="-122"/>
                <a:cs typeface="Times New Roman" pitchFamily="34" charset="-120"/>
              </a:rPr>
              <a:t>/a</a:t>
            </a:r>
            <a:pP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n</a:t>
            </a:r>
            <a:pPr indent="0" marL="0">
              <a:buNone/>
            </a:pPr>
            <a:r>
              <a:rPr lang="en-US" sz="1700" dirty="0">
                <a:solidFill>
                  <a:srgbClr val="11344E"/>
                </a:solidFill>
                <a:latin typeface="Times New Roman" pitchFamily="34" charset="0"/>
                <a:ea typeface="Times New Roman" pitchFamily="34" charset="-122"/>
                <a:cs typeface="Times New Roman" pitchFamily="34" charset="-120"/>
              </a:rPr>
              <a:t> = a</a:t>
            </a:r>
            <a:pP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m−n</a:t>
            </a:r>
            <a:pPr indent="0" marL="0">
              <a:buNone/>
            </a:pPr>
            <a:r>
              <a:rPr lang="en-US" sz="1700" dirty="0">
                <a:solidFill>
                  <a:srgbClr val="11344E"/>
                </a:solidFill>
                <a:latin typeface="Times New Roman" pitchFamily="34" charset="0"/>
                <a:ea typeface="Times New Roman" pitchFamily="34" charset="-122"/>
                <a:cs typeface="Times New Roman" pitchFamily="34" charset="-120"/>
              </a:rPr>
              <a:t>    a</a:t>
            </a:r>
            <a:pP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−n</a:t>
            </a:r>
            <a:pPr indent="0" marL="0">
              <a:buNone/>
            </a:pPr>
            <a:r>
              <a:rPr lang="en-US" sz="1700" dirty="0">
                <a:solidFill>
                  <a:srgbClr val="11344E"/>
                </a:solidFill>
                <a:latin typeface="Times New Roman" pitchFamily="34" charset="0"/>
                <a:ea typeface="Times New Roman" pitchFamily="34" charset="-122"/>
                <a:cs typeface="Times New Roman" pitchFamily="34" charset="-120"/>
              </a:rPr>
              <a:t> = 1/a</a:t>
            </a:r>
            <a:pP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n</a:t>
            </a:r>
            <a:pPr indent="0" marL="0">
              <a:buNone/>
            </a:pPr>
            <a:r>
              <a:rPr lang="en-US" sz="1700" dirty="0">
                <a:solidFill>
                  <a:srgbClr val="11344E"/>
                </a:solidFill>
                <a:latin typeface="Times New Roman" pitchFamily="34" charset="0"/>
                <a:ea typeface="Times New Roman" pitchFamily="34" charset="-122"/>
                <a:cs typeface="Times New Roman" pitchFamily="34" charset="-120"/>
              </a:rPr>
              <a:t>    (ab)</a:t>
            </a:r>
            <a:pP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n</a:t>
            </a:r>
            <a:pPr indent="0" marL="0">
              <a:buNone/>
            </a:pPr>
            <a:r>
              <a:rPr lang="en-US" sz="1700" dirty="0">
                <a:solidFill>
                  <a:srgbClr val="11344E"/>
                </a:solidFill>
                <a:latin typeface="Times New Roman" pitchFamily="34" charset="0"/>
                <a:ea typeface="Times New Roman" pitchFamily="34" charset="-122"/>
                <a:cs typeface="Times New Roman" pitchFamily="34" charset="-120"/>
              </a:rPr>
              <a:t> = a</a:t>
            </a:r>
            <a:pP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n</a:t>
            </a:r>
            <a:pPr indent="0" marL="0">
              <a:buNone/>
            </a:pPr>
            <a:r>
              <a:rPr lang="en-US" sz="1700" dirty="0">
                <a:solidFill>
                  <a:srgbClr val="11344E"/>
                </a:solidFill>
                <a:latin typeface="Times New Roman" pitchFamily="34" charset="0"/>
                <a:ea typeface="Times New Roman" pitchFamily="34" charset="-122"/>
                <a:cs typeface="Times New Roman" pitchFamily="34" charset="-120"/>
              </a:rPr>
              <a:t>b</a:t>
            </a:r>
            <a:pP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n</a:t>
            </a:r>
            <a:endParaRPr lang="en-US" sz="1700" dirty="0"/>
          </a:p>
        </p:txBody>
      </p:sp>
      <p:sp>
        <p:nvSpPr>
          <p:cNvPr id="41" name="Shape 38"/>
          <p:cNvSpPr/>
          <p:nvPr/>
        </p:nvSpPr>
        <p:spPr>
          <a:xfrm>
            <a:off x="8046720" y="4617720"/>
            <a:ext cx="3566160" cy="1371600"/>
          </a:xfrm>
          <a:prstGeom prst="roundRect">
            <a:avLst>
              <a:gd name="adj" fmla="val 5333"/>
            </a:avLst>
          </a:prstGeom>
          <a:solidFill>
            <a:srgbClr val="EEF4F9"/>
          </a:solidFill>
          <a:ln w="12700">
            <a:solidFill>
              <a:srgbClr val="EEF4F9"/>
            </a:solidFill>
            <a:prstDash val="solid"/>
          </a:ln>
        </p:spPr>
      </p:sp>
      <p:sp>
        <p:nvSpPr>
          <p:cNvPr id="42" name="Text 39"/>
          <p:cNvSpPr txBox="1"/>
          <p:nvPr/>
        </p:nvSpPr>
        <p:spPr>
          <a:xfrm>
            <a:off x="8275320" y="4800600"/>
            <a:ext cx="3108960" cy="320040"/>
          </a:xfrm>
          <a:prstGeom prst="rect">
            <a:avLst/>
          </a:prstGeom>
          <a:noFill/>
          <a:ln/>
        </p:spPr>
        <p:txBody>
          <a:bodyPr wrap="square" lIns="0" tIns="0" rIns="0" bIns="0" rtlCol="0" anchor="t"/>
          <a:lstStyle/>
          <a:p>
            <a:pPr indent="0" marL="0">
              <a:buNone/>
            </a:pPr>
            <a:r>
              <a:rPr lang="en-US" sz="1400" b="1" dirty="0">
                <a:solidFill>
                  <a:srgbClr val="1777B4"/>
                </a:solidFill>
                <a:latin typeface="Arial" pitchFamily="34" charset="0"/>
                <a:ea typeface="Arial" pitchFamily="34" charset="-122"/>
                <a:cs typeface="Arial" pitchFamily="34" charset="-120"/>
              </a:rPr>
              <a:t>Quadratic formula</a:t>
            </a:r>
            <a:endParaRPr lang="en-US" sz="1400" dirty="0"/>
          </a:p>
        </p:txBody>
      </p:sp>
      <p:sp>
        <p:nvSpPr>
          <p:cNvPr id="43" name="Text 40"/>
          <p:cNvSpPr txBox="1"/>
          <p:nvPr/>
        </p:nvSpPr>
        <p:spPr>
          <a:xfrm>
            <a:off x="8275320" y="5303520"/>
            <a:ext cx="457200" cy="365760"/>
          </a:xfrm>
          <a:prstGeom prst="rect">
            <a:avLst/>
          </a:prstGeom>
          <a:noFill/>
          <a:ln/>
        </p:spPr>
        <p:txBody>
          <a:bodyPr wrap="square" lIns="0" tIns="0" rIns="0" bIns="0" rtlCol="0" anchor="t"/>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x =</a:t>
            </a:r>
            <a:endParaRPr lang="en-US" sz="1800" dirty="0"/>
          </a:p>
        </p:txBody>
      </p:sp>
      <p:sp>
        <p:nvSpPr>
          <p:cNvPr id="44" name="Text 41"/>
          <p:cNvSpPr txBox="1"/>
          <p:nvPr/>
        </p:nvSpPr>
        <p:spPr>
          <a:xfrm>
            <a:off x="8732520" y="5120640"/>
            <a:ext cx="2011680" cy="280670"/>
          </a:xfrm>
          <a:prstGeom prst="rect">
            <a:avLst/>
          </a:prstGeom>
          <a:noFill/>
          <a:ln/>
        </p:spPr>
        <p:txBody>
          <a:bodyPr wrap="square" lIns="0" tIns="0" rIns="0" bIns="0" rtlCol="0" anchor="b"/>
          <a:lstStyle/>
          <a:p>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−b ± √(b</a:t>
            </a:r>
            <a:pPr algn="ctr" indent="0" marL="0">
              <a:buNone/>
            </a:pPr>
            <a:r>
              <a:rPr lang="en-US" sz="1700" baseline="30000" dirty="0">
                <a:solidFill>
                  <a:srgbClr val="11344E"/>
                </a:solidFill>
                <a:latin typeface="Times New Roman" pitchFamily="34" charset="0"/>
                <a:ea typeface="Times New Roman" pitchFamily="34" charset="-122"/>
                <a:cs typeface="Times New Roman" pitchFamily="34" charset="-120"/>
              </a:rPr>
              <a:t>2</a:t>
            </a:r>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 − 4ac)</a:t>
            </a:r>
            <a:endParaRPr lang="en-US" sz="1700" dirty="0"/>
          </a:p>
        </p:txBody>
      </p:sp>
      <p:sp>
        <p:nvSpPr>
          <p:cNvPr id="45" name="Shape 42"/>
          <p:cNvSpPr/>
          <p:nvPr/>
        </p:nvSpPr>
        <p:spPr>
          <a:xfrm>
            <a:off x="8778240" y="5428742"/>
            <a:ext cx="1920240" cy="0"/>
          </a:xfrm>
          <a:prstGeom prst="line">
            <a:avLst/>
          </a:prstGeom>
          <a:noFill/>
          <a:ln w="12700">
            <a:solidFill>
              <a:srgbClr val="11344E"/>
            </a:solidFill>
            <a:prstDash val="solid"/>
          </a:ln>
        </p:spPr>
      </p:sp>
      <p:sp>
        <p:nvSpPr>
          <p:cNvPr id="46" name="Text 43"/>
          <p:cNvSpPr txBox="1"/>
          <p:nvPr/>
        </p:nvSpPr>
        <p:spPr>
          <a:xfrm>
            <a:off x="8732520" y="5465318"/>
            <a:ext cx="2011680" cy="280670"/>
          </a:xfrm>
          <a:prstGeom prst="rect">
            <a:avLst/>
          </a:prstGeom>
          <a:noFill/>
          <a:ln/>
        </p:spPr>
        <p:txBody>
          <a:bodyPr wrap="square" lIns="0" tIns="0" rIns="0" bIns="0" rtlCol="0" anchor="t"/>
          <a:lstStyle/>
          <a:p>
            <a:pPr algn="ctr" indent="0" marL="0">
              <a:buNone/>
            </a:pPr>
            <a:r>
              <a:rPr lang="en-US" sz="1700" dirty="0">
                <a:solidFill>
                  <a:srgbClr val="11344E"/>
                </a:solidFill>
                <a:latin typeface="Times New Roman" pitchFamily="34" charset="0"/>
                <a:ea typeface="Times New Roman" pitchFamily="34" charset="-122"/>
                <a:cs typeface="Times New Roman" pitchFamily="34" charset="-120"/>
              </a:rPr>
              <a:t>2a</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The Test 1 skills map</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Use this map to organize your review tonight</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5</a:t>
            </a:r>
            <a:endParaRPr lang="en-US" sz="800" dirty="0"/>
          </a:p>
        </p:txBody>
      </p:sp>
      <p:sp>
        <p:nvSpPr>
          <p:cNvPr id="6" name="Shape 3"/>
          <p:cNvSpPr/>
          <p:nvPr/>
        </p:nvSpPr>
        <p:spPr>
          <a:xfrm>
            <a:off x="548640" y="1554480"/>
            <a:ext cx="2103120" cy="4480560"/>
          </a:xfrm>
          <a:prstGeom prst="roundRect">
            <a:avLst>
              <a:gd name="adj" fmla="val 3478"/>
            </a:avLst>
          </a:prstGeom>
          <a:solidFill>
            <a:srgbClr val="EEF4F9"/>
          </a:solidFill>
          <a:ln w="12700">
            <a:solidFill>
              <a:srgbClr val="EEF4F9"/>
            </a:solidFill>
            <a:prstDash val="solid"/>
          </a:ln>
        </p:spPr>
      </p:sp>
      <p:sp>
        <p:nvSpPr>
          <p:cNvPr id="7" name="Shape 4"/>
          <p:cNvSpPr/>
          <p:nvPr/>
        </p:nvSpPr>
        <p:spPr>
          <a:xfrm>
            <a:off x="731520" y="1737360"/>
            <a:ext cx="420624" cy="420624"/>
          </a:xfrm>
          <a:prstGeom prst="ellipse">
            <a:avLst/>
          </a:prstGeom>
          <a:solidFill>
            <a:srgbClr val="1777B4"/>
          </a:solidFill>
          <a:ln w="12700">
            <a:solidFill>
              <a:srgbClr val="1777B4"/>
            </a:solidFill>
            <a:prstDash val="solid"/>
          </a:ln>
        </p:spPr>
      </p:sp>
      <p:sp>
        <p:nvSpPr>
          <p:cNvPr id="8" name="Text 5"/>
          <p:cNvSpPr txBox="1"/>
          <p:nvPr/>
        </p:nvSpPr>
        <p:spPr>
          <a:xfrm>
            <a:off x="731520" y="1737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9" name="Text 6"/>
          <p:cNvSpPr txBox="1"/>
          <p:nvPr/>
        </p:nvSpPr>
        <p:spPr>
          <a:xfrm>
            <a:off x="731520" y="2286000"/>
            <a:ext cx="1783080" cy="640080"/>
          </a:xfrm>
          <a:prstGeom prst="rect">
            <a:avLst/>
          </a:prstGeom>
          <a:noFill/>
          <a:ln/>
        </p:spPr>
        <p:txBody>
          <a:bodyPr wrap="square" lIns="0" tIns="0" rIns="0" bIns="0" rtlCol="0" anchor="t"/>
          <a:lstStyle/>
          <a:p>
            <a:pPr indent="0" marL="0">
              <a:buNone/>
            </a:pPr>
            <a:r>
              <a:rPr lang="en-US" sz="1600" b="1" dirty="0">
                <a:solidFill>
                  <a:srgbClr val="11344E"/>
                </a:solidFill>
                <a:latin typeface="Arial" pitchFamily="34" charset="0"/>
                <a:ea typeface="Arial" pitchFamily="34" charset="-122"/>
                <a:cs typeface="Arial" pitchFamily="34" charset="-120"/>
              </a:rPr>
              <a:t>Algebra foundations</a:t>
            </a:r>
            <a:endParaRPr lang="en-US" sz="1600" dirty="0"/>
          </a:p>
        </p:txBody>
      </p:sp>
      <p:sp>
        <p:nvSpPr>
          <p:cNvPr id="10" name="Text 7"/>
          <p:cNvSpPr txBox="1"/>
          <p:nvPr/>
        </p:nvSpPr>
        <p:spPr>
          <a:xfrm>
            <a:off x="731520" y="3017520"/>
            <a:ext cx="1783080" cy="2834640"/>
          </a:xfrm>
          <a:prstGeom prst="rect">
            <a:avLst/>
          </a:prstGeom>
          <a:noFill/>
          <a:ln/>
        </p:spPr>
        <p:txBody>
          <a:bodyPr wrap="square" lIns="0" tIns="0" rIns="0" bIns="0" rtlCol="0" anchor="t"/>
          <a:lstStyle/>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Factor completely (GCF first)</a:t>
            </a:r>
            <a:endParaRPr lang="en-US" sz="1300" dirty="0"/>
          </a:p>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Exponent rules; positive exponents only</a:t>
            </a:r>
            <a:endParaRPr lang="en-US" sz="1300" dirty="0"/>
          </a:p>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Subtract rational expressions</a:t>
            </a:r>
            <a:endParaRPr lang="en-US" sz="1300" dirty="0"/>
          </a:p>
        </p:txBody>
      </p:sp>
      <p:sp>
        <p:nvSpPr>
          <p:cNvPr id="11" name="Shape 8"/>
          <p:cNvSpPr/>
          <p:nvPr/>
        </p:nvSpPr>
        <p:spPr>
          <a:xfrm>
            <a:off x="2816352" y="1554480"/>
            <a:ext cx="2103120" cy="4480560"/>
          </a:xfrm>
          <a:prstGeom prst="roundRect">
            <a:avLst>
              <a:gd name="adj" fmla="val 3478"/>
            </a:avLst>
          </a:prstGeom>
          <a:solidFill>
            <a:srgbClr val="EEF4F9"/>
          </a:solidFill>
          <a:ln w="12700">
            <a:solidFill>
              <a:srgbClr val="EEF4F9"/>
            </a:solidFill>
            <a:prstDash val="solid"/>
          </a:ln>
        </p:spPr>
      </p:sp>
      <p:sp>
        <p:nvSpPr>
          <p:cNvPr id="12" name="Shape 9"/>
          <p:cNvSpPr/>
          <p:nvPr/>
        </p:nvSpPr>
        <p:spPr>
          <a:xfrm>
            <a:off x="2999232" y="1737360"/>
            <a:ext cx="420624" cy="420624"/>
          </a:xfrm>
          <a:prstGeom prst="ellipse">
            <a:avLst/>
          </a:prstGeom>
          <a:solidFill>
            <a:srgbClr val="1777B4"/>
          </a:solidFill>
          <a:ln w="12700">
            <a:solidFill>
              <a:srgbClr val="1777B4"/>
            </a:solidFill>
            <a:prstDash val="solid"/>
          </a:ln>
        </p:spPr>
      </p:sp>
      <p:sp>
        <p:nvSpPr>
          <p:cNvPr id="13" name="Text 10"/>
          <p:cNvSpPr txBox="1"/>
          <p:nvPr/>
        </p:nvSpPr>
        <p:spPr>
          <a:xfrm>
            <a:off x="2999232" y="1737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B</a:t>
            </a:r>
            <a:endParaRPr lang="en-US" sz="1500" dirty="0"/>
          </a:p>
        </p:txBody>
      </p:sp>
      <p:sp>
        <p:nvSpPr>
          <p:cNvPr id="14" name="Text 11"/>
          <p:cNvSpPr txBox="1"/>
          <p:nvPr/>
        </p:nvSpPr>
        <p:spPr>
          <a:xfrm>
            <a:off x="2999232" y="2286000"/>
            <a:ext cx="1783080" cy="640080"/>
          </a:xfrm>
          <a:prstGeom prst="rect">
            <a:avLst/>
          </a:prstGeom>
          <a:noFill/>
          <a:ln/>
        </p:spPr>
        <p:txBody>
          <a:bodyPr wrap="square" lIns="0" tIns="0" rIns="0" bIns="0" rtlCol="0" anchor="t"/>
          <a:lstStyle/>
          <a:p>
            <a:pPr indent="0" marL="0">
              <a:buNone/>
            </a:pPr>
            <a:r>
              <a:rPr lang="en-US" sz="1600" b="1" dirty="0">
                <a:solidFill>
                  <a:srgbClr val="11344E"/>
                </a:solidFill>
                <a:latin typeface="Arial" pitchFamily="34" charset="0"/>
                <a:ea typeface="Arial" pitchFamily="34" charset="-122"/>
                <a:cs typeface="Arial" pitchFamily="34" charset="-120"/>
              </a:rPr>
              <a:t>Sets</a:t>
            </a:r>
            <a:endParaRPr lang="en-US" sz="1600" dirty="0"/>
          </a:p>
        </p:txBody>
      </p:sp>
      <p:sp>
        <p:nvSpPr>
          <p:cNvPr id="15" name="Text 12"/>
          <p:cNvSpPr txBox="1"/>
          <p:nvPr/>
        </p:nvSpPr>
        <p:spPr>
          <a:xfrm>
            <a:off x="2999232" y="3017520"/>
            <a:ext cx="1783080" cy="2834640"/>
          </a:xfrm>
          <a:prstGeom prst="rect">
            <a:avLst/>
          </a:prstGeom>
          <a:noFill/>
          <a:ln/>
        </p:spPr>
        <p:txBody>
          <a:bodyPr wrap="square" lIns="0" tIns="0" rIns="0" bIns="0" rtlCol="0" anchor="t"/>
          <a:lstStyle/>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Union and intersection of intervals</a:t>
            </a:r>
            <a:endParaRPr lang="en-US" sz="1300" dirty="0"/>
          </a:p>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Union and intersection of finite sets</a:t>
            </a:r>
            <a:endParaRPr lang="en-US" sz="1300" dirty="0"/>
          </a:p>
        </p:txBody>
      </p:sp>
      <p:sp>
        <p:nvSpPr>
          <p:cNvPr id="16" name="Shape 13"/>
          <p:cNvSpPr/>
          <p:nvPr/>
        </p:nvSpPr>
        <p:spPr>
          <a:xfrm>
            <a:off x="5084064" y="1554480"/>
            <a:ext cx="2103120" cy="4480560"/>
          </a:xfrm>
          <a:prstGeom prst="roundRect">
            <a:avLst>
              <a:gd name="adj" fmla="val 3478"/>
            </a:avLst>
          </a:prstGeom>
          <a:solidFill>
            <a:srgbClr val="EEF4F9"/>
          </a:solidFill>
          <a:ln w="12700">
            <a:solidFill>
              <a:srgbClr val="EEF4F9"/>
            </a:solidFill>
            <a:prstDash val="solid"/>
          </a:ln>
        </p:spPr>
      </p:sp>
      <p:sp>
        <p:nvSpPr>
          <p:cNvPr id="17" name="Shape 14"/>
          <p:cNvSpPr/>
          <p:nvPr/>
        </p:nvSpPr>
        <p:spPr>
          <a:xfrm>
            <a:off x="5266944" y="1737360"/>
            <a:ext cx="420624" cy="420624"/>
          </a:xfrm>
          <a:prstGeom prst="ellipse">
            <a:avLst/>
          </a:prstGeom>
          <a:solidFill>
            <a:srgbClr val="1777B4"/>
          </a:solidFill>
          <a:ln w="12700">
            <a:solidFill>
              <a:srgbClr val="1777B4"/>
            </a:solidFill>
            <a:prstDash val="solid"/>
          </a:ln>
        </p:spPr>
      </p:sp>
      <p:sp>
        <p:nvSpPr>
          <p:cNvPr id="18" name="Text 15"/>
          <p:cNvSpPr txBox="1"/>
          <p:nvPr/>
        </p:nvSpPr>
        <p:spPr>
          <a:xfrm>
            <a:off x="5266944" y="1737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a:t>
            </a:r>
            <a:endParaRPr lang="en-US" sz="1500" dirty="0"/>
          </a:p>
        </p:txBody>
      </p:sp>
      <p:sp>
        <p:nvSpPr>
          <p:cNvPr id="19" name="Text 16"/>
          <p:cNvSpPr txBox="1"/>
          <p:nvPr/>
        </p:nvSpPr>
        <p:spPr>
          <a:xfrm>
            <a:off x="5266944" y="2286000"/>
            <a:ext cx="1783080" cy="640080"/>
          </a:xfrm>
          <a:prstGeom prst="rect">
            <a:avLst/>
          </a:prstGeom>
          <a:noFill/>
          <a:ln/>
        </p:spPr>
        <p:txBody>
          <a:bodyPr wrap="square" lIns="0" tIns="0" rIns="0" bIns="0" rtlCol="0" anchor="t"/>
          <a:lstStyle/>
          <a:p>
            <a:pPr indent="0" marL="0">
              <a:buNone/>
            </a:pPr>
            <a:r>
              <a:rPr lang="en-US" sz="1600" b="1" dirty="0">
                <a:solidFill>
                  <a:srgbClr val="11344E"/>
                </a:solidFill>
                <a:latin typeface="Arial" pitchFamily="34" charset="0"/>
                <a:ea typeface="Arial" pitchFamily="34" charset="-122"/>
                <a:cs typeface="Arial" pitchFamily="34" charset="-120"/>
              </a:rPr>
              <a:t>Equations</a:t>
            </a:r>
            <a:endParaRPr lang="en-US" sz="1600" dirty="0"/>
          </a:p>
        </p:txBody>
      </p:sp>
      <p:sp>
        <p:nvSpPr>
          <p:cNvPr id="20" name="Text 17"/>
          <p:cNvSpPr txBox="1"/>
          <p:nvPr/>
        </p:nvSpPr>
        <p:spPr>
          <a:xfrm>
            <a:off x="5266944" y="3017520"/>
            <a:ext cx="1783080" cy="2834640"/>
          </a:xfrm>
          <a:prstGeom prst="rect">
            <a:avLst/>
          </a:prstGeom>
          <a:noFill/>
          <a:ln/>
        </p:spPr>
        <p:txBody>
          <a:bodyPr wrap="square" lIns="0" tIns="0" rIns="0" bIns="0" rtlCol="0" anchor="t"/>
          <a:lstStyle/>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Rational equations and restrictions</a:t>
            </a:r>
            <a:endParaRPr lang="en-US" sz="1300" dirty="0"/>
          </a:p>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Quadratic equations by factoring</a:t>
            </a:r>
            <a:endParaRPr lang="en-US" sz="1300" dirty="0"/>
          </a:p>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Equations with fractions</a:t>
            </a:r>
            <a:endParaRPr lang="en-US" sz="1300" dirty="0"/>
          </a:p>
        </p:txBody>
      </p:sp>
      <p:sp>
        <p:nvSpPr>
          <p:cNvPr id="21" name="Shape 18"/>
          <p:cNvSpPr/>
          <p:nvPr/>
        </p:nvSpPr>
        <p:spPr>
          <a:xfrm>
            <a:off x="7351776" y="1554480"/>
            <a:ext cx="2103120" cy="4480560"/>
          </a:xfrm>
          <a:prstGeom prst="roundRect">
            <a:avLst>
              <a:gd name="adj" fmla="val 3478"/>
            </a:avLst>
          </a:prstGeom>
          <a:solidFill>
            <a:srgbClr val="EEF4F9"/>
          </a:solidFill>
          <a:ln w="12700">
            <a:solidFill>
              <a:srgbClr val="EEF4F9"/>
            </a:solidFill>
            <a:prstDash val="solid"/>
          </a:ln>
        </p:spPr>
      </p:sp>
      <p:sp>
        <p:nvSpPr>
          <p:cNvPr id="22" name="Shape 19"/>
          <p:cNvSpPr/>
          <p:nvPr/>
        </p:nvSpPr>
        <p:spPr>
          <a:xfrm>
            <a:off x="7534656" y="1737360"/>
            <a:ext cx="420624" cy="420624"/>
          </a:xfrm>
          <a:prstGeom prst="ellipse">
            <a:avLst/>
          </a:prstGeom>
          <a:solidFill>
            <a:srgbClr val="1777B4"/>
          </a:solidFill>
          <a:ln w="12700">
            <a:solidFill>
              <a:srgbClr val="1777B4"/>
            </a:solidFill>
            <a:prstDash val="solid"/>
          </a:ln>
        </p:spPr>
      </p:sp>
      <p:sp>
        <p:nvSpPr>
          <p:cNvPr id="23" name="Text 20"/>
          <p:cNvSpPr txBox="1"/>
          <p:nvPr/>
        </p:nvSpPr>
        <p:spPr>
          <a:xfrm>
            <a:off x="7534656" y="1737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
            </a:r>
            <a:endParaRPr lang="en-US" sz="1500" dirty="0"/>
          </a:p>
        </p:txBody>
      </p:sp>
      <p:sp>
        <p:nvSpPr>
          <p:cNvPr id="24" name="Text 21"/>
          <p:cNvSpPr txBox="1"/>
          <p:nvPr/>
        </p:nvSpPr>
        <p:spPr>
          <a:xfrm>
            <a:off x="7534656" y="2286000"/>
            <a:ext cx="1783080" cy="640080"/>
          </a:xfrm>
          <a:prstGeom prst="rect">
            <a:avLst/>
          </a:prstGeom>
          <a:noFill/>
          <a:ln/>
        </p:spPr>
        <p:txBody>
          <a:bodyPr wrap="square" lIns="0" tIns="0" rIns="0" bIns="0" rtlCol="0" anchor="t"/>
          <a:lstStyle/>
          <a:p>
            <a:pPr indent="0" marL="0">
              <a:buNone/>
            </a:pPr>
            <a:r>
              <a:rPr lang="en-US" sz="1600" b="1" dirty="0">
                <a:solidFill>
                  <a:srgbClr val="11344E"/>
                </a:solidFill>
                <a:latin typeface="Arial" pitchFamily="34" charset="0"/>
                <a:ea typeface="Arial" pitchFamily="34" charset="-122"/>
                <a:cs typeface="Arial" pitchFamily="34" charset="-120"/>
              </a:rPr>
              <a:t>Coordinate geometry</a:t>
            </a:r>
            <a:endParaRPr lang="en-US" sz="1600" dirty="0"/>
          </a:p>
        </p:txBody>
      </p:sp>
      <p:sp>
        <p:nvSpPr>
          <p:cNvPr id="25" name="Text 22"/>
          <p:cNvSpPr txBox="1"/>
          <p:nvPr/>
        </p:nvSpPr>
        <p:spPr>
          <a:xfrm>
            <a:off x="7534656" y="3017520"/>
            <a:ext cx="1783080" cy="2834640"/>
          </a:xfrm>
          <a:prstGeom prst="rect">
            <a:avLst/>
          </a:prstGeom>
          <a:noFill/>
          <a:ln/>
        </p:spPr>
        <p:txBody>
          <a:bodyPr wrap="square" lIns="0" tIns="0" rIns="0" bIns="0" rtlCol="0" anchor="t"/>
          <a:lstStyle/>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Midpoint, distance, and a line through two points</a:t>
            </a:r>
            <a:endParaRPr lang="en-US" sz="1300" dirty="0"/>
          </a:p>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Circle from center and radius</a:t>
            </a:r>
            <a:endParaRPr lang="en-US" sz="1300" dirty="0"/>
          </a:p>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Parallel and perpendicular lines</a:t>
            </a:r>
            <a:endParaRPr lang="en-US" sz="1300" dirty="0"/>
          </a:p>
        </p:txBody>
      </p:sp>
      <p:sp>
        <p:nvSpPr>
          <p:cNvPr id="26" name="Shape 23"/>
          <p:cNvSpPr/>
          <p:nvPr/>
        </p:nvSpPr>
        <p:spPr>
          <a:xfrm>
            <a:off x="9619488" y="1554480"/>
            <a:ext cx="2103120" cy="4480560"/>
          </a:xfrm>
          <a:prstGeom prst="roundRect">
            <a:avLst>
              <a:gd name="adj" fmla="val 3478"/>
            </a:avLst>
          </a:prstGeom>
          <a:solidFill>
            <a:srgbClr val="EEF4F9"/>
          </a:solidFill>
          <a:ln w="12700">
            <a:solidFill>
              <a:srgbClr val="EEF4F9"/>
            </a:solidFill>
            <a:prstDash val="solid"/>
          </a:ln>
        </p:spPr>
      </p:sp>
      <p:sp>
        <p:nvSpPr>
          <p:cNvPr id="27" name="Shape 24"/>
          <p:cNvSpPr/>
          <p:nvPr/>
        </p:nvSpPr>
        <p:spPr>
          <a:xfrm>
            <a:off x="9802368" y="1737360"/>
            <a:ext cx="420624" cy="420624"/>
          </a:xfrm>
          <a:prstGeom prst="ellipse">
            <a:avLst/>
          </a:prstGeom>
          <a:solidFill>
            <a:srgbClr val="1B7F5E"/>
          </a:solidFill>
          <a:ln w="12700">
            <a:solidFill>
              <a:srgbClr val="1B7F5E"/>
            </a:solidFill>
            <a:prstDash val="solid"/>
          </a:ln>
        </p:spPr>
      </p:sp>
      <p:sp>
        <p:nvSpPr>
          <p:cNvPr id="28" name="Text 25"/>
          <p:cNvSpPr txBox="1"/>
          <p:nvPr/>
        </p:nvSpPr>
        <p:spPr>
          <a:xfrm>
            <a:off x="9802368" y="1737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E</a:t>
            </a:r>
            <a:endParaRPr lang="en-US" sz="1500" dirty="0"/>
          </a:p>
        </p:txBody>
      </p:sp>
      <p:sp>
        <p:nvSpPr>
          <p:cNvPr id="29" name="Text 26"/>
          <p:cNvSpPr txBox="1"/>
          <p:nvPr/>
        </p:nvSpPr>
        <p:spPr>
          <a:xfrm>
            <a:off x="9802368" y="2286000"/>
            <a:ext cx="1783080" cy="640080"/>
          </a:xfrm>
          <a:prstGeom prst="rect">
            <a:avLst/>
          </a:prstGeom>
          <a:noFill/>
          <a:ln/>
        </p:spPr>
        <p:txBody>
          <a:bodyPr wrap="square" lIns="0" tIns="0" rIns="0" bIns="0" rtlCol="0" anchor="t"/>
          <a:lstStyle/>
          <a:p>
            <a:pPr indent="0" marL="0">
              <a:buNone/>
            </a:pPr>
            <a:r>
              <a:rPr lang="en-US" sz="1600" b="1" dirty="0">
                <a:solidFill>
                  <a:srgbClr val="11344E"/>
                </a:solidFill>
                <a:latin typeface="Arial" pitchFamily="34" charset="0"/>
                <a:ea typeface="Arial" pitchFamily="34" charset="-122"/>
                <a:cs typeface="Arial" pitchFamily="34" charset="-120"/>
              </a:rPr>
              <a:t>Quadratic model</a:t>
            </a:r>
            <a:endParaRPr lang="en-US" sz="1600" dirty="0"/>
          </a:p>
        </p:txBody>
      </p:sp>
      <p:sp>
        <p:nvSpPr>
          <p:cNvPr id="30" name="Text 27"/>
          <p:cNvSpPr txBox="1"/>
          <p:nvPr/>
        </p:nvSpPr>
        <p:spPr>
          <a:xfrm>
            <a:off x="9802368" y="3017520"/>
            <a:ext cx="1783080" cy="2834640"/>
          </a:xfrm>
          <a:prstGeom prst="rect">
            <a:avLst/>
          </a:prstGeom>
          <a:noFill/>
          <a:ln/>
        </p:spPr>
        <p:txBody>
          <a:bodyPr wrap="square" lIns="0" tIns="0" rIns="0" bIns="0" rtlCol="0" anchor="t"/>
          <a:lstStyle/>
          <a:p>
            <a:pPr algn="l" marL="342900" indent="-342900">
              <a:spcAft>
                <a:spcPts val="1000"/>
              </a:spcAft>
              <a:buSzPct val="100000"/>
              <a:buChar char="•"/>
            </a:pPr>
            <a:r>
              <a:rPr lang="en-US" sz="1300" dirty="0">
                <a:solidFill>
                  <a:srgbClr val="11344E"/>
                </a:solidFill>
                <a:latin typeface="Arial" pitchFamily="34" charset="0"/>
                <a:ea typeface="Arial" pitchFamily="34" charset="-122"/>
                <a:cs typeface="Arial" pitchFamily="34" charset="-120"/>
              </a:rPr>
              <a:t>Maximum height of a projectile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How your work is graded</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Write for a reader who needs to see your reasoning</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6</a:t>
            </a:r>
            <a:endParaRPr lang="en-US" sz="800" dirty="0"/>
          </a:p>
        </p:txBody>
      </p:sp>
      <p:sp>
        <p:nvSpPr>
          <p:cNvPr id="6" name="Shape 3"/>
          <p:cNvSpPr/>
          <p:nvPr/>
        </p:nvSpPr>
        <p:spPr>
          <a:xfrm>
            <a:off x="548640" y="1600200"/>
            <a:ext cx="5440680" cy="2011680"/>
          </a:xfrm>
          <a:prstGeom prst="roundRect">
            <a:avLst>
              <a:gd name="adj" fmla="val 3636"/>
            </a:avLst>
          </a:prstGeom>
          <a:solidFill>
            <a:srgbClr val="EEF4F9"/>
          </a:solidFill>
          <a:ln w="12700">
            <a:solidFill>
              <a:srgbClr val="EEF4F9"/>
            </a:solidFill>
            <a:prstDash val="solid"/>
          </a:ln>
        </p:spPr>
      </p:sp>
      <p:sp>
        <p:nvSpPr>
          <p:cNvPr id="7" name="Shape 4"/>
          <p:cNvSpPr/>
          <p:nvPr/>
        </p:nvSpPr>
        <p:spPr>
          <a:xfrm>
            <a:off x="822960" y="1874520"/>
            <a:ext cx="548640" cy="548640"/>
          </a:xfrm>
          <a:prstGeom prst="ellipse">
            <a:avLst/>
          </a:prstGeom>
          <a:solidFill>
            <a:srgbClr val="1777B4"/>
          </a:solidFill>
          <a:ln w="12700">
            <a:solidFill>
              <a:srgbClr val="1777B4"/>
            </a:solidFill>
            <a:prstDash val="solid"/>
          </a:ln>
        </p:spPr>
      </p:sp>
      <p:sp>
        <p:nvSpPr>
          <p:cNvPr id="8" name="Text 5"/>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a:t>
            </a:r>
            <a:endParaRPr lang="en-US" sz="2200" dirty="0"/>
          </a:p>
        </p:txBody>
      </p:sp>
      <p:sp>
        <p:nvSpPr>
          <p:cNvPr id="9" name="Text 6"/>
          <p:cNvSpPr txBox="1"/>
          <p:nvPr/>
        </p:nvSpPr>
        <p:spPr>
          <a:xfrm>
            <a:off x="1600200" y="1920240"/>
            <a:ext cx="4114800" cy="457200"/>
          </a:xfrm>
          <a:prstGeom prst="rect">
            <a:avLst/>
          </a:prstGeom>
          <a:noFill/>
          <a:ln/>
        </p:spPr>
        <p:txBody>
          <a:bodyPr wrap="square" lIns="0" tIns="0" rIns="0" bIns="0" rtlCol="0" anchor="t"/>
          <a:lstStyle/>
          <a:p>
            <a:pPr indent="0" marL="0">
              <a:buNone/>
            </a:pPr>
            <a:r>
              <a:rPr lang="en-US" sz="1900" b="1" dirty="0">
                <a:solidFill>
                  <a:srgbClr val="11344E"/>
                </a:solidFill>
                <a:latin typeface="Arial" pitchFamily="34" charset="0"/>
                <a:ea typeface="Arial" pitchFamily="34" charset="-122"/>
                <a:cs typeface="Arial" pitchFamily="34" charset="-120"/>
              </a:rPr>
              <a:t>Work earns credit</a:t>
            </a:r>
            <a:endParaRPr lang="en-US" sz="1900" dirty="0"/>
          </a:p>
        </p:txBody>
      </p:sp>
      <p:sp>
        <p:nvSpPr>
          <p:cNvPr id="10" name="Text 7"/>
          <p:cNvSpPr txBox="1"/>
          <p:nvPr/>
        </p:nvSpPr>
        <p:spPr>
          <a:xfrm>
            <a:off x="1600200" y="2468880"/>
            <a:ext cx="4160520" cy="100584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Valid progress with an error still earns partial credit. A final answer alone may not earn full credit.</a:t>
            </a:r>
            <a:endParaRPr lang="en-US" sz="1400" dirty="0"/>
          </a:p>
        </p:txBody>
      </p:sp>
      <p:sp>
        <p:nvSpPr>
          <p:cNvPr id="11" name="Shape 8"/>
          <p:cNvSpPr/>
          <p:nvPr/>
        </p:nvSpPr>
        <p:spPr>
          <a:xfrm>
            <a:off x="6172200" y="1600200"/>
            <a:ext cx="5440680" cy="2011680"/>
          </a:xfrm>
          <a:prstGeom prst="roundRect">
            <a:avLst>
              <a:gd name="adj" fmla="val 3636"/>
            </a:avLst>
          </a:prstGeom>
          <a:solidFill>
            <a:srgbClr val="EEF4F9"/>
          </a:solidFill>
          <a:ln w="12700">
            <a:solidFill>
              <a:srgbClr val="EEF4F9"/>
            </a:solidFill>
            <a:prstDash val="solid"/>
          </a:ln>
        </p:spPr>
      </p:sp>
      <p:sp>
        <p:nvSpPr>
          <p:cNvPr id="12" name="Shape 9"/>
          <p:cNvSpPr/>
          <p:nvPr/>
        </p:nvSpPr>
        <p:spPr>
          <a:xfrm>
            <a:off x="6446520" y="1874520"/>
            <a:ext cx="548640" cy="548640"/>
          </a:xfrm>
          <a:prstGeom prst="ellipse">
            <a:avLst/>
          </a:prstGeom>
          <a:solidFill>
            <a:srgbClr val="1777B4"/>
          </a:solidFill>
          <a:ln w="12700">
            <a:solidFill>
              <a:srgbClr val="1777B4"/>
            </a:solidFill>
            <a:prstDash val="solid"/>
          </a:ln>
        </p:spPr>
      </p:sp>
      <p:sp>
        <p:nvSpPr>
          <p:cNvPr id="13" name="Text 10"/>
          <p:cNvSpPr txBox="1"/>
          <p:nvPr/>
        </p:nvSpPr>
        <p:spPr>
          <a:xfrm>
            <a:off x="6446520" y="1874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a:t>
            </a:r>
            <a:endParaRPr lang="en-US" sz="2200" dirty="0"/>
          </a:p>
        </p:txBody>
      </p:sp>
      <p:sp>
        <p:nvSpPr>
          <p:cNvPr id="14" name="Text 11"/>
          <p:cNvSpPr txBox="1"/>
          <p:nvPr/>
        </p:nvSpPr>
        <p:spPr>
          <a:xfrm>
            <a:off x="7223760" y="1920240"/>
            <a:ext cx="4114800" cy="457200"/>
          </a:xfrm>
          <a:prstGeom prst="rect">
            <a:avLst/>
          </a:prstGeom>
          <a:noFill/>
          <a:ln/>
        </p:spPr>
        <p:txBody>
          <a:bodyPr wrap="square" lIns="0" tIns="0" rIns="0" bIns="0" rtlCol="0" anchor="t"/>
          <a:lstStyle/>
          <a:p>
            <a:pPr indent="0" marL="0">
              <a:buNone/>
            </a:pPr>
            <a:r>
              <a:rPr lang="en-US" sz="1900" b="1" dirty="0">
                <a:solidFill>
                  <a:srgbClr val="11344E"/>
                </a:solidFill>
                <a:latin typeface="Arial" pitchFamily="34" charset="0"/>
                <a:ea typeface="Arial" pitchFamily="34" charset="-122"/>
                <a:cs typeface="Arial" pitchFamily="34" charset="-120"/>
              </a:rPr>
              <a:t>Equivalent forms count</a:t>
            </a:r>
            <a:endParaRPr lang="en-US" sz="1900" dirty="0"/>
          </a:p>
        </p:txBody>
      </p:sp>
      <p:sp>
        <p:nvSpPr>
          <p:cNvPr id="15" name="Text 12"/>
          <p:cNvSpPr txBox="1"/>
          <p:nvPr/>
        </p:nvSpPr>
        <p:spPr>
          <a:xfrm>
            <a:off x="7223760" y="2468880"/>
            <a:ext cx="4160520" cy="100584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Any correct method and any equivalent exact form is accepted. Factors may appear in any order.</a:t>
            </a:r>
            <a:endParaRPr lang="en-US" sz="1400" dirty="0"/>
          </a:p>
        </p:txBody>
      </p:sp>
      <p:sp>
        <p:nvSpPr>
          <p:cNvPr id="16" name="Shape 13"/>
          <p:cNvSpPr/>
          <p:nvPr/>
        </p:nvSpPr>
        <p:spPr>
          <a:xfrm>
            <a:off x="548640" y="3840480"/>
            <a:ext cx="5440680" cy="2011680"/>
          </a:xfrm>
          <a:prstGeom prst="roundRect">
            <a:avLst>
              <a:gd name="adj" fmla="val 3636"/>
            </a:avLst>
          </a:prstGeom>
          <a:solidFill>
            <a:srgbClr val="EEF4F9"/>
          </a:solidFill>
          <a:ln w="12700">
            <a:solidFill>
              <a:srgbClr val="EEF4F9"/>
            </a:solidFill>
            <a:prstDash val="solid"/>
          </a:ln>
        </p:spPr>
      </p:sp>
      <p:sp>
        <p:nvSpPr>
          <p:cNvPr id="17" name="Shape 14"/>
          <p:cNvSpPr/>
          <p:nvPr/>
        </p:nvSpPr>
        <p:spPr>
          <a:xfrm>
            <a:off x="822960" y="4114800"/>
            <a:ext cx="548640" cy="548640"/>
          </a:xfrm>
          <a:prstGeom prst="ellipse">
            <a:avLst/>
          </a:prstGeom>
          <a:solidFill>
            <a:srgbClr val="B03A2E"/>
          </a:solidFill>
          <a:ln w="12700">
            <a:solidFill>
              <a:srgbClr val="B03A2E"/>
            </a:solidFill>
            <a:prstDash val="solid"/>
          </a:ln>
        </p:spPr>
      </p:sp>
      <p:sp>
        <p:nvSpPr>
          <p:cNvPr id="18" name="Text 15"/>
          <p:cNvSpPr txBox="1"/>
          <p:nvPr/>
        </p:nvSpPr>
        <p:spPr>
          <a:xfrm>
            <a:off x="822960" y="4114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a:t>
            </a:r>
            <a:endParaRPr lang="en-US" sz="2200" dirty="0"/>
          </a:p>
        </p:txBody>
      </p:sp>
      <p:sp>
        <p:nvSpPr>
          <p:cNvPr id="19" name="Text 16"/>
          <p:cNvSpPr txBox="1"/>
          <p:nvPr/>
        </p:nvSpPr>
        <p:spPr>
          <a:xfrm>
            <a:off x="1600200" y="4160520"/>
            <a:ext cx="4114800" cy="457200"/>
          </a:xfrm>
          <a:prstGeom prst="rect">
            <a:avLst/>
          </a:prstGeom>
          <a:noFill/>
          <a:ln/>
        </p:spPr>
        <p:txBody>
          <a:bodyPr wrap="square" lIns="0" tIns="0" rIns="0" bIns="0" rtlCol="0" anchor="t"/>
          <a:lstStyle/>
          <a:p>
            <a:pPr indent="0" marL="0">
              <a:buNone/>
            </a:pPr>
            <a:r>
              <a:rPr lang="en-US" sz="1900" b="1" dirty="0">
                <a:solidFill>
                  <a:srgbClr val="11344E"/>
                </a:solidFill>
                <a:latin typeface="Arial" pitchFamily="34" charset="0"/>
                <a:ea typeface="Arial" pitchFamily="34" charset="-122"/>
                <a:cs typeface="Arial" pitchFamily="34" charset="-120"/>
              </a:rPr>
              <a:t>Restrictions matter</a:t>
            </a:r>
            <a:endParaRPr lang="en-US" sz="1900" dirty="0"/>
          </a:p>
        </p:txBody>
      </p:sp>
      <p:sp>
        <p:nvSpPr>
          <p:cNvPr id="20" name="Text 17"/>
          <p:cNvSpPr txBox="1"/>
          <p:nvPr/>
        </p:nvSpPr>
        <p:spPr>
          <a:xfrm>
            <a:off x="1600200" y="4709160"/>
            <a:ext cx="4160520" cy="100584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Write excluded values before solving. Check every candidate against the original denominators.</a:t>
            </a:r>
            <a:endParaRPr lang="en-US" sz="1400" dirty="0"/>
          </a:p>
        </p:txBody>
      </p:sp>
      <p:sp>
        <p:nvSpPr>
          <p:cNvPr id="21" name="Shape 18"/>
          <p:cNvSpPr/>
          <p:nvPr/>
        </p:nvSpPr>
        <p:spPr>
          <a:xfrm>
            <a:off x="6172200" y="3840480"/>
            <a:ext cx="5440680" cy="2011680"/>
          </a:xfrm>
          <a:prstGeom prst="roundRect">
            <a:avLst>
              <a:gd name="adj" fmla="val 3636"/>
            </a:avLst>
          </a:prstGeom>
          <a:solidFill>
            <a:srgbClr val="EEF4F9"/>
          </a:solidFill>
          <a:ln w="12700">
            <a:solidFill>
              <a:srgbClr val="EEF4F9"/>
            </a:solidFill>
            <a:prstDash val="solid"/>
          </a:ln>
        </p:spPr>
      </p:sp>
      <p:sp>
        <p:nvSpPr>
          <p:cNvPr id="22" name="Shape 19"/>
          <p:cNvSpPr/>
          <p:nvPr/>
        </p:nvSpPr>
        <p:spPr>
          <a:xfrm>
            <a:off x="6446520" y="4114800"/>
            <a:ext cx="548640" cy="548640"/>
          </a:xfrm>
          <a:prstGeom prst="ellipse">
            <a:avLst/>
          </a:prstGeom>
          <a:solidFill>
            <a:srgbClr val="1B7F5E"/>
          </a:solidFill>
          <a:ln w="12700">
            <a:solidFill>
              <a:srgbClr val="1B7F5E"/>
            </a:solidFill>
            <a:prstDash val="solid"/>
          </a:ln>
        </p:spPr>
      </p:sp>
      <p:sp>
        <p:nvSpPr>
          <p:cNvPr id="23" name="Text 20"/>
          <p:cNvSpPr txBox="1"/>
          <p:nvPr/>
        </p:nvSpPr>
        <p:spPr>
          <a:xfrm>
            <a:off x="6446520" y="4114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a:t>
            </a:r>
            <a:endParaRPr lang="en-US" sz="2200" dirty="0"/>
          </a:p>
        </p:txBody>
      </p:sp>
      <p:sp>
        <p:nvSpPr>
          <p:cNvPr id="24" name="Text 21"/>
          <p:cNvSpPr txBox="1"/>
          <p:nvPr/>
        </p:nvSpPr>
        <p:spPr>
          <a:xfrm>
            <a:off x="7223760" y="4160520"/>
            <a:ext cx="4114800" cy="457200"/>
          </a:xfrm>
          <a:prstGeom prst="rect">
            <a:avLst/>
          </a:prstGeom>
          <a:noFill/>
          <a:ln/>
        </p:spPr>
        <p:txBody>
          <a:bodyPr wrap="square" lIns="0" tIns="0" rIns="0" bIns="0" rtlCol="0" anchor="t"/>
          <a:lstStyle/>
          <a:p>
            <a:pPr indent="0" marL="0">
              <a:buNone/>
            </a:pPr>
            <a:r>
              <a:rPr lang="en-US" sz="1900" b="1" dirty="0">
                <a:solidFill>
                  <a:srgbClr val="11344E"/>
                </a:solidFill>
                <a:latin typeface="Arial" pitchFamily="34" charset="0"/>
                <a:ea typeface="Arial" pitchFamily="34" charset="-122"/>
                <a:cs typeface="Arial" pitchFamily="34" charset="-120"/>
              </a:rPr>
              <a:t>Answer the question asked</a:t>
            </a:r>
            <a:endParaRPr lang="en-US" sz="1900" dirty="0"/>
          </a:p>
        </p:txBody>
      </p:sp>
      <p:sp>
        <p:nvSpPr>
          <p:cNvPr id="25" name="Text 22"/>
          <p:cNvSpPr txBox="1"/>
          <p:nvPr/>
        </p:nvSpPr>
        <p:spPr>
          <a:xfrm>
            <a:off x="7223760" y="4709160"/>
            <a:ext cx="4160520" cy="100584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Maximum height is a height, not a time. A set is written as a set.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A 50-minute plan</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Budget your time before you begin</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7</a:t>
            </a:r>
            <a:endParaRPr lang="en-US" sz="800" dirty="0"/>
          </a:p>
        </p:txBody>
      </p:sp>
      <p:sp>
        <p:nvSpPr>
          <p:cNvPr id="6" name="Shape 3"/>
          <p:cNvSpPr/>
          <p:nvPr/>
        </p:nvSpPr>
        <p:spPr>
          <a:xfrm>
            <a:off x="548640" y="2011680"/>
            <a:ext cx="627278" cy="640080"/>
          </a:xfrm>
          <a:prstGeom prst="rect">
            <a:avLst/>
          </a:prstGeom>
          <a:solidFill>
            <a:srgbClr val="11344E"/>
          </a:solidFill>
          <a:ln w="12700">
            <a:solidFill>
              <a:srgbClr val="11344E"/>
            </a:solidFill>
            <a:prstDash val="solid"/>
          </a:ln>
        </p:spPr>
      </p:sp>
      <p:sp>
        <p:nvSpPr>
          <p:cNvPr id="7" name="Text 4"/>
          <p:cNvSpPr txBox="1"/>
          <p:nvPr/>
        </p:nvSpPr>
        <p:spPr>
          <a:xfrm>
            <a:off x="640080" y="2011680"/>
            <a:ext cx="54864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Scan</a:t>
            </a:r>
            <a:endParaRPr lang="en-US" sz="1500" dirty="0"/>
          </a:p>
        </p:txBody>
      </p:sp>
      <p:sp>
        <p:nvSpPr>
          <p:cNvPr id="8" name="Shape 5"/>
          <p:cNvSpPr/>
          <p:nvPr/>
        </p:nvSpPr>
        <p:spPr>
          <a:xfrm>
            <a:off x="1212494" y="2011680"/>
            <a:ext cx="8814816" cy="640080"/>
          </a:xfrm>
          <a:prstGeom prst="rect">
            <a:avLst/>
          </a:prstGeom>
          <a:solidFill>
            <a:srgbClr val="1777B4"/>
          </a:solidFill>
          <a:ln w="12700">
            <a:solidFill>
              <a:srgbClr val="1777B4"/>
            </a:solidFill>
            <a:prstDash val="solid"/>
          </a:ln>
        </p:spPr>
      </p:sp>
      <p:sp>
        <p:nvSpPr>
          <p:cNvPr id="9" name="Text 6"/>
          <p:cNvSpPr txBox="1"/>
          <p:nvPr/>
        </p:nvSpPr>
        <p:spPr>
          <a:xfrm>
            <a:off x="1303934" y="2011680"/>
            <a:ext cx="8668512" cy="64008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Work</a:t>
            </a:r>
            <a:endParaRPr lang="en-US" sz="1500" dirty="0"/>
          </a:p>
        </p:txBody>
      </p:sp>
      <p:sp>
        <p:nvSpPr>
          <p:cNvPr id="10" name="Shape 7"/>
          <p:cNvSpPr/>
          <p:nvPr/>
        </p:nvSpPr>
        <p:spPr>
          <a:xfrm>
            <a:off x="10063886" y="2011680"/>
            <a:ext cx="1512418" cy="640080"/>
          </a:xfrm>
          <a:prstGeom prst="rect">
            <a:avLst/>
          </a:prstGeom>
          <a:solidFill>
            <a:srgbClr val="1B7F5E"/>
          </a:solidFill>
          <a:ln w="12700">
            <a:solidFill>
              <a:srgbClr val="1B7F5E"/>
            </a:solidFill>
            <a:prstDash val="solid"/>
          </a:ln>
        </p:spPr>
      </p:sp>
      <p:sp>
        <p:nvSpPr>
          <p:cNvPr id="11" name="Text 8"/>
          <p:cNvSpPr txBox="1"/>
          <p:nvPr/>
        </p:nvSpPr>
        <p:spPr>
          <a:xfrm>
            <a:off x="10155326" y="2011680"/>
            <a:ext cx="1366114" cy="64008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Check</a:t>
            </a:r>
            <a:endParaRPr lang="en-US" sz="1500" dirty="0"/>
          </a:p>
        </p:txBody>
      </p:sp>
      <p:sp>
        <p:nvSpPr>
          <p:cNvPr id="12" name="Text 9"/>
          <p:cNvSpPr txBox="1"/>
          <p:nvPr/>
        </p:nvSpPr>
        <p:spPr>
          <a:xfrm>
            <a:off x="137160" y="2724912"/>
            <a:ext cx="822960" cy="228600"/>
          </a:xfrm>
          <a:prstGeom prst="rect">
            <a:avLst/>
          </a:prstGeom>
          <a:noFill/>
          <a:ln/>
        </p:spPr>
        <p:txBody>
          <a:bodyPr wrap="square" lIns="0" tIns="0" rIns="0" bIns="0" rtlCol="0" anchor="t"/>
          <a:lstStyle/>
          <a:p>
            <a:pPr algn="ctr" indent="0" marL="0">
              <a:buNone/>
            </a:pPr>
            <a:r>
              <a:rPr lang="en-US" sz="1000" dirty="0">
                <a:solidFill>
                  <a:srgbClr val="687783"/>
                </a:solidFill>
                <a:latin typeface="Arial" pitchFamily="34" charset="0"/>
                <a:ea typeface="Arial" pitchFamily="34" charset="-122"/>
                <a:cs typeface="Arial" pitchFamily="34" charset="-120"/>
              </a:rPr>
              <a:t>0 min</a:t>
            </a:r>
            <a:endParaRPr lang="en-US" sz="1000" dirty="0"/>
          </a:p>
        </p:txBody>
      </p:sp>
      <p:sp>
        <p:nvSpPr>
          <p:cNvPr id="13" name="Text 10"/>
          <p:cNvSpPr txBox="1"/>
          <p:nvPr/>
        </p:nvSpPr>
        <p:spPr>
          <a:xfrm>
            <a:off x="801014" y="2724912"/>
            <a:ext cx="822960" cy="228600"/>
          </a:xfrm>
          <a:prstGeom prst="rect">
            <a:avLst/>
          </a:prstGeom>
          <a:noFill/>
          <a:ln/>
        </p:spPr>
        <p:txBody>
          <a:bodyPr wrap="square" lIns="0" tIns="0" rIns="0" bIns="0" rtlCol="0" anchor="t"/>
          <a:lstStyle/>
          <a:p>
            <a:pPr algn="ctr" indent="0" marL="0">
              <a:buNone/>
            </a:pPr>
            <a:r>
              <a:rPr lang="en-US" sz="1000" dirty="0">
                <a:solidFill>
                  <a:srgbClr val="687783"/>
                </a:solidFill>
                <a:latin typeface="Arial" pitchFamily="34" charset="0"/>
                <a:ea typeface="Arial" pitchFamily="34" charset="-122"/>
                <a:cs typeface="Arial" pitchFamily="34" charset="-120"/>
              </a:rPr>
              <a:t>3 min</a:t>
            </a:r>
            <a:endParaRPr lang="en-US" sz="1000" dirty="0"/>
          </a:p>
        </p:txBody>
      </p:sp>
      <p:sp>
        <p:nvSpPr>
          <p:cNvPr id="14" name="Text 11"/>
          <p:cNvSpPr txBox="1"/>
          <p:nvPr/>
        </p:nvSpPr>
        <p:spPr>
          <a:xfrm>
            <a:off x="9652406" y="2724912"/>
            <a:ext cx="822960" cy="228600"/>
          </a:xfrm>
          <a:prstGeom prst="rect">
            <a:avLst/>
          </a:prstGeom>
          <a:noFill/>
          <a:ln/>
        </p:spPr>
        <p:txBody>
          <a:bodyPr wrap="square" lIns="0" tIns="0" rIns="0" bIns="0" rtlCol="0" anchor="t"/>
          <a:lstStyle/>
          <a:p>
            <a:pPr algn="ctr" indent="0" marL="0">
              <a:buNone/>
            </a:pPr>
            <a:r>
              <a:rPr lang="en-US" sz="1000" dirty="0">
                <a:solidFill>
                  <a:srgbClr val="687783"/>
                </a:solidFill>
                <a:latin typeface="Arial" pitchFamily="34" charset="0"/>
                <a:ea typeface="Arial" pitchFamily="34" charset="-122"/>
                <a:cs typeface="Arial" pitchFamily="34" charset="-120"/>
              </a:rPr>
              <a:t>43 min</a:t>
            </a:r>
            <a:endParaRPr lang="en-US" sz="1000" dirty="0"/>
          </a:p>
        </p:txBody>
      </p:sp>
      <p:sp>
        <p:nvSpPr>
          <p:cNvPr id="15" name="Text 12"/>
          <p:cNvSpPr txBox="1"/>
          <p:nvPr/>
        </p:nvSpPr>
        <p:spPr>
          <a:xfrm>
            <a:off x="11201400" y="2724912"/>
            <a:ext cx="822960" cy="228600"/>
          </a:xfrm>
          <a:prstGeom prst="rect">
            <a:avLst/>
          </a:prstGeom>
          <a:noFill/>
          <a:ln/>
        </p:spPr>
        <p:txBody>
          <a:bodyPr wrap="square" lIns="0" tIns="0" rIns="0" bIns="0" rtlCol="0" anchor="t"/>
          <a:lstStyle/>
          <a:p>
            <a:pPr algn="ctr" indent="0" marL="0">
              <a:buNone/>
            </a:pPr>
            <a:r>
              <a:rPr lang="en-US" sz="1000" dirty="0">
                <a:solidFill>
                  <a:srgbClr val="687783"/>
                </a:solidFill>
                <a:latin typeface="Arial" pitchFamily="34" charset="0"/>
                <a:ea typeface="Arial" pitchFamily="34" charset="-122"/>
                <a:cs typeface="Arial" pitchFamily="34" charset="-120"/>
              </a:rPr>
              <a:t>50 min</a:t>
            </a:r>
            <a:endParaRPr lang="en-US" sz="1000" dirty="0"/>
          </a:p>
        </p:txBody>
      </p:sp>
      <p:sp>
        <p:nvSpPr>
          <p:cNvPr id="16" name="Shape 13"/>
          <p:cNvSpPr/>
          <p:nvPr/>
        </p:nvSpPr>
        <p:spPr>
          <a:xfrm>
            <a:off x="548640" y="3429000"/>
            <a:ext cx="3520440" cy="2103120"/>
          </a:xfrm>
          <a:prstGeom prst="roundRect">
            <a:avLst>
              <a:gd name="adj" fmla="val 3478"/>
            </a:avLst>
          </a:prstGeom>
          <a:solidFill>
            <a:srgbClr val="EEF4F9"/>
          </a:solidFill>
          <a:ln w="12700">
            <a:solidFill>
              <a:srgbClr val="EEF4F9"/>
            </a:solidFill>
            <a:prstDash val="solid"/>
          </a:ln>
        </p:spPr>
      </p:sp>
      <p:sp>
        <p:nvSpPr>
          <p:cNvPr id="17" name="Text 14"/>
          <p:cNvSpPr txBox="1"/>
          <p:nvPr/>
        </p:nvSpPr>
        <p:spPr>
          <a:xfrm>
            <a:off x="822960" y="3611880"/>
            <a:ext cx="3017520" cy="411480"/>
          </a:xfrm>
          <a:prstGeom prst="rect">
            <a:avLst/>
          </a:prstGeom>
          <a:noFill/>
          <a:ln/>
        </p:spPr>
        <p:txBody>
          <a:bodyPr wrap="square" lIns="0" tIns="0" rIns="0" bIns="0" rtlCol="0" anchor="t"/>
          <a:lstStyle/>
          <a:p>
            <a:pPr indent="0" marL="0">
              <a:buNone/>
            </a:pPr>
            <a:r>
              <a:rPr lang="en-US" sz="1900" b="1" dirty="0">
                <a:solidFill>
                  <a:srgbClr val="11344E"/>
                </a:solidFill>
                <a:latin typeface="Arial" pitchFamily="34" charset="0"/>
                <a:ea typeface="Arial" pitchFamily="34" charset="-122"/>
                <a:cs typeface="Arial" pitchFamily="34" charset="-120"/>
              </a:rPr>
              <a:t>Scan</a:t>
            </a:r>
            <a:endParaRPr lang="en-US" sz="1900" dirty="0"/>
          </a:p>
        </p:txBody>
      </p:sp>
      <p:sp>
        <p:nvSpPr>
          <p:cNvPr id="18" name="Text 15"/>
          <p:cNvSpPr txBox="1"/>
          <p:nvPr/>
        </p:nvSpPr>
        <p:spPr>
          <a:xfrm>
            <a:off x="822960" y="4114800"/>
            <a:ext cx="3017520" cy="1280160"/>
          </a:xfrm>
          <a:prstGeom prst="rect">
            <a:avLst/>
          </a:prstGeom>
          <a:noFill/>
          <a:ln/>
        </p:spPr>
        <p:txBody>
          <a:bodyPr wrap="square" lIns="0" tIns="0" rIns="0" bIns="0" rtlCol="0" anchor="t"/>
          <a:lstStyle/>
          <a:p>
            <a:pPr indent="0" marL="0">
              <a:buNone/>
            </a:pPr>
            <a:r>
              <a:rPr lang="en-US" sz="1500" dirty="0">
                <a:solidFill>
                  <a:srgbClr val="11344E"/>
                </a:solidFill>
                <a:latin typeface="Arial" pitchFamily="34" charset="0"/>
                <a:ea typeface="Arial" pitchFamily="34" charset="-122"/>
                <a:cs typeface="Arial" pitchFamily="34" charset="-120"/>
              </a:rPr>
              <a:t>Read every direction line. Start with your strongest skill.</a:t>
            </a:r>
            <a:endParaRPr lang="en-US" sz="1500" dirty="0"/>
          </a:p>
        </p:txBody>
      </p:sp>
      <p:sp>
        <p:nvSpPr>
          <p:cNvPr id="19" name="Shape 16"/>
          <p:cNvSpPr/>
          <p:nvPr/>
        </p:nvSpPr>
        <p:spPr>
          <a:xfrm>
            <a:off x="4297680" y="3429000"/>
            <a:ext cx="3520440" cy="2103120"/>
          </a:xfrm>
          <a:prstGeom prst="roundRect">
            <a:avLst>
              <a:gd name="adj" fmla="val 3478"/>
            </a:avLst>
          </a:prstGeom>
          <a:solidFill>
            <a:srgbClr val="EEF4F9"/>
          </a:solidFill>
          <a:ln w="12700">
            <a:solidFill>
              <a:srgbClr val="EEF4F9"/>
            </a:solidFill>
            <a:prstDash val="solid"/>
          </a:ln>
        </p:spPr>
      </p:sp>
      <p:sp>
        <p:nvSpPr>
          <p:cNvPr id="20" name="Text 17"/>
          <p:cNvSpPr txBox="1"/>
          <p:nvPr/>
        </p:nvSpPr>
        <p:spPr>
          <a:xfrm>
            <a:off x="4572000" y="3611880"/>
            <a:ext cx="3017520" cy="411480"/>
          </a:xfrm>
          <a:prstGeom prst="rect">
            <a:avLst/>
          </a:prstGeom>
          <a:noFill/>
          <a:ln/>
        </p:spPr>
        <p:txBody>
          <a:bodyPr wrap="square" lIns="0" tIns="0" rIns="0" bIns="0" rtlCol="0" anchor="t"/>
          <a:lstStyle/>
          <a:p>
            <a:pPr indent="0" marL="0">
              <a:buNone/>
            </a:pPr>
            <a:r>
              <a:rPr lang="en-US" sz="1900" b="1" dirty="0">
                <a:solidFill>
                  <a:srgbClr val="1777B4"/>
                </a:solidFill>
                <a:latin typeface="Arial" pitchFamily="34" charset="0"/>
                <a:ea typeface="Arial" pitchFamily="34" charset="-122"/>
                <a:cs typeface="Arial" pitchFamily="34" charset="-120"/>
              </a:rPr>
              <a:t>Work</a:t>
            </a:r>
            <a:endParaRPr lang="en-US" sz="1900" dirty="0"/>
          </a:p>
        </p:txBody>
      </p:sp>
      <p:sp>
        <p:nvSpPr>
          <p:cNvPr id="21" name="Text 18"/>
          <p:cNvSpPr txBox="1"/>
          <p:nvPr/>
        </p:nvSpPr>
        <p:spPr>
          <a:xfrm>
            <a:off x="4572000" y="4114800"/>
            <a:ext cx="3017520" cy="1280160"/>
          </a:xfrm>
          <a:prstGeom prst="rect">
            <a:avLst/>
          </a:prstGeom>
          <a:noFill/>
          <a:ln/>
        </p:spPr>
        <p:txBody>
          <a:bodyPr wrap="square" lIns="0" tIns="0" rIns="0" bIns="0" rtlCol="0" anchor="t"/>
          <a:lstStyle/>
          <a:p>
            <a:pPr indent="0" marL="0">
              <a:buNone/>
            </a:pPr>
            <a:r>
              <a:rPr lang="en-US" sz="1500" dirty="0">
                <a:solidFill>
                  <a:srgbClr val="11344E"/>
                </a:solidFill>
                <a:latin typeface="Arial" pitchFamily="34" charset="0"/>
                <a:ea typeface="Arial" pitchFamily="34" charset="-122"/>
                <a:cs typeface="Arial" pitchFamily="34" charset="-120"/>
              </a:rPr>
              <a:t>About three minutes per skill. Skip and return rather than stall.</a:t>
            </a:r>
            <a:endParaRPr lang="en-US" sz="1500" dirty="0"/>
          </a:p>
        </p:txBody>
      </p:sp>
      <p:sp>
        <p:nvSpPr>
          <p:cNvPr id="22" name="Shape 19"/>
          <p:cNvSpPr/>
          <p:nvPr/>
        </p:nvSpPr>
        <p:spPr>
          <a:xfrm>
            <a:off x="8046720" y="3429000"/>
            <a:ext cx="3520440" cy="2103120"/>
          </a:xfrm>
          <a:prstGeom prst="roundRect">
            <a:avLst>
              <a:gd name="adj" fmla="val 3478"/>
            </a:avLst>
          </a:prstGeom>
          <a:solidFill>
            <a:srgbClr val="EEF4F9"/>
          </a:solidFill>
          <a:ln w="12700">
            <a:solidFill>
              <a:srgbClr val="EEF4F9"/>
            </a:solidFill>
            <a:prstDash val="solid"/>
          </a:ln>
        </p:spPr>
      </p:sp>
      <p:sp>
        <p:nvSpPr>
          <p:cNvPr id="23" name="Text 20"/>
          <p:cNvSpPr txBox="1"/>
          <p:nvPr/>
        </p:nvSpPr>
        <p:spPr>
          <a:xfrm>
            <a:off x="8321040" y="3611880"/>
            <a:ext cx="3017520" cy="411480"/>
          </a:xfrm>
          <a:prstGeom prst="rect">
            <a:avLst/>
          </a:prstGeom>
          <a:noFill/>
          <a:ln/>
        </p:spPr>
        <p:txBody>
          <a:bodyPr wrap="square" lIns="0" tIns="0" rIns="0" bIns="0" rtlCol="0" anchor="t"/>
          <a:lstStyle/>
          <a:p>
            <a:pPr indent="0" marL="0">
              <a:buNone/>
            </a:pPr>
            <a:r>
              <a:rPr lang="en-US" sz="1900" b="1" dirty="0">
                <a:solidFill>
                  <a:srgbClr val="1B7F5E"/>
                </a:solidFill>
                <a:latin typeface="Arial" pitchFamily="34" charset="0"/>
                <a:ea typeface="Arial" pitchFamily="34" charset="-122"/>
                <a:cs typeface="Arial" pitchFamily="34" charset="-120"/>
              </a:rPr>
              <a:t>Check</a:t>
            </a:r>
            <a:endParaRPr lang="en-US" sz="1900" dirty="0"/>
          </a:p>
        </p:txBody>
      </p:sp>
      <p:sp>
        <p:nvSpPr>
          <p:cNvPr id="24" name="Text 21"/>
          <p:cNvSpPr txBox="1"/>
          <p:nvPr/>
        </p:nvSpPr>
        <p:spPr>
          <a:xfrm>
            <a:off x="8321040" y="4114800"/>
            <a:ext cx="3017520" cy="1280160"/>
          </a:xfrm>
          <a:prstGeom prst="rect">
            <a:avLst/>
          </a:prstGeom>
          <a:noFill/>
          <a:ln/>
        </p:spPr>
        <p:txBody>
          <a:bodyPr wrap="square" lIns="0" tIns="0" rIns="0" bIns="0" rtlCol="0" anchor="t"/>
          <a:lstStyle/>
          <a:p>
            <a:pPr indent="0" marL="0">
              <a:buNone/>
            </a:pPr>
            <a:r>
              <a:rPr lang="en-US" sz="1500" dirty="0">
                <a:solidFill>
                  <a:srgbClr val="11344E"/>
                </a:solidFill>
                <a:latin typeface="Arial" pitchFamily="34" charset="0"/>
                <a:ea typeface="Arial" pitchFamily="34" charset="-122"/>
                <a:cs typeface="Arial" pitchFamily="34" charset="-120"/>
              </a:rPr>
              <a:t>Signs, restrictions, and the requested form.</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A: algebra foundations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Factor completely. Simplify using positive exponents only.</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8</a:t>
            </a:r>
            <a:endParaRPr lang="en-US" sz="800" dirty="0"/>
          </a:p>
        </p:txBody>
      </p:sp>
      <p:sp>
        <p:nvSpPr>
          <p:cNvPr id="6" name="Shape 3"/>
          <p:cNvSpPr/>
          <p:nvPr/>
        </p:nvSpPr>
        <p:spPr>
          <a:xfrm>
            <a:off x="9464040" y="411480"/>
            <a:ext cx="2148840" cy="457200"/>
          </a:xfrm>
          <a:prstGeom prst="roundRect">
            <a:avLst>
              <a:gd name="adj" fmla="val 16000"/>
            </a:avLst>
          </a:prstGeom>
          <a:solidFill>
            <a:srgbClr val="EAF5F0"/>
          </a:solidFill>
          <a:ln w="12700">
            <a:solidFill>
              <a:srgbClr val="EAF5F0"/>
            </a:solidFill>
            <a:prstDash val="solid"/>
          </a:ln>
        </p:spPr>
      </p:sp>
      <p:sp>
        <p:nvSpPr>
          <p:cNvPr id="7" name="Text 4"/>
          <p:cNvSpPr txBox="1"/>
          <p:nvPr/>
        </p:nvSpPr>
        <p:spPr>
          <a:xfrm>
            <a:off x="9464040" y="411480"/>
            <a:ext cx="2148840" cy="457200"/>
          </a:xfrm>
          <a:prstGeom prst="rect">
            <a:avLst/>
          </a:prstGeom>
          <a:noFill/>
          <a:ln/>
        </p:spPr>
        <p:txBody>
          <a:bodyPr wrap="square" lIns="0" tIns="0" rIns="0" bIns="0" rtlCol="0" anchor="ctr"/>
          <a:lstStyle/>
          <a:p>
            <a:pPr algn="ctr" indent="0" marL="0">
              <a:buNone/>
            </a:pPr>
            <a:r>
              <a:rPr lang="en-US" sz="1300" b="1" dirty="0">
                <a:solidFill>
                  <a:srgbClr val="1B7F5E"/>
                </a:solidFill>
                <a:latin typeface="Arial" pitchFamily="34" charset="0"/>
                <a:ea typeface="Arial" pitchFamily="34" charset="-122"/>
                <a:cs typeface="Arial" pitchFamily="34" charset="-120"/>
              </a:rPr>
              <a:t>6 minutes</a:t>
            </a:r>
            <a:endParaRPr lang="en-US" sz="1300" dirty="0"/>
          </a:p>
        </p:txBody>
      </p:sp>
      <p:sp>
        <p:nvSpPr>
          <p:cNvPr id="8" name="Text 5"/>
          <p:cNvSpPr txBox="1"/>
          <p:nvPr/>
        </p:nvSpPr>
        <p:spPr>
          <a:xfrm>
            <a:off x="548640" y="1554480"/>
            <a:ext cx="502920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Factor completely</a:t>
            </a:r>
            <a:endParaRPr lang="en-US" sz="1600" dirty="0"/>
          </a:p>
        </p:txBody>
      </p:sp>
      <p:sp>
        <p:nvSpPr>
          <p:cNvPr id="9" name="Text 6"/>
          <p:cNvSpPr txBox="1"/>
          <p:nvPr/>
        </p:nvSpPr>
        <p:spPr>
          <a:xfrm>
            <a:off x="548640" y="2103120"/>
            <a:ext cx="5029200" cy="457200"/>
          </a:xfrm>
          <a:prstGeom prst="rect">
            <a:avLst/>
          </a:prstGeom>
          <a:noFill/>
          <a:ln/>
        </p:spPr>
        <p:txBody>
          <a:bodyPr wrap="square" lIns="0" tIns="0" rIns="0" bIns="0" rtlCol="0" anchor="t"/>
          <a:lstStyle/>
          <a:p>
            <a:pPr indent="0" marL="0">
              <a:buNone/>
            </a:pPr>
            <a:r>
              <a:rPr lang="en-US" sz="2600" dirty="0">
                <a:solidFill>
                  <a:srgbClr val="11344E"/>
                </a:solidFill>
                <a:latin typeface="Times New Roman" pitchFamily="34" charset="0"/>
                <a:ea typeface="Times New Roman" pitchFamily="34" charset="-122"/>
                <a:cs typeface="Times New Roman" pitchFamily="34" charset="-120"/>
              </a:rPr>
              <a:t>1.   5x</a:t>
            </a:r>
            <a:pP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600" dirty="0">
                <a:solidFill>
                  <a:srgbClr val="11344E"/>
                </a:solidFill>
                <a:latin typeface="Times New Roman" pitchFamily="34" charset="0"/>
                <a:ea typeface="Times New Roman" pitchFamily="34" charset="-122"/>
                <a:cs typeface="Times New Roman" pitchFamily="34" charset="-120"/>
              </a:rPr>
              <a:t> + 5x − 30</a:t>
            </a:r>
            <a:endParaRPr lang="en-US" sz="2600" dirty="0"/>
          </a:p>
        </p:txBody>
      </p:sp>
      <p:sp>
        <p:nvSpPr>
          <p:cNvPr id="10" name="Text 7"/>
          <p:cNvSpPr txBox="1"/>
          <p:nvPr/>
        </p:nvSpPr>
        <p:spPr>
          <a:xfrm>
            <a:off x="548640" y="2926080"/>
            <a:ext cx="5029200" cy="457200"/>
          </a:xfrm>
          <a:prstGeom prst="rect">
            <a:avLst/>
          </a:prstGeom>
          <a:noFill/>
          <a:ln/>
        </p:spPr>
        <p:txBody>
          <a:bodyPr wrap="square" lIns="0" tIns="0" rIns="0" bIns="0" rtlCol="0" anchor="t"/>
          <a:lstStyle/>
          <a:p>
            <a:pPr indent="0" marL="0">
              <a:buNone/>
            </a:pPr>
            <a:r>
              <a:rPr lang="en-US" sz="2600" dirty="0">
                <a:solidFill>
                  <a:srgbClr val="11344E"/>
                </a:solidFill>
                <a:latin typeface="Times New Roman" pitchFamily="34" charset="0"/>
                <a:ea typeface="Times New Roman" pitchFamily="34" charset="-122"/>
                <a:cs typeface="Times New Roman" pitchFamily="34" charset="-120"/>
              </a:rPr>
              <a:t>2.   3x</a:t>
            </a:r>
            <a:pP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4</a:t>
            </a:r>
            <a:pPr indent="0" marL="0">
              <a:buNone/>
            </a:pPr>
            <a:r>
              <a:rPr lang="en-US" sz="2600" dirty="0">
                <a:solidFill>
                  <a:srgbClr val="11344E"/>
                </a:solidFill>
                <a:latin typeface="Times New Roman" pitchFamily="34" charset="0"/>
                <a:ea typeface="Times New Roman" pitchFamily="34" charset="-122"/>
                <a:cs typeface="Times New Roman" pitchFamily="34" charset="-120"/>
              </a:rPr>
              <a:t> − 21x</a:t>
            </a:r>
            <a:pP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3</a:t>
            </a:r>
            <a:pPr indent="0" marL="0">
              <a:buNone/>
            </a:pPr>
            <a:r>
              <a:rPr lang="en-US" sz="2600" dirty="0">
                <a:solidFill>
                  <a:srgbClr val="11344E"/>
                </a:solidFill>
                <a:latin typeface="Times New Roman" pitchFamily="34" charset="0"/>
                <a:ea typeface="Times New Roman" pitchFamily="34" charset="-122"/>
                <a:cs typeface="Times New Roman" pitchFamily="34" charset="-120"/>
              </a:rPr>
              <a:t> + 30x</a:t>
            </a:r>
            <a:pP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2</a:t>
            </a:r>
            <a:endParaRPr lang="en-US" sz="2600" dirty="0"/>
          </a:p>
        </p:txBody>
      </p:sp>
      <p:sp>
        <p:nvSpPr>
          <p:cNvPr id="11" name="Text 8"/>
          <p:cNvSpPr txBox="1"/>
          <p:nvPr/>
        </p:nvSpPr>
        <p:spPr>
          <a:xfrm>
            <a:off x="6217920" y="1554480"/>
            <a:ext cx="539496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Simplify (all variables nonzero)</a:t>
            </a:r>
            <a:endParaRPr lang="en-US" sz="1600" dirty="0"/>
          </a:p>
        </p:txBody>
      </p:sp>
      <p:sp>
        <p:nvSpPr>
          <p:cNvPr id="12" name="Text 9"/>
          <p:cNvSpPr txBox="1"/>
          <p:nvPr/>
        </p:nvSpPr>
        <p:spPr>
          <a:xfrm>
            <a:off x="6217920" y="2377440"/>
            <a:ext cx="457200" cy="457200"/>
          </a:xfrm>
          <a:prstGeom prst="rect">
            <a:avLst/>
          </a:prstGeom>
          <a:noFill/>
          <a:ln/>
        </p:spPr>
        <p:txBody>
          <a:bodyPr wrap="square" lIns="0" tIns="0" rIns="0" bIns="0" rtlCol="0" anchor="t"/>
          <a:lstStyle/>
          <a:p>
            <a:pPr indent="0" marL="0">
              <a:buNone/>
            </a:pPr>
            <a:r>
              <a:rPr lang="en-US" sz="2600" dirty="0">
                <a:solidFill>
                  <a:srgbClr val="11344E"/>
                </a:solidFill>
                <a:latin typeface="Times New Roman" pitchFamily="34" charset="0"/>
                <a:ea typeface="Times New Roman" pitchFamily="34" charset="-122"/>
                <a:cs typeface="Times New Roman" pitchFamily="34" charset="-120"/>
              </a:rPr>
              <a:t>3.</a:t>
            </a:r>
            <a:endParaRPr lang="en-US" sz="2600" dirty="0"/>
          </a:p>
        </p:txBody>
      </p:sp>
      <p:sp>
        <p:nvSpPr>
          <p:cNvPr id="13" name="Text 10"/>
          <p:cNvSpPr txBox="1"/>
          <p:nvPr/>
        </p:nvSpPr>
        <p:spPr>
          <a:xfrm>
            <a:off x="6720840" y="2011680"/>
            <a:ext cx="2011680" cy="429260"/>
          </a:xfrm>
          <a:prstGeom prst="rect">
            <a:avLst/>
          </a:prstGeom>
          <a:noFill/>
          <a:ln/>
        </p:spPr>
        <p:txBody>
          <a:bodyPr wrap="square" lIns="0" tIns="0" rIns="0" bIns="0" rtlCol="0" anchor="b"/>
          <a:lstStyle/>
          <a:p>
            <a:pPr algn="ctr" indent="0" marL="0">
              <a:buNone/>
            </a:pPr>
            <a:r>
              <a:rPr lang="en-US" sz="2600" dirty="0">
                <a:solidFill>
                  <a:srgbClr val="11344E"/>
                </a:solidFill>
                <a:latin typeface="Times New Roman" pitchFamily="34" charset="0"/>
                <a:ea typeface="Times New Roman" pitchFamily="34" charset="-122"/>
                <a:cs typeface="Times New Roman" pitchFamily="34" charset="-120"/>
              </a:rPr>
              <a:t>x</a:t>
            </a:r>
            <a:pPr algn="ct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−4</a:t>
            </a:r>
            <a:pPr algn="ctr" indent="0" marL="0">
              <a:buNone/>
            </a:pPr>
            <a:r>
              <a:rPr lang="en-US" sz="2600" dirty="0">
                <a:solidFill>
                  <a:srgbClr val="11344E"/>
                </a:solidFill>
                <a:latin typeface="Times New Roman" pitchFamily="34" charset="0"/>
                <a:ea typeface="Times New Roman" pitchFamily="34" charset="-122"/>
                <a:cs typeface="Times New Roman" pitchFamily="34" charset="-120"/>
              </a:rPr>
              <a:t>y</a:t>
            </a:r>
            <a:pPr algn="ct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6</a:t>
            </a:r>
            <a:pPr algn="ctr" indent="0" marL="0">
              <a:buNone/>
            </a:pPr>
            <a:r>
              <a:rPr lang="en-US" sz="2600" dirty="0">
                <a:solidFill>
                  <a:srgbClr val="11344E"/>
                </a:solidFill>
                <a:latin typeface="Times New Roman" pitchFamily="34" charset="0"/>
                <a:ea typeface="Times New Roman" pitchFamily="34" charset="-122"/>
                <a:cs typeface="Times New Roman" pitchFamily="34" charset="-120"/>
              </a:rPr>
              <a:t>z</a:t>
            </a:r>
            <a:pPr algn="ct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−2</a:t>
            </a:r>
            <a:endParaRPr lang="en-US" sz="2600" dirty="0"/>
          </a:p>
        </p:txBody>
      </p:sp>
      <p:sp>
        <p:nvSpPr>
          <p:cNvPr id="14" name="Shape 11"/>
          <p:cNvSpPr/>
          <p:nvPr/>
        </p:nvSpPr>
        <p:spPr>
          <a:xfrm>
            <a:off x="6766560" y="2468372"/>
            <a:ext cx="1920240" cy="0"/>
          </a:xfrm>
          <a:prstGeom prst="line">
            <a:avLst/>
          </a:prstGeom>
          <a:noFill/>
          <a:ln w="12700">
            <a:solidFill>
              <a:srgbClr val="11344E"/>
            </a:solidFill>
            <a:prstDash val="solid"/>
          </a:ln>
        </p:spPr>
      </p:sp>
      <p:sp>
        <p:nvSpPr>
          <p:cNvPr id="15" name="Text 12"/>
          <p:cNvSpPr txBox="1"/>
          <p:nvPr/>
        </p:nvSpPr>
        <p:spPr>
          <a:xfrm>
            <a:off x="6720840" y="2504948"/>
            <a:ext cx="2011680" cy="429260"/>
          </a:xfrm>
          <a:prstGeom prst="rect">
            <a:avLst/>
          </a:prstGeom>
          <a:noFill/>
          <a:ln/>
        </p:spPr>
        <p:txBody>
          <a:bodyPr wrap="square" lIns="0" tIns="0" rIns="0" bIns="0" rtlCol="0" anchor="t"/>
          <a:lstStyle/>
          <a:p>
            <a:pPr algn="ctr" indent="0" marL="0">
              <a:buNone/>
            </a:pPr>
            <a:r>
              <a:rPr lang="en-US" sz="2600" dirty="0">
                <a:solidFill>
                  <a:srgbClr val="11344E"/>
                </a:solidFill>
                <a:latin typeface="Times New Roman" pitchFamily="34" charset="0"/>
                <a:ea typeface="Times New Roman" pitchFamily="34" charset="-122"/>
                <a:cs typeface="Times New Roman" pitchFamily="34" charset="-120"/>
              </a:rPr>
              <a:t>x</a:t>
            </a:r>
            <a:pPr algn="ct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3</a:t>
            </a:r>
            <a:pPr algn="ctr" indent="0" marL="0">
              <a:buNone/>
            </a:pPr>
            <a:r>
              <a:rPr lang="en-US" sz="2600" dirty="0">
                <a:solidFill>
                  <a:srgbClr val="11344E"/>
                </a:solidFill>
                <a:latin typeface="Times New Roman" pitchFamily="34" charset="0"/>
                <a:ea typeface="Times New Roman" pitchFamily="34" charset="-122"/>
                <a:cs typeface="Times New Roman" pitchFamily="34" charset="-120"/>
              </a:rPr>
              <a:t>y</a:t>
            </a:r>
            <a:pPr algn="ct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−2</a:t>
            </a:r>
            <a:pPr algn="ctr" indent="0" marL="0">
              <a:buNone/>
            </a:pPr>
            <a:r>
              <a:rPr lang="en-US" sz="2600" dirty="0">
                <a:solidFill>
                  <a:srgbClr val="11344E"/>
                </a:solidFill>
                <a:latin typeface="Times New Roman" pitchFamily="34" charset="0"/>
                <a:ea typeface="Times New Roman" pitchFamily="34" charset="-122"/>
                <a:cs typeface="Times New Roman" pitchFamily="34" charset="-120"/>
              </a:rPr>
              <a:t>z</a:t>
            </a:r>
            <a:pPr algn="ct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5</a:t>
            </a:r>
            <a:endParaRPr lang="en-US" sz="2600" dirty="0"/>
          </a:p>
        </p:txBody>
      </p:sp>
      <p:sp>
        <p:nvSpPr>
          <p:cNvPr id="16" name="Text 13"/>
          <p:cNvSpPr txBox="1"/>
          <p:nvPr/>
        </p:nvSpPr>
        <p:spPr>
          <a:xfrm>
            <a:off x="6217920" y="3886200"/>
            <a:ext cx="457200" cy="457200"/>
          </a:xfrm>
          <a:prstGeom prst="rect">
            <a:avLst/>
          </a:prstGeom>
          <a:noFill/>
          <a:ln/>
        </p:spPr>
        <p:txBody>
          <a:bodyPr wrap="square" lIns="0" tIns="0" rIns="0" bIns="0" rtlCol="0" anchor="t"/>
          <a:lstStyle/>
          <a:p>
            <a:pPr indent="0" marL="0">
              <a:buNone/>
            </a:pPr>
            <a:r>
              <a:rPr lang="en-US" sz="2600" dirty="0">
                <a:solidFill>
                  <a:srgbClr val="11344E"/>
                </a:solidFill>
                <a:latin typeface="Times New Roman" pitchFamily="34" charset="0"/>
                <a:ea typeface="Times New Roman" pitchFamily="34" charset="-122"/>
                <a:cs typeface="Times New Roman" pitchFamily="34" charset="-120"/>
              </a:rPr>
              <a:t>4.</a:t>
            </a:r>
            <a:endParaRPr lang="en-US" sz="2600" dirty="0"/>
          </a:p>
        </p:txBody>
      </p:sp>
      <p:sp>
        <p:nvSpPr>
          <p:cNvPr id="17" name="Text 14"/>
          <p:cNvSpPr txBox="1"/>
          <p:nvPr/>
        </p:nvSpPr>
        <p:spPr>
          <a:xfrm>
            <a:off x="6720840" y="3611880"/>
            <a:ext cx="274320" cy="914400"/>
          </a:xfrm>
          <a:prstGeom prst="rect">
            <a:avLst/>
          </a:prstGeom>
          <a:noFill/>
          <a:ln/>
        </p:spPr>
        <p:txBody>
          <a:bodyPr wrap="square" lIns="0" tIns="0" rIns="0" bIns="0" rtlCol="0" anchor="ctr"/>
          <a:lstStyle/>
          <a:p>
            <a:pPr indent="0" marL="0">
              <a:buNone/>
            </a:pPr>
            <a:r>
              <a:rPr lang="en-US" sz="5000" dirty="0">
                <a:solidFill>
                  <a:srgbClr val="11344E"/>
                </a:solidFill>
                <a:latin typeface="Times New Roman" pitchFamily="34" charset="0"/>
                <a:ea typeface="Times New Roman" pitchFamily="34" charset="-122"/>
                <a:cs typeface="Times New Roman" pitchFamily="34" charset="-120"/>
              </a:rPr>
              <a:t>(</a:t>
            </a:r>
            <a:endParaRPr lang="en-US" sz="5000" dirty="0"/>
          </a:p>
        </p:txBody>
      </p:sp>
      <p:sp>
        <p:nvSpPr>
          <p:cNvPr id="18" name="Text 15"/>
          <p:cNvSpPr txBox="1"/>
          <p:nvPr/>
        </p:nvSpPr>
        <p:spPr>
          <a:xfrm>
            <a:off x="6949440" y="3520440"/>
            <a:ext cx="1371600" cy="429260"/>
          </a:xfrm>
          <a:prstGeom prst="rect">
            <a:avLst/>
          </a:prstGeom>
          <a:noFill/>
          <a:ln/>
        </p:spPr>
        <p:txBody>
          <a:bodyPr wrap="square" lIns="0" tIns="0" rIns="0" bIns="0" rtlCol="0" anchor="b"/>
          <a:lstStyle/>
          <a:p>
            <a:pPr algn="ctr" indent="0" marL="0">
              <a:buNone/>
            </a:pPr>
            <a:r>
              <a:rPr lang="en-US" sz="2600" dirty="0">
                <a:solidFill>
                  <a:srgbClr val="11344E"/>
                </a:solidFill>
                <a:latin typeface="Times New Roman" pitchFamily="34" charset="0"/>
                <a:ea typeface="Times New Roman" pitchFamily="34" charset="-122"/>
                <a:cs typeface="Times New Roman" pitchFamily="34" charset="-120"/>
              </a:rPr>
              <a:t>9xy</a:t>
            </a:r>
            <a:pPr algn="ct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−2</a:t>
            </a:r>
            <a:endParaRPr lang="en-US" sz="2600" dirty="0"/>
          </a:p>
        </p:txBody>
      </p:sp>
      <p:sp>
        <p:nvSpPr>
          <p:cNvPr id="19" name="Shape 16"/>
          <p:cNvSpPr/>
          <p:nvPr/>
        </p:nvSpPr>
        <p:spPr>
          <a:xfrm>
            <a:off x="6995160" y="3977132"/>
            <a:ext cx="1280160" cy="0"/>
          </a:xfrm>
          <a:prstGeom prst="line">
            <a:avLst/>
          </a:prstGeom>
          <a:noFill/>
          <a:ln w="12700">
            <a:solidFill>
              <a:srgbClr val="11344E"/>
            </a:solidFill>
            <a:prstDash val="solid"/>
          </a:ln>
        </p:spPr>
      </p:sp>
      <p:sp>
        <p:nvSpPr>
          <p:cNvPr id="20" name="Text 17"/>
          <p:cNvSpPr txBox="1"/>
          <p:nvPr/>
        </p:nvSpPr>
        <p:spPr>
          <a:xfrm>
            <a:off x="6949440" y="4013708"/>
            <a:ext cx="1371600" cy="429260"/>
          </a:xfrm>
          <a:prstGeom prst="rect">
            <a:avLst/>
          </a:prstGeom>
          <a:noFill/>
          <a:ln/>
        </p:spPr>
        <p:txBody>
          <a:bodyPr wrap="square" lIns="0" tIns="0" rIns="0" bIns="0" rtlCol="0" anchor="t"/>
          <a:lstStyle/>
          <a:p>
            <a:pPr algn="ctr" indent="0" marL="0">
              <a:buNone/>
            </a:pPr>
            <a:r>
              <a:rPr lang="en-US" sz="2600" dirty="0">
                <a:solidFill>
                  <a:srgbClr val="11344E"/>
                </a:solidFill>
                <a:latin typeface="Times New Roman" pitchFamily="34" charset="0"/>
                <a:ea typeface="Times New Roman" pitchFamily="34" charset="-122"/>
                <a:cs typeface="Times New Roman" pitchFamily="34" charset="-120"/>
              </a:rPr>
              <a:t>3z</a:t>
            </a:r>
            <a:pPr algn="ctr" indent="0" marL="0">
              <a:buNone/>
            </a:pPr>
            <a:r>
              <a:rPr lang="en-US" sz="2600" baseline="30000" dirty="0">
                <a:solidFill>
                  <a:srgbClr val="11344E"/>
                </a:solidFill>
                <a:latin typeface="Times New Roman" pitchFamily="34" charset="0"/>
                <a:ea typeface="Times New Roman" pitchFamily="34" charset="-122"/>
                <a:cs typeface="Times New Roman" pitchFamily="34" charset="-120"/>
              </a:rPr>
              <a:t>3</a:t>
            </a:r>
            <a:endParaRPr lang="en-US" sz="2600" dirty="0"/>
          </a:p>
        </p:txBody>
      </p:sp>
      <p:sp>
        <p:nvSpPr>
          <p:cNvPr id="21" name="Text 18"/>
          <p:cNvSpPr txBox="1"/>
          <p:nvPr/>
        </p:nvSpPr>
        <p:spPr>
          <a:xfrm>
            <a:off x="8321040" y="3611880"/>
            <a:ext cx="274320" cy="914400"/>
          </a:xfrm>
          <a:prstGeom prst="rect">
            <a:avLst/>
          </a:prstGeom>
          <a:noFill/>
          <a:ln/>
        </p:spPr>
        <p:txBody>
          <a:bodyPr wrap="square" lIns="0" tIns="0" rIns="0" bIns="0" rtlCol="0" anchor="ctr"/>
          <a:lstStyle/>
          <a:p>
            <a:pPr indent="0" marL="0">
              <a:buNone/>
            </a:pPr>
            <a:r>
              <a:rPr lang="en-US" sz="5000" dirty="0">
                <a:solidFill>
                  <a:srgbClr val="11344E"/>
                </a:solidFill>
                <a:latin typeface="Times New Roman" pitchFamily="34" charset="0"/>
                <a:ea typeface="Times New Roman" pitchFamily="34" charset="-122"/>
                <a:cs typeface="Times New Roman" pitchFamily="34" charset="-120"/>
              </a:rPr>
              <a:t>)</a:t>
            </a:r>
            <a:endParaRPr lang="en-US" sz="5000" dirty="0"/>
          </a:p>
        </p:txBody>
      </p:sp>
      <p:sp>
        <p:nvSpPr>
          <p:cNvPr id="22" name="Text 19"/>
          <p:cNvSpPr txBox="1"/>
          <p:nvPr/>
        </p:nvSpPr>
        <p:spPr>
          <a:xfrm>
            <a:off x="8577072" y="3566160"/>
            <a:ext cx="365760" cy="365760"/>
          </a:xfrm>
          <a:prstGeom prst="rect">
            <a:avLst/>
          </a:prstGeom>
          <a:noFill/>
          <a:ln/>
        </p:spPr>
        <p:txBody>
          <a:bodyPr wrap="square" lIns="0" tIns="0" rIns="0" bIns="0" rtlCol="0" anchor="t"/>
          <a:lstStyle/>
          <a:p>
            <a:pPr indent="0" marL="0">
              <a:buNone/>
            </a:pPr>
            <a:r>
              <a:rPr lang="en-US" sz="2400" dirty="0">
                <a:solidFill>
                  <a:srgbClr val="11344E"/>
                </a:solidFill>
                <a:latin typeface="Times New Roman" pitchFamily="34" charset="0"/>
                <a:ea typeface="Times New Roman" pitchFamily="34" charset="-122"/>
                <a:cs typeface="Times New Roman" pitchFamily="34" charset="-120"/>
              </a:rPr>
              <a:t>3</a:t>
            </a:r>
            <a:endParaRPr lang="en-US" sz="2400" dirty="0"/>
          </a:p>
        </p:txBody>
      </p:sp>
      <p:sp>
        <p:nvSpPr>
          <p:cNvPr id="23" name="Shape 20"/>
          <p:cNvSpPr/>
          <p:nvPr/>
        </p:nvSpPr>
        <p:spPr>
          <a:xfrm>
            <a:off x="548640" y="5029200"/>
            <a:ext cx="11064240" cy="1005840"/>
          </a:xfrm>
          <a:prstGeom prst="roundRect">
            <a:avLst>
              <a:gd name="adj" fmla="val 7273"/>
            </a:avLst>
          </a:prstGeom>
          <a:solidFill>
            <a:srgbClr val="EEF4F9"/>
          </a:solidFill>
          <a:ln w="12700">
            <a:solidFill>
              <a:srgbClr val="EEF4F9"/>
            </a:solidFill>
            <a:prstDash val="solid"/>
          </a:ln>
        </p:spPr>
      </p:sp>
      <p:sp>
        <p:nvSpPr>
          <p:cNvPr id="24" name="Text 21"/>
          <p:cNvSpPr txBox="1"/>
          <p:nvPr/>
        </p:nvSpPr>
        <p:spPr>
          <a:xfrm>
            <a:off x="822960" y="5029200"/>
            <a:ext cx="10515600" cy="1005840"/>
          </a:xfrm>
          <a:prstGeom prst="rect">
            <a:avLst/>
          </a:prstGeom>
          <a:noFill/>
          <a:ln/>
        </p:spPr>
        <p:txBody>
          <a:bodyPr wrap="square" lIns="0" tIns="0" rIns="0" bIns="0" rtlCol="0" anchor="ctr"/>
          <a:lstStyle/>
          <a:p>
            <a:pPr indent="0" marL="0">
              <a:buNone/>
            </a:pPr>
            <a:r>
              <a:rPr lang="en-US" sz="1500" dirty="0">
                <a:solidFill>
                  <a:srgbClr val="11344E"/>
                </a:solidFill>
                <a:latin typeface="Arial" pitchFamily="34" charset="0"/>
                <a:ea typeface="Arial" pitchFamily="34" charset="-122"/>
                <a:cs typeface="Arial" pitchFamily="34" charset="-120"/>
              </a:rPr>
              <a:t>Check: factoring is complete only when no factor can be factored again. Multiply back to verify.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A: solutions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GCF first, then factor the trinomial that remains</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9</a:t>
            </a:r>
            <a:endParaRPr lang="en-US" sz="800" dirty="0"/>
          </a:p>
        </p:txBody>
      </p:sp>
      <p:sp>
        <p:nvSpPr>
          <p:cNvPr id="6" name="Text 3"/>
          <p:cNvSpPr txBox="1"/>
          <p:nvPr/>
        </p:nvSpPr>
        <p:spPr>
          <a:xfrm>
            <a:off x="548640" y="1600200"/>
            <a:ext cx="576072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1.   5(x</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200" dirty="0">
                <a:solidFill>
                  <a:srgbClr val="11344E"/>
                </a:solidFill>
                <a:latin typeface="Times New Roman" pitchFamily="34" charset="0"/>
                <a:ea typeface="Times New Roman" pitchFamily="34" charset="-122"/>
                <a:cs typeface="Times New Roman" pitchFamily="34" charset="-120"/>
              </a:rPr>
              <a:t> + x − 6) = 5(x + 3)(x − 2)</a:t>
            </a:r>
            <a:endParaRPr lang="en-US" sz="2200" dirty="0"/>
          </a:p>
        </p:txBody>
      </p:sp>
      <p:sp>
        <p:nvSpPr>
          <p:cNvPr id="7" name="Text 4"/>
          <p:cNvSpPr txBox="1"/>
          <p:nvPr/>
        </p:nvSpPr>
        <p:spPr>
          <a:xfrm>
            <a:off x="548640" y="2331720"/>
            <a:ext cx="576072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2.   3x</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200" dirty="0">
                <a:solidFill>
                  <a:srgbClr val="11344E"/>
                </a:solidFill>
                <a:latin typeface="Times New Roman" pitchFamily="34" charset="0"/>
                <a:ea typeface="Times New Roman" pitchFamily="34" charset="-122"/>
                <a:cs typeface="Times New Roman" pitchFamily="34" charset="-120"/>
              </a:rPr>
              <a:t>(x</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200" dirty="0">
                <a:solidFill>
                  <a:srgbClr val="11344E"/>
                </a:solidFill>
                <a:latin typeface="Times New Roman" pitchFamily="34" charset="0"/>
                <a:ea typeface="Times New Roman" pitchFamily="34" charset="-122"/>
                <a:cs typeface="Times New Roman" pitchFamily="34" charset="-120"/>
              </a:rPr>
              <a:t> − 7x + 10) = 3x</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200" dirty="0">
                <a:solidFill>
                  <a:srgbClr val="11344E"/>
                </a:solidFill>
                <a:latin typeface="Times New Roman" pitchFamily="34" charset="0"/>
                <a:ea typeface="Times New Roman" pitchFamily="34" charset="-122"/>
                <a:cs typeface="Times New Roman" pitchFamily="34" charset="-120"/>
              </a:rPr>
              <a:t>(x − 2)(x − 5)</a:t>
            </a:r>
            <a:endParaRPr lang="en-US" sz="2200" dirty="0"/>
          </a:p>
        </p:txBody>
      </p:sp>
      <p:sp>
        <p:nvSpPr>
          <p:cNvPr id="8" name="Text 5"/>
          <p:cNvSpPr txBox="1"/>
          <p:nvPr/>
        </p:nvSpPr>
        <p:spPr>
          <a:xfrm>
            <a:off x="548640" y="3429000"/>
            <a:ext cx="457200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3.   x</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−4−3</a:t>
            </a:r>
            <a:pPr indent="0" marL="0">
              <a:buNone/>
            </a:pPr>
            <a:r>
              <a:rPr lang="en-US" sz="2200" dirty="0">
                <a:solidFill>
                  <a:srgbClr val="11344E"/>
                </a:solidFill>
                <a:latin typeface="Times New Roman" pitchFamily="34" charset="0"/>
                <a:ea typeface="Times New Roman" pitchFamily="34" charset="-122"/>
                <a:cs typeface="Times New Roman" pitchFamily="34" charset="-120"/>
              </a:rPr>
              <a:t> y</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6</a:t>
            </a:r>
            <a:pPr indent="0" marL="0">
              <a:buNone/>
            </a:pPr>
            <a:r>
              <a:rPr lang="en-US" sz="2200" dirty="0">
                <a:solidFill>
                  <a:srgbClr val="11344E"/>
                </a:solidFill>
                <a:latin typeface="Times New Roman" pitchFamily="34" charset="0"/>
                <a:ea typeface="Times New Roman" pitchFamily="34" charset="-122"/>
                <a:cs typeface="Times New Roman" pitchFamily="34" charset="-120"/>
              </a:rPr>
              <a:t>⁺</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200" dirty="0">
                <a:solidFill>
                  <a:srgbClr val="11344E"/>
                </a:solidFill>
                <a:latin typeface="Times New Roman" pitchFamily="34" charset="0"/>
                <a:ea typeface="Times New Roman" pitchFamily="34" charset="-122"/>
                <a:cs typeface="Times New Roman" pitchFamily="34" charset="-120"/>
              </a:rPr>
              <a:t> z</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−2−5</a:t>
            </a:r>
            <a:pPr indent="0" marL="0">
              <a:buNone/>
            </a:pPr>
            <a:r>
              <a:rPr lang="en-US" sz="2200" dirty="0">
                <a:solidFill>
                  <a:srgbClr val="11344E"/>
                </a:solidFill>
                <a:latin typeface="Times New Roman" pitchFamily="34" charset="0"/>
                <a:ea typeface="Times New Roman" pitchFamily="34" charset="-122"/>
                <a:cs typeface="Times New Roman" pitchFamily="34" charset="-120"/>
              </a:rPr>
              <a:t> = x</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−7</a:t>
            </a:r>
            <a:pPr indent="0" marL="0">
              <a:buNone/>
            </a:pPr>
            <a:r>
              <a:rPr lang="en-US" sz="2200" dirty="0">
                <a:solidFill>
                  <a:srgbClr val="11344E"/>
                </a:solidFill>
                <a:latin typeface="Times New Roman" pitchFamily="34" charset="0"/>
                <a:ea typeface="Times New Roman" pitchFamily="34" charset="-122"/>
                <a:cs typeface="Times New Roman" pitchFamily="34" charset="-120"/>
              </a:rPr>
              <a:t>y</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8</a:t>
            </a:r>
            <a:pPr indent="0" marL="0">
              <a:buNone/>
            </a:pPr>
            <a:r>
              <a:rPr lang="en-US" sz="2200" dirty="0">
                <a:solidFill>
                  <a:srgbClr val="11344E"/>
                </a:solidFill>
                <a:latin typeface="Times New Roman" pitchFamily="34" charset="0"/>
                <a:ea typeface="Times New Roman" pitchFamily="34" charset="-122"/>
                <a:cs typeface="Times New Roman" pitchFamily="34" charset="-120"/>
              </a:rPr>
              <a:t>z</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−7</a:t>
            </a:r>
            <a:pPr indent="0" marL="0">
              <a:buNone/>
            </a:pPr>
            <a:r>
              <a:rPr lang="en-US" sz="2200" dirty="0">
                <a:solidFill>
                  <a:srgbClr val="11344E"/>
                </a:solidFill>
                <a:latin typeface="Times New Roman" pitchFamily="34" charset="0"/>
                <a:ea typeface="Times New Roman" pitchFamily="34" charset="-122"/>
                <a:cs typeface="Times New Roman" pitchFamily="34" charset="-120"/>
              </a:rPr>
              <a:t> =</a:t>
            </a:r>
            <a:endParaRPr lang="en-US" sz="2200" dirty="0"/>
          </a:p>
        </p:txBody>
      </p:sp>
      <p:sp>
        <p:nvSpPr>
          <p:cNvPr id="9" name="Text 6"/>
          <p:cNvSpPr txBox="1"/>
          <p:nvPr/>
        </p:nvSpPr>
        <p:spPr>
          <a:xfrm>
            <a:off x="3977640" y="3154680"/>
            <a:ext cx="1005840" cy="363220"/>
          </a:xfrm>
          <a:prstGeom prst="rect">
            <a:avLst/>
          </a:prstGeom>
          <a:noFill/>
          <a:ln/>
        </p:spPr>
        <p:txBody>
          <a:bodyPr wrap="square" lIns="0" tIns="0" rIns="0" bIns="0" rtlCol="0" anchor="b"/>
          <a:lstStyle/>
          <a:p>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y</a:t>
            </a:r>
            <a:pPr algn="ctr" indent="0" marL="0">
              <a:buNone/>
            </a:pPr>
            <a:r>
              <a:rPr lang="en-US" sz="2200" baseline="30000" dirty="0">
                <a:solidFill>
                  <a:srgbClr val="1777B4"/>
                </a:solidFill>
                <a:latin typeface="Times New Roman" pitchFamily="34" charset="0"/>
                <a:ea typeface="Times New Roman" pitchFamily="34" charset="-122"/>
                <a:cs typeface="Times New Roman" pitchFamily="34" charset="-120"/>
              </a:rPr>
              <a:t>8</a:t>
            </a:r>
            <a:endParaRPr lang="en-US" sz="2200" dirty="0"/>
          </a:p>
        </p:txBody>
      </p:sp>
      <p:sp>
        <p:nvSpPr>
          <p:cNvPr id="10" name="Shape 7"/>
          <p:cNvSpPr/>
          <p:nvPr/>
        </p:nvSpPr>
        <p:spPr>
          <a:xfrm>
            <a:off x="4023360" y="3545332"/>
            <a:ext cx="914400" cy="0"/>
          </a:xfrm>
          <a:prstGeom prst="line">
            <a:avLst/>
          </a:prstGeom>
          <a:noFill/>
          <a:ln w="12700">
            <a:solidFill>
              <a:srgbClr val="1777B4"/>
            </a:solidFill>
            <a:prstDash val="solid"/>
          </a:ln>
        </p:spPr>
      </p:sp>
      <p:sp>
        <p:nvSpPr>
          <p:cNvPr id="11" name="Text 8"/>
          <p:cNvSpPr txBox="1"/>
          <p:nvPr/>
        </p:nvSpPr>
        <p:spPr>
          <a:xfrm>
            <a:off x="3977640" y="3581908"/>
            <a:ext cx="1005840" cy="363220"/>
          </a:xfrm>
          <a:prstGeom prst="rect">
            <a:avLst/>
          </a:prstGeom>
          <a:noFill/>
          <a:ln/>
        </p:spPr>
        <p:txBody>
          <a:bodyPr wrap="square" lIns="0" tIns="0" rIns="0" bIns="0" rtlCol="0" anchor="t"/>
          <a:lstStyle/>
          <a:p>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x</a:t>
            </a:r>
            <a:pPr algn="ctr" indent="0" marL="0">
              <a:buNone/>
            </a:pPr>
            <a:r>
              <a:rPr lang="en-US" sz="2200" baseline="30000" dirty="0">
                <a:solidFill>
                  <a:srgbClr val="1777B4"/>
                </a:solidFill>
                <a:latin typeface="Times New Roman" pitchFamily="34" charset="0"/>
                <a:ea typeface="Times New Roman" pitchFamily="34" charset="-122"/>
                <a:cs typeface="Times New Roman" pitchFamily="34" charset="-120"/>
              </a:rPr>
              <a:t>7</a:t>
            </a:r>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z</a:t>
            </a:r>
            <a:pPr algn="ctr" indent="0" marL="0">
              <a:buNone/>
            </a:pPr>
            <a:r>
              <a:rPr lang="en-US" sz="2200" baseline="30000" dirty="0">
                <a:solidFill>
                  <a:srgbClr val="1777B4"/>
                </a:solidFill>
                <a:latin typeface="Times New Roman" pitchFamily="34" charset="0"/>
                <a:ea typeface="Times New Roman" pitchFamily="34" charset="-122"/>
                <a:cs typeface="Times New Roman" pitchFamily="34" charset="-120"/>
              </a:rPr>
              <a:t>7</a:t>
            </a:r>
            <a:endParaRPr lang="en-US" sz="2200" dirty="0"/>
          </a:p>
        </p:txBody>
      </p:sp>
      <p:sp>
        <p:nvSpPr>
          <p:cNvPr id="12" name="Text 9"/>
          <p:cNvSpPr txBox="1"/>
          <p:nvPr/>
        </p:nvSpPr>
        <p:spPr>
          <a:xfrm>
            <a:off x="548640" y="4572000"/>
            <a:ext cx="219456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4.   Inside first:</a:t>
            </a:r>
            <a:endParaRPr lang="en-US" sz="2200" dirty="0"/>
          </a:p>
        </p:txBody>
      </p:sp>
      <p:sp>
        <p:nvSpPr>
          <p:cNvPr id="13" name="Text 10"/>
          <p:cNvSpPr txBox="1"/>
          <p:nvPr/>
        </p:nvSpPr>
        <p:spPr>
          <a:xfrm>
            <a:off x="2697480" y="4315968"/>
            <a:ext cx="228600" cy="868680"/>
          </a:xfrm>
          <a:prstGeom prst="rect">
            <a:avLst/>
          </a:prstGeom>
          <a:noFill/>
          <a:ln/>
        </p:spPr>
        <p:txBody>
          <a:bodyPr wrap="square" lIns="0" tIns="0" rIns="0" bIns="0" rtlCol="0" anchor="ctr"/>
          <a:lstStyle/>
          <a:p>
            <a:pPr indent="0" marL="0">
              <a:buNone/>
            </a:pPr>
            <a:r>
              <a:rPr lang="en-US" sz="4000" dirty="0">
                <a:solidFill>
                  <a:srgbClr val="11344E"/>
                </a:solidFill>
                <a:latin typeface="Times New Roman" pitchFamily="34" charset="0"/>
                <a:ea typeface="Times New Roman" pitchFamily="34" charset="-122"/>
                <a:cs typeface="Times New Roman" pitchFamily="34" charset="-120"/>
              </a:rPr>
              <a:t>(</a:t>
            </a:r>
            <a:endParaRPr lang="en-US" sz="4000" dirty="0"/>
          </a:p>
        </p:txBody>
      </p:sp>
      <p:sp>
        <p:nvSpPr>
          <p:cNvPr id="14" name="Text 11"/>
          <p:cNvSpPr txBox="1"/>
          <p:nvPr/>
        </p:nvSpPr>
        <p:spPr>
          <a:xfrm>
            <a:off x="2880360" y="4297680"/>
            <a:ext cx="86868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3x</a:t>
            </a:r>
            <a:endParaRPr lang="en-US" sz="2200" dirty="0"/>
          </a:p>
        </p:txBody>
      </p:sp>
      <p:sp>
        <p:nvSpPr>
          <p:cNvPr id="15" name="Shape 12"/>
          <p:cNvSpPr/>
          <p:nvPr/>
        </p:nvSpPr>
        <p:spPr>
          <a:xfrm>
            <a:off x="2926080" y="4688332"/>
            <a:ext cx="777240" cy="0"/>
          </a:xfrm>
          <a:prstGeom prst="line">
            <a:avLst/>
          </a:prstGeom>
          <a:noFill/>
          <a:ln w="12700">
            <a:solidFill>
              <a:srgbClr val="11344E"/>
            </a:solidFill>
            <a:prstDash val="solid"/>
          </a:ln>
        </p:spPr>
      </p:sp>
      <p:sp>
        <p:nvSpPr>
          <p:cNvPr id="16" name="Text 13"/>
          <p:cNvSpPr txBox="1"/>
          <p:nvPr/>
        </p:nvSpPr>
        <p:spPr>
          <a:xfrm>
            <a:off x="2880360" y="4724908"/>
            <a:ext cx="86868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y</a:t>
            </a:r>
            <a:pPr algn="ct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z</a:t>
            </a:r>
            <a:pPr algn="ct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3</a:t>
            </a:r>
            <a:endParaRPr lang="en-US" sz="2200" dirty="0"/>
          </a:p>
        </p:txBody>
      </p:sp>
      <p:sp>
        <p:nvSpPr>
          <p:cNvPr id="17" name="Text 14"/>
          <p:cNvSpPr txBox="1"/>
          <p:nvPr/>
        </p:nvSpPr>
        <p:spPr>
          <a:xfrm>
            <a:off x="3730752" y="4315968"/>
            <a:ext cx="228600" cy="868680"/>
          </a:xfrm>
          <a:prstGeom prst="rect">
            <a:avLst/>
          </a:prstGeom>
          <a:noFill/>
          <a:ln/>
        </p:spPr>
        <p:txBody>
          <a:bodyPr wrap="square" lIns="0" tIns="0" rIns="0" bIns="0" rtlCol="0" anchor="ctr"/>
          <a:lstStyle/>
          <a:p>
            <a:pPr indent="0" marL="0">
              <a:buNone/>
            </a:pPr>
            <a:r>
              <a:rPr lang="en-US" sz="4000" dirty="0">
                <a:solidFill>
                  <a:srgbClr val="11344E"/>
                </a:solidFill>
                <a:latin typeface="Times New Roman" pitchFamily="34" charset="0"/>
                <a:ea typeface="Times New Roman" pitchFamily="34" charset="-122"/>
                <a:cs typeface="Times New Roman" pitchFamily="34" charset="-120"/>
              </a:rPr>
              <a:t>)</a:t>
            </a:r>
            <a:endParaRPr lang="en-US" sz="4000" dirty="0"/>
          </a:p>
        </p:txBody>
      </p:sp>
      <p:sp>
        <p:nvSpPr>
          <p:cNvPr id="18" name="Text 15"/>
          <p:cNvSpPr txBox="1"/>
          <p:nvPr/>
        </p:nvSpPr>
        <p:spPr>
          <a:xfrm>
            <a:off x="3931920" y="4279392"/>
            <a:ext cx="274320" cy="320040"/>
          </a:xfrm>
          <a:prstGeom prst="rect">
            <a:avLst/>
          </a:prstGeom>
          <a:noFill/>
          <a:ln/>
        </p:spPr>
        <p:txBody>
          <a:bodyPr wrap="square" lIns="0" tIns="0" rIns="0" bIns="0" rtlCol="0" anchor="t"/>
          <a:lstStyle/>
          <a:p>
            <a:pPr indent="0" marL="0">
              <a:buNone/>
            </a:pPr>
            <a:r>
              <a:rPr lang="en-US" sz="1800" dirty="0">
                <a:solidFill>
                  <a:srgbClr val="11344E"/>
                </a:solidFill>
                <a:latin typeface="Times New Roman" pitchFamily="34" charset="0"/>
                <a:ea typeface="Times New Roman" pitchFamily="34" charset="-122"/>
                <a:cs typeface="Times New Roman" pitchFamily="34" charset="-120"/>
              </a:rPr>
              <a:t>3</a:t>
            </a:r>
            <a:endParaRPr lang="en-US" sz="1800" dirty="0"/>
          </a:p>
        </p:txBody>
      </p:sp>
      <p:sp>
        <p:nvSpPr>
          <p:cNvPr id="19" name="Text 16"/>
          <p:cNvSpPr txBox="1"/>
          <p:nvPr/>
        </p:nvSpPr>
        <p:spPr>
          <a:xfrm>
            <a:off x="4389120" y="4572000"/>
            <a:ext cx="365760" cy="45720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a:t>
            </a:r>
            <a:endParaRPr lang="en-US" sz="2200" dirty="0"/>
          </a:p>
        </p:txBody>
      </p:sp>
      <p:sp>
        <p:nvSpPr>
          <p:cNvPr id="20" name="Text 17"/>
          <p:cNvSpPr txBox="1"/>
          <p:nvPr/>
        </p:nvSpPr>
        <p:spPr>
          <a:xfrm>
            <a:off x="4983480" y="4297680"/>
            <a:ext cx="1005840" cy="363220"/>
          </a:xfrm>
          <a:prstGeom prst="rect">
            <a:avLst/>
          </a:prstGeom>
          <a:noFill/>
          <a:ln/>
        </p:spPr>
        <p:txBody>
          <a:bodyPr wrap="square" lIns="0" tIns="0" rIns="0" bIns="0" rtlCol="0" anchor="b"/>
          <a:lstStyle/>
          <a:p>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27x</a:t>
            </a:r>
            <a:pPr algn="ctr" indent="0" marL="0">
              <a:buNone/>
            </a:pPr>
            <a:r>
              <a:rPr lang="en-US" sz="2200" baseline="30000" dirty="0">
                <a:solidFill>
                  <a:srgbClr val="1777B4"/>
                </a:solidFill>
                <a:latin typeface="Times New Roman" pitchFamily="34" charset="0"/>
                <a:ea typeface="Times New Roman" pitchFamily="34" charset="-122"/>
                <a:cs typeface="Times New Roman" pitchFamily="34" charset="-120"/>
              </a:rPr>
              <a:t>3</a:t>
            </a:r>
            <a:endParaRPr lang="en-US" sz="2200" dirty="0"/>
          </a:p>
        </p:txBody>
      </p:sp>
      <p:sp>
        <p:nvSpPr>
          <p:cNvPr id="21" name="Shape 18"/>
          <p:cNvSpPr/>
          <p:nvPr/>
        </p:nvSpPr>
        <p:spPr>
          <a:xfrm>
            <a:off x="5029200" y="4688332"/>
            <a:ext cx="914400" cy="0"/>
          </a:xfrm>
          <a:prstGeom prst="line">
            <a:avLst/>
          </a:prstGeom>
          <a:noFill/>
          <a:ln w="12700">
            <a:solidFill>
              <a:srgbClr val="1777B4"/>
            </a:solidFill>
            <a:prstDash val="solid"/>
          </a:ln>
        </p:spPr>
      </p:sp>
      <p:sp>
        <p:nvSpPr>
          <p:cNvPr id="22" name="Text 19"/>
          <p:cNvSpPr txBox="1"/>
          <p:nvPr/>
        </p:nvSpPr>
        <p:spPr>
          <a:xfrm>
            <a:off x="4983480" y="4724908"/>
            <a:ext cx="1005840" cy="363220"/>
          </a:xfrm>
          <a:prstGeom prst="rect">
            <a:avLst/>
          </a:prstGeom>
          <a:noFill/>
          <a:ln/>
        </p:spPr>
        <p:txBody>
          <a:bodyPr wrap="square" lIns="0" tIns="0" rIns="0" bIns="0" rtlCol="0" anchor="t"/>
          <a:lstStyle/>
          <a:p>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y</a:t>
            </a:r>
            <a:pPr algn="ctr" indent="0" marL="0">
              <a:buNone/>
            </a:pPr>
            <a:r>
              <a:rPr lang="en-US" sz="2200" baseline="30000" dirty="0">
                <a:solidFill>
                  <a:srgbClr val="1777B4"/>
                </a:solidFill>
                <a:latin typeface="Times New Roman" pitchFamily="34" charset="0"/>
                <a:ea typeface="Times New Roman" pitchFamily="34" charset="-122"/>
                <a:cs typeface="Times New Roman" pitchFamily="34" charset="-120"/>
              </a:rPr>
              <a:t>6</a:t>
            </a:r>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z</a:t>
            </a:r>
            <a:pPr algn="ctr" indent="0" marL="0">
              <a:buNone/>
            </a:pPr>
            <a:r>
              <a:rPr lang="en-US" sz="2200" baseline="30000" dirty="0">
                <a:solidFill>
                  <a:srgbClr val="1777B4"/>
                </a:solidFill>
                <a:latin typeface="Times New Roman" pitchFamily="34" charset="0"/>
                <a:ea typeface="Times New Roman" pitchFamily="34" charset="-122"/>
                <a:cs typeface="Times New Roman" pitchFamily="34" charset="-120"/>
              </a:rPr>
              <a:t>9</a:t>
            </a:r>
            <a:endParaRPr lang="en-US" sz="2200" dirty="0"/>
          </a:p>
        </p:txBody>
      </p:sp>
      <p:sp>
        <p:nvSpPr>
          <p:cNvPr id="23" name="Shape 20"/>
          <p:cNvSpPr/>
          <p:nvPr/>
        </p:nvSpPr>
        <p:spPr>
          <a:xfrm>
            <a:off x="6949440" y="1600200"/>
            <a:ext cx="4663440" cy="4206240"/>
          </a:xfrm>
          <a:prstGeom prst="roundRect">
            <a:avLst>
              <a:gd name="adj" fmla="val 1739"/>
            </a:avLst>
          </a:prstGeom>
          <a:solidFill>
            <a:srgbClr val="FBEDEB"/>
          </a:solidFill>
          <a:ln w="12700">
            <a:solidFill>
              <a:srgbClr val="FBEDEB"/>
            </a:solidFill>
            <a:prstDash val="solid"/>
          </a:ln>
        </p:spPr>
      </p:sp>
      <p:sp>
        <p:nvSpPr>
          <p:cNvPr id="24" name="Text 21"/>
          <p:cNvSpPr txBox="1"/>
          <p:nvPr/>
        </p:nvSpPr>
        <p:spPr>
          <a:xfrm>
            <a:off x="7223760" y="1783080"/>
            <a:ext cx="4114800" cy="365760"/>
          </a:xfrm>
          <a:prstGeom prst="rect">
            <a:avLst/>
          </a:prstGeom>
          <a:noFill/>
          <a:ln/>
        </p:spPr>
        <p:txBody>
          <a:bodyPr wrap="square" lIns="0" tIns="0" rIns="0" bIns="0" rtlCol="0" anchor="t"/>
          <a:lstStyle/>
          <a:p>
            <a:pPr indent="0" marL="0">
              <a:buNone/>
            </a:pPr>
            <a:r>
              <a:rPr lang="en-US" sz="1700" b="1" dirty="0">
                <a:solidFill>
                  <a:srgbClr val="B03A2E"/>
                </a:solidFill>
                <a:latin typeface="Arial" pitchFamily="34" charset="0"/>
                <a:ea typeface="Arial" pitchFamily="34" charset="-122"/>
                <a:cs typeface="Arial" pitchFamily="34" charset="-120"/>
              </a:rPr>
              <a:t>Watch for</a:t>
            </a:r>
            <a:endParaRPr lang="en-US" sz="1700" dirty="0"/>
          </a:p>
        </p:txBody>
      </p:sp>
      <p:sp>
        <p:nvSpPr>
          <p:cNvPr id="25" name="Text 22"/>
          <p:cNvSpPr txBox="1"/>
          <p:nvPr/>
        </p:nvSpPr>
        <p:spPr>
          <a:xfrm>
            <a:off x="7223760" y="2286000"/>
            <a:ext cx="4114800" cy="329184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Stopping after the GCF</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Dropping the common power of x</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Reading x</a:t>
            </a:r>
            <a:pPr algn="l" marL="342900" indent="-342900">
              <a:spcAft>
                <a:spcPts val="1200"/>
              </a:spcAft>
              <a:buSzPct val="100000"/>
              <a:buChar char="•"/>
            </a:pPr>
            <a:r>
              <a:rPr lang="en-US" sz="1500" baseline="30000" dirty="0">
                <a:solidFill>
                  <a:srgbClr val="11344E"/>
                </a:solidFill>
                <a:latin typeface="Arial" pitchFamily="34" charset="0"/>
                <a:ea typeface="Arial" pitchFamily="34" charset="-122"/>
                <a:cs typeface="Arial" pitchFamily="34" charset="-120"/>
              </a:rPr>
              <a:t>−4</a:t>
            </a:r>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 as −x</a:t>
            </a:r>
            <a:pPr algn="l" marL="342900" indent="-342900">
              <a:spcAft>
                <a:spcPts val="1200"/>
              </a:spcAft>
              <a:buSzPct val="100000"/>
              <a:buChar char="•"/>
            </a:pPr>
            <a:r>
              <a:rPr lang="en-US" sz="1500" baseline="30000" dirty="0">
                <a:solidFill>
                  <a:srgbClr val="11344E"/>
                </a:solidFill>
                <a:latin typeface="Arial" pitchFamily="34" charset="0"/>
                <a:ea typeface="Arial" pitchFamily="34" charset="-122"/>
                <a:cs typeface="Arial" pitchFamily="34" charset="-120"/>
              </a:rPr>
              <a:t>4</a:t>
            </a:r>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 it means 1/x</a:t>
            </a:r>
            <a:pPr algn="l" marL="342900" indent="-342900">
              <a:spcAft>
                <a:spcPts val="1200"/>
              </a:spcAft>
              <a:buSzPct val="100000"/>
              <a:buChar char="•"/>
            </a:pPr>
            <a:r>
              <a:rPr lang="en-US" sz="1500" baseline="30000" dirty="0">
                <a:solidFill>
                  <a:srgbClr val="11344E"/>
                </a:solidFill>
                <a:latin typeface="Arial" pitchFamily="34" charset="0"/>
                <a:ea typeface="Arial" pitchFamily="34" charset="-122"/>
                <a:cs typeface="Arial" pitchFamily="34" charset="-120"/>
              </a:rPr>
              <a:t>4</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Forgetting to raise the coefficient: 3</a:t>
            </a:r>
            <a:pPr algn="l" marL="342900" indent="-342900">
              <a:spcAft>
                <a:spcPts val="1200"/>
              </a:spcAft>
              <a:buSzPct val="100000"/>
              <a:buChar char="•"/>
            </a:pPr>
            <a:r>
              <a:rPr lang="en-US" sz="1500" baseline="30000" dirty="0">
                <a:solidFill>
                  <a:srgbClr val="11344E"/>
                </a:solidFill>
                <a:latin typeface="Arial" pitchFamily="34" charset="0"/>
                <a:ea typeface="Arial" pitchFamily="34" charset="-122"/>
                <a:cs typeface="Arial" pitchFamily="34" charset="-120"/>
              </a:rPr>
              <a:t>3</a:t>
            </a:r>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 = 27</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A: rational expressions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Perform each subtraction and simplify</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10</a:t>
            </a:r>
            <a:endParaRPr lang="en-US" sz="800" dirty="0"/>
          </a:p>
        </p:txBody>
      </p:sp>
      <p:sp>
        <p:nvSpPr>
          <p:cNvPr id="6" name="Shape 3"/>
          <p:cNvSpPr/>
          <p:nvPr/>
        </p:nvSpPr>
        <p:spPr>
          <a:xfrm>
            <a:off x="9464040" y="411480"/>
            <a:ext cx="2148840" cy="457200"/>
          </a:xfrm>
          <a:prstGeom prst="roundRect">
            <a:avLst>
              <a:gd name="adj" fmla="val 16000"/>
            </a:avLst>
          </a:prstGeom>
          <a:solidFill>
            <a:srgbClr val="EAF5F0"/>
          </a:solidFill>
          <a:ln w="12700">
            <a:solidFill>
              <a:srgbClr val="EAF5F0"/>
            </a:solidFill>
            <a:prstDash val="solid"/>
          </a:ln>
        </p:spPr>
      </p:sp>
      <p:sp>
        <p:nvSpPr>
          <p:cNvPr id="7" name="Text 4"/>
          <p:cNvSpPr txBox="1"/>
          <p:nvPr/>
        </p:nvSpPr>
        <p:spPr>
          <a:xfrm>
            <a:off x="9464040" y="411480"/>
            <a:ext cx="2148840" cy="457200"/>
          </a:xfrm>
          <a:prstGeom prst="rect">
            <a:avLst/>
          </a:prstGeom>
          <a:noFill/>
          <a:ln/>
        </p:spPr>
        <p:txBody>
          <a:bodyPr wrap="square" lIns="0" tIns="0" rIns="0" bIns="0" rtlCol="0" anchor="ctr"/>
          <a:lstStyle/>
          <a:p>
            <a:pPr algn="ctr" indent="0" marL="0">
              <a:buNone/>
            </a:pPr>
            <a:r>
              <a:rPr lang="en-US" sz="1300" b="1" dirty="0">
                <a:solidFill>
                  <a:srgbClr val="1B7F5E"/>
                </a:solidFill>
                <a:latin typeface="Arial" pitchFamily="34" charset="0"/>
                <a:ea typeface="Arial" pitchFamily="34" charset="-122"/>
                <a:cs typeface="Arial" pitchFamily="34" charset="-120"/>
              </a:rPr>
              <a:t>4 minutes</a:t>
            </a:r>
            <a:endParaRPr lang="en-US" sz="1300" dirty="0"/>
          </a:p>
        </p:txBody>
      </p:sp>
      <p:sp>
        <p:nvSpPr>
          <p:cNvPr id="8" name="Text 5"/>
          <p:cNvSpPr txBox="1"/>
          <p:nvPr/>
        </p:nvSpPr>
        <p:spPr>
          <a:xfrm>
            <a:off x="822960" y="2148840"/>
            <a:ext cx="457200" cy="457200"/>
          </a:xfrm>
          <a:prstGeom prst="rect">
            <a:avLst/>
          </a:prstGeom>
          <a:noFill/>
          <a:ln/>
        </p:spPr>
        <p:txBody>
          <a:bodyPr wrap="square" lIns="0" tIns="0" rIns="0" bIns="0" rtlCol="0" anchor="t"/>
          <a:lstStyle/>
          <a:p>
            <a:pPr indent="0" marL="0">
              <a:buNone/>
            </a:pPr>
            <a:r>
              <a:rPr lang="en-US" sz="2800" dirty="0">
                <a:solidFill>
                  <a:srgbClr val="11344E"/>
                </a:solidFill>
                <a:latin typeface="Times New Roman" pitchFamily="34" charset="0"/>
                <a:ea typeface="Times New Roman" pitchFamily="34" charset="-122"/>
                <a:cs typeface="Times New Roman" pitchFamily="34" charset="-120"/>
              </a:rPr>
              <a:t>5.</a:t>
            </a:r>
            <a:endParaRPr lang="en-US" sz="2800" dirty="0"/>
          </a:p>
        </p:txBody>
      </p:sp>
      <p:sp>
        <p:nvSpPr>
          <p:cNvPr id="9" name="Text 6"/>
          <p:cNvSpPr txBox="1"/>
          <p:nvPr/>
        </p:nvSpPr>
        <p:spPr>
          <a:xfrm>
            <a:off x="1280160" y="1737360"/>
            <a:ext cx="914400" cy="462280"/>
          </a:xfrm>
          <a:prstGeom prst="rect">
            <a:avLst/>
          </a:prstGeom>
          <a:noFill/>
          <a:ln/>
        </p:spPr>
        <p:txBody>
          <a:bodyPr wrap="square" lIns="0" tIns="0" rIns="0" bIns="0" rtlCol="0" anchor="b"/>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5</a:t>
            </a:r>
            <a:endParaRPr lang="en-US" sz="2800" dirty="0"/>
          </a:p>
        </p:txBody>
      </p:sp>
      <p:sp>
        <p:nvSpPr>
          <p:cNvPr id="10" name="Shape 7"/>
          <p:cNvSpPr/>
          <p:nvPr/>
        </p:nvSpPr>
        <p:spPr>
          <a:xfrm>
            <a:off x="1325880" y="2227072"/>
            <a:ext cx="822960" cy="0"/>
          </a:xfrm>
          <a:prstGeom prst="line">
            <a:avLst/>
          </a:prstGeom>
          <a:noFill/>
          <a:ln w="12700">
            <a:solidFill>
              <a:srgbClr val="11344E"/>
            </a:solidFill>
            <a:prstDash val="solid"/>
          </a:ln>
        </p:spPr>
      </p:sp>
      <p:sp>
        <p:nvSpPr>
          <p:cNvPr id="11" name="Text 8"/>
          <p:cNvSpPr txBox="1"/>
          <p:nvPr/>
        </p:nvSpPr>
        <p:spPr>
          <a:xfrm>
            <a:off x="1280160" y="2263648"/>
            <a:ext cx="914400" cy="462280"/>
          </a:xfrm>
          <a:prstGeom prst="rect">
            <a:avLst/>
          </a:prstGeom>
          <a:noFill/>
          <a:ln/>
        </p:spPr>
        <p:txBody>
          <a:bodyPr wrap="square" lIns="0" tIns="0" rIns="0" bIns="0" rtlCol="0" anchor="t"/>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2x</a:t>
            </a:r>
            <a:endParaRPr lang="en-US" sz="2800" dirty="0"/>
          </a:p>
        </p:txBody>
      </p:sp>
      <p:sp>
        <p:nvSpPr>
          <p:cNvPr id="12" name="Text 9"/>
          <p:cNvSpPr txBox="1"/>
          <p:nvPr/>
        </p:nvSpPr>
        <p:spPr>
          <a:xfrm>
            <a:off x="2240280" y="2148840"/>
            <a:ext cx="457200" cy="457200"/>
          </a:xfrm>
          <a:prstGeom prst="rect">
            <a:avLst/>
          </a:prstGeom>
          <a:noFill/>
          <a:ln/>
        </p:spPr>
        <p:txBody>
          <a:bodyPr wrap="square" lIns="0" tIns="0" rIns="0" bIns="0" rtlCol="0" anchor="t"/>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a:t>
            </a:r>
            <a:endParaRPr lang="en-US" sz="2800" dirty="0"/>
          </a:p>
        </p:txBody>
      </p:sp>
      <p:sp>
        <p:nvSpPr>
          <p:cNvPr id="13" name="Text 10"/>
          <p:cNvSpPr txBox="1"/>
          <p:nvPr/>
        </p:nvSpPr>
        <p:spPr>
          <a:xfrm>
            <a:off x="2697480" y="1737360"/>
            <a:ext cx="1371600" cy="462280"/>
          </a:xfrm>
          <a:prstGeom prst="rect">
            <a:avLst/>
          </a:prstGeom>
          <a:noFill/>
          <a:ln/>
        </p:spPr>
        <p:txBody>
          <a:bodyPr wrap="square" lIns="0" tIns="0" rIns="0" bIns="0" rtlCol="0" anchor="b"/>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3</a:t>
            </a:r>
            <a:endParaRPr lang="en-US" sz="2800" dirty="0"/>
          </a:p>
        </p:txBody>
      </p:sp>
      <p:sp>
        <p:nvSpPr>
          <p:cNvPr id="14" name="Shape 11"/>
          <p:cNvSpPr/>
          <p:nvPr/>
        </p:nvSpPr>
        <p:spPr>
          <a:xfrm>
            <a:off x="2743200" y="2227072"/>
            <a:ext cx="1280160" cy="0"/>
          </a:xfrm>
          <a:prstGeom prst="line">
            <a:avLst/>
          </a:prstGeom>
          <a:noFill/>
          <a:ln w="12700">
            <a:solidFill>
              <a:srgbClr val="11344E"/>
            </a:solidFill>
            <a:prstDash val="solid"/>
          </a:ln>
        </p:spPr>
      </p:sp>
      <p:sp>
        <p:nvSpPr>
          <p:cNvPr id="15" name="Text 12"/>
          <p:cNvSpPr txBox="1"/>
          <p:nvPr/>
        </p:nvSpPr>
        <p:spPr>
          <a:xfrm>
            <a:off x="2697480" y="2263648"/>
            <a:ext cx="1371600" cy="462280"/>
          </a:xfrm>
          <a:prstGeom prst="rect">
            <a:avLst/>
          </a:prstGeom>
          <a:noFill/>
          <a:ln/>
        </p:spPr>
        <p:txBody>
          <a:bodyPr wrap="square" lIns="0" tIns="0" rIns="0" bIns="0" rtlCol="0" anchor="t"/>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x + 4</a:t>
            </a:r>
            <a:endParaRPr lang="en-US" sz="2800" dirty="0"/>
          </a:p>
        </p:txBody>
      </p:sp>
      <p:sp>
        <p:nvSpPr>
          <p:cNvPr id="16" name="Text 13"/>
          <p:cNvSpPr txBox="1"/>
          <p:nvPr/>
        </p:nvSpPr>
        <p:spPr>
          <a:xfrm>
            <a:off x="6309360" y="2148840"/>
            <a:ext cx="457200" cy="457200"/>
          </a:xfrm>
          <a:prstGeom prst="rect">
            <a:avLst/>
          </a:prstGeom>
          <a:noFill/>
          <a:ln/>
        </p:spPr>
        <p:txBody>
          <a:bodyPr wrap="square" lIns="0" tIns="0" rIns="0" bIns="0" rtlCol="0" anchor="t"/>
          <a:lstStyle/>
          <a:p>
            <a:pPr indent="0" marL="0">
              <a:buNone/>
            </a:pPr>
            <a:r>
              <a:rPr lang="en-US" sz="2800" dirty="0">
                <a:solidFill>
                  <a:srgbClr val="11344E"/>
                </a:solidFill>
                <a:latin typeface="Times New Roman" pitchFamily="34" charset="0"/>
                <a:ea typeface="Times New Roman" pitchFamily="34" charset="-122"/>
                <a:cs typeface="Times New Roman" pitchFamily="34" charset="-120"/>
              </a:rPr>
              <a:t>6.</a:t>
            </a:r>
            <a:endParaRPr lang="en-US" sz="2800" dirty="0"/>
          </a:p>
        </p:txBody>
      </p:sp>
      <p:sp>
        <p:nvSpPr>
          <p:cNvPr id="17" name="Text 14"/>
          <p:cNvSpPr txBox="1"/>
          <p:nvPr/>
        </p:nvSpPr>
        <p:spPr>
          <a:xfrm>
            <a:off x="6766560" y="1737360"/>
            <a:ext cx="914400" cy="462280"/>
          </a:xfrm>
          <a:prstGeom prst="rect">
            <a:avLst/>
          </a:prstGeom>
          <a:noFill/>
          <a:ln/>
        </p:spPr>
        <p:txBody>
          <a:bodyPr wrap="square" lIns="0" tIns="0" rIns="0" bIns="0" rtlCol="0" anchor="b"/>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4</a:t>
            </a:r>
            <a:endParaRPr lang="en-US" sz="2800" dirty="0"/>
          </a:p>
        </p:txBody>
      </p:sp>
      <p:sp>
        <p:nvSpPr>
          <p:cNvPr id="18" name="Shape 15"/>
          <p:cNvSpPr/>
          <p:nvPr/>
        </p:nvSpPr>
        <p:spPr>
          <a:xfrm>
            <a:off x="6812280" y="2227072"/>
            <a:ext cx="822960" cy="0"/>
          </a:xfrm>
          <a:prstGeom prst="line">
            <a:avLst/>
          </a:prstGeom>
          <a:noFill/>
          <a:ln w="12700">
            <a:solidFill>
              <a:srgbClr val="11344E"/>
            </a:solidFill>
            <a:prstDash val="solid"/>
          </a:ln>
        </p:spPr>
      </p:sp>
      <p:sp>
        <p:nvSpPr>
          <p:cNvPr id="19" name="Text 16"/>
          <p:cNvSpPr txBox="1"/>
          <p:nvPr/>
        </p:nvSpPr>
        <p:spPr>
          <a:xfrm>
            <a:off x="6766560" y="2263648"/>
            <a:ext cx="914400" cy="462280"/>
          </a:xfrm>
          <a:prstGeom prst="rect">
            <a:avLst/>
          </a:prstGeom>
          <a:noFill/>
          <a:ln/>
        </p:spPr>
        <p:txBody>
          <a:bodyPr wrap="square" lIns="0" tIns="0" rIns="0" bIns="0" rtlCol="0" anchor="t"/>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5b</a:t>
            </a:r>
            <a:endParaRPr lang="en-US" sz="2800" dirty="0"/>
          </a:p>
        </p:txBody>
      </p:sp>
      <p:sp>
        <p:nvSpPr>
          <p:cNvPr id="20" name="Text 17"/>
          <p:cNvSpPr txBox="1"/>
          <p:nvPr/>
        </p:nvSpPr>
        <p:spPr>
          <a:xfrm>
            <a:off x="7726680" y="2148840"/>
            <a:ext cx="457200" cy="457200"/>
          </a:xfrm>
          <a:prstGeom prst="rect">
            <a:avLst/>
          </a:prstGeom>
          <a:noFill/>
          <a:ln/>
        </p:spPr>
        <p:txBody>
          <a:bodyPr wrap="square" lIns="0" tIns="0" rIns="0" bIns="0" rtlCol="0" anchor="t"/>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a:t>
            </a:r>
            <a:endParaRPr lang="en-US" sz="2800" dirty="0"/>
          </a:p>
        </p:txBody>
      </p:sp>
      <p:sp>
        <p:nvSpPr>
          <p:cNvPr id="21" name="Text 18"/>
          <p:cNvSpPr txBox="1"/>
          <p:nvPr/>
        </p:nvSpPr>
        <p:spPr>
          <a:xfrm>
            <a:off x="8183880" y="1737360"/>
            <a:ext cx="731520" cy="462280"/>
          </a:xfrm>
          <a:prstGeom prst="rect">
            <a:avLst/>
          </a:prstGeom>
          <a:noFill/>
          <a:ln/>
        </p:spPr>
        <p:txBody>
          <a:bodyPr wrap="square" lIns="0" tIns="0" rIns="0" bIns="0" rtlCol="0" anchor="b"/>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3</a:t>
            </a:r>
            <a:endParaRPr lang="en-US" sz="2800" dirty="0"/>
          </a:p>
        </p:txBody>
      </p:sp>
      <p:sp>
        <p:nvSpPr>
          <p:cNvPr id="22" name="Shape 19"/>
          <p:cNvSpPr/>
          <p:nvPr/>
        </p:nvSpPr>
        <p:spPr>
          <a:xfrm>
            <a:off x="8229600" y="2227072"/>
            <a:ext cx="640080" cy="0"/>
          </a:xfrm>
          <a:prstGeom prst="line">
            <a:avLst/>
          </a:prstGeom>
          <a:noFill/>
          <a:ln w="12700">
            <a:solidFill>
              <a:srgbClr val="11344E"/>
            </a:solidFill>
            <a:prstDash val="solid"/>
          </a:ln>
        </p:spPr>
      </p:sp>
      <p:sp>
        <p:nvSpPr>
          <p:cNvPr id="23" name="Text 20"/>
          <p:cNvSpPr txBox="1"/>
          <p:nvPr/>
        </p:nvSpPr>
        <p:spPr>
          <a:xfrm>
            <a:off x="8183880" y="2263648"/>
            <a:ext cx="731520" cy="462280"/>
          </a:xfrm>
          <a:prstGeom prst="rect">
            <a:avLst/>
          </a:prstGeom>
          <a:noFill/>
          <a:ln/>
        </p:spPr>
        <p:txBody>
          <a:bodyPr wrap="square" lIns="0" tIns="0" rIns="0" bIns="0" rtlCol="0" anchor="t"/>
          <a:lstStyle/>
          <a:p>
            <a:pPr algn="ctr" indent="0" marL="0">
              <a:buNone/>
            </a:pPr>
            <a:r>
              <a:rPr lang="en-US" sz="2800" dirty="0">
                <a:solidFill>
                  <a:srgbClr val="11344E"/>
                </a:solidFill>
                <a:latin typeface="Times New Roman" pitchFamily="34" charset="0"/>
                <a:ea typeface="Times New Roman" pitchFamily="34" charset="-122"/>
                <a:cs typeface="Times New Roman" pitchFamily="34" charset="-120"/>
              </a:rPr>
              <a:t>2</a:t>
            </a:r>
            <a:endParaRPr lang="en-US" sz="2800" dirty="0"/>
          </a:p>
        </p:txBody>
      </p:sp>
      <p:sp>
        <p:nvSpPr>
          <p:cNvPr id="24" name="Shape 21"/>
          <p:cNvSpPr/>
          <p:nvPr/>
        </p:nvSpPr>
        <p:spPr>
          <a:xfrm>
            <a:off x="548640" y="4114800"/>
            <a:ext cx="2057400" cy="1371600"/>
          </a:xfrm>
          <a:prstGeom prst="roundRect">
            <a:avLst>
              <a:gd name="adj" fmla="val 5333"/>
            </a:avLst>
          </a:prstGeom>
          <a:solidFill>
            <a:srgbClr val="EEF4F9"/>
          </a:solidFill>
          <a:ln w="12700">
            <a:solidFill>
              <a:srgbClr val="EEF4F9"/>
            </a:solidFill>
            <a:prstDash val="solid"/>
          </a:ln>
        </p:spPr>
      </p:sp>
      <p:sp>
        <p:nvSpPr>
          <p:cNvPr id="25" name="Shape 22"/>
          <p:cNvSpPr/>
          <p:nvPr/>
        </p:nvSpPr>
        <p:spPr>
          <a:xfrm>
            <a:off x="731520" y="4297680"/>
            <a:ext cx="420624" cy="420624"/>
          </a:xfrm>
          <a:prstGeom prst="ellipse">
            <a:avLst/>
          </a:prstGeom>
          <a:solidFill>
            <a:srgbClr val="1777B4"/>
          </a:solidFill>
          <a:ln w="12700">
            <a:solidFill>
              <a:srgbClr val="1777B4"/>
            </a:solidFill>
            <a:prstDash val="solid"/>
          </a:ln>
        </p:spPr>
      </p:sp>
      <p:sp>
        <p:nvSpPr>
          <p:cNvPr id="26" name="Text 23"/>
          <p:cNvSpPr txBox="1"/>
          <p:nvPr/>
        </p:nvSpPr>
        <p:spPr>
          <a:xfrm>
            <a:off x="731520" y="4297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7" name="Text 24"/>
          <p:cNvSpPr txBox="1"/>
          <p:nvPr/>
        </p:nvSpPr>
        <p:spPr>
          <a:xfrm>
            <a:off x="731520" y="4800600"/>
            <a:ext cx="1737360" cy="594360"/>
          </a:xfrm>
          <a:prstGeom prst="rect">
            <a:avLst/>
          </a:prstGeom>
          <a:noFill/>
          <a:ln/>
        </p:spPr>
        <p:txBody>
          <a:bodyPr wrap="square" lIns="0" tIns="0" rIns="0" bIns="0" rtlCol="0" anchor="t"/>
          <a:lstStyle/>
          <a:p>
            <a:pPr indent="0" marL="0">
              <a:buNone/>
            </a:pPr>
            <a:r>
              <a:rPr lang="en-US" sz="1300" b="1" dirty="0">
                <a:solidFill>
                  <a:srgbClr val="11344E"/>
                </a:solidFill>
                <a:latin typeface="Arial" pitchFamily="34" charset="0"/>
                <a:ea typeface="Arial" pitchFamily="34" charset="-122"/>
                <a:cs typeface="Arial" pitchFamily="34" charset="-120"/>
              </a:rPr>
              <a:t>Factor each denominator</a:t>
            </a:r>
            <a:endParaRPr lang="en-US" sz="1300" dirty="0"/>
          </a:p>
        </p:txBody>
      </p:sp>
      <p:sp>
        <p:nvSpPr>
          <p:cNvPr id="28" name="Shape 25"/>
          <p:cNvSpPr/>
          <p:nvPr/>
        </p:nvSpPr>
        <p:spPr>
          <a:xfrm>
            <a:off x="2788920" y="4114800"/>
            <a:ext cx="2057400" cy="1371600"/>
          </a:xfrm>
          <a:prstGeom prst="roundRect">
            <a:avLst>
              <a:gd name="adj" fmla="val 5333"/>
            </a:avLst>
          </a:prstGeom>
          <a:solidFill>
            <a:srgbClr val="EEF4F9"/>
          </a:solidFill>
          <a:ln w="12700">
            <a:solidFill>
              <a:srgbClr val="EEF4F9"/>
            </a:solidFill>
            <a:prstDash val="solid"/>
          </a:ln>
        </p:spPr>
      </p:sp>
      <p:sp>
        <p:nvSpPr>
          <p:cNvPr id="29" name="Shape 26"/>
          <p:cNvSpPr/>
          <p:nvPr/>
        </p:nvSpPr>
        <p:spPr>
          <a:xfrm>
            <a:off x="2971800" y="4297680"/>
            <a:ext cx="420624" cy="420624"/>
          </a:xfrm>
          <a:prstGeom prst="ellipse">
            <a:avLst/>
          </a:prstGeom>
          <a:solidFill>
            <a:srgbClr val="1777B4"/>
          </a:solidFill>
          <a:ln w="12700">
            <a:solidFill>
              <a:srgbClr val="1777B4"/>
            </a:solidFill>
            <a:prstDash val="solid"/>
          </a:ln>
        </p:spPr>
      </p:sp>
      <p:sp>
        <p:nvSpPr>
          <p:cNvPr id="30" name="Text 27"/>
          <p:cNvSpPr txBox="1"/>
          <p:nvPr/>
        </p:nvSpPr>
        <p:spPr>
          <a:xfrm>
            <a:off x="2971800" y="4297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31" name="Text 28"/>
          <p:cNvSpPr txBox="1"/>
          <p:nvPr/>
        </p:nvSpPr>
        <p:spPr>
          <a:xfrm>
            <a:off x="2971800" y="4800600"/>
            <a:ext cx="1737360" cy="594360"/>
          </a:xfrm>
          <a:prstGeom prst="rect">
            <a:avLst/>
          </a:prstGeom>
          <a:noFill/>
          <a:ln/>
        </p:spPr>
        <p:txBody>
          <a:bodyPr wrap="square" lIns="0" tIns="0" rIns="0" bIns="0" rtlCol="0" anchor="t"/>
          <a:lstStyle/>
          <a:p>
            <a:pPr indent="0" marL="0">
              <a:buNone/>
            </a:pPr>
            <a:r>
              <a:rPr lang="en-US" sz="1300" b="1" dirty="0">
                <a:solidFill>
                  <a:srgbClr val="11344E"/>
                </a:solidFill>
                <a:latin typeface="Arial" pitchFamily="34" charset="0"/>
                <a:ea typeface="Arial" pitchFamily="34" charset="-122"/>
                <a:cs typeface="Arial" pitchFamily="34" charset="-120"/>
              </a:rPr>
              <a:t>Build the LCD</a:t>
            </a:r>
            <a:endParaRPr lang="en-US" sz="1300" dirty="0"/>
          </a:p>
        </p:txBody>
      </p:sp>
      <p:sp>
        <p:nvSpPr>
          <p:cNvPr id="32" name="Shape 29"/>
          <p:cNvSpPr/>
          <p:nvPr/>
        </p:nvSpPr>
        <p:spPr>
          <a:xfrm>
            <a:off x="5029200" y="4114800"/>
            <a:ext cx="2057400" cy="1371600"/>
          </a:xfrm>
          <a:prstGeom prst="roundRect">
            <a:avLst>
              <a:gd name="adj" fmla="val 5333"/>
            </a:avLst>
          </a:prstGeom>
          <a:solidFill>
            <a:srgbClr val="EEF4F9"/>
          </a:solidFill>
          <a:ln w="12700">
            <a:solidFill>
              <a:srgbClr val="EEF4F9"/>
            </a:solidFill>
            <a:prstDash val="solid"/>
          </a:ln>
        </p:spPr>
      </p:sp>
      <p:sp>
        <p:nvSpPr>
          <p:cNvPr id="33" name="Shape 30"/>
          <p:cNvSpPr/>
          <p:nvPr/>
        </p:nvSpPr>
        <p:spPr>
          <a:xfrm>
            <a:off x="5212080" y="4297680"/>
            <a:ext cx="420624" cy="420624"/>
          </a:xfrm>
          <a:prstGeom prst="ellipse">
            <a:avLst/>
          </a:prstGeom>
          <a:solidFill>
            <a:srgbClr val="1777B4"/>
          </a:solidFill>
          <a:ln w="12700">
            <a:solidFill>
              <a:srgbClr val="1777B4"/>
            </a:solidFill>
            <a:prstDash val="solid"/>
          </a:ln>
        </p:spPr>
      </p:sp>
      <p:sp>
        <p:nvSpPr>
          <p:cNvPr id="34" name="Text 31"/>
          <p:cNvSpPr txBox="1"/>
          <p:nvPr/>
        </p:nvSpPr>
        <p:spPr>
          <a:xfrm>
            <a:off x="5212080" y="4297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5" name="Text 32"/>
          <p:cNvSpPr txBox="1"/>
          <p:nvPr/>
        </p:nvSpPr>
        <p:spPr>
          <a:xfrm>
            <a:off x="5212080" y="4800600"/>
            <a:ext cx="1737360" cy="594360"/>
          </a:xfrm>
          <a:prstGeom prst="rect">
            <a:avLst/>
          </a:prstGeom>
          <a:noFill/>
          <a:ln/>
        </p:spPr>
        <p:txBody>
          <a:bodyPr wrap="square" lIns="0" tIns="0" rIns="0" bIns="0" rtlCol="0" anchor="t"/>
          <a:lstStyle/>
          <a:p>
            <a:pPr indent="0" marL="0">
              <a:buNone/>
            </a:pPr>
            <a:r>
              <a:rPr lang="en-US" sz="1300" b="1" dirty="0">
                <a:solidFill>
                  <a:srgbClr val="11344E"/>
                </a:solidFill>
                <a:latin typeface="Arial" pitchFamily="34" charset="0"/>
                <a:ea typeface="Arial" pitchFamily="34" charset="-122"/>
                <a:cs typeface="Arial" pitchFamily="34" charset="-120"/>
              </a:rPr>
              <a:t>Rewrite both fractions</a:t>
            </a:r>
            <a:endParaRPr lang="en-US" sz="1300" dirty="0"/>
          </a:p>
        </p:txBody>
      </p:sp>
      <p:sp>
        <p:nvSpPr>
          <p:cNvPr id="36" name="Shape 33"/>
          <p:cNvSpPr/>
          <p:nvPr/>
        </p:nvSpPr>
        <p:spPr>
          <a:xfrm>
            <a:off x="7269480" y="4114800"/>
            <a:ext cx="2057400" cy="1371600"/>
          </a:xfrm>
          <a:prstGeom prst="roundRect">
            <a:avLst>
              <a:gd name="adj" fmla="val 5333"/>
            </a:avLst>
          </a:prstGeom>
          <a:solidFill>
            <a:srgbClr val="EEF4F9"/>
          </a:solidFill>
          <a:ln w="12700">
            <a:solidFill>
              <a:srgbClr val="EEF4F9"/>
            </a:solidFill>
            <a:prstDash val="solid"/>
          </a:ln>
        </p:spPr>
      </p:sp>
      <p:sp>
        <p:nvSpPr>
          <p:cNvPr id="37" name="Shape 34"/>
          <p:cNvSpPr/>
          <p:nvPr/>
        </p:nvSpPr>
        <p:spPr>
          <a:xfrm>
            <a:off x="7452360" y="4297680"/>
            <a:ext cx="420624" cy="420624"/>
          </a:xfrm>
          <a:prstGeom prst="ellipse">
            <a:avLst/>
          </a:prstGeom>
          <a:solidFill>
            <a:srgbClr val="1777B4"/>
          </a:solidFill>
          <a:ln w="12700">
            <a:solidFill>
              <a:srgbClr val="1777B4"/>
            </a:solidFill>
            <a:prstDash val="solid"/>
          </a:ln>
        </p:spPr>
      </p:sp>
      <p:sp>
        <p:nvSpPr>
          <p:cNvPr id="38" name="Text 35"/>
          <p:cNvSpPr txBox="1"/>
          <p:nvPr/>
        </p:nvSpPr>
        <p:spPr>
          <a:xfrm>
            <a:off x="7452360" y="4297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39" name="Text 36"/>
          <p:cNvSpPr txBox="1"/>
          <p:nvPr/>
        </p:nvSpPr>
        <p:spPr>
          <a:xfrm>
            <a:off x="7452360" y="4800600"/>
            <a:ext cx="1737360" cy="594360"/>
          </a:xfrm>
          <a:prstGeom prst="rect">
            <a:avLst/>
          </a:prstGeom>
          <a:noFill/>
          <a:ln/>
        </p:spPr>
        <p:txBody>
          <a:bodyPr wrap="square" lIns="0" tIns="0" rIns="0" bIns="0" rtlCol="0" anchor="t"/>
          <a:lstStyle/>
          <a:p>
            <a:pPr indent="0" marL="0">
              <a:buNone/>
            </a:pPr>
            <a:r>
              <a:rPr lang="en-US" sz="1300" b="1" dirty="0">
                <a:solidFill>
                  <a:srgbClr val="11344E"/>
                </a:solidFill>
                <a:latin typeface="Arial" pitchFamily="34" charset="0"/>
                <a:ea typeface="Arial" pitchFamily="34" charset="-122"/>
                <a:cs typeface="Arial" pitchFamily="34" charset="-120"/>
              </a:rPr>
              <a:t>Subtract the entire numerator</a:t>
            </a:r>
            <a:endParaRPr lang="en-US" sz="1300" dirty="0"/>
          </a:p>
        </p:txBody>
      </p:sp>
      <p:sp>
        <p:nvSpPr>
          <p:cNvPr id="40" name="Shape 37"/>
          <p:cNvSpPr/>
          <p:nvPr/>
        </p:nvSpPr>
        <p:spPr>
          <a:xfrm>
            <a:off x="9509760" y="4114800"/>
            <a:ext cx="2057400" cy="1371600"/>
          </a:xfrm>
          <a:prstGeom prst="roundRect">
            <a:avLst>
              <a:gd name="adj" fmla="val 5333"/>
            </a:avLst>
          </a:prstGeom>
          <a:solidFill>
            <a:srgbClr val="EEF4F9"/>
          </a:solidFill>
          <a:ln w="12700">
            <a:solidFill>
              <a:srgbClr val="EEF4F9"/>
            </a:solidFill>
            <a:prstDash val="solid"/>
          </a:ln>
        </p:spPr>
      </p:sp>
      <p:sp>
        <p:nvSpPr>
          <p:cNvPr id="41" name="Shape 38"/>
          <p:cNvSpPr/>
          <p:nvPr/>
        </p:nvSpPr>
        <p:spPr>
          <a:xfrm>
            <a:off x="9692640" y="4297680"/>
            <a:ext cx="420624" cy="420624"/>
          </a:xfrm>
          <a:prstGeom prst="ellipse">
            <a:avLst/>
          </a:prstGeom>
          <a:solidFill>
            <a:srgbClr val="1777B4"/>
          </a:solidFill>
          <a:ln w="12700">
            <a:solidFill>
              <a:srgbClr val="1777B4"/>
            </a:solidFill>
            <a:prstDash val="solid"/>
          </a:ln>
        </p:spPr>
      </p:sp>
      <p:sp>
        <p:nvSpPr>
          <p:cNvPr id="42" name="Text 39"/>
          <p:cNvSpPr txBox="1"/>
          <p:nvPr/>
        </p:nvSpPr>
        <p:spPr>
          <a:xfrm>
            <a:off x="9692640" y="4297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43" name="Text 40"/>
          <p:cNvSpPr txBox="1"/>
          <p:nvPr/>
        </p:nvSpPr>
        <p:spPr>
          <a:xfrm>
            <a:off x="9692640" y="4800600"/>
            <a:ext cx="1737360" cy="594360"/>
          </a:xfrm>
          <a:prstGeom prst="rect">
            <a:avLst/>
          </a:prstGeom>
          <a:noFill/>
          <a:ln/>
        </p:spPr>
        <p:txBody>
          <a:bodyPr wrap="square" lIns="0" tIns="0" rIns="0" bIns="0" rtlCol="0" anchor="t"/>
          <a:lstStyle/>
          <a:p>
            <a:pPr indent="0" marL="0">
              <a:buNone/>
            </a:pPr>
            <a:r>
              <a:rPr lang="en-US" sz="1300" b="1" dirty="0">
                <a:solidFill>
                  <a:srgbClr val="11344E"/>
                </a:solidFill>
                <a:latin typeface="Arial" pitchFamily="34" charset="0"/>
                <a:ea typeface="Arial" pitchFamily="34" charset="-122"/>
                <a:cs typeface="Arial" pitchFamily="34" charset="-120"/>
              </a:rPr>
              <a:t>Simplify if possible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A: rational expression solutions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Subtract the whole second numerator, not just its first term</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11</a:t>
            </a:r>
            <a:endParaRPr lang="en-US" sz="800" dirty="0"/>
          </a:p>
        </p:txBody>
      </p:sp>
      <p:sp>
        <p:nvSpPr>
          <p:cNvPr id="6" name="Text 3"/>
          <p:cNvSpPr txBox="1"/>
          <p:nvPr/>
        </p:nvSpPr>
        <p:spPr>
          <a:xfrm>
            <a:off x="548640" y="1600200"/>
            <a:ext cx="548640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5.   LCD = 2x(x + 4)</a:t>
            </a:r>
            <a:endParaRPr lang="en-US" sz="2200" dirty="0"/>
          </a:p>
        </p:txBody>
      </p:sp>
      <p:sp>
        <p:nvSpPr>
          <p:cNvPr id="7" name="Text 4"/>
          <p:cNvSpPr txBox="1"/>
          <p:nvPr/>
        </p:nvSpPr>
        <p:spPr>
          <a:xfrm>
            <a:off x="1005840" y="2240280"/>
            <a:ext cx="265176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5(x + 4) − 3(2x)</a:t>
            </a:r>
            <a:endParaRPr lang="en-US" sz="2200" dirty="0"/>
          </a:p>
        </p:txBody>
      </p:sp>
      <p:sp>
        <p:nvSpPr>
          <p:cNvPr id="8" name="Shape 5"/>
          <p:cNvSpPr/>
          <p:nvPr/>
        </p:nvSpPr>
        <p:spPr>
          <a:xfrm>
            <a:off x="1051560" y="2630932"/>
            <a:ext cx="2560320" cy="0"/>
          </a:xfrm>
          <a:prstGeom prst="line">
            <a:avLst/>
          </a:prstGeom>
          <a:noFill/>
          <a:ln w="12700">
            <a:solidFill>
              <a:srgbClr val="11344E"/>
            </a:solidFill>
            <a:prstDash val="solid"/>
          </a:ln>
        </p:spPr>
      </p:sp>
      <p:sp>
        <p:nvSpPr>
          <p:cNvPr id="9" name="Text 6"/>
          <p:cNvSpPr txBox="1"/>
          <p:nvPr/>
        </p:nvSpPr>
        <p:spPr>
          <a:xfrm>
            <a:off x="1005840" y="2667508"/>
            <a:ext cx="265176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2x(x + 4)</a:t>
            </a:r>
            <a:endParaRPr lang="en-US" sz="2200" dirty="0"/>
          </a:p>
        </p:txBody>
      </p:sp>
      <p:sp>
        <p:nvSpPr>
          <p:cNvPr id="10" name="Text 7"/>
          <p:cNvSpPr txBox="1"/>
          <p:nvPr/>
        </p:nvSpPr>
        <p:spPr>
          <a:xfrm>
            <a:off x="3657600" y="2514600"/>
            <a:ext cx="365760" cy="45720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a:t>
            </a:r>
            <a:endParaRPr lang="en-US" sz="2200" dirty="0"/>
          </a:p>
        </p:txBody>
      </p:sp>
      <p:sp>
        <p:nvSpPr>
          <p:cNvPr id="11" name="Text 8"/>
          <p:cNvSpPr txBox="1"/>
          <p:nvPr/>
        </p:nvSpPr>
        <p:spPr>
          <a:xfrm>
            <a:off x="4023360" y="2240280"/>
            <a:ext cx="1737360" cy="363220"/>
          </a:xfrm>
          <a:prstGeom prst="rect">
            <a:avLst/>
          </a:prstGeom>
          <a:noFill/>
          <a:ln/>
        </p:spPr>
        <p:txBody>
          <a:bodyPr wrap="square" lIns="0" tIns="0" rIns="0" bIns="0" rtlCol="0" anchor="b"/>
          <a:lstStyle/>
          <a:p>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20 − x</a:t>
            </a:r>
            <a:endParaRPr lang="en-US" sz="2200" dirty="0"/>
          </a:p>
        </p:txBody>
      </p:sp>
      <p:sp>
        <p:nvSpPr>
          <p:cNvPr id="12" name="Shape 9"/>
          <p:cNvSpPr/>
          <p:nvPr/>
        </p:nvSpPr>
        <p:spPr>
          <a:xfrm>
            <a:off x="4069080" y="2630932"/>
            <a:ext cx="1645920" cy="0"/>
          </a:xfrm>
          <a:prstGeom prst="line">
            <a:avLst/>
          </a:prstGeom>
          <a:noFill/>
          <a:ln w="12700">
            <a:solidFill>
              <a:srgbClr val="1777B4"/>
            </a:solidFill>
            <a:prstDash val="solid"/>
          </a:ln>
        </p:spPr>
      </p:sp>
      <p:sp>
        <p:nvSpPr>
          <p:cNvPr id="13" name="Text 10"/>
          <p:cNvSpPr txBox="1"/>
          <p:nvPr/>
        </p:nvSpPr>
        <p:spPr>
          <a:xfrm>
            <a:off x="4023360" y="2667508"/>
            <a:ext cx="1737360" cy="363220"/>
          </a:xfrm>
          <a:prstGeom prst="rect">
            <a:avLst/>
          </a:prstGeom>
          <a:noFill/>
          <a:ln/>
        </p:spPr>
        <p:txBody>
          <a:bodyPr wrap="square" lIns="0" tIns="0" rIns="0" bIns="0" rtlCol="0" anchor="t"/>
          <a:lstStyle/>
          <a:p>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2x(x + 4)</a:t>
            </a:r>
            <a:endParaRPr lang="en-US" sz="2200" dirty="0"/>
          </a:p>
        </p:txBody>
      </p:sp>
      <p:sp>
        <p:nvSpPr>
          <p:cNvPr id="14" name="Text 11"/>
          <p:cNvSpPr txBox="1"/>
          <p:nvPr/>
        </p:nvSpPr>
        <p:spPr>
          <a:xfrm>
            <a:off x="548640" y="3931920"/>
            <a:ext cx="548640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6.   LCD = 10b</a:t>
            </a:r>
            <a:endParaRPr lang="en-US" sz="2200" dirty="0"/>
          </a:p>
        </p:txBody>
      </p:sp>
      <p:sp>
        <p:nvSpPr>
          <p:cNvPr id="15" name="Text 12"/>
          <p:cNvSpPr txBox="1"/>
          <p:nvPr/>
        </p:nvSpPr>
        <p:spPr>
          <a:xfrm>
            <a:off x="1005840" y="4572000"/>
            <a:ext cx="82296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8</a:t>
            </a:r>
            <a:endParaRPr lang="en-US" sz="2200" dirty="0"/>
          </a:p>
        </p:txBody>
      </p:sp>
      <p:sp>
        <p:nvSpPr>
          <p:cNvPr id="16" name="Shape 13"/>
          <p:cNvSpPr/>
          <p:nvPr/>
        </p:nvSpPr>
        <p:spPr>
          <a:xfrm>
            <a:off x="1051560" y="4962652"/>
            <a:ext cx="731520" cy="0"/>
          </a:xfrm>
          <a:prstGeom prst="line">
            <a:avLst/>
          </a:prstGeom>
          <a:noFill/>
          <a:ln w="12700">
            <a:solidFill>
              <a:srgbClr val="11344E"/>
            </a:solidFill>
            <a:prstDash val="solid"/>
          </a:ln>
        </p:spPr>
      </p:sp>
      <p:sp>
        <p:nvSpPr>
          <p:cNvPr id="17" name="Text 14"/>
          <p:cNvSpPr txBox="1"/>
          <p:nvPr/>
        </p:nvSpPr>
        <p:spPr>
          <a:xfrm>
            <a:off x="1005840" y="4999228"/>
            <a:ext cx="82296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10b</a:t>
            </a:r>
            <a:endParaRPr lang="en-US" sz="2200" dirty="0"/>
          </a:p>
        </p:txBody>
      </p:sp>
      <p:sp>
        <p:nvSpPr>
          <p:cNvPr id="18" name="Text 15"/>
          <p:cNvSpPr txBox="1"/>
          <p:nvPr/>
        </p:nvSpPr>
        <p:spPr>
          <a:xfrm>
            <a:off x="1828800" y="4846320"/>
            <a:ext cx="365760" cy="45720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a:t>
            </a:r>
            <a:endParaRPr lang="en-US" sz="2200" dirty="0"/>
          </a:p>
        </p:txBody>
      </p:sp>
      <p:sp>
        <p:nvSpPr>
          <p:cNvPr id="19" name="Text 16"/>
          <p:cNvSpPr txBox="1"/>
          <p:nvPr/>
        </p:nvSpPr>
        <p:spPr>
          <a:xfrm>
            <a:off x="2194560" y="4572000"/>
            <a:ext cx="82296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15b</a:t>
            </a:r>
            <a:endParaRPr lang="en-US" sz="2200" dirty="0"/>
          </a:p>
        </p:txBody>
      </p:sp>
      <p:sp>
        <p:nvSpPr>
          <p:cNvPr id="20" name="Shape 17"/>
          <p:cNvSpPr/>
          <p:nvPr/>
        </p:nvSpPr>
        <p:spPr>
          <a:xfrm>
            <a:off x="2240280" y="4962652"/>
            <a:ext cx="731520" cy="0"/>
          </a:xfrm>
          <a:prstGeom prst="line">
            <a:avLst/>
          </a:prstGeom>
          <a:noFill/>
          <a:ln w="12700">
            <a:solidFill>
              <a:srgbClr val="11344E"/>
            </a:solidFill>
            <a:prstDash val="solid"/>
          </a:ln>
        </p:spPr>
      </p:sp>
      <p:sp>
        <p:nvSpPr>
          <p:cNvPr id="21" name="Text 18"/>
          <p:cNvSpPr txBox="1"/>
          <p:nvPr/>
        </p:nvSpPr>
        <p:spPr>
          <a:xfrm>
            <a:off x="2194560" y="4999228"/>
            <a:ext cx="82296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10b</a:t>
            </a:r>
            <a:endParaRPr lang="en-US" sz="2200" dirty="0"/>
          </a:p>
        </p:txBody>
      </p:sp>
      <p:sp>
        <p:nvSpPr>
          <p:cNvPr id="22" name="Text 19"/>
          <p:cNvSpPr txBox="1"/>
          <p:nvPr/>
        </p:nvSpPr>
        <p:spPr>
          <a:xfrm>
            <a:off x="3017520" y="4846320"/>
            <a:ext cx="365760" cy="45720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a:t>
            </a:r>
            <a:endParaRPr lang="en-US" sz="2200" dirty="0"/>
          </a:p>
        </p:txBody>
      </p:sp>
      <p:sp>
        <p:nvSpPr>
          <p:cNvPr id="23" name="Text 20"/>
          <p:cNvSpPr txBox="1"/>
          <p:nvPr/>
        </p:nvSpPr>
        <p:spPr>
          <a:xfrm>
            <a:off x="3383280" y="4572000"/>
            <a:ext cx="1554480" cy="363220"/>
          </a:xfrm>
          <a:prstGeom prst="rect">
            <a:avLst/>
          </a:prstGeom>
          <a:noFill/>
          <a:ln/>
        </p:spPr>
        <p:txBody>
          <a:bodyPr wrap="square" lIns="0" tIns="0" rIns="0" bIns="0" rtlCol="0" anchor="b"/>
          <a:lstStyle/>
          <a:p>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8 − 15b</a:t>
            </a:r>
            <a:endParaRPr lang="en-US" sz="2200" dirty="0"/>
          </a:p>
        </p:txBody>
      </p:sp>
      <p:sp>
        <p:nvSpPr>
          <p:cNvPr id="24" name="Shape 21"/>
          <p:cNvSpPr/>
          <p:nvPr/>
        </p:nvSpPr>
        <p:spPr>
          <a:xfrm>
            <a:off x="3429000" y="4962652"/>
            <a:ext cx="1463040" cy="0"/>
          </a:xfrm>
          <a:prstGeom prst="line">
            <a:avLst/>
          </a:prstGeom>
          <a:noFill/>
          <a:ln w="12700">
            <a:solidFill>
              <a:srgbClr val="1777B4"/>
            </a:solidFill>
            <a:prstDash val="solid"/>
          </a:ln>
        </p:spPr>
      </p:sp>
      <p:sp>
        <p:nvSpPr>
          <p:cNvPr id="25" name="Text 22"/>
          <p:cNvSpPr txBox="1"/>
          <p:nvPr/>
        </p:nvSpPr>
        <p:spPr>
          <a:xfrm>
            <a:off x="3383280" y="4999228"/>
            <a:ext cx="1554480" cy="363220"/>
          </a:xfrm>
          <a:prstGeom prst="rect">
            <a:avLst/>
          </a:prstGeom>
          <a:noFill/>
          <a:ln/>
        </p:spPr>
        <p:txBody>
          <a:bodyPr wrap="square" lIns="0" tIns="0" rIns="0" bIns="0" rtlCol="0" anchor="t"/>
          <a:lstStyle/>
          <a:p>
            <a:pPr algn="ctr" indent="0" marL="0">
              <a:buNone/>
            </a:pPr>
            <a:r>
              <a:rPr lang="en-US" sz="2200" dirty="0">
                <a:solidFill>
                  <a:srgbClr val="1777B4"/>
                </a:solidFill>
                <a:latin typeface="Times New Roman" pitchFamily="34" charset="0"/>
                <a:ea typeface="Times New Roman" pitchFamily="34" charset="-122"/>
                <a:cs typeface="Times New Roman" pitchFamily="34" charset="-120"/>
              </a:rPr>
              <a:t>10b</a:t>
            </a:r>
            <a:endParaRPr lang="en-US" sz="2200" dirty="0"/>
          </a:p>
        </p:txBody>
      </p:sp>
      <p:sp>
        <p:nvSpPr>
          <p:cNvPr id="26" name="Shape 23"/>
          <p:cNvSpPr/>
          <p:nvPr/>
        </p:nvSpPr>
        <p:spPr>
          <a:xfrm>
            <a:off x="6949440" y="1600200"/>
            <a:ext cx="4663440" cy="4206240"/>
          </a:xfrm>
          <a:prstGeom prst="roundRect">
            <a:avLst>
              <a:gd name="adj" fmla="val 1739"/>
            </a:avLst>
          </a:prstGeom>
          <a:solidFill>
            <a:srgbClr val="FBEDEB"/>
          </a:solidFill>
          <a:ln w="12700">
            <a:solidFill>
              <a:srgbClr val="FBEDEB"/>
            </a:solidFill>
            <a:prstDash val="solid"/>
          </a:ln>
        </p:spPr>
      </p:sp>
      <p:sp>
        <p:nvSpPr>
          <p:cNvPr id="27" name="Text 24"/>
          <p:cNvSpPr txBox="1"/>
          <p:nvPr/>
        </p:nvSpPr>
        <p:spPr>
          <a:xfrm>
            <a:off x="7223760" y="1783080"/>
            <a:ext cx="4114800" cy="365760"/>
          </a:xfrm>
          <a:prstGeom prst="rect">
            <a:avLst/>
          </a:prstGeom>
          <a:noFill/>
          <a:ln/>
        </p:spPr>
        <p:txBody>
          <a:bodyPr wrap="square" lIns="0" tIns="0" rIns="0" bIns="0" rtlCol="0" anchor="t"/>
          <a:lstStyle/>
          <a:p>
            <a:pPr indent="0" marL="0">
              <a:buNone/>
            </a:pPr>
            <a:r>
              <a:rPr lang="en-US" sz="1700" b="1" dirty="0">
                <a:solidFill>
                  <a:srgbClr val="B03A2E"/>
                </a:solidFill>
                <a:latin typeface="Arial" pitchFamily="34" charset="0"/>
                <a:ea typeface="Arial" pitchFamily="34" charset="-122"/>
                <a:cs typeface="Arial" pitchFamily="34" charset="-120"/>
              </a:rPr>
              <a:t>Watch for</a:t>
            </a:r>
            <a:endParaRPr lang="en-US" sz="1700" dirty="0"/>
          </a:p>
        </p:txBody>
      </p:sp>
      <p:sp>
        <p:nvSpPr>
          <p:cNvPr id="28" name="Text 25"/>
          <p:cNvSpPr txBox="1"/>
          <p:nvPr/>
        </p:nvSpPr>
        <p:spPr>
          <a:xfrm>
            <a:off x="7223760" y="2286000"/>
            <a:ext cx="4114800" cy="329184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Subtracting denominators: 2x − (x + 4) is never the LCD</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Distributing only partly: 5(x + 4) is 5x + 20, not 5x + 4</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Leaving the 3 unchanged instead of writing 3 · 5b = 15b</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B: sets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Write interval answers in interval notation</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12</a:t>
            </a:r>
            <a:endParaRPr lang="en-US" sz="800" dirty="0"/>
          </a:p>
        </p:txBody>
      </p:sp>
      <p:sp>
        <p:nvSpPr>
          <p:cNvPr id="6" name="Shape 3"/>
          <p:cNvSpPr/>
          <p:nvPr/>
        </p:nvSpPr>
        <p:spPr>
          <a:xfrm>
            <a:off x="9464040" y="411480"/>
            <a:ext cx="2148840" cy="457200"/>
          </a:xfrm>
          <a:prstGeom prst="roundRect">
            <a:avLst>
              <a:gd name="adj" fmla="val 16000"/>
            </a:avLst>
          </a:prstGeom>
          <a:solidFill>
            <a:srgbClr val="EAF5F0"/>
          </a:solidFill>
          <a:ln w="12700">
            <a:solidFill>
              <a:srgbClr val="EAF5F0"/>
            </a:solidFill>
            <a:prstDash val="solid"/>
          </a:ln>
        </p:spPr>
      </p:sp>
      <p:sp>
        <p:nvSpPr>
          <p:cNvPr id="7" name="Text 4"/>
          <p:cNvSpPr txBox="1"/>
          <p:nvPr/>
        </p:nvSpPr>
        <p:spPr>
          <a:xfrm>
            <a:off x="9464040" y="411480"/>
            <a:ext cx="2148840" cy="457200"/>
          </a:xfrm>
          <a:prstGeom prst="rect">
            <a:avLst/>
          </a:prstGeom>
          <a:noFill/>
          <a:ln/>
        </p:spPr>
        <p:txBody>
          <a:bodyPr wrap="square" lIns="0" tIns="0" rIns="0" bIns="0" rtlCol="0" anchor="ctr"/>
          <a:lstStyle/>
          <a:p>
            <a:pPr algn="ctr" indent="0" marL="0">
              <a:buNone/>
            </a:pPr>
            <a:r>
              <a:rPr lang="en-US" sz="1300" b="1" dirty="0">
                <a:solidFill>
                  <a:srgbClr val="1B7F5E"/>
                </a:solidFill>
                <a:latin typeface="Arial" pitchFamily="34" charset="0"/>
                <a:ea typeface="Arial" pitchFamily="34" charset="-122"/>
                <a:cs typeface="Arial" pitchFamily="34" charset="-120"/>
              </a:rPr>
              <a:t>5 minutes</a:t>
            </a:r>
            <a:endParaRPr lang="en-US" sz="1300" dirty="0"/>
          </a:p>
        </p:txBody>
      </p:sp>
      <p:sp>
        <p:nvSpPr>
          <p:cNvPr id="8" name="Shape 5"/>
          <p:cNvSpPr/>
          <p:nvPr/>
        </p:nvSpPr>
        <p:spPr>
          <a:xfrm>
            <a:off x="1600200" y="1874520"/>
            <a:ext cx="4937760" cy="91"/>
          </a:xfrm>
          <a:prstGeom prst="line">
            <a:avLst/>
          </a:prstGeom>
          <a:noFill/>
          <a:ln w="15875">
            <a:solidFill>
              <a:srgbClr val="687783"/>
            </a:solidFill>
            <a:prstDash val="solid"/>
            <a:headEnd type="triangle"/>
            <a:tailEnd type="triangle"/>
          </a:ln>
        </p:spPr>
      </p:sp>
      <p:sp>
        <p:nvSpPr>
          <p:cNvPr id="9" name="Shape 6"/>
          <p:cNvSpPr/>
          <p:nvPr/>
        </p:nvSpPr>
        <p:spPr>
          <a:xfrm>
            <a:off x="1737360" y="1819656"/>
            <a:ext cx="91" cy="109728"/>
          </a:xfrm>
          <a:prstGeom prst="line">
            <a:avLst/>
          </a:prstGeom>
          <a:noFill/>
          <a:ln w="12700">
            <a:solidFill>
              <a:srgbClr val="687783"/>
            </a:solidFill>
            <a:prstDash val="solid"/>
          </a:ln>
        </p:spPr>
      </p:sp>
      <p:sp>
        <p:nvSpPr>
          <p:cNvPr id="10" name="Text 7"/>
          <p:cNvSpPr txBox="1"/>
          <p:nvPr/>
        </p:nvSpPr>
        <p:spPr>
          <a:xfrm>
            <a:off x="1554480"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11" name="Shape 8"/>
          <p:cNvSpPr/>
          <p:nvPr/>
        </p:nvSpPr>
        <p:spPr>
          <a:xfrm>
            <a:off x="2096086" y="1819656"/>
            <a:ext cx="91" cy="109728"/>
          </a:xfrm>
          <a:prstGeom prst="line">
            <a:avLst/>
          </a:prstGeom>
          <a:noFill/>
          <a:ln w="12700">
            <a:solidFill>
              <a:srgbClr val="687783"/>
            </a:solidFill>
            <a:prstDash val="solid"/>
          </a:ln>
        </p:spPr>
      </p:sp>
      <p:sp>
        <p:nvSpPr>
          <p:cNvPr id="12" name="Text 9"/>
          <p:cNvSpPr txBox="1"/>
          <p:nvPr/>
        </p:nvSpPr>
        <p:spPr>
          <a:xfrm>
            <a:off x="1913206"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13" name="Shape 10"/>
          <p:cNvSpPr/>
          <p:nvPr/>
        </p:nvSpPr>
        <p:spPr>
          <a:xfrm>
            <a:off x="2454812" y="1819656"/>
            <a:ext cx="91" cy="109728"/>
          </a:xfrm>
          <a:prstGeom prst="line">
            <a:avLst/>
          </a:prstGeom>
          <a:noFill/>
          <a:ln w="12700">
            <a:solidFill>
              <a:srgbClr val="687783"/>
            </a:solidFill>
            <a:prstDash val="solid"/>
          </a:ln>
        </p:spPr>
      </p:sp>
      <p:sp>
        <p:nvSpPr>
          <p:cNvPr id="14" name="Text 11"/>
          <p:cNvSpPr txBox="1"/>
          <p:nvPr/>
        </p:nvSpPr>
        <p:spPr>
          <a:xfrm>
            <a:off x="2271932"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15" name="Shape 12"/>
          <p:cNvSpPr/>
          <p:nvPr/>
        </p:nvSpPr>
        <p:spPr>
          <a:xfrm>
            <a:off x="2813538" y="1819656"/>
            <a:ext cx="91" cy="109728"/>
          </a:xfrm>
          <a:prstGeom prst="line">
            <a:avLst/>
          </a:prstGeom>
          <a:noFill/>
          <a:ln w="12700">
            <a:solidFill>
              <a:srgbClr val="687783"/>
            </a:solidFill>
            <a:prstDash val="solid"/>
          </a:ln>
        </p:spPr>
      </p:sp>
      <p:sp>
        <p:nvSpPr>
          <p:cNvPr id="16" name="Text 13"/>
          <p:cNvSpPr txBox="1"/>
          <p:nvPr/>
        </p:nvSpPr>
        <p:spPr>
          <a:xfrm>
            <a:off x="2630658"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17" name="Shape 14"/>
          <p:cNvSpPr/>
          <p:nvPr/>
        </p:nvSpPr>
        <p:spPr>
          <a:xfrm>
            <a:off x="3172265" y="1819656"/>
            <a:ext cx="91" cy="109728"/>
          </a:xfrm>
          <a:prstGeom prst="line">
            <a:avLst/>
          </a:prstGeom>
          <a:noFill/>
          <a:ln w="12700">
            <a:solidFill>
              <a:srgbClr val="687783"/>
            </a:solidFill>
            <a:prstDash val="solid"/>
          </a:ln>
        </p:spPr>
      </p:sp>
      <p:sp>
        <p:nvSpPr>
          <p:cNvPr id="18" name="Text 15"/>
          <p:cNvSpPr txBox="1"/>
          <p:nvPr/>
        </p:nvSpPr>
        <p:spPr>
          <a:xfrm>
            <a:off x="2989385"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19" name="Shape 16"/>
          <p:cNvSpPr/>
          <p:nvPr/>
        </p:nvSpPr>
        <p:spPr>
          <a:xfrm>
            <a:off x="3530991" y="1819656"/>
            <a:ext cx="91" cy="109728"/>
          </a:xfrm>
          <a:prstGeom prst="line">
            <a:avLst/>
          </a:prstGeom>
          <a:noFill/>
          <a:ln w="12700">
            <a:solidFill>
              <a:srgbClr val="687783"/>
            </a:solidFill>
            <a:prstDash val="solid"/>
          </a:ln>
        </p:spPr>
      </p:sp>
      <p:sp>
        <p:nvSpPr>
          <p:cNvPr id="20" name="Text 17"/>
          <p:cNvSpPr txBox="1"/>
          <p:nvPr/>
        </p:nvSpPr>
        <p:spPr>
          <a:xfrm>
            <a:off x="3348111"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21" name="Shape 18"/>
          <p:cNvSpPr/>
          <p:nvPr/>
        </p:nvSpPr>
        <p:spPr>
          <a:xfrm>
            <a:off x="3889717" y="1819656"/>
            <a:ext cx="91" cy="109728"/>
          </a:xfrm>
          <a:prstGeom prst="line">
            <a:avLst/>
          </a:prstGeom>
          <a:noFill/>
          <a:ln w="12700">
            <a:solidFill>
              <a:srgbClr val="687783"/>
            </a:solidFill>
            <a:prstDash val="solid"/>
          </a:ln>
        </p:spPr>
      </p:sp>
      <p:sp>
        <p:nvSpPr>
          <p:cNvPr id="22" name="Text 19"/>
          <p:cNvSpPr txBox="1"/>
          <p:nvPr/>
        </p:nvSpPr>
        <p:spPr>
          <a:xfrm>
            <a:off x="3706837"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0</a:t>
            </a:r>
            <a:endParaRPr lang="en-US" sz="900" dirty="0"/>
          </a:p>
        </p:txBody>
      </p:sp>
      <p:sp>
        <p:nvSpPr>
          <p:cNvPr id="23" name="Shape 20"/>
          <p:cNvSpPr/>
          <p:nvPr/>
        </p:nvSpPr>
        <p:spPr>
          <a:xfrm>
            <a:off x="4248443" y="1819656"/>
            <a:ext cx="91" cy="109728"/>
          </a:xfrm>
          <a:prstGeom prst="line">
            <a:avLst/>
          </a:prstGeom>
          <a:noFill/>
          <a:ln w="12700">
            <a:solidFill>
              <a:srgbClr val="687783"/>
            </a:solidFill>
            <a:prstDash val="solid"/>
          </a:ln>
        </p:spPr>
      </p:sp>
      <p:sp>
        <p:nvSpPr>
          <p:cNvPr id="24" name="Text 21"/>
          <p:cNvSpPr txBox="1"/>
          <p:nvPr/>
        </p:nvSpPr>
        <p:spPr>
          <a:xfrm>
            <a:off x="4065563"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25" name="Shape 22"/>
          <p:cNvSpPr/>
          <p:nvPr/>
        </p:nvSpPr>
        <p:spPr>
          <a:xfrm>
            <a:off x="4607169" y="1819656"/>
            <a:ext cx="91" cy="109728"/>
          </a:xfrm>
          <a:prstGeom prst="line">
            <a:avLst/>
          </a:prstGeom>
          <a:noFill/>
          <a:ln w="12700">
            <a:solidFill>
              <a:srgbClr val="687783"/>
            </a:solidFill>
            <a:prstDash val="solid"/>
          </a:ln>
        </p:spPr>
      </p:sp>
      <p:sp>
        <p:nvSpPr>
          <p:cNvPr id="26" name="Text 23"/>
          <p:cNvSpPr txBox="1"/>
          <p:nvPr/>
        </p:nvSpPr>
        <p:spPr>
          <a:xfrm>
            <a:off x="4424289"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27" name="Shape 24"/>
          <p:cNvSpPr/>
          <p:nvPr/>
        </p:nvSpPr>
        <p:spPr>
          <a:xfrm>
            <a:off x="4965895" y="1819656"/>
            <a:ext cx="91" cy="109728"/>
          </a:xfrm>
          <a:prstGeom prst="line">
            <a:avLst/>
          </a:prstGeom>
          <a:noFill/>
          <a:ln w="12700">
            <a:solidFill>
              <a:srgbClr val="687783"/>
            </a:solidFill>
            <a:prstDash val="solid"/>
          </a:ln>
        </p:spPr>
      </p:sp>
      <p:sp>
        <p:nvSpPr>
          <p:cNvPr id="28" name="Text 25"/>
          <p:cNvSpPr txBox="1"/>
          <p:nvPr/>
        </p:nvSpPr>
        <p:spPr>
          <a:xfrm>
            <a:off x="4783015"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29" name="Shape 26"/>
          <p:cNvSpPr/>
          <p:nvPr/>
        </p:nvSpPr>
        <p:spPr>
          <a:xfrm>
            <a:off x="5324622" y="1819656"/>
            <a:ext cx="91" cy="109728"/>
          </a:xfrm>
          <a:prstGeom prst="line">
            <a:avLst/>
          </a:prstGeom>
          <a:noFill/>
          <a:ln w="12700">
            <a:solidFill>
              <a:srgbClr val="687783"/>
            </a:solidFill>
            <a:prstDash val="solid"/>
          </a:ln>
        </p:spPr>
      </p:sp>
      <p:sp>
        <p:nvSpPr>
          <p:cNvPr id="30" name="Text 27"/>
          <p:cNvSpPr txBox="1"/>
          <p:nvPr/>
        </p:nvSpPr>
        <p:spPr>
          <a:xfrm>
            <a:off x="5141742"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31" name="Shape 28"/>
          <p:cNvSpPr/>
          <p:nvPr/>
        </p:nvSpPr>
        <p:spPr>
          <a:xfrm>
            <a:off x="5683348" y="1819656"/>
            <a:ext cx="91" cy="109728"/>
          </a:xfrm>
          <a:prstGeom prst="line">
            <a:avLst/>
          </a:prstGeom>
          <a:noFill/>
          <a:ln w="12700">
            <a:solidFill>
              <a:srgbClr val="687783"/>
            </a:solidFill>
            <a:prstDash val="solid"/>
          </a:ln>
        </p:spPr>
      </p:sp>
      <p:sp>
        <p:nvSpPr>
          <p:cNvPr id="32" name="Text 29"/>
          <p:cNvSpPr txBox="1"/>
          <p:nvPr/>
        </p:nvSpPr>
        <p:spPr>
          <a:xfrm>
            <a:off x="5500468"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33" name="Shape 30"/>
          <p:cNvSpPr/>
          <p:nvPr/>
        </p:nvSpPr>
        <p:spPr>
          <a:xfrm>
            <a:off x="6042074" y="1819656"/>
            <a:ext cx="91" cy="109728"/>
          </a:xfrm>
          <a:prstGeom prst="line">
            <a:avLst/>
          </a:prstGeom>
          <a:noFill/>
          <a:ln w="12700">
            <a:solidFill>
              <a:srgbClr val="687783"/>
            </a:solidFill>
            <a:prstDash val="solid"/>
          </a:ln>
        </p:spPr>
      </p:sp>
      <p:sp>
        <p:nvSpPr>
          <p:cNvPr id="34" name="Text 31"/>
          <p:cNvSpPr txBox="1"/>
          <p:nvPr/>
        </p:nvSpPr>
        <p:spPr>
          <a:xfrm>
            <a:off x="5859194"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35" name="Shape 32"/>
          <p:cNvSpPr/>
          <p:nvPr/>
        </p:nvSpPr>
        <p:spPr>
          <a:xfrm>
            <a:off x="6400800" y="1819656"/>
            <a:ext cx="91" cy="109728"/>
          </a:xfrm>
          <a:prstGeom prst="line">
            <a:avLst/>
          </a:prstGeom>
          <a:noFill/>
          <a:ln w="12700">
            <a:solidFill>
              <a:srgbClr val="687783"/>
            </a:solidFill>
            <a:prstDash val="solid"/>
          </a:ln>
        </p:spPr>
      </p:sp>
      <p:sp>
        <p:nvSpPr>
          <p:cNvPr id="36" name="Text 33"/>
          <p:cNvSpPr txBox="1"/>
          <p:nvPr/>
        </p:nvSpPr>
        <p:spPr>
          <a:xfrm>
            <a:off x="6217920"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7</a:t>
            </a:r>
            <a:endParaRPr lang="en-US" sz="900" dirty="0"/>
          </a:p>
        </p:txBody>
      </p:sp>
      <p:sp>
        <p:nvSpPr>
          <p:cNvPr id="37" name="Text 34"/>
          <p:cNvSpPr txBox="1"/>
          <p:nvPr/>
        </p:nvSpPr>
        <p:spPr>
          <a:xfrm>
            <a:off x="685800" y="1691640"/>
            <a:ext cx="777240" cy="365760"/>
          </a:xfrm>
          <a:prstGeom prst="rect">
            <a:avLst/>
          </a:prstGeom>
          <a:noFill/>
          <a:ln/>
        </p:spPr>
        <p:txBody>
          <a:bodyPr wrap="square" lIns="0" tIns="0" rIns="0" bIns="0" rtlCol="0" anchor="ctr"/>
          <a:lstStyle/>
          <a:p>
            <a:pPr indent="0" marL="0">
              <a:buNone/>
            </a:pPr>
            <a:r>
              <a:rPr lang="en-US" sz="1500" b="1" dirty="0">
                <a:solidFill>
                  <a:srgbClr val="11344E"/>
                </a:solidFill>
                <a:latin typeface="Times New Roman" pitchFamily="34" charset="0"/>
                <a:ea typeface="Times New Roman" pitchFamily="34" charset="-122"/>
                <a:cs typeface="Times New Roman" pitchFamily="34" charset="-120"/>
              </a:rPr>
              <a:t>A:</a:t>
            </a:r>
            <a:endParaRPr lang="en-US" sz="1500" dirty="0"/>
          </a:p>
        </p:txBody>
      </p:sp>
      <p:sp>
        <p:nvSpPr>
          <p:cNvPr id="38" name="Shape 35"/>
          <p:cNvSpPr/>
          <p:nvPr/>
        </p:nvSpPr>
        <p:spPr>
          <a:xfrm>
            <a:off x="2454812" y="1874520"/>
            <a:ext cx="2511083" cy="0"/>
          </a:xfrm>
          <a:prstGeom prst="line">
            <a:avLst/>
          </a:prstGeom>
          <a:noFill/>
          <a:ln w="63500">
            <a:solidFill>
              <a:srgbClr val="1777B4"/>
            </a:solidFill>
            <a:prstDash val="solid"/>
          </a:ln>
        </p:spPr>
      </p:sp>
      <p:sp>
        <p:nvSpPr>
          <p:cNvPr id="39" name="Shape 36"/>
          <p:cNvSpPr/>
          <p:nvPr/>
        </p:nvSpPr>
        <p:spPr>
          <a:xfrm>
            <a:off x="2372516" y="1792224"/>
            <a:ext cx="164592" cy="164592"/>
          </a:xfrm>
          <a:prstGeom prst="ellipse">
            <a:avLst/>
          </a:prstGeom>
          <a:solidFill>
            <a:srgbClr val="1777B4"/>
          </a:solidFill>
          <a:ln w="25400">
            <a:solidFill>
              <a:srgbClr val="1777B4"/>
            </a:solidFill>
            <a:prstDash val="solid"/>
          </a:ln>
        </p:spPr>
      </p:sp>
      <p:sp>
        <p:nvSpPr>
          <p:cNvPr id="40" name="Shape 37"/>
          <p:cNvSpPr/>
          <p:nvPr/>
        </p:nvSpPr>
        <p:spPr>
          <a:xfrm>
            <a:off x="4883599" y="1792224"/>
            <a:ext cx="164592" cy="164592"/>
          </a:xfrm>
          <a:prstGeom prst="ellipse">
            <a:avLst/>
          </a:prstGeom>
          <a:solidFill>
            <a:srgbClr val="FFFFFF"/>
          </a:solidFill>
          <a:ln w="25400">
            <a:solidFill>
              <a:srgbClr val="1777B4"/>
            </a:solidFill>
            <a:prstDash val="solid"/>
          </a:ln>
        </p:spPr>
      </p:sp>
      <p:sp>
        <p:nvSpPr>
          <p:cNvPr id="41" name="Text 38"/>
          <p:cNvSpPr txBox="1"/>
          <p:nvPr/>
        </p:nvSpPr>
        <p:spPr>
          <a:xfrm>
            <a:off x="548640" y="2039112"/>
            <a:ext cx="1097280" cy="274320"/>
          </a:xfrm>
          <a:prstGeom prst="rect">
            <a:avLst/>
          </a:prstGeom>
          <a:noFill/>
          <a:ln/>
        </p:spPr>
        <p:txBody>
          <a:bodyPr wrap="square" lIns="0" tIns="0" rIns="0" bIns="0" rtlCol="0" anchor="t"/>
          <a:lstStyle/>
          <a:p>
            <a:pPr indent="0" marL="0">
              <a:buNone/>
            </a:pPr>
            <a:r>
              <a:rPr lang="en-US" sz="1300" dirty="0">
                <a:solidFill>
                  <a:srgbClr val="687783"/>
                </a:solidFill>
                <a:latin typeface="Times New Roman" pitchFamily="34" charset="0"/>
                <a:ea typeface="Times New Roman" pitchFamily="34" charset="-122"/>
                <a:cs typeface="Times New Roman" pitchFamily="34" charset="-120"/>
              </a:rPr>
              <a:t>−4 ≤ x &lt; 3</a:t>
            </a:r>
            <a:endParaRPr lang="en-US" sz="1300" dirty="0"/>
          </a:p>
        </p:txBody>
      </p:sp>
      <p:sp>
        <p:nvSpPr>
          <p:cNvPr id="42" name="Shape 39"/>
          <p:cNvSpPr/>
          <p:nvPr/>
        </p:nvSpPr>
        <p:spPr>
          <a:xfrm>
            <a:off x="1600200" y="2788920"/>
            <a:ext cx="4937760" cy="91"/>
          </a:xfrm>
          <a:prstGeom prst="line">
            <a:avLst/>
          </a:prstGeom>
          <a:noFill/>
          <a:ln w="15875">
            <a:solidFill>
              <a:srgbClr val="687783"/>
            </a:solidFill>
            <a:prstDash val="solid"/>
            <a:headEnd type="triangle"/>
            <a:tailEnd type="triangle"/>
          </a:ln>
        </p:spPr>
      </p:sp>
      <p:sp>
        <p:nvSpPr>
          <p:cNvPr id="43" name="Shape 40"/>
          <p:cNvSpPr/>
          <p:nvPr/>
        </p:nvSpPr>
        <p:spPr>
          <a:xfrm>
            <a:off x="1737360" y="2734056"/>
            <a:ext cx="91" cy="109728"/>
          </a:xfrm>
          <a:prstGeom prst="line">
            <a:avLst/>
          </a:prstGeom>
          <a:noFill/>
          <a:ln w="12700">
            <a:solidFill>
              <a:srgbClr val="687783"/>
            </a:solidFill>
            <a:prstDash val="solid"/>
          </a:ln>
        </p:spPr>
      </p:sp>
      <p:sp>
        <p:nvSpPr>
          <p:cNvPr id="44" name="Text 41"/>
          <p:cNvSpPr txBox="1"/>
          <p:nvPr/>
        </p:nvSpPr>
        <p:spPr>
          <a:xfrm>
            <a:off x="1554480"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45" name="Shape 42"/>
          <p:cNvSpPr/>
          <p:nvPr/>
        </p:nvSpPr>
        <p:spPr>
          <a:xfrm>
            <a:off x="2096086" y="2734056"/>
            <a:ext cx="91" cy="109728"/>
          </a:xfrm>
          <a:prstGeom prst="line">
            <a:avLst/>
          </a:prstGeom>
          <a:noFill/>
          <a:ln w="12700">
            <a:solidFill>
              <a:srgbClr val="687783"/>
            </a:solidFill>
            <a:prstDash val="solid"/>
          </a:ln>
        </p:spPr>
      </p:sp>
      <p:sp>
        <p:nvSpPr>
          <p:cNvPr id="46" name="Text 43"/>
          <p:cNvSpPr txBox="1"/>
          <p:nvPr/>
        </p:nvSpPr>
        <p:spPr>
          <a:xfrm>
            <a:off x="1913206"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47" name="Shape 44"/>
          <p:cNvSpPr/>
          <p:nvPr/>
        </p:nvSpPr>
        <p:spPr>
          <a:xfrm>
            <a:off x="2454812" y="2734056"/>
            <a:ext cx="91" cy="109728"/>
          </a:xfrm>
          <a:prstGeom prst="line">
            <a:avLst/>
          </a:prstGeom>
          <a:noFill/>
          <a:ln w="12700">
            <a:solidFill>
              <a:srgbClr val="687783"/>
            </a:solidFill>
            <a:prstDash val="solid"/>
          </a:ln>
        </p:spPr>
      </p:sp>
      <p:sp>
        <p:nvSpPr>
          <p:cNvPr id="48" name="Text 45"/>
          <p:cNvSpPr txBox="1"/>
          <p:nvPr/>
        </p:nvSpPr>
        <p:spPr>
          <a:xfrm>
            <a:off x="2271932"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49" name="Shape 46"/>
          <p:cNvSpPr/>
          <p:nvPr/>
        </p:nvSpPr>
        <p:spPr>
          <a:xfrm>
            <a:off x="2813538" y="2734056"/>
            <a:ext cx="91" cy="109728"/>
          </a:xfrm>
          <a:prstGeom prst="line">
            <a:avLst/>
          </a:prstGeom>
          <a:noFill/>
          <a:ln w="12700">
            <a:solidFill>
              <a:srgbClr val="687783"/>
            </a:solidFill>
            <a:prstDash val="solid"/>
          </a:ln>
        </p:spPr>
      </p:sp>
      <p:sp>
        <p:nvSpPr>
          <p:cNvPr id="50" name="Text 47"/>
          <p:cNvSpPr txBox="1"/>
          <p:nvPr/>
        </p:nvSpPr>
        <p:spPr>
          <a:xfrm>
            <a:off x="2630658"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51" name="Shape 48"/>
          <p:cNvSpPr/>
          <p:nvPr/>
        </p:nvSpPr>
        <p:spPr>
          <a:xfrm>
            <a:off x="3172265" y="2734056"/>
            <a:ext cx="91" cy="109728"/>
          </a:xfrm>
          <a:prstGeom prst="line">
            <a:avLst/>
          </a:prstGeom>
          <a:noFill/>
          <a:ln w="12700">
            <a:solidFill>
              <a:srgbClr val="687783"/>
            </a:solidFill>
            <a:prstDash val="solid"/>
          </a:ln>
        </p:spPr>
      </p:sp>
      <p:sp>
        <p:nvSpPr>
          <p:cNvPr id="52" name="Text 49"/>
          <p:cNvSpPr txBox="1"/>
          <p:nvPr/>
        </p:nvSpPr>
        <p:spPr>
          <a:xfrm>
            <a:off x="2989385"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53" name="Shape 50"/>
          <p:cNvSpPr/>
          <p:nvPr/>
        </p:nvSpPr>
        <p:spPr>
          <a:xfrm>
            <a:off x="3530991" y="2734056"/>
            <a:ext cx="91" cy="109728"/>
          </a:xfrm>
          <a:prstGeom prst="line">
            <a:avLst/>
          </a:prstGeom>
          <a:noFill/>
          <a:ln w="12700">
            <a:solidFill>
              <a:srgbClr val="687783"/>
            </a:solidFill>
            <a:prstDash val="solid"/>
          </a:ln>
        </p:spPr>
      </p:sp>
      <p:sp>
        <p:nvSpPr>
          <p:cNvPr id="54" name="Text 51"/>
          <p:cNvSpPr txBox="1"/>
          <p:nvPr/>
        </p:nvSpPr>
        <p:spPr>
          <a:xfrm>
            <a:off x="3348111"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55" name="Shape 52"/>
          <p:cNvSpPr/>
          <p:nvPr/>
        </p:nvSpPr>
        <p:spPr>
          <a:xfrm>
            <a:off x="3889717" y="2734056"/>
            <a:ext cx="91" cy="109728"/>
          </a:xfrm>
          <a:prstGeom prst="line">
            <a:avLst/>
          </a:prstGeom>
          <a:noFill/>
          <a:ln w="12700">
            <a:solidFill>
              <a:srgbClr val="687783"/>
            </a:solidFill>
            <a:prstDash val="solid"/>
          </a:ln>
        </p:spPr>
      </p:sp>
      <p:sp>
        <p:nvSpPr>
          <p:cNvPr id="56" name="Text 53"/>
          <p:cNvSpPr txBox="1"/>
          <p:nvPr/>
        </p:nvSpPr>
        <p:spPr>
          <a:xfrm>
            <a:off x="3706837"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0</a:t>
            </a:r>
            <a:endParaRPr lang="en-US" sz="900" dirty="0"/>
          </a:p>
        </p:txBody>
      </p:sp>
      <p:sp>
        <p:nvSpPr>
          <p:cNvPr id="57" name="Shape 54"/>
          <p:cNvSpPr/>
          <p:nvPr/>
        </p:nvSpPr>
        <p:spPr>
          <a:xfrm>
            <a:off x="4248443" y="2734056"/>
            <a:ext cx="91" cy="109728"/>
          </a:xfrm>
          <a:prstGeom prst="line">
            <a:avLst/>
          </a:prstGeom>
          <a:noFill/>
          <a:ln w="12700">
            <a:solidFill>
              <a:srgbClr val="687783"/>
            </a:solidFill>
            <a:prstDash val="solid"/>
          </a:ln>
        </p:spPr>
      </p:sp>
      <p:sp>
        <p:nvSpPr>
          <p:cNvPr id="58" name="Text 55"/>
          <p:cNvSpPr txBox="1"/>
          <p:nvPr/>
        </p:nvSpPr>
        <p:spPr>
          <a:xfrm>
            <a:off x="4065563"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59" name="Shape 56"/>
          <p:cNvSpPr/>
          <p:nvPr/>
        </p:nvSpPr>
        <p:spPr>
          <a:xfrm>
            <a:off x="4607169" y="2734056"/>
            <a:ext cx="91" cy="109728"/>
          </a:xfrm>
          <a:prstGeom prst="line">
            <a:avLst/>
          </a:prstGeom>
          <a:noFill/>
          <a:ln w="12700">
            <a:solidFill>
              <a:srgbClr val="687783"/>
            </a:solidFill>
            <a:prstDash val="solid"/>
          </a:ln>
        </p:spPr>
      </p:sp>
      <p:sp>
        <p:nvSpPr>
          <p:cNvPr id="60" name="Text 57"/>
          <p:cNvSpPr txBox="1"/>
          <p:nvPr/>
        </p:nvSpPr>
        <p:spPr>
          <a:xfrm>
            <a:off x="4424289"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61" name="Shape 58"/>
          <p:cNvSpPr/>
          <p:nvPr/>
        </p:nvSpPr>
        <p:spPr>
          <a:xfrm>
            <a:off x="4965895" y="2734056"/>
            <a:ext cx="91" cy="109728"/>
          </a:xfrm>
          <a:prstGeom prst="line">
            <a:avLst/>
          </a:prstGeom>
          <a:noFill/>
          <a:ln w="12700">
            <a:solidFill>
              <a:srgbClr val="687783"/>
            </a:solidFill>
            <a:prstDash val="solid"/>
          </a:ln>
        </p:spPr>
      </p:sp>
      <p:sp>
        <p:nvSpPr>
          <p:cNvPr id="62" name="Text 59"/>
          <p:cNvSpPr txBox="1"/>
          <p:nvPr/>
        </p:nvSpPr>
        <p:spPr>
          <a:xfrm>
            <a:off x="4783015"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63" name="Shape 60"/>
          <p:cNvSpPr/>
          <p:nvPr/>
        </p:nvSpPr>
        <p:spPr>
          <a:xfrm>
            <a:off x="5324622" y="2734056"/>
            <a:ext cx="91" cy="109728"/>
          </a:xfrm>
          <a:prstGeom prst="line">
            <a:avLst/>
          </a:prstGeom>
          <a:noFill/>
          <a:ln w="12700">
            <a:solidFill>
              <a:srgbClr val="687783"/>
            </a:solidFill>
            <a:prstDash val="solid"/>
          </a:ln>
        </p:spPr>
      </p:sp>
      <p:sp>
        <p:nvSpPr>
          <p:cNvPr id="64" name="Text 61"/>
          <p:cNvSpPr txBox="1"/>
          <p:nvPr/>
        </p:nvSpPr>
        <p:spPr>
          <a:xfrm>
            <a:off x="5141742"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65" name="Shape 62"/>
          <p:cNvSpPr/>
          <p:nvPr/>
        </p:nvSpPr>
        <p:spPr>
          <a:xfrm>
            <a:off x="5683348" y="2734056"/>
            <a:ext cx="91" cy="109728"/>
          </a:xfrm>
          <a:prstGeom prst="line">
            <a:avLst/>
          </a:prstGeom>
          <a:noFill/>
          <a:ln w="12700">
            <a:solidFill>
              <a:srgbClr val="687783"/>
            </a:solidFill>
            <a:prstDash val="solid"/>
          </a:ln>
        </p:spPr>
      </p:sp>
      <p:sp>
        <p:nvSpPr>
          <p:cNvPr id="66" name="Text 63"/>
          <p:cNvSpPr txBox="1"/>
          <p:nvPr/>
        </p:nvSpPr>
        <p:spPr>
          <a:xfrm>
            <a:off x="5500468"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67" name="Shape 64"/>
          <p:cNvSpPr/>
          <p:nvPr/>
        </p:nvSpPr>
        <p:spPr>
          <a:xfrm>
            <a:off x="6042074" y="2734056"/>
            <a:ext cx="91" cy="109728"/>
          </a:xfrm>
          <a:prstGeom prst="line">
            <a:avLst/>
          </a:prstGeom>
          <a:noFill/>
          <a:ln w="12700">
            <a:solidFill>
              <a:srgbClr val="687783"/>
            </a:solidFill>
            <a:prstDash val="solid"/>
          </a:ln>
        </p:spPr>
      </p:sp>
      <p:sp>
        <p:nvSpPr>
          <p:cNvPr id="68" name="Text 65"/>
          <p:cNvSpPr txBox="1"/>
          <p:nvPr/>
        </p:nvSpPr>
        <p:spPr>
          <a:xfrm>
            <a:off x="5859194"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69" name="Shape 66"/>
          <p:cNvSpPr/>
          <p:nvPr/>
        </p:nvSpPr>
        <p:spPr>
          <a:xfrm>
            <a:off x="6400800" y="2734056"/>
            <a:ext cx="91" cy="109728"/>
          </a:xfrm>
          <a:prstGeom prst="line">
            <a:avLst/>
          </a:prstGeom>
          <a:noFill/>
          <a:ln w="12700">
            <a:solidFill>
              <a:srgbClr val="687783"/>
            </a:solidFill>
            <a:prstDash val="solid"/>
          </a:ln>
        </p:spPr>
      </p:sp>
      <p:sp>
        <p:nvSpPr>
          <p:cNvPr id="70" name="Text 67"/>
          <p:cNvSpPr txBox="1"/>
          <p:nvPr/>
        </p:nvSpPr>
        <p:spPr>
          <a:xfrm>
            <a:off x="6217920" y="28803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7</a:t>
            </a:r>
            <a:endParaRPr lang="en-US" sz="900" dirty="0"/>
          </a:p>
        </p:txBody>
      </p:sp>
      <p:sp>
        <p:nvSpPr>
          <p:cNvPr id="71" name="Text 68"/>
          <p:cNvSpPr txBox="1"/>
          <p:nvPr/>
        </p:nvSpPr>
        <p:spPr>
          <a:xfrm>
            <a:off x="685800" y="2606040"/>
            <a:ext cx="777240" cy="365760"/>
          </a:xfrm>
          <a:prstGeom prst="rect">
            <a:avLst/>
          </a:prstGeom>
          <a:noFill/>
          <a:ln/>
        </p:spPr>
        <p:txBody>
          <a:bodyPr wrap="square" lIns="0" tIns="0" rIns="0" bIns="0" rtlCol="0" anchor="ctr"/>
          <a:lstStyle/>
          <a:p>
            <a:pPr indent="0" marL="0">
              <a:buNone/>
            </a:pPr>
            <a:r>
              <a:rPr lang="en-US" sz="1500" b="1" dirty="0">
                <a:solidFill>
                  <a:srgbClr val="11344E"/>
                </a:solidFill>
                <a:latin typeface="Times New Roman" pitchFamily="34" charset="0"/>
                <a:ea typeface="Times New Roman" pitchFamily="34" charset="-122"/>
                <a:cs typeface="Times New Roman" pitchFamily="34" charset="-120"/>
              </a:rPr>
              <a:t>B:</a:t>
            </a:r>
            <a:endParaRPr lang="en-US" sz="1500" dirty="0"/>
          </a:p>
        </p:txBody>
      </p:sp>
      <p:sp>
        <p:nvSpPr>
          <p:cNvPr id="72" name="Shape 69"/>
          <p:cNvSpPr/>
          <p:nvPr/>
        </p:nvSpPr>
        <p:spPr>
          <a:xfrm>
            <a:off x="4248443" y="2788920"/>
            <a:ext cx="2289517" cy="0"/>
          </a:xfrm>
          <a:prstGeom prst="line">
            <a:avLst/>
          </a:prstGeom>
          <a:noFill/>
          <a:ln w="63500">
            <a:solidFill>
              <a:srgbClr val="1777B4"/>
            </a:solidFill>
            <a:prstDash val="solid"/>
            <a:tailEnd type="triangle"/>
          </a:ln>
        </p:spPr>
      </p:sp>
      <p:sp>
        <p:nvSpPr>
          <p:cNvPr id="73" name="Shape 70"/>
          <p:cNvSpPr/>
          <p:nvPr/>
        </p:nvSpPr>
        <p:spPr>
          <a:xfrm>
            <a:off x="4166147" y="2706624"/>
            <a:ext cx="164592" cy="164592"/>
          </a:xfrm>
          <a:prstGeom prst="ellipse">
            <a:avLst/>
          </a:prstGeom>
          <a:solidFill>
            <a:srgbClr val="FFFFFF"/>
          </a:solidFill>
          <a:ln w="25400">
            <a:solidFill>
              <a:srgbClr val="1777B4"/>
            </a:solidFill>
            <a:prstDash val="solid"/>
          </a:ln>
        </p:spPr>
      </p:sp>
      <p:sp>
        <p:nvSpPr>
          <p:cNvPr id="74" name="Text 71"/>
          <p:cNvSpPr txBox="1"/>
          <p:nvPr/>
        </p:nvSpPr>
        <p:spPr>
          <a:xfrm>
            <a:off x="548640" y="2953512"/>
            <a:ext cx="1097280" cy="274320"/>
          </a:xfrm>
          <a:prstGeom prst="rect">
            <a:avLst/>
          </a:prstGeom>
          <a:noFill/>
          <a:ln/>
        </p:spPr>
        <p:txBody>
          <a:bodyPr wrap="square" lIns="0" tIns="0" rIns="0" bIns="0" rtlCol="0" anchor="t"/>
          <a:lstStyle/>
          <a:p>
            <a:pPr indent="0" marL="0">
              <a:buNone/>
            </a:pPr>
            <a:r>
              <a:rPr lang="en-US" sz="1300" dirty="0">
                <a:solidFill>
                  <a:srgbClr val="687783"/>
                </a:solidFill>
                <a:latin typeface="Times New Roman" pitchFamily="34" charset="0"/>
                <a:ea typeface="Times New Roman" pitchFamily="34" charset="-122"/>
                <a:cs typeface="Times New Roman" pitchFamily="34" charset="-120"/>
              </a:rPr>
              <a:t>x &gt; 1</a:t>
            </a:r>
            <a:endParaRPr lang="en-US" sz="1300" dirty="0"/>
          </a:p>
        </p:txBody>
      </p:sp>
      <p:sp>
        <p:nvSpPr>
          <p:cNvPr id="75" name="Shape 72"/>
          <p:cNvSpPr/>
          <p:nvPr/>
        </p:nvSpPr>
        <p:spPr>
          <a:xfrm>
            <a:off x="1600200" y="3703320"/>
            <a:ext cx="4937760" cy="91"/>
          </a:xfrm>
          <a:prstGeom prst="line">
            <a:avLst/>
          </a:prstGeom>
          <a:noFill/>
          <a:ln w="15875">
            <a:solidFill>
              <a:srgbClr val="687783"/>
            </a:solidFill>
            <a:prstDash val="solid"/>
            <a:headEnd type="triangle"/>
            <a:tailEnd type="triangle"/>
          </a:ln>
        </p:spPr>
      </p:sp>
      <p:sp>
        <p:nvSpPr>
          <p:cNvPr id="76" name="Shape 73"/>
          <p:cNvSpPr/>
          <p:nvPr/>
        </p:nvSpPr>
        <p:spPr>
          <a:xfrm>
            <a:off x="1737360" y="3648456"/>
            <a:ext cx="91" cy="109728"/>
          </a:xfrm>
          <a:prstGeom prst="line">
            <a:avLst/>
          </a:prstGeom>
          <a:noFill/>
          <a:ln w="12700">
            <a:solidFill>
              <a:srgbClr val="687783"/>
            </a:solidFill>
            <a:prstDash val="solid"/>
          </a:ln>
        </p:spPr>
      </p:sp>
      <p:sp>
        <p:nvSpPr>
          <p:cNvPr id="77" name="Text 74"/>
          <p:cNvSpPr txBox="1"/>
          <p:nvPr/>
        </p:nvSpPr>
        <p:spPr>
          <a:xfrm>
            <a:off x="1554480"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78" name="Shape 75"/>
          <p:cNvSpPr/>
          <p:nvPr/>
        </p:nvSpPr>
        <p:spPr>
          <a:xfrm>
            <a:off x="2096086" y="3648456"/>
            <a:ext cx="91" cy="109728"/>
          </a:xfrm>
          <a:prstGeom prst="line">
            <a:avLst/>
          </a:prstGeom>
          <a:noFill/>
          <a:ln w="12700">
            <a:solidFill>
              <a:srgbClr val="687783"/>
            </a:solidFill>
            <a:prstDash val="solid"/>
          </a:ln>
        </p:spPr>
      </p:sp>
      <p:sp>
        <p:nvSpPr>
          <p:cNvPr id="79" name="Text 76"/>
          <p:cNvSpPr txBox="1"/>
          <p:nvPr/>
        </p:nvSpPr>
        <p:spPr>
          <a:xfrm>
            <a:off x="1913206"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80" name="Shape 77"/>
          <p:cNvSpPr/>
          <p:nvPr/>
        </p:nvSpPr>
        <p:spPr>
          <a:xfrm>
            <a:off x="2454812" y="3648456"/>
            <a:ext cx="91" cy="109728"/>
          </a:xfrm>
          <a:prstGeom prst="line">
            <a:avLst/>
          </a:prstGeom>
          <a:noFill/>
          <a:ln w="12700">
            <a:solidFill>
              <a:srgbClr val="687783"/>
            </a:solidFill>
            <a:prstDash val="solid"/>
          </a:ln>
        </p:spPr>
      </p:sp>
      <p:sp>
        <p:nvSpPr>
          <p:cNvPr id="81" name="Text 78"/>
          <p:cNvSpPr txBox="1"/>
          <p:nvPr/>
        </p:nvSpPr>
        <p:spPr>
          <a:xfrm>
            <a:off x="2271932"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82" name="Shape 79"/>
          <p:cNvSpPr/>
          <p:nvPr/>
        </p:nvSpPr>
        <p:spPr>
          <a:xfrm>
            <a:off x="2813538" y="3648456"/>
            <a:ext cx="91" cy="109728"/>
          </a:xfrm>
          <a:prstGeom prst="line">
            <a:avLst/>
          </a:prstGeom>
          <a:noFill/>
          <a:ln w="12700">
            <a:solidFill>
              <a:srgbClr val="687783"/>
            </a:solidFill>
            <a:prstDash val="solid"/>
          </a:ln>
        </p:spPr>
      </p:sp>
      <p:sp>
        <p:nvSpPr>
          <p:cNvPr id="83" name="Text 80"/>
          <p:cNvSpPr txBox="1"/>
          <p:nvPr/>
        </p:nvSpPr>
        <p:spPr>
          <a:xfrm>
            <a:off x="2630658"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84" name="Shape 81"/>
          <p:cNvSpPr/>
          <p:nvPr/>
        </p:nvSpPr>
        <p:spPr>
          <a:xfrm>
            <a:off x="3172265" y="3648456"/>
            <a:ext cx="91" cy="109728"/>
          </a:xfrm>
          <a:prstGeom prst="line">
            <a:avLst/>
          </a:prstGeom>
          <a:noFill/>
          <a:ln w="12700">
            <a:solidFill>
              <a:srgbClr val="687783"/>
            </a:solidFill>
            <a:prstDash val="solid"/>
          </a:ln>
        </p:spPr>
      </p:sp>
      <p:sp>
        <p:nvSpPr>
          <p:cNvPr id="85" name="Text 82"/>
          <p:cNvSpPr txBox="1"/>
          <p:nvPr/>
        </p:nvSpPr>
        <p:spPr>
          <a:xfrm>
            <a:off x="2989385"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86" name="Shape 83"/>
          <p:cNvSpPr/>
          <p:nvPr/>
        </p:nvSpPr>
        <p:spPr>
          <a:xfrm>
            <a:off x="3530991" y="3648456"/>
            <a:ext cx="91" cy="109728"/>
          </a:xfrm>
          <a:prstGeom prst="line">
            <a:avLst/>
          </a:prstGeom>
          <a:noFill/>
          <a:ln w="12700">
            <a:solidFill>
              <a:srgbClr val="687783"/>
            </a:solidFill>
            <a:prstDash val="solid"/>
          </a:ln>
        </p:spPr>
      </p:sp>
      <p:sp>
        <p:nvSpPr>
          <p:cNvPr id="87" name="Text 84"/>
          <p:cNvSpPr txBox="1"/>
          <p:nvPr/>
        </p:nvSpPr>
        <p:spPr>
          <a:xfrm>
            <a:off x="3348111"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88" name="Shape 85"/>
          <p:cNvSpPr/>
          <p:nvPr/>
        </p:nvSpPr>
        <p:spPr>
          <a:xfrm>
            <a:off x="3889717" y="3648456"/>
            <a:ext cx="91" cy="109728"/>
          </a:xfrm>
          <a:prstGeom prst="line">
            <a:avLst/>
          </a:prstGeom>
          <a:noFill/>
          <a:ln w="12700">
            <a:solidFill>
              <a:srgbClr val="687783"/>
            </a:solidFill>
            <a:prstDash val="solid"/>
          </a:ln>
        </p:spPr>
      </p:sp>
      <p:sp>
        <p:nvSpPr>
          <p:cNvPr id="89" name="Text 86"/>
          <p:cNvSpPr txBox="1"/>
          <p:nvPr/>
        </p:nvSpPr>
        <p:spPr>
          <a:xfrm>
            <a:off x="3706837"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0</a:t>
            </a:r>
            <a:endParaRPr lang="en-US" sz="900" dirty="0"/>
          </a:p>
        </p:txBody>
      </p:sp>
      <p:sp>
        <p:nvSpPr>
          <p:cNvPr id="90" name="Shape 87"/>
          <p:cNvSpPr/>
          <p:nvPr/>
        </p:nvSpPr>
        <p:spPr>
          <a:xfrm>
            <a:off x="4248443" y="3648456"/>
            <a:ext cx="91" cy="109728"/>
          </a:xfrm>
          <a:prstGeom prst="line">
            <a:avLst/>
          </a:prstGeom>
          <a:noFill/>
          <a:ln w="12700">
            <a:solidFill>
              <a:srgbClr val="687783"/>
            </a:solidFill>
            <a:prstDash val="solid"/>
          </a:ln>
        </p:spPr>
      </p:sp>
      <p:sp>
        <p:nvSpPr>
          <p:cNvPr id="91" name="Text 88"/>
          <p:cNvSpPr txBox="1"/>
          <p:nvPr/>
        </p:nvSpPr>
        <p:spPr>
          <a:xfrm>
            <a:off x="4065563"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92" name="Shape 89"/>
          <p:cNvSpPr/>
          <p:nvPr/>
        </p:nvSpPr>
        <p:spPr>
          <a:xfrm>
            <a:off x="4607169" y="3648456"/>
            <a:ext cx="91" cy="109728"/>
          </a:xfrm>
          <a:prstGeom prst="line">
            <a:avLst/>
          </a:prstGeom>
          <a:noFill/>
          <a:ln w="12700">
            <a:solidFill>
              <a:srgbClr val="687783"/>
            </a:solidFill>
            <a:prstDash val="solid"/>
          </a:ln>
        </p:spPr>
      </p:sp>
      <p:sp>
        <p:nvSpPr>
          <p:cNvPr id="93" name="Text 90"/>
          <p:cNvSpPr txBox="1"/>
          <p:nvPr/>
        </p:nvSpPr>
        <p:spPr>
          <a:xfrm>
            <a:off x="4424289"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94" name="Shape 91"/>
          <p:cNvSpPr/>
          <p:nvPr/>
        </p:nvSpPr>
        <p:spPr>
          <a:xfrm>
            <a:off x="4965895" y="3648456"/>
            <a:ext cx="91" cy="109728"/>
          </a:xfrm>
          <a:prstGeom prst="line">
            <a:avLst/>
          </a:prstGeom>
          <a:noFill/>
          <a:ln w="12700">
            <a:solidFill>
              <a:srgbClr val="687783"/>
            </a:solidFill>
            <a:prstDash val="solid"/>
          </a:ln>
        </p:spPr>
      </p:sp>
      <p:sp>
        <p:nvSpPr>
          <p:cNvPr id="95" name="Text 92"/>
          <p:cNvSpPr txBox="1"/>
          <p:nvPr/>
        </p:nvSpPr>
        <p:spPr>
          <a:xfrm>
            <a:off x="4783015"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96" name="Shape 93"/>
          <p:cNvSpPr/>
          <p:nvPr/>
        </p:nvSpPr>
        <p:spPr>
          <a:xfrm>
            <a:off x="5324622" y="3648456"/>
            <a:ext cx="91" cy="109728"/>
          </a:xfrm>
          <a:prstGeom prst="line">
            <a:avLst/>
          </a:prstGeom>
          <a:noFill/>
          <a:ln w="12700">
            <a:solidFill>
              <a:srgbClr val="687783"/>
            </a:solidFill>
            <a:prstDash val="solid"/>
          </a:ln>
        </p:spPr>
      </p:sp>
      <p:sp>
        <p:nvSpPr>
          <p:cNvPr id="97" name="Text 94"/>
          <p:cNvSpPr txBox="1"/>
          <p:nvPr/>
        </p:nvSpPr>
        <p:spPr>
          <a:xfrm>
            <a:off x="5141742"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98" name="Shape 95"/>
          <p:cNvSpPr/>
          <p:nvPr/>
        </p:nvSpPr>
        <p:spPr>
          <a:xfrm>
            <a:off x="5683348" y="3648456"/>
            <a:ext cx="91" cy="109728"/>
          </a:xfrm>
          <a:prstGeom prst="line">
            <a:avLst/>
          </a:prstGeom>
          <a:noFill/>
          <a:ln w="12700">
            <a:solidFill>
              <a:srgbClr val="687783"/>
            </a:solidFill>
            <a:prstDash val="solid"/>
          </a:ln>
        </p:spPr>
      </p:sp>
      <p:sp>
        <p:nvSpPr>
          <p:cNvPr id="99" name="Text 96"/>
          <p:cNvSpPr txBox="1"/>
          <p:nvPr/>
        </p:nvSpPr>
        <p:spPr>
          <a:xfrm>
            <a:off x="5500468"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100" name="Shape 97"/>
          <p:cNvSpPr/>
          <p:nvPr/>
        </p:nvSpPr>
        <p:spPr>
          <a:xfrm>
            <a:off x="6042074" y="3648456"/>
            <a:ext cx="91" cy="109728"/>
          </a:xfrm>
          <a:prstGeom prst="line">
            <a:avLst/>
          </a:prstGeom>
          <a:noFill/>
          <a:ln w="12700">
            <a:solidFill>
              <a:srgbClr val="687783"/>
            </a:solidFill>
            <a:prstDash val="solid"/>
          </a:ln>
        </p:spPr>
      </p:sp>
      <p:sp>
        <p:nvSpPr>
          <p:cNvPr id="101" name="Text 98"/>
          <p:cNvSpPr txBox="1"/>
          <p:nvPr/>
        </p:nvSpPr>
        <p:spPr>
          <a:xfrm>
            <a:off x="5859194"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102" name="Shape 99"/>
          <p:cNvSpPr/>
          <p:nvPr/>
        </p:nvSpPr>
        <p:spPr>
          <a:xfrm>
            <a:off x="6400800" y="3648456"/>
            <a:ext cx="91" cy="109728"/>
          </a:xfrm>
          <a:prstGeom prst="line">
            <a:avLst/>
          </a:prstGeom>
          <a:noFill/>
          <a:ln w="12700">
            <a:solidFill>
              <a:srgbClr val="687783"/>
            </a:solidFill>
            <a:prstDash val="solid"/>
          </a:ln>
        </p:spPr>
      </p:sp>
      <p:sp>
        <p:nvSpPr>
          <p:cNvPr id="103" name="Text 100"/>
          <p:cNvSpPr txBox="1"/>
          <p:nvPr/>
        </p:nvSpPr>
        <p:spPr>
          <a:xfrm>
            <a:off x="6217920" y="37947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7</a:t>
            </a:r>
            <a:endParaRPr lang="en-US" sz="900" dirty="0"/>
          </a:p>
        </p:txBody>
      </p:sp>
      <p:sp>
        <p:nvSpPr>
          <p:cNvPr id="104" name="Text 101"/>
          <p:cNvSpPr txBox="1"/>
          <p:nvPr/>
        </p:nvSpPr>
        <p:spPr>
          <a:xfrm>
            <a:off x="685800" y="3520440"/>
            <a:ext cx="777240" cy="365760"/>
          </a:xfrm>
          <a:prstGeom prst="rect">
            <a:avLst/>
          </a:prstGeom>
          <a:noFill/>
          <a:ln/>
        </p:spPr>
        <p:txBody>
          <a:bodyPr wrap="square" lIns="0" tIns="0" rIns="0" bIns="0" rtlCol="0" anchor="ctr"/>
          <a:lstStyle/>
          <a:p>
            <a:pPr indent="0" marL="0">
              <a:buNone/>
            </a:pPr>
            <a:r>
              <a:rPr lang="en-US" sz="1500" b="1" dirty="0">
                <a:solidFill>
                  <a:srgbClr val="11344E"/>
                </a:solidFill>
                <a:latin typeface="Times New Roman" pitchFamily="34" charset="0"/>
                <a:ea typeface="Times New Roman" pitchFamily="34" charset="-122"/>
                <a:cs typeface="Times New Roman" pitchFamily="34" charset="-120"/>
              </a:rPr>
              <a:t>C:</a:t>
            </a:r>
            <a:endParaRPr lang="en-US" sz="1500" dirty="0"/>
          </a:p>
        </p:txBody>
      </p:sp>
      <p:sp>
        <p:nvSpPr>
          <p:cNvPr id="105" name="Shape 102"/>
          <p:cNvSpPr/>
          <p:nvPr/>
        </p:nvSpPr>
        <p:spPr>
          <a:xfrm>
            <a:off x="1600200" y="3703320"/>
            <a:ext cx="1572065" cy="0"/>
          </a:xfrm>
          <a:prstGeom prst="line">
            <a:avLst/>
          </a:prstGeom>
          <a:noFill/>
          <a:ln w="63500">
            <a:solidFill>
              <a:srgbClr val="1777B4"/>
            </a:solidFill>
            <a:prstDash val="solid"/>
            <a:headEnd type="triangle"/>
          </a:ln>
        </p:spPr>
      </p:sp>
      <p:sp>
        <p:nvSpPr>
          <p:cNvPr id="106" name="Shape 103"/>
          <p:cNvSpPr/>
          <p:nvPr/>
        </p:nvSpPr>
        <p:spPr>
          <a:xfrm>
            <a:off x="3089969" y="3621024"/>
            <a:ext cx="164592" cy="164592"/>
          </a:xfrm>
          <a:prstGeom prst="ellipse">
            <a:avLst/>
          </a:prstGeom>
          <a:solidFill>
            <a:srgbClr val="1777B4"/>
          </a:solidFill>
          <a:ln w="25400">
            <a:solidFill>
              <a:srgbClr val="1777B4"/>
            </a:solidFill>
            <a:prstDash val="solid"/>
          </a:ln>
        </p:spPr>
      </p:sp>
      <p:sp>
        <p:nvSpPr>
          <p:cNvPr id="107" name="Text 104"/>
          <p:cNvSpPr txBox="1"/>
          <p:nvPr/>
        </p:nvSpPr>
        <p:spPr>
          <a:xfrm>
            <a:off x="548640" y="3867912"/>
            <a:ext cx="1097280" cy="274320"/>
          </a:xfrm>
          <a:prstGeom prst="rect">
            <a:avLst/>
          </a:prstGeom>
          <a:noFill/>
          <a:ln/>
        </p:spPr>
        <p:txBody>
          <a:bodyPr wrap="square" lIns="0" tIns="0" rIns="0" bIns="0" rtlCol="0" anchor="t"/>
          <a:lstStyle/>
          <a:p>
            <a:pPr indent="0" marL="0">
              <a:buNone/>
            </a:pPr>
            <a:r>
              <a:rPr lang="en-US" sz="1300" dirty="0">
                <a:solidFill>
                  <a:srgbClr val="687783"/>
                </a:solidFill>
                <a:latin typeface="Times New Roman" pitchFamily="34" charset="0"/>
                <a:ea typeface="Times New Roman" pitchFamily="34" charset="-122"/>
                <a:cs typeface="Times New Roman" pitchFamily="34" charset="-120"/>
              </a:rPr>
              <a:t>x ≤ −2</a:t>
            </a:r>
            <a:endParaRPr lang="en-US" sz="1300" dirty="0"/>
          </a:p>
        </p:txBody>
      </p:sp>
      <p:sp>
        <p:nvSpPr>
          <p:cNvPr id="108" name="Text 105"/>
          <p:cNvSpPr txBox="1"/>
          <p:nvPr/>
        </p:nvSpPr>
        <p:spPr>
          <a:xfrm>
            <a:off x="548640" y="4572000"/>
            <a:ext cx="91440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Find:</a:t>
            </a:r>
            <a:endParaRPr lang="en-US" sz="1600" dirty="0"/>
          </a:p>
        </p:txBody>
      </p:sp>
      <p:sp>
        <p:nvSpPr>
          <p:cNvPr id="109" name="Text 106"/>
          <p:cNvSpPr txBox="1"/>
          <p:nvPr/>
        </p:nvSpPr>
        <p:spPr>
          <a:xfrm>
            <a:off x="1463040" y="4526280"/>
            <a:ext cx="548640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1.  A ∩ B        2.  B ∪ C        3.  A ∪ C</a:t>
            </a:r>
            <a:endParaRPr lang="en-US" sz="2200" dirty="0"/>
          </a:p>
        </p:txBody>
      </p:sp>
      <p:sp>
        <p:nvSpPr>
          <p:cNvPr id="110" name="Shape 107"/>
          <p:cNvSpPr/>
          <p:nvPr/>
        </p:nvSpPr>
        <p:spPr>
          <a:xfrm>
            <a:off x="7406640" y="1554480"/>
            <a:ext cx="4206240" cy="4206240"/>
          </a:xfrm>
          <a:prstGeom prst="roundRect">
            <a:avLst>
              <a:gd name="adj" fmla="val 1739"/>
            </a:avLst>
          </a:prstGeom>
          <a:solidFill>
            <a:srgbClr val="EEF4F9"/>
          </a:solidFill>
          <a:ln w="12700">
            <a:solidFill>
              <a:srgbClr val="EEF4F9"/>
            </a:solidFill>
            <a:prstDash val="solid"/>
          </a:ln>
        </p:spPr>
      </p:sp>
      <p:sp>
        <p:nvSpPr>
          <p:cNvPr id="111" name="Text 108"/>
          <p:cNvSpPr txBox="1"/>
          <p:nvPr/>
        </p:nvSpPr>
        <p:spPr>
          <a:xfrm>
            <a:off x="7680960" y="1737360"/>
            <a:ext cx="365760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Finite sets</a:t>
            </a:r>
            <a:endParaRPr lang="en-US" sz="1600" dirty="0"/>
          </a:p>
        </p:txBody>
      </p:sp>
      <p:sp>
        <p:nvSpPr>
          <p:cNvPr id="112" name="Text 109"/>
          <p:cNvSpPr txBox="1"/>
          <p:nvPr/>
        </p:nvSpPr>
        <p:spPr>
          <a:xfrm>
            <a:off x="7680960" y="2194560"/>
            <a:ext cx="3657600" cy="1645920"/>
          </a:xfrm>
          <a:prstGeom prst="rect">
            <a:avLst/>
          </a:prstGeom>
          <a:noFill/>
          <a:ln/>
        </p:spPr>
        <p:txBody>
          <a:bodyPr wrap="square" lIns="0" tIns="0" rIns="0" bIns="0" rtlCol="0" anchor="t"/>
          <a:lstStyle/>
          <a:p>
            <a:pPr indent="0" marL="0">
              <a:spcAft>
                <a:spcPts val="400"/>
              </a:spcAft>
              <a:buNone/>
            </a:pPr>
            <a:r>
              <a:rPr lang="en-US" sz="2000" dirty="0">
                <a:solidFill>
                  <a:srgbClr val="11344E"/>
                </a:solidFill>
                <a:latin typeface="Times New Roman" pitchFamily="34" charset="0"/>
                <a:ea typeface="Times New Roman" pitchFamily="34" charset="-122"/>
                <a:cs typeface="Times New Roman" pitchFamily="34" charset="-120"/>
              </a:rPr>
              <a:t>P = {2, 3, 5, 7, 11}</a:t>
            </a:r>
            <a:endParaRPr lang="en-US" sz="2000" dirty="0"/>
          </a:p>
          <a:p>
            <a:pPr indent="0" marL="0">
              <a:spcAft>
                <a:spcPts val="400"/>
              </a:spcAft>
              <a:buNone/>
            </a:pPr>
            <a:r>
              <a:rPr lang="en-US" sz="2000" dirty="0">
                <a:solidFill>
                  <a:srgbClr val="11344E"/>
                </a:solidFill>
                <a:latin typeface="Times New Roman" pitchFamily="34" charset="0"/>
                <a:ea typeface="Times New Roman" pitchFamily="34" charset="-122"/>
                <a:cs typeface="Times New Roman" pitchFamily="34" charset="-120"/>
              </a:rPr>
              <a:t>Q = {1, 2, 3, 4, 5}</a:t>
            </a:r>
            <a:endParaRPr lang="en-US" sz="2000" dirty="0"/>
          </a:p>
          <a:p>
            <a:pPr indent="0" marL="0">
              <a:spcAft>
                <a:spcPts val="400"/>
              </a:spcAft>
              <a:buNone/>
            </a:pPr>
            <a:r>
              <a:rPr lang="en-US" sz="2000" dirty="0">
                <a:solidFill>
                  <a:srgbClr val="11344E"/>
                </a:solidFill>
                <a:latin typeface="Times New Roman" pitchFamily="34" charset="0"/>
                <a:ea typeface="Times New Roman" pitchFamily="34" charset="-122"/>
                <a:cs typeface="Times New Roman" pitchFamily="34" charset="-120"/>
              </a:rPr>
              <a:t>R = {3, 6, 9, 12}</a:t>
            </a:r>
            <a:endParaRPr lang="en-US" sz="2000" dirty="0"/>
          </a:p>
          <a:p>
            <a:pPr indent="0" marL="0">
              <a:spcAft>
                <a:spcPts val="400"/>
              </a:spcAft>
              <a:buNone/>
            </a:pPr>
            <a:r>
              <a:rPr lang="en-US" sz="2000" dirty="0">
                <a:solidFill>
                  <a:srgbClr val="11344E"/>
                </a:solidFill>
                <a:latin typeface="Times New Roman" pitchFamily="34" charset="0"/>
                <a:ea typeface="Times New Roman" pitchFamily="34" charset="-122"/>
                <a:cs typeface="Times New Roman" pitchFamily="34" charset="-120"/>
              </a:rPr>
              <a:t>S = {4, 6, 8}</a:t>
            </a:r>
            <a:endParaRPr lang="en-US" sz="2000" dirty="0"/>
          </a:p>
        </p:txBody>
      </p:sp>
      <p:sp>
        <p:nvSpPr>
          <p:cNvPr id="113" name="Text 110"/>
          <p:cNvSpPr txBox="1"/>
          <p:nvPr/>
        </p:nvSpPr>
        <p:spPr>
          <a:xfrm>
            <a:off x="7680960" y="4069080"/>
            <a:ext cx="91440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Find:</a:t>
            </a:r>
            <a:endParaRPr lang="en-US" sz="1600" dirty="0"/>
          </a:p>
        </p:txBody>
      </p:sp>
      <p:sp>
        <p:nvSpPr>
          <p:cNvPr id="114" name="Text 111"/>
          <p:cNvSpPr txBox="1"/>
          <p:nvPr/>
        </p:nvSpPr>
        <p:spPr>
          <a:xfrm>
            <a:off x="7680960" y="4480560"/>
            <a:ext cx="3749040" cy="1005840"/>
          </a:xfrm>
          <a:prstGeom prst="rect">
            <a:avLst/>
          </a:prstGeom>
          <a:noFill/>
          <a:ln/>
        </p:spPr>
        <p:txBody>
          <a:bodyPr wrap="square" lIns="0" tIns="0" rIns="0" bIns="0" rtlCol="0" anchor="t"/>
          <a:lstStyle/>
          <a:p>
            <a:pPr indent="0" marL="0">
              <a:buNone/>
            </a:pPr>
            <a:r>
              <a:rPr lang="en-US" sz="2000" dirty="0">
                <a:solidFill>
                  <a:srgbClr val="11344E"/>
                </a:solidFill>
                <a:latin typeface="Times New Roman" pitchFamily="34" charset="0"/>
                <a:ea typeface="Times New Roman" pitchFamily="34" charset="-122"/>
                <a:cs typeface="Times New Roman" pitchFamily="34" charset="-120"/>
              </a:rPr>
              <a:t>4.  P ∪ Q     5.  P ∩ Q</a:t>
            </a:r>
            <a:endParaRPr lang="en-US" sz="2000" dirty="0"/>
          </a:p>
          <a:p>
            <a:pPr indent="0" marL="0">
              <a:buNone/>
            </a:pPr>
            <a:r>
              <a:rPr lang="en-US" sz="2000" dirty="0">
                <a:solidFill>
                  <a:srgbClr val="11344E"/>
                </a:solidFill>
                <a:latin typeface="Times New Roman" pitchFamily="34" charset="0"/>
                <a:ea typeface="Times New Roman" pitchFamily="34" charset="-122"/>
                <a:cs typeface="Times New Roman" pitchFamily="34" charset="-120"/>
              </a:rPr>
              <a:t>6.  P ∩ R     7.  P ∩ 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B: solutions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Open circle: parenthesis. Closed circle: bracket. Infinity always takes a parenthesis.</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13</a:t>
            </a:r>
            <a:endParaRPr lang="en-US" sz="800" dirty="0"/>
          </a:p>
        </p:txBody>
      </p:sp>
      <p:sp>
        <p:nvSpPr>
          <p:cNvPr id="6" name="Shape 3"/>
          <p:cNvSpPr/>
          <p:nvPr/>
        </p:nvSpPr>
        <p:spPr>
          <a:xfrm>
            <a:off x="1600200" y="1874520"/>
            <a:ext cx="4937760" cy="91"/>
          </a:xfrm>
          <a:prstGeom prst="line">
            <a:avLst/>
          </a:prstGeom>
          <a:noFill/>
          <a:ln w="15875">
            <a:solidFill>
              <a:srgbClr val="687783"/>
            </a:solidFill>
            <a:prstDash val="solid"/>
            <a:headEnd type="triangle"/>
            <a:tailEnd type="triangle"/>
          </a:ln>
        </p:spPr>
      </p:sp>
      <p:sp>
        <p:nvSpPr>
          <p:cNvPr id="7" name="Shape 4"/>
          <p:cNvSpPr/>
          <p:nvPr/>
        </p:nvSpPr>
        <p:spPr>
          <a:xfrm>
            <a:off x="1737360" y="1819656"/>
            <a:ext cx="91" cy="109728"/>
          </a:xfrm>
          <a:prstGeom prst="line">
            <a:avLst/>
          </a:prstGeom>
          <a:noFill/>
          <a:ln w="12700">
            <a:solidFill>
              <a:srgbClr val="687783"/>
            </a:solidFill>
            <a:prstDash val="solid"/>
          </a:ln>
        </p:spPr>
      </p:sp>
      <p:sp>
        <p:nvSpPr>
          <p:cNvPr id="8" name="Text 5"/>
          <p:cNvSpPr txBox="1"/>
          <p:nvPr/>
        </p:nvSpPr>
        <p:spPr>
          <a:xfrm>
            <a:off x="1554480"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9" name="Shape 6"/>
          <p:cNvSpPr/>
          <p:nvPr/>
        </p:nvSpPr>
        <p:spPr>
          <a:xfrm>
            <a:off x="2096086" y="1819656"/>
            <a:ext cx="91" cy="109728"/>
          </a:xfrm>
          <a:prstGeom prst="line">
            <a:avLst/>
          </a:prstGeom>
          <a:noFill/>
          <a:ln w="12700">
            <a:solidFill>
              <a:srgbClr val="687783"/>
            </a:solidFill>
            <a:prstDash val="solid"/>
          </a:ln>
        </p:spPr>
      </p:sp>
      <p:sp>
        <p:nvSpPr>
          <p:cNvPr id="10" name="Text 7"/>
          <p:cNvSpPr txBox="1"/>
          <p:nvPr/>
        </p:nvSpPr>
        <p:spPr>
          <a:xfrm>
            <a:off x="1913206"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11" name="Shape 8"/>
          <p:cNvSpPr/>
          <p:nvPr/>
        </p:nvSpPr>
        <p:spPr>
          <a:xfrm>
            <a:off x="2454812" y="1819656"/>
            <a:ext cx="91" cy="109728"/>
          </a:xfrm>
          <a:prstGeom prst="line">
            <a:avLst/>
          </a:prstGeom>
          <a:noFill/>
          <a:ln w="12700">
            <a:solidFill>
              <a:srgbClr val="687783"/>
            </a:solidFill>
            <a:prstDash val="solid"/>
          </a:ln>
        </p:spPr>
      </p:sp>
      <p:sp>
        <p:nvSpPr>
          <p:cNvPr id="12" name="Text 9"/>
          <p:cNvSpPr txBox="1"/>
          <p:nvPr/>
        </p:nvSpPr>
        <p:spPr>
          <a:xfrm>
            <a:off x="2271932"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13" name="Shape 10"/>
          <p:cNvSpPr/>
          <p:nvPr/>
        </p:nvSpPr>
        <p:spPr>
          <a:xfrm>
            <a:off x="2813538" y="1819656"/>
            <a:ext cx="91" cy="109728"/>
          </a:xfrm>
          <a:prstGeom prst="line">
            <a:avLst/>
          </a:prstGeom>
          <a:noFill/>
          <a:ln w="12700">
            <a:solidFill>
              <a:srgbClr val="687783"/>
            </a:solidFill>
            <a:prstDash val="solid"/>
          </a:ln>
        </p:spPr>
      </p:sp>
      <p:sp>
        <p:nvSpPr>
          <p:cNvPr id="14" name="Text 11"/>
          <p:cNvSpPr txBox="1"/>
          <p:nvPr/>
        </p:nvSpPr>
        <p:spPr>
          <a:xfrm>
            <a:off x="2630658"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15" name="Shape 12"/>
          <p:cNvSpPr/>
          <p:nvPr/>
        </p:nvSpPr>
        <p:spPr>
          <a:xfrm>
            <a:off x="3172265" y="1819656"/>
            <a:ext cx="91" cy="109728"/>
          </a:xfrm>
          <a:prstGeom prst="line">
            <a:avLst/>
          </a:prstGeom>
          <a:noFill/>
          <a:ln w="12700">
            <a:solidFill>
              <a:srgbClr val="687783"/>
            </a:solidFill>
            <a:prstDash val="solid"/>
          </a:ln>
        </p:spPr>
      </p:sp>
      <p:sp>
        <p:nvSpPr>
          <p:cNvPr id="16" name="Text 13"/>
          <p:cNvSpPr txBox="1"/>
          <p:nvPr/>
        </p:nvSpPr>
        <p:spPr>
          <a:xfrm>
            <a:off x="2989385"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17" name="Shape 14"/>
          <p:cNvSpPr/>
          <p:nvPr/>
        </p:nvSpPr>
        <p:spPr>
          <a:xfrm>
            <a:off x="3530991" y="1819656"/>
            <a:ext cx="91" cy="109728"/>
          </a:xfrm>
          <a:prstGeom prst="line">
            <a:avLst/>
          </a:prstGeom>
          <a:noFill/>
          <a:ln w="12700">
            <a:solidFill>
              <a:srgbClr val="687783"/>
            </a:solidFill>
            <a:prstDash val="solid"/>
          </a:ln>
        </p:spPr>
      </p:sp>
      <p:sp>
        <p:nvSpPr>
          <p:cNvPr id="18" name="Text 15"/>
          <p:cNvSpPr txBox="1"/>
          <p:nvPr/>
        </p:nvSpPr>
        <p:spPr>
          <a:xfrm>
            <a:off x="3348111"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19" name="Shape 16"/>
          <p:cNvSpPr/>
          <p:nvPr/>
        </p:nvSpPr>
        <p:spPr>
          <a:xfrm>
            <a:off x="3889717" y="1819656"/>
            <a:ext cx="91" cy="109728"/>
          </a:xfrm>
          <a:prstGeom prst="line">
            <a:avLst/>
          </a:prstGeom>
          <a:noFill/>
          <a:ln w="12700">
            <a:solidFill>
              <a:srgbClr val="687783"/>
            </a:solidFill>
            <a:prstDash val="solid"/>
          </a:ln>
        </p:spPr>
      </p:sp>
      <p:sp>
        <p:nvSpPr>
          <p:cNvPr id="20" name="Text 17"/>
          <p:cNvSpPr txBox="1"/>
          <p:nvPr/>
        </p:nvSpPr>
        <p:spPr>
          <a:xfrm>
            <a:off x="3706837"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0</a:t>
            </a:r>
            <a:endParaRPr lang="en-US" sz="900" dirty="0"/>
          </a:p>
        </p:txBody>
      </p:sp>
      <p:sp>
        <p:nvSpPr>
          <p:cNvPr id="21" name="Shape 18"/>
          <p:cNvSpPr/>
          <p:nvPr/>
        </p:nvSpPr>
        <p:spPr>
          <a:xfrm>
            <a:off x="4248443" y="1819656"/>
            <a:ext cx="91" cy="109728"/>
          </a:xfrm>
          <a:prstGeom prst="line">
            <a:avLst/>
          </a:prstGeom>
          <a:noFill/>
          <a:ln w="12700">
            <a:solidFill>
              <a:srgbClr val="687783"/>
            </a:solidFill>
            <a:prstDash val="solid"/>
          </a:ln>
        </p:spPr>
      </p:sp>
      <p:sp>
        <p:nvSpPr>
          <p:cNvPr id="22" name="Text 19"/>
          <p:cNvSpPr txBox="1"/>
          <p:nvPr/>
        </p:nvSpPr>
        <p:spPr>
          <a:xfrm>
            <a:off x="4065563"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23" name="Shape 20"/>
          <p:cNvSpPr/>
          <p:nvPr/>
        </p:nvSpPr>
        <p:spPr>
          <a:xfrm>
            <a:off x="4607169" y="1819656"/>
            <a:ext cx="91" cy="109728"/>
          </a:xfrm>
          <a:prstGeom prst="line">
            <a:avLst/>
          </a:prstGeom>
          <a:noFill/>
          <a:ln w="12700">
            <a:solidFill>
              <a:srgbClr val="687783"/>
            </a:solidFill>
            <a:prstDash val="solid"/>
          </a:ln>
        </p:spPr>
      </p:sp>
      <p:sp>
        <p:nvSpPr>
          <p:cNvPr id="24" name="Text 21"/>
          <p:cNvSpPr txBox="1"/>
          <p:nvPr/>
        </p:nvSpPr>
        <p:spPr>
          <a:xfrm>
            <a:off x="4424289"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25" name="Shape 22"/>
          <p:cNvSpPr/>
          <p:nvPr/>
        </p:nvSpPr>
        <p:spPr>
          <a:xfrm>
            <a:off x="4965895" y="1819656"/>
            <a:ext cx="91" cy="109728"/>
          </a:xfrm>
          <a:prstGeom prst="line">
            <a:avLst/>
          </a:prstGeom>
          <a:noFill/>
          <a:ln w="12700">
            <a:solidFill>
              <a:srgbClr val="687783"/>
            </a:solidFill>
            <a:prstDash val="solid"/>
          </a:ln>
        </p:spPr>
      </p:sp>
      <p:sp>
        <p:nvSpPr>
          <p:cNvPr id="26" name="Text 23"/>
          <p:cNvSpPr txBox="1"/>
          <p:nvPr/>
        </p:nvSpPr>
        <p:spPr>
          <a:xfrm>
            <a:off x="4783015"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27" name="Shape 24"/>
          <p:cNvSpPr/>
          <p:nvPr/>
        </p:nvSpPr>
        <p:spPr>
          <a:xfrm>
            <a:off x="5324622" y="1819656"/>
            <a:ext cx="91" cy="109728"/>
          </a:xfrm>
          <a:prstGeom prst="line">
            <a:avLst/>
          </a:prstGeom>
          <a:noFill/>
          <a:ln w="12700">
            <a:solidFill>
              <a:srgbClr val="687783"/>
            </a:solidFill>
            <a:prstDash val="solid"/>
          </a:ln>
        </p:spPr>
      </p:sp>
      <p:sp>
        <p:nvSpPr>
          <p:cNvPr id="28" name="Text 25"/>
          <p:cNvSpPr txBox="1"/>
          <p:nvPr/>
        </p:nvSpPr>
        <p:spPr>
          <a:xfrm>
            <a:off x="5141742"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29" name="Shape 26"/>
          <p:cNvSpPr/>
          <p:nvPr/>
        </p:nvSpPr>
        <p:spPr>
          <a:xfrm>
            <a:off x="5683348" y="1819656"/>
            <a:ext cx="91" cy="109728"/>
          </a:xfrm>
          <a:prstGeom prst="line">
            <a:avLst/>
          </a:prstGeom>
          <a:noFill/>
          <a:ln w="12700">
            <a:solidFill>
              <a:srgbClr val="687783"/>
            </a:solidFill>
            <a:prstDash val="solid"/>
          </a:ln>
        </p:spPr>
      </p:sp>
      <p:sp>
        <p:nvSpPr>
          <p:cNvPr id="30" name="Text 27"/>
          <p:cNvSpPr txBox="1"/>
          <p:nvPr/>
        </p:nvSpPr>
        <p:spPr>
          <a:xfrm>
            <a:off x="5500468"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31" name="Shape 28"/>
          <p:cNvSpPr/>
          <p:nvPr/>
        </p:nvSpPr>
        <p:spPr>
          <a:xfrm>
            <a:off x="6042074" y="1819656"/>
            <a:ext cx="91" cy="109728"/>
          </a:xfrm>
          <a:prstGeom prst="line">
            <a:avLst/>
          </a:prstGeom>
          <a:noFill/>
          <a:ln w="12700">
            <a:solidFill>
              <a:srgbClr val="687783"/>
            </a:solidFill>
            <a:prstDash val="solid"/>
          </a:ln>
        </p:spPr>
      </p:sp>
      <p:sp>
        <p:nvSpPr>
          <p:cNvPr id="32" name="Text 29"/>
          <p:cNvSpPr txBox="1"/>
          <p:nvPr/>
        </p:nvSpPr>
        <p:spPr>
          <a:xfrm>
            <a:off x="5859194"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33" name="Shape 30"/>
          <p:cNvSpPr/>
          <p:nvPr/>
        </p:nvSpPr>
        <p:spPr>
          <a:xfrm>
            <a:off x="6400800" y="1819656"/>
            <a:ext cx="91" cy="109728"/>
          </a:xfrm>
          <a:prstGeom prst="line">
            <a:avLst/>
          </a:prstGeom>
          <a:noFill/>
          <a:ln w="12700">
            <a:solidFill>
              <a:srgbClr val="687783"/>
            </a:solidFill>
            <a:prstDash val="solid"/>
          </a:ln>
        </p:spPr>
      </p:sp>
      <p:sp>
        <p:nvSpPr>
          <p:cNvPr id="34" name="Text 31"/>
          <p:cNvSpPr txBox="1"/>
          <p:nvPr/>
        </p:nvSpPr>
        <p:spPr>
          <a:xfrm>
            <a:off x="6217920" y="1965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7</a:t>
            </a:r>
            <a:endParaRPr lang="en-US" sz="900" dirty="0"/>
          </a:p>
        </p:txBody>
      </p:sp>
      <p:sp>
        <p:nvSpPr>
          <p:cNvPr id="35" name="Text 32"/>
          <p:cNvSpPr txBox="1"/>
          <p:nvPr/>
        </p:nvSpPr>
        <p:spPr>
          <a:xfrm>
            <a:off x="685800" y="1691640"/>
            <a:ext cx="777240" cy="365760"/>
          </a:xfrm>
          <a:prstGeom prst="rect">
            <a:avLst/>
          </a:prstGeom>
          <a:noFill/>
          <a:ln/>
        </p:spPr>
        <p:txBody>
          <a:bodyPr wrap="square" lIns="0" tIns="0" rIns="0" bIns="0" rtlCol="0" anchor="ctr"/>
          <a:lstStyle/>
          <a:p>
            <a:pPr indent="0" marL="0">
              <a:buNone/>
            </a:pPr>
            <a:r>
              <a:rPr lang="en-US" sz="1500" b="1" dirty="0">
                <a:solidFill>
                  <a:srgbClr val="11344E"/>
                </a:solidFill>
                <a:latin typeface="Times New Roman" pitchFamily="34" charset="0"/>
                <a:ea typeface="Times New Roman" pitchFamily="34" charset="-122"/>
                <a:cs typeface="Times New Roman" pitchFamily="34" charset="-120"/>
              </a:rPr>
              <a:t>1.</a:t>
            </a:r>
            <a:endParaRPr lang="en-US" sz="1500" dirty="0"/>
          </a:p>
        </p:txBody>
      </p:sp>
      <p:sp>
        <p:nvSpPr>
          <p:cNvPr id="36" name="Shape 33"/>
          <p:cNvSpPr/>
          <p:nvPr/>
        </p:nvSpPr>
        <p:spPr>
          <a:xfrm>
            <a:off x="4248443" y="1874520"/>
            <a:ext cx="717452" cy="0"/>
          </a:xfrm>
          <a:prstGeom prst="line">
            <a:avLst/>
          </a:prstGeom>
          <a:noFill/>
          <a:ln w="63500">
            <a:solidFill>
              <a:srgbClr val="1B7F5E"/>
            </a:solidFill>
            <a:prstDash val="solid"/>
          </a:ln>
        </p:spPr>
      </p:sp>
      <p:sp>
        <p:nvSpPr>
          <p:cNvPr id="37" name="Shape 34"/>
          <p:cNvSpPr/>
          <p:nvPr/>
        </p:nvSpPr>
        <p:spPr>
          <a:xfrm>
            <a:off x="4166147" y="1792224"/>
            <a:ext cx="164592" cy="164592"/>
          </a:xfrm>
          <a:prstGeom prst="ellipse">
            <a:avLst/>
          </a:prstGeom>
          <a:solidFill>
            <a:srgbClr val="FFFFFF"/>
          </a:solidFill>
          <a:ln w="25400">
            <a:solidFill>
              <a:srgbClr val="1B7F5E"/>
            </a:solidFill>
            <a:prstDash val="solid"/>
          </a:ln>
        </p:spPr>
      </p:sp>
      <p:sp>
        <p:nvSpPr>
          <p:cNvPr id="38" name="Shape 35"/>
          <p:cNvSpPr/>
          <p:nvPr/>
        </p:nvSpPr>
        <p:spPr>
          <a:xfrm>
            <a:off x="4883599" y="1792224"/>
            <a:ext cx="164592" cy="164592"/>
          </a:xfrm>
          <a:prstGeom prst="ellipse">
            <a:avLst/>
          </a:prstGeom>
          <a:solidFill>
            <a:srgbClr val="FFFFFF"/>
          </a:solidFill>
          <a:ln w="25400">
            <a:solidFill>
              <a:srgbClr val="1B7F5E"/>
            </a:solidFill>
            <a:prstDash val="solid"/>
          </a:ln>
        </p:spPr>
      </p:sp>
      <p:sp>
        <p:nvSpPr>
          <p:cNvPr id="39" name="Text 36"/>
          <p:cNvSpPr txBox="1"/>
          <p:nvPr/>
        </p:nvSpPr>
        <p:spPr>
          <a:xfrm>
            <a:off x="1737360" y="2240280"/>
            <a:ext cx="5029200" cy="365760"/>
          </a:xfrm>
          <a:prstGeom prst="rect">
            <a:avLst/>
          </a:prstGeom>
          <a:noFill/>
          <a:ln/>
        </p:spPr>
        <p:txBody>
          <a:bodyPr wrap="square" lIns="0" tIns="0" rIns="0" bIns="0" rtlCol="0" anchor="t"/>
          <a:lstStyle/>
          <a:p>
            <a:pPr indent="0" marL="0">
              <a:buNone/>
            </a:pPr>
            <a:r>
              <a:rPr lang="en-US" sz="1800" b="1" dirty="0">
                <a:solidFill>
                  <a:srgbClr val="1B7F5E"/>
                </a:solidFill>
                <a:latin typeface="Times New Roman" pitchFamily="34" charset="0"/>
                <a:ea typeface="Times New Roman" pitchFamily="34" charset="-122"/>
                <a:cs typeface="Times New Roman" pitchFamily="34" charset="-120"/>
              </a:rPr>
              <a:t>A ∩ B = (1, 3)</a:t>
            </a:r>
            <a:endParaRPr lang="en-US" sz="1800" dirty="0"/>
          </a:p>
        </p:txBody>
      </p:sp>
      <p:sp>
        <p:nvSpPr>
          <p:cNvPr id="40" name="Shape 37"/>
          <p:cNvSpPr/>
          <p:nvPr/>
        </p:nvSpPr>
        <p:spPr>
          <a:xfrm>
            <a:off x="1600200" y="3017520"/>
            <a:ext cx="4937760" cy="91"/>
          </a:xfrm>
          <a:prstGeom prst="line">
            <a:avLst/>
          </a:prstGeom>
          <a:noFill/>
          <a:ln w="15875">
            <a:solidFill>
              <a:srgbClr val="687783"/>
            </a:solidFill>
            <a:prstDash val="solid"/>
            <a:headEnd type="triangle"/>
            <a:tailEnd type="triangle"/>
          </a:ln>
        </p:spPr>
      </p:sp>
      <p:sp>
        <p:nvSpPr>
          <p:cNvPr id="41" name="Shape 38"/>
          <p:cNvSpPr/>
          <p:nvPr/>
        </p:nvSpPr>
        <p:spPr>
          <a:xfrm>
            <a:off x="1737360" y="2962656"/>
            <a:ext cx="91" cy="109728"/>
          </a:xfrm>
          <a:prstGeom prst="line">
            <a:avLst/>
          </a:prstGeom>
          <a:noFill/>
          <a:ln w="12700">
            <a:solidFill>
              <a:srgbClr val="687783"/>
            </a:solidFill>
            <a:prstDash val="solid"/>
          </a:ln>
        </p:spPr>
      </p:sp>
      <p:sp>
        <p:nvSpPr>
          <p:cNvPr id="42" name="Text 39"/>
          <p:cNvSpPr txBox="1"/>
          <p:nvPr/>
        </p:nvSpPr>
        <p:spPr>
          <a:xfrm>
            <a:off x="1554480"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43" name="Shape 40"/>
          <p:cNvSpPr/>
          <p:nvPr/>
        </p:nvSpPr>
        <p:spPr>
          <a:xfrm>
            <a:off x="2096086" y="2962656"/>
            <a:ext cx="91" cy="109728"/>
          </a:xfrm>
          <a:prstGeom prst="line">
            <a:avLst/>
          </a:prstGeom>
          <a:noFill/>
          <a:ln w="12700">
            <a:solidFill>
              <a:srgbClr val="687783"/>
            </a:solidFill>
            <a:prstDash val="solid"/>
          </a:ln>
        </p:spPr>
      </p:sp>
      <p:sp>
        <p:nvSpPr>
          <p:cNvPr id="44" name="Text 41"/>
          <p:cNvSpPr txBox="1"/>
          <p:nvPr/>
        </p:nvSpPr>
        <p:spPr>
          <a:xfrm>
            <a:off x="1913206"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45" name="Shape 42"/>
          <p:cNvSpPr/>
          <p:nvPr/>
        </p:nvSpPr>
        <p:spPr>
          <a:xfrm>
            <a:off x="2454812" y="2962656"/>
            <a:ext cx="91" cy="109728"/>
          </a:xfrm>
          <a:prstGeom prst="line">
            <a:avLst/>
          </a:prstGeom>
          <a:noFill/>
          <a:ln w="12700">
            <a:solidFill>
              <a:srgbClr val="687783"/>
            </a:solidFill>
            <a:prstDash val="solid"/>
          </a:ln>
        </p:spPr>
      </p:sp>
      <p:sp>
        <p:nvSpPr>
          <p:cNvPr id="46" name="Text 43"/>
          <p:cNvSpPr txBox="1"/>
          <p:nvPr/>
        </p:nvSpPr>
        <p:spPr>
          <a:xfrm>
            <a:off x="2271932"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47" name="Shape 44"/>
          <p:cNvSpPr/>
          <p:nvPr/>
        </p:nvSpPr>
        <p:spPr>
          <a:xfrm>
            <a:off x="2813538" y="2962656"/>
            <a:ext cx="91" cy="109728"/>
          </a:xfrm>
          <a:prstGeom prst="line">
            <a:avLst/>
          </a:prstGeom>
          <a:noFill/>
          <a:ln w="12700">
            <a:solidFill>
              <a:srgbClr val="687783"/>
            </a:solidFill>
            <a:prstDash val="solid"/>
          </a:ln>
        </p:spPr>
      </p:sp>
      <p:sp>
        <p:nvSpPr>
          <p:cNvPr id="48" name="Text 45"/>
          <p:cNvSpPr txBox="1"/>
          <p:nvPr/>
        </p:nvSpPr>
        <p:spPr>
          <a:xfrm>
            <a:off x="2630658"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49" name="Shape 46"/>
          <p:cNvSpPr/>
          <p:nvPr/>
        </p:nvSpPr>
        <p:spPr>
          <a:xfrm>
            <a:off x="3172265" y="2962656"/>
            <a:ext cx="91" cy="109728"/>
          </a:xfrm>
          <a:prstGeom prst="line">
            <a:avLst/>
          </a:prstGeom>
          <a:noFill/>
          <a:ln w="12700">
            <a:solidFill>
              <a:srgbClr val="687783"/>
            </a:solidFill>
            <a:prstDash val="solid"/>
          </a:ln>
        </p:spPr>
      </p:sp>
      <p:sp>
        <p:nvSpPr>
          <p:cNvPr id="50" name="Text 47"/>
          <p:cNvSpPr txBox="1"/>
          <p:nvPr/>
        </p:nvSpPr>
        <p:spPr>
          <a:xfrm>
            <a:off x="2989385"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51" name="Shape 48"/>
          <p:cNvSpPr/>
          <p:nvPr/>
        </p:nvSpPr>
        <p:spPr>
          <a:xfrm>
            <a:off x="3530991" y="2962656"/>
            <a:ext cx="91" cy="109728"/>
          </a:xfrm>
          <a:prstGeom prst="line">
            <a:avLst/>
          </a:prstGeom>
          <a:noFill/>
          <a:ln w="12700">
            <a:solidFill>
              <a:srgbClr val="687783"/>
            </a:solidFill>
            <a:prstDash val="solid"/>
          </a:ln>
        </p:spPr>
      </p:sp>
      <p:sp>
        <p:nvSpPr>
          <p:cNvPr id="52" name="Text 49"/>
          <p:cNvSpPr txBox="1"/>
          <p:nvPr/>
        </p:nvSpPr>
        <p:spPr>
          <a:xfrm>
            <a:off x="3348111"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53" name="Shape 50"/>
          <p:cNvSpPr/>
          <p:nvPr/>
        </p:nvSpPr>
        <p:spPr>
          <a:xfrm>
            <a:off x="3889717" y="2962656"/>
            <a:ext cx="91" cy="109728"/>
          </a:xfrm>
          <a:prstGeom prst="line">
            <a:avLst/>
          </a:prstGeom>
          <a:noFill/>
          <a:ln w="12700">
            <a:solidFill>
              <a:srgbClr val="687783"/>
            </a:solidFill>
            <a:prstDash val="solid"/>
          </a:ln>
        </p:spPr>
      </p:sp>
      <p:sp>
        <p:nvSpPr>
          <p:cNvPr id="54" name="Text 51"/>
          <p:cNvSpPr txBox="1"/>
          <p:nvPr/>
        </p:nvSpPr>
        <p:spPr>
          <a:xfrm>
            <a:off x="3706837"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0</a:t>
            </a:r>
            <a:endParaRPr lang="en-US" sz="900" dirty="0"/>
          </a:p>
        </p:txBody>
      </p:sp>
      <p:sp>
        <p:nvSpPr>
          <p:cNvPr id="55" name="Shape 52"/>
          <p:cNvSpPr/>
          <p:nvPr/>
        </p:nvSpPr>
        <p:spPr>
          <a:xfrm>
            <a:off x="4248443" y="2962656"/>
            <a:ext cx="91" cy="109728"/>
          </a:xfrm>
          <a:prstGeom prst="line">
            <a:avLst/>
          </a:prstGeom>
          <a:noFill/>
          <a:ln w="12700">
            <a:solidFill>
              <a:srgbClr val="687783"/>
            </a:solidFill>
            <a:prstDash val="solid"/>
          </a:ln>
        </p:spPr>
      </p:sp>
      <p:sp>
        <p:nvSpPr>
          <p:cNvPr id="56" name="Text 53"/>
          <p:cNvSpPr txBox="1"/>
          <p:nvPr/>
        </p:nvSpPr>
        <p:spPr>
          <a:xfrm>
            <a:off x="4065563"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57" name="Shape 54"/>
          <p:cNvSpPr/>
          <p:nvPr/>
        </p:nvSpPr>
        <p:spPr>
          <a:xfrm>
            <a:off x="4607169" y="2962656"/>
            <a:ext cx="91" cy="109728"/>
          </a:xfrm>
          <a:prstGeom prst="line">
            <a:avLst/>
          </a:prstGeom>
          <a:noFill/>
          <a:ln w="12700">
            <a:solidFill>
              <a:srgbClr val="687783"/>
            </a:solidFill>
            <a:prstDash val="solid"/>
          </a:ln>
        </p:spPr>
      </p:sp>
      <p:sp>
        <p:nvSpPr>
          <p:cNvPr id="58" name="Text 55"/>
          <p:cNvSpPr txBox="1"/>
          <p:nvPr/>
        </p:nvSpPr>
        <p:spPr>
          <a:xfrm>
            <a:off x="4424289"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59" name="Shape 56"/>
          <p:cNvSpPr/>
          <p:nvPr/>
        </p:nvSpPr>
        <p:spPr>
          <a:xfrm>
            <a:off x="4965895" y="2962656"/>
            <a:ext cx="91" cy="109728"/>
          </a:xfrm>
          <a:prstGeom prst="line">
            <a:avLst/>
          </a:prstGeom>
          <a:noFill/>
          <a:ln w="12700">
            <a:solidFill>
              <a:srgbClr val="687783"/>
            </a:solidFill>
            <a:prstDash val="solid"/>
          </a:ln>
        </p:spPr>
      </p:sp>
      <p:sp>
        <p:nvSpPr>
          <p:cNvPr id="60" name="Text 57"/>
          <p:cNvSpPr txBox="1"/>
          <p:nvPr/>
        </p:nvSpPr>
        <p:spPr>
          <a:xfrm>
            <a:off x="4783015"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61" name="Shape 58"/>
          <p:cNvSpPr/>
          <p:nvPr/>
        </p:nvSpPr>
        <p:spPr>
          <a:xfrm>
            <a:off x="5324622" y="2962656"/>
            <a:ext cx="91" cy="109728"/>
          </a:xfrm>
          <a:prstGeom prst="line">
            <a:avLst/>
          </a:prstGeom>
          <a:noFill/>
          <a:ln w="12700">
            <a:solidFill>
              <a:srgbClr val="687783"/>
            </a:solidFill>
            <a:prstDash val="solid"/>
          </a:ln>
        </p:spPr>
      </p:sp>
      <p:sp>
        <p:nvSpPr>
          <p:cNvPr id="62" name="Text 59"/>
          <p:cNvSpPr txBox="1"/>
          <p:nvPr/>
        </p:nvSpPr>
        <p:spPr>
          <a:xfrm>
            <a:off x="5141742"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63" name="Shape 60"/>
          <p:cNvSpPr/>
          <p:nvPr/>
        </p:nvSpPr>
        <p:spPr>
          <a:xfrm>
            <a:off x="5683348" y="2962656"/>
            <a:ext cx="91" cy="109728"/>
          </a:xfrm>
          <a:prstGeom prst="line">
            <a:avLst/>
          </a:prstGeom>
          <a:noFill/>
          <a:ln w="12700">
            <a:solidFill>
              <a:srgbClr val="687783"/>
            </a:solidFill>
            <a:prstDash val="solid"/>
          </a:ln>
        </p:spPr>
      </p:sp>
      <p:sp>
        <p:nvSpPr>
          <p:cNvPr id="64" name="Text 61"/>
          <p:cNvSpPr txBox="1"/>
          <p:nvPr/>
        </p:nvSpPr>
        <p:spPr>
          <a:xfrm>
            <a:off x="5500468"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65" name="Shape 62"/>
          <p:cNvSpPr/>
          <p:nvPr/>
        </p:nvSpPr>
        <p:spPr>
          <a:xfrm>
            <a:off x="6042074" y="2962656"/>
            <a:ext cx="91" cy="109728"/>
          </a:xfrm>
          <a:prstGeom prst="line">
            <a:avLst/>
          </a:prstGeom>
          <a:noFill/>
          <a:ln w="12700">
            <a:solidFill>
              <a:srgbClr val="687783"/>
            </a:solidFill>
            <a:prstDash val="solid"/>
          </a:ln>
        </p:spPr>
      </p:sp>
      <p:sp>
        <p:nvSpPr>
          <p:cNvPr id="66" name="Text 63"/>
          <p:cNvSpPr txBox="1"/>
          <p:nvPr/>
        </p:nvSpPr>
        <p:spPr>
          <a:xfrm>
            <a:off x="5859194"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67" name="Shape 64"/>
          <p:cNvSpPr/>
          <p:nvPr/>
        </p:nvSpPr>
        <p:spPr>
          <a:xfrm>
            <a:off x="6400800" y="2962656"/>
            <a:ext cx="91" cy="109728"/>
          </a:xfrm>
          <a:prstGeom prst="line">
            <a:avLst/>
          </a:prstGeom>
          <a:noFill/>
          <a:ln w="12700">
            <a:solidFill>
              <a:srgbClr val="687783"/>
            </a:solidFill>
            <a:prstDash val="solid"/>
          </a:ln>
        </p:spPr>
      </p:sp>
      <p:sp>
        <p:nvSpPr>
          <p:cNvPr id="68" name="Text 65"/>
          <p:cNvSpPr txBox="1"/>
          <p:nvPr/>
        </p:nvSpPr>
        <p:spPr>
          <a:xfrm>
            <a:off x="6217920" y="3108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7</a:t>
            </a:r>
            <a:endParaRPr lang="en-US" sz="900" dirty="0"/>
          </a:p>
        </p:txBody>
      </p:sp>
      <p:sp>
        <p:nvSpPr>
          <p:cNvPr id="69" name="Text 66"/>
          <p:cNvSpPr txBox="1"/>
          <p:nvPr/>
        </p:nvSpPr>
        <p:spPr>
          <a:xfrm>
            <a:off x="685800" y="2834640"/>
            <a:ext cx="777240" cy="365760"/>
          </a:xfrm>
          <a:prstGeom prst="rect">
            <a:avLst/>
          </a:prstGeom>
          <a:noFill/>
          <a:ln/>
        </p:spPr>
        <p:txBody>
          <a:bodyPr wrap="square" lIns="0" tIns="0" rIns="0" bIns="0" rtlCol="0" anchor="ctr"/>
          <a:lstStyle/>
          <a:p>
            <a:pPr indent="0" marL="0">
              <a:buNone/>
            </a:pPr>
            <a:r>
              <a:rPr lang="en-US" sz="1500" b="1" dirty="0">
                <a:solidFill>
                  <a:srgbClr val="11344E"/>
                </a:solidFill>
                <a:latin typeface="Times New Roman" pitchFamily="34" charset="0"/>
                <a:ea typeface="Times New Roman" pitchFamily="34" charset="-122"/>
                <a:cs typeface="Times New Roman" pitchFamily="34" charset="-120"/>
              </a:rPr>
              <a:t>2.</a:t>
            </a:r>
            <a:endParaRPr lang="en-US" sz="1500" dirty="0"/>
          </a:p>
        </p:txBody>
      </p:sp>
      <p:sp>
        <p:nvSpPr>
          <p:cNvPr id="70" name="Shape 67"/>
          <p:cNvSpPr/>
          <p:nvPr/>
        </p:nvSpPr>
        <p:spPr>
          <a:xfrm>
            <a:off x="1600200" y="3017520"/>
            <a:ext cx="1572065" cy="0"/>
          </a:xfrm>
          <a:prstGeom prst="line">
            <a:avLst/>
          </a:prstGeom>
          <a:noFill/>
          <a:ln w="63500">
            <a:solidFill>
              <a:srgbClr val="1B7F5E"/>
            </a:solidFill>
            <a:prstDash val="solid"/>
            <a:headEnd type="triangle"/>
          </a:ln>
        </p:spPr>
      </p:sp>
      <p:sp>
        <p:nvSpPr>
          <p:cNvPr id="71" name="Shape 68"/>
          <p:cNvSpPr/>
          <p:nvPr/>
        </p:nvSpPr>
        <p:spPr>
          <a:xfrm>
            <a:off x="3089969" y="2935224"/>
            <a:ext cx="164592" cy="164592"/>
          </a:xfrm>
          <a:prstGeom prst="ellipse">
            <a:avLst/>
          </a:prstGeom>
          <a:solidFill>
            <a:srgbClr val="1B7F5E"/>
          </a:solidFill>
          <a:ln w="25400">
            <a:solidFill>
              <a:srgbClr val="1B7F5E"/>
            </a:solidFill>
            <a:prstDash val="solid"/>
          </a:ln>
        </p:spPr>
      </p:sp>
      <p:sp>
        <p:nvSpPr>
          <p:cNvPr id="72" name="Shape 69"/>
          <p:cNvSpPr/>
          <p:nvPr/>
        </p:nvSpPr>
        <p:spPr>
          <a:xfrm>
            <a:off x="4248443" y="3017520"/>
            <a:ext cx="2289517" cy="0"/>
          </a:xfrm>
          <a:prstGeom prst="line">
            <a:avLst/>
          </a:prstGeom>
          <a:noFill/>
          <a:ln w="63500">
            <a:solidFill>
              <a:srgbClr val="1B7F5E"/>
            </a:solidFill>
            <a:prstDash val="solid"/>
            <a:tailEnd type="triangle"/>
          </a:ln>
        </p:spPr>
      </p:sp>
      <p:sp>
        <p:nvSpPr>
          <p:cNvPr id="73" name="Shape 70"/>
          <p:cNvSpPr/>
          <p:nvPr/>
        </p:nvSpPr>
        <p:spPr>
          <a:xfrm>
            <a:off x="4166147" y="2935224"/>
            <a:ext cx="164592" cy="164592"/>
          </a:xfrm>
          <a:prstGeom prst="ellipse">
            <a:avLst/>
          </a:prstGeom>
          <a:solidFill>
            <a:srgbClr val="FFFFFF"/>
          </a:solidFill>
          <a:ln w="25400">
            <a:solidFill>
              <a:srgbClr val="1B7F5E"/>
            </a:solidFill>
            <a:prstDash val="solid"/>
          </a:ln>
        </p:spPr>
      </p:sp>
      <p:sp>
        <p:nvSpPr>
          <p:cNvPr id="74" name="Text 71"/>
          <p:cNvSpPr txBox="1"/>
          <p:nvPr/>
        </p:nvSpPr>
        <p:spPr>
          <a:xfrm>
            <a:off x="1737360" y="3383280"/>
            <a:ext cx="5029200" cy="365760"/>
          </a:xfrm>
          <a:prstGeom prst="rect">
            <a:avLst/>
          </a:prstGeom>
          <a:noFill/>
          <a:ln/>
        </p:spPr>
        <p:txBody>
          <a:bodyPr wrap="square" lIns="0" tIns="0" rIns="0" bIns="0" rtlCol="0" anchor="t"/>
          <a:lstStyle/>
          <a:p>
            <a:pPr indent="0" marL="0">
              <a:buNone/>
            </a:pPr>
            <a:r>
              <a:rPr lang="en-US" sz="1800" b="1" dirty="0">
                <a:solidFill>
                  <a:srgbClr val="1B7F5E"/>
                </a:solidFill>
                <a:latin typeface="Times New Roman" pitchFamily="34" charset="0"/>
                <a:ea typeface="Times New Roman" pitchFamily="34" charset="-122"/>
                <a:cs typeface="Times New Roman" pitchFamily="34" charset="-120"/>
              </a:rPr>
              <a:t>B ∪ C = (−∞, −2] ∪ (1, ∞)</a:t>
            </a:r>
            <a:endParaRPr lang="en-US" sz="1800" dirty="0"/>
          </a:p>
        </p:txBody>
      </p:sp>
      <p:sp>
        <p:nvSpPr>
          <p:cNvPr id="75" name="Shape 72"/>
          <p:cNvSpPr/>
          <p:nvPr/>
        </p:nvSpPr>
        <p:spPr>
          <a:xfrm>
            <a:off x="1600200" y="4160520"/>
            <a:ext cx="4937760" cy="91"/>
          </a:xfrm>
          <a:prstGeom prst="line">
            <a:avLst/>
          </a:prstGeom>
          <a:noFill/>
          <a:ln w="15875">
            <a:solidFill>
              <a:srgbClr val="687783"/>
            </a:solidFill>
            <a:prstDash val="solid"/>
            <a:headEnd type="triangle"/>
            <a:tailEnd type="triangle"/>
          </a:ln>
        </p:spPr>
      </p:sp>
      <p:sp>
        <p:nvSpPr>
          <p:cNvPr id="76" name="Shape 73"/>
          <p:cNvSpPr/>
          <p:nvPr/>
        </p:nvSpPr>
        <p:spPr>
          <a:xfrm>
            <a:off x="1737360" y="4105656"/>
            <a:ext cx="91" cy="109728"/>
          </a:xfrm>
          <a:prstGeom prst="line">
            <a:avLst/>
          </a:prstGeom>
          <a:noFill/>
          <a:ln w="12700">
            <a:solidFill>
              <a:srgbClr val="687783"/>
            </a:solidFill>
            <a:prstDash val="solid"/>
          </a:ln>
        </p:spPr>
      </p:sp>
      <p:sp>
        <p:nvSpPr>
          <p:cNvPr id="77" name="Text 74"/>
          <p:cNvSpPr txBox="1"/>
          <p:nvPr/>
        </p:nvSpPr>
        <p:spPr>
          <a:xfrm>
            <a:off x="1554480"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78" name="Shape 75"/>
          <p:cNvSpPr/>
          <p:nvPr/>
        </p:nvSpPr>
        <p:spPr>
          <a:xfrm>
            <a:off x="2096086" y="4105656"/>
            <a:ext cx="91" cy="109728"/>
          </a:xfrm>
          <a:prstGeom prst="line">
            <a:avLst/>
          </a:prstGeom>
          <a:noFill/>
          <a:ln w="12700">
            <a:solidFill>
              <a:srgbClr val="687783"/>
            </a:solidFill>
            <a:prstDash val="solid"/>
          </a:ln>
        </p:spPr>
      </p:sp>
      <p:sp>
        <p:nvSpPr>
          <p:cNvPr id="79" name="Text 76"/>
          <p:cNvSpPr txBox="1"/>
          <p:nvPr/>
        </p:nvSpPr>
        <p:spPr>
          <a:xfrm>
            <a:off x="1913206"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80" name="Shape 77"/>
          <p:cNvSpPr/>
          <p:nvPr/>
        </p:nvSpPr>
        <p:spPr>
          <a:xfrm>
            <a:off x="2454812" y="4105656"/>
            <a:ext cx="91" cy="109728"/>
          </a:xfrm>
          <a:prstGeom prst="line">
            <a:avLst/>
          </a:prstGeom>
          <a:noFill/>
          <a:ln w="12700">
            <a:solidFill>
              <a:srgbClr val="687783"/>
            </a:solidFill>
            <a:prstDash val="solid"/>
          </a:ln>
        </p:spPr>
      </p:sp>
      <p:sp>
        <p:nvSpPr>
          <p:cNvPr id="81" name="Text 78"/>
          <p:cNvSpPr txBox="1"/>
          <p:nvPr/>
        </p:nvSpPr>
        <p:spPr>
          <a:xfrm>
            <a:off x="2271932"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82" name="Shape 79"/>
          <p:cNvSpPr/>
          <p:nvPr/>
        </p:nvSpPr>
        <p:spPr>
          <a:xfrm>
            <a:off x="2813538" y="4105656"/>
            <a:ext cx="91" cy="109728"/>
          </a:xfrm>
          <a:prstGeom prst="line">
            <a:avLst/>
          </a:prstGeom>
          <a:noFill/>
          <a:ln w="12700">
            <a:solidFill>
              <a:srgbClr val="687783"/>
            </a:solidFill>
            <a:prstDash val="solid"/>
          </a:ln>
        </p:spPr>
      </p:sp>
      <p:sp>
        <p:nvSpPr>
          <p:cNvPr id="83" name="Text 80"/>
          <p:cNvSpPr txBox="1"/>
          <p:nvPr/>
        </p:nvSpPr>
        <p:spPr>
          <a:xfrm>
            <a:off x="2630658"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84" name="Shape 81"/>
          <p:cNvSpPr/>
          <p:nvPr/>
        </p:nvSpPr>
        <p:spPr>
          <a:xfrm>
            <a:off x="3172265" y="4105656"/>
            <a:ext cx="91" cy="109728"/>
          </a:xfrm>
          <a:prstGeom prst="line">
            <a:avLst/>
          </a:prstGeom>
          <a:noFill/>
          <a:ln w="12700">
            <a:solidFill>
              <a:srgbClr val="687783"/>
            </a:solidFill>
            <a:prstDash val="solid"/>
          </a:ln>
        </p:spPr>
      </p:sp>
      <p:sp>
        <p:nvSpPr>
          <p:cNvPr id="85" name="Text 82"/>
          <p:cNvSpPr txBox="1"/>
          <p:nvPr/>
        </p:nvSpPr>
        <p:spPr>
          <a:xfrm>
            <a:off x="2989385"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86" name="Shape 83"/>
          <p:cNvSpPr/>
          <p:nvPr/>
        </p:nvSpPr>
        <p:spPr>
          <a:xfrm>
            <a:off x="3530991" y="4105656"/>
            <a:ext cx="91" cy="109728"/>
          </a:xfrm>
          <a:prstGeom prst="line">
            <a:avLst/>
          </a:prstGeom>
          <a:noFill/>
          <a:ln w="12700">
            <a:solidFill>
              <a:srgbClr val="687783"/>
            </a:solidFill>
            <a:prstDash val="solid"/>
          </a:ln>
        </p:spPr>
      </p:sp>
      <p:sp>
        <p:nvSpPr>
          <p:cNvPr id="87" name="Text 84"/>
          <p:cNvSpPr txBox="1"/>
          <p:nvPr/>
        </p:nvSpPr>
        <p:spPr>
          <a:xfrm>
            <a:off x="3348111"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88" name="Shape 85"/>
          <p:cNvSpPr/>
          <p:nvPr/>
        </p:nvSpPr>
        <p:spPr>
          <a:xfrm>
            <a:off x="3889717" y="4105656"/>
            <a:ext cx="91" cy="109728"/>
          </a:xfrm>
          <a:prstGeom prst="line">
            <a:avLst/>
          </a:prstGeom>
          <a:noFill/>
          <a:ln w="12700">
            <a:solidFill>
              <a:srgbClr val="687783"/>
            </a:solidFill>
            <a:prstDash val="solid"/>
          </a:ln>
        </p:spPr>
      </p:sp>
      <p:sp>
        <p:nvSpPr>
          <p:cNvPr id="89" name="Text 86"/>
          <p:cNvSpPr txBox="1"/>
          <p:nvPr/>
        </p:nvSpPr>
        <p:spPr>
          <a:xfrm>
            <a:off x="3706837"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0</a:t>
            </a:r>
            <a:endParaRPr lang="en-US" sz="900" dirty="0"/>
          </a:p>
        </p:txBody>
      </p:sp>
      <p:sp>
        <p:nvSpPr>
          <p:cNvPr id="90" name="Shape 87"/>
          <p:cNvSpPr/>
          <p:nvPr/>
        </p:nvSpPr>
        <p:spPr>
          <a:xfrm>
            <a:off x="4248443" y="4105656"/>
            <a:ext cx="91" cy="109728"/>
          </a:xfrm>
          <a:prstGeom prst="line">
            <a:avLst/>
          </a:prstGeom>
          <a:noFill/>
          <a:ln w="12700">
            <a:solidFill>
              <a:srgbClr val="687783"/>
            </a:solidFill>
            <a:prstDash val="solid"/>
          </a:ln>
        </p:spPr>
      </p:sp>
      <p:sp>
        <p:nvSpPr>
          <p:cNvPr id="91" name="Text 88"/>
          <p:cNvSpPr txBox="1"/>
          <p:nvPr/>
        </p:nvSpPr>
        <p:spPr>
          <a:xfrm>
            <a:off x="4065563"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92" name="Shape 89"/>
          <p:cNvSpPr/>
          <p:nvPr/>
        </p:nvSpPr>
        <p:spPr>
          <a:xfrm>
            <a:off x="4607169" y="4105656"/>
            <a:ext cx="91" cy="109728"/>
          </a:xfrm>
          <a:prstGeom prst="line">
            <a:avLst/>
          </a:prstGeom>
          <a:noFill/>
          <a:ln w="12700">
            <a:solidFill>
              <a:srgbClr val="687783"/>
            </a:solidFill>
            <a:prstDash val="solid"/>
          </a:ln>
        </p:spPr>
      </p:sp>
      <p:sp>
        <p:nvSpPr>
          <p:cNvPr id="93" name="Text 90"/>
          <p:cNvSpPr txBox="1"/>
          <p:nvPr/>
        </p:nvSpPr>
        <p:spPr>
          <a:xfrm>
            <a:off x="4424289"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94" name="Shape 91"/>
          <p:cNvSpPr/>
          <p:nvPr/>
        </p:nvSpPr>
        <p:spPr>
          <a:xfrm>
            <a:off x="4965895" y="4105656"/>
            <a:ext cx="91" cy="109728"/>
          </a:xfrm>
          <a:prstGeom prst="line">
            <a:avLst/>
          </a:prstGeom>
          <a:noFill/>
          <a:ln w="12700">
            <a:solidFill>
              <a:srgbClr val="687783"/>
            </a:solidFill>
            <a:prstDash val="solid"/>
          </a:ln>
        </p:spPr>
      </p:sp>
      <p:sp>
        <p:nvSpPr>
          <p:cNvPr id="95" name="Text 92"/>
          <p:cNvSpPr txBox="1"/>
          <p:nvPr/>
        </p:nvSpPr>
        <p:spPr>
          <a:xfrm>
            <a:off x="4783015"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96" name="Shape 93"/>
          <p:cNvSpPr/>
          <p:nvPr/>
        </p:nvSpPr>
        <p:spPr>
          <a:xfrm>
            <a:off x="5324622" y="4105656"/>
            <a:ext cx="91" cy="109728"/>
          </a:xfrm>
          <a:prstGeom prst="line">
            <a:avLst/>
          </a:prstGeom>
          <a:noFill/>
          <a:ln w="12700">
            <a:solidFill>
              <a:srgbClr val="687783"/>
            </a:solidFill>
            <a:prstDash val="solid"/>
          </a:ln>
        </p:spPr>
      </p:sp>
      <p:sp>
        <p:nvSpPr>
          <p:cNvPr id="97" name="Text 94"/>
          <p:cNvSpPr txBox="1"/>
          <p:nvPr/>
        </p:nvSpPr>
        <p:spPr>
          <a:xfrm>
            <a:off x="5141742"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98" name="Shape 95"/>
          <p:cNvSpPr/>
          <p:nvPr/>
        </p:nvSpPr>
        <p:spPr>
          <a:xfrm>
            <a:off x="5683348" y="4105656"/>
            <a:ext cx="91" cy="109728"/>
          </a:xfrm>
          <a:prstGeom prst="line">
            <a:avLst/>
          </a:prstGeom>
          <a:noFill/>
          <a:ln w="12700">
            <a:solidFill>
              <a:srgbClr val="687783"/>
            </a:solidFill>
            <a:prstDash val="solid"/>
          </a:ln>
        </p:spPr>
      </p:sp>
      <p:sp>
        <p:nvSpPr>
          <p:cNvPr id="99" name="Text 96"/>
          <p:cNvSpPr txBox="1"/>
          <p:nvPr/>
        </p:nvSpPr>
        <p:spPr>
          <a:xfrm>
            <a:off x="5500468"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5</a:t>
            </a:r>
            <a:endParaRPr lang="en-US" sz="900" dirty="0"/>
          </a:p>
        </p:txBody>
      </p:sp>
      <p:sp>
        <p:nvSpPr>
          <p:cNvPr id="100" name="Shape 97"/>
          <p:cNvSpPr/>
          <p:nvPr/>
        </p:nvSpPr>
        <p:spPr>
          <a:xfrm>
            <a:off x="6042074" y="4105656"/>
            <a:ext cx="91" cy="109728"/>
          </a:xfrm>
          <a:prstGeom prst="line">
            <a:avLst/>
          </a:prstGeom>
          <a:noFill/>
          <a:ln w="12700">
            <a:solidFill>
              <a:srgbClr val="687783"/>
            </a:solidFill>
            <a:prstDash val="solid"/>
          </a:ln>
        </p:spPr>
      </p:sp>
      <p:sp>
        <p:nvSpPr>
          <p:cNvPr id="101" name="Text 98"/>
          <p:cNvSpPr txBox="1"/>
          <p:nvPr/>
        </p:nvSpPr>
        <p:spPr>
          <a:xfrm>
            <a:off x="5859194"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6</a:t>
            </a:r>
            <a:endParaRPr lang="en-US" sz="900" dirty="0"/>
          </a:p>
        </p:txBody>
      </p:sp>
      <p:sp>
        <p:nvSpPr>
          <p:cNvPr id="102" name="Shape 99"/>
          <p:cNvSpPr/>
          <p:nvPr/>
        </p:nvSpPr>
        <p:spPr>
          <a:xfrm>
            <a:off x="6400800" y="4105656"/>
            <a:ext cx="91" cy="109728"/>
          </a:xfrm>
          <a:prstGeom prst="line">
            <a:avLst/>
          </a:prstGeom>
          <a:noFill/>
          <a:ln w="12700">
            <a:solidFill>
              <a:srgbClr val="687783"/>
            </a:solidFill>
            <a:prstDash val="solid"/>
          </a:ln>
        </p:spPr>
      </p:sp>
      <p:sp>
        <p:nvSpPr>
          <p:cNvPr id="103" name="Text 100"/>
          <p:cNvSpPr txBox="1"/>
          <p:nvPr/>
        </p:nvSpPr>
        <p:spPr>
          <a:xfrm>
            <a:off x="6217920" y="4251960"/>
            <a:ext cx="365760" cy="201168"/>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7</a:t>
            </a:r>
            <a:endParaRPr lang="en-US" sz="900" dirty="0"/>
          </a:p>
        </p:txBody>
      </p:sp>
      <p:sp>
        <p:nvSpPr>
          <p:cNvPr id="104" name="Text 101"/>
          <p:cNvSpPr txBox="1"/>
          <p:nvPr/>
        </p:nvSpPr>
        <p:spPr>
          <a:xfrm>
            <a:off x="685800" y="3977640"/>
            <a:ext cx="777240" cy="365760"/>
          </a:xfrm>
          <a:prstGeom prst="rect">
            <a:avLst/>
          </a:prstGeom>
          <a:noFill/>
          <a:ln/>
        </p:spPr>
        <p:txBody>
          <a:bodyPr wrap="square" lIns="0" tIns="0" rIns="0" bIns="0" rtlCol="0" anchor="ctr"/>
          <a:lstStyle/>
          <a:p>
            <a:pPr indent="0" marL="0">
              <a:buNone/>
            </a:pPr>
            <a:r>
              <a:rPr lang="en-US" sz="1500" b="1" dirty="0">
                <a:solidFill>
                  <a:srgbClr val="11344E"/>
                </a:solidFill>
                <a:latin typeface="Times New Roman" pitchFamily="34" charset="0"/>
                <a:ea typeface="Times New Roman" pitchFamily="34" charset="-122"/>
                <a:cs typeface="Times New Roman" pitchFamily="34" charset="-120"/>
              </a:rPr>
              <a:t>3.</a:t>
            </a:r>
            <a:endParaRPr lang="en-US" sz="1500" dirty="0"/>
          </a:p>
        </p:txBody>
      </p:sp>
      <p:sp>
        <p:nvSpPr>
          <p:cNvPr id="105" name="Shape 102"/>
          <p:cNvSpPr/>
          <p:nvPr/>
        </p:nvSpPr>
        <p:spPr>
          <a:xfrm>
            <a:off x="1600200" y="4160520"/>
            <a:ext cx="3365695" cy="0"/>
          </a:xfrm>
          <a:prstGeom prst="line">
            <a:avLst/>
          </a:prstGeom>
          <a:noFill/>
          <a:ln w="63500">
            <a:solidFill>
              <a:srgbClr val="1B7F5E"/>
            </a:solidFill>
            <a:prstDash val="solid"/>
            <a:headEnd type="triangle"/>
          </a:ln>
        </p:spPr>
      </p:sp>
      <p:sp>
        <p:nvSpPr>
          <p:cNvPr id="106" name="Shape 103"/>
          <p:cNvSpPr/>
          <p:nvPr/>
        </p:nvSpPr>
        <p:spPr>
          <a:xfrm>
            <a:off x="4883599" y="4078224"/>
            <a:ext cx="164592" cy="164592"/>
          </a:xfrm>
          <a:prstGeom prst="ellipse">
            <a:avLst/>
          </a:prstGeom>
          <a:solidFill>
            <a:srgbClr val="FFFFFF"/>
          </a:solidFill>
          <a:ln w="25400">
            <a:solidFill>
              <a:srgbClr val="1B7F5E"/>
            </a:solidFill>
            <a:prstDash val="solid"/>
          </a:ln>
        </p:spPr>
      </p:sp>
      <p:sp>
        <p:nvSpPr>
          <p:cNvPr id="107" name="Text 104"/>
          <p:cNvSpPr txBox="1"/>
          <p:nvPr/>
        </p:nvSpPr>
        <p:spPr>
          <a:xfrm>
            <a:off x="1737360" y="4526280"/>
            <a:ext cx="5029200" cy="365760"/>
          </a:xfrm>
          <a:prstGeom prst="rect">
            <a:avLst/>
          </a:prstGeom>
          <a:noFill/>
          <a:ln/>
        </p:spPr>
        <p:txBody>
          <a:bodyPr wrap="square" lIns="0" tIns="0" rIns="0" bIns="0" rtlCol="0" anchor="t"/>
          <a:lstStyle/>
          <a:p>
            <a:pPr indent="0" marL="0">
              <a:buNone/>
            </a:pPr>
            <a:r>
              <a:rPr lang="en-US" sz="1800" b="1" dirty="0">
                <a:solidFill>
                  <a:srgbClr val="1B7F5E"/>
                </a:solidFill>
                <a:latin typeface="Times New Roman" pitchFamily="34" charset="0"/>
                <a:ea typeface="Times New Roman" pitchFamily="34" charset="-122"/>
                <a:cs typeface="Times New Roman" pitchFamily="34" charset="-120"/>
              </a:rPr>
              <a:t>A ∪ C = (−∞, 3)</a:t>
            </a:r>
            <a:endParaRPr lang="en-US" sz="1800" dirty="0"/>
          </a:p>
        </p:txBody>
      </p:sp>
      <p:sp>
        <p:nvSpPr>
          <p:cNvPr id="108" name="Shape 105"/>
          <p:cNvSpPr/>
          <p:nvPr/>
        </p:nvSpPr>
        <p:spPr>
          <a:xfrm>
            <a:off x="7406640" y="1554480"/>
            <a:ext cx="4206240" cy="4206240"/>
          </a:xfrm>
          <a:prstGeom prst="roundRect">
            <a:avLst>
              <a:gd name="adj" fmla="val 1739"/>
            </a:avLst>
          </a:prstGeom>
          <a:solidFill>
            <a:srgbClr val="EEF4F9"/>
          </a:solidFill>
          <a:ln w="12700">
            <a:solidFill>
              <a:srgbClr val="EEF4F9"/>
            </a:solidFill>
            <a:prstDash val="solid"/>
          </a:ln>
        </p:spPr>
      </p:sp>
      <p:sp>
        <p:nvSpPr>
          <p:cNvPr id="109" name="Text 106"/>
          <p:cNvSpPr txBox="1"/>
          <p:nvPr/>
        </p:nvSpPr>
        <p:spPr>
          <a:xfrm>
            <a:off x="7680960" y="1737360"/>
            <a:ext cx="365760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Finite sets</a:t>
            </a:r>
            <a:endParaRPr lang="en-US" sz="1600" dirty="0"/>
          </a:p>
        </p:txBody>
      </p:sp>
      <p:sp>
        <p:nvSpPr>
          <p:cNvPr id="110" name="Text 107"/>
          <p:cNvSpPr txBox="1"/>
          <p:nvPr/>
        </p:nvSpPr>
        <p:spPr>
          <a:xfrm>
            <a:off x="7680960" y="2240280"/>
            <a:ext cx="3840480" cy="2194560"/>
          </a:xfrm>
          <a:prstGeom prst="rect">
            <a:avLst/>
          </a:prstGeom>
          <a:noFill/>
          <a:ln/>
        </p:spPr>
        <p:txBody>
          <a:bodyPr wrap="square" lIns="0" tIns="0" rIns="0" bIns="0" rtlCol="0" anchor="t"/>
          <a:lstStyle/>
          <a:p>
            <a:pPr indent="0" marL="0">
              <a:spcAft>
                <a:spcPts val="1000"/>
              </a:spcAft>
              <a:buNone/>
            </a:pPr>
            <a:r>
              <a:rPr lang="en-US" sz="1900" dirty="0">
                <a:solidFill>
                  <a:srgbClr val="11344E"/>
                </a:solidFill>
                <a:latin typeface="Times New Roman" pitchFamily="34" charset="0"/>
                <a:ea typeface="Times New Roman" pitchFamily="34" charset="-122"/>
                <a:cs typeface="Times New Roman" pitchFamily="34" charset="-120"/>
              </a:rPr>
              <a:t>4.  P ∪ Q = {1, 2, 3, 4, 5, 7, 11}</a:t>
            </a:r>
            <a:endParaRPr lang="en-US" sz="1900" dirty="0"/>
          </a:p>
          <a:p>
            <a:pPr indent="0" marL="0">
              <a:spcAft>
                <a:spcPts val="1000"/>
              </a:spcAft>
              <a:buNone/>
            </a:pPr>
            <a:r>
              <a:rPr lang="en-US" sz="1900" dirty="0">
                <a:solidFill>
                  <a:srgbClr val="11344E"/>
                </a:solidFill>
                <a:latin typeface="Times New Roman" pitchFamily="34" charset="0"/>
                <a:ea typeface="Times New Roman" pitchFamily="34" charset="-122"/>
                <a:cs typeface="Times New Roman" pitchFamily="34" charset="-120"/>
              </a:rPr>
              <a:t>5.  P ∩ Q = {2, 3, 5}</a:t>
            </a:r>
            <a:endParaRPr lang="en-US" sz="1900" dirty="0"/>
          </a:p>
          <a:p>
            <a:pPr indent="0" marL="0">
              <a:spcAft>
                <a:spcPts val="1000"/>
              </a:spcAft>
              <a:buNone/>
            </a:pPr>
            <a:r>
              <a:rPr lang="en-US" sz="1900" dirty="0">
                <a:solidFill>
                  <a:srgbClr val="11344E"/>
                </a:solidFill>
                <a:latin typeface="Times New Roman" pitchFamily="34" charset="0"/>
                <a:ea typeface="Times New Roman" pitchFamily="34" charset="-122"/>
                <a:cs typeface="Times New Roman" pitchFamily="34" charset="-120"/>
              </a:rPr>
              <a:t>6.  P ∩ R = {3}</a:t>
            </a:r>
            <a:endParaRPr lang="en-US" sz="1900" dirty="0"/>
          </a:p>
          <a:p>
            <a:pPr indent="0" marL="0">
              <a:spcAft>
                <a:spcPts val="1000"/>
              </a:spcAft>
              <a:buNone/>
            </a:pPr>
            <a:r>
              <a:rPr lang="en-US" sz="1900" dirty="0">
                <a:solidFill>
                  <a:srgbClr val="11344E"/>
                </a:solidFill>
                <a:latin typeface="Times New Roman" pitchFamily="34" charset="0"/>
                <a:ea typeface="Times New Roman" pitchFamily="34" charset="-122"/>
                <a:cs typeface="Times New Roman" pitchFamily="34" charset="-120"/>
              </a:rPr>
              <a:t>7.  P ∩ S = ∅</a:t>
            </a:r>
            <a:endParaRPr lang="en-US" sz="1900" dirty="0"/>
          </a:p>
        </p:txBody>
      </p:sp>
      <p:sp>
        <p:nvSpPr>
          <p:cNvPr id="111" name="Text 108"/>
          <p:cNvSpPr txBox="1"/>
          <p:nvPr/>
        </p:nvSpPr>
        <p:spPr>
          <a:xfrm>
            <a:off x="7680960" y="4800600"/>
            <a:ext cx="3657600" cy="73152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Union: every element once. Intersection: shared elements only.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C: equations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Solve for x. Check solutions in the original equation.</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14</a:t>
            </a:r>
            <a:endParaRPr lang="en-US" sz="800" dirty="0"/>
          </a:p>
        </p:txBody>
      </p:sp>
      <p:sp>
        <p:nvSpPr>
          <p:cNvPr id="6" name="Shape 3"/>
          <p:cNvSpPr/>
          <p:nvPr/>
        </p:nvSpPr>
        <p:spPr>
          <a:xfrm>
            <a:off x="9464040" y="411480"/>
            <a:ext cx="2148840" cy="457200"/>
          </a:xfrm>
          <a:prstGeom prst="roundRect">
            <a:avLst>
              <a:gd name="adj" fmla="val 16000"/>
            </a:avLst>
          </a:prstGeom>
          <a:solidFill>
            <a:srgbClr val="EAF5F0"/>
          </a:solidFill>
          <a:ln w="12700">
            <a:solidFill>
              <a:srgbClr val="EAF5F0"/>
            </a:solidFill>
            <a:prstDash val="solid"/>
          </a:ln>
        </p:spPr>
      </p:sp>
      <p:sp>
        <p:nvSpPr>
          <p:cNvPr id="7" name="Text 4"/>
          <p:cNvSpPr txBox="1"/>
          <p:nvPr/>
        </p:nvSpPr>
        <p:spPr>
          <a:xfrm>
            <a:off x="9464040" y="411480"/>
            <a:ext cx="2148840" cy="457200"/>
          </a:xfrm>
          <a:prstGeom prst="rect">
            <a:avLst/>
          </a:prstGeom>
          <a:noFill/>
          <a:ln/>
        </p:spPr>
        <p:txBody>
          <a:bodyPr wrap="square" lIns="0" tIns="0" rIns="0" bIns="0" rtlCol="0" anchor="ctr"/>
          <a:lstStyle/>
          <a:p>
            <a:pPr algn="ctr" indent="0" marL="0">
              <a:buNone/>
            </a:pPr>
            <a:r>
              <a:rPr lang="en-US" sz="1300" b="1" dirty="0">
                <a:solidFill>
                  <a:srgbClr val="1B7F5E"/>
                </a:solidFill>
                <a:latin typeface="Arial" pitchFamily="34" charset="0"/>
                <a:ea typeface="Arial" pitchFamily="34" charset="-122"/>
                <a:cs typeface="Arial" pitchFamily="34" charset="-120"/>
              </a:rPr>
              <a:t>8 minutes</a:t>
            </a:r>
            <a:endParaRPr lang="en-US" sz="1300" dirty="0"/>
          </a:p>
        </p:txBody>
      </p:sp>
      <p:sp>
        <p:nvSpPr>
          <p:cNvPr id="8" name="Shape 5"/>
          <p:cNvSpPr/>
          <p:nvPr/>
        </p:nvSpPr>
        <p:spPr>
          <a:xfrm>
            <a:off x="548640" y="1554480"/>
            <a:ext cx="5440680" cy="1965960"/>
          </a:xfrm>
          <a:prstGeom prst="roundRect">
            <a:avLst>
              <a:gd name="adj" fmla="val 3721"/>
            </a:avLst>
          </a:prstGeom>
          <a:solidFill>
            <a:srgbClr val="EEF4F9"/>
          </a:solidFill>
          <a:ln w="12700">
            <a:solidFill>
              <a:srgbClr val="EEF4F9"/>
            </a:solidFill>
            <a:prstDash val="solid"/>
          </a:ln>
        </p:spPr>
      </p:sp>
      <p:sp>
        <p:nvSpPr>
          <p:cNvPr id="9" name="Shape 6"/>
          <p:cNvSpPr/>
          <p:nvPr/>
        </p:nvSpPr>
        <p:spPr>
          <a:xfrm>
            <a:off x="6172200" y="1554480"/>
            <a:ext cx="5440680" cy="1965960"/>
          </a:xfrm>
          <a:prstGeom prst="roundRect">
            <a:avLst>
              <a:gd name="adj" fmla="val 3721"/>
            </a:avLst>
          </a:prstGeom>
          <a:solidFill>
            <a:srgbClr val="EEF4F9"/>
          </a:solidFill>
          <a:ln w="12700">
            <a:solidFill>
              <a:srgbClr val="EEF4F9"/>
            </a:solidFill>
            <a:prstDash val="solid"/>
          </a:ln>
        </p:spPr>
      </p:sp>
      <p:sp>
        <p:nvSpPr>
          <p:cNvPr id="10" name="Shape 7"/>
          <p:cNvSpPr/>
          <p:nvPr/>
        </p:nvSpPr>
        <p:spPr>
          <a:xfrm>
            <a:off x="548640" y="3749040"/>
            <a:ext cx="5440680" cy="1965960"/>
          </a:xfrm>
          <a:prstGeom prst="roundRect">
            <a:avLst>
              <a:gd name="adj" fmla="val 3721"/>
            </a:avLst>
          </a:prstGeom>
          <a:solidFill>
            <a:srgbClr val="EEF4F9"/>
          </a:solidFill>
          <a:ln w="12700">
            <a:solidFill>
              <a:srgbClr val="EEF4F9"/>
            </a:solidFill>
            <a:prstDash val="solid"/>
          </a:ln>
        </p:spPr>
      </p:sp>
      <p:sp>
        <p:nvSpPr>
          <p:cNvPr id="11" name="Shape 8"/>
          <p:cNvSpPr/>
          <p:nvPr/>
        </p:nvSpPr>
        <p:spPr>
          <a:xfrm>
            <a:off x="6172200" y="3749040"/>
            <a:ext cx="5440680" cy="1965960"/>
          </a:xfrm>
          <a:prstGeom prst="roundRect">
            <a:avLst>
              <a:gd name="adj" fmla="val 3721"/>
            </a:avLst>
          </a:prstGeom>
          <a:solidFill>
            <a:srgbClr val="EEF4F9"/>
          </a:solidFill>
          <a:ln w="12700">
            <a:solidFill>
              <a:srgbClr val="EEF4F9"/>
            </a:solidFill>
            <a:prstDash val="solid"/>
          </a:ln>
        </p:spPr>
      </p:sp>
      <p:sp>
        <p:nvSpPr>
          <p:cNvPr id="12" name="Text 9"/>
          <p:cNvSpPr txBox="1"/>
          <p:nvPr/>
        </p:nvSpPr>
        <p:spPr>
          <a:xfrm>
            <a:off x="822960" y="2240280"/>
            <a:ext cx="45720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1.</a:t>
            </a:r>
            <a:endParaRPr lang="en-US" sz="2200" dirty="0"/>
          </a:p>
        </p:txBody>
      </p:sp>
      <p:sp>
        <p:nvSpPr>
          <p:cNvPr id="13" name="Text 10"/>
          <p:cNvSpPr txBox="1"/>
          <p:nvPr/>
        </p:nvSpPr>
        <p:spPr>
          <a:xfrm>
            <a:off x="1280160" y="1874520"/>
            <a:ext cx="118872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2</a:t>
            </a:r>
            <a:endParaRPr lang="en-US" sz="2200" dirty="0"/>
          </a:p>
        </p:txBody>
      </p:sp>
      <p:sp>
        <p:nvSpPr>
          <p:cNvPr id="14" name="Shape 11"/>
          <p:cNvSpPr/>
          <p:nvPr/>
        </p:nvSpPr>
        <p:spPr>
          <a:xfrm>
            <a:off x="1325880" y="2265172"/>
            <a:ext cx="1097280" cy="0"/>
          </a:xfrm>
          <a:prstGeom prst="line">
            <a:avLst/>
          </a:prstGeom>
          <a:noFill/>
          <a:ln w="12700">
            <a:solidFill>
              <a:srgbClr val="11344E"/>
            </a:solidFill>
            <a:prstDash val="solid"/>
          </a:ln>
        </p:spPr>
      </p:sp>
      <p:sp>
        <p:nvSpPr>
          <p:cNvPr id="15" name="Text 12"/>
          <p:cNvSpPr txBox="1"/>
          <p:nvPr/>
        </p:nvSpPr>
        <p:spPr>
          <a:xfrm>
            <a:off x="1280160" y="2301748"/>
            <a:ext cx="118872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x − 1</a:t>
            </a:r>
            <a:endParaRPr lang="en-US" sz="2200" dirty="0"/>
          </a:p>
        </p:txBody>
      </p:sp>
      <p:sp>
        <p:nvSpPr>
          <p:cNvPr id="16" name="Text 13"/>
          <p:cNvSpPr txBox="1"/>
          <p:nvPr/>
        </p:nvSpPr>
        <p:spPr>
          <a:xfrm>
            <a:off x="2514600" y="2240280"/>
            <a:ext cx="82296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+ 1  =</a:t>
            </a:r>
            <a:endParaRPr lang="en-US" sz="2200" dirty="0"/>
          </a:p>
        </p:txBody>
      </p:sp>
      <p:sp>
        <p:nvSpPr>
          <p:cNvPr id="17" name="Text 14"/>
          <p:cNvSpPr txBox="1"/>
          <p:nvPr/>
        </p:nvSpPr>
        <p:spPr>
          <a:xfrm>
            <a:off x="3291840" y="1874520"/>
            <a:ext cx="118872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4</a:t>
            </a:r>
            <a:endParaRPr lang="en-US" sz="2200" dirty="0"/>
          </a:p>
        </p:txBody>
      </p:sp>
      <p:sp>
        <p:nvSpPr>
          <p:cNvPr id="18" name="Shape 15"/>
          <p:cNvSpPr/>
          <p:nvPr/>
        </p:nvSpPr>
        <p:spPr>
          <a:xfrm>
            <a:off x="3337560" y="2265172"/>
            <a:ext cx="1097280" cy="0"/>
          </a:xfrm>
          <a:prstGeom prst="line">
            <a:avLst/>
          </a:prstGeom>
          <a:noFill/>
          <a:ln w="12700">
            <a:solidFill>
              <a:srgbClr val="11344E"/>
            </a:solidFill>
            <a:prstDash val="solid"/>
          </a:ln>
        </p:spPr>
      </p:sp>
      <p:sp>
        <p:nvSpPr>
          <p:cNvPr id="19" name="Text 16"/>
          <p:cNvSpPr txBox="1"/>
          <p:nvPr/>
        </p:nvSpPr>
        <p:spPr>
          <a:xfrm>
            <a:off x="3291840" y="2301748"/>
            <a:ext cx="118872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x</a:t>
            </a:r>
            <a:pPr algn="ct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 − 1</a:t>
            </a:r>
            <a:endParaRPr lang="en-US" sz="2200" dirty="0"/>
          </a:p>
        </p:txBody>
      </p:sp>
      <p:sp>
        <p:nvSpPr>
          <p:cNvPr id="20" name="Text 17"/>
          <p:cNvSpPr txBox="1"/>
          <p:nvPr/>
        </p:nvSpPr>
        <p:spPr>
          <a:xfrm>
            <a:off x="6446520" y="2240280"/>
            <a:ext cx="484632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2.     6x</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200" dirty="0">
                <a:solidFill>
                  <a:srgbClr val="11344E"/>
                </a:solidFill>
                <a:latin typeface="Times New Roman" pitchFamily="34" charset="0"/>
                <a:ea typeface="Times New Roman" pitchFamily="34" charset="-122"/>
                <a:cs typeface="Times New Roman" pitchFamily="34" charset="-120"/>
              </a:rPr>
              <a:t> = 7x + 3</a:t>
            </a:r>
            <a:endParaRPr lang="en-US" sz="2200" dirty="0"/>
          </a:p>
        </p:txBody>
      </p:sp>
      <p:sp>
        <p:nvSpPr>
          <p:cNvPr id="21" name="Text 18"/>
          <p:cNvSpPr txBox="1"/>
          <p:nvPr/>
        </p:nvSpPr>
        <p:spPr>
          <a:xfrm>
            <a:off x="822960" y="4434840"/>
            <a:ext cx="45720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3.</a:t>
            </a:r>
            <a:endParaRPr lang="en-US" sz="2200" dirty="0"/>
          </a:p>
        </p:txBody>
      </p:sp>
      <p:sp>
        <p:nvSpPr>
          <p:cNvPr id="22" name="Text 19"/>
          <p:cNvSpPr txBox="1"/>
          <p:nvPr/>
        </p:nvSpPr>
        <p:spPr>
          <a:xfrm>
            <a:off x="1234440" y="4069080"/>
            <a:ext cx="45720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1</a:t>
            </a:r>
            <a:endParaRPr lang="en-US" sz="2200" dirty="0"/>
          </a:p>
        </p:txBody>
      </p:sp>
      <p:sp>
        <p:nvSpPr>
          <p:cNvPr id="23" name="Shape 20"/>
          <p:cNvSpPr/>
          <p:nvPr/>
        </p:nvSpPr>
        <p:spPr>
          <a:xfrm>
            <a:off x="1280160" y="4459732"/>
            <a:ext cx="365760" cy="0"/>
          </a:xfrm>
          <a:prstGeom prst="line">
            <a:avLst/>
          </a:prstGeom>
          <a:noFill/>
          <a:ln w="12700">
            <a:solidFill>
              <a:srgbClr val="11344E"/>
            </a:solidFill>
            <a:prstDash val="solid"/>
          </a:ln>
        </p:spPr>
      </p:sp>
      <p:sp>
        <p:nvSpPr>
          <p:cNvPr id="24" name="Text 21"/>
          <p:cNvSpPr txBox="1"/>
          <p:nvPr/>
        </p:nvSpPr>
        <p:spPr>
          <a:xfrm>
            <a:off x="1234440" y="4496308"/>
            <a:ext cx="45720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5</a:t>
            </a:r>
            <a:endParaRPr lang="en-US" sz="2200" dirty="0"/>
          </a:p>
        </p:txBody>
      </p:sp>
      <p:sp>
        <p:nvSpPr>
          <p:cNvPr id="25" name="Text 22"/>
          <p:cNvSpPr txBox="1"/>
          <p:nvPr/>
        </p:nvSpPr>
        <p:spPr>
          <a:xfrm>
            <a:off x="1691640" y="4434840"/>
            <a:ext cx="118872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x</a:t>
            </a:r>
            <a:pPr indent="0" marL="0">
              <a:buNone/>
            </a:pPr>
            <a:r>
              <a:rPr lang="en-US" sz="22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200" dirty="0">
                <a:solidFill>
                  <a:srgbClr val="11344E"/>
                </a:solidFill>
                <a:latin typeface="Times New Roman" pitchFamily="34" charset="0"/>
                <a:ea typeface="Times New Roman" pitchFamily="34" charset="-122"/>
                <a:cs typeface="Times New Roman" pitchFamily="34" charset="-120"/>
              </a:rPr>
              <a:t> + x =</a:t>
            </a:r>
            <a:endParaRPr lang="en-US" sz="2200" dirty="0"/>
          </a:p>
        </p:txBody>
      </p:sp>
      <p:sp>
        <p:nvSpPr>
          <p:cNvPr id="26" name="Text 23"/>
          <p:cNvSpPr txBox="1"/>
          <p:nvPr/>
        </p:nvSpPr>
        <p:spPr>
          <a:xfrm>
            <a:off x="2834640" y="4069080"/>
            <a:ext cx="54864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12</a:t>
            </a:r>
            <a:endParaRPr lang="en-US" sz="2200" dirty="0"/>
          </a:p>
        </p:txBody>
      </p:sp>
      <p:sp>
        <p:nvSpPr>
          <p:cNvPr id="27" name="Shape 24"/>
          <p:cNvSpPr/>
          <p:nvPr/>
        </p:nvSpPr>
        <p:spPr>
          <a:xfrm>
            <a:off x="2880360" y="4459732"/>
            <a:ext cx="457200" cy="0"/>
          </a:xfrm>
          <a:prstGeom prst="line">
            <a:avLst/>
          </a:prstGeom>
          <a:noFill/>
          <a:ln w="12700">
            <a:solidFill>
              <a:srgbClr val="11344E"/>
            </a:solidFill>
            <a:prstDash val="solid"/>
          </a:ln>
        </p:spPr>
      </p:sp>
      <p:sp>
        <p:nvSpPr>
          <p:cNvPr id="28" name="Text 25"/>
          <p:cNvSpPr txBox="1"/>
          <p:nvPr/>
        </p:nvSpPr>
        <p:spPr>
          <a:xfrm>
            <a:off x="2834640" y="4496308"/>
            <a:ext cx="54864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5</a:t>
            </a:r>
            <a:endParaRPr lang="en-US" sz="2200" dirty="0"/>
          </a:p>
        </p:txBody>
      </p:sp>
      <p:sp>
        <p:nvSpPr>
          <p:cNvPr id="29" name="Text 26"/>
          <p:cNvSpPr txBox="1"/>
          <p:nvPr/>
        </p:nvSpPr>
        <p:spPr>
          <a:xfrm>
            <a:off x="3383280" y="4434840"/>
            <a:ext cx="109728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x − 2</a:t>
            </a:r>
            <a:endParaRPr lang="en-US" sz="2200" dirty="0"/>
          </a:p>
        </p:txBody>
      </p:sp>
      <p:sp>
        <p:nvSpPr>
          <p:cNvPr id="30" name="Text 27"/>
          <p:cNvSpPr txBox="1"/>
          <p:nvPr/>
        </p:nvSpPr>
        <p:spPr>
          <a:xfrm>
            <a:off x="6446520" y="4434840"/>
            <a:ext cx="45720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4.</a:t>
            </a:r>
            <a:endParaRPr lang="en-US" sz="2200" dirty="0"/>
          </a:p>
        </p:txBody>
      </p:sp>
      <p:sp>
        <p:nvSpPr>
          <p:cNvPr id="31" name="Text 28"/>
          <p:cNvSpPr txBox="1"/>
          <p:nvPr/>
        </p:nvSpPr>
        <p:spPr>
          <a:xfrm>
            <a:off x="6903720" y="4069080"/>
            <a:ext cx="118872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10</a:t>
            </a:r>
            <a:endParaRPr lang="en-US" sz="2200" dirty="0"/>
          </a:p>
        </p:txBody>
      </p:sp>
      <p:sp>
        <p:nvSpPr>
          <p:cNvPr id="32" name="Shape 29"/>
          <p:cNvSpPr/>
          <p:nvPr/>
        </p:nvSpPr>
        <p:spPr>
          <a:xfrm>
            <a:off x="6949440" y="4459732"/>
            <a:ext cx="1097280" cy="0"/>
          </a:xfrm>
          <a:prstGeom prst="line">
            <a:avLst/>
          </a:prstGeom>
          <a:noFill/>
          <a:ln w="12700">
            <a:solidFill>
              <a:srgbClr val="11344E"/>
            </a:solidFill>
            <a:prstDash val="solid"/>
          </a:ln>
        </p:spPr>
      </p:sp>
      <p:sp>
        <p:nvSpPr>
          <p:cNvPr id="33" name="Text 30"/>
          <p:cNvSpPr txBox="1"/>
          <p:nvPr/>
        </p:nvSpPr>
        <p:spPr>
          <a:xfrm>
            <a:off x="6903720" y="4496308"/>
            <a:ext cx="118872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x + 3</a:t>
            </a:r>
            <a:endParaRPr lang="en-US" sz="2200" dirty="0"/>
          </a:p>
        </p:txBody>
      </p:sp>
      <p:sp>
        <p:nvSpPr>
          <p:cNvPr id="34" name="Text 31"/>
          <p:cNvSpPr txBox="1"/>
          <p:nvPr/>
        </p:nvSpPr>
        <p:spPr>
          <a:xfrm>
            <a:off x="8092440" y="4434840"/>
            <a:ext cx="365760" cy="45720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a:t>
            </a:r>
            <a:endParaRPr lang="en-US" sz="2200" dirty="0"/>
          </a:p>
        </p:txBody>
      </p:sp>
      <p:sp>
        <p:nvSpPr>
          <p:cNvPr id="35" name="Text 32"/>
          <p:cNvSpPr txBox="1"/>
          <p:nvPr/>
        </p:nvSpPr>
        <p:spPr>
          <a:xfrm>
            <a:off x="8458200" y="4069080"/>
            <a:ext cx="1188720" cy="363220"/>
          </a:xfrm>
          <a:prstGeom prst="rect">
            <a:avLst/>
          </a:prstGeom>
          <a:noFill/>
          <a:ln/>
        </p:spPr>
        <p:txBody>
          <a:bodyPr wrap="square" lIns="0" tIns="0" rIns="0" bIns="0" rtlCol="0" anchor="b"/>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6</a:t>
            </a:r>
            <a:endParaRPr lang="en-US" sz="2200" dirty="0"/>
          </a:p>
        </p:txBody>
      </p:sp>
      <p:sp>
        <p:nvSpPr>
          <p:cNvPr id="36" name="Shape 33"/>
          <p:cNvSpPr/>
          <p:nvPr/>
        </p:nvSpPr>
        <p:spPr>
          <a:xfrm>
            <a:off x="8503920" y="4459732"/>
            <a:ext cx="1097280" cy="0"/>
          </a:xfrm>
          <a:prstGeom prst="line">
            <a:avLst/>
          </a:prstGeom>
          <a:noFill/>
          <a:ln w="12700">
            <a:solidFill>
              <a:srgbClr val="11344E"/>
            </a:solidFill>
            <a:prstDash val="solid"/>
          </a:ln>
        </p:spPr>
      </p:sp>
      <p:sp>
        <p:nvSpPr>
          <p:cNvPr id="37" name="Text 34"/>
          <p:cNvSpPr txBox="1"/>
          <p:nvPr/>
        </p:nvSpPr>
        <p:spPr>
          <a:xfrm>
            <a:off x="8458200" y="4496308"/>
            <a:ext cx="1188720" cy="363220"/>
          </a:xfrm>
          <a:prstGeom prst="rect">
            <a:avLst/>
          </a:prstGeom>
          <a:noFill/>
          <a:ln/>
        </p:spPr>
        <p:txBody>
          <a:bodyPr wrap="square" lIns="0" tIns="0" rIns="0" bIns="0" rtlCol="0" anchor="t"/>
          <a:lstStyle/>
          <a:p>
            <a:pPr algn="ctr" indent="0" marL="0">
              <a:buNone/>
            </a:pPr>
            <a:r>
              <a:rPr lang="en-US" sz="2200" dirty="0">
                <a:solidFill>
                  <a:srgbClr val="11344E"/>
                </a:solidFill>
                <a:latin typeface="Times New Roman" pitchFamily="34" charset="0"/>
                <a:ea typeface="Times New Roman" pitchFamily="34" charset="-122"/>
                <a:cs typeface="Times New Roman" pitchFamily="34" charset="-120"/>
              </a:rPr>
              <a:t>x − 1</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C: solutions to 1 and 2</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A candidate that makes a denominator zero is not a solution</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15</a:t>
            </a:r>
            <a:endParaRPr lang="en-US" sz="800" dirty="0"/>
          </a:p>
        </p:txBody>
      </p:sp>
      <p:sp>
        <p:nvSpPr>
          <p:cNvPr id="6" name="Shape 3"/>
          <p:cNvSpPr/>
          <p:nvPr/>
        </p:nvSpPr>
        <p:spPr>
          <a:xfrm>
            <a:off x="548640" y="1554480"/>
            <a:ext cx="5440680" cy="4297680"/>
          </a:xfrm>
          <a:prstGeom prst="roundRect">
            <a:avLst>
              <a:gd name="adj" fmla="val 1702"/>
            </a:avLst>
          </a:prstGeom>
          <a:solidFill>
            <a:srgbClr val="EEF4F9"/>
          </a:solidFill>
          <a:ln w="12700">
            <a:solidFill>
              <a:srgbClr val="EEF4F9"/>
            </a:solidFill>
            <a:prstDash val="solid"/>
          </a:ln>
        </p:spPr>
      </p:sp>
      <p:sp>
        <p:nvSpPr>
          <p:cNvPr id="7" name="Text 4"/>
          <p:cNvSpPr txBox="1"/>
          <p:nvPr/>
        </p:nvSpPr>
        <p:spPr>
          <a:xfrm>
            <a:off x="822960" y="1737360"/>
            <a:ext cx="4937760" cy="365760"/>
          </a:xfrm>
          <a:prstGeom prst="rect">
            <a:avLst/>
          </a:prstGeom>
          <a:noFill/>
          <a:ln/>
        </p:spPr>
        <p:txBody>
          <a:bodyPr wrap="square" lIns="0" tIns="0" rIns="0" bIns="0" rtlCol="0" anchor="t"/>
          <a:lstStyle/>
          <a:p>
            <a:pPr indent="0" marL="0">
              <a:buNone/>
            </a:pPr>
            <a:r>
              <a:rPr lang="en-US" sz="1700" b="1" dirty="0">
                <a:solidFill>
                  <a:srgbClr val="1777B4"/>
                </a:solidFill>
                <a:latin typeface="Arial" pitchFamily="34" charset="0"/>
                <a:ea typeface="Arial" pitchFamily="34" charset="-122"/>
                <a:cs typeface="Arial" pitchFamily="34" charset="-120"/>
              </a:rPr>
              <a:t>1.  Restrictions first:  x ≠ 1,  x ≠ −1</a:t>
            </a:r>
            <a:endParaRPr lang="en-US" sz="1700" dirty="0"/>
          </a:p>
        </p:txBody>
      </p:sp>
      <p:sp>
        <p:nvSpPr>
          <p:cNvPr id="8" name="Text 5"/>
          <p:cNvSpPr txBox="1"/>
          <p:nvPr/>
        </p:nvSpPr>
        <p:spPr>
          <a:xfrm>
            <a:off x="822960" y="2286000"/>
            <a:ext cx="4937760" cy="2103120"/>
          </a:xfrm>
          <a:prstGeom prst="rect">
            <a:avLst/>
          </a:prstGeom>
          <a:noFill/>
          <a:ln/>
        </p:spPr>
        <p:txBody>
          <a:bodyPr wrap="square" lIns="0" tIns="0" rIns="0" bIns="0" rtlCol="0" anchor="t"/>
          <a:lstStyle/>
          <a:p>
            <a:pPr indent="0" marL="0">
              <a:spcAft>
                <a:spcPts val="600"/>
              </a:spcAft>
              <a:buNone/>
            </a:pPr>
            <a:r>
              <a:rPr lang="en-US" sz="2000" dirty="0">
                <a:solidFill>
                  <a:srgbClr val="11344E"/>
                </a:solidFill>
                <a:latin typeface="Times New Roman" pitchFamily="34" charset="0"/>
                <a:ea typeface="Times New Roman" pitchFamily="34" charset="-122"/>
                <a:cs typeface="Times New Roman" pitchFamily="34" charset="-120"/>
              </a:rPr>
              <a:t>Multiply every term by (x − 1)(x + 1):</a:t>
            </a:r>
            <a:endParaRPr lang="en-US" sz="2000" dirty="0"/>
          </a:p>
          <a:p>
            <a:pPr indent="0" marL="0">
              <a:spcAft>
                <a:spcPts val="600"/>
              </a:spcAft>
              <a:buNone/>
            </a:pPr>
            <a:r>
              <a:rPr lang="en-US" sz="2000" dirty="0">
                <a:solidFill>
                  <a:srgbClr val="11344E"/>
                </a:solidFill>
                <a:latin typeface="Times New Roman" pitchFamily="34" charset="0"/>
                <a:ea typeface="Times New Roman" pitchFamily="34" charset="-122"/>
                <a:cs typeface="Times New Roman" pitchFamily="34" charset="-120"/>
              </a:rPr>
              <a:t>2(x + 1) + (x</a:t>
            </a:r>
            <a:pPr indent="0" marL="0">
              <a:spcAft>
                <a:spcPts val="600"/>
              </a:spcAft>
              <a:buNone/>
            </a:pPr>
            <a:r>
              <a:rPr lang="en-US" sz="2000" baseline="30000" dirty="0">
                <a:solidFill>
                  <a:srgbClr val="11344E"/>
                </a:solidFill>
                <a:latin typeface="Times New Roman" pitchFamily="34" charset="0"/>
                <a:ea typeface="Times New Roman" pitchFamily="34" charset="-122"/>
                <a:cs typeface="Times New Roman" pitchFamily="34" charset="-120"/>
              </a:rPr>
              <a:t>2</a:t>
            </a:r>
            <a:pPr indent="0" marL="0">
              <a:spcAft>
                <a:spcPts val="600"/>
              </a:spcAft>
              <a:buNone/>
            </a:pPr>
            <a:r>
              <a:rPr lang="en-US" sz="2000" dirty="0">
                <a:solidFill>
                  <a:srgbClr val="11344E"/>
                </a:solidFill>
                <a:latin typeface="Times New Roman" pitchFamily="34" charset="0"/>
                <a:ea typeface="Times New Roman" pitchFamily="34" charset="-122"/>
                <a:cs typeface="Times New Roman" pitchFamily="34" charset="-120"/>
              </a:rPr>
              <a:t> − 1) = 4</a:t>
            </a:r>
            <a:endParaRPr lang="en-US" sz="2000" dirty="0"/>
          </a:p>
          <a:p>
            <a:pPr indent="0" marL="0">
              <a:spcAft>
                <a:spcPts val="600"/>
              </a:spcAft>
              <a:buNone/>
            </a:pPr>
            <a:r>
              <a:rPr lang="en-US" sz="2000" dirty="0">
                <a:solidFill>
                  <a:srgbClr val="11344E"/>
                </a:solidFill>
                <a:latin typeface="Times New Roman" pitchFamily="34" charset="0"/>
                <a:ea typeface="Times New Roman" pitchFamily="34" charset="-122"/>
                <a:cs typeface="Times New Roman" pitchFamily="34" charset="-120"/>
              </a:rPr>
              <a:t>x</a:t>
            </a:r>
            <a:pPr indent="0" marL="0">
              <a:spcAft>
                <a:spcPts val="600"/>
              </a:spcAft>
              <a:buNone/>
            </a:pPr>
            <a:r>
              <a:rPr lang="en-US" sz="2000" baseline="30000" dirty="0">
                <a:solidFill>
                  <a:srgbClr val="11344E"/>
                </a:solidFill>
                <a:latin typeface="Times New Roman" pitchFamily="34" charset="0"/>
                <a:ea typeface="Times New Roman" pitchFamily="34" charset="-122"/>
                <a:cs typeface="Times New Roman" pitchFamily="34" charset="-120"/>
              </a:rPr>
              <a:t>2</a:t>
            </a:r>
            <a:pPr indent="0" marL="0">
              <a:spcAft>
                <a:spcPts val="600"/>
              </a:spcAft>
              <a:buNone/>
            </a:pPr>
            <a:r>
              <a:rPr lang="en-US" sz="2000" dirty="0">
                <a:solidFill>
                  <a:srgbClr val="11344E"/>
                </a:solidFill>
                <a:latin typeface="Times New Roman" pitchFamily="34" charset="0"/>
                <a:ea typeface="Times New Roman" pitchFamily="34" charset="-122"/>
                <a:cs typeface="Times New Roman" pitchFamily="34" charset="-120"/>
              </a:rPr>
              <a:t> + 2x − 3 = 0</a:t>
            </a:r>
            <a:endParaRPr lang="en-US" sz="2000" dirty="0"/>
          </a:p>
          <a:p>
            <a:pPr indent="0" marL="0">
              <a:spcAft>
                <a:spcPts val="600"/>
              </a:spcAft>
              <a:buNone/>
            </a:pPr>
            <a:r>
              <a:rPr lang="en-US" sz="2000" dirty="0">
                <a:solidFill>
                  <a:srgbClr val="11344E"/>
                </a:solidFill>
                <a:latin typeface="Times New Roman" pitchFamily="34" charset="0"/>
                <a:ea typeface="Times New Roman" pitchFamily="34" charset="-122"/>
                <a:cs typeface="Times New Roman" pitchFamily="34" charset="-120"/>
              </a:rPr>
              <a:t>(x + 3)(x − 1) = 0</a:t>
            </a:r>
            <a:endParaRPr lang="en-US" sz="2000" dirty="0"/>
          </a:p>
        </p:txBody>
      </p:sp>
      <p:sp>
        <p:nvSpPr>
          <p:cNvPr id="9" name="Shape 6"/>
          <p:cNvSpPr/>
          <p:nvPr/>
        </p:nvSpPr>
        <p:spPr>
          <a:xfrm>
            <a:off x="822960" y="4572000"/>
            <a:ext cx="4892040" cy="1051560"/>
          </a:xfrm>
          <a:prstGeom prst="roundRect">
            <a:avLst>
              <a:gd name="adj" fmla="val 6957"/>
            </a:avLst>
          </a:prstGeom>
          <a:solidFill>
            <a:srgbClr val="EAF5F0"/>
          </a:solidFill>
          <a:ln w="12700">
            <a:solidFill>
              <a:srgbClr val="EAF5F0"/>
            </a:solidFill>
            <a:prstDash val="solid"/>
          </a:ln>
        </p:spPr>
      </p:sp>
      <p:sp>
        <p:nvSpPr>
          <p:cNvPr id="10" name="Text 7"/>
          <p:cNvSpPr txBox="1"/>
          <p:nvPr/>
        </p:nvSpPr>
        <p:spPr>
          <a:xfrm>
            <a:off x="1005840" y="4572000"/>
            <a:ext cx="4572000" cy="1051560"/>
          </a:xfrm>
          <a:prstGeom prst="rect">
            <a:avLst/>
          </a:prstGeom>
          <a:noFill/>
          <a:ln/>
        </p:spPr>
        <p:txBody>
          <a:bodyPr wrap="square" lIns="0" tIns="0" rIns="0" bIns="0" rtlCol="0" anchor="ctr"/>
          <a:lstStyle/>
          <a:p>
            <a:pPr indent="0" marL="0">
              <a:buNone/>
            </a:pPr>
            <a:r>
              <a:rPr lang="en-US" sz="2000" b="1" dirty="0">
                <a:solidFill>
                  <a:srgbClr val="1B7F5E"/>
                </a:solidFill>
                <a:latin typeface="Times New Roman" pitchFamily="34" charset="0"/>
                <a:ea typeface="Times New Roman" pitchFamily="34" charset="-122"/>
                <a:cs typeface="Times New Roman" pitchFamily="34" charset="-120"/>
              </a:rPr>
              <a:t>x = −3   (x = 1 is excluded)</a:t>
            </a:r>
            <a:endParaRPr lang="en-US" sz="2000" dirty="0"/>
          </a:p>
        </p:txBody>
      </p:sp>
      <p:sp>
        <p:nvSpPr>
          <p:cNvPr id="11" name="Shape 8"/>
          <p:cNvSpPr/>
          <p:nvPr/>
        </p:nvSpPr>
        <p:spPr>
          <a:xfrm>
            <a:off x="6172200" y="1554480"/>
            <a:ext cx="5440680" cy="4297680"/>
          </a:xfrm>
          <a:prstGeom prst="roundRect">
            <a:avLst>
              <a:gd name="adj" fmla="val 1702"/>
            </a:avLst>
          </a:prstGeom>
          <a:solidFill>
            <a:srgbClr val="EEF4F9"/>
          </a:solidFill>
          <a:ln w="12700">
            <a:solidFill>
              <a:srgbClr val="EEF4F9"/>
            </a:solidFill>
            <a:prstDash val="solid"/>
          </a:ln>
        </p:spPr>
      </p:sp>
      <p:sp>
        <p:nvSpPr>
          <p:cNvPr id="12" name="Text 9"/>
          <p:cNvSpPr txBox="1"/>
          <p:nvPr/>
        </p:nvSpPr>
        <p:spPr>
          <a:xfrm>
            <a:off x="6446520" y="1737360"/>
            <a:ext cx="4937760" cy="365760"/>
          </a:xfrm>
          <a:prstGeom prst="rect">
            <a:avLst/>
          </a:prstGeom>
          <a:noFill/>
          <a:ln/>
        </p:spPr>
        <p:txBody>
          <a:bodyPr wrap="square" lIns="0" tIns="0" rIns="0" bIns="0" rtlCol="0" anchor="t"/>
          <a:lstStyle/>
          <a:p>
            <a:pPr indent="0" marL="0">
              <a:buNone/>
            </a:pPr>
            <a:r>
              <a:rPr lang="en-US" sz="1700" b="1" dirty="0">
                <a:solidFill>
                  <a:srgbClr val="1777B4"/>
                </a:solidFill>
                <a:latin typeface="Arial" pitchFamily="34" charset="0"/>
                <a:ea typeface="Arial" pitchFamily="34" charset="-122"/>
                <a:cs typeface="Arial" pitchFamily="34" charset="-120"/>
              </a:rPr>
              <a:t>2.  Zero on one side first</a:t>
            </a:r>
            <a:endParaRPr lang="en-US" sz="1700" dirty="0"/>
          </a:p>
        </p:txBody>
      </p:sp>
      <p:sp>
        <p:nvSpPr>
          <p:cNvPr id="13" name="Text 10"/>
          <p:cNvSpPr txBox="1"/>
          <p:nvPr/>
        </p:nvSpPr>
        <p:spPr>
          <a:xfrm>
            <a:off x="6446520" y="2286000"/>
            <a:ext cx="4937760" cy="1737360"/>
          </a:xfrm>
          <a:prstGeom prst="rect">
            <a:avLst/>
          </a:prstGeom>
          <a:noFill/>
          <a:ln/>
        </p:spPr>
        <p:txBody>
          <a:bodyPr wrap="square" lIns="0" tIns="0" rIns="0" bIns="0" rtlCol="0" anchor="t"/>
          <a:lstStyle/>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6x</a:t>
            </a:r>
            <a:pPr indent="0" marL="0">
              <a:spcAft>
                <a:spcPts val="600"/>
              </a:spcAft>
              <a:buNone/>
            </a:pPr>
            <a:r>
              <a:rPr lang="en-US" sz="2100" baseline="30000" dirty="0">
                <a:solidFill>
                  <a:srgbClr val="11344E"/>
                </a:solidFill>
                <a:latin typeface="Times New Roman" pitchFamily="34" charset="0"/>
                <a:ea typeface="Times New Roman" pitchFamily="34" charset="-122"/>
                <a:cs typeface="Times New Roman" pitchFamily="34" charset="-120"/>
              </a:rPr>
              <a:t>2</a:t>
            </a:r>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 − 7x − 3 = 0</a:t>
            </a:r>
            <a:endParaRPr lang="en-US" sz="2100" dirty="0"/>
          </a:p>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(3x + 1)(2x − 3) = 0</a:t>
            </a:r>
            <a:endParaRPr lang="en-US" sz="2100" dirty="0"/>
          </a:p>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3x + 1 = 0  or  2x − 3 = 0</a:t>
            </a:r>
            <a:endParaRPr lang="en-US" sz="2100" dirty="0"/>
          </a:p>
        </p:txBody>
      </p:sp>
      <p:sp>
        <p:nvSpPr>
          <p:cNvPr id="14" name="Shape 11"/>
          <p:cNvSpPr/>
          <p:nvPr/>
        </p:nvSpPr>
        <p:spPr>
          <a:xfrm>
            <a:off x="6446520" y="4572000"/>
            <a:ext cx="4892040" cy="1051560"/>
          </a:xfrm>
          <a:prstGeom prst="roundRect">
            <a:avLst>
              <a:gd name="adj" fmla="val 6957"/>
            </a:avLst>
          </a:prstGeom>
          <a:solidFill>
            <a:srgbClr val="EAF5F0"/>
          </a:solidFill>
          <a:ln w="12700">
            <a:solidFill>
              <a:srgbClr val="EAF5F0"/>
            </a:solidFill>
            <a:prstDash val="solid"/>
          </a:ln>
        </p:spPr>
      </p:sp>
      <p:sp>
        <p:nvSpPr>
          <p:cNvPr id="15" name="Text 12"/>
          <p:cNvSpPr txBox="1"/>
          <p:nvPr/>
        </p:nvSpPr>
        <p:spPr>
          <a:xfrm>
            <a:off x="6629400" y="4572000"/>
            <a:ext cx="4572000" cy="1051560"/>
          </a:xfrm>
          <a:prstGeom prst="rect">
            <a:avLst/>
          </a:prstGeom>
          <a:noFill/>
          <a:ln/>
        </p:spPr>
        <p:txBody>
          <a:bodyPr wrap="square" lIns="0" tIns="0" rIns="0" bIns="0" rtlCol="0" anchor="ctr"/>
          <a:lstStyle/>
          <a:p>
            <a:pPr indent="0" marL="0">
              <a:buNone/>
            </a:pPr>
            <a:r>
              <a:rPr lang="en-US" sz="2100" b="1" dirty="0">
                <a:solidFill>
                  <a:srgbClr val="1B7F5E"/>
                </a:solidFill>
                <a:latin typeface="Times New Roman" pitchFamily="34" charset="0"/>
                <a:ea typeface="Times New Roman" pitchFamily="34" charset="-122"/>
                <a:cs typeface="Times New Roman" pitchFamily="34" charset="-120"/>
              </a:rPr>
              <a:t>x = −1/3  or  x = 3/2</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C: solutions to 3 and 4</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Clear the fractions by multiplying every term by the LCD</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16</a:t>
            </a:r>
            <a:endParaRPr lang="en-US" sz="800" dirty="0"/>
          </a:p>
        </p:txBody>
      </p:sp>
      <p:sp>
        <p:nvSpPr>
          <p:cNvPr id="6" name="Shape 3"/>
          <p:cNvSpPr/>
          <p:nvPr/>
        </p:nvSpPr>
        <p:spPr>
          <a:xfrm>
            <a:off x="548640" y="1554480"/>
            <a:ext cx="5440680" cy="4297680"/>
          </a:xfrm>
          <a:prstGeom prst="roundRect">
            <a:avLst>
              <a:gd name="adj" fmla="val 1702"/>
            </a:avLst>
          </a:prstGeom>
          <a:solidFill>
            <a:srgbClr val="EEF4F9"/>
          </a:solidFill>
          <a:ln w="12700">
            <a:solidFill>
              <a:srgbClr val="EEF4F9"/>
            </a:solidFill>
            <a:prstDash val="solid"/>
          </a:ln>
        </p:spPr>
      </p:sp>
      <p:sp>
        <p:nvSpPr>
          <p:cNvPr id="7" name="Text 4"/>
          <p:cNvSpPr txBox="1"/>
          <p:nvPr/>
        </p:nvSpPr>
        <p:spPr>
          <a:xfrm>
            <a:off x="822960" y="1737360"/>
            <a:ext cx="4937760" cy="365760"/>
          </a:xfrm>
          <a:prstGeom prst="rect">
            <a:avLst/>
          </a:prstGeom>
          <a:noFill/>
          <a:ln/>
        </p:spPr>
        <p:txBody>
          <a:bodyPr wrap="square" lIns="0" tIns="0" rIns="0" bIns="0" rtlCol="0" anchor="t"/>
          <a:lstStyle/>
          <a:p>
            <a:pPr indent="0" marL="0">
              <a:buNone/>
            </a:pPr>
            <a:r>
              <a:rPr lang="en-US" sz="1700" b="1" dirty="0">
                <a:solidFill>
                  <a:srgbClr val="1777B4"/>
                </a:solidFill>
                <a:latin typeface="Arial" pitchFamily="34" charset="0"/>
                <a:ea typeface="Arial" pitchFamily="34" charset="-122"/>
                <a:cs typeface="Arial" pitchFamily="34" charset="-120"/>
              </a:rPr>
              <a:t>3.  Multiply every term by 5</a:t>
            </a:r>
            <a:endParaRPr lang="en-US" sz="1700" dirty="0"/>
          </a:p>
        </p:txBody>
      </p:sp>
      <p:sp>
        <p:nvSpPr>
          <p:cNvPr id="8" name="Text 5"/>
          <p:cNvSpPr txBox="1"/>
          <p:nvPr/>
        </p:nvSpPr>
        <p:spPr>
          <a:xfrm>
            <a:off x="822960" y="2286000"/>
            <a:ext cx="4937760" cy="1737360"/>
          </a:xfrm>
          <a:prstGeom prst="rect">
            <a:avLst/>
          </a:prstGeom>
          <a:noFill/>
          <a:ln/>
        </p:spPr>
        <p:txBody>
          <a:bodyPr wrap="square" lIns="0" tIns="0" rIns="0" bIns="0" rtlCol="0" anchor="t"/>
          <a:lstStyle/>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x</a:t>
            </a:r>
            <a:pPr indent="0" marL="0">
              <a:spcAft>
                <a:spcPts val="600"/>
              </a:spcAft>
              <a:buNone/>
            </a:pPr>
            <a:r>
              <a:rPr lang="en-US" sz="2100" baseline="30000" dirty="0">
                <a:solidFill>
                  <a:srgbClr val="11344E"/>
                </a:solidFill>
                <a:latin typeface="Times New Roman" pitchFamily="34" charset="0"/>
                <a:ea typeface="Times New Roman" pitchFamily="34" charset="-122"/>
                <a:cs typeface="Times New Roman" pitchFamily="34" charset="-120"/>
              </a:rPr>
              <a:t>2</a:t>
            </a:r>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 + 5x = 12x − 10</a:t>
            </a:r>
            <a:endParaRPr lang="en-US" sz="2100" dirty="0"/>
          </a:p>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x</a:t>
            </a:r>
            <a:pPr indent="0" marL="0">
              <a:spcAft>
                <a:spcPts val="600"/>
              </a:spcAft>
              <a:buNone/>
            </a:pPr>
            <a:r>
              <a:rPr lang="en-US" sz="2100" baseline="30000" dirty="0">
                <a:solidFill>
                  <a:srgbClr val="11344E"/>
                </a:solidFill>
                <a:latin typeface="Times New Roman" pitchFamily="34" charset="0"/>
                <a:ea typeface="Times New Roman" pitchFamily="34" charset="-122"/>
                <a:cs typeface="Times New Roman" pitchFamily="34" charset="-120"/>
              </a:rPr>
              <a:t>2</a:t>
            </a:r>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 − 7x + 10 = 0</a:t>
            </a:r>
            <a:endParaRPr lang="en-US" sz="2100" dirty="0"/>
          </a:p>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(x − 2)(x − 5) = 0</a:t>
            </a:r>
            <a:endParaRPr lang="en-US" sz="2100" dirty="0"/>
          </a:p>
        </p:txBody>
      </p:sp>
      <p:sp>
        <p:nvSpPr>
          <p:cNvPr id="9" name="Shape 6"/>
          <p:cNvSpPr/>
          <p:nvPr/>
        </p:nvSpPr>
        <p:spPr>
          <a:xfrm>
            <a:off x="822960" y="4572000"/>
            <a:ext cx="4892040" cy="1051560"/>
          </a:xfrm>
          <a:prstGeom prst="roundRect">
            <a:avLst>
              <a:gd name="adj" fmla="val 6957"/>
            </a:avLst>
          </a:prstGeom>
          <a:solidFill>
            <a:srgbClr val="EAF5F0"/>
          </a:solidFill>
          <a:ln w="12700">
            <a:solidFill>
              <a:srgbClr val="EAF5F0"/>
            </a:solidFill>
            <a:prstDash val="solid"/>
          </a:ln>
        </p:spPr>
      </p:sp>
      <p:sp>
        <p:nvSpPr>
          <p:cNvPr id="10" name="Text 7"/>
          <p:cNvSpPr txBox="1"/>
          <p:nvPr/>
        </p:nvSpPr>
        <p:spPr>
          <a:xfrm>
            <a:off x="1005840" y="4572000"/>
            <a:ext cx="4572000" cy="1051560"/>
          </a:xfrm>
          <a:prstGeom prst="rect">
            <a:avLst/>
          </a:prstGeom>
          <a:noFill/>
          <a:ln/>
        </p:spPr>
        <p:txBody>
          <a:bodyPr wrap="square" lIns="0" tIns="0" rIns="0" bIns="0" rtlCol="0" anchor="ctr"/>
          <a:lstStyle/>
          <a:p>
            <a:pPr indent="0" marL="0">
              <a:buNone/>
            </a:pPr>
            <a:r>
              <a:rPr lang="en-US" sz="2100" b="1" dirty="0">
                <a:solidFill>
                  <a:srgbClr val="1B7F5E"/>
                </a:solidFill>
                <a:latin typeface="Times New Roman" pitchFamily="34" charset="0"/>
                <a:ea typeface="Times New Roman" pitchFamily="34" charset="-122"/>
                <a:cs typeface="Times New Roman" pitchFamily="34" charset="-120"/>
              </a:rPr>
              <a:t>x = 2  or  x = 5</a:t>
            </a:r>
            <a:endParaRPr lang="en-US" sz="2100" dirty="0"/>
          </a:p>
        </p:txBody>
      </p:sp>
      <p:sp>
        <p:nvSpPr>
          <p:cNvPr id="11" name="Shape 8"/>
          <p:cNvSpPr/>
          <p:nvPr/>
        </p:nvSpPr>
        <p:spPr>
          <a:xfrm>
            <a:off x="6172200" y="1554480"/>
            <a:ext cx="5440680" cy="4297680"/>
          </a:xfrm>
          <a:prstGeom prst="roundRect">
            <a:avLst>
              <a:gd name="adj" fmla="val 1702"/>
            </a:avLst>
          </a:prstGeom>
          <a:solidFill>
            <a:srgbClr val="EEF4F9"/>
          </a:solidFill>
          <a:ln w="12700">
            <a:solidFill>
              <a:srgbClr val="EEF4F9"/>
            </a:solidFill>
            <a:prstDash val="solid"/>
          </a:ln>
        </p:spPr>
      </p:sp>
      <p:sp>
        <p:nvSpPr>
          <p:cNvPr id="12" name="Text 9"/>
          <p:cNvSpPr txBox="1"/>
          <p:nvPr/>
        </p:nvSpPr>
        <p:spPr>
          <a:xfrm>
            <a:off x="6446520" y="1737360"/>
            <a:ext cx="4937760" cy="365760"/>
          </a:xfrm>
          <a:prstGeom prst="rect">
            <a:avLst/>
          </a:prstGeom>
          <a:noFill/>
          <a:ln/>
        </p:spPr>
        <p:txBody>
          <a:bodyPr wrap="square" lIns="0" tIns="0" rIns="0" bIns="0" rtlCol="0" anchor="t"/>
          <a:lstStyle/>
          <a:p>
            <a:pPr indent="0" marL="0">
              <a:buNone/>
            </a:pPr>
            <a:r>
              <a:rPr lang="en-US" sz="1700" b="1" dirty="0">
                <a:solidFill>
                  <a:srgbClr val="1777B4"/>
                </a:solidFill>
                <a:latin typeface="Arial" pitchFamily="34" charset="0"/>
                <a:ea typeface="Arial" pitchFamily="34" charset="-122"/>
                <a:cs typeface="Arial" pitchFamily="34" charset="-120"/>
              </a:rPr>
              <a:t>4.  Restrictions:  x ≠ −3,  x ≠ 1</a:t>
            </a:r>
            <a:endParaRPr lang="en-US" sz="1700" dirty="0"/>
          </a:p>
        </p:txBody>
      </p:sp>
      <p:sp>
        <p:nvSpPr>
          <p:cNvPr id="13" name="Text 10"/>
          <p:cNvSpPr txBox="1"/>
          <p:nvPr/>
        </p:nvSpPr>
        <p:spPr>
          <a:xfrm>
            <a:off x="6446520" y="2286000"/>
            <a:ext cx="4937760" cy="1737360"/>
          </a:xfrm>
          <a:prstGeom prst="rect">
            <a:avLst/>
          </a:prstGeom>
          <a:noFill/>
          <a:ln/>
        </p:spPr>
        <p:txBody>
          <a:bodyPr wrap="square" lIns="0" tIns="0" rIns="0" bIns="0" rtlCol="0" anchor="t"/>
          <a:lstStyle/>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10(x − 1) = 6(x + 3)</a:t>
            </a:r>
            <a:endParaRPr lang="en-US" sz="2100" dirty="0"/>
          </a:p>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10x − 10 = 6x + 18</a:t>
            </a:r>
            <a:endParaRPr lang="en-US" sz="2100" dirty="0"/>
          </a:p>
          <a:p>
            <a:pPr indent="0" marL="0">
              <a:spcAft>
                <a:spcPts val="600"/>
              </a:spcAft>
              <a:buNone/>
            </a:pPr>
            <a:r>
              <a:rPr lang="en-US" sz="2100" dirty="0">
                <a:solidFill>
                  <a:srgbClr val="11344E"/>
                </a:solidFill>
                <a:latin typeface="Times New Roman" pitchFamily="34" charset="0"/>
                <a:ea typeface="Times New Roman" pitchFamily="34" charset="-122"/>
                <a:cs typeface="Times New Roman" pitchFamily="34" charset="-120"/>
              </a:rPr>
              <a:t>4x = 28</a:t>
            </a:r>
            <a:endParaRPr lang="en-US" sz="2100" dirty="0"/>
          </a:p>
        </p:txBody>
      </p:sp>
      <p:sp>
        <p:nvSpPr>
          <p:cNvPr id="14" name="Shape 11"/>
          <p:cNvSpPr/>
          <p:nvPr/>
        </p:nvSpPr>
        <p:spPr>
          <a:xfrm>
            <a:off x="6446520" y="4572000"/>
            <a:ext cx="4892040" cy="1051560"/>
          </a:xfrm>
          <a:prstGeom prst="roundRect">
            <a:avLst>
              <a:gd name="adj" fmla="val 6957"/>
            </a:avLst>
          </a:prstGeom>
          <a:solidFill>
            <a:srgbClr val="EAF5F0"/>
          </a:solidFill>
          <a:ln w="12700">
            <a:solidFill>
              <a:srgbClr val="EAF5F0"/>
            </a:solidFill>
            <a:prstDash val="solid"/>
          </a:ln>
        </p:spPr>
      </p:sp>
      <p:sp>
        <p:nvSpPr>
          <p:cNvPr id="15" name="Text 12"/>
          <p:cNvSpPr txBox="1"/>
          <p:nvPr/>
        </p:nvSpPr>
        <p:spPr>
          <a:xfrm>
            <a:off x="6629400" y="4572000"/>
            <a:ext cx="4572000" cy="1051560"/>
          </a:xfrm>
          <a:prstGeom prst="rect">
            <a:avLst/>
          </a:prstGeom>
          <a:noFill/>
          <a:ln/>
        </p:spPr>
        <p:txBody>
          <a:bodyPr wrap="square" lIns="0" tIns="0" rIns="0" bIns="0" rtlCol="0" anchor="ctr"/>
          <a:lstStyle/>
          <a:p>
            <a:pPr indent="0" marL="0">
              <a:buNone/>
            </a:pPr>
            <a:r>
              <a:rPr lang="en-US" sz="2000" b="1" dirty="0">
                <a:solidFill>
                  <a:srgbClr val="1B7F5E"/>
                </a:solidFill>
                <a:latin typeface="Times New Roman" pitchFamily="34" charset="0"/>
                <a:ea typeface="Times New Roman" pitchFamily="34" charset="-122"/>
                <a:cs typeface="Times New Roman" pitchFamily="34" charset="-120"/>
              </a:rPr>
              <a:t>x = 7   (allowed; check: 1 = 1)</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D: coordinate geometry</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Give exact answers</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17</a:t>
            </a:r>
            <a:endParaRPr lang="en-US" sz="800" dirty="0"/>
          </a:p>
        </p:txBody>
      </p:sp>
      <p:sp>
        <p:nvSpPr>
          <p:cNvPr id="6" name="Shape 3"/>
          <p:cNvSpPr/>
          <p:nvPr/>
        </p:nvSpPr>
        <p:spPr>
          <a:xfrm>
            <a:off x="9464040" y="411480"/>
            <a:ext cx="2148840" cy="457200"/>
          </a:xfrm>
          <a:prstGeom prst="roundRect">
            <a:avLst>
              <a:gd name="adj" fmla="val 16000"/>
            </a:avLst>
          </a:prstGeom>
          <a:solidFill>
            <a:srgbClr val="EAF5F0"/>
          </a:solidFill>
          <a:ln w="12700">
            <a:solidFill>
              <a:srgbClr val="EAF5F0"/>
            </a:solidFill>
            <a:prstDash val="solid"/>
          </a:ln>
        </p:spPr>
      </p:sp>
      <p:sp>
        <p:nvSpPr>
          <p:cNvPr id="7" name="Text 4"/>
          <p:cNvSpPr txBox="1"/>
          <p:nvPr/>
        </p:nvSpPr>
        <p:spPr>
          <a:xfrm>
            <a:off x="9464040" y="411480"/>
            <a:ext cx="2148840" cy="457200"/>
          </a:xfrm>
          <a:prstGeom prst="rect">
            <a:avLst/>
          </a:prstGeom>
          <a:noFill/>
          <a:ln/>
        </p:spPr>
        <p:txBody>
          <a:bodyPr wrap="square" lIns="0" tIns="0" rIns="0" bIns="0" rtlCol="0" anchor="ctr"/>
          <a:lstStyle/>
          <a:p>
            <a:pPr algn="ctr" indent="0" marL="0">
              <a:buNone/>
            </a:pPr>
            <a:r>
              <a:rPr lang="en-US" sz="1300" b="1" dirty="0">
                <a:solidFill>
                  <a:srgbClr val="1B7F5E"/>
                </a:solidFill>
                <a:latin typeface="Arial" pitchFamily="34" charset="0"/>
                <a:ea typeface="Arial" pitchFamily="34" charset="-122"/>
                <a:cs typeface="Arial" pitchFamily="34" charset="-120"/>
              </a:rPr>
              <a:t>8 minutes</a:t>
            </a:r>
            <a:endParaRPr lang="en-US" sz="1300" dirty="0"/>
          </a:p>
        </p:txBody>
      </p:sp>
      <p:sp>
        <p:nvSpPr>
          <p:cNvPr id="8" name="Shape 5"/>
          <p:cNvSpPr/>
          <p:nvPr/>
        </p:nvSpPr>
        <p:spPr>
          <a:xfrm>
            <a:off x="548640" y="1554480"/>
            <a:ext cx="3520440" cy="4297680"/>
          </a:xfrm>
          <a:prstGeom prst="roundRect">
            <a:avLst>
              <a:gd name="adj" fmla="val 2078"/>
            </a:avLst>
          </a:prstGeom>
          <a:solidFill>
            <a:srgbClr val="EEF4F9"/>
          </a:solidFill>
          <a:ln w="12700">
            <a:solidFill>
              <a:srgbClr val="EEF4F9"/>
            </a:solidFill>
            <a:prstDash val="solid"/>
          </a:ln>
        </p:spPr>
      </p:sp>
      <p:sp>
        <p:nvSpPr>
          <p:cNvPr id="9" name="Text 6"/>
          <p:cNvSpPr txBox="1"/>
          <p:nvPr/>
        </p:nvSpPr>
        <p:spPr>
          <a:xfrm>
            <a:off x="822960" y="1737360"/>
            <a:ext cx="301752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Two points</a:t>
            </a:r>
            <a:endParaRPr lang="en-US" sz="1600" dirty="0"/>
          </a:p>
        </p:txBody>
      </p:sp>
      <p:sp>
        <p:nvSpPr>
          <p:cNvPr id="10" name="Text 7"/>
          <p:cNvSpPr txBox="1"/>
          <p:nvPr/>
        </p:nvSpPr>
        <p:spPr>
          <a:xfrm>
            <a:off x="822960" y="2240280"/>
            <a:ext cx="3108960" cy="73152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P(−2, 5)  and  Q(6, −1)</a:t>
            </a:r>
            <a:endParaRPr lang="en-US" sz="1900" dirty="0"/>
          </a:p>
        </p:txBody>
      </p:sp>
      <p:sp>
        <p:nvSpPr>
          <p:cNvPr id="11" name="Text 8"/>
          <p:cNvSpPr txBox="1"/>
          <p:nvPr/>
        </p:nvSpPr>
        <p:spPr>
          <a:xfrm>
            <a:off x="822960" y="3200400"/>
            <a:ext cx="3017520" cy="2468880"/>
          </a:xfrm>
          <a:prstGeom prst="rect">
            <a:avLst/>
          </a:prstGeom>
          <a:noFill/>
          <a:ln/>
        </p:spPr>
        <p:txBody>
          <a:bodyPr wrap="square" lIns="0" tIns="0" rIns="0" bIns="0" rtlCol="0" anchor="t"/>
          <a:lstStyle/>
          <a:p>
            <a:pPr indent="0" marL="0">
              <a:spcAft>
                <a:spcPts val="1400"/>
              </a:spcAft>
              <a:buNone/>
            </a:pPr>
            <a:r>
              <a:rPr lang="en-US" sz="1600" dirty="0">
                <a:solidFill>
                  <a:srgbClr val="11344E"/>
                </a:solidFill>
                <a:latin typeface="Arial" pitchFamily="34" charset="0"/>
                <a:ea typeface="Arial" pitchFamily="34" charset="-122"/>
                <a:cs typeface="Arial" pitchFamily="34" charset="-120"/>
              </a:rPr>
              <a:t>1.  Midpoint of PQ</a:t>
            </a:r>
            <a:endParaRPr lang="en-US" sz="1600" dirty="0"/>
          </a:p>
          <a:p>
            <a:pPr indent="0" marL="0">
              <a:spcAft>
                <a:spcPts val="1400"/>
              </a:spcAft>
              <a:buNone/>
            </a:pPr>
            <a:r>
              <a:rPr lang="en-US" sz="1600" dirty="0">
                <a:solidFill>
                  <a:srgbClr val="11344E"/>
                </a:solidFill>
                <a:latin typeface="Arial" pitchFamily="34" charset="0"/>
                <a:ea typeface="Arial" pitchFamily="34" charset="-122"/>
                <a:cs typeface="Arial" pitchFamily="34" charset="-120"/>
              </a:rPr>
              <a:t>2.  Distance PQ</a:t>
            </a:r>
            <a:endParaRPr lang="en-US" sz="1600" dirty="0"/>
          </a:p>
          <a:p>
            <a:pPr indent="0" marL="0">
              <a:spcAft>
                <a:spcPts val="1400"/>
              </a:spcAft>
              <a:buNone/>
            </a:pPr>
            <a:r>
              <a:rPr lang="en-US" sz="1600" dirty="0">
                <a:solidFill>
                  <a:srgbClr val="11344E"/>
                </a:solidFill>
                <a:latin typeface="Arial" pitchFamily="34" charset="0"/>
                <a:ea typeface="Arial" pitchFamily="34" charset="-122"/>
                <a:cs typeface="Arial" pitchFamily="34" charset="-120"/>
              </a:rPr>
              <a:t>3.  Equation of line PQ</a:t>
            </a:r>
            <a:endParaRPr lang="en-US" sz="1600" dirty="0"/>
          </a:p>
        </p:txBody>
      </p:sp>
      <p:sp>
        <p:nvSpPr>
          <p:cNvPr id="12" name="Shape 9"/>
          <p:cNvSpPr/>
          <p:nvPr/>
        </p:nvSpPr>
        <p:spPr>
          <a:xfrm>
            <a:off x="4297680" y="1554480"/>
            <a:ext cx="3520440" cy="4297680"/>
          </a:xfrm>
          <a:prstGeom prst="roundRect">
            <a:avLst>
              <a:gd name="adj" fmla="val 2078"/>
            </a:avLst>
          </a:prstGeom>
          <a:solidFill>
            <a:srgbClr val="EEF4F9"/>
          </a:solidFill>
          <a:ln w="12700">
            <a:solidFill>
              <a:srgbClr val="EEF4F9"/>
            </a:solidFill>
            <a:prstDash val="solid"/>
          </a:ln>
        </p:spPr>
      </p:sp>
      <p:sp>
        <p:nvSpPr>
          <p:cNvPr id="13" name="Text 10"/>
          <p:cNvSpPr txBox="1"/>
          <p:nvPr/>
        </p:nvSpPr>
        <p:spPr>
          <a:xfrm>
            <a:off x="4572000" y="1737360"/>
            <a:ext cx="301752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A circle</a:t>
            </a:r>
            <a:endParaRPr lang="en-US" sz="1600" dirty="0"/>
          </a:p>
        </p:txBody>
      </p:sp>
      <p:sp>
        <p:nvSpPr>
          <p:cNvPr id="14" name="Text 11"/>
          <p:cNvSpPr txBox="1"/>
          <p:nvPr/>
        </p:nvSpPr>
        <p:spPr>
          <a:xfrm>
            <a:off x="4572000" y="2240280"/>
            <a:ext cx="3108960" cy="73152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Center (−3, 1),  radius 7</a:t>
            </a:r>
            <a:endParaRPr lang="en-US" sz="1900" dirty="0"/>
          </a:p>
        </p:txBody>
      </p:sp>
      <p:sp>
        <p:nvSpPr>
          <p:cNvPr id="15" name="Text 12"/>
          <p:cNvSpPr txBox="1"/>
          <p:nvPr/>
        </p:nvSpPr>
        <p:spPr>
          <a:xfrm>
            <a:off x="4572000" y="3200400"/>
            <a:ext cx="3017520" cy="2468880"/>
          </a:xfrm>
          <a:prstGeom prst="rect">
            <a:avLst/>
          </a:prstGeom>
          <a:noFill/>
          <a:ln/>
        </p:spPr>
        <p:txBody>
          <a:bodyPr wrap="square" lIns="0" tIns="0" rIns="0" bIns="0" rtlCol="0" anchor="t"/>
          <a:lstStyle/>
          <a:p>
            <a:pPr indent="0" marL="0">
              <a:spcAft>
                <a:spcPts val="1400"/>
              </a:spcAft>
              <a:buNone/>
            </a:pPr>
            <a:r>
              <a:rPr lang="en-US" sz="1600" dirty="0">
                <a:solidFill>
                  <a:srgbClr val="11344E"/>
                </a:solidFill>
                <a:latin typeface="Arial" pitchFamily="34" charset="0"/>
                <a:ea typeface="Arial" pitchFamily="34" charset="-122"/>
                <a:cs typeface="Arial" pitchFamily="34" charset="-120"/>
              </a:rPr>
              <a:t>4.  Equation of the circle</a:t>
            </a:r>
            <a:endParaRPr lang="en-US" sz="1600" dirty="0"/>
          </a:p>
        </p:txBody>
      </p:sp>
      <p:sp>
        <p:nvSpPr>
          <p:cNvPr id="16" name="Shape 13"/>
          <p:cNvSpPr/>
          <p:nvPr/>
        </p:nvSpPr>
        <p:spPr>
          <a:xfrm>
            <a:off x="8046720" y="1554480"/>
            <a:ext cx="3520440" cy="4297680"/>
          </a:xfrm>
          <a:prstGeom prst="roundRect">
            <a:avLst>
              <a:gd name="adj" fmla="val 2078"/>
            </a:avLst>
          </a:prstGeom>
          <a:solidFill>
            <a:srgbClr val="EEF4F9"/>
          </a:solidFill>
          <a:ln w="12700">
            <a:solidFill>
              <a:srgbClr val="EEF4F9"/>
            </a:solidFill>
            <a:prstDash val="solid"/>
          </a:ln>
        </p:spPr>
      </p:sp>
      <p:sp>
        <p:nvSpPr>
          <p:cNvPr id="17" name="Text 14"/>
          <p:cNvSpPr txBox="1"/>
          <p:nvPr/>
        </p:nvSpPr>
        <p:spPr>
          <a:xfrm>
            <a:off x="8321040" y="1737360"/>
            <a:ext cx="3017520" cy="36576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A line and a point</a:t>
            </a:r>
            <a:endParaRPr lang="en-US" sz="1600" dirty="0"/>
          </a:p>
        </p:txBody>
      </p:sp>
      <p:sp>
        <p:nvSpPr>
          <p:cNvPr id="18" name="Text 15"/>
          <p:cNvSpPr txBox="1"/>
          <p:nvPr/>
        </p:nvSpPr>
        <p:spPr>
          <a:xfrm>
            <a:off x="8321040" y="2240280"/>
            <a:ext cx="3108960" cy="73152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y = −2x + 7,   point (4, −3)</a:t>
            </a:r>
            <a:endParaRPr lang="en-US" sz="1900" dirty="0"/>
          </a:p>
        </p:txBody>
      </p:sp>
      <p:sp>
        <p:nvSpPr>
          <p:cNvPr id="19" name="Text 16"/>
          <p:cNvSpPr txBox="1"/>
          <p:nvPr/>
        </p:nvSpPr>
        <p:spPr>
          <a:xfrm>
            <a:off x="8321040" y="3200400"/>
            <a:ext cx="3017520" cy="2468880"/>
          </a:xfrm>
          <a:prstGeom prst="rect">
            <a:avLst/>
          </a:prstGeom>
          <a:noFill/>
          <a:ln/>
        </p:spPr>
        <p:txBody>
          <a:bodyPr wrap="square" lIns="0" tIns="0" rIns="0" bIns="0" rtlCol="0" anchor="t"/>
          <a:lstStyle/>
          <a:p>
            <a:pPr indent="0" marL="0">
              <a:spcAft>
                <a:spcPts val="1400"/>
              </a:spcAft>
              <a:buNone/>
            </a:pPr>
            <a:r>
              <a:rPr lang="en-US" sz="1600" dirty="0">
                <a:solidFill>
                  <a:srgbClr val="11344E"/>
                </a:solidFill>
                <a:latin typeface="Arial" pitchFamily="34" charset="0"/>
                <a:ea typeface="Arial" pitchFamily="34" charset="-122"/>
                <a:cs typeface="Arial" pitchFamily="34" charset="-120"/>
              </a:rPr>
              <a:t>5.  Parallel line through the point</a:t>
            </a:r>
            <a:endParaRPr lang="en-US" sz="1600" dirty="0"/>
          </a:p>
          <a:p>
            <a:pPr indent="0" marL="0">
              <a:spcAft>
                <a:spcPts val="1400"/>
              </a:spcAft>
              <a:buNone/>
            </a:pPr>
            <a:r>
              <a:rPr lang="en-US" sz="1600" dirty="0">
                <a:solidFill>
                  <a:srgbClr val="11344E"/>
                </a:solidFill>
                <a:latin typeface="Arial" pitchFamily="34" charset="0"/>
                <a:ea typeface="Arial" pitchFamily="34" charset="-122"/>
                <a:cs typeface="Arial" pitchFamily="34" charset="-120"/>
              </a:rPr>
              <a:t>6.  Perpendicular line through the point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D: solutions for P and Q</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Average for the midpoint; subtract and square for the distance</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18</a:t>
            </a:r>
            <a:endParaRPr lang="en-US" sz="800" dirty="0"/>
          </a:p>
        </p:txBody>
      </p:sp>
      <p:sp>
        <p:nvSpPr>
          <p:cNvPr id="6" name="Text 3"/>
          <p:cNvSpPr txBox="1"/>
          <p:nvPr/>
        </p:nvSpPr>
        <p:spPr>
          <a:xfrm>
            <a:off x="548640" y="1691640"/>
            <a:ext cx="1463040" cy="41148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1.   M =  (</a:t>
            </a:r>
            <a:endParaRPr lang="en-US" sz="1900" dirty="0"/>
          </a:p>
        </p:txBody>
      </p:sp>
      <p:sp>
        <p:nvSpPr>
          <p:cNvPr id="7" name="Text 4"/>
          <p:cNvSpPr txBox="1"/>
          <p:nvPr/>
        </p:nvSpPr>
        <p:spPr>
          <a:xfrm>
            <a:off x="1783080" y="1481328"/>
            <a:ext cx="960120" cy="313690"/>
          </a:xfrm>
          <a:prstGeom prst="rect">
            <a:avLst/>
          </a:prstGeom>
          <a:noFill/>
          <a:ln/>
        </p:spPr>
        <p:txBody>
          <a:bodyPr wrap="square" lIns="0" tIns="0" rIns="0" bIns="0" rtlCol="0" anchor="b"/>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−2 + 6</a:t>
            </a:r>
            <a:endParaRPr lang="en-US" sz="1900" dirty="0"/>
          </a:p>
        </p:txBody>
      </p:sp>
      <p:sp>
        <p:nvSpPr>
          <p:cNvPr id="8" name="Shape 5"/>
          <p:cNvSpPr/>
          <p:nvPr/>
        </p:nvSpPr>
        <p:spPr>
          <a:xfrm>
            <a:off x="1828800" y="1822450"/>
            <a:ext cx="868680" cy="0"/>
          </a:xfrm>
          <a:prstGeom prst="line">
            <a:avLst/>
          </a:prstGeom>
          <a:noFill/>
          <a:ln w="12700">
            <a:solidFill>
              <a:srgbClr val="11344E"/>
            </a:solidFill>
            <a:prstDash val="solid"/>
          </a:ln>
        </p:spPr>
      </p:sp>
      <p:sp>
        <p:nvSpPr>
          <p:cNvPr id="9" name="Text 6"/>
          <p:cNvSpPr txBox="1"/>
          <p:nvPr/>
        </p:nvSpPr>
        <p:spPr>
          <a:xfrm>
            <a:off x="1783080" y="1859026"/>
            <a:ext cx="960120" cy="313690"/>
          </a:xfrm>
          <a:prstGeom prst="rect">
            <a:avLst/>
          </a:prstGeom>
          <a:noFill/>
          <a:ln/>
        </p:spPr>
        <p:txBody>
          <a:bodyPr wrap="square" lIns="0" tIns="0" rIns="0" bIns="0" rtlCol="0" anchor="t"/>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2</a:t>
            </a:r>
            <a:endParaRPr lang="en-US" sz="1900" dirty="0"/>
          </a:p>
        </p:txBody>
      </p:sp>
      <p:sp>
        <p:nvSpPr>
          <p:cNvPr id="10" name="Text 7"/>
          <p:cNvSpPr txBox="1"/>
          <p:nvPr/>
        </p:nvSpPr>
        <p:spPr>
          <a:xfrm>
            <a:off x="2743200" y="1691640"/>
            <a:ext cx="182880" cy="41148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a:t>
            </a:r>
            <a:endParaRPr lang="en-US" sz="1900" dirty="0"/>
          </a:p>
        </p:txBody>
      </p:sp>
      <p:sp>
        <p:nvSpPr>
          <p:cNvPr id="11" name="Text 8"/>
          <p:cNvSpPr txBox="1"/>
          <p:nvPr/>
        </p:nvSpPr>
        <p:spPr>
          <a:xfrm>
            <a:off x="2926080" y="1481328"/>
            <a:ext cx="1097280" cy="313690"/>
          </a:xfrm>
          <a:prstGeom prst="rect">
            <a:avLst/>
          </a:prstGeom>
          <a:noFill/>
          <a:ln/>
        </p:spPr>
        <p:txBody>
          <a:bodyPr wrap="square" lIns="0" tIns="0" rIns="0" bIns="0" rtlCol="0" anchor="b"/>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5 + (−1)</a:t>
            </a:r>
            <a:endParaRPr lang="en-US" sz="1900" dirty="0"/>
          </a:p>
        </p:txBody>
      </p:sp>
      <p:sp>
        <p:nvSpPr>
          <p:cNvPr id="12" name="Shape 9"/>
          <p:cNvSpPr/>
          <p:nvPr/>
        </p:nvSpPr>
        <p:spPr>
          <a:xfrm>
            <a:off x="2971800" y="1822450"/>
            <a:ext cx="1005840" cy="0"/>
          </a:xfrm>
          <a:prstGeom prst="line">
            <a:avLst/>
          </a:prstGeom>
          <a:noFill/>
          <a:ln w="12700">
            <a:solidFill>
              <a:srgbClr val="11344E"/>
            </a:solidFill>
            <a:prstDash val="solid"/>
          </a:ln>
        </p:spPr>
      </p:sp>
      <p:sp>
        <p:nvSpPr>
          <p:cNvPr id="13" name="Text 10"/>
          <p:cNvSpPr txBox="1"/>
          <p:nvPr/>
        </p:nvSpPr>
        <p:spPr>
          <a:xfrm>
            <a:off x="2926080" y="1859026"/>
            <a:ext cx="1097280" cy="313690"/>
          </a:xfrm>
          <a:prstGeom prst="rect">
            <a:avLst/>
          </a:prstGeom>
          <a:noFill/>
          <a:ln/>
        </p:spPr>
        <p:txBody>
          <a:bodyPr wrap="square" lIns="0" tIns="0" rIns="0" bIns="0" rtlCol="0" anchor="t"/>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2</a:t>
            </a:r>
            <a:endParaRPr lang="en-US" sz="1900" dirty="0"/>
          </a:p>
        </p:txBody>
      </p:sp>
      <p:sp>
        <p:nvSpPr>
          <p:cNvPr id="14" name="Text 11"/>
          <p:cNvSpPr txBox="1"/>
          <p:nvPr/>
        </p:nvSpPr>
        <p:spPr>
          <a:xfrm>
            <a:off x="4069080" y="1691640"/>
            <a:ext cx="2286000" cy="41148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  = (2, 2)</a:t>
            </a:r>
            <a:endParaRPr lang="en-US" sz="1900" dirty="0"/>
          </a:p>
        </p:txBody>
      </p:sp>
      <p:sp>
        <p:nvSpPr>
          <p:cNvPr id="15" name="Text 12"/>
          <p:cNvSpPr txBox="1"/>
          <p:nvPr/>
        </p:nvSpPr>
        <p:spPr>
          <a:xfrm>
            <a:off x="548640" y="2514600"/>
            <a:ext cx="6766560" cy="41148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2.   d = √((6 − (−2))</a:t>
            </a:r>
            <a:pPr indent="0" marL="0">
              <a:buNone/>
            </a:pPr>
            <a:r>
              <a:rPr lang="en-US" sz="19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1900" dirty="0">
                <a:solidFill>
                  <a:srgbClr val="11344E"/>
                </a:solidFill>
                <a:latin typeface="Times New Roman" pitchFamily="34" charset="0"/>
                <a:ea typeface="Times New Roman" pitchFamily="34" charset="-122"/>
                <a:cs typeface="Times New Roman" pitchFamily="34" charset="-120"/>
              </a:rPr>
              <a:t> + (−1 − 5)</a:t>
            </a:r>
            <a:pPr indent="0" marL="0">
              <a:buNone/>
            </a:pPr>
            <a:r>
              <a:rPr lang="en-US" sz="19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1900" dirty="0">
                <a:solidFill>
                  <a:srgbClr val="11344E"/>
                </a:solidFill>
                <a:latin typeface="Times New Roman" pitchFamily="34" charset="0"/>
                <a:ea typeface="Times New Roman" pitchFamily="34" charset="-122"/>
                <a:cs typeface="Times New Roman" pitchFamily="34" charset="-120"/>
              </a:rPr>
              <a:t>) = √(8</a:t>
            </a:r>
            <a:pPr indent="0" marL="0">
              <a:buNone/>
            </a:pPr>
            <a:r>
              <a:rPr lang="en-US" sz="19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1900" dirty="0">
                <a:solidFill>
                  <a:srgbClr val="11344E"/>
                </a:solidFill>
                <a:latin typeface="Times New Roman" pitchFamily="34" charset="0"/>
                <a:ea typeface="Times New Roman" pitchFamily="34" charset="-122"/>
                <a:cs typeface="Times New Roman" pitchFamily="34" charset="-120"/>
              </a:rPr>
              <a:t> + (−6)</a:t>
            </a:r>
            <a:pPr indent="0" marL="0">
              <a:buNone/>
            </a:pPr>
            <a:r>
              <a:rPr lang="en-US" sz="19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1900" dirty="0">
                <a:solidFill>
                  <a:srgbClr val="11344E"/>
                </a:solidFill>
                <a:latin typeface="Times New Roman" pitchFamily="34" charset="0"/>
                <a:ea typeface="Times New Roman" pitchFamily="34" charset="-122"/>
                <a:cs typeface="Times New Roman" pitchFamily="34" charset="-120"/>
              </a:rPr>
              <a:t>) = √100 = 10</a:t>
            </a:r>
            <a:endParaRPr lang="en-US" sz="1900" dirty="0"/>
          </a:p>
        </p:txBody>
      </p:sp>
      <p:sp>
        <p:nvSpPr>
          <p:cNvPr id="16" name="Text 13"/>
          <p:cNvSpPr txBox="1"/>
          <p:nvPr/>
        </p:nvSpPr>
        <p:spPr>
          <a:xfrm>
            <a:off x="548640" y="3401568"/>
            <a:ext cx="1097280" cy="41148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3.   m =</a:t>
            </a:r>
            <a:endParaRPr lang="en-US" sz="1900" dirty="0"/>
          </a:p>
        </p:txBody>
      </p:sp>
      <p:sp>
        <p:nvSpPr>
          <p:cNvPr id="17" name="Text 14"/>
          <p:cNvSpPr txBox="1"/>
          <p:nvPr/>
        </p:nvSpPr>
        <p:spPr>
          <a:xfrm>
            <a:off x="1417320" y="3191256"/>
            <a:ext cx="1188720" cy="313690"/>
          </a:xfrm>
          <a:prstGeom prst="rect">
            <a:avLst/>
          </a:prstGeom>
          <a:noFill/>
          <a:ln/>
        </p:spPr>
        <p:txBody>
          <a:bodyPr wrap="square" lIns="0" tIns="0" rIns="0" bIns="0" rtlCol="0" anchor="b"/>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−1 − 5</a:t>
            </a:r>
            <a:endParaRPr lang="en-US" sz="1900" dirty="0"/>
          </a:p>
        </p:txBody>
      </p:sp>
      <p:sp>
        <p:nvSpPr>
          <p:cNvPr id="18" name="Shape 15"/>
          <p:cNvSpPr/>
          <p:nvPr/>
        </p:nvSpPr>
        <p:spPr>
          <a:xfrm>
            <a:off x="1463040" y="3532378"/>
            <a:ext cx="1097280" cy="0"/>
          </a:xfrm>
          <a:prstGeom prst="line">
            <a:avLst/>
          </a:prstGeom>
          <a:noFill/>
          <a:ln w="12700">
            <a:solidFill>
              <a:srgbClr val="11344E"/>
            </a:solidFill>
            <a:prstDash val="solid"/>
          </a:ln>
        </p:spPr>
      </p:sp>
      <p:sp>
        <p:nvSpPr>
          <p:cNvPr id="19" name="Text 16"/>
          <p:cNvSpPr txBox="1"/>
          <p:nvPr/>
        </p:nvSpPr>
        <p:spPr>
          <a:xfrm>
            <a:off x="1417320" y="3568954"/>
            <a:ext cx="1188720" cy="313690"/>
          </a:xfrm>
          <a:prstGeom prst="rect">
            <a:avLst/>
          </a:prstGeom>
          <a:noFill/>
          <a:ln/>
        </p:spPr>
        <p:txBody>
          <a:bodyPr wrap="square" lIns="0" tIns="0" rIns="0" bIns="0" rtlCol="0" anchor="t"/>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6 − (−2)</a:t>
            </a:r>
            <a:endParaRPr lang="en-US" sz="1900" dirty="0"/>
          </a:p>
        </p:txBody>
      </p:sp>
      <p:sp>
        <p:nvSpPr>
          <p:cNvPr id="20" name="Text 17"/>
          <p:cNvSpPr txBox="1"/>
          <p:nvPr/>
        </p:nvSpPr>
        <p:spPr>
          <a:xfrm>
            <a:off x="2606040" y="3401568"/>
            <a:ext cx="320040" cy="411480"/>
          </a:xfrm>
          <a:prstGeom prst="rect">
            <a:avLst/>
          </a:prstGeom>
          <a:noFill/>
          <a:ln/>
        </p:spPr>
        <p:txBody>
          <a:bodyPr wrap="square" lIns="0" tIns="0" rIns="0" bIns="0" rtlCol="0" anchor="t"/>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a:t>
            </a:r>
            <a:endParaRPr lang="en-US" sz="1900" dirty="0"/>
          </a:p>
        </p:txBody>
      </p:sp>
      <p:sp>
        <p:nvSpPr>
          <p:cNvPr id="21" name="Text 18"/>
          <p:cNvSpPr txBox="1"/>
          <p:nvPr/>
        </p:nvSpPr>
        <p:spPr>
          <a:xfrm>
            <a:off x="2926080" y="3191256"/>
            <a:ext cx="548640" cy="313690"/>
          </a:xfrm>
          <a:prstGeom prst="rect">
            <a:avLst/>
          </a:prstGeom>
          <a:noFill/>
          <a:ln/>
        </p:spPr>
        <p:txBody>
          <a:bodyPr wrap="square" lIns="0" tIns="0" rIns="0" bIns="0" rtlCol="0" anchor="b"/>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−6</a:t>
            </a:r>
            <a:endParaRPr lang="en-US" sz="1900" dirty="0"/>
          </a:p>
        </p:txBody>
      </p:sp>
      <p:sp>
        <p:nvSpPr>
          <p:cNvPr id="22" name="Shape 19"/>
          <p:cNvSpPr/>
          <p:nvPr/>
        </p:nvSpPr>
        <p:spPr>
          <a:xfrm>
            <a:off x="2971800" y="3532378"/>
            <a:ext cx="457200" cy="0"/>
          </a:xfrm>
          <a:prstGeom prst="line">
            <a:avLst/>
          </a:prstGeom>
          <a:noFill/>
          <a:ln w="12700">
            <a:solidFill>
              <a:srgbClr val="11344E"/>
            </a:solidFill>
            <a:prstDash val="solid"/>
          </a:ln>
        </p:spPr>
      </p:sp>
      <p:sp>
        <p:nvSpPr>
          <p:cNvPr id="23" name="Text 20"/>
          <p:cNvSpPr txBox="1"/>
          <p:nvPr/>
        </p:nvSpPr>
        <p:spPr>
          <a:xfrm>
            <a:off x="2926080" y="3568954"/>
            <a:ext cx="548640" cy="313690"/>
          </a:xfrm>
          <a:prstGeom prst="rect">
            <a:avLst/>
          </a:prstGeom>
          <a:noFill/>
          <a:ln/>
        </p:spPr>
        <p:txBody>
          <a:bodyPr wrap="square" lIns="0" tIns="0" rIns="0" bIns="0" rtlCol="0" anchor="t"/>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8</a:t>
            </a:r>
            <a:endParaRPr lang="en-US" sz="1900" dirty="0"/>
          </a:p>
        </p:txBody>
      </p:sp>
      <p:sp>
        <p:nvSpPr>
          <p:cNvPr id="24" name="Text 21"/>
          <p:cNvSpPr txBox="1"/>
          <p:nvPr/>
        </p:nvSpPr>
        <p:spPr>
          <a:xfrm>
            <a:off x="3520440" y="3401568"/>
            <a:ext cx="548640" cy="41148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  −</a:t>
            </a:r>
            <a:endParaRPr lang="en-US" sz="1900" dirty="0"/>
          </a:p>
        </p:txBody>
      </p:sp>
      <p:sp>
        <p:nvSpPr>
          <p:cNvPr id="25" name="Text 22"/>
          <p:cNvSpPr txBox="1"/>
          <p:nvPr/>
        </p:nvSpPr>
        <p:spPr>
          <a:xfrm>
            <a:off x="4023360" y="3191256"/>
            <a:ext cx="411480" cy="313690"/>
          </a:xfrm>
          <a:prstGeom prst="rect">
            <a:avLst/>
          </a:prstGeom>
          <a:noFill/>
          <a:ln/>
        </p:spPr>
        <p:txBody>
          <a:bodyPr wrap="square" lIns="0" tIns="0" rIns="0" bIns="0" rtlCol="0" anchor="b"/>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3</a:t>
            </a:r>
            <a:endParaRPr lang="en-US" sz="1900" dirty="0"/>
          </a:p>
        </p:txBody>
      </p:sp>
      <p:sp>
        <p:nvSpPr>
          <p:cNvPr id="26" name="Shape 23"/>
          <p:cNvSpPr/>
          <p:nvPr/>
        </p:nvSpPr>
        <p:spPr>
          <a:xfrm>
            <a:off x="4069080" y="3532378"/>
            <a:ext cx="320040" cy="0"/>
          </a:xfrm>
          <a:prstGeom prst="line">
            <a:avLst/>
          </a:prstGeom>
          <a:noFill/>
          <a:ln w="12700">
            <a:solidFill>
              <a:srgbClr val="11344E"/>
            </a:solidFill>
            <a:prstDash val="solid"/>
          </a:ln>
        </p:spPr>
      </p:sp>
      <p:sp>
        <p:nvSpPr>
          <p:cNvPr id="27" name="Text 24"/>
          <p:cNvSpPr txBox="1"/>
          <p:nvPr/>
        </p:nvSpPr>
        <p:spPr>
          <a:xfrm>
            <a:off x="4023360" y="3568954"/>
            <a:ext cx="411480" cy="313690"/>
          </a:xfrm>
          <a:prstGeom prst="rect">
            <a:avLst/>
          </a:prstGeom>
          <a:noFill/>
          <a:ln/>
        </p:spPr>
        <p:txBody>
          <a:bodyPr wrap="square" lIns="0" tIns="0" rIns="0" bIns="0" rtlCol="0" anchor="t"/>
          <a:lstStyle/>
          <a:p>
            <a:pPr algn="ctr" indent="0" marL="0">
              <a:buNone/>
            </a:pPr>
            <a:r>
              <a:rPr lang="en-US" sz="1900" dirty="0">
                <a:solidFill>
                  <a:srgbClr val="11344E"/>
                </a:solidFill>
                <a:latin typeface="Times New Roman" pitchFamily="34" charset="0"/>
                <a:ea typeface="Times New Roman" pitchFamily="34" charset="-122"/>
                <a:cs typeface="Times New Roman" pitchFamily="34" charset="-120"/>
              </a:rPr>
              <a:t>4</a:t>
            </a:r>
            <a:endParaRPr lang="en-US" sz="1900" dirty="0"/>
          </a:p>
        </p:txBody>
      </p:sp>
      <p:sp>
        <p:nvSpPr>
          <p:cNvPr id="28" name="Text 25"/>
          <p:cNvSpPr txBox="1"/>
          <p:nvPr/>
        </p:nvSpPr>
        <p:spPr>
          <a:xfrm>
            <a:off x="548640" y="4114800"/>
            <a:ext cx="6583680" cy="411480"/>
          </a:xfrm>
          <a:prstGeom prst="rect">
            <a:avLst/>
          </a:prstGeom>
          <a:noFill/>
          <a:ln/>
        </p:spPr>
        <p:txBody>
          <a:bodyPr wrap="square" lIns="0" tIns="0" rIns="0" bIns="0" rtlCol="0" anchor="t"/>
          <a:lstStyle/>
          <a:p>
            <a:pPr indent="0" marL="0">
              <a:buNone/>
            </a:pPr>
            <a:r>
              <a:rPr lang="en-US" sz="1900" dirty="0">
                <a:solidFill>
                  <a:srgbClr val="11344E"/>
                </a:solidFill>
                <a:latin typeface="Times New Roman" pitchFamily="34" charset="0"/>
                <a:ea typeface="Times New Roman" pitchFamily="34" charset="-122"/>
                <a:cs typeface="Times New Roman" pitchFamily="34" charset="-120"/>
              </a:rPr>
              <a:t>      y − 5 = −(3/4)(x + 2)</a:t>
            </a:r>
            <a:endParaRPr lang="en-US" sz="1900" dirty="0"/>
          </a:p>
        </p:txBody>
      </p:sp>
      <p:sp>
        <p:nvSpPr>
          <p:cNvPr id="29" name="Text 26"/>
          <p:cNvSpPr txBox="1"/>
          <p:nvPr/>
        </p:nvSpPr>
        <p:spPr>
          <a:xfrm>
            <a:off x="548640" y="4617720"/>
            <a:ext cx="6583680" cy="411480"/>
          </a:xfrm>
          <a:prstGeom prst="rect">
            <a:avLst/>
          </a:prstGeom>
          <a:noFill/>
          <a:ln/>
        </p:spPr>
        <p:txBody>
          <a:bodyPr wrap="square" lIns="0" tIns="0" rIns="0" bIns="0" rtlCol="0" anchor="t"/>
          <a:lstStyle/>
          <a:p>
            <a:pPr indent="0" marL="0">
              <a:buNone/>
            </a:pPr>
            <a:r>
              <a:rPr lang="en-US" sz="1900" b="1" dirty="0">
                <a:solidFill>
                  <a:srgbClr val="1777B4"/>
                </a:solidFill>
                <a:latin typeface="Times New Roman" pitchFamily="34" charset="0"/>
                <a:ea typeface="Times New Roman" pitchFamily="34" charset="-122"/>
                <a:cs typeface="Times New Roman" pitchFamily="34" charset="-120"/>
              </a:rPr>
              <a:t>      y = −(3/4)x + 7/2</a:t>
            </a:r>
            <a:endParaRPr lang="en-US" sz="1900" dirty="0"/>
          </a:p>
        </p:txBody>
      </p:sp>
      <p:sp>
        <p:nvSpPr>
          <p:cNvPr id="30" name="Shape 27"/>
          <p:cNvSpPr/>
          <p:nvPr/>
        </p:nvSpPr>
        <p:spPr>
          <a:xfrm>
            <a:off x="548640" y="5257800"/>
            <a:ext cx="6583680" cy="731520"/>
          </a:xfrm>
          <a:prstGeom prst="roundRect">
            <a:avLst>
              <a:gd name="adj" fmla="val 10000"/>
            </a:avLst>
          </a:prstGeom>
          <a:solidFill>
            <a:srgbClr val="EEF4F9"/>
          </a:solidFill>
          <a:ln w="12700">
            <a:solidFill>
              <a:srgbClr val="EEF4F9"/>
            </a:solidFill>
            <a:prstDash val="solid"/>
          </a:ln>
        </p:spPr>
      </p:sp>
      <p:sp>
        <p:nvSpPr>
          <p:cNvPr id="31" name="Text 28"/>
          <p:cNvSpPr txBox="1"/>
          <p:nvPr/>
        </p:nvSpPr>
        <p:spPr>
          <a:xfrm>
            <a:off x="777240" y="5257800"/>
            <a:ext cx="6217920" cy="731520"/>
          </a:xfrm>
          <a:prstGeom prst="rect">
            <a:avLst/>
          </a:prstGeom>
          <a:noFill/>
          <a:ln/>
        </p:spPr>
        <p:txBody>
          <a:bodyPr wrap="square" lIns="0" tIns="0" rIns="0" bIns="0" rtlCol="0" anchor="ctr"/>
          <a:lstStyle/>
          <a:p>
            <a:pPr indent="0" marL="0">
              <a:buNone/>
            </a:pPr>
            <a:r>
              <a:rPr lang="en-US" sz="1500" dirty="0">
                <a:solidFill>
                  <a:srgbClr val="11344E"/>
                </a:solidFill>
                <a:latin typeface="Arial" pitchFamily="34" charset="0"/>
                <a:ea typeface="Arial" pitchFamily="34" charset="-122"/>
                <a:cs typeface="Arial" pitchFamily="34" charset="-120"/>
              </a:rPr>
              <a:t>Check with Q(6, −1):  −(3/4)(6) + 7/2 = −9/2 + 7/2 = −1  ✓</a:t>
            </a:r>
            <a:endParaRPr lang="en-US" sz="1500" dirty="0"/>
          </a:p>
        </p:txBody>
      </p:sp>
      <p:sp>
        <p:nvSpPr>
          <p:cNvPr id="32" name="Shape 29"/>
          <p:cNvSpPr/>
          <p:nvPr/>
        </p:nvSpPr>
        <p:spPr>
          <a:xfrm>
            <a:off x="7589520" y="1554480"/>
            <a:ext cx="91" cy="3931920"/>
          </a:xfrm>
          <a:prstGeom prst="line">
            <a:avLst/>
          </a:prstGeom>
          <a:noFill/>
          <a:ln w="6350">
            <a:solidFill>
              <a:srgbClr val="DCE3E8"/>
            </a:solidFill>
            <a:prstDash val="solid"/>
          </a:ln>
        </p:spPr>
      </p:sp>
      <p:sp>
        <p:nvSpPr>
          <p:cNvPr id="33" name="Shape 30"/>
          <p:cNvSpPr/>
          <p:nvPr/>
        </p:nvSpPr>
        <p:spPr>
          <a:xfrm>
            <a:off x="7946967" y="1554480"/>
            <a:ext cx="91" cy="3931920"/>
          </a:xfrm>
          <a:prstGeom prst="line">
            <a:avLst/>
          </a:prstGeom>
          <a:noFill/>
          <a:ln w="6350">
            <a:solidFill>
              <a:srgbClr val="DCE3E8"/>
            </a:solidFill>
            <a:prstDash val="solid"/>
          </a:ln>
        </p:spPr>
      </p:sp>
      <p:sp>
        <p:nvSpPr>
          <p:cNvPr id="34" name="Shape 31"/>
          <p:cNvSpPr/>
          <p:nvPr/>
        </p:nvSpPr>
        <p:spPr>
          <a:xfrm>
            <a:off x="8304415" y="1554480"/>
            <a:ext cx="91" cy="3931920"/>
          </a:xfrm>
          <a:prstGeom prst="line">
            <a:avLst/>
          </a:prstGeom>
          <a:noFill/>
          <a:ln w="6350">
            <a:solidFill>
              <a:srgbClr val="DCE3E8"/>
            </a:solidFill>
            <a:prstDash val="solid"/>
          </a:ln>
        </p:spPr>
      </p:sp>
      <p:sp>
        <p:nvSpPr>
          <p:cNvPr id="35" name="Shape 32"/>
          <p:cNvSpPr/>
          <p:nvPr/>
        </p:nvSpPr>
        <p:spPr>
          <a:xfrm>
            <a:off x="8661862" y="1554480"/>
            <a:ext cx="91" cy="3931920"/>
          </a:xfrm>
          <a:prstGeom prst="line">
            <a:avLst/>
          </a:prstGeom>
          <a:noFill/>
          <a:ln w="6350">
            <a:solidFill>
              <a:srgbClr val="DCE3E8"/>
            </a:solidFill>
            <a:prstDash val="solid"/>
          </a:ln>
        </p:spPr>
      </p:sp>
      <p:sp>
        <p:nvSpPr>
          <p:cNvPr id="36" name="Shape 33"/>
          <p:cNvSpPr/>
          <p:nvPr/>
        </p:nvSpPr>
        <p:spPr>
          <a:xfrm>
            <a:off x="9019309" y="1554480"/>
            <a:ext cx="91" cy="3931920"/>
          </a:xfrm>
          <a:prstGeom prst="line">
            <a:avLst/>
          </a:prstGeom>
          <a:noFill/>
          <a:ln w="6350">
            <a:solidFill>
              <a:srgbClr val="DCE3E8"/>
            </a:solidFill>
            <a:prstDash val="solid"/>
          </a:ln>
        </p:spPr>
      </p:sp>
      <p:sp>
        <p:nvSpPr>
          <p:cNvPr id="37" name="Shape 34"/>
          <p:cNvSpPr/>
          <p:nvPr/>
        </p:nvSpPr>
        <p:spPr>
          <a:xfrm>
            <a:off x="9376756" y="1554480"/>
            <a:ext cx="91" cy="3931920"/>
          </a:xfrm>
          <a:prstGeom prst="line">
            <a:avLst/>
          </a:prstGeom>
          <a:noFill/>
          <a:ln w="6350">
            <a:solidFill>
              <a:srgbClr val="DCE3E8"/>
            </a:solidFill>
            <a:prstDash val="solid"/>
          </a:ln>
        </p:spPr>
      </p:sp>
      <p:sp>
        <p:nvSpPr>
          <p:cNvPr id="38" name="Shape 35"/>
          <p:cNvSpPr/>
          <p:nvPr/>
        </p:nvSpPr>
        <p:spPr>
          <a:xfrm>
            <a:off x="9734204" y="1554480"/>
            <a:ext cx="91" cy="3931920"/>
          </a:xfrm>
          <a:prstGeom prst="line">
            <a:avLst/>
          </a:prstGeom>
          <a:noFill/>
          <a:ln w="6350">
            <a:solidFill>
              <a:srgbClr val="DCE3E8"/>
            </a:solidFill>
            <a:prstDash val="solid"/>
          </a:ln>
        </p:spPr>
      </p:sp>
      <p:sp>
        <p:nvSpPr>
          <p:cNvPr id="39" name="Shape 36"/>
          <p:cNvSpPr/>
          <p:nvPr/>
        </p:nvSpPr>
        <p:spPr>
          <a:xfrm>
            <a:off x="10091651" y="1554480"/>
            <a:ext cx="91" cy="3931920"/>
          </a:xfrm>
          <a:prstGeom prst="line">
            <a:avLst/>
          </a:prstGeom>
          <a:noFill/>
          <a:ln w="6350">
            <a:solidFill>
              <a:srgbClr val="DCE3E8"/>
            </a:solidFill>
            <a:prstDash val="solid"/>
          </a:ln>
        </p:spPr>
      </p:sp>
      <p:sp>
        <p:nvSpPr>
          <p:cNvPr id="40" name="Shape 37"/>
          <p:cNvSpPr/>
          <p:nvPr/>
        </p:nvSpPr>
        <p:spPr>
          <a:xfrm>
            <a:off x="10449098" y="1554480"/>
            <a:ext cx="91" cy="3931920"/>
          </a:xfrm>
          <a:prstGeom prst="line">
            <a:avLst/>
          </a:prstGeom>
          <a:noFill/>
          <a:ln w="6350">
            <a:solidFill>
              <a:srgbClr val="DCE3E8"/>
            </a:solidFill>
            <a:prstDash val="solid"/>
          </a:ln>
        </p:spPr>
      </p:sp>
      <p:sp>
        <p:nvSpPr>
          <p:cNvPr id="41" name="Shape 38"/>
          <p:cNvSpPr/>
          <p:nvPr/>
        </p:nvSpPr>
        <p:spPr>
          <a:xfrm>
            <a:off x="10806545" y="1554480"/>
            <a:ext cx="91" cy="3931920"/>
          </a:xfrm>
          <a:prstGeom prst="line">
            <a:avLst/>
          </a:prstGeom>
          <a:noFill/>
          <a:ln w="6350">
            <a:solidFill>
              <a:srgbClr val="DCE3E8"/>
            </a:solidFill>
            <a:prstDash val="solid"/>
          </a:ln>
        </p:spPr>
      </p:sp>
      <p:sp>
        <p:nvSpPr>
          <p:cNvPr id="42" name="Shape 39"/>
          <p:cNvSpPr/>
          <p:nvPr/>
        </p:nvSpPr>
        <p:spPr>
          <a:xfrm>
            <a:off x="11163993" y="1554480"/>
            <a:ext cx="91" cy="3931920"/>
          </a:xfrm>
          <a:prstGeom prst="line">
            <a:avLst/>
          </a:prstGeom>
          <a:noFill/>
          <a:ln w="6350">
            <a:solidFill>
              <a:srgbClr val="DCE3E8"/>
            </a:solidFill>
            <a:prstDash val="solid"/>
          </a:ln>
        </p:spPr>
      </p:sp>
      <p:sp>
        <p:nvSpPr>
          <p:cNvPr id="43" name="Shape 40"/>
          <p:cNvSpPr/>
          <p:nvPr/>
        </p:nvSpPr>
        <p:spPr>
          <a:xfrm>
            <a:off x="11521440" y="1554480"/>
            <a:ext cx="91" cy="3931920"/>
          </a:xfrm>
          <a:prstGeom prst="line">
            <a:avLst/>
          </a:prstGeom>
          <a:noFill/>
          <a:ln w="6350">
            <a:solidFill>
              <a:srgbClr val="DCE3E8"/>
            </a:solidFill>
            <a:prstDash val="solid"/>
          </a:ln>
        </p:spPr>
      </p:sp>
      <p:sp>
        <p:nvSpPr>
          <p:cNvPr id="44" name="Shape 41"/>
          <p:cNvSpPr/>
          <p:nvPr/>
        </p:nvSpPr>
        <p:spPr>
          <a:xfrm>
            <a:off x="7589520" y="5486400"/>
            <a:ext cx="3931920" cy="91"/>
          </a:xfrm>
          <a:prstGeom prst="line">
            <a:avLst/>
          </a:prstGeom>
          <a:noFill/>
          <a:ln w="6350">
            <a:solidFill>
              <a:srgbClr val="DCE3E8"/>
            </a:solidFill>
            <a:prstDash val="solid"/>
          </a:ln>
        </p:spPr>
      </p:sp>
      <p:sp>
        <p:nvSpPr>
          <p:cNvPr id="45" name="Shape 42"/>
          <p:cNvSpPr/>
          <p:nvPr/>
        </p:nvSpPr>
        <p:spPr>
          <a:xfrm>
            <a:off x="7589520" y="5128953"/>
            <a:ext cx="3931920" cy="91"/>
          </a:xfrm>
          <a:prstGeom prst="line">
            <a:avLst/>
          </a:prstGeom>
          <a:noFill/>
          <a:ln w="6350">
            <a:solidFill>
              <a:srgbClr val="DCE3E8"/>
            </a:solidFill>
            <a:prstDash val="solid"/>
          </a:ln>
        </p:spPr>
      </p:sp>
      <p:sp>
        <p:nvSpPr>
          <p:cNvPr id="46" name="Shape 43"/>
          <p:cNvSpPr/>
          <p:nvPr/>
        </p:nvSpPr>
        <p:spPr>
          <a:xfrm>
            <a:off x="7589520" y="4771505"/>
            <a:ext cx="3931920" cy="91"/>
          </a:xfrm>
          <a:prstGeom prst="line">
            <a:avLst/>
          </a:prstGeom>
          <a:noFill/>
          <a:ln w="6350">
            <a:solidFill>
              <a:srgbClr val="DCE3E8"/>
            </a:solidFill>
            <a:prstDash val="solid"/>
          </a:ln>
        </p:spPr>
      </p:sp>
      <p:sp>
        <p:nvSpPr>
          <p:cNvPr id="47" name="Shape 44"/>
          <p:cNvSpPr/>
          <p:nvPr/>
        </p:nvSpPr>
        <p:spPr>
          <a:xfrm>
            <a:off x="7589520" y="4414058"/>
            <a:ext cx="3931920" cy="91"/>
          </a:xfrm>
          <a:prstGeom prst="line">
            <a:avLst/>
          </a:prstGeom>
          <a:noFill/>
          <a:ln w="6350">
            <a:solidFill>
              <a:srgbClr val="DCE3E8"/>
            </a:solidFill>
            <a:prstDash val="solid"/>
          </a:ln>
        </p:spPr>
      </p:sp>
      <p:sp>
        <p:nvSpPr>
          <p:cNvPr id="48" name="Shape 45"/>
          <p:cNvSpPr/>
          <p:nvPr/>
        </p:nvSpPr>
        <p:spPr>
          <a:xfrm>
            <a:off x="7589520" y="4056611"/>
            <a:ext cx="3931920" cy="91"/>
          </a:xfrm>
          <a:prstGeom prst="line">
            <a:avLst/>
          </a:prstGeom>
          <a:noFill/>
          <a:ln w="6350">
            <a:solidFill>
              <a:srgbClr val="DCE3E8"/>
            </a:solidFill>
            <a:prstDash val="solid"/>
          </a:ln>
        </p:spPr>
      </p:sp>
      <p:sp>
        <p:nvSpPr>
          <p:cNvPr id="49" name="Shape 46"/>
          <p:cNvSpPr/>
          <p:nvPr/>
        </p:nvSpPr>
        <p:spPr>
          <a:xfrm>
            <a:off x="7589520" y="3699164"/>
            <a:ext cx="3931920" cy="91"/>
          </a:xfrm>
          <a:prstGeom prst="line">
            <a:avLst/>
          </a:prstGeom>
          <a:noFill/>
          <a:ln w="6350">
            <a:solidFill>
              <a:srgbClr val="DCE3E8"/>
            </a:solidFill>
            <a:prstDash val="solid"/>
          </a:ln>
        </p:spPr>
      </p:sp>
      <p:sp>
        <p:nvSpPr>
          <p:cNvPr id="50" name="Shape 47"/>
          <p:cNvSpPr/>
          <p:nvPr/>
        </p:nvSpPr>
        <p:spPr>
          <a:xfrm>
            <a:off x="7589520" y="3341716"/>
            <a:ext cx="3931920" cy="91"/>
          </a:xfrm>
          <a:prstGeom prst="line">
            <a:avLst/>
          </a:prstGeom>
          <a:noFill/>
          <a:ln w="6350">
            <a:solidFill>
              <a:srgbClr val="DCE3E8"/>
            </a:solidFill>
            <a:prstDash val="solid"/>
          </a:ln>
        </p:spPr>
      </p:sp>
      <p:sp>
        <p:nvSpPr>
          <p:cNvPr id="51" name="Shape 48"/>
          <p:cNvSpPr/>
          <p:nvPr/>
        </p:nvSpPr>
        <p:spPr>
          <a:xfrm>
            <a:off x="7589520" y="2984269"/>
            <a:ext cx="3931920" cy="91"/>
          </a:xfrm>
          <a:prstGeom prst="line">
            <a:avLst/>
          </a:prstGeom>
          <a:noFill/>
          <a:ln w="6350">
            <a:solidFill>
              <a:srgbClr val="DCE3E8"/>
            </a:solidFill>
            <a:prstDash val="solid"/>
          </a:ln>
        </p:spPr>
      </p:sp>
      <p:sp>
        <p:nvSpPr>
          <p:cNvPr id="52" name="Shape 49"/>
          <p:cNvSpPr/>
          <p:nvPr/>
        </p:nvSpPr>
        <p:spPr>
          <a:xfrm>
            <a:off x="7589520" y="2626822"/>
            <a:ext cx="3931920" cy="91"/>
          </a:xfrm>
          <a:prstGeom prst="line">
            <a:avLst/>
          </a:prstGeom>
          <a:noFill/>
          <a:ln w="6350">
            <a:solidFill>
              <a:srgbClr val="DCE3E8"/>
            </a:solidFill>
            <a:prstDash val="solid"/>
          </a:ln>
        </p:spPr>
      </p:sp>
      <p:sp>
        <p:nvSpPr>
          <p:cNvPr id="53" name="Shape 50"/>
          <p:cNvSpPr/>
          <p:nvPr/>
        </p:nvSpPr>
        <p:spPr>
          <a:xfrm>
            <a:off x="7589520" y="2269375"/>
            <a:ext cx="3931920" cy="91"/>
          </a:xfrm>
          <a:prstGeom prst="line">
            <a:avLst/>
          </a:prstGeom>
          <a:noFill/>
          <a:ln w="6350">
            <a:solidFill>
              <a:srgbClr val="DCE3E8"/>
            </a:solidFill>
            <a:prstDash val="solid"/>
          </a:ln>
        </p:spPr>
      </p:sp>
      <p:sp>
        <p:nvSpPr>
          <p:cNvPr id="54" name="Shape 51"/>
          <p:cNvSpPr/>
          <p:nvPr/>
        </p:nvSpPr>
        <p:spPr>
          <a:xfrm>
            <a:off x="7589520" y="1911927"/>
            <a:ext cx="3931920" cy="91"/>
          </a:xfrm>
          <a:prstGeom prst="line">
            <a:avLst/>
          </a:prstGeom>
          <a:noFill/>
          <a:ln w="6350">
            <a:solidFill>
              <a:srgbClr val="DCE3E8"/>
            </a:solidFill>
            <a:prstDash val="solid"/>
          </a:ln>
        </p:spPr>
      </p:sp>
      <p:sp>
        <p:nvSpPr>
          <p:cNvPr id="55" name="Shape 52"/>
          <p:cNvSpPr/>
          <p:nvPr/>
        </p:nvSpPr>
        <p:spPr>
          <a:xfrm>
            <a:off x="7589520" y="1554480"/>
            <a:ext cx="3931920" cy="91"/>
          </a:xfrm>
          <a:prstGeom prst="line">
            <a:avLst/>
          </a:prstGeom>
          <a:noFill/>
          <a:ln w="6350">
            <a:solidFill>
              <a:srgbClr val="DCE3E8"/>
            </a:solidFill>
            <a:prstDash val="solid"/>
          </a:ln>
        </p:spPr>
      </p:sp>
      <p:sp>
        <p:nvSpPr>
          <p:cNvPr id="56" name="Shape 53"/>
          <p:cNvSpPr/>
          <p:nvPr/>
        </p:nvSpPr>
        <p:spPr>
          <a:xfrm>
            <a:off x="8661862" y="1554480"/>
            <a:ext cx="91" cy="3931920"/>
          </a:xfrm>
          <a:prstGeom prst="line">
            <a:avLst/>
          </a:prstGeom>
          <a:noFill/>
          <a:ln w="12700">
            <a:solidFill>
              <a:srgbClr val="5B6B75"/>
            </a:solidFill>
            <a:prstDash val="solid"/>
          </a:ln>
        </p:spPr>
      </p:sp>
      <p:sp>
        <p:nvSpPr>
          <p:cNvPr id="57" name="Shape 54"/>
          <p:cNvSpPr/>
          <p:nvPr/>
        </p:nvSpPr>
        <p:spPr>
          <a:xfrm>
            <a:off x="7589520" y="4414058"/>
            <a:ext cx="3931920" cy="91"/>
          </a:xfrm>
          <a:prstGeom prst="line">
            <a:avLst/>
          </a:prstGeom>
          <a:noFill/>
          <a:ln w="12700">
            <a:solidFill>
              <a:srgbClr val="5B6B75"/>
            </a:solidFill>
            <a:prstDash val="solid"/>
          </a:ln>
        </p:spPr>
      </p:sp>
      <p:sp>
        <p:nvSpPr>
          <p:cNvPr id="58" name="Text 55"/>
          <p:cNvSpPr txBox="1"/>
          <p:nvPr/>
        </p:nvSpPr>
        <p:spPr>
          <a:xfrm>
            <a:off x="7764087" y="4450634"/>
            <a:ext cx="365760" cy="182880"/>
          </a:xfrm>
          <a:prstGeom prst="rect">
            <a:avLst/>
          </a:prstGeom>
          <a:noFill/>
          <a:ln/>
        </p:spPr>
        <p:txBody>
          <a:bodyPr wrap="square" lIns="0" tIns="0" rIns="0" bIns="0" rtlCol="0" anchor="t"/>
          <a:lstStyle/>
          <a:p>
            <a:pPr algn="ctr" indent="0" marL="0">
              <a:buNone/>
            </a:pPr>
            <a:r>
              <a:rPr lang="en-US" sz="800" dirty="0">
                <a:solidFill>
                  <a:srgbClr val="687783"/>
                </a:solidFill>
                <a:latin typeface="Arial" pitchFamily="34" charset="0"/>
                <a:ea typeface="Arial" pitchFamily="34" charset="-122"/>
                <a:cs typeface="Arial" pitchFamily="34" charset="-120"/>
              </a:rPr>
              <a:t>−2</a:t>
            </a:r>
            <a:endParaRPr lang="en-US" sz="800" dirty="0"/>
          </a:p>
        </p:txBody>
      </p:sp>
      <p:sp>
        <p:nvSpPr>
          <p:cNvPr id="59" name="Text 56"/>
          <p:cNvSpPr txBox="1"/>
          <p:nvPr/>
        </p:nvSpPr>
        <p:spPr>
          <a:xfrm>
            <a:off x="9193876" y="4450634"/>
            <a:ext cx="365760" cy="182880"/>
          </a:xfrm>
          <a:prstGeom prst="rect">
            <a:avLst/>
          </a:prstGeom>
          <a:noFill/>
          <a:ln/>
        </p:spPr>
        <p:txBody>
          <a:bodyPr wrap="square" lIns="0" tIns="0" rIns="0" bIns="0" rtlCol="0" anchor="t"/>
          <a:lstStyle/>
          <a:p>
            <a:pPr algn="ctr" indent="0" marL="0">
              <a:buNone/>
            </a:pPr>
            <a:r>
              <a:rPr lang="en-US" sz="800" dirty="0">
                <a:solidFill>
                  <a:srgbClr val="687783"/>
                </a:solidFill>
                <a:latin typeface="Arial" pitchFamily="34" charset="0"/>
                <a:ea typeface="Arial" pitchFamily="34" charset="-122"/>
                <a:cs typeface="Arial" pitchFamily="34" charset="-120"/>
              </a:rPr>
              <a:t>2</a:t>
            </a:r>
            <a:endParaRPr lang="en-US" sz="800" dirty="0"/>
          </a:p>
        </p:txBody>
      </p:sp>
      <p:sp>
        <p:nvSpPr>
          <p:cNvPr id="60" name="Text 57"/>
          <p:cNvSpPr txBox="1"/>
          <p:nvPr/>
        </p:nvSpPr>
        <p:spPr>
          <a:xfrm>
            <a:off x="9908771" y="4450634"/>
            <a:ext cx="365760" cy="182880"/>
          </a:xfrm>
          <a:prstGeom prst="rect">
            <a:avLst/>
          </a:prstGeom>
          <a:noFill/>
          <a:ln/>
        </p:spPr>
        <p:txBody>
          <a:bodyPr wrap="square" lIns="0" tIns="0" rIns="0" bIns="0" rtlCol="0" anchor="t"/>
          <a:lstStyle/>
          <a:p>
            <a:pPr algn="ctr" indent="0" marL="0">
              <a:buNone/>
            </a:pPr>
            <a:r>
              <a:rPr lang="en-US" sz="800" dirty="0">
                <a:solidFill>
                  <a:srgbClr val="687783"/>
                </a:solidFill>
                <a:latin typeface="Arial" pitchFamily="34" charset="0"/>
                <a:ea typeface="Arial" pitchFamily="34" charset="-122"/>
                <a:cs typeface="Arial" pitchFamily="34" charset="-120"/>
              </a:rPr>
              <a:t>4</a:t>
            </a:r>
            <a:endParaRPr lang="en-US" sz="800" dirty="0"/>
          </a:p>
        </p:txBody>
      </p:sp>
      <p:sp>
        <p:nvSpPr>
          <p:cNvPr id="61" name="Text 58"/>
          <p:cNvSpPr txBox="1"/>
          <p:nvPr/>
        </p:nvSpPr>
        <p:spPr>
          <a:xfrm>
            <a:off x="10623665" y="4450634"/>
            <a:ext cx="365760" cy="182880"/>
          </a:xfrm>
          <a:prstGeom prst="rect">
            <a:avLst/>
          </a:prstGeom>
          <a:noFill/>
          <a:ln/>
        </p:spPr>
        <p:txBody>
          <a:bodyPr wrap="square" lIns="0" tIns="0" rIns="0" bIns="0" rtlCol="0" anchor="t"/>
          <a:lstStyle/>
          <a:p>
            <a:pPr algn="ctr" indent="0" marL="0">
              <a:buNone/>
            </a:pPr>
            <a:r>
              <a:rPr lang="en-US" sz="800" dirty="0">
                <a:solidFill>
                  <a:srgbClr val="687783"/>
                </a:solidFill>
                <a:latin typeface="Arial" pitchFamily="34" charset="0"/>
                <a:ea typeface="Arial" pitchFamily="34" charset="-122"/>
                <a:cs typeface="Arial" pitchFamily="34" charset="-120"/>
              </a:rPr>
              <a:t>6</a:t>
            </a:r>
            <a:endParaRPr lang="en-US" sz="800" dirty="0"/>
          </a:p>
        </p:txBody>
      </p:sp>
      <p:sp>
        <p:nvSpPr>
          <p:cNvPr id="62" name="Text 59"/>
          <p:cNvSpPr txBox="1"/>
          <p:nvPr/>
        </p:nvSpPr>
        <p:spPr>
          <a:xfrm>
            <a:off x="11338560" y="4450634"/>
            <a:ext cx="365760" cy="182880"/>
          </a:xfrm>
          <a:prstGeom prst="rect">
            <a:avLst/>
          </a:prstGeom>
          <a:noFill/>
          <a:ln/>
        </p:spPr>
        <p:txBody>
          <a:bodyPr wrap="square" lIns="0" tIns="0" rIns="0" bIns="0" rtlCol="0" anchor="t"/>
          <a:lstStyle/>
          <a:p>
            <a:pPr algn="ctr" indent="0" marL="0">
              <a:buNone/>
            </a:pPr>
            <a:r>
              <a:rPr lang="en-US" sz="800" dirty="0">
                <a:solidFill>
                  <a:srgbClr val="687783"/>
                </a:solidFill>
                <a:latin typeface="Arial" pitchFamily="34" charset="0"/>
                <a:ea typeface="Arial" pitchFamily="34" charset="-122"/>
                <a:cs typeface="Arial" pitchFamily="34" charset="-120"/>
              </a:rPr>
              <a:t>8</a:t>
            </a:r>
            <a:endParaRPr lang="en-US" sz="800" dirty="0"/>
          </a:p>
        </p:txBody>
      </p:sp>
      <p:sp>
        <p:nvSpPr>
          <p:cNvPr id="63" name="Text 60"/>
          <p:cNvSpPr txBox="1"/>
          <p:nvPr/>
        </p:nvSpPr>
        <p:spPr>
          <a:xfrm>
            <a:off x="8250382" y="5037513"/>
            <a:ext cx="365760" cy="182880"/>
          </a:xfrm>
          <a:prstGeom prst="rect">
            <a:avLst/>
          </a:prstGeom>
          <a:noFill/>
          <a:ln/>
        </p:spPr>
        <p:txBody>
          <a:bodyPr wrap="square" lIns="0" tIns="0" rIns="0" bIns="0" rtlCol="0" anchor="t"/>
          <a:lstStyle/>
          <a:p>
            <a:pPr algn="r" indent="0" marL="0">
              <a:buNone/>
            </a:pPr>
            <a:r>
              <a:rPr lang="en-US" sz="800" dirty="0">
                <a:solidFill>
                  <a:srgbClr val="687783"/>
                </a:solidFill>
                <a:latin typeface="Arial" pitchFamily="34" charset="0"/>
                <a:ea typeface="Arial" pitchFamily="34" charset="-122"/>
                <a:cs typeface="Arial" pitchFamily="34" charset="-120"/>
              </a:rPr>
              <a:t>−2</a:t>
            </a:r>
            <a:endParaRPr lang="en-US" sz="800" dirty="0"/>
          </a:p>
        </p:txBody>
      </p:sp>
      <p:sp>
        <p:nvSpPr>
          <p:cNvPr id="64" name="Text 61"/>
          <p:cNvSpPr txBox="1"/>
          <p:nvPr/>
        </p:nvSpPr>
        <p:spPr>
          <a:xfrm>
            <a:off x="8250382" y="3607724"/>
            <a:ext cx="365760" cy="182880"/>
          </a:xfrm>
          <a:prstGeom prst="rect">
            <a:avLst/>
          </a:prstGeom>
          <a:noFill/>
          <a:ln/>
        </p:spPr>
        <p:txBody>
          <a:bodyPr wrap="square" lIns="0" tIns="0" rIns="0" bIns="0" rtlCol="0" anchor="t"/>
          <a:lstStyle/>
          <a:p>
            <a:pPr algn="r" indent="0" marL="0">
              <a:buNone/>
            </a:pPr>
            <a:r>
              <a:rPr lang="en-US" sz="800" dirty="0">
                <a:solidFill>
                  <a:srgbClr val="687783"/>
                </a:solidFill>
                <a:latin typeface="Arial" pitchFamily="34" charset="0"/>
                <a:ea typeface="Arial" pitchFamily="34" charset="-122"/>
                <a:cs typeface="Arial" pitchFamily="34" charset="-120"/>
              </a:rPr>
              <a:t>2</a:t>
            </a:r>
            <a:endParaRPr lang="en-US" sz="800" dirty="0"/>
          </a:p>
        </p:txBody>
      </p:sp>
      <p:sp>
        <p:nvSpPr>
          <p:cNvPr id="65" name="Text 62"/>
          <p:cNvSpPr txBox="1"/>
          <p:nvPr/>
        </p:nvSpPr>
        <p:spPr>
          <a:xfrm>
            <a:off x="8250382" y="2892829"/>
            <a:ext cx="365760" cy="182880"/>
          </a:xfrm>
          <a:prstGeom prst="rect">
            <a:avLst/>
          </a:prstGeom>
          <a:noFill/>
          <a:ln/>
        </p:spPr>
        <p:txBody>
          <a:bodyPr wrap="square" lIns="0" tIns="0" rIns="0" bIns="0" rtlCol="0" anchor="t"/>
          <a:lstStyle/>
          <a:p>
            <a:pPr algn="r" indent="0" marL="0">
              <a:buNone/>
            </a:pPr>
            <a:r>
              <a:rPr lang="en-US" sz="800" dirty="0">
                <a:solidFill>
                  <a:srgbClr val="687783"/>
                </a:solidFill>
                <a:latin typeface="Arial" pitchFamily="34" charset="0"/>
                <a:ea typeface="Arial" pitchFamily="34" charset="-122"/>
                <a:cs typeface="Arial" pitchFamily="34" charset="-120"/>
              </a:rPr>
              <a:t>4</a:t>
            </a:r>
            <a:endParaRPr lang="en-US" sz="800" dirty="0"/>
          </a:p>
        </p:txBody>
      </p:sp>
      <p:sp>
        <p:nvSpPr>
          <p:cNvPr id="66" name="Text 63"/>
          <p:cNvSpPr txBox="1"/>
          <p:nvPr/>
        </p:nvSpPr>
        <p:spPr>
          <a:xfrm>
            <a:off x="8250382" y="2177935"/>
            <a:ext cx="365760" cy="182880"/>
          </a:xfrm>
          <a:prstGeom prst="rect">
            <a:avLst/>
          </a:prstGeom>
          <a:noFill/>
          <a:ln/>
        </p:spPr>
        <p:txBody>
          <a:bodyPr wrap="square" lIns="0" tIns="0" rIns="0" bIns="0" rtlCol="0" anchor="t"/>
          <a:lstStyle/>
          <a:p>
            <a:pPr algn="r" indent="0" marL="0">
              <a:buNone/>
            </a:pPr>
            <a:r>
              <a:rPr lang="en-US" sz="800" dirty="0">
                <a:solidFill>
                  <a:srgbClr val="687783"/>
                </a:solidFill>
                <a:latin typeface="Arial" pitchFamily="34" charset="0"/>
                <a:ea typeface="Arial" pitchFamily="34" charset="-122"/>
                <a:cs typeface="Arial" pitchFamily="34" charset="-120"/>
              </a:rPr>
              <a:t>6</a:t>
            </a:r>
            <a:endParaRPr lang="en-US" sz="800" dirty="0"/>
          </a:p>
        </p:txBody>
      </p:sp>
      <p:sp>
        <p:nvSpPr>
          <p:cNvPr id="67" name="Text 64"/>
          <p:cNvSpPr txBox="1"/>
          <p:nvPr/>
        </p:nvSpPr>
        <p:spPr>
          <a:xfrm>
            <a:off x="8250382" y="1463040"/>
            <a:ext cx="365760" cy="182880"/>
          </a:xfrm>
          <a:prstGeom prst="rect">
            <a:avLst/>
          </a:prstGeom>
          <a:noFill/>
          <a:ln/>
        </p:spPr>
        <p:txBody>
          <a:bodyPr wrap="square" lIns="0" tIns="0" rIns="0" bIns="0" rtlCol="0" anchor="t"/>
          <a:lstStyle/>
          <a:p>
            <a:pPr algn="r" indent="0" marL="0">
              <a:buNone/>
            </a:pPr>
            <a:r>
              <a:rPr lang="en-US" sz="800" dirty="0">
                <a:solidFill>
                  <a:srgbClr val="687783"/>
                </a:solidFill>
                <a:latin typeface="Arial" pitchFamily="34" charset="0"/>
                <a:ea typeface="Arial" pitchFamily="34" charset="-122"/>
                <a:cs typeface="Arial" pitchFamily="34" charset="-120"/>
              </a:rPr>
              <a:t>8</a:t>
            </a:r>
            <a:endParaRPr lang="en-US" sz="800" dirty="0"/>
          </a:p>
        </p:txBody>
      </p:sp>
      <p:sp>
        <p:nvSpPr>
          <p:cNvPr id="68" name="Shape 65"/>
          <p:cNvSpPr/>
          <p:nvPr/>
        </p:nvSpPr>
        <p:spPr>
          <a:xfrm>
            <a:off x="7946967" y="2626822"/>
            <a:ext cx="2859578" cy="2144684"/>
          </a:xfrm>
          <a:prstGeom prst="line">
            <a:avLst/>
          </a:prstGeom>
          <a:noFill/>
          <a:ln w="28575">
            <a:solidFill>
              <a:srgbClr val="1777B4"/>
            </a:solidFill>
            <a:prstDash val="solid"/>
          </a:ln>
        </p:spPr>
      </p:sp>
      <p:sp>
        <p:nvSpPr>
          <p:cNvPr id="69" name="Shape 66"/>
          <p:cNvSpPr/>
          <p:nvPr/>
        </p:nvSpPr>
        <p:spPr>
          <a:xfrm>
            <a:off x="7946967" y="2626822"/>
            <a:ext cx="2859578" cy="91"/>
          </a:xfrm>
          <a:prstGeom prst="line">
            <a:avLst/>
          </a:prstGeom>
          <a:noFill/>
          <a:ln w="19050">
            <a:solidFill>
              <a:srgbClr val="1B7F5E"/>
            </a:solidFill>
            <a:prstDash val="dash"/>
          </a:ln>
        </p:spPr>
      </p:sp>
      <p:sp>
        <p:nvSpPr>
          <p:cNvPr id="70" name="Shape 67"/>
          <p:cNvSpPr/>
          <p:nvPr/>
        </p:nvSpPr>
        <p:spPr>
          <a:xfrm>
            <a:off x="10806545" y="2626822"/>
            <a:ext cx="91" cy="2144684"/>
          </a:xfrm>
          <a:prstGeom prst="line">
            <a:avLst/>
          </a:prstGeom>
          <a:noFill/>
          <a:ln w="19050">
            <a:solidFill>
              <a:srgbClr val="1B7F5E"/>
            </a:solidFill>
            <a:prstDash val="dash"/>
          </a:ln>
        </p:spPr>
      </p:sp>
      <p:sp>
        <p:nvSpPr>
          <p:cNvPr id="71" name="Shape 68"/>
          <p:cNvSpPr/>
          <p:nvPr/>
        </p:nvSpPr>
        <p:spPr>
          <a:xfrm>
            <a:off x="7882959" y="2562814"/>
            <a:ext cx="128016" cy="128016"/>
          </a:xfrm>
          <a:prstGeom prst="ellipse">
            <a:avLst/>
          </a:prstGeom>
          <a:solidFill>
            <a:srgbClr val="11344E"/>
          </a:solidFill>
          <a:ln w="12700">
            <a:solidFill>
              <a:srgbClr val="11344E"/>
            </a:solidFill>
            <a:prstDash val="solid"/>
          </a:ln>
        </p:spPr>
      </p:sp>
      <p:sp>
        <p:nvSpPr>
          <p:cNvPr id="72" name="Shape 69"/>
          <p:cNvSpPr/>
          <p:nvPr/>
        </p:nvSpPr>
        <p:spPr>
          <a:xfrm>
            <a:off x="10742537" y="4707497"/>
            <a:ext cx="128016" cy="128016"/>
          </a:xfrm>
          <a:prstGeom prst="ellipse">
            <a:avLst/>
          </a:prstGeom>
          <a:solidFill>
            <a:srgbClr val="11344E"/>
          </a:solidFill>
          <a:ln w="12700">
            <a:solidFill>
              <a:srgbClr val="11344E"/>
            </a:solidFill>
            <a:prstDash val="solid"/>
          </a:ln>
        </p:spPr>
      </p:sp>
      <p:sp>
        <p:nvSpPr>
          <p:cNvPr id="73" name="Shape 70"/>
          <p:cNvSpPr/>
          <p:nvPr/>
        </p:nvSpPr>
        <p:spPr>
          <a:xfrm>
            <a:off x="9312748" y="3635156"/>
            <a:ext cx="128016" cy="128016"/>
          </a:xfrm>
          <a:prstGeom prst="ellipse">
            <a:avLst/>
          </a:prstGeom>
          <a:solidFill>
            <a:srgbClr val="B03A2E"/>
          </a:solidFill>
          <a:ln w="12700">
            <a:solidFill>
              <a:srgbClr val="B03A2E"/>
            </a:solidFill>
            <a:prstDash val="solid"/>
          </a:ln>
        </p:spPr>
      </p:sp>
      <p:sp>
        <p:nvSpPr>
          <p:cNvPr id="74" name="Text 71"/>
          <p:cNvSpPr txBox="1"/>
          <p:nvPr/>
        </p:nvSpPr>
        <p:spPr>
          <a:xfrm>
            <a:off x="7626927" y="2306782"/>
            <a:ext cx="274320" cy="274320"/>
          </a:xfrm>
          <a:prstGeom prst="rect">
            <a:avLst/>
          </a:prstGeom>
          <a:noFill/>
          <a:ln/>
        </p:spPr>
        <p:txBody>
          <a:bodyPr wrap="square" lIns="0" tIns="0" rIns="0" bIns="0" rtlCol="0" anchor="t"/>
          <a:lstStyle/>
          <a:p>
            <a:pPr indent="0" marL="0">
              <a:buNone/>
            </a:pPr>
            <a:r>
              <a:rPr lang="en-US" sz="1300" b="1" dirty="0">
                <a:solidFill>
                  <a:srgbClr val="11344E"/>
                </a:solidFill>
                <a:latin typeface="Arial" pitchFamily="34" charset="0"/>
                <a:ea typeface="Arial" pitchFamily="34" charset="-122"/>
                <a:cs typeface="Arial" pitchFamily="34" charset="-120"/>
              </a:rPr>
              <a:t>P</a:t>
            </a:r>
            <a:endParaRPr lang="en-US" sz="1300" dirty="0"/>
          </a:p>
        </p:txBody>
      </p:sp>
      <p:sp>
        <p:nvSpPr>
          <p:cNvPr id="75" name="Text 72"/>
          <p:cNvSpPr txBox="1"/>
          <p:nvPr/>
        </p:nvSpPr>
        <p:spPr>
          <a:xfrm>
            <a:off x="10897985" y="4680065"/>
            <a:ext cx="274320" cy="274320"/>
          </a:xfrm>
          <a:prstGeom prst="rect">
            <a:avLst/>
          </a:prstGeom>
          <a:noFill/>
          <a:ln/>
        </p:spPr>
        <p:txBody>
          <a:bodyPr wrap="square" lIns="0" tIns="0" rIns="0" bIns="0" rtlCol="0" anchor="t"/>
          <a:lstStyle/>
          <a:p>
            <a:pPr indent="0" marL="0">
              <a:buNone/>
            </a:pPr>
            <a:r>
              <a:rPr lang="en-US" sz="1300" b="1" dirty="0">
                <a:solidFill>
                  <a:srgbClr val="11344E"/>
                </a:solidFill>
                <a:latin typeface="Arial" pitchFamily="34" charset="0"/>
                <a:ea typeface="Arial" pitchFamily="34" charset="-122"/>
                <a:cs typeface="Arial" pitchFamily="34" charset="-120"/>
              </a:rPr>
              <a:t>Q</a:t>
            </a:r>
            <a:endParaRPr lang="en-US" sz="1300" dirty="0"/>
          </a:p>
        </p:txBody>
      </p:sp>
      <p:sp>
        <p:nvSpPr>
          <p:cNvPr id="76" name="Text 73"/>
          <p:cNvSpPr txBox="1"/>
          <p:nvPr/>
        </p:nvSpPr>
        <p:spPr>
          <a:xfrm>
            <a:off x="9285316" y="3772316"/>
            <a:ext cx="274320" cy="274320"/>
          </a:xfrm>
          <a:prstGeom prst="rect">
            <a:avLst/>
          </a:prstGeom>
          <a:noFill/>
          <a:ln/>
        </p:spPr>
        <p:txBody>
          <a:bodyPr wrap="square" lIns="0" tIns="0" rIns="0" bIns="0" rtlCol="0" anchor="t"/>
          <a:lstStyle/>
          <a:p>
            <a:pPr indent="0" marL="0">
              <a:buNone/>
            </a:pPr>
            <a:r>
              <a:rPr lang="en-US" sz="1300" b="1" dirty="0">
                <a:solidFill>
                  <a:srgbClr val="B03A2E"/>
                </a:solidFill>
                <a:latin typeface="Arial" pitchFamily="34" charset="0"/>
                <a:ea typeface="Arial" pitchFamily="34" charset="-122"/>
                <a:cs typeface="Arial" pitchFamily="34" charset="-120"/>
              </a:rPr>
              <a:t>M</a:t>
            </a:r>
            <a:endParaRPr lang="en-US" sz="1300" dirty="0"/>
          </a:p>
        </p:txBody>
      </p:sp>
      <p:sp>
        <p:nvSpPr>
          <p:cNvPr id="77" name="Text 74"/>
          <p:cNvSpPr txBox="1"/>
          <p:nvPr/>
        </p:nvSpPr>
        <p:spPr>
          <a:xfrm>
            <a:off x="9090799" y="2334214"/>
            <a:ext cx="731520" cy="228600"/>
          </a:xfrm>
          <a:prstGeom prst="rect">
            <a:avLst/>
          </a:prstGeom>
          <a:noFill/>
          <a:ln/>
        </p:spPr>
        <p:txBody>
          <a:bodyPr wrap="square" lIns="0" tIns="0" rIns="0" bIns="0" rtlCol="0" anchor="t"/>
          <a:lstStyle/>
          <a:p>
            <a:pPr indent="0" marL="0">
              <a:buNone/>
            </a:pPr>
            <a:r>
              <a:rPr lang="en-US" sz="1100" b="1" dirty="0">
                <a:solidFill>
                  <a:srgbClr val="1B7F5E"/>
                </a:solidFill>
                <a:latin typeface="Arial" pitchFamily="34" charset="0"/>
                <a:ea typeface="Arial" pitchFamily="34" charset="-122"/>
                <a:cs typeface="Arial" pitchFamily="34" charset="-120"/>
              </a:rPr>
              <a:t>run 8</a:t>
            </a:r>
            <a:endParaRPr lang="en-US" sz="1100" dirty="0"/>
          </a:p>
        </p:txBody>
      </p:sp>
      <p:sp>
        <p:nvSpPr>
          <p:cNvPr id="78" name="Text 75"/>
          <p:cNvSpPr txBox="1"/>
          <p:nvPr/>
        </p:nvSpPr>
        <p:spPr>
          <a:xfrm>
            <a:off x="10879697" y="3484695"/>
            <a:ext cx="685800" cy="228600"/>
          </a:xfrm>
          <a:prstGeom prst="rect">
            <a:avLst/>
          </a:prstGeom>
          <a:noFill/>
          <a:ln/>
        </p:spPr>
        <p:txBody>
          <a:bodyPr wrap="square" lIns="0" tIns="0" rIns="0" bIns="0" rtlCol="0" anchor="t"/>
          <a:lstStyle/>
          <a:p>
            <a:pPr indent="0" marL="0">
              <a:buNone/>
            </a:pPr>
            <a:r>
              <a:rPr lang="en-US" sz="1100" b="1" dirty="0">
                <a:solidFill>
                  <a:srgbClr val="1B7F5E"/>
                </a:solidFill>
                <a:latin typeface="Arial" pitchFamily="34" charset="0"/>
                <a:ea typeface="Arial" pitchFamily="34" charset="-122"/>
                <a:cs typeface="Arial" pitchFamily="34" charset="-120"/>
              </a:rPr>
              <a:t>rise −6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D: circle and line solutions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The circle equation uses r</a:t>
            </a:r>
            <a:pPr indent="0" marL="0">
              <a:buNone/>
            </a:pPr>
            <a:r>
              <a:rPr lang="en-US" sz="1300" baseline="30000" dirty="0">
                <a:solidFill>
                  <a:srgbClr val="687783"/>
                </a:solidFill>
                <a:latin typeface="Arial" pitchFamily="34" charset="0"/>
                <a:ea typeface="Arial" pitchFamily="34" charset="-122"/>
                <a:cs typeface="Arial" pitchFamily="34" charset="-120"/>
              </a:rPr>
              <a:t>2</a:t>
            </a:r>
            <a:pPr indent="0" marL="0">
              <a:buNone/>
            </a:pPr>
            <a:r>
              <a:rPr lang="en-US" sz="1300" dirty="0">
                <a:solidFill>
                  <a:srgbClr val="687783"/>
                </a:solidFill>
                <a:latin typeface="Arial" pitchFamily="34" charset="0"/>
                <a:ea typeface="Arial" pitchFamily="34" charset="-122"/>
                <a:cs typeface="Arial" pitchFamily="34" charset="-120"/>
              </a:rPr>
              <a:t>; a perpendicular slope is the negative reciprocal</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19</a:t>
            </a:r>
            <a:endParaRPr lang="en-US" sz="800" dirty="0"/>
          </a:p>
        </p:txBody>
      </p:sp>
      <p:sp>
        <p:nvSpPr>
          <p:cNvPr id="6" name="Shape 3"/>
          <p:cNvSpPr/>
          <p:nvPr/>
        </p:nvSpPr>
        <p:spPr>
          <a:xfrm>
            <a:off x="548640" y="1554480"/>
            <a:ext cx="4846320" cy="4297680"/>
          </a:xfrm>
          <a:prstGeom prst="roundRect">
            <a:avLst>
              <a:gd name="adj" fmla="val 1702"/>
            </a:avLst>
          </a:prstGeom>
          <a:solidFill>
            <a:srgbClr val="EEF4F9"/>
          </a:solidFill>
          <a:ln w="12700">
            <a:solidFill>
              <a:srgbClr val="EEF4F9"/>
            </a:solidFill>
            <a:prstDash val="solid"/>
          </a:ln>
        </p:spPr>
      </p:sp>
      <p:sp>
        <p:nvSpPr>
          <p:cNvPr id="7" name="Text 4"/>
          <p:cNvSpPr txBox="1"/>
          <p:nvPr/>
        </p:nvSpPr>
        <p:spPr>
          <a:xfrm>
            <a:off x="822960" y="1737360"/>
            <a:ext cx="4297680" cy="365760"/>
          </a:xfrm>
          <a:prstGeom prst="rect">
            <a:avLst/>
          </a:prstGeom>
          <a:noFill/>
          <a:ln/>
        </p:spPr>
        <p:txBody>
          <a:bodyPr wrap="square" lIns="0" tIns="0" rIns="0" bIns="0" rtlCol="0" anchor="t"/>
          <a:lstStyle/>
          <a:p>
            <a:pPr indent="0" marL="0">
              <a:buNone/>
            </a:pPr>
            <a:r>
              <a:rPr lang="en-US" sz="1700" b="1" dirty="0">
                <a:solidFill>
                  <a:srgbClr val="1777B4"/>
                </a:solidFill>
                <a:latin typeface="Arial" pitchFamily="34" charset="0"/>
                <a:ea typeface="Arial" pitchFamily="34" charset="-122"/>
                <a:cs typeface="Arial" pitchFamily="34" charset="-120"/>
              </a:rPr>
              <a:t>4.  Circle</a:t>
            </a:r>
            <a:endParaRPr lang="en-US" sz="1700" dirty="0"/>
          </a:p>
        </p:txBody>
      </p:sp>
      <p:sp>
        <p:nvSpPr>
          <p:cNvPr id="8" name="Text 5"/>
          <p:cNvSpPr txBox="1"/>
          <p:nvPr/>
        </p:nvSpPr>
        <p:spPr>
          <a:xfrm>
            <a:off x="822960" y="2286000"/>
            <a:ext cx="4389120" cy="457200"/>
          </a:xfrm>
          <a:prstGeom prst="rect">
            <a:avLst/>
          </a:prstGeom>
          <a:noFill/>
          <a:ln/>
        </p:spPr>
        <p:txBody>
          <a:bodyPr wrap="square" lIns="0" tIns="0" rIns="0" bIns="0" rtlCol="0" anchor="t"/>
          <a:lstStyle/>
          <a:p>
            <a:pPr indent="0" marL="0">
              <a:buNone/>
            </a:pPr>
            <a:r>
              <a:rPr lang="en-US" sz="2000" dirty="0">
                <a:solidFill>
                  <a:srgbClr val="687783"/>
                </a:solidFill>
                <a:latin typeface="Times New Roman" pitchFamily="34" charset="0"/>
                <a:ea typeface="Times New Roman" pitchFamily="34" charset="-122"/>
                <a:cs typeface="Times New Roman" pitchFamily="34" charset="-120"/>
              </a:rPr>
              <a:t>(x − h)</a:t>
            </a:r>
            <a:pPr indent="0" marL="0">
              <a:buNone/>
            </a:pPr>
            <a:r>
              <a:rPr lang="en-US" sz="2000" baseline="30000" dirty="0">
                <a:solidFill>
                  <a:srgbClr val="687783"/>
                </a:solidFill>
                <a:latin typeface="Times New Roman" pitchFamily="34" charset="0"/>
                <a:ea typeface="Times New Roman" pitchFamily="34" charset="-122"/>
                <a:cs typeface="Times New Roman" pitchFamily="34" charset="-120"/>
              </a:rPr>
              <a:t>2</a:t>
            </a:r>
            <a:pPr indent="0" marL="0">
              <a:buNone/>
            </a:pPr>
            <a:r>
              <a:rPr lang="en-US" sz="2000" dirty="0">
                <a:solidFill>
                  <a:srgbClr val="687783"/>
                </a:solidFill>
                <a:latin typeface="Times New Roman" pitchFamily="34" charset="0"/>
                <a:ea typeface="Times New Roman" pitchFamily="34" charset="-122"/>
                <a:cs typeface="Times New Roman" pitchFamily="34" charset="-120"/>
              </a:rPr>
              <a:t> + (y − k)</a:t>
            </a:r>
            <a:pPr indent="0" marL="0">
              <a:buNone/>
            </a:pPr>
            <a:r>
              <a:rPr lang="en-US" sz="2000" baseline="30000" dirty="0">
                <a:solidFill>
                  <a:srgbClr val="687783"/>
                </a:solidFill>
                <a:latin typeface="Times New Roman" pitchFamily="34" charset="0"/>
                <a:ea typeface="Times New Roman" pitchFamily="34" charset="-122"/>
                <a:cs typeface="Times New Roman" pitchFamily="34" charset="-120"/>
              </a:rPr>
              <a:t>2</a:t>
            </a:r>
            <a:pPr indent="0" marL="0">
              <a:buNone/>
            </a:pPr>
            <a:r>
              <a:rPr lang="en-US" sz="2000" dirty="0">
                <a:solidFill>
                  <a:srgbClr val="687783"/>
                </a:solidFill>
                <a:latin typeface="Times New Roman" pitchFamily="34" charset="0"/>
                <a:ea typeface="Times New Roman" pitchFamily="34" charset="-122"/>
                <a:cs typeface="Times New Roman" pitchFamily="34" charset="-120"/>
              </a:rPr>
              <a:t> = r</a:t>
            </a:r>
            <a:pPr indent="0" marL="0">
              <a:buNone/>
            </a:pPr>
            <a:r>
              <a:rPr lang="en-US" sz="2000" baseline="30000" dirty="0">
                <a:solidFill>
                  <a:srgbClr val="687783"/>
                </a:solidFill>
                <a:latin typeface="Times New Roman" pitchFamily="34" charset="0"/>
                <a:ea typeface="Times New Roman" pitchFamily="34" charset="-122"/>
                <a:cs typeface="Times New Roman" pitchFamily="34" charset="-120"/>
              </a:rPr>
              <a:t>2</a:t>
            </a:r>
            <a:endParaRPr lang="en-US" sz="2000" dirty="0"/>
          </a:p>
        </p:txBody>
      </p:sp>
      <p:sp>
        <p:nvSpPr>
          <p:cNvPr id="9" name="Text 6"/>
          <p:cNvSpPr txBox="1"/>
          <p:nvPr/>
        </p:nvSpPr>
        <p:spPr>
          <a:xfrm>
            <a:off x="822960" y="3017520"/>
            <a:ext cx="4389120" cy="457200"/>
          </a:xfrm>
          <a:prstGeom prst="rect">
            <a:avLst/>
          </a:prstGeom>
          <a:noFill/>
          <a:ln/>
        </p:spPr>
        <p:txBody>
          <a:bodyPr wrap="square" lIns="0" tIns="0" rIns="0" bIns="0" rtlCol="0" anchor="t"/>
          <a:lstStyle/>
          <a:p>
            <a:pPr indent="0" marL="0">
              <a:buNone/>
            </a:pPr>
            <a:r>
              <a:rPr lang="en-US" sz="2300" b="1" dirty="0">
                <a:solidFill>
                  <a:srgbClr val="1777B4"/>
                </a:solidFill>
                <a:latin typeface="Times New Roman" pitchFamily="34" charset="0"/>
                <a:ea typeface="Times New Roman" pitchFamily="34" charset="-122"/>
                <a:cs typeface="Times New Roman" pitchFamily="34" charset="-120"/>
              </a:rPr>
              <a:t>(x + 3)</a:t>
            </a:r>
            <a:pPr indent="0" marL="0">
              <a:buNone/>
            </a:pPr>
            <a:r>
              <a:rPr lang="en-US" sz="2300" b="1" baseline="30000" dirty="0">
                <a:solidFill>
                  <a:srgbClr val="1777B4"/>
                </a:solidFill>
                <a:latin typeface="Times New Roman" pitchFamily="34" charset="0"/>
                <a:ea typeface="Times New Roman" pitchFamily="34" charset="-122"/>
                <a:cs typeface="Times New Roman" pitchFamily="34" charset="-120"/>
              </a:rPr>
              <a:t>2</a:t>
            </a:r>
            <a:pPr indent="0" marL="0">
              <a:buNone/>
            </a:pPr>
            <a:r>
              <a:rPr lang="en-US" sz="2300" b="1" dirty="0">
                <a:solidFill>
                  <a:srgbClr val="1777B4"/>
                </a:solidFill>
                <a:latin typeface="Times New Roman" pitchFamily="34" charset="0"/>
                <a:ea typeface="Times New Roman" pitchFamily="34" charset="-122"/>
                <a:cs typeface="Times New Roman" pitchFamily="34" charset="-120"/>
              </a:rPr>
              <a:t> + (y − 1)</a:t>
            </a:r>
            <a:pPr indent="0" marL="0">
              <a:buNone/>
            </a:pPr>
            <a:r>
              <a:rPr lang="en-US" sz="2300" b="1" baseline="30000" dirty="0">
                <a:solidFill>
                  <a:srgbClr val="1777B4"/>
                </a:solidFill>
                <a:latin typeface="Times New Roman" pitchFamily="34" charset="0"/>
                <a:ea typeface="Times New Roman" pitchFamily="34" charset="-122"/>
                <a:cs typeface="Times New Roman" pitchFamily="34" charset="-120"/>
              </a:rPr>
              <a:t>2</a:t>
            </a:r>
            <a:pPr indent="0" marL="0">
              <a:buNone/>
            </a:pPr>
            <a:r>
              <a:rPr lang="en-US" sz="2300" b="1" dirty="0">
                <a:solidFill>
                  <a:srgbClr val="1777B4"/>
                </a:solidFill>
                <a:latin typeface="Times New Roman" pitchFamily="34" charset="0"/>
                <a:ea typeface="Times New Roman" pitchFamily="34" charset="-122"/>
                <a:cs typeface="Times New Roman" pitchFamily="34" charset="-120"/>
              </a:rPr>
              <a:t> = 49</a:t>
            </a:r>
            <a:endParaRPr lang="en-US" sz="2300" dirty="0"/>
          </a:p>
        </p:txBody>
      </p:sp>
      <p:sp>
        <p:nvSpPr>
          <p:cNvPr id="10" name="Text 7"/>
          <p:cNvSpPr txBox="1"/>
          <p:nvPr/>
        </p:nvSpPr>
        <p:spPr>
          <a:xfrm>
            <a:off x="822960" y="3840480"/>
            <a:ext cx="4297680" cy="146304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rgbClr val="11344E"/>
                </a:solidFill>
                <a:latin typeface="Arial" pitchFamily="34" charset="0"/>
                <a:ea typeface="Arial" pitchFamily="34" charset="-122"/>
                <a:cs typeface="Arial" pitchFamily="34" charset="-120"/>
              </a:rPr>
              <a:t>Center (−3, 1) gives x + 3 and y − 1.</a:t>
            </a:r>
            <a:endParaRPr lang="en-US" sz="1500" dirty="0"/>
          </a:p>
          <a:p>
            <a:pPr algn="l" marL="342900" indent="-342900">
              <a:spcAft>
                <a:spcPts val="1000"/>
              </a:spcAft>
              <a:buSzPct val="100000"/>
              <a:buChar char="•"/>
            </a:pPr>
            <a:r>
              <a:rPr lang="en-US" sz="1500" dirty="0">
                <a:solidFill>
                  <a:srgbClr val="11344E"/>
                </a:solidFill>
                <a:latin typeface="Arial" pitchFamily="34" charset="0"/>
                <a:ea typeface="Arial" pitchFamily="34" charset="-122"/>
                <a:cs typeface="Arial" pitchFamily="34" charset="-120"/>
              </a:rPr>
              <a:t>Radius 7 gives 7</a:t>
            </a:r>
            <a:pPr algn="l" marL="342900" indent="-342900">
              <a:spcAft>
                <a:spcPts val="1000"/>
              </a:spcAft>
              <a:buSzPct val="100000"/>
              <a:buChar char="•"/>
            </a:pPr>
            <a:r>
              <a:rPr lang="en-US" sz="1500" baseline="30000" dirty="0">
                <a:solidFill>
                  <a:srgbClr val="11344E"/>
                </a:solidFill>
                <a:latin typeface="Arial" pitchFamily="34" charset="0"/>
                <a:ea typeface="Arial" pitchFamily="34" charset="-122"/>
                <a:cs typeface="Arial" pitchFamily="34" charset="-120"/>
              </a:rPr>
              <a:t>2</a:t>
            </a:r>
            <a:pPr algn="l" marL="342900" indent="-342900">
              <a:spcAft>
                <a:spcPts val="1000"/>
              </a:spcAft>
              <a:buSzPct val="100000"/>
              <a:buChar char="•"/>
            </a:pPr>
            <a:r>
              <a:rPr lang="en-US" sz="1500" dirty="0">
                <a:solidFill>
                  <a:srgbClr val="11344E"/>
                </a:solidFill>
                <a:latin typeface="Arial" pitchFamily="34" charset="0"/>
                <a:ea typeface="Arial" pitchFamily="34" charset="-122"/>
                <a:cs typeface="Arial" pitchFamily="34" charset="-120"/>
              </a:rPr>
              <a:t> = 49 on the right.</a:t>
            </a:r>
            <a:endParaRPr lang="en-US" sz="1500" dirty="0"/>
          </a:p>
        </p:txBody>
      </p:sp>
      <p:sp>
        <p:nvSpPr>
          <p:cNvPr id="11" name="Shape 8"/>
          <p:cNvSpPr/>
          <p:nvPr/>
        </p:nvSpPr>
        <p:spPr>
          <a:xfrm>
            <a:off x="5577840" y="1554480"/>
            <a:ext cx="6035040" cy="4297680"/>
          </a:xfrm>
          <a:prstGeom prst="roundRect">
            <a:avLst>
              <a:gd name="adj" fmla="val 1702"/>
            </a:avLst>
          </a:prstGeom>
          <a:solidFill>
            <a:srgbClr val="EEF4F9"/>
          </a:solidFill>
          <a:ln w="12700">
            <a:solidFill>
              <a:srgbClr val="EEF4F9"/>
            </a:solidFill>
            <a:prstDash val="solid"/>
          </a:ln>
        </p:spPr>
      </p:sp>
      <p:sp>
        <p:nvSpPr>
          <p:cNvPr id="12" name="Text 9"/>
          <p:cNvSpPr txBox="1"/>
          <p:nvPr/>
        </p:nvSpPr>
        <p:spPr>
          <a:xfrm>
            <a:off x="5852160" y="1737360"/>
            <a:ext cx="5577840" cy="365760"/>
          </a:xfrm>
          <a:prstGeom prst="rect">
            <a:avLst/>
          </a:prstGeom>
          <a:noFill/>
          <a:ln/>
        </p:spPr>
        <p:txBody>
          <a:bodyPr wrap="square" lIns="0" tIns="0" rIns="0" bIns="0" rtlCol="0" anchor="t"/>
          <a:lstStyle/>
          <a:p>
            <a:pPr indent="0" marL="0">
              <a:buNone/>
            </a:pPr>
            <a:r>
              <a:rPr lang="en-US" sz="1700" b="1" dirty="0">
                <a:solidFill>
                  <a:srgbClr val="1777B4"/>
                </a:solidFill>
                <a:latin typeface="Arial" pitchFamily="34" charset="0"/>
                <a:ea typeface="Arial" pitchFamily="34" charset="-122"/>
                <a:cs typeface="Arial" pitchFamily="34" charset="-120"/>
              </a:rPr>
              <a:t>5 and 6.  Given slope m = −2, point (4, −3)</a:t>
            </a:r>
            <a:endParaRPr lang="en-US" sz="1700" dirty="0"/>
          </a:p>
        </p:txBody>
      </p:sp>
      <p:sp>
        <p:nvSpPr>
          <p:cNvPr id="13" name="Text 10"/>
          <p:cNvSpPr txBox="1"/>
          <p:nvPr/>
        </p:nvSpPr>
        <p:spPr>
          <a:xfrm>
            <a:off x="5852160" y="2331720"/>
            <a:ext cx="5486400" cy="320040"/>
          </a:xfrm>
          <a:prstGeom prst="rect">
            <a:avLst/>
          </a:prstGeom>
          <a:noFill/>
          <a:ln/>
        </p:spPr>
        <p:txBody>
          <a:bodyPr wrap="square" lIns="0" tIns="0" rIns="0" bIns="0" rtlCol="0" anchor="t"/>
          <a:lstStyle/>
          <a:p>
            <a:pPr indent="0" marL="0">
              <a:buNone/>
            </a:pPr>
            <a:r>
              <a:rPr lang="en-US" sz="1400" b="1" dirty="0">
                <a:solidFill>
                  <a:srgbClr val="1B7F5E"/>
                </a:solidFill>
                <a:latin typeface="Arial" pitchFamily="34" charset="0"/>
                <a:ea typeface="Arial" pitchFamily="34" charset="-122"/>
                <a:cs typeface="Arial" pitchFamily="34" charset="-120"/>
              </a:rPr>
              <a:t>Parallel: same slope</a:t>
            </a:r>
            <a:endParaRPr lang="en-US" sz="1400" dirty="0"/>
          </a:p>
        </p:txBody>
      </p:sp>
      <p:sp>
        <p:nvSpPr>
          <p:cNvPr id="14" name="Text 11"/>
          <p:cNvSpPr txBox="1"/>
          <p:nvPr/>
        </p:nvSpPr>
        <p:spPr>
          <a:xfrm>
            <a:off x="5852160" y="2697480"/>
            <a:ext cx="5577840" cy="457200"/>
          </a:xfrm>
          <a:prstGeom prst="rect">
            <a:avLst/>
          </a:prstGeom>
          <a:noFill/>
          <a:ln/>
        </p:spPr>
        <p:txBody>
          <a:bodyPr wrap="square" lIns="0" tIns="0" rIns="0" bIns="0" rtlCol="0" anchor="t"/>
          <a:lstStyle/>
          <a:p>
            <a:pPr indent="0" marL="0">
              <a:buNone/>
            </a:pPr>
            <a:r>
              <a:rPr lang="en-US" sz="2000" dirty="0">
                <a:solidFill>
                  <a:srgbClr val="11344E"/>
                </a:solidFill>
                <a:latin typeface="Times New Roman" pitchFamily="34" charset="0"/>
                <a:ea typeface="Times New Roman" pitchFamily="34" charset="-122"/>
                <a:cs typeface="Times New Roman" pitchFamily="34" charset="-120"/>
              </a:rPr>
              <a:t>y + 3 = −2(x − 4)   →   y = −2x + 5</a:t>
            </a:r>
            <a:endParaRPr lang="en-US" sz="2000" dirty="0"/>
          </a:p>
        </p:txBody>
      </p:sp>
      <p:sp>
        <p:nvSpPr>
          <p:cNvPr id="15" name="Text 12"/>
          <p:cNvSpPr txBox="1"/>
          <p:nvPr/>
        </p:nvSpPr>
        <p:spPr>
          <a:xfrm>
            <a:off x="5852160" y="3429000"/>
            <a:ext cx="5486400" cy="320040"/>
          </a:xfrm>
          <a:prstGeom prst="rect">
            <a:avLst/>
          </a:prstGeom>
          <a:noFill/>
          <a:ln/>
        </p:spPr>
        <p:txBody>
          <a:bodyPr wrap="square" lIns="0" tIns="0" rIns="0" bIns="0" rtlCol="0" anchor="t"/>
          <a:lstStyle/>
          <a:p>
            <a:pPr indent="0" marL="0">
              <a:buNone/>
            </a:pPr>
            <a:r>
              <a:rPr lang="en-US" sz="1400" b="1" dirty="0">
                <a:solidFill>
                  <a:srgbClr val="1B7F5E"/>
                </a:solidFill>
                <a:latin typeface="Arial" pitchFamily="34" charset="0"/>
                <a:ea typeface="Arial" pitchFamily="34" charset="-122"/>
                <a:cs typeface="Arial" pitchFamily="34" charset="-120"/>
              </a:rPr>
              <a:t>Perpendicular: flip and change the sign</a:t>
            </a:r>
            <a:endParaRPr lang="en-US" sz="1400" dirty="0"/>
          </a:p>
        </p:txBody>
      </p:sp>
      <p:sp>
        <p:nvSpPr>
          <p:cNvPr id="16" name="Text 13"/>
          <p:cNvSpPr txBox="1"/>
          <p:nvPr/>
        </p:nvSpPr>
        <p:spPr>
          <a:xfrm>
            <a:off x="5852160" y="3794760"/>
            <a:ext cx="5669280" cy="457200"/>
          </a:xfrm>
          <a:prstGeom prst="rect">
            <a:avLst/>
          </a:prstGeom>
          <a:noFill/>
          <a:ln/>
        </p:spPr>
        <p:txBody>
          <a:bodyPr wrap="square" lIns="0" tIns="0" rIns="0" bIns="0" rtlCol="0" anchor="t"/>
          <a:lstStyle/>
          <a:p>
            <a:pPr indent="0" marL="0">
              <a:buNone/>
            </a:pPr>
            <a:r>
              <a:rPr lang="en-US" sz="2000" dirty="0">
                <a:solidFill>
                  <a:srgbClr val="11344E"/>
                </a:solidFill>
                <a:latin typeface="Times New Roman" pitchFamily="34" charset="0"/>
                <a:ea typeface="Times New Roman" pitchFamily="34" charset="-122"/>
                <a:cs typeface="Times New Roman" pitchFamily="34" charset="-120"/>
              </a:rPr>
              <a:t>m = 1/2:   y + 3 = (1/2)(x − 4)   →   y = (1/2)x − 5</a:t>
            </a:r>
            <a:endParaRPr lang="en-US" sz="2000" dirty="0"/>
          </a:p>
        </p:txBody>
      </p:sp>
      <p:sp>
        <p:nvSpPr>
          <p:cNvPr id="17" name="Shape 14"/>
          <p:cNvSpPr/>
          <p:nvPr/>
        </p:nvSpPr>
        <p:spPr>
          <a:xfrm>
            <a:off x="5852160" y="4663440"/>
            <a:ext cx="5486400" cy="914400"/>
          </a:xfrm>
          <a:prstGeom prst="roundRect">
            <a:avLst>
              <a:gd name="adj" fmla="val 8000"/>
            </a:avLst>
          </a:prstGeom>
          <a:solidFill>
            <a:srgbClr val="FBEDEB"/>
          </a:solidFill>
          <a:ln w="12700">
            <a:solidFill>
              <a:srgbClr val="FBEDEB"/>
            </a:solidFill>
            <a:prstDash val="solid"/>
          </a:ln>
        </p:spPr>
      </p:sp>
      <p:sp>
        <p:nvSpPr>
          <p:cNvPr id="18" name="Text 15"/>
          <p:cNvSpPr txBox="1"/>
          <p:nvPr/>
        </p:nvSpPr>
        <p:spPr>
          <a:xfrm>
            <a:off x="6035040" y="4663440"/>
            <a:ext cx="5212080" cy="914400"/>
          </a:xfrm>
          <a:prstGeom prst="rect">
            <a:avLst/>
          </a:prstGeom>
          <a:noFill/>
          <a:ln/>
        </p:spPr>
        <p:txBody>
          <a:bodyPr wrap="square" lIns="0" tIns="0" rIns="0" bIns="0" rtlCol="0" anchor="ctr"/>
          <a:lstStyle/>
          <a:p>
            <a:pPr indent="0" marL="0">
              <a:buNone/>
            </a:pPr>
            <a:r>
              <a:rPr lang="en-US" sz="1400" dirty="0">
                <a:solidFill>
                  <a:srgbClr val="B03A2E"/>
                </a:solidFill>
                <a:latin typeface="Arial" pitchFamily="34" charset="0"/>
                <a:ea typeface="Arial" pitchFamily="34" charset="-122"/>
                <a:cs typeface="Arial" pitchFamily="34" charset="-120"/>
              </a:rPr>
              <a:t>Do not keep the original intercept 7. Substitute (4, −3) to check both lines.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E: maximum height</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Section 3.1: the vertex of a quadratic model</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20</a:t>
            </a:r>
            <a:endParaRPr lang="en-US" sz="800" dirty="0"/>
          </a:p>
        </p:txBody>
      </p:sp>
      <p:sp>
        <p:nvSpPr>
          <p:cNvPr id="6" name="Shape 3"/>
          <p:cNvSpPr/>
          <p:nvPr/>
        </p:nvSpPr>
        <p:spPr>
          <a:xfrm>
            <a:off x="9464040" y="411480"/>
            <a:ext cx="2148840" cy="457200"/>
          </a:xfrm>
          <a:prstGeom prst="roundRect">
            <a:avLst>
              <a:gd name="adj" fmla="val 16000"/>
            </a:avLst>
          </a:prstGeom>
          <a:solidFill>
            <a:srgbClr val="EAF5F0"/>
          </a:solidFill>
          <a:ln w="12700">
            <a:solidFill>
              <a:srgbClr val="EAF5F0"/>
            </a:solidFill>
            <a:prstDash val="solid"/>
          </a:ln>
        </p:spPr>
      </p:sp>
      <p:sp>
        <p:nvSpPr>
          <p:cNvPr id="7" name="Text 4"/>
          <p:cNvSpPr txBox="1"/>
          <p:nvPr/>
        </p:nvSpPr>
        <p:spPr>
          <a:xfrm>
            <a:off x="9464040" y="411480"/>
            <a:ext cx="2148840" cy="457200"/>
          </a:xfrm>
          <a:prstGeom prst="rect">
            <a:avLst/>
          </a:prstGeom>
          <a:noFill/>
          <a:ln/>
        </p:spPr>
        <p:txBody>
          <a:bodyPr wrap="square" lIns="0" tIns="0" rIns="0" bIns="0" rtlCol="0" anchor="ctr"/>
          <a:lstStyle/>
          <a:p>
            <a:pPr algn="ctr" indent="0" marL="0">
              <a:buNone/>
            </a:pPr>
            <a:r>
              <a:rPr lang="en-US" sz="1300" b="1" dirty="0">
                <a:solidFill>
                  <a:srgbClr val="1B7F5E"/>
                </a:solidFill>
                <a:latin typeface="Arial" pitchFamily="34" charset="0"/>
                <a:ea typeface="Arial" pitchFamily="34" charset="-122"/>
                <a:cs typeface="Arial" pitchFamily="34" charset="-120"/>
              </a:rPr>
              <a:t>4 minutes</a:t>
            </a:r>
            <a:endParaRPr lang="en-US" sz="1300" dirty="0"/>
          </a:p>
        </p:txBody>
      </p:sp>
      <p:sp>
        <p:nvSpPr>
          <p:cNvPr id="8" name="Text 5"/>
          <p:cNvSpPr txBox="1"/>
          <p:nvPr/>
        </p:nvSpPr>
        <p:spPr>
          <a:xfrm>
            <a:off x="548640" y="1554480"/>
            <a:ext cx="6400800" cy="822960"/>
          </a:xfrm>
          <a:prstGeom prst="rect">
            <a:avLst/>
          </a:prstGeom>
          <a:noFill/>
          <a:ln/>
        </p:spPr>
        <p:txBody>
          <a:bodyPr wrap="square" lIns="0" tIns="0" rIns="0" bIns="0" rtlCol="0" anchor="t"/>
          <a:lstStyle/>
          <a:p>
            <a:pPr indent="0" marL="0">
              <a:buNone/>
            </a:pPr>
            <a:r>
              <a:rPr lang="en-US" sz="1700" dirty="0">
                <a:solidFill>
                  <a:srgbClr val="11344E"/>
                </a:solidFill>
                <a:latin typeface="Arial" pitchFamily="34" charset="0"/>
                <a:ea typeface="Arial" pitchFamily="34" charset="-122"/>
                <a:cs typeface="Arial" pitchFamily="34" charset="-120"/>
              </a:rPr>
              <a:t>A ball is thrown straight up. Its height h, in feet, after t seconds is given. Find the maximum height.</a:t>
            </a:r>
            <a:endParaRPr lang="en-US" sz="1700" dirty="0"/>
          </a:p>
        </p:txBody>
      </p:sp>
      <p:sp>
        <p:nvSpPr>
          <p:cNvPr id="9" name="Text 6"/>
          <p:cNvSpPr txBox="1"/>
          <p:nvPr/>
        </p:nvSpPr>
        <p:spPr>
          <a:xfrm>
            <a:off x="548640" y="2651760"/>
            <a:ext cx="6400800" cy="548640"/>
          </a:xfrm>
          <a:prstGeom prst="rect">
            <a:avLst/>
          </a:prstGeom>
          <a:noFill/>
          <a:ln/>
        </p:spPr>
        <p:txBody>
          <a:bodyPr wrap="square" lIns="0" tIns="0" rIns="0" bIns="0" rtlCol="0" anchor="t"/>
          <a:lstStyle/>
          <a:p>
            <a:pPr indent="0" marL="0">
              <a:buNone/>
            </a:pPr>
            <a:r>
              <a:rPr lang="en-US" sz="2800" dirty="0">
                <a:solidFill>
                  <a:srgbClr val="11344E"/>
                </a:solidFill>
                <a:latin typeface="Times New Roman" pitchFamily="34" charset="0"/>
                <a:ea typeface="Times New Roman" pitchFamily="34" charset="-122"/>
                <a:cs typeface="Times New Roman" pitchFamily="34" charset="-120"/>
              </a:rPr>
              <a:t>1.   h(t) = 64t − 16t</a:t>
            </a:r>
            <a:pPr indent="0" marL="0">
              <a:buNone/>
            </a:pPr>
            <a:r>
              <a:rPr lang="en-US" sz="2800" baseline="30000" dirty="0">
                <a:solidFill>
                  <a:srgbClr val="11344E"/>
                </a:solidFill>
                <a:latin typeface="Times New Roman" pitchFamily="34" charset="0"/>
                <a:ea typeface="Times New Roman" pitchFamily="34" charset="-122"/>
                <a:cs typeface="Times New Roman" pitchFamily="34" charset="-120"/>
              </a:rPr>
              <a:t>2</a:t>
            </a:r>
            <a:endParaRPr lang="en-US" sz="2800" dirty="0"/>
          </a:p>
        </p:txBody>
      </p:sp>
      <p:sp>
        <p:nvSpPr>
          <p:cNvPr id="10" name="Text 7"/>
          <p:cNvSpPr txBox="1"/>
          <p:nvPr/>
        </p:nvSpPr>
        <p:spPr>
          <a:xfrm>
            <a:off x="548640" y="3566160"/>
            <a:ext cx="6400800" cy="548640"/>
          </a:xfrm>
          <a:prstGeom prst="rect">
            <a:avLst/>
          </a:prstGeom>
          <a:noFill/>
          <a:ln/>
        </p:spPr>
        <p:txBody>
          <a:bodyPr wrap="square" lIns="0" tIns="0" rIns="0" bIns="0" rtlCol="0" anchor="t"/>
          <a:lstStyle/>
          <a:p>
            <a:pPr indent="0" marL="0">
              <a:buNone/>
            </a:pPr>
            <a:r>
              <a:rPr lang="en-US" sz="2800" dirty="0">
                <a:solidFill>
                  <a:srgbClr val="11344E"/>
                </a:solidFill>
                <a:latin typeface="Times New Roman" pitchFamily="34" charset="0"/>
                <a:ea typeface="Times New Roman" pitchFamily="34" charset="-122"/>
                <a:cs typeface="Times New Roman" pitchFamily="34" charset="-120"/>
              </a:rPr>
              <a:t>2.   h(t) = −16t</a:t>
            </a:r>
            <a:pPr indent="0" marL="0">
              <a:buNone/>
            </a:pPr>
            <a:r>
              <a:rPr lang="en-US" sz="2800" baseline="30000" dirty="0">
                <a:solidFill>
                  <a:srgbClr val="11344E"/>
                </a:solidFill>
                <a:latin typeface="Times New Roman" pitchFamily="34" charset="0"/>
                <a:ea typeface="Times New Roman" pitchFamily="34" charset="-122"/>
                <a:cs typeface="Times New Roman" pitchFamily="34" charset="-120"/>
              </a:rPr>
              <a:t>2</a:t>
            </a:r>
            <a:pPr indent="0" marL="0">
              <a:buNone/>
            </a:pPr>
            <a:r>
              <a:rPr lang="en-US" sz="2800" dirty="0">
                <a:solidFill>
                  <a:srgbClr val="11344E"/>
                </a:solidFill>
                <a:latin typeface="Times New Roman" pitchFamily="34" charset="0"/>
                <a:ea typeface="Times New Roman" pitchFamily="34" charset="-122"/>
                <a:cs typeface="Times New Roman" pitchFamily="34" charset="-120"/>
              </a:rPr>
              <a:t> + 96t + 6</a:t>
            </a:r>
            <a:endParaRPr lang="en-US" sz="2800" dirty="0"/>
          </a:p>
        </p:txBody>
      </p:sp>
      <p:sp>
        <p:nvSpPr>
          <p:cNvPr id="11" name="Shape 8"/>
          <p:cNvSpPr/>
          <p:nvPr/>
        </p:nvSpPr>
        <p:spPr>
          <a:xfrm>
            <a:off x="7406640" y="1554480"/>
            <a:ext cx="4206240" cy="4206240"/>
          </a:xfrm>
          <a:prstGeom prst="roundRect">
            <a:avLst>
              <a:gd name="adj" fmla="val 1739"/>
            </a:avLst>
          </a:prstGeom>
          <a:solidFill>
            <a:srgbClr val="EEF4F9"/>
          </a:solidFill>
          <a:ln w="12700">
            <a:solidFill>
              <a:srgbClr val="EEF4F9"/>
            </a:solidFill>
            <a:prstDash val="solid"/>
          </a:ln>
        </p:spPr>
      </p:sp>
      <p:sp>
        <p:nvSpPr>
          <p:cNvPr id="12" name="Text 9"/>
          <p:cNvSpPr txBox="1"/>
          <p:nvPr/>
        </p:nvSpPr>
        <p:spPr>
          <a:xfrm>
            <a:off x="7680960" y="1737360"/>
            <a:ext cx="3657600" cy="365760"/>
          </a:xfrm>
          <a:prstGeom prst="rect">
            <a:avLst/>
          </a:prstGeom>
          <a:noFill/>
          <a:ln/>
        </p:spPr>
        <p:txBody>
          <a:bodyPr wrap="square" lIns="0" tIns="0" rIns="0" bIns="0" rtlCol="0" anchor="t"/>
          <a:lstStyle/>
          <a:p>
            <a:pPr indent="0" marL="0">
              <a:buNone/>
            </a:pPr>
            <a:r>
              <a:rPr lang="en-US" sz="1700" b="1" dirty="0">
                <a:solidFill>
                  <a:srgbClr val="1777B4"/>
                </a:solidFill>
                <a:latin typeface="Arial" pitchFamily="34" charset="0"/>
                <a:ea typeface="Arial" pitchFamily="34" charset="-122"/>
                <a:cs typeface="Arial" pitchFamily="34" charset="-120"/>
              </a:rPr>
              <a:t>Two steps</a:t>
            </a:r>
            <a:endParaRPr lang="en-US" sz="1700" dirty="0"/>
          </a:p>
        </p:txBody>
      </p:sp>
      <p:sp>
        <p:nvSpPr>
          <p:cNvPr id="13" name="Shape 10"/>
          <p:cNvSpPr/>
          <p:nvPr/>
        </p:nvSpPr>
        <p:spPr>
          <a:xfrm>
            <a:off x="7680960" y="2331720"/>
            <a:ext cx="420624" cy="420624"/>
          </a:xfrm>
          <a:prstGeom prst="ellipse">
            <a:avLst/>
          </a:prstGeom>
          <a:solidFill>
            <a:srgbClr val="1777B4"/>
          </a:solidFill>
          <a:ln w="12700">
            <a:solidFill>
              <a:srgbClr val="1777B4"/>
            </a:solidFill>
            <a:prstDash val="solid"/>
          </a:ln>
        </p:spPr>
      </p:sp>
      <p:sp>
        <p:nvSpPr>
          <p:cNvPr id="14" name="Text 11"/>
          <p:cNvSpPr txBox="1"/>
          <p:nvPr/>
        </p:nvSpPr>
        <p:spPr>
          <a:xfrm>
            <a:off x="768096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5" name="Text 12"/>
          <p:cNvSpPr txBox="1"/>
          <p:nvPr/>
        </p:nvSpPr>
        <p:spPr>
          <a:xfrm>
            <a:off x="8275320" y="2331720"/>
            <a:ext cx="3108960" cy="420624"/>
          </a:xfrm>
          <a:prstGeom prst="rect">
            <a:avLst/>
          </a:prstGeom>
          <a:noFill/>
          <a:ln/>
        </p:spPr>
        <p:txBody>
          <a:bodyPr wrap="square" lIns="0" tIns="0" rIns="0" bIns="0" rtlCol="0" anchor="ctr"/>
          <a:lstStyle/>
          <a:p>
            <a:pPr indent="0" marL="0">
              <a:buNone/>
            </a:pPr>
            <a:r>
              <a:rPr lang="en-US" sz="1500" b="1" dirty="0">
                <a:solidFill>
                  <a:srgbClr val="11344E"/>
                </a:solidFill>
                <a:latin typeface="Arial" pitchFamily="34" charset="0"/>
                <a:ea typeface="Arial" pitchFamily="34" charset="-122"/>
                <a:cs typeface="Arial" pitchFamily="34" charset="-120"/>
              </a:rPr>
              <a:t>Time of the vertex</a:t>
            </a:r>
            <a:endParaRPr lang="en-US" sz="1500" dirty="0"/>
          </a:p>
        </p:txBody>
      </p:sp>
      <p:sp>
        <p:nvSpPr>
          <p:cNvPr id="16" name="Text 13"/>
          <p:cNvSpPr txBox="1"/>
          <p:nvPr/>
        </p:nvSpPr>
        <p:spPr>
          <a:xfrm>
            <a:off x="8275320" y="2788920"/>
            <a:ext cx="310896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t = −b / (2a)</a:t>
            </a:r>
            <a:endParaRPr lang="en-US" sz="2200" dirty="0"/>
          </a:p>
        </p:txBody>
      </p:sp>
      <p:sp>
        <p:nvSpPr>
          <p:cNvPr id="17" name="Shape 14"/>
          <p:cNvSpPr/>
          <p:nvPr/>
        </p:nvSpPr>
        <p:spPr>
          <a:xfrm>
            <a:off x="7680960" y="3566160"/>
            <a:ext cx="420624" cy="420624"/>
          </a:xfrm>
          <a:prstGeom prst="ellipse">
            <a:avLst/>
          </a:prstGeom>
          <a:solidFill>
            <a:srgbClr val="1777B4"/>
          </a:solidFill>
          <a:ln w="12700">
            <a:solidFill>
              <a:srgbClr val="1777B4"/>
            </a:solidFill>
            <a:prstDash val="solid"/>
          </a:ln>
        </p:spPr>
      </p:sp>
      <p:sp>
        <p:nvSpPr>
          <p:cNvPr id="18" name="Text 15"/>
          <p:cNvSpPr txBox="1"/>
          <p:nvPr/>
        </p:nvSpPr>
        <p:spPr>
          <a:xfrm>
            <a:off x="7680960" y="35661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9" name="Text 16"/>
          <p:cNvSpPr txBox="1"/>
          <p:nvPr/>
        </p:nvSpPr>
        <p:spPr>
          <a:xfrm>
            <a:off x="8275320" y="3566160"/>
            <a:ext cx="3108960" cy="420624"/>
          </a:xfrm>
          <a:prstGeom prst="rect">
            <a:avLst/>
          </a:prstGeom>
          <a:noFill/>
          <a:ln/>
        </p:spPr>
        <p:txBody>
          <a:bodyPr wrap="square" lIns="0" tIns="0" rIns="0" bIns="0" rtlCol="0" anchor="ctr"/>
          <a:lstStyle/>
          <a:p>
            <a:pPr indent="0" marL="0">
              <a:buNone/>
            </a:pPr>
            <a:r>
              <a:rPr lang="en-US" sz="1500" b="1" dirty="0">
                <a:solidFill>
                  <a:srgbClr val="11344E"/>
                </a:solidFill>
                <a:latin typeface="Arial" pitchFamily="34" charset="0"/>
                <a:ea typeface="Arial" pitchFamily="34" charset="-122"/>
                <a:cs typeface="Arial" pitchFamily="34" charset="-120"/>
              </a:rPr>
              <a:t>Height at that time</a:t>
            </a:r>
            <a:endParaRPr lang="en-US" sz="1500" dirty="0"/>
          </a:p>
        </p:txBody>
      </p:sp>
      <p:sp>
        <p:nvSpPr>
          <p:cNvPr id="20" name="Text 17"/>
          <p:cNvSpPr txBox="1"/>
          <p:nvPr/>
        </p:nvSpPr>
        <p:spPr>
          <a:xfrm>
            <a:off x="8275320" y="4023360"/>
            <a:ext cx="3108960" cy="457200"/>
          </a:xfrm>
          <a:prstGeom prst="rect">
            <a:avLst/>
          </a:prstGeom>
          <a:noFill/>
          <a:ln/>
        </p:spPr>
        <p:txBody>
          <a:bodyPr wrap="square" lIns="0" tIns="0" rIns="0" bIns="0" rtlCol="0" anchor="t"/>
          <a:lstStyle/>
          <a:p>
            <a:pPr indent="0" marL="0">
              <a:buNone/>
            </a:pPr>
            <a:r>
              <a:rPr lang="en-US" sz="2200" dirty="0">
                <a:solidFill>
                  <a:srgbClr val="11344E"/>
                </a:solidFill>
                <a:latin typeface="Times New Roman" pitchFamily="34" charset="0"/>
                <a:ea typeface="Times New Roman" pitchFamily="34" charset="-122"/>
                <a:cs typeface="Times New Roman" pitchFamily="34" charset="-120"/>
              </a:rPr>
              <a:t>maximum = h(t)</a:t>
            </a:r>
            <a:endParaRPr lang="en-US" sz="2200" dirty="0"/>
          </a:p>
        </p:txBody>
      </p:sp>
      <p:sp>
        <p:nvSpPr>
          <p:cNvPr id="21" name="Text 18"/>
          <p:cNvSpPr txBox="1"/>
          <p:nvPr/>
        </p:nvSpPr>
        <p:spPr>
          <a:xfrm>
            <a:off x="7680960" y="4800600"/>
            <a:ext cx="3657600" cy="73152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a &lt; 0, so the parabola opens down and the vertex is a maximum.</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Round E: solutions</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The answer is a height in feet, not a time in seconds</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21</a:t>
            </a:r>
            <a:endParaRPr lang="en-US" sz="800" dirty="0"/>
          </a:p>
        </p:txBody>
      </p:sp>
      <p:sp>
        <p:nvSpPr>
          <p:cNvPr id="6" name="Text 3"/>
          <p:cNvSpPr txBox="1"/>
          <p:nvPr/>
        </p:nvSpPr>
        <p:spPr>
          <a:xfrm>
            <a:off x="548640" y="1600200"/>
            <a:ext cx="5943600" cy="457200"/>
          </a:xfrm>
          <a:prstGeom prst="rect">
            <a:avLst/>
          </a:prstGeom>
          <a:noFill/>
          <a:ln/>
        </p:spPr>
        <p:txBody>
          <a:bodyPr wrap="square" lIns="0" tIns="0" rIns="0" bIns="0" rtlCol="0" anchor="t"/>
          <a:lstStyle/>
          <a:p>
            <a:pPr indent="0" marL="0">
              <a:buNone/>
            </a:pPr>
            <a:r>
              <a:rPr lang="en-US" sz="2100" dirty="0">
                <a:solidFill>
                  <a:srgbClr val="11344E"/>
                </a:solidFill>
                <a:latin typeface="Times New Roman" pitchFamily="34" charset="0"/>
                <a:ea typeface="Times New Roman" pitchFamily="34" charset="-122"/>
                <a:cs typeface="Times New Roman" pitchFamily="34" charset="-120"/>
              </a:rPr>
              <a:t>1.   a = −16, b = 64</a:t>
            </a:r>
            <a:endParaRPr lang="en-US" sz="2100" dirty="0"/>
          </a:p>
        </p:txBody>
      </p:sp>
      <p:sp>
        <p:nvSpPr>
          <p:cNvPr id="7" name="Text 4"/>
          <p:cNvSpPr txBox="1"/>
          <p:nvPr/>
        </p:nvSpPr>
        <p:spPr>
          <a:xfrm>
            <a:off x="548640" y="2194560"/>
            <a:ext cx="5943600" cy="457200"/>
          </a:xfrm>
          <a:prstGeom prst="rect">
            <a:avLst/>
          </a:prstGeom>
          <a:noFill/>
          <a:ln/>
        </p:spPr>
        <p:txBody>
          <a:bodyPr wrap="square" lIns="0" tIns="0" rIns="0" bIns="0" rtlCol="0" anchor="t"/>
          <a:lstStyle/>
          <a:p>
            <a:pPr indent="0" marL="0">
              <a:buNone/>
            </a:pPr>
            <a:r>
              <a:rPr lang="en-US" sz="2100" dirty="0">
                <a:solidFill>
                  <a:srgbClr val="11344E"/>
                </a:solidFill>
                <a:latin typeface="Times New Roman" pitchFamily="34" charset="0"/>
                <a:ea typeface="Times New Roman" pitchFamily="34" charset="-122"/>
                <a:cs typeface="Times New Roman" pitchFamily="34" charset="-120"/>
              </a:rPr>
              <a:t>      t = −64 / (2(−16)) = 2 s</a:t>
            </a:r>
            <a:endParaRPr lang="en-US" sz="2100" dirty="0"/>
          </a:p>
        </p:txBody>
      </p:sp>
      <p:sp>
        <p:nvSpPr>
          <p:cNvPr id="8" name="Text 5"/>
          <p:cNvSpPr txBox="1"/>
          <p:nvPr/>
        </p:nvSpPr>
        <p:spPr>
          <a:xfrm>
            <a:off x="548640" y="2788920"/>
            <a:ext cx="6400800" cy="457200"/>
          </a:xfrm>
          <a:prstGeom prst="rect">
            <a:avLst/>
          </a:prstGeom>
          <a:noFill/>
          <a:ln/>
        </p:spPr>
        <p:txBody>
          <a:bodyPr wrap="square" lIns="0" tIns="0" rIns="0" bIns="0" rtlCol="0" anchor="t"/>
          <a:lstStyle/>
          <a:p>
            <a:pPr indent="0" marL="0">
              <a:buNone/>
            </a:pPr>
            <a:r>
              <a:rPr lang="en-US" sz="2100" b="1" dirty="0">
                <a:solidFill>
                  <a:srgbClr val="1777B4"/>
                </a:solidFill>
                <a:latin typeface="Times New Roman" pitchFamily="34" charset="0"/>
                <a:ea typeface="Times New Roman" pitchFamily="34" charset="-122"/>
                <a:cs typeface="Times New Roman" pitchFamily="34" charset="-120"/>
              </a:rPr>
              <a:t>      h(2) = 64(2) − 16(2)</a:t>
            </a:r>
            <a:pPr indent="0" marL="0">
              <a:buNone/>
            </a:pPr>
            <a:r>
              <a:rPr lang="en-US" sz="2100" b="1" baseline="30000" dirty="0">
                <a:solidFill>
                  <a:srgbClr val="1777B4"/>
                </a:solidFill>
                <a:latin typeface="Times New Roman" pitchFamily="34" charset="0"/>
                <a:ea typeface="Times New Roman" pitchFamily="34" charset="-122"/>
                <a:cs typeface="Times New Roman" pitchFamily="34" charset="-120"/>
              </a:rPr>
              <a:t>2</a:t>
            </a:r>
            <a:pPr indent="0" marL="0">
              <a:buNone/>
            </a:pPr>
            <a:r>
              <a:rPr lang="en-US" sz="2100" b="1" dirty="0">
                <a:solidFill>
                  <a:srgbClr val="1777B4"/>
                </a:solidFill>
                <a:latin typeface="Times New Roman" pitchFamily="34" charset="0"/>
                <a:ea typeface="Times New Roman" pitchFamily="34" charset="-122"/>
                <a:cs typeface="Times New Roman" pitchFamily="34" charset="-120"/>
              </a:rPr>
              <a:t> = 128 − 64 = 64 ft</a:t>
            </a:r>
            <a:endParaRPr lang="en-US" sz="2100" dirty="0"/>
          </a:p>
        </p:txBody>
      </p:sp>
      <p:sp>
        <p:nvSpPr>
          <p:cNvPr id="9" name="Text 6"/>
          <p:cNvSpPr txBox="1"/>
          <p:nvPr/>
        </p:nvSpPr>
        <p:spPr>
          <a:xfrm>
            <a:off x="548640" y="3657600"/>
            <a:ext cx="5943600" cy="457200"/>
          </a:xfrm>
          <a:prstGeom prst="rect">
            <a:avLst/>
          </a:prstGeom>
          <a:noFill/>
          <a:ln/>
        </p:spPr>
        <p:txBody>
          <a:bodyPr wrap="square" lIns="0" tIns="0" rIns="0" bIns="0" rtlCol="0" anchor="t"/>
          <a:lstStyle/>
          <a:p>
            <a:pPr indent="0" marL="0">
              <a:buNone/>
            </a:pPr>
            <a:r>
              <a:rPr lang="en-US" sz="2100" dirty="0">
                <a:solidFill>
                  <a:srgbClr val="11344E"/>
                </a:solidFill>
                <a:latin typeface="Times New Roman" pitchFamily="34" charset="0"/>
                <a:ea typeface="Times New Roman" pitchFamily="34" charset="-122"/>
                <a:cs typeface="Times New Roman" pitchFamily="34" charset="-120"/>
              </a:rPr>
              <a:t>2.   t = −96 / (2(−16)) = 3 s</a:t>
            </a:r>
            <a:endParaRPr lang="en-US" sz="2100" dirty="0"/>
          </a:p>
        </p:txBody>
      </p:sp>
      <p:sp>
        <p:nvSpPr>
          <p:cNvPr id="10" name="Text 7"/>
          <p:cNvSpPr txBox="1"/>
          <p:nvPr/>
        </p:nvSpPr>
        <p:spPr>
          <a:xfrm>
            <a:off x="548640" y="4251960"/>
            <a:ext cx="6400800" cy="457200"/>
          </a:xfrm>
          <a:prstGeom prst="rect">
            <a:avLst/>
          </a:prstGeom>
          <a:noFill/>
          <a:ln/>
        </p:spPr>
        <p:txBody>
          <a:bodyPr wrap="square" lIns="0" tIns="0" rIns="0" bIns="0" rtlCol="0" anchor="t"/>
          <a:lstStyle/>
          <a:p>
            <a:pPr indent="0" marL="0">
              <a:buNone/>
            </a:pPr>
            <a:r>
              <a:rPr lang="en-US" sz="2100" b="1" dirty="0">
                <a:solidFill>
                  <a:srgbClr val="1777B4"/>
                </a:solidFill>
                <a:latin typeface="Times New Roman" pitchFamily="34" charset="0"/>
                <a:ea typeface="Times New Roman" pitchFamily="34" charset="-122"/>
                <a:cs typeface="Times New Roman" pitchFamily="34" charset="-120"/>
              </a:rPr>
              <a:t>      h(3) = −16(3)</a:t>
            </a:r>
            <a:pPr indent="0" marL="0">
              <a:buNone/>
            </a:pPr>
            <a:r>
              <a:rPr lang="en-US" sz="2100" b="1" baseline="30000" dirty="0">
                <a:solidFill>
                  <a:srgbClr val="1777B4"/>
                </a:solidFill>
                <a:latin typeface="Times New Roman" pitchFamily="34" charset="0"/>
                <a:ea typeface="Times New Roman" pitchFamily="34" charset="-122"/>
                <a:cs typeface="Times New Roman" pitchFamily="34" charset="-120"/>
              </a:rPr>
              <a:t>2</a:t>
            </a:r>
            <a:pPr indent="0" marL="0">
              <a:buNone/>
            </a:pPr>
            <a:r>
              <a:rPr lang="en-US" sz="2100" b="1" dirty="0">
                <a:solidFill>
                  <a:srgbClr val="1777B4"/>
                </a:solidFill>
                <a:latin typeface="Times New Roman" pitchFamily="34" charset="0"/>
                <a:ea typeface="Times New Roman" pitchFamily="34" charset="-122"/>
                <a:cs typeface="Times New Roman" pitchFamily="34" charset="-120"/>
              </a:rPr>
              <a:t> + 96(3) + 6 = 150 ft</a:t>
            </a:r>
            <a:endParaRPr lang="en-US" sz="2100" dirty="0"/>
          </a:p>
        </p:txBody>
      </p:sp>
      <p:sp>
        <p:nvSpPr>
          <p:cNvPr id="11" name="Shape 8"/>
          <p:cNvSpPr/>
          <p:nvPr/>
        </p:nvSpPr>
        <p:spPr>
          <a:xfrm>
            <a:off x="548640" y="5074920"/>
            <a:ext cx="6400800" cy="868680"/>
          </a:xfrm>
          <a:prstGeom prst="roundRect">
            <a:avLst>
              <a:gd name="adj" fmla="val 8421"/>
            </a:avLst>
          </a:prstGeom>
          <a:solidFill>
            <a:srgbClr val="FBEDEB"/>
          </a:solidFill>
          <a:ln w="12700">
            <a:solidFill>
              <a:srgbClr val="FBEDEB"/>
            </a:solidFill>
            <a:prstDash val="solid"/>
          </a:ln>
        </p:spPr>
      </p:sp>
      <p:sp>
        <p:nvSpPr>
          <p:cNvPr id="12" name="Text 9"/>
          <p:cNvSpPr txBox="1"/>
          <p:nvPr/>
        </p:nvSpPr>
        <p:spPr>
          <a:xfrm>
            <a:off x="777240" y="5074920"/>
            <a:ext cx="5669280" cy="868680"/>
          </a:xfrm>
          <a:prstGeom prst="rect">
            <a:avLst/>
          </a:prstGeom>
          <a:noFill/>
          <a:ln/>
        </p:spPr>
        <p:txBody>
          <a:bodyPr wrap="square" lIns="0" tIns="0" rIns="0" bIns="0" rtlCol="0" anchor="ctr"/>
          <a:lstStyle/>
          <a:p>
            <a:pPr indent="0" marL="0">
              <a:buNone/>
            </a:pPr>
            <a:r>
              <a:rPr lang="en-US" sz="1500" dirty="0">
                <a:solidFill>
                  <a:srgbClr val="B03A2E"/>
                </a:solidFill>
                <a:latin typeface="Arial" pitchFamily="34" charset="0"/>
                <a:ea typeface="Arial" pitchFamily="34" charset="-122"/>
                <a:cs typeface="Arial" pitchFamily="34" charset="-120"/>
              </a:rPr>
              <a:t>Stopping at t = 2 answers “when,” not “how high.”</a:t>
            </a:r>
            <a:endParaRPr lang="en-US" sz="1500" dirty="0"/>
          </a:p>
        </p:txBody>
      </p:sp>
      <p:sp>
        <p:nvSpPr>
          <p:cNvPr id="13" name="Shape 10"/>
          <p:cNvSpPr/>
          <p:nvPr/>
        </p:nvSpPr>
        <p:spPr>
          <a:xfrm>
            <a:off x="7772400" y="1645920"/>
            <a:ext cx="91" cy="3749040"/>
          </a:xfrm>
          <a:prstGeom prst="line">
            <a:avLst/>
          </a:prstGeom>
          <a:noFill/>
          <a:ln w="6350">
            <a:solidFill>
              <a:srgbClr val="DCE3E8"/>
            </a:solidFill>
            <a:prstDash val="solid"/>
          </a:ln>
        </p:spPr>
      </p:sp>
      <p:sp>
        <p:nvSpPr>
          <p:cNvPr id="14" name="Shape 11"/>
          <p:cNvSpPr/>
          <p:nvPr/>
        </p:nvSpPr>
        <p:spPr>
          <a:xfrm>
            <a:off x="8709660" y="1645920"/>
            <a:ext cx="91" cy="3749040"/>
          </a:xfrm>
          <a:prstGeom prst="line">
            <a:avLst/>
          </a:prstGeom>
          <a:noFill/>
          <a:ln w="6350">
            <a:solidFill>
              <a:srgbClr val="DCE3E8"/>
            </a:solidFill>
            <a:prstDash val="solid"/>
          </a:ln>
        </p:spPr>
      </p:sp>
      <p:sp>
        <p:nvSpPr>
          <p:cNvPr id="15" name="Shape 12"/>
          <p:cNvSpPr/>
          <p:nvPr/>
        </p:nvSpPr>
        <p:spPr>
          <a:xfrm>
            <a:off x="9646920" y="1645920"/>
            <a:ext cx="91" cy="3749040"/>
          </a:xfrm>
          <a:prstGeom prst="line">
            <a:avLst/>
          </a:prstGeom>
          <a:noFill/>
          <a:ln w="6350">
            <a:solidFill>
              <a:srgbClr val="DCE3E8"/>
            </a:solidFill>
            <a:prstDash val="solid"/>
          </a:ln>
        </p:spPr>
      </p:sp>
      <p:sp>
        <p:nvSpPr>
          <p:cNvPr id="16" name="Shape 13"/>
          <p:cNvSpPr/>
          <p:nvPr/>
        </p:nvSpPr>
        <p:spPr>
          <a:xfrm>
            <a:off x="10584180" y="1645920"/>
            <a:ext cx="91" cy="3749040"/>
          </a:xfrm>
          <a:prstGeom prst="line">
            <a:avLst/>
          </a:prstGeom>
          <a:noFill/>
          <a:ln w="6350">
            <a:solidFill>
              <a:srgbClr val="DCE3E8"/>
            </a:solidFill>
            <a:prstDash val="solid"/>
          </a:ln>
        </p:spPr>
      </p:sp>
      <p:sp>
        <p:nvSpPr>
          <p:cNvPr id="17" name="Shape 14"/>
          <p:cNvSpPr/>
          <p:nvPr/>
        </p:nvSpPr>
        <p:spPr>
          <a:xfrm>
            <a:off x="11521440" y="1645920"/>
            <a:ext cx="91" cy="3749040"/>
          </a:xfrm>
          <a:prstGeom prst="line">
            <a:avLst/>
          </a:prstGeom>
          <a:noFill/>
          <a:ln w="6350">
            <a:solidFill>
              <a:srgbClr val="DCE3E8"/>
            </a:solidFill>
            <a:prstDash val="solid"/>
          </a:ln>
        </p:spPr>
      </p:sp>
      <p:sp>
        <p:nvSpPr>
          <p:cNvPr id="18" name="Shape 15"/>
          <p:cNvSpPr/>
          <p:nvPr/>
        </p:nvSpPr>
        <p:spPr>
          <a:xfrm>
            <a:off x="7772400" y="5394960"/>
            <a:ext cx="3749040" cy="91"/>
          </a:xfrm>
          <a:prstGeom prst="line">
            <a:avLst/>
          </a:prstGeom>
          <a:noFill/>
          <a:ln w="6350">
            <a:solidFill>
              <a:srgbClr val="DCE3E8"/>
            </a:solidFill>
            <a:prstDash val="solid"/>
          </a:ln>
        </p:spPr>
      </p:sp>
      <p:sp>
        <p:nvSpPr>
          <p:cNvPr id="19" name="Shape 16"/>
          <p:cNvSpPr/>
          <p:nvPr/>
        </p:nvSpPr>
        <p:spPr>
          <a:xfrm>
            <a:off x="7772400" y="4645152"/>
            <a:ext cx="3749040" cy="91"/>
          </a:xfrm>
          <a:prstGeom prst="line">
            <a:avLst/>
          </a:prstGeom>
          <a:noFill/>
          <a:ln w="6350">
            <a:solidFill>
              <a:srgbClr val="DCE3E8"/>
            </a:solidFill>
            <a:prstDash val="solid"/>
          </a:ln>
        </p:spPr>
      </p:sp>
      <p:sp>
        <p:nvSpPr>
          <p:cNvPr id="20" name="Shape 17"/>
          <p:cNvSpPr/>
          <p:nvPr/>
        </p:nvSpPr>
        <p:spPr>
          <a:xfrm>
            <a:off x="7772400" y="3895344"/>
            <a:ext cx="3749040" cy="91"/>
          </a:xfrm>
          <a:prstGeom prst="line">
            <a:avLst/>
          </a:prstGeom>
          <a:noFill/>
          <a:ln w="6350">
            <a:solidFill>
              <a:srgbClr val="DCE3E8"/>
            </a:solidFill>
            <a:prstDash val="solid"/>
          </a:ln>
        </p:spPr>
      </p:sp>
      <p:sp>
        <p:nvSpPr>
          <p:cNvPr id="21" name="Shape 18"/>
          <p:cNvSpPr/>
          <p:nvPr/>
        </p:nvSpPr>
        <p:spPr>
          <a:xfrm>
            <a:off x="7772400" y="3145536"/>
            <a:ext cx="3749040" cy="91"/>
          </a:xfrm>
          <a:prstGeom prst="line">
            <a:avLst/>
          </a:prstGeom>
          <a:noFill/>
          <a:ln w="6350">
            <a:solidFill>
              <a:srgbClr val="DCE3E8"/>
            </a:solidFill>
            <a:prstDash val="solid"/>
          </a:ln>
        </p:spPr>
      </p:sp>
      <p:sp>
        <p:nvSpPr>
          <p:cNvPr id="22" name="Shape 19"/>
          <p:cNvSpPr/>
          <p:nvPr/>
        </p:nvSpPr>
        <p:spPr>
          <a:xfrm>
            <a:off x="7772400" y="2395728"/>
            <a:ext cx="3749040" cy="91"/>
          </a:xfrm>
          <a:prstGeom prst="line">
            <a:avLst/>
          </a:prstGeom>
          <a:noFill/>
          <a:ln w="6350">
            <a:solidFill>
              <a:srgbClr val="DCE3E8"/>
            </a:solidFill>
            <a:prstDash val="solid"/>
          </a:ln>
        </p:spPr>
      </p:sp>
      <p:sp>
        <p:nvSpPr>
          <p:cNvPr id="23" name="Shape 20"/>
          <p:cNvSpPr/>
          <p:nvPr/>
        </p:nvSpPr>
        <p:spPr>
          <a:xfrm>
            <a:off x="7772400" y="1645920"/>
            <a:ext cx="3749040" cy="91"/>
          </a:xfrm>
          <a:prstGeom prst="line">
            <a:avLst/>
          </a:prstGeom>
          <a:noFill/>
          <a:ln w="6350">
            <a:solidFill>
              <a:srgbClr val="DCE3E8"/>
            </a:solidFill>
            <a:prstDash val="solid"/>
          </a:ln>
        </p:spPr>
      </p:sp>
      <p:sp>
        <p:nvSpPr>
          <p:cNvPr id="24" name="Shape 21"/>
          <p:cNvSpPr/>
          <p:nvPr/>
        </p:nvSpPr>
        <p:spPr>
          <a:xfrm>
            <a:off x="7772400" y="1645920"/>
            <a:ext cx="91" cy="3749040"/>
          </a:xfrm>
          <a:prstGeom prst="line">
            <a:avLst/>
          </a:prstGeom>
          <a:noFill/>
          <a:ln w="12700">
            <a:solidFill>
              <a:srgbClr val="5B6B75"/>
            </a:solidFill>
            <a:prstDash val="solid"/>
          </a:ln>
        </p:spPr>
      </p:sp>
      <p:sp>
        <p:nvSpPr>
          <p:cNvPr id="25" name="Shape 22"/>
          <p:cNvSpPr/>
          <p:nvPr/>
        </p:nvSpPr>
        <p:spPr>
          <a:xfrm>
            <a:off x="7772400" y="5394960"/>
            <a:ext cx="3749040" cy="91"/>
          </a:xfrm>
          <a:prstGeom prst="line">
            <a:avLst/>
          </a:prstGeom>
          <a:noFill/>
          <a:ln w="12700">
            <a:solidFill>
              <a:srgbClr val="5B6B75"/>
            </a:solidFill>
            <a:prstDash val="solid"/>
          </a:ln>
        </p:spPr>
      </p:sp>
      <p:sp>
        <p:nvSpPr>
          <p:cNvPr id="26" name="Text 23"/>
          <p:cNvSpPr txBox="1"/>
          <p:nvPr/>
        </p:nvSpPr>
        <p:spPr>
          <a:xfrm>
            <a:off x="8526780" y="5440680"/>
            <a:ext cx="365760" cy="182880"/>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1</a:t>
            </a:r>
            <a:endParaRPr lang="en-US" sz="900" dirty="0"/>
          </a:p>
        </p:txBody>
      </p:sp>
      <p:sp>
        <p:nvSpPr>
          <p:cNvPr id="27" name="Text 24"/>
          <p:cNvSpPr txBox="1"/>
          <p:nvPr/>
        </p:nvSpPr>
        <p:spPr>
          <a:xfrm>
            <a:off x="9464040" y="5440680"/>
            <a:ext cx="365760" cy="182880"/>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2</a:t>
            </a:r>
            <a:endParaRPr lang="en-US" sz="900" dirty="0"/>
          </a:p>
        </p:txBody>
      </p:sp>
      <p:sp>
        <p:nvSpPr>
          <p:cNvPr id="28" name="Text 25"/>
          <p:cNvSpPr txBox="1"/>
          <p:nvPr/>
        </p:nvSpPr>
        <p:spPr>
          <a:xfrm>
            <a:off x="10401300" y="5440680"/>
            <a:ext cx="365760" cy="182880"/>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3</a:t>
            </a:r>
            <a:endParaRPr lang="en-US" sz="900" dirty="0"/>
          </a:p>
        </p:txBody>
      </p:sp>
      <p:sp>
        <p:nvSpPr>
          <p:cNvPr id="29" name="Text 26"/>
          <p:cNvSpPr txBox="1"/>
          <p:nvPr/>
        </p:nvSpPr>
        <p:spPr>
          <a:xfrm>
            <a:off x="11338560" y="5440680"/>
            <a:ext cx="365760" cy="182880"/>
          </a:xfrm>
          <a:prstGeom prst="rect">
            <a:avLst/>
          </a:prstGeom>
          <a:noFill/>
          <a:ln/>
        </p:spPr>
        <p:txBody>
          <a:bodyPr wrap="square" lIns="0" tIns="0" rIns="0" bIns="0" rtlCol="0" anchor="t"/>
          <a:lstStyle/>
          <a:p>
            <a:pPr algn="ctr" indent="0" marL="0">
              <a:buNone/>
            </a:pPr>
            <a:r>
              <a:rPr lang="en-US" sz="900" dirty="0">
                <a:solidFill>
                  <a:srgbClr val="687783"/>
                </a:solidFill>
                <a:latin typeface="Arial" pitchFamily="34" charset="0"/>
                <a:ea typeface="Arial" pitchFamily="34" charset="-122"/>
                <a:cs typeface="Arial" pitchFamily="34" charset="-120"/>
              </a:rPr>
              <a:t>4</a:t>
            </a:r>
            <a:endParaRPr lang="en-US" sz="900" dirty="0"/>
          </a:p>
        </p:txBody>
      </p:sp>
      <p:sp>
        <p:nvSpPr>
          <p:cNvPr id="30" name="Text 27"/>
          <p:cNvSpPr txBox="1"/>
          <p:nvPr/>
        </p:nvSpPr>
        <p:spPr>
          <a:xfrm>
            <a:off x="7315200" y="4553712"/>
            <a:ext cx="384048" cy="182880"/>
          </a:xfrm>
          <a:prstGeom prst="rect">
            <a:avLst/>
          </a:prstGeom>
          <a:noFill/>
          <a:ln/>
        </p:spPr>
        <p:txBody>
          <a:bodyPr wrap="square" lIns="0" tIns="0" rIns="0" bIns="0" rtlCol="0" anchor="t"/>
          <a:lstStyle/>
          <a:p>
            <a:pPr algn="r" indent="0" marL="0">
              <a:buNone/>
            </a:pPr>
            <a:r>
              <a:rPr lang="en-US" sz="900" dirty="0">
                <a:solidFill>
                  <a:srgbClr val="687783"/>
                </a:solidFill>
                <a:latin typeface="Arial" pitchFamily="34" charset="0"/>
                <a:ea typeface="Arial" pitchFamily="34" charset="-122"/>
                <a:cs typeface="Arial" pitchFamily="34" charset="-120"/>
              </a:rPr>
              <a:t>16</a:t>
            </a:r>
            <a:endParaRPr lang="en-US" sz="900" dirty="0"/>
          </a:p>
        </p:txBody>
      </p:sp>
      <p:sp>
        <p:nvSpPr>
          <p:cNvPr id="31" name="Text 28"/>
          <p:cNvSpPr txBox="1"/>
          <p:nvPr/>
        </p:nvSpPr>
        <p:spPr>
          <a:xfrm>
            <a:off x="7315200" y="3803904"/>
            <a:ext cx="384048" cy="182880"/>
          </a:xfrm>
          <a:prstGeom prst="rect">
            <a:avLst/>
          </a:prstGeom>
          <a:noFill/>
          <a:ln/>
        </p:spPr>
        <p:txBody>
          <a:bodyPr wrap="square" lIns="0" tIns="0" rIns="0" bIns="0" rtlCol="0" anchor="t"/>
          <a:lstStyle/>
          <a:p>
            <a:pPr algn="r" indent="0" marL="0">
              <a:buNone/>
            </a:pPr>
            <a:r>
              <a:rPr lang="en-US" sz="900" dirty="0">
                <a:solidFill>
                  <a:srgbClr val="687783"/>
                </a:solidFill>
                <a:latin typeface="Arial" pitchFamily="34" charset="0"/>
                <a:ea typeface="Arial" pitchFamily="34" charset="-122"/>
                <a:cs typeface="Arial" pitchFamily="34" charset="-120"/>
              </a:rPr>
              <a:t>32</a:t>
            </a:r>
            <a:endParaRPr lang="en-US" sz="900" dirty="0"/>
          </a:p>
        </p:txBody>
      </p:sp>
      <p:sp>
        <p:nvSpPr>
          <p:cNvPr id="32" name="Text 29"/>
          <p:cNvSpPr txBox="1"/>
          <p:nvPr/>
        </p:nvSpPr>
        <p:spPr>
          <a:xfrm>
            <a:off x="7315200" y="3054096"/>
            <a:ext cx="384048" cy="182880"/>
          </a:xfrm>
          <a:prstGeom prst="rect">
            <a:avLst/>
          </a:prstGeom>
          <a:noFill/>
          <a:ln/>
        </p:spPr>
        <p:txBody>
          <a:bodyPr wrap="square" lIns="0" tIns="0" rIns="0" bIns="0" rtlCol="0" anchor="t"/>
          <a:lstStyle/>
          <a:p>
            <a:pPr algn="r" indent="0" marL="0">
              <a:buNone/>
            </a:pPr>
            <a:r>
              <a:rPr lang="en-US" sz="900" dirty="0">
                <a:solidFill>
                  <a:srgbClr val="687783"/>
                </a:solidFill>
                <a:latin typeface="Arial" pitchFamily="34" charset="0"/>
                <a:ea typeface="Arial" pitchFamily="34" charset="-122"/>
                <a:cs typeface="Arial" pitchFamily="34" charset="-120"/>
              </a:rPr>
              <a:t>48</a:t>
            </a:r>
            <a:endParaRPr lang="en-US" sz="900" dirty="0"/>
          </a:p>
        </p:txBody>
      </p:sp>
      <p:sp>
        <p:nvSpPr>
          <p:cNvPr id="33" name="Text 30"/>
          <p:cNvSpPr txBox="1"/>
          <p:nvPr/>
        </p:nvSpPr>
        <p:spPr>
          <a:xfrm>
            <a:off x="7315200" y="2304288"/>
            <a:ext cx="384048" cy="182880"/>
          </a:xfrm>
          <a:prstGeom prst="rect">
            <a:avLst/>
          </a:prstGeom>
          <a:noFill/>
          <a:ln/>
        </p:spPr>
        <p:txBody>
          <a:bodyPr wrap="square" lIns="0" tIns="0" rIns="0" bIns="0" rtlCol="0" anchor="t"/>
          <a:lstStyle/>
          <a:p>
            <a:pPr algn="r" indent="0" marL="0">
              <a:buNone/>
            </a:pPr>
            <a:r>
              <a:rPr lang="en-US" sz="900" dirty="0">
                <a:solidFill>
                  <a:srgbClr val="687783"/>
                </a:solidFill>
                <a:latin typeface="Arial" pitchFamily="34" charset="0"/>
                <a:ea typeface="Arial" pitchFamily="34" charset="-122"/>
                <a:cs typeface="Arial" pitchFamily="34" charset="-120"/>
              </a:rPr>
              <a:t>64</a:t>
            </a:r>
            <a:endParaRPr lang="en-US" sz="900" dirty="0"/>
          </a:p>
        </p:txBody>
      </p:sp>
      <p:sp>
        <p:nvSpPr>
          <p:cNvPr id="34" name="Text 31"/>
          <p:cNvSpPr txBox="1"/>
          <p:nvPr/>
        </p:nvSpPr>
        <p:spPr>
          <a:xfrm>
            <a:off x="7315200" y="1554480"/>
            <a:ext cx="384048" cy="182880"/>
          </a:xfrm>
          <a:prstGeom prst="rect">
            <a:avLst/>
          </a:prstGeom>
          <a:noFill/>
          <a:ln/>
        </p:spPr>
        <p:txBody>
          <a:bodyPr wrap="square" lIns="0" tIns="0" rIns="0" bIns="0" rtlCol="0" anchor="t"/>
          <a:lstStyle/>
          <a:p>
            <a:pPr algn="r" indent="0" marL="0">
              <a:buNone/>
            </a:pPr>
            <a:r>
              <a:rPr lang="en-US" sz="900" dirty="0">
                <a:solidFill>
                  <a:srgbClr val="687783"/>
                </a:solidFill>
                <a:latin typeface="Arial" pitchFamily="34" charset="0"/>
                <a:ea typeface="Arial" pitchFamily="34" charset="-122"/>
                <a:cs typeface="Arial" pitchFamily="34" charset="-120"/>
              </a:rPr>
              <a:t>80</a:t>
            </a:r>
            <a:endParaRPr lang="en-US" sz="900" dirty="0"/>
          </a:p>
        </p:txBody>
      </p:sp>
      <p:sp>
        <p:nvSpPr>
          <p:cNvPr id="35" name="Text 32"/>
          <p:cNvSpPr txBox="1"/>
          <p:nvPr/>
        </p:nvSpPr>
        <p:spPr>
          <a:xfrm>
            <a:off x="10972800" y="5623560"/>
            <a:ext cx="548640" cy="201168"/>
          </a:xfrm>
          <a:prstGeom prst="rect">
            <a:avLst/>
          </a:prstGeom>
          <a:noFill/>
          <a:ln/>
        </p:spPr>
        <p:txBody>
          <a:bodyPr wrap="square" lIns="0" tIns="0" rIns="0" bIns="0" rtlCol="0" anchor="t"/>
          <a:lstStyle/>
          <a:p>
            <a:pPr algn="r" indent="0" marL="0">
              <a:buNone/>
            </a:pPr>
            <a:r>
              <a:rPr lang="en-US" sz="1000" dirty="0">
                <a:solidFill>
                  <a:srgbClr val="687783"/>
                </a:solidFill>
                <a:latin typeface="Arial" pitchFamily="34" charset="0"/>
                <a:ea typeface="Arial" pitchFamily="34" charset="-122"/>
                <a:cs typeface="Arial" pitchFamily="34" charset="-120"/>
              </a:rPr>
              <a:t>t (s)</a:t>
            </a:r>
            <a:endParaRPr lang="en-US" sz="1000" dirty="0"/>
          </a:p>
        </p:txBody>
      </p:sp>
      <p:sp>
        <p:nvSpPr>
          <p:cNvPr id="36" name="Text 33"/>
          <p:cNvSpPr txBox="1"/>
          <p:nvPr/>
        </p:nvSpPr>
        <p:spPr>
          <a:xfrm>
            <a:off x="7269480" y="1371600"/>
            <a:ext cx="731520" cy="201168"/>
          </a:xfrm>
          <a:prstGeom prst="rect">
            <a:avLst/>
          </a:prstGeom>
          <a:noFill/>
          <a:ln/>
        </p:spPr>
        <p:txBody>
          <a:bodyPr wrap="square" lIns="0" tIns="0" rIns="0" bIns="0" rtlCol="0" anchor="t"/>
          <a:lstStyle/>
          <a:p>
            <a:pPr indent="0" marL="0">
              <a:buNone/>
            </a:pPr>
            <a:r>
              <a:rPr lang="en-US" sz="1000" dirty="0">
                <a:solidFill>
                  <a:srgbClr val="687783"/>
                </a:solidFill>
                <a:latin typeface="Arial" pitchFamily="34" charset="0"/>
                <a:ea typeface="Arial" pitchFamily="34" charset="-122"/>
                <a:cs typeface="Arial" pitchFamily="34" charset="-120"/>
              </a:rPr>
              <a:t>h (ft)</a:t>
            </a:r>
            <a:endParaRPr lang="en-US" sz="1000" dirty="0"/>
          </a:p>
        </p:txBody>
      </p:sp>
      <p:sp>
        <p:nvSpPr>
          <p:cNvPr id="37" name="Shape 34"/>
          <p:cNvSpPr/>
          <p:nvPr/>
        </p:nvSpPr>
        <p:spPr>
          <a:xfrm flipV="1">
            <a:off x="7772400" y="5102535"/>
            <a:ext cx="93726" cy="292425"/>
          </a:xfrm>
          <a:prstGeom prst="line">
            <a:avLst/>
          </a:prstGeom>
          <a:noFill/>
          <a:ln w="28575">
            <a:solidFill>
              <a:srgbClr val="1777B4"/>
            </a:solidFill>
            <a:prstDash val="solid"/>
          </a:ln>
        </p:spPr>
      </p:sp>
      <p:sp>
        <p:nvSpPr>
          <p:cNvPr id="38" name="Shape 35"/>
          <p:cNvSpPr/>
          <p:nvPr/>
        </p:nvSpPr>
        <p:spPr>
          <a:xfrm flipV="1">
            <a:off x="7866126" y="4825106"/>
            <a:ext cx="93726" cy="277429"/>
          </a:xfrm>
          <a:prstGeom prst="line">
            <a:avLst/>
          </a:prstGeom>
          <a:noFill/>
          <a:ln w="28575">
            <a:solidFill>
              <a:srgbClr val="1777B4"/>
            </a:solidFill>
            <a:prstDash val="solid"/>
          </a:ln>
        </p:spPr>
      </p:sp>
      <p:sp>
        <p:nvSpPr>
          <p:cNvPr id="39" name="Shape 36"/>
          <p:cNvSpPr/>
          <p:nvPr/>
        </p:nvSpPr>
        <p:spPr>
          <a:xfrm flipV="1">
            <a:off x="7959852" y="4562673"/>
            <a:ext cx="93726" cy="262433"/>
          </a:xfrm>
          <a:prstGeom prst="line">
            <a:avLst/>
          </a:prstGeom>
          <a:noFill/>
          <a:ln w="28575">
            <a:solidFill>
              <a:srgbClr val="1777B4"/>
            </a:solidFill>
            <a:prstDash val="solid"/>
          </a:ln>
        </p:spPr>
      </p:sp>
      <p:sp>
        <p:nvSpPr>
          <p:cNvPr id="40" name="Shape 37"/>
          <p:cNvSpPr/>
          <p:nvPr/>
        </p:nvSpPr>
        <p:spPr>
          <a:xfrm flipV="1">
            <a:off x="8053578" y="4315236"/>
            <a:ext cx="93726" cy="247437"/>
          </a:xfrm>
          <a:prstGeom prst="line">
            <a:avLst/>
          </a:prstGeom>
          <a:noFill/>
          <a:ln w="28575">
            <a:solidFill>
              <a:srgbClr val="1777B4"/>
            </a:solidFill>
            <a:prstDash val="solid"/>
          </a:ln>
        </p:spPr>
      </p:sp>
      <p:sp>
        <p:nvSpPr>
          <p:cNvPr id="41" name="Shape 38"/>
          <p:cNvSpPr/>
          <p:nvPr/>
        </p:nvSpPr>
        <p:spPr>
          <a:xfrm flipV="1">
            <a:off x="8147304" y="4082796"/>
            <a:ext cx="93726" cy="232440"/>
          </a:xfrm>
          <a:prstGeom prst="line">
            <a:avLst/>
          </a:prstGeom>
          <a:noFill/>
          <a:ln w="28575">
            <a:solidFill>
              <a:srgbClr val="1777B4"/>
            </a:solidFill>
            <a:prstDash val="solid"/>
          </a:ln>
        </p:spPr>
      </p:sp>
      <p:sp>
        <p:nvSpPr>
          <p:cNvPr id="42" name="Shape 39"/>
          <p:cNvSpPr/>
          <p:nvPr/>
        </p:nvSpPr>
        <p:spPr>
          <a:xfrm flipV="1">
            <a:off x="8241030" y="3865352"/>
            <a:ext cx="93726" cy="217444"/>
          </a:xfrm>
          <a:prstGeom prst="line">
            <a:avLst/>
          </a:prstGeom>
          <a:noFill/>
          <a:ln w="28575">
            <a:solidFill>
              <a:srgbClr val="1777B4"/>
            </a:solidFill>
            <a:prstDash val="solid"/>
          </a:ln>
        </p:spPr>
      </p:sp>
      <p:sp>
        <p:nvSpPr>
          <p:cNvPr id="43" name="Shape 40"/>
          <p:cNvSpPr/>
          <p:nvPr/>
        </p:nvSpPr>
        <p:spPr>
          <a:xfrm flipV="1">
            <a:off x="8334756" y="3662904"/>
            <a:ext cx="93726" cy="202448"/>
          </a:xfrm>
          <a:prstGeom prst="line">
            <a:avLst/>
          </a:prstGeom>
          <a:noFill/>
          <a:ln w="28575">
            <a:solidFill>
              <a:srgbClr val="1777B4"/>
            </a:solidFill>
            <a:prstDash val="solid"/>
          </a:ln>
        </p:spPr>
      </p:sp>
      <p:sp>
        <p:nvSpPr>
          <p:cNvPr id="44" name="Shape 41"/>
          <p:cNvSpPr/>
          <p:nvPr/>
        </p:nvSpPr>
        <p:spPr>
          <a:xfrm flipV="1">
            <a:off x="8428482" y="3475452"/>
            <a:ext cx="93726" cy="187452"/>
          </a:xfrm>
          <a:prstGeom prst="line">
            <a:avLst/>
          </a:prstGeom>
          <a:noFill/>
          <a:ln w="28575">
            <a:solidFill>
              <a:srgbClr val="1777B4"/>
            </a:solidFill>
            <a:prstDash val="solid"/>
          </a:ln>
        </p:spPr>
      </p:sp>
      <p:sp>
        <p:nvSpPr>
          <p:cNvPr id="45" name="Shape 42"/>
          <p:cNvSpPr/>
          <p:nvPr/>
        </p:nvSpPr>
        <p:spPr>
          <a:xfrm flipV="1">
            <a:off x="8522208" y="3302996"/>
            <a:ext cx="93726" cy="172456"/>
          </a:xfrm>
          <a:prstGeom prst="line">
            <a:avLst/>
          </a:prstGeom>
          <a:noFill/>
          <a:ln w="28575">
            <a:solidFill>
              <a:srgbClr val="1777B4"/>
            </a:solidFill>
            <a:prstDash val="solid"/>
          </a:ln>
        </p:spPr>
      </p:sp>
      <p:sp>
        <p:nvSpPr>
          <p:cNvPr id="46" name="Shape 43"/>
          <p:cNvSpPr/>
          <p:nvPr/>
        </p:nvSpPr>
        <p:spPr>
          <a:xfrm flipV="1">
            <a:off x="8615934" y="3145536"/>
            <a:ext cx="93726" cy="157460"/>
          </a:xfrm>
          <a:prstGeom prst="line">
            <a:avLst/>
          </a:prstGeom>
          <a:noFill/>
          <a:ln w="28575">
            <a:solidFill>
              <a:srgbClr val="1777B4"/>
            </a:solidFill>
            <a:prstDash val="solid"/>
          </a:ln>
        </p:spPr>
      </p:sp>
      <p:sp>
        <p:nvSpPr>
          <p:cNvPr id="47" name="Shape 44"/>
          <p:cNvSpPr/>
          <p:nvPr/>
        </p:nvSpPr>
        <p:spPr>
          <a:xfrm flipV="1">
            <a:off x="8709660" y="3003072"/>
            <a:ext cx="93726" cy="142464"/>
          </a:xfrm>
          <a:prstGeom prst="line">
            <a:avLst/>
          </a:prstGeom>
          <a:noFill/>
          <a:ln w="28575">
            <a:solidFill>
              <a:srgbClr val="1777B4"/>
            </a:solidFill>
            <a:prstDash val="solid"/>
          </a:ln>
        </p:spPr>
      </p:sp>
      <p:sp>
        <p:nvSpPr>
          <p:cNvPr id="48" name="Shape 45"/>
          <p:cNvSpPr/>
          <p:nvPr/>
        </p:nvSpPr>
        <p:spPr>
          <a:xfrm flipV="1">
            <a:off x="8803386" y="2875605"/>
            <a:ext cx="93726" cy="127467"/>
          </a:xfrm>
          <a:prstGeom prst="line">
            <a:avLst/>
          </a:prstGeom>
          <a:noFill/>
          <a:ln w="28575">
            <a:solidFill>
              <a:srgbClr val="1777B4"/>
            </a:solidFill>
            <a:prstDash val="solid"/>
          </a:ln>
        </p:spPr>
      </p:sp>
      <p:sp>
        <p:nvSpPr>
          <p:cNvPr id="49" name="Shape 46"/>
          <p:cNvSpPr/>
          <p:nvPr/>
        </p:nvSpPr>
        <p:spPr>
          <a:xfrm flipV="1">
            <a:off x="8897112" y="2763134"/>
            <a:ext cx="93726" cy="112471"/>
          </a:xfrm>
          <a:prstGeom prst="line">
            <a:avLst/>
          </a:prstGeom>
          <a:noFill/>
          <a:ln w="28575">
            <a:solidFill>
              <a:srgbClr val="1777B4"/>
            </a:solidFill>
            <a:prstDash val="solid"/>
          </a:ln>
        </p:spPr>
      </p:sp>
      <p:sp>
        <p:nvSpPr>
          <p:cNvPr id="50" name="Shape 47"/>
          <p:cNvSpPr/>
          <p:nvPr/>
        </p:nvSpPr>
        <p:spPr>
          <a:xfrm flipV="1">
            <a:off x="8990838" y="2665659"/>
            <a:ext cx="93726" cy="97475"/>
          </a:xfrm>
          <a:prstGeom prst="line">
            <a:avLst/>
          </a:prstGeom>
          <a:noFill/>
          <a:ln w="28575">
            <a:solidFill>
              <a:srgbClr val="1777B4"/>
            </a:solidFill>
            <a:prstDash val="solid"/>
          </a:ln>
        </p:spPr>
      </p:sp>
      <p:sp>
        <p:nvSpPr>
          <p:cNvPr id="51" name="Shape 48"/>
          <p:cNvSpPr/>
          <p:nvPr/>
        </p:nvSpPr>
        <p:spPr>
          <a:xfrm flipV="1">
            <a:off x="9084564" y="2583180"/>
            <a:ext cx="93726" cy="82479"/>
          </a:xfrm>
          <a:prstGeom prst="line">
            <a:avLst/>
          </a:prstGeom>
          <a:noFill/>
          <a:ln w="28575">
            <a:solidFill>
              <a:srgbClr val="1777B4"/>
            </a:solidFill>
            <a:prstDash val="solid"/>
          </a:ln>
        </p:spPr>
      </p:sp>
      <p:sp>
        <p:nvSpPr>
          <p:cNvPr id="52" name="Shape 49"/>
          <p:cNvSpPr/>
          <p:nvPr/>
        </p:nvSpPr>
        <p:spPr>
          <a:xfrm flipV="1">
            <a:off x="9178290" y="2515697"/>
            <a:ext cx="93726" cy="67483"/>
          </a:xfrm>
          <a:prstGeom prst="line">
            <a:avLst/>
          </a:prstGeom>
          <a:noFill/>
          <a:ln w="28575">
            <a:solidFill>
              <a:srgbClr val="1777B4"/>
            </a:solidFill>
            <a:prstDash val="solid"/>
          </a:ln>
        </p:spPr>
      </p:sp>
      <p:sp>
        <p:nvSpPr>
          <p:cNvPr id="53" name="Shape 50"/>
          <p:cNvSpPr/>
          <p:nvPr/>
        </p:nvSpPr>
        <p:spPr>
          <a:xfrm flipV="1">
            <a:off x="9272016" y="2463211"/>
            <a:ext cx="93726" cy="52487"/>
          </a:xfrm>
          <a:prstGeom prst="line">
            <a:avLst/>
          </a:prstGeom>
          <a:noFill/>
          <a:ln w="28575">
            <a:solidFill>
              <a:srgbClr val="1777B4"/>
            </a:solidFill>
            <a:prstDash val="solid"/>
          </a:ln>
        </p:spPr>
      </p:sp>
      <p:sp>
        <p:nvSpPr>
          <p:cNvPr id="54" name="Shape 51"/>
          <p:cNvSpPr/>
          <p:nvPr/>
        </p:nvSpPr>
        <p:spPr>
          <a:xfrm flipV="1">
            <a:off x="9365742" y="2425720"/>
            <a:ext cx="93726" cy="37490"/>
          </a:xfrm>
          <a:prstGeom prst="line">
            <a:avLst/>
          </a:prstGeom>
          <a:noFill/>
          <a:ln w="28575">
            <a:solidFill>
              <a:srgbClr val="1777B4"/>
            </a:solidFill>
            <a:prstDash val="solid"/>
          </a:ln>
        </p:spPr>
      </p:sp>
      <p:sp>
        <p:nvSpPr>
          <p:cNvPr id="55" name="Shape 52"/>
          <p:cNvSpPr/>
          <p:nvPr/>
        </p:nvSpPr>
        <p:spPr>
          <a:xfrm flipV="1">
            <a:off x="9459468" y="2403226"/>
            <a:ext cx="93726" cy="22494"/>
          </a:xfrm>
          <a:prstGeom prst="line">
            <a:avLst/>
          </a:prstGeom>
          <a:noFill/>
          <a:ln w="28575">
            <a:solidFill>
              <a:srgbClr val="1777B4"/>
            </a:solidFill>
            <a:prstDash val="solid"/>
          </a:ln>
        </p:spPr>
      </p:sp>
      <p:sp>
        <p:nvSpPr>
          <p:cNvPr id="56" name="Shape 53"/>
          <p:cNvSpPr/>
          <p:nvPr/>
        </p:nvSpPr>
        <p:spPr>
          <a:xfrm flipV="1">
            <a:off x="9553194" y="2395728"/>
            <a:ext cx="93726" cy="7498"/>
          </a:xfrm>
          <a:prstGeom prst="line">
            <a:avLst/>
          </a:prstGeom>
          <a:noFill/>
          <a:ln w="28575">
            <a:solidFill>
              <a:srgbClr val="1777B4"/>
            </a:solidFill>
            <a:prstDash val="solid"/>
          </a:ln>
        </p:spPr>
      </p:sp>
      <p:sp>
        <p:nvSpPr>
          <p:cNvPr id="57" name="Shape 54"/>
          <p:cNvSpPr/>
          <p:nvPr/>
        </p:nvSpPr>
        <p:spPr>
          <a:xfrm>
            <a:off x="9646920" y="2395728"/>
            <a:ext cx="93726" cy="7498"/>
          </a:xfrm>
          <a:prstGeom prst="line">
            <a:avLst/>
          </a:prstGeom>
          <a:noFill/>
          <a:ln w="28575">
            <a:solidFill>
              <a:srgbClr val="1777B4"/>
            </a:solidFill>
            <a:prstDash val="solid"/>
          </a:ln>
        </p:spPr>
      </p:sp>
      <p:sp>
        <p:nvSpPr>
          <p:cNvPr id="58" name="Shape 55"/>
          <p:cNvSpPr/>
          <p:nvPr/>
        </p:nvSpPr>
        <p:spPr>
          <a:xfrm>
            <a:off x="9740646" y="2403226"/>
            <a:ext cx="93726" cy="22494"/>
          </a:xfrm>
          <a:prstGeom prst="line">
            <a:avLst/>
          </a:prstGeom>
          <a:noFill/>
          <a:ln w="28575">
            <a:solidFill>
              <a:srgbClr val="1777B4"/>
            </a:solidFill>
            <a:prstDash val="solid"/>
          </a:ln>
        </p:spPr>
      </p:sp>
      <p:sp>
        <p:nvSpPr>
          <p:cNvPr id="59" name="Shape 56"/>
          <p:cNvSpPr/>
          <p:nvPr/>
        </p:nvSpPr>
        <p:spPr>
          <a:xfrm>
            <a:off x="9834372" y="2425720"/>
            <a:ext cx="93726" cy="37490"/>
          </a:xfrm>
          <a:prstGeom prst="line">
            <a:avLst/>
          </a:prstGeom>
          <a:noFill/>
          <a:ln w="28575">
            <a:solidFill>
              <a:srgbClr val="1777B4"/>
            </a:solidFill>
            <a:prstDash val="solid"/>
          </a:ln>
        </p:spPr>
      </p:sp>
      <p:sp>
        <p:nvSpPr>
          <p:cNvPr id="60" name="Shape 57"/>
          <p:cNvSpPr/>
          <p:nvPr/>
        </p:nvSpPr>
        <p:spPr>
          <a:xfrm>
            <a:off x="9928098" y="2463211"/>
            <a:ext cx="93726" cy="52487"/>
          </a:xfrm>
          <a:prstGeom prst="line">
            <a:avLst/>
          </a:prstGeom>
          <a:noFill/>
          <a:ln w="28575">
            <a:solidFill>
              <a:srgbClr val="1777B4"/>
            </a:solidFill>
            <a:prstDash val="solid"/>
          </a:ln>
        </p:spPr>
      </p:sp>
      <p:sp>
        <p:nvSpPr>
          <p:cNvPr id="61" name="Shape 58"/>
          <p:cNvSpPr/>
          <p:nvPr/>
        </p:nvSpPr>
        <p:spPr>
          <a:xfrm>
            <a:off x="10021824" y="2515697"/>
            <a:ext cx="93726" cy="67483"/>
          </a:xfrm>
          <a:prstGeom prst="line">
            <a:avLst/>
          </a:prstGeom>
          <a:noFill/>
          <a:ln w="28575">
            <a:solidFill>
              <a:srgbClr val="1777B4"/>
            </a:solidFill>
            <a:prstDash val="solid"/>
          </a:ln>
        </p:spPr>
      </p:sp>
      <p:sp>
        <p:nvSpPr>
          <p:cNvPr id="62" name="Shape 59"/>
          <p:cNvSpPr/>
          <p:nvPr/>
        </p:nvSpPr>
        <p:spPr>
          <a:xfrm>
            <a:off x="10115550" y="2583180"/>
            <a:ext cx="93726" cy="82479"/>
          </a:xfrm>
          <a:prstGeom prst="line">
            <a:avLst/>
          </a:prstGeom>
          <a:noFill/>
          <a:ln w="28575">
            <a:solidFill>
              <a:srgbClr val="1777B4"/>
            </a:solidFill>
            <a:prstDash val="solid"/>
          </a:ln>
        </p:spPr>
      </p:sp>
      <p:sp>
        <p:nvSpPr>
          <p:cNvPr id="63" name="Shape 60"/>
          <p:cNvSpPr/>
          <p:nvPr/>
        </p:nvSpPr>
        <p:spPr>
          <a:xfrm>
            <a:off x="10209276" y="2665659"/>
            <a:ext cx="93726" cy="97475"/>
          </a:xfrm>
          <a:prstGeom prst="line">
            <a:avLst/>
          </a:prstGeom>
          <a:noFill/>
          <a:ln w="28575">
            <a:solidFill>
              <a:srgbClr val="1777B4"/>
            </a:solidFill>
            <a:prstDash val="solid"/>
          </a:ln>
        </p:spPr>
      </p:sp>
      <p:sp>
        <p:nvSpPr>
          <p:cNvPr id="64" name="Shape 61"/>
          <p:cNvSpPr/>
          <p:nvPr/>
        </p:nvSpPr>
        <p:spPr>
          <a:xfrm>
            <a:off x="10303002" y="2763134"/>
            <a:ext cx="93726" cy="112471"/>
          </a:xfrm>
          <a:prstGeom prst="line">
            <a:avLst/>
          </a:prstGeom>
          <a:noFill/>
          <a:ln w="28575">
            <a:solidFill>
              <a:srgbClr val="1777B4"/>
            </a:solidFill>
            <a:prstDash val="solid"/>
          </a:ln>
        </p:spPr>
      </p:sp>
      <p:sp>
        <p:nvSpPr>
          <p:cNvPr id="65" name="Shape 62"/>
          <p:cNvSpPr/>
          <p:nvPr/>
        </p:nvSpPr>
        <p:spPr>
          <a:xfrm>
            <a:off x="10396728" y="2875605"/>
            <a:ext cx="93726" cy="127467"/>
          </a:xfrm>
          <a:prstGeom prst="line">
            <a:avLst/>
          </a:prstGeom>
          <a:noFill/>
          <a:ln w="28575">
            <a:solidFill>
              <a:srgbClr val="1777B4"/>
            </a:solidFill>
            <a:prstDash val="solid"/>
          </a:ln>
        </p:spPr>
      </p:sp>
      <p:sp>
        <p:nvSpPr>
          <p:cNvPr id="66" name="Shape 63"/>
          <p:cNvSpPr/>
          <p:nvPr/>
        </p:nvSpPr>
        <p:spPr>
          <a:xfrm>
            <a:off x="10490454" y="3003072"/>
            <a:ext cx="93726" cy="142464"/>
          </a:xfrm>
          <a:prstGeom prst="line">
            <a:avLst/>
          </a:prstGeom>
          <a:noFill/>
          <a:ln w="28575">
            <a:solidFill>
              <a:srgbClr val="1777B4"/>
            </a:solidFill>
            <a:prstDash val="solid"/>
          </a:ln>
        </p:spPr>
      </p:sp>
      <p:sp>
        <p:nvSpPr>
          <p:cNvPr id="67" name="Shape 64"/>
          <p:cNvSpPr/>
          <p:nvPr/>
        </p:nvSpPr>
        <p:spPr>
          <a:xfrm>
            <a:off x="10584180" y="3145536"/>
            <a:ext cx="93726" cy="157460"/>
          </a:xfrm>
          <a:prstGeom prst="line">
            <a:avLst/>
          </a:prstGeom>
          <a:noFill/>
          <a:ln w="28575">
            <a:solidFill>
              <a:srgbClr val="1777B4"/>
            </a:solidFill>
            <a:prstDash val="solid"/>
          </a:ln>
        </p:spPr>
      </p:sp>
      <p:sp>
        <p:nvSpPr>
          <p:cNvPr id="68" name="Shape 65"/>
          <p:cNvSpPr/>
          <p:nvPr/>
        </p:nvSpPr>
        <p:spPr>
          <a:xfrm>
            <a:off x="10677906" y="3302996"/>
            <a:ext cx="93726" cy="172456"/>
          </a:xfrm>
          <a:prstGeom prst="line">
            <a:avLst/>
          </a:prstGeom>
          <a:noFill/>
          <a:ln w="28575">
            <a:solidFill>
              <a:srgbClr val="1777B4"/>
            </a:solidFill>
            <a:prstDash val="solid"/>
          </a:ln>
        </p:spPr>
      </p:sp>
      <p:sp>
        <p:nvSpPr>
          <p:cNvPr id="69" name="Shape 66"/>
          <p:cNvSpPr/>
          <p:nvPr/>
        </p:nvSpPr>
        <p:spPr>
          <a:xfrm>
            <a:off x="10771632" y="3475452"/>
            <a:ext cx="93726" cy="187452"/>
          </a:xfrm>
          <a:prstGeom prst="line">
            <a:avLst/>
          </a:prstGeom>
          <a:noFill/>
          <a:ln w="28575">
            <a:solidFill>
              <a:srgbClr val="1777B4"/>
            </a:solidFill>
            <a:prstDash val="solid"/>
          </a:ln>
        </p:spPr>
      </p:sp>
      <p:sp>
        <p:nvSpPr>
          <p:cNvPr id="70" name="Shape 67"/>
          <p:cNvSpPr/>
          <p:nvPr/>
        </p:nvSpPr>
        <p:spPr>
          <a:xfrm>
            <a:off x="10865358" y="3662904"/>
            <a:ext cx="93726" cy="202448"/>
          </a:xfrm>
          <a:prstGeom prst="line">
            <a:avLst/>
          </a:prstGeom>
          <a:noFill/>
          <a:ln w="28575">
            <a:solidFill>
              <a:srgbClr val="1777B4"/>
            </a:solidFill>
            <a:prstDash val="solid"/>
          </a:ln>
        </p:spPr>
      </p:sp>
      <p:sp>
        <p:nvSpPr>
          <p:cNvPr id="71" name="Shape 68"/>
          <p:cNvSpPr/>
          <p:nvPr/>
        </p:nvSpPr>
        <p:spPr>
          <a:xfrm>
            <a:off x="10959084" y="3865352"/>
            <a:ext cx="93726" cy="217444"/>
          </a:xfrm>
          <a:prstGeom prst="line">
            <a:avLst/>
          </a:prstGeom>
          <a:noFill/>
          <a:ln w="28575">
            <a:solidFill>
              <a:srgbClr val="1777B4"/>
            </a:solidFill>
            <a:prstDash val="solid"/>
          </a:ln>
        </p:spPr>
      </p:sp>
      <p:sp>
        <p:nvSpPr>
          <p:cNvPr id="72" name="Shape 69"/>
          <p:cNvSpPr/>
          <p:nvPr/>
        </p:nvSpPr>
        <p:spPr>
          <a:xfrm>
            <a:off x="11052810" y="4082796"/>
            <a:ext cx="93726" cy="232440"/>
          </a:xfrm>
          <a:prstGeom prst="line">
            <a:avLst/>
          </a:prstGeom>
          <a:noFill/>
          <a:ln w="28575">
            <a:solidFill>
              <a:srgbClr val="1777B4"/>
            </a:solidFill>
            <a:prstDash val="solid"/>
          </a:ln>
        </p:spPr>
      </p:sp>
      <p:sp>
        <p:nvSpPr>
          <p:cNvPr id="73" name="Shape 70"/>
          <p:cNvSpPr/>
          <p:nvPr/>
        </p:nvSpPr>
        <p:spPr>
          <a:xfrm>
            <a:off x="11146536" y="4315236"/>
            <a:ext cx="93726" cy="247437"/>
          </a:xfrm>
          <a:prstGeom prst="line">
            <a:avLst/>
          </a:prstGeom>
          <a:noFill/>
          <a:ln w="28575">
            <a:solidFill>
              <a:srgbClr val="1777B4"/>
            </a:solidFill>
            <a:prstDash val="solid"/>
          </a:ln>
        </p:spPr>
      </p:sp>
      <p:sp>
        <p:nvSpPr>
          <p:cNvPr id="74" name="Shape 71"/>
          <p:cNvSpPr/>
          <p:nvPr/>
        </p:nvSpPr>
        <p:spPr>
          <a:xfrm>
            <a:off x="11240262" y="4562673"/>
            <a:ext cx="93726" cy="262433"/>
          </a:xfrm>
          <a:prstGeom prst="line">
            <a:avLst/>
          </a:prstGeom>
          <a:noFill/>
          <a:ln w="28575">
            <a:solidFill>
              <a:srgbClr val="1777B4"/>
            </a:solidFill>
            <a:prstDash val="solid"/>
          </a:ln>
        </p:spPr>
      </p:sp>
      <p:sp>
        <p:nvSpPr>
          <p:cNvPr id="75" name="Shape 72"/>
          <p:cNvSpPr/>
          <p:nvPr/>
        </p:nvSpPr>
        <p:spPr>
          <a:xfrm>
            <a:off x="11333988" y="4825106"/>
            <a:ext cx="93726" cy="277429"/>
          </a:xfrm>
          <a:prstGeom prst="line">
            <a:avLst/>
          </a:prstGeom>
          <a:noFill/>
          <a:ln w="28575">
            <a:solidFill>
              <a:srgbClr val="1777B4"/>
            </a:solidFill>
            <a:prstDash val="solid"/>
          </a:ln>
        </p:spPr>
      </p:sp>
      <p:sp>
        <p:nvSpPr>
          <p:cNvPr id="76" name="Shape 73"/>
          <p:cNvSpPr/>
          <p:nvPr/>
        </p:nvSpPr>
        <p:spPr>
          <a:xfrm>
            <a:off x="11427714" y="5102535"/>
            <a:ext cx="93726" cy="292425"/>
          </a:xfrm>
          <a:prstGeom prst="line">
            <a:avLst/>
          </a:prstGeom>
          <a:noFill/>
          <a:ln w="28575">
            <a:solidFill>
              <a:srgbClr val="1777B4"/>
            </a:solidFill>
            <a:prstDash val="solid"/>
          </a:ln>
        </p:spPr>
      </p:sp>
      <p:sp>
        <p:nvSpPr>
          <p:cNvPr id="77" name="Shape 74"/>
          <p:cNvSpPr/>
          <p:nvPr/>
        </p:nvSpPr>
        <p:spPr>
          <a:xfrm>
            <a:off x="9646920" y="2395728"/>
            <a:ext cx="91" cy="2999232"/>
          </a:xfrm>
          <a:prstGeom prst="line">
            <a:avLst/>
          </a:prstGeom>
          <a:noFill/>
          <a:ln w="15875">
            <a:solidFill>
              <a:srgbClr val="1B7F5E"/>
            </a:solidFill>
            <a:prstDash val="dash"/>
          </a:ln>
        </p:spPr>
      </p:sp>
      <p:sp>
        <p:nvSpPr>
          <p:cNvPr id="78" name="Shape 75"/>
          <p:cNvSpPr/>
          <p:nvPr/>
        </p:nvSpPr>
        <p:spPr>
          <a:xfrm>
            <a:off x="7772400" y="2395728"/>
            <a:ext cx="1874520" cy="91"/>
          </a:xfrm>
          <a:prstGeom prst="line">
            <a:avLst/>
          </a:prstGeom>
          <a:noFill/>
          <a:ln w="15875">
            <a:solidFill>
              <a:srgbClr val="B03A2E"/>
            </a:solidFill>
            <a:prstDash val="dash"/>
          </a:ln>
        </p:spPr>
      </p:sp>
      <p:sp>
        <p:nvSpPr>
          <p:cNvPr id="79" name="Shape 76"/>
          <p:cNvSpPr/>
          <p:nvPr/>
        </p:nvSpPr>
        <p:spPr>
          <a:xfrm>
            <a:off x="9582912" y="2331720"/>
            <a:ext cx="128016" cy="128016"/>
          </a:xfrm>
          <a:prstGeom prst="ellipse">
            <a:avLst/>
          </a:prstGeom>
          <a:solidFill>
            <a:srgbClr val="B03A2E"/>
          </a:solidFill>
          <a:ln w="12700">
            <a:solidFill>
              <a:srgbClr val="B03A2E"/>
            </a:solidFill>
            <a:prstDash val="solid"/>
          </a:ln>
        </p:spPr>
      </p:sp>
      <p:sp>
        <p:nvSpPr>
          <p:cNvPr id="80" name="Text 77"/>
          <p:cNvSpPr txBox="1"/>
          <p:nvPr/>
        </p:nvSpPr>
        <p:spPr>
          <a:xfrm>
            <a:off x="9784080" y="2011680"/>
            <a:ext cx="1828800" cy="256032"/>
          </a:xfrm>
          <a:prstGeom prst="rect">
            <a:avLst/>
          </a:prstGeom>
          <a:noFill/>
          <a:ln/>
        </p:spPr>
        <p:txBody>
          <a:bodyPr wrap="square" lIns="0" tIns="0" rIns="0" bIns="0" rtlCol="0" anchor="t"/>
          <a:lstStyle/>
          <a:p>
            <a:pPr indent="0" marL="0">
              <a:buNone/>
            </a:pPr>
            <a:r>
              <a:rPr lang="en-US" sz="1200" b="1" dirty="0">
                <a:solidFill>
                  <a:srgbClr val="B03A2E"/>
                </a:solidFill>
                <a:latin typeface="Arial" pitchFamily="34" charset="0"/>
                <a:ea typeface="Arial" pitchFamily="34" charset="-122"/>
                <a:cs typeface="Arial" pitchFamily="34" charset="-120"/>
              </a:rPr>
              <a:t>max height 64 ft</a:t>
            </a:r>
            <a:endParaRPr lang="en-US" sz="1200" dirty="0"/>
          </a:p>
        </p:txBody>
      </p:sp>
      <p:sp>
        <p:nvSpPr>
          <p:cNvPr id="81" name="Text 78"/>
          <p:cNvSpPr txBox="1"/>
          <p:nvPr/>
        </p:nvSpPr>
        <p:spPr>
          <a:xfrm>
            <a:off x="9720072" y="5020056"/>
            <a:ext cx="822960" cy="256032"/>
          </a:xfrm>
          <a:prstGeom prst="rect">
            <a:avLst/>
          </a:prstGeom>
          <a:noFill/>
          <a:ln/>
        </p:spPr>
        <p:txBody>
          <a:bodyPr wrap="square" lIns="0" tIns="0" rIns="0" bIns="0" rtlCol="0" anchor="t"/>
          <a:lstStyle/>
          <a:p>
            <a:pPr indent="0" marL="0">
              <a:buNone/>
            </a:pPr>
            <a:r>
              <a:rPr lang="en-US" sz="1200" b="1" dirty="0">
                <a:solidFill>
                  <a:srgbClr val="1B7F5E"/>
                </a:solidFill>
                <a:latin typeface="Arial" pitchFamily="34" charset="0"/>
                <a:ea typeface="Arial" pitchFamily="34" charset="-122"/>
                <a:cs typeface="Arial" pitchFamily="34" charset="-120"/>
              </a:rPr>
              <a:t>t = 2 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Eight errors to avoid on Friday</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Each one costs points on work that is otherwise correct</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22</a:t>
            </a:r>
            <a:endParaRPr lang="en-US" sz="800" dirty="0"/>
          </a:p>
        </p:txBody>
      </p:sp>
      <p:sp>
        <p:nvSpPr>
          <p:cNvPr id="6" name="Shape 3"/>
          <p:cNvSpPr/>
          <p:nvPr/>
        </p:nvSpPr>
        <p:spPr>
          <a:xfrm>
            <a:off x="548640" y="1554480"/>
            <a:ext cx="2624328" cy="2011680"/>
          </a:xfrm>
          <a:prstGeom prst="roundRect">
            <a:avLst>
              <a:gd name="adj" fmla="val 3636"/>
            </a:avLst>
          </a:prstGeom>
          <a:solidFill>
            <a:srgbClr val="FBEDEB"/>
          </a:solidFill>
          <a:ln w="12700">
            <a:solidFill>
              <a:srgbClr val="FBEDEB"/>
            </a:solidFill>
            <a:prstDash val="solid"/>
          </a:ln>
        </p:spPr>
      </p:sp>
      <p:sp>
        <p:nvSpPr>
          <p:cNvPr id="7" name="Text 4"/>
          <p:cNvSpPr txBox="1"/>
          <p:nvPr/>
        </p:nvSpPr>
        <p:spPr>
          <a:xfrm>
            <a:off x="777240" y="1783080"/>
            <a:ext cx="2194560" cy="411480"/>
          </a:xfrm>
          <a:prstGeom prst="rect">
            <a:avLst/>
          </a:prstGeom>
          <a:noFill/>
          <a:ln/>
        </p:spPr>
        <p:txBody>
          <a:bodyPr wrap="square" lIns="0" tIns="0" rIns="0" bIns="0" rtlCol="0" anchor="t"/>
          <a:lstStyle/>
          <a:p>
            <a:pPr indent="0" marL="0">
              <a:buNone/>
            </a:pPr>
            <a:r>
              <a:rPr lang="en-US" sz="1600" b="1" dirty="0">
                <a:solidFill>
                  <a:srgbClr val="B03A2E"/>
                </a:solidFill>
                <a:latin typeface="Arial" pitchFamily="34" charset="0"/>
                <a:ea typeface="Arial" pitchFamily="34" charset="-122"/>
                <a:cs typeface="Arial" pitchFamily="34" charset="-120"/>
              </a:rPr>
              <a:t>Factoring</a:t>
            </a:r>
            <a:endParaRPr lang="en-US" sz="1600" dirty="0"/>
          </a:p>
        </p:txBody>
      </p:sp>
      <p:sp>
        <p:nvSpPr>
          <p:cNvPr id="8" name="Text 5"/>
          <p:cNvSpPr txBox="1"/>
          <p:nvPr/>
        </p:nvSpPr>
        <p:spPr>
          <a:xfrm>
            <a:off x="777240" y="2286000"/>
            <a:ext cx="2194560" cy="114300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Stopping after the GCF</a:t>
            </a:r>
            <a:endParaRPr lang="en-US" sz="1400" dirty="0"/>
          </a:p>
        </p:txBody>
      </p:sp>
      <p:sp>
        <p:nvSpPr>
          <p:cNvPr id="9" name="Shape 6"/>
          <p:cNvSpPr/>
          <p:nvPr/>
        </p:nvSpPr>
        <p:spPr>
          <a:xfrm>
            <a:off x="3355848" y="1554480"/>
            <a:ext cx="2624328" cy="2011680"/>
          </a:xfrm>
          <a:prstGeom prst="roundRect">
            <a:avLst>
              <a:gd name="adj" fmla="val 3636"/>
            </a:avLst>
          </a:prstGeom>
          <a:solidFill>
            <a:srgbClr val="EEF4F9"/>
          </a:solidFill>
          <a:ln w="12700">
            <a:solidFill>
              <a:srgbClr val="EEF4F9"/>
            </a:solidFill>
            <a:prstDash val="solid"/>
          </a:ln>
        </p:spPr>
      </p:sp>
      <p:sp>
        <p:nvSpPr>
          <p:cNvPr id="10" name="Text 7"/>
          <p:cNvSpPr txBox="1"/>
          <p:nvPr/>
        </p:nvSpPr>
        <p:spPr>
          <a:xfrm>
            <a:off x="3584448" y="1783080"/>
            <a:ext cx="2194560" cy="41148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Intervals</a:t>
            </a:r>
            <a:endParaRPr lang="en-US" sz="1600" dirty="0"/>
          </a:p>
        </p:txBody>
      </p:sp>
      <p:sp>
        <p:nvSpPr>
          <p:cNvPr id="11" name="Text 8"/>
          <p:cNvSpPr txBox="1"/>
          <p:nvPr/>
        </p:nvSpPr>
        <p:spPr>
          <a:xfrm>
            <a:off x="3584448" y="2286000"/>
            <a:ext cx="2194560" cy="114300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Including an excluded endpoint; treating a union as the overlap</a:t>
            </a:r>
            <a:endParaRPr lang="en-US" sz="1400" dirty="0"/>
          </a:p>
        </p:txBody>
      </p:sp>
      <p:sp>
        <p:nvSpPr>
          <p:cNvPr id="12" name="Shape 9"/>
          <p:cNvSpPr/>
          <p:nvPr/>
        </p:nvSpPr>
        <p:spPr>
          <a:xfrm>
            <a:off x="6163056" y="1554480"/>
            <a:ext cx="2624328" cy="2011680"/>
          </a:xfrm>
          <a:prstGeom prst="roundRect">
            <a:avLst>
              <a:gd name="adj" fmla="val 3636"/>
            </a:avLst>
          </a:prstGeom>
          <a:solidFill>
            <a:srgbClr val="FBEDEB"/>
          </a:solidFill>
          <a:ln w="12700">
            <a:solidFill>
              <a:srgbClr val="FBEDEB"/>
            </a:solidFill>
            <a:prstDash val="solid"/>
          </a:ln>
        </p:spPr>
      </p:sp>
      <p:sp>
        <p:nvSpPr>
          <p:cNvPr id="13" name="Text 10"/>
          <p:cNvSpPr txBox="1"/>
          <p:nvPr/>
        </p:nvSpPr>
        <p:spPr>
          <a:xfrm>
            <a:off x="6391656" y="1783080"/>
            <a:ext cx="2194560" cy="411480"/>
          </a:xfrm>
          <a:prstGeom prst="rect">
            <a:avLst/>
          </a:prstGeom>
          <a:noFill/>
          <a:ln/>
        </p:spPr>
        <p:txBody>
          <a:bodyPr wrap="square" lIns="0" tIns="0" rIns="0" bIns="0" rtlCol="0" anchor="t"/>
          <a:lstStyle/>
          <a:p>
            <a:pPr indent="0" marL="0">
              <a:buNone/>
            </a:pPr>
            <a:r>
              <a:rPr lang="en-US" sz="1600" b="1" dirty="0">
                <a:solidFill>
                  <a:srgbClr val="B03A2E"/>
                </a:solidFill>
                <a:latin typeface="Arial" pitchFamily="34" charset="0"/>
                <a:ea typeface="Arial" pitchFamily="34" charset="-122"/>
                <a:cs typeface="Arial" pitchFamily="34" charset="-120"/>
              </a:rPr>
              <a:t>Exponents</a:t>
            </a:r>
            <a:endParaRPr lang="en-US" sz="1600" dirty="0"/>
          </a:p>
        </p:txBody>
      </p:sp>
      <p:sp>
        <p:nvSpPr>
          <p:cNvPr id="14" name="Text 11"/>
          <p:cNvSpPr txBox="1"/>
          <p:nvPr/>
        </p:nvSpPr>
        <p:spPr>
          <a:xfrm>
            <a:off x="6391656" y="2286000"/>
            <a:ext cx="2194560" cy="114300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Reading a negative exponent as a negative number</a:t>
            </a:r>
            <a:endParaRPr lang="en-US" sz="1400" dirty="0"/>
          </a:p>
        </p:txBody>
      </p:sp>
      <p:sp>
        <p:nvSpPr>
          <p:cNvPr id="15" name="Shape 12"/>
          <p:cNvSpPr/>
          <p:nvPr/>
        </p:nvSpPr>
        <p:spPr>
          <a:xfrm>
            <a:off x="8970264" y="1554480"/>
            <a:ext cx="2624328" cy="2011680"/>
          </a:xfrm>
          <a:prstGeom prst="roundRect">
            <a:avLst>
              <a:gd name="adj" fmla="val 3636"/>
            </a:avLst>
          </a:prstGeom>
          <a:solidFill>
            <a:srgbClr val="EEF4F9"/>
          </a:solidFill>
          <a:ln w="12700">
            <a:solidFill>
              <a:srgbClr val="EEF4F9"/>
            </a:solidFill>
            <a:prstDash val="solid"/>
          </a:ln>
        </p:spPr>
      </p:sp>
      <p:sp>
        <p:nvSpPr>
          <p:cNvPr id="16" name="Text 13"/>
          <p:cNvSpPr txBox="1"/>
          <p:nvPr/>
        </p:nvSpPr>
        <p:spPr>
          <a:xfrm>
            <a:off x="9198864" y="1783080"/>
            <a:ext cx="2194560" cy="41148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Rational expressions</a:t>
            </a:r>
            <a:endParaRPr lang="en-US" sz="1600" dirty="0"/>
          </a:p>
        </p:txBody>
      </p:sp>
      <p:sp>
        <p:nvSpPr>
          <p:cNvPr id="17" name="Text 14"/>
          <p:cNvSpPr txBox="1"/>
          <p:nvPr/>
        </p:nvSpPr>
        <p:spPr>
          <a:xfrm>
            <a:off x="9198864" y="2286000"/>
            <a:ext cx="2194560" cy="114300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Subtracting denominators or only part of a numerator</a:t>
            </a:r>
            <a:endParaRPr lang="en-US" sz="1400" dirty="0"/>
          </a:p>
        </p:txBody>
      </p:sp>
      <p:sp>
        <p:nvSpPr>
          <p:cNvPr id="18" name="Shape 15"/>
          <p:cNvSpPr/>
          <p:nvPr/>
        </p:nvSpPr>
        <p:spPr>
          <a:xfrm>
            <a:off x="548640" y="3794760"/>
            <a:ext cx="2624328" cy="2011680"/>
          </a:xfrm>
          <a:prstGeom prst="roundRect">
            <a:avLst>
              <a:gd name="adj" fmla="val 3636"/>
            </a:avLst>
          </a:prstGeom>
          <a:solidFill>
            <a:srgbClr val="FBEDEB"/>
          </a:solidFill>
          <a:ln w="12700">
            <a:solidFill>
              <a:srgbClr val="FBEDEB"/>
            </a:solidFill>
            <a:prstDash val="solid"/>
          </a:ln>
        </p:spPr>
      </p:sp>
      <p:sp>
        <p:nvSpPr>
          <p:cNvPr id="19" name="Text 16"/>
          <p:cNvSpPr txBox="1"/>
          <p:nvPr/>
        </p:nvSpPr>
        <p:spPr>
          <a:xfrm>
            <a:off x="777240" y="4023360"/>
            <a:ext cx="2194560" cy="411480"/>
          </a:xfrm>
          <a:prstGeom prst="rect">
            <a:avLst/>
          </a:prstGeom>
          <a:noFill/>
          <a:ln/>
        </p:spPr>
        <p:txBody>
          <a:bodyPr wrap="square" lIns="0" tIns="0" rIns="0" bIns="0" rtlCol="0" anchor="t"/>
          <a:lstStyle/>
          <a:p>
            <a:pPr indent="0" marL="0">
              <a:buNone/>
            </a:pPr>
            <a:r>
              <a:rPr lang="en-US" sz="1600" b="1" dirty="0">
                <a:solidFill>
                  <a:srgbClr val="B03A2E"/>
                </a:solidFill>
                <a:latin typeface="Arial" pitchFamily="34" charset="0"/>
                <a:ea typeface="Arial" pitchFamily="34" charset="-122"/>
                <a:cs typeface="Arial" pitchFamily="34" charset="-120"/>
              </a:rPr>
              <a:t>Rational equations</a:t>
            </a:r>
            <a:endParaRPr lang="en-US" sz="1600" dirty="0"/>
          </a:p>
        </p:txBody>
      </p:sp>
      <p:sp>
        <p:nvSpPr>
          <p:cNvPr id="20" name="Text 17"/>
          <p:cNvSpPr txBox="1"/>
          <p:nvPr/>
        </p:nvSpPr>
        <p:spPr>
          <a:xfrm>
            <a:off x="777240" y="4526280"/>
            <a:ext cx="2194560" cy="114300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Keeping a candidate that makes a denominator zero</a:t>
            </a:r>
            <a:endParaRPr lang="en-US" sz="1400" dirty="0"/>
          </a:p>
        </p:txBody>
      </p:sp>
      <p:sp>
        <p:nvSpPr>
          <p:cNvPr id="21" name="Shape 18"/>
          <p:cNvSpPr/>
          <p:nvPr/>
        </p:nvSpPr>
        <p:spPr>
          <a:xfrm>
            <a:off x="3355848" y="3794760"/>
            <a:ext cx="2624328" cy="2011680"/>
          </a:xfrm>
          <a:prstGeom prst="roundRect">
            <a:avLst>
              <a:gd name="adj" fmla="val 3636"/>
            </a:avLst>
          </a:prstGeom>
          <a:solidFill>
            <a:srgbClr val="EEF4F9"/>
          </a:solidFill>
          <a:ln w="12700">
            <a:solidFill>
              <a:srgbClr val="EEF4F9"/>
            </a:solidFill>
            <a:prstDash val="solid"/>
          </a:ln>
        </p:spPr>
      </p:sp>
      <p:sp>
        <p:nvSpPr>
          <p:cNvPr id="22" name="Text 19"/>
          <p:cNvSpPr txBox="1"/>
          <p:nvPr/>
        </p:nvSpPr>
        <p:spPr>
          <a:xfrm>
            <a:off x="3584448" y="4023360"/>
            <a:ext cx="2194560" cy="41148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Circles</a:t>
            </a:r>
            <a:endParaRPr lang="en-US" sz="1600" dirty="0"/>
          </a:p>
        </p:txBody>
      </p:sp>
      <p:sp>
        <p:nvSpPr>
          <p:cNvPr id="23" name="Text 20"/>
          <p:cNvSpPr txBox="1"/>
          <p:nvPr/>
        </p:nvSpPr>
        <p:spPr>
          <a:xfrm>
            <a:off x="3584448" y="4526280"/>
            <a:ext cx="2194560" cy="114300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Writing r instead of r</a:t>
            </a:r>
            <a:pPr indent="0" marL="0">
              <a:buNone/>
            </a:pPr>
            <a:r>
              <a:rPr lang="en-US" sz="1400" baseline="30000" dirty="0">
                <a:solidFill>
                  <a:srgbClr val="11344E"/>
                </a:solidFill>
                <a:latin typeface="Arial" pitchFamily="34" charset="0"/>
                <a:ea typeface="Arial" pitchFamily="34" charset="-122"/>
                <a:cs typeface="Arial" pitchFamily="34" charset="-120"/>
              </a:rPr>
              <a:t>2</a:t>
            </a:r>
            <a:pPr indent="0" marL="0">
              <a:buNone/>
            </a:pPr>
            <a:r>
              <a:rPr lang="en-US" sz="1400" dirty="0">
                <a:solidFill>
                  <a:srgbClr val="11344E"/>
                </a:solidFill>
                <a:latin typeface="Arial" pitchFamily="34" charset="0"/>
                <a:ea typeface="Arial" pitchFamily="34" charset="-122"/>
                <a:cs typeface="Arial" pitchFamily="34" charset="-120"/>
              </a:rPr>
              <a:t> on the right side</a:t>
            </a:r>
            <a:endParaRPr lang="en-US" sz="1400" dirty="0"/>
          </a:p>
        </p:txBody>
      </p:sp>
      <p:sp>
        <p:nvSpPr>
          <p:cNvPr id="24" name="Shape 21"/>
          <p:cNvSpPr/>
          <p:nvPr/>
        </p:nvSpPr>
        <p:spPr>
          <a:xfrm>
            <a:off x="6163056" y="3794760"/>
            <a:ext cx="2624328" cy="2011680"/>
          </a:xfrm>
          <a:prstGeom prst="roundRect">
            <a:avLst>
              <a:gd name="adj" fmla="val 3636"/>
            </a:avLst>
          </a:prstGeom>
          <a:solidFill>
            <a:srgbClr val="FBEDEB"/>
          </a:solidFill>
          <a:ln w="12700">
            <a:solidFill>
              <a:srgbClr val="FBEDEB"/>
            </a:solidFill>
            <a:prstDash val="solid"/>
          </a:ln>
        </p:spPr>
      </p:sp>
      <p:sp>
        <p:nvSpPr>
          <p:cNvPr id="25" name="Text 22"/>
          <p:cNvSpPr txBox="1"/>
          <p:nvPr/>
        </p:nvSpPr>
        <p:spPr>
          <a:xfrm>
            <a:off x="6391656" y="4023360"/>
            <a:ext cx="2194560" cy="411480"/>
          </a:xfrm>
          <a:prstGeom prst="rect">
            <a:avLst/>
          </a:prstGeom>
          <a:noFill/>
          <a:ln/>
        </p:spPr>
        <p:txBody>
          <a:bodyPr wrap="square" lIns="0" tIns="0" rIns="0" bIns="0" rtlCol="0" anchor="t"/>
          <a:lstStyle/>
          <a:p>
            <a:pPr indent="0" marL="0">
              <a:buNone/>
            </a:pPr>
            <a:r>
              <a:rPr lang="en-US" sz="1600" b="1" dirty="0">
                <a:solidFill>
                  <a:srgbClr val="B03A2E"/>
                </a:solidFill>
                <a:latin typeface="Arial" pitchFamily="34" charset="0"/>
                <a:ea typeface="Arial" pitchFamily="34" charset="-122"/>
                <a:cs typeface="Arial" pitchFamily="34" charset="-120"/>
              </a:rPr>
              <a:t>Perpendicular lines</a:t>
            </a:r>
            <a:endParaRPr lang="en-US" sz="1600" dirty="0"/>
          </a:p>
        </p:txBody>
      </p:sp>
      <p:sp>
        <p:nvSpPr>
          <p:cNvPr id="26" name="Text 23"/>
          <p:cNvSpPr txBox="1"/>
          <p:nvPr/>
        </p:nvSpPr>
        <p:spPr>
          <a:xfrm>
            <a:off x="6391656" y="4526280"/>
            <a:ext cx="2194560" cy="114300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Changing the sign without taking the reciprocal</a:t>
            </a:r>
            <a:endParaRPr lang="en-US" sz="1400" dirty="0"/>
          </a:p>
        </p:txBody>
      </p:sp>
      <p:sp>
        <p:nvSpPr>
          <p:cNvPr id="27" name="Shape 24"/>
          <p:cNvSpPr/>
          <p:nvPr/>
        </p:nvSpPr>
        <p:spPr>
          <a:xfrm>
            <a:off x="8970264" y="3794760"/>
            <a:ext cx="2624328" cy="2011680"/>
          </a:xfrm>
          <a:prstGeom prst="roundRect">
            <a:avLst>
              <a:gd name="adj" fmla="val 3636"/>
            </a:avLst>
          </a:prstGeom>
          <a:solidFill>
            <a:srgbClr val="EEF4F9"/>
          </a:solidFill>
          <a:ln w="12700">
            <a:solidFill>
              <a:srgbClr val="EEF4F9"/>
            </a:solidFill>
            <a:prstDash val="solid"/>
          </a:ln>
        </p:spPr>
      </p:sp>
      <p:sp>
        <p:nvSpPr>
          <p:cNvPr id="28" name="Text 25"/>
          <p:cNvSpPr txBox="1"/>
          <p:nvPr/>
        </p:nvSpPr>
        <p:spPr>
          <a:xfrm>
            <a:off x="9198864" y="4023360"/>
            <a:ext cx="2194560" cy="411480"/>
          </a:xfrm>
          <a:prstGeom prst="rect">
            <a:avLst/>
          </a:prstGeom>
          <a:noFill/>
          <a:ln/>
        </p:spPr>
        <p:txBody>
          <a:bodyPr wrap="square" lIns="0" tIns="0" rIns="0" bIns="0" rtlCol="0" anchor="t"/>
          <a:lstStyle/>
          <a:p>
            <a:pPr indent="0" marL="0">
              <a:buNone/>
            </a:pPr>
            <a:r>
              <a:rPr lang="en-US" sz="1600" b="1" dirty="0">
                <a:solidFill>
                  <a:srgbClr val="1777B4"/>
                </a:solidFill>
                <a:latin typeface="Arial" pitchFamily="34" charset="0"/>
                <a:ea typeface="Arial" pitchFamily="34" charset="-122"/>
                <a:cs typeface="Arial" pitchFamily="34" charset="-120"/>
              </a:rPr>
              <a:t>Maximum height</a:t>
            </a:r>
            <a:endParaRPr lang="en-US" sz="1600" dirty="0"/>
          </a:p>
        </p:txBody>
      </p:sp>
      <p:sp>
        <p:nvSpPr>
          <p:cNvPr id="29" name="Text 26"/>
          <p:cNvSpPr txBox="1"/>
          <p:nvPr/>
        </p:nvSpPr>
        <p:spPr>
          <a:xfrm>
            <a:off x="9198864" y="4526280"/>
            <a:ext cx="2194560" cy="1143000"/>
          </a:xfrm>
          <a:prstGeom prst="rect">
            <a:avLst/>
          </a:prstGeom>
          <a:noFill/>
          <a:ln/>
        </p:spPr>
        <p:txBody>
          <a:bodyPr wrap="square" lIns="0" tIns="0" rIns="0" bIns="0" rtlCol="0" anchor="t"/>
          <a:lstStyle/>
          <a:p>
            <a:pPr indent="0" marL="0">
              <a:buNone/>
            </a:pPr>
            <a:r>
              <a:rPr lang="en-US" sz="1400" dirty="0">
                <a:solidFill>
                  <a:srgbClr val="11344E"/>
                </a:solidFill>
                <a:latin typeface="Arial" pitchFamily="34" charset="0"/>
                <a:ea typeface="Arial" pitchFamily="34" charset="-122"/>
                <a:cs typeface="Arial" pitchFamily="34" charset="-120"/>
              </a:rPr>
              <a:t>Reporting the time instead of the height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548640"/>
          </a:xfrm>
          <a:prstGeom prst="rect">
            <a:avLst/>
          </a:prstGeom>
          <a:noFill/>
          <a:ln/>
        </p:spPr>
        <p:txBody>
          <a:bodyPr wrap="square" lIns="0" tIns="0" rIns="0" bIns="0" rtlCol="0" anchor="ctr"/>
          <a:lstStyle/>
          <a:p>
            <a:pPr indent="0" marL="0">
              <a:buNone/>
            </a:pPr>
            <a:r>
              <a:rPr lang="en-US" sz="2800" b="1" dirty="0">
                <a:solidFill>
                  <a:srgbClr val="11344E"/>
                </a:solidFill>
                <a:latin typeface="Arial" pitchFamily="34" charset="0"/>
                <a:ea typeface="Arial" pitchFamily="34" charset="-122"/>
                <a:cs typeface="Arial" pitchFamily="34" charset="-120"/>
              </a:rPr>
              <a:t>Before Friday</a:t>
            </a:r>
            <a:endParaRPr lang="en-US" sz="2800" dirty="0"/>
          </a:p>
        </p:txBody>
      </p:sp>
      <p:sp>
        <p:nvSpPr>
          <p:cNvPr id="3" name="Text 1"/>
          <p:cNvSpPr txBox="1"/>
          <p:nvPr/>
        </p:nvSpPr>
        <p:spPr>
          <a:xfrm>
            <a:off x="548640" y="932688"/>
            <a:ext cx="11064240" cy="320040"/>
          </a:xfrm>
          <a:prstGeom prst="rect">
            <a:avLst/>
          </a:prstGeom>
          <a:noFill/>
          <a:ln/>
        </p:spPr>
        <p:txBody>
          <a:bodyPr wrap="square" lIns="0" tIns="0" rIns="0" bIns="0" rtlCol="0" anchor="t"/>
          <a:lstStyle/>
          <a:p>
            <a:pPr indent="0" marL="0">
              <a:buNone/>
            </a:pPr>
            <a:r>
              <a:rPr lang="en-US" sz="1300" dirty="0">
                <a:solidFill>
                  <a:srgbClr val="687783"/>
                </a:solidFill>
                <a:latin typeface="Arial" pitchFamily="34" charset="0"/>
                <a:ea typeface="Arial" pitchFamily="34" charset="-122"/>
                <a:cs typeface="Arial" pitchFamily="34" charset="-120"/>
              </a:rPr>
              <a:t>Turn today’s “needs practice” list into a plan</a:t>
            </a:r>
            <a:endParaRPr lang="en-US" sz="1300" dirty="0"/>
          </a:p>
        </p:txBody>
      </p:sp>
      <p:sp>
        <p:nvSpPr>
          <p:cNvPr id="4" name="Text 2"/>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800" dirty="0">
                <a:solidFill>
                  <a:srgbClr val="687783"/>
                </a:solidFill>
                <a:latin typeface="Arial" pitchFamily="34" charset="0"/>
                <a:ea typeface="Arial" pitchFamily="34" charset="-122"/>
                <a:cs typeface="Arial" pitchFamily="34" charset="-120"/>
              </a:rPr>
              <a:t>MATH 130    September 23, 2026    23</a:t>
            </a:r>
            <a:endParaRPr lang="en-US" sz="800" dirty="0"/>
          </a:p>
        </p:txBody>
      </p:sp>
      <p:sp>
        <p:nvSpPr>
          <p:cNvPr id="6" name="Shape 3"/>
          <p:cNvSpPr/>
          <p:nvPr/>
        </p:nvSpPr>
        <p:spPr>
          <a:xfrm>
            <a:off x="548640" y="1554480"/>
            <a:ext cx="3520440" cy="3840480"/>
          </a:xfrm>
          <a:prstGeom prst="roundRect">
            <a:avLst>
              <a:gd name="adj" fmla="val 2078"/>
            </a:avLst>
          </a:prstGeom>
          <a:solidFill>
            <a:srgbClr val="EEF4F9"/>
          </a:solidFill>
          <a:ln w="12700">
            <a:solidFill>
              <a:srgbClr val="EEF4F9"/>
            </a:solidFill>
            <a:prstDash val="solid"/>
          </a:ln>
        </p:spPr>
      </p:sp>
      <p:sp>
        <p:nvSpPr>
          <p:cNvPr id="7" name="Text 4"/>
          <p:cNvSpPr txBox="1"/>
          <p:nvPr/>
        </p:nvSpPr>
        <p:spPr>
          <a:xfrm>
            <a:off x="822960" y="1783080"/>
            <a:ext cx="3017520" cy="457200"/>
          </a:xfrm>
          <a:prstGeom prst="rect">
            <a:avLst/>
          </a:prstGeom>
          <a:noFill/>
          <a:ln/>
        </p:spPr>
        <p:txBody>
          <a:bodyPr wrap="square" lIns="0" tIns="0" rIns="0" bIns="0" rtlCol="0" anchor="t"/>
          <a:lstStyle/>
          <a:p>
            <a:pPr indent="0" marL="0">
              <a:buNone/>
            </a:pPr>
            <a:r>
              <a:rPr lang="en-US" sz="2200" b="1" dirty="0">
                <a:solidFill>
                  <a:srgbClr val="11344E"/>
                </a:solidFill>
                <a:latin typeface="Arial" pitchFamily="34" charset="0"/>
                <a:ea typeface="Arial" pitchFamily="34" charset="-122"/>
                <a:cs typeface="Arial" pitchFamily="34" charset="-120"/>
              </a:rPr>
              <a:t>Today</a:t>
            </a:r>
            <a:endParaRPr lang="en-US" sz="2200" dirty="0"/>
          </a:p>
        </p:txBody>
      </p:sp>
      <p:sp>
        <p:nvSpPr>
          <p:cNvPr id="8" name="Text 5"/>
          <p:cNvSpPr txBox="1"/>
          <p:nvPr/>
        </p:nvSpPr>
        <p:spPr>
          <a:xfrm>
            <a:off x="822960" y="2423160"/>
            <a:ext cx="3017520" cy="283464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Submit Quiz 4 by 3:15 PM.</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Circle the rounds where you made an error.</a:t>
            </a:r>
            <a:endParaRPr lang="en-US" sz="1500" dirty="0"/>
          </a:p>
        </p:txBody>
      </p:sp>
      <p:sp>
        <p:nvSpPr>
          <p:cNvPr id="9" name="Shape 6"/>
          <p:cNvSpPr/>
          <p:nvPr/>
        </p:nvSpPr>
        <p:spPr>
          <a:xfrm>
            <a:off x="4297680" y="1554480"/>
            <a:ext cx="3520440" cy="3840480"/>
          </a:xfrm>
          <a:prstGeom prst="roundRect">
            <a:avLst>
              <a:gd name="adj" fmla="val 2078"/>
            </a:avLst>
          </a:prstGeom>
          <a:solidFill>
            <a:srgbClr val="EEF4F9"/>
          </a:solidFill>
          <a:ln w="12700">
            <a:solidFill>
              <a:srgbClr val="EEF4F9"/>
            </a:solidFill>
            <a:prstDash val="solid"/>
          </a:ln>
        </p:spPr>
      </p:sp>
      <p:sp>
        <p:nvSpPr>
          <p:cNvPr id="10" name="Text 7"/>
          <p:cNvSpPr txBox="1"/>
          <p:nvPr/>
        </p:nvSpPr>
        <p:spPr>
          <a:xfrm>
            <a:off x="4572000" y="1783080"/>
            <a:ext cx="3017520" cy="457200"/>
          </a:xfrm>
          <a:prstGeom prst="rect">
            <a:avLst/>
          </a:prstGeom>
          <a:noFill/>
          <a:ln/>
        </p:spPr>
        <p:txBody>
          <a:bodyPr wrap="square" lIns="0" tIns="0" rIns="0" bIns="0" rtlCol="0" anchor="t"/>
          <a:lstStyle/>
          <a:p>
            <a:pPr indent="0" marL="0">
              <a:buNone/>
            </a:pPr>
            <a:r>
              <a:rPr lang="en-US" sz="2200" b="1" dirty="0">
                <a:solidFill>
                  <a:srgbClr val="1777B4"/>
                </a:solidFill>
                <a:latin typeface="Arial" pitchFamily="34" charset="0"/>
                <a:ea typeface="Arial" pitchFamily="34" charset="-122"/>
                <a:cs typeface="Arial" pitchFamily="34" charset="-120"/>
              </a:rPr>
              <a:t>Thursday</a:t>
            </a:r>
            <a:endParaRPr lang="en-US" sz="2200" dirty="0"/>
          </a:p>
        </p:txBody>
      </p:sp>
      <p:sp>
        <p:nvSpPr>
          <p:cNvPr id="11" name="Text 8"/>
          <p:cNvSpPr txBox="1"/>
          <p:nvPr/>
        </p:nvSpPr>
        <p:spPr>
          <a:xfrm>
            <a:off x="4572000" y="2423160"/>
            <a:ext cx="3017520" cy="283464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Rework today’s problems without notes.</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Write every formula from memory, then check.</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Use Mixed practice and the Test checkpoint on the Test 1 review page.</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Bring questions to office hours.</a:t>
            </a:r>
            <a:endParaRPr lang="en-US" sz="1500" dirty="0"/>
          </a:p>
        </p:txBody>
      </p:sp>
      <p:sp>
        <p:nvSpPr>
          <p:cNvPr id="12" name="Shape 9"/>
          <p:cNvSpPr/>
          <p:nvPr/>
        </p:nvSpPr>
        <p:spPr>
          <a:xfrm>
            <a:off x="8046720" y="1554480"/>
            <a:ext cx="3520440" cy="3840480"/>
          </a:xfrm>
          <a:prstGeom prst="roundRect">
            <a:avLst>
              <a:gd name="adj" fmla="val 2078"/>
            </a:avLst>
          </a:prstGeom>
          <a:solidFill>
            <a:srgbClr val="EEF4F9"/>
          </a:solidFill>
          <a:ln w="12700">
            <a:solidFill>
              <a:srgbClr val="EEF4F9"/>
            </a:solidFill>
            <a:prstDash val="solid"/>
          </a:ln>
        </p:spPr>
      </p:sp>
      <p:sp>
        <p:nvSpPr>
          <p:cNvPr id="13" name="Text 10"/>
          <p:cNvSpPr txBox="1"/>
          <p:nvPr/>
        </p:nvSpPr>
        <p:spPr>
          <a:xfrm>
            <a:off x="8321040" y="1783080"/>
            <a:ext cx="3017520" cy="457200"/>
          </a:xfrm>
          <a:prstGeom prst="rect">
            <a:avLst/>
          </a:prstGeom>
          <a:noFill/>
          <a:ln/>
        </p:spPr>
        <p:txBody>
          <a:bodyPr wrap="square" lIns="0" tIns="0" rIns="0" bIns="0" rtlCol="0" anchor="t"/>
          <a:lstStyle/>
          <a:p>
            <a:pPr indent="0" marL="0">
              <a:buNone/>
            </a:pPr>
            <a:r>
              <a:rPr lang="en-US" sz="2200" b="1" dirty="0">
                <a:solidFill>
                  <a:srgbClr val="1B7F5E"/>
                </a:solidFill>
                <a:latin typeface="Arial" pitchFamily="34" charset="0"/>
                <a:ea typeface="Arial" pitchFamily="34" charset="-122"/>
                <a:cs typeface="Arial" pitchFamily="34" charset="-120"/>
              </a:rPr>
              <a:t>Friday</a:t>
            </a:r>
            <a:endParaRPr lang="en-US" sz="2200" dirty="0"/>
          </a:p>
        </p:txBody>
      </p:sp>
      <p:sp>
        <p:nvSpPr>
          <p:cNvPr id="14" name="Text 11"/>
          <p:cNvSpPr txBox="1"/>
          <p:nvPr/>
        </p:nvSpPr>
        <p:spPr>
          <a:xfrm>
            <a:off x="8321040" y="2423160"/>
            <a:ext cx="3017520" cy="283464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Arrive on time with pencils and an eraser.</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Write restrictions first; box final answers.</a:t>
            </a:r>
            <a:endParaRPr lang="en-US" sz="1500" dirty="0"/>
          </a:p>
          <a:p>
            <a:pPr algn="l" marL="342900" indent="-342900">
              <a:spcAft>
                <a:spcPts val="1200"/>
              </a:spcAft>
              <a:buSzPct val="100000"/>
              <a:buChar char="•"/>
            </a:pPr>
            <a:r>
              <a:rPr lang="en-US" sz="1500" dirty="0">
                <a:solidFill>
                  <a:srgbClr val="11344E"/>
                </a:solidFill>
                <a:latin typeface="Arial" pitchFamily="34" charset="0"/>
                <a:ea typeface="Arial" pitchFamily="34" charset="-122"/>
                <a:cs typeface="Arial" pitchFamily="34" charset="-120"/>
              </a:rPr>
              <a:t>Save five minutes to check.</a:t>
            </a:r>
            <a:endParaRPr lang="en-US" sz="1500" dirty="0"/>
          </a:p>
        </p:txBody>
      </p:sp>
      <p:sp>
        <p:nvSpPr>
          <p:cNvPr id="15" name="Text 12"/>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400" b="1" u="sng" dirty="0">
                <a:solidFill>
                  <a:srgbClr val="1777B4"/>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Test 1 review page:  andrewhvolk.github.io/130Test1.html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 130 Test 1 Review</dc:title>
  <dc:subject>PptxGenJS Presentation</dc:subject>
  <dc:creator>Andrew H. Volk</dc:creator>
  <cp:lastModifiedBy>Andrew H. Volk</cp:lastModifiedBy>
  <cp:revision>1</cp:revision>
  <dcterms:created xsi:type="dcterms:W3CDTF">2026-09-23T19:05:48Z</dcterms:created>
  <dcterms:modified xsi:type="dcterms:W3CDTF">2026-09-23T19:05:48Z</dcterms:modified>
</cp:coreProperties>
</file>